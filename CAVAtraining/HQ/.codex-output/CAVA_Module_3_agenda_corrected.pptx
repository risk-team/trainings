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d8b8d628b643a9" /><Relationship Type="http://schemas.openxmlformats.org/officeDocument/2006/relationships/extended-properties" Target="/docProps/app.xml" Id="Rd7a1cbe229804ac2" /><Relationship Type="http://schemas.openxmlformats.org/officeDocument/2006/relationships/officeDocument" Target="/ppt/presentation.xml" Id="R75299cf27c1f476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b4cf09134f84d99"/>
  </p:sldMasterIdLst>
  <p:notesMasterIdLst>
    <p:notesMasterId xmlns:r="http://schemas.openxmlformats.org/officeDocument/2006/relationships" r:id="R52b1e4b38dcf4efb"/>
  </p:notesMasterIdLst>
  <p:sldIdLst>
    <p:sldId xmlns:r="http://schemas.openxmlformats.org/officeDocument/2006/relationships" id="256" r:id="R51c33a96024d4c7d"/>
    <p:sldId xmlns:r="http://schemas.openxmlformats.org/officeDocument/2006/relationships" id="257" r:id="R5de44577c90c40fc"/>
    <p:sldId xmlns:r="http://schemas.openxmlformats.org/officeDocument/2006/relationships" id="258" r:id="R954afe24ba7b4df8"/>
    <p:sldId xmlns:r="http://schemas.openxmlformats.org/officeDocument/2006/relationships" id="259" r:id="Rb2a797de6d1a4115"/>
    <p:sldId xmlns:r="http://schemas.openxmlformats.org/officeDocument/2006/relationships" id="260" r:id="Rd96564cf241846a4"/>
    <p:sldId xmlns:r="http://schemas.openxmlformats.org/officeDocument/2006/relationships" id="261" r:id="R6be26e7a169546cf"/>
    <p:sldId xmlns:r="http://schemas.openxmlformats.org/officeDocument/2006/relationships" id="262" r:id="R1c0faf71691b4ca3"/>
    <p:sldId xmlns:r="http://schemas.openxmlformats.org/officeDocument/2006/relationships" id="263" r:id="Rfa4cbe3b05114e06"/>
    <p:sldId xmlns:r="http://schemas.openxmlformats.org/officeDocument/2006/relationships" id="264" r:id="Rd06eeaf413834575"/>
    <p:sldId xmlns:r="http://schemas.openxmlformats.org/officeDocument/2006/relationships" id="265" r:id="R88c881f7ca1c4f85"/>
    <p:sldId xmlns:r="http://schemas.openxmlformats.org/officeDocument/2006/relationships" id="266" r:id="Ra5cf4afa3daa4a86"/>
  </p:sldIdLst>
  <p:sldSz cx="12192000" cy="6858000"/>
  <p:notesSz cx="6858000" cy="9144000"/>
  <p:embeddedFontLst>
    <p:embeddedFont>
      <p:font typeface="Lato"/>
      <p:regular xmlns:r="http://schemas.openxmlformats.org/officeDocument/2006/relationships" r:id="R5e1ecb1dcb064f36"/>
      <p:bold xmlns:r="http://schemas.openxmlformats.org/officeDocument/2006/relationships" r:id="R273aca18e1a240e1"/>
      <p:italic xmlns:r="http://schemas.openxmlformats.org/officeDocument/2006/relationships" r:id="R99d3e30404134a78"/>
      <p:boldItalic xmlns:r="http://schemas.openxmlformats.org/officeDocument/2006/relationships" r:id="R067150262e3d4c3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0ce541d3084b8e" /><Relationship Type="http://schemas.openxmlformats.org/officeDocument/2006/relationships/slideMaster" Target="/ppt/slideMasters/slideMaster1.xml" Id="R8b4cf09134f84d99" /><Relationship Type="http://schemas.openxmlformats.org/officeDocument/2006/relationships/notesMaster" Target="/ppt/notesMasters/notesMaster1.xml" Id="R52b1e4b38dcf4efb" /><Relationship Type="http://schemas.openxmlformats.org/officeDocument/2006/relationships/presProps" Target="/ppt/presProps.xml" Id="R1aed0a6add6f484e" /><Relationship Type="http://schemas.openxmlformats.org/officeDocument/2006/relationships/tableStyles" Target="/ppt/tableStyles.xml" Id="R28ae6bfc56ef4fb4" /><Relationship Type="http://schemas.openxmlformats.org/officeDocument/2006/relationships/font" Target="/ppt/fonts/font.dat" Id="R5e1ecb1dcb064f36" /><Relationship Type="http://schemas.openxmlformats.org/officeDocument/2006/relationships/font" Target="/ppt/fonts/font2.dat" Id="R273aca18e1a240e1" /><Relationship Type="http://schemas.openxmlformats.org/officeDocument/2006/relationships/font" Target="/ppt/fonts/font3.dat" Id="R99d3e30404134a78" /><Relationship Type="http://schemas.openxmlformats.org/officeDocument/2006/relationships/font" Target="/ppt/fonts/font4.dat" Id="R067150262e3d4c3d" /><Relationship Type="http://schemas.openxmlformats.org/officeDocument/2006/relationships/slide" Target="/ppt/slides/slide1.xml" Id="R51c33a96024d4c7d" /><Relationship Type="http://schemas.openxmlformats.org/officeDocument/2006/relationships/slide" Target="/ppt/slides/slide2.xml" Id="R5de44577c90c40fc" /><Relationship Type="http://schemas.openxmlformats.org/officeDocument/2006/relationships/slide" Target="/ppt/slides/slide3.xml" Id="R954afe24ba7b4df8" /><Relationship Type="http://schemas.openxmlformats.org/officeDocument/2006/relationships/slide" Target="/ppt/slides/slide4.xml" Id="Rb2a797de6d1a4115" /><Relationship Type="http://schemas.openxmlformats.org/officeDocument/2006/relationships/slide" Target="/ppt/slides/slide5.xml" Id="Rd96564cf241846a4" /><Relationship Type="http://schemas.openxmlformats.org/officeDocument/2006/relationships/slide" Target="/ppt/slides/slide6.xml" Id="R6be26e7a169546cf" /><Relationship Type="http://schemas.openxmlformats.org/officeDocument/2006/relationships/slide" Target="/ppt/slides/slide7.xml" Id="R1c0faf71691b4ca3" /><Relationship Type="http://schemas.openxmlformats.org/officeDocument/2006/relationships/slide" Target="/ppt/slides/slide8.xml" Id="Rfa4cbe3b05114e06" /><Relationship Type="http://schemas.openxmlformats.org/officeDocument/2006/relationships/slide" Target="/ppt/slides/slide9.xml" Id="Rd06eeaf413834575" /><Relationship Type="http://schemas.openxmlformats.org/officeDocument/2006/relationships/slide" Target="/ppt/slides/slide10.xml" Id="R88c881f7ca1c4f85" /><Relationship Type="http://schemas.openxmlformats.org/officeDocument/2006/relationships/slide" Target="/ppt/slides/slide11.xml" Id="Ra5cf4afa3daa4a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fa7a6ab4cc4d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04a06fe32f4552" /><Relationship Type="http://schemas.openxmlformats.org/officeDocument/2006/relationships/notesMaster" Target="/ppt/notesMasters/notesMaster1.xml" Id="R25f2d87b3ecc45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3a8ee356cb4673" /><Relationship Type="http://schemas.openxmlformats.org/officeDocument/2006/relationships/notesMaster" Target="/ppt/notesMasters/notesMaster1.xml" Id="R1bf962a7de1a4b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b60ce556ca491d" /><Relationship Type="http://schemas.openxmlformats.org/officeDocument/2006/relationships/notesMaster" Target="/ppt/notesMasters/notesMaster1.xml" Id="Rba932ef97cd44c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1d7e2297784511" /><Relationship Type="http://schemas.openxmlformats.org/officeDocument/2006/relationships/notesMaster" Target="/ppt/notesMasters/notesMaster1.xml" Id="R338e10c32b9c47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0175378dc14f63" /><Relationship Type="http://schemas.openxmlformats.org/officeDocument/2006/relationships/notesMaster" Target="/ppt/notesMasters/notesMaster1.xml" Id="R49b73861fd0948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9a0113b1bd4053" /><Relationship Type="http://schemas.openxmlformats.org/officeDocument/2006/relationships/notesMaster" Target="/ppt/notesMasters/notesMaster1.xml" Id="Rd54a372a11b34c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2a207635a44fdb" /><Relationship Type="http://schemas.openxmlformats.org/officeDocument/2006/relationships/notesMaster" Target="/ppt/notesMasters/notesMaster1.xml" Id="R98429c68b95141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71875b6bfd4bbe" /><Relationship Type="http://schemas.openxmlformats.org/officeDocument/2006/relationships/notesMaster" Target="/ppt/notesMasters/notesMaster1.xml" Id="R62fe35e9f17b41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25a272f18147dc" /><Relationship Type="http://schemas.openxmlformats.org/officeDocument/2006/relationships/notesMaster" Target="/ppt/notesMasters/notesMaster1.xml" Id="Rf6964b6a98cb42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bc14e058864999" /><Relationship Type="http://schemas.openxmlformats.org/officeDocument/2006/relationships/notesMaster" Target="/ppt/notesMasters/notesMaster1.xml" Id="Rf405fee4debd4c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cea00a56174022" /><Relationship Type="http://schemas.openxmlformats.org/officeDocument/2006/relationships/notesMaster" Target="/ppt/notesMasters/notesMaster1.xml" Id="R58cd0b743a4441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 Introduce Module 3. The first 30 minutes cover installation and troubleshooting. Riccardo then leads the CAVAanalytics notebook and Sam leads 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core session runs from 09:00 to 11:00. Allow 30 minutes for environment setup, 60 minutes for CAVAanalytics and 30 minutes for cavapy. The 11:00 to 12:00 hour is optional hands-on practice, troubleshooting and participant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training materials are available at https://github.com/Risk-Team/trainings/tree/main/CAVAtraining/HQ. Participants should attempt the installation before Modules 3 and 4. The session reserves 30 minutes for installation and troubleshooting.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Miniforge includes Mamba. Participants who already use Miniforge, Miniconda or Anaconda and have access to Mamba can skip the first installation. VS Code is recommended, while Cursor is also compatible. Install the Python and Jupyter extensions.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Run the environment creation command exactly as shown. Enter y if Mamba requests confirmation, then activate cava-training. Participants do not need to install Python or R separately.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At the R prompt, install pak from CRAN, install CAVAanalytics from GitHub, then load CAVAanalytics and rJava and print the package version. If no errors appear, run q() and select No when asked to save the workspace.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Return to the terminal, activate cava-training, install cavapy with pip and run the one-line import test. The final command should print the installed version.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 kernel registration is required for R notebooks in VS Code or Cursor. After registration, select R (CAVA) from the notebook kernel menu. JupyterLab is an alternative interface.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this checklist before moving to the notebooks. Ask participants to retain the complete error message for any failed step so it can be reviewed during the first 30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participant message contains a placeholder for pyAEZ. Do not provide unconfirmed installation commands. Update this slide when the Module 4 team confirms the required pyAEZ version and installation method.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the supplied CAVAanalytics notebook and select R (CAVA). The remote data-loading cell is the slowest step and requires internet 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6544d60be64b5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f7cf165e2d4d04" /><Relationship Type="http://schemas.openxmlformats.org/officeDocument/2006/relationships/slideLayout" Target="/ppt/slideLayouts/slideLayout1.xml" Id="Rc62b8f49ee38413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62b8f49ee38413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7e4c5dacba43c1" /><Relationship Type="http://schemas.openxmlformats.org/officeDocument/2006/relationships/image" Target="/ppt/media/image.jpeg" Id="Rdce0df8a03514488" /><Relationship Type="http://schemas.openxmlformats.org/officeDocument/2006/relationships/notesSlide" Target="/ppt/notesSlides/notesSlide1.xml" Id="R2b3ac21ec66f4c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72cfcd23304cce" /><Relationship Type="http://schemas.openxmlformats.org/officeDocument/2006/relationships/notesSlide" Target="/ppt/notesSlides/notesSlide2.xml" Id="R4e6d5bcc5a4546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c4c705452e4c21" /><Relationship Type="http://schemas.openxmlformats.org/officeDocument/2006/relationships/notesSlide" Target="/ppt/notesSlides/notesSlide3.xml" Id="R67e78374871249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dbf6f285274199" /><Relationship Type="http://schemas.openxmlformats.org/officeDocument/2006/relationships/notesSlide" Target="/ppt/notesSlides/notesSlide4.xml" Id="R73cb8948b86d4a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cc2a5e7f5942a3" /><Relationship Type="http://schemas.openxmlformats.org/officeDocument/2006/relationships/notesSlide" Target="/ppt/notesSlides/notesSlide5.xml" Id="Rd106d3cd21ba49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83d48110b14f47" /><Relationship Type="http://schemas.openxmlformats.org/officeDocument/2006/relationships/notesSlide" Target="/ppt/notesSlides/notesSlide6.xml" Id="R2cde3734209b46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4c3a36e693d41b0" /><Relationship Type="http://schemas.openxmlformats.org/officeDocument/2006/relationships/notesSlide" Target="/ppt/notesSlides/notesSlide7.xml" Id="Rff64a5354a46448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52327e4e2a4a7b" /><Relationship Type="http://schemas.openxmlformats.org/officeDocument/2006/relationships/notesSlide" Target="/ppt/notesSlides/notesSlide8.xml" Id="R49a01721e9a44f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6f72f631a748ef" /><Relationship Type="http://schemas.openxmlformats.org/officeDocument/2006/relationships/notesSlide" Target="/ppt/notesSlides/notesSlide9.xml" Id="R549a664120354b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7a8575abb947ed" /><Relationship Type="http://schemas.openxmlformats.org/officeDocument/2006/relationships/notesSlide" Target="/ppt/notesSlides/notesSlide10.xml" Id="R9b9170001a484d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20a1835bf54df7" /><Relationship Type="http://schemas.openxmlformats.org/officeDocument/2006/relationships/notesSlide" Target="/ppt/notesSlides/notesSlide11.xml" Id="Rad76b56d41384fc7"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28"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dce0df8a03514488">
            <a:alphaModFix/>
          </a:blip>
          <a:srcRect xmlns:a="http://schemas.openxmlformats.org/drawingml/2006/main" l="0" t="0" r="0" b="0"/>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7FCDDD46-2335-4E07-97D6-26E040055F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98824"/>
                </a:srgbClr>
              </a:gs>
              <a:gs pos="34000">
                <a:srgbClr val="12304E">
                  <a:alpha val="96078"/>
                </a:srgbClr>
              </a:gs>
              <a:gs pos="55000">
                <a:srgbClr val="12304E">
                  <a:alpha val="74118"/>
                </a:srgbClr>
              </a:gs>
              <a:gs pos="82000">
                <a:srgbClr val="12304E">
                  <a:alpha val="18039"/>
                </a:srgbClr>
              </a:gs>
              <a:gs pos="100000">
                <a:srgbClr val="12304E">
                  <a:alpha val="0"/>
                </a:srgbClr>
              </a:gs>
            </a:gsLst>
            <a:lin ang="0" scaled="0"/>
          </a:gra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8" name="Google Shape;18;p3">
            <a:extLst xmlns:a="http://schemas.openxmlformats.org/drawingml/2006/main">
              <a:ext uri="{FF2B5EF4-FFF2-40B4-BE49-F238E27FC236}">
                <a16:creationId xmlns:a16="http://schemas.microsoft.com/office/drawing/2014/main" id="{CF170A13-ECF8-4931-BBF5-48D40EBEA8FE}"/>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 name="Google Shape;19;p3">
            <a:extLst xmlns:a="http://schemas.openxmlformats.org/drawingml/2006/main">
              <a:ext uri="{FF2B5EF4-FFF2-40B4-BE49-F238E27FC236}">
                <a16:creationId xmlns:a16="http://schemas.microsoft.com/office/drawing/2014/main" id="{56692F58-DB44-4A1D-AA4B-333E2E58B81C}"/>
              </a:ext>
            </a:extLst>
          </p:cNvPr>
          <p:cNvSpPr>
            <a:spLocks xmlns:a="http://schemas.openxmlformats.org/drawingml/2006/main" noGrp="1"/>
          </p:cNvSpPr>
          <p:nvPr/>
        </p:nvSpPr>
        <p:spPr>
          <a:xfrm xmlns:a="http://schemas.openxmlformats.org/drawingml/2006/main">
            <a:off x="723900" y="666750"/>
            <a:ext cx="10668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 name="Google Shape;20;p3">
            <a:extLst xmlns:a="http://schemas.openxmlformats.org/drawingml/2006/main">
              <a:ext uri="{FF2B5EF4-FFF2-40B4-BE49-F238E27FC236}">
                <a16:creationId xmlns:a16="http://schemas.microsoft.com/office/drawing/2014/main" id="{DED21CFA-CA5D-49D9-869C-719FFCF79902}"/>
              </a:ext>
            </a:extLst>
          </p:cNvPr>
          <p:cNvSpPr>
            <a:spLocks xmlns:a="http://schemas.openxmlformats.org/drawingml/2006/main" noGrp="1"/>
          </p:cNvSpPr>
          <p:nvPr/>
        </p:nvSpPr>
        <p:spPr>
          <a:xfrm xmlns:a="http://schemas.openxmlformats.org/drawingml/2006/main">
            <a:off x="723900" y="1038225"/>
            <a:ext cx="4000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1050"/>
              <a:buFont typeface="Lato"/>
              <a:buNone/>
            </a:pPr>
            <a:r>
              <a:rPr sz="1050" b="1">
                <a:solidFill>
                  <a:srgbClr val="78D8C8"/>
                </a:solidFill>
                <a:latin typeface="Lato"/>
                <a:ea typeface="Lato"/>
                <a:cs typeface="Lato"/>
              </a:rPr>
              <a:t>CAVA TRAINING SERIES</a:t>
            </a:r>
            <a:endParaRPr/>
          </a:p>
        </p:txBody>
      </p:sp>
      <p:sp>
        <p:nvSpPr>
          <p:cNvPr id="21" name="Google Shape;21;p3">
            <a:extLst xmlns:a="http://schemas.openxmlformats.org/drawingml/2006/main">
              <a:ext uri="{FF2B5EF4-FFF2-40B4-BE49-F238E27FC236}">
                <a16:creationId xmlns:a16="http://schemas.microsoft.com/office/drawing/2014/main" id="{DC3FF458-2A6A-4792-B2CF-1AED7A9D8933}"/>
              </a:ext>
            </a:extLst>
          </p:cNvPr>
          <p:cNvSpPr>
            <a:spLocks xmlns:a="http://schemas.openxmlformats.org/drawingml/2006/main" noGrp="1"/>
          </p:cNvSpPr>
          <p:nvPr/>
        </p:nvSpPr>
        <p:spPr>
          <a:xfrm xmlns:a="http://schemas.openxmlformats.org/drawingml/2006/main">
            <a:off x="723900" y="1905000"/>
            <a:ext cx="5429250" cy="1924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Climate data workflows</a:t>
            </a:r>
            <a:endParaRPr/>
          </a:p>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with CAVAanalytics</a:t>
            </a:r>
            <a:endParaRPr/>
          </a:p>
          <a:p xmlns:a="http://schemas.openxmlformats.org/drawingml/2006/main">
            <a:pPr marL="0" marR="0" lvl="0" indent="0" algn="l">
              <a:lnSpc>
                <a:spcPct val="91000"/>
              </a:lnSpc>
              <a:spcBef>
                <a:spcPts val="0"/>
              </a:spcBef>
              <a:spcAft>
                <a:spcPts val="0"/>
              </a:spcAft>
              <a:buClr>
                <a:srgbClr val="FFFFFF"/>
              </a:buClr>
              <a:buSzPts val="3975"/>
              <a:buFont typeface="Lato"/>
              <a:buNone/>
            </a:pPr>
            <a:r>
              <a:rPr sz="3975" b="1">
                <a:solidFill>
                  <a:srgbClr val="FFFFFF"/>
                </a:solidFill>
                <a:latin typeface="Lato"/>
                <a:ea typeface="Lato"/>
                <a:cs typeface="Lato"/>
              </a:rPr>
              <a:t>and cavapy</a:t>
            </a:r>
            <a:endParaRPr/>
          </a:p>
        </p:txBody>
      </p:sp>
      <p:sp>
        <p:nvSpPr>
          <p:cNvPr id="22" name="Google Shape;22;p3">
            <a:extLst xmlns:a="http://schemas.openxmlformats.org/drawingml/2006/main">
              <a:ext uri="{FF2B5EF4-FFF2-40B4-BE49-F238E27FC236}">
                <a16:creationId xmlns:a16="http://schemas.microsoft.com/office/drawing/2014/main" id="{B45863F2-71AF-42C4-9055-E7E96A67113F}"/>
              </a:ext>
            </a:extLst>
          </p:cNvPr>
          <p:cNvSpPr>
            <a:spLocks xmlns:a="http://schemas.openxmlformats.org/drawingml/2006/main" noGrp="1"/>
          </p:cNvSpPr>
          <p:nvPr/>
        </p:nvSpPr>
        <p:spPr>
          <a:xfrm xmlns:a="http://schemas.openxmlformats.org/drawingml/2006/main">
            <a:off x="733425" y="4457700"/>
            <a:ext cx="1905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350"/>
              <a:buFont typeface="Lato"/>
              <a:buNone/>
            </a:pPr>
            <a:r>
              <a:rPr sz="1350" b="1">
                <a:solidFill>
                  <a:srgbClr val="F2B632"/>
                </a:solidFill>
                <a:latin typeface="Lato"/>
                <a:ea typeface="Lato"/>
                <a:cs typeface="Lato"/>
              </a:rPr>
              <a:t>MODULE 3</a:t>
            </a:r>
            <a:endParaRPr/>
          </a:p>
        </p:txBody>
      </p:sp>
      <p:sp>
        <p:nvSpPr>
          <p:cNvPr id="23" name="Google Shape;23;p3">
            <a:extLst xmlns:a="http://schemas.openxmlformats.org/drawingml/2006/main">
              <a:ext uri="{FF2B5EF4-FFF2-40B4-BE49-F238E27FC236}">
                <a16:creationId xmlns:a16="http://schemas.microsoft.com/office/drawing/2014/main" id="{0808A797-560A-4795-A418-19DE364FF0B2}"/>
              </a:ext>
            </a:extLst>
          </p:cNvPr>
          <p:cNvSpPr>
            <a:spLocks xmlns:a="http://schemas.openxmlformats.org/drawingml/2006/main" noGrp="1"/>
          </p:cNvSpPr>
          <p:nvPr/>
        </p:nvSpPr>
        <p:spPr>
          <a:xfrm xmlns:a="http://schemas.openxmlformats.org/drawingml/2006/main">
            <a:off x="733425" y="4953000"/>
            <a:ext cx="2476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200"/>
              <a:buFont typeface="Lato"/>
              <a:buNone/>
            </a:pPr>
            <a:r>
              <a:rPr sz="1200" b="1">
                <a:solidFill>
                  <a:srgbClr val="FFFFFF"/>
                </a:solidFill>
                <a:latin typeface="Lato"/>
                <a:ea typeface="Lato"/>
                <a:cs typeface="Lato"/>
              </a:rPr>
              <a:t>30 September 2026</a:t>
            </a:r>
            <a:endParaRPr/>
          </a:p>
        </p:txBody>
      </p:sp>
      <p:sp>
        <p:nvSpPr>
          <p:cNvPr id="24" name="Google Shape;24;p3">
            <a:extLst xmlns:a="http://schemas.openxmlformats.org/drawingml/2006/main">
              <a:ext uri="{FF2B5EF4-FFF2-40B4-BE49-F238E27FC236}">
                <a16:creationId xmlns:a16="http://schemas.microsoft.com/office/drawing/2014/main" id="{2A7B5D62-23E4-41FE-A70F-CE15A259CB1B}"/>
              </a:ext>
            </a:extLst>
          </p:cNvPr>
          <p:cNvSpPr>
            <a:spLocks xmlns:a="http://schemas.openxmlformats.org/drawingml/2006/main" noGrp="1"/>
          </p:cNvSpPr>
          <p:nvPr/>
        </p:nvSpPr>
        <p:spPr>
          <a:xfrm xmlns:a="http://schemas.openxmlformats.org/drawingml/2006/main">
            <a:off x="733425" y="5276850"/>
            <a:ext cx="2714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1050"/>
              <a:buFont typeface="Lato"/>
              <a:buNone/>
            </a:pPr>
            <a:r>
              <a:rPr sz="1050" b="0">
                <a:solidFill>
                  <a:srgbClr val="D7E5EC"/>
                </a:solidFill>
                <a:latin typeface="Lato"/>
                <a:ea typeface="Lato"/>
                <a:cs typeface="Lato"/>
              </a:rPr>
              <a:t>09:00–12:00  ·  Hybrid</a:t>
            </a:r>
            <a:endParaRPr/>
          </a:p>
        </p:txBody>
      </p:sp>
      <p:sp>
        <p:nvSpPr>
          <p:cNvPr id="25" name="Google Shape;25;p3">
            <a:extLst xmlns:a="http://schemas.openxmlformats.org/drawingml/2006/main">
              <a:ext uri="{FF2B5EF4-FFF2-40B4-BE49-F238E27FC236}">
                <a16:creationId xmlns:a16="http://schemas.microsoft.com/office/drawing/2014/main" id="{E986F370-E54C-402C-8D3C-F77D3ACBAE9F}"/>
              </a:ext>
            </a:extLst>
          </p:cNvPr>
          <p:cNvSpPr>
            <a:spLocks xmlns:a="http://schemas.openxmlformats.org/drawingml/2006/main" noGrp="1"/>
          </p:cNvSpPr>
          <p:nvPr/>
        </p:nvSpPr>
        <p:spPr>
          <a:xfrm xmlns:a="http://schemas.openxmlformats.org/drawingml/2006/main">
            <a:off x="733425" y="6010275"/>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 name="Google Shape;26;p3">
            <a:extLst xmlns:a="http://schemas.openxmlformats.org/drawingml/2006/main">
              <a:ext uri="{FF2B5EF4-FFF2-40B4-BE49-F238E27FC236}">
                <a16:creationId xmlns:a16="http://schemas.microsoft.com/office/drawing/2014/main" id="{7B79923E-B497-4C5E-9D7F-9725AC431BB9}"/>
              </a:ext>
            </a:extLst>
          </p:cNvPr>
          <p:cNvSpPr>
            <a:spLocks xmlns:a="http://schemas.openxmlformats.org/drawingml/2006/main" noGrp="1"/>
          </p:cNvSpPr>
          <p:nvPr/>
        </p:nvSpPr>
        <p:spPr>
          <a:xfrm xmlns:a="http://schemas.openxmlformats.org/drawingml/2006/main">
            <a:off x="733425" y="6162675"/>
            <a:ext cx="45720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900"/>
              <a:buFont typeface="Lato"/>
              <a:buNone/>
            </a:pPr>
            <a:r>
              <a:rPr sz="900" b="0">
                <a:solidFill>
                  <a:srgbClr val="D7E5EC"/>
                </a:solidFill>
                <a:latin typeface="Lato"/>
                <a:ea typeface="Lato"/>
                <a:cs typeface="Lato"/>
              </a:rPr>
              <a:t>Installation and reproducible climate analysis</a:t>
            </a:r>
            <a:endParaRPr/>
          </a:p>
        </p:txBody>
      </p:sp>
    </p:spTree>
    <p:extLst>
      <p:ext uri="{BB962C8B-B14F-4D97-AF65-F5344CB8AC3E}">
        <p14:creationId xmlns:p14="http://schemas.microsoft.com/office/powerpoint/2010/main" val="1831413831"/>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0034287B-9E2D-42F7-B79E-237205AA4C07}"/>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Today’s route</a:t>
            </a:r>
            <a:endParaRPr/>
          </a:p>
        </p:txBody>
      </p:sp>
      <p:sp>
        <p:nvSpPr>
          <p:cNvPr id="194" name="Google Shape;194;p10">
            <a:extLst xmlns:a="http://schemas.openxmlformats.org/drawingml/2006/main">
              <a:ext uri="{FF2B5EF4-FFF2-40B4-BE49-F238E27FC236}">
                <a16:creationId xmlns:a16="http://schemas.microsoft.com/office/drawing/2014/main" id="{E1A17E60-A6D5-4A0A-A002-B3F892DBA09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09:00–11:00 core session, followed by optional hands-on support</a:t>
            </a:r>
            <a:endParaRPr/>
          </a:p>
        </p:txBody>
      </p:sp>
      <p:sp>
        <p:nvSpPr>
          <p:cNvPr id="195" name="Google Shape;195;p10">
            <a:extLst xmlns:a="http://schemas.openxmlformats.org/drawingml/2006/main">
              <a:ext uri="{FF2B5EF4-FFF2-40B4-BE49-F238E27FC236}">
                <a16:creationId xmlns:a16="http://schemas.microsoft.com/office/drawing/2014/main" id="{D83CC109-348A-41D7-A2ED-0A87ABEDC0A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97AAEAA7-6EC9-47D7-A52E-F054B2710441}"/>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ABC9D5FD-CD2A-4B72-9EDD-2880688D85B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F9A45910-1E33-42F1-93A8-4DD5D43F152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38D6A652-7CAC-45B2-90A7-DB828F9F000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02</a:t>
            </a:r>
            <a:endParaRPr/>
          </a:p>
        </p:txBody>
      </p:sp>
      <p:sp>
        <p:nvSpPr>
          <p:cNvPr id="200" name="Google Shape;200;p10">
            <a:extLst xmlns:a="http://schemas.openxmlformats.org/drawingml/2006/main">
              <a:ext uri="{FF2B5EF4-FFF2-40B4-BE49-F238E27FC236}">
                <a16:creationId xmlns:a16="http://schemas.microsoft.com/office/drawing/2014/main" id="{E33F638B-C5EF-4CA6-8D1A-87BA06BC02F4}"/>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F3289509-9EB5-429C-9D0E-29BFCBE055A5}"/>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09:00</a:t>
            </a:r>
            <a:endParaRPr/>
          </a:p>
        </p:txBody>
      </p:sp>
      <p:sp>
        <p:nvSpPr>
          <p:cNvPr id="202" name="Google Shape;202;p10">
            <a:extLst xmlns:a="http://schemas.openxmlformats.org/drawingml/2006/main">
              <a:ext uri="{FF2B5EF4-FFF2-40B4-BE49-F238E27FC236}">
                <a16:creationId xmlns:a16="http://schemas.microsoft.com/office/drawing/2014/main" id="{272AF7A5-1C8F-4B20-B069-C634814CCC62}"/>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Environment setup (30 min): Miniforge, packages and notebook kernels</a:t>
            </a:r>
            <a:endParaRPr/>
          </a:p>
        </p:txBody>
      </p:sp>
      <p:sp>
        <p:nvSpPr>
          <p:cNvPr id="203" name="Google Shape;203;p10">
            <a:extLst xmlns:a="http://schemas.openxmlformats.org/drawingml/2006/main">
              <a:ext uri="{FF2B5EF4-FFF2-40B4-BE49-F238E27FC236}">
                <a16:creationId xmlns:a16="http://schemas.microsoft.com/office/drawing/2014/main" id="{206CE225-A207-4643-8387-0C558DE1DDD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4517910E-1777-4078-B3A7-F7938C5ACCF5}"/>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123C9C2B-D117-4966-856E-965DDEF91741}"/>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09:30</a:t>
            </a:r>
            <a:endParaRPr/>
          </a:p>
        </p:txBody>
      </p:sp>
      <p:sp>
        <p:nvSpPr>
          <p:cNvPr id="206" name="Google Shape;206;p10">
            <a:extLst xmlns:a="http://schemas.openxmlformats.org/drawingml/2006/main">
              <a:ext uri="{FF2B5EF4-FFF2-40B4-BE49-F238E27FC236}">
                <a16:creationId xmlns:a16="http://schemas.microsoft.com/office/drawing/2014/main" id="{B6AF204C-3A32-4FAD-8739-08AF0CE9157D}"/>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CAVAanalytics notebook (60 min): practical climate analysis in R</a:t>
            </a:r>
            <a:endParaRPr/>
          </a:p>
        </p:txBody>
      </p:sp>
      <p:sp>
        <p:nvSpPr>
          <p:cNvPr id="207" name="Google Shape;207;p10">
            <a:extLst xmlns:a="http://schemas.openxmlformats.org/drawingml/2006/main">
              <a:ext uri="{FF2B5EF4-FFF2-40B4-BE49-F238E27FC236}">
                <a16:creationId xmlns:a16="http://schemas.microsoft.com/office/drawing/2014/main" id="{56712462-FC7E-4965-85A6-E0F29B7301A4}"/>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382A2A59-D719-43B7-A59F-907B712D0D6A}"/>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D82B0CC5-35FD-4221-AB28-2693D881766B}"/>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10:30</a:t>
            </a:r>
            <a:endParaRPr/>
          </a:p>
        </p:txBody>
      </p:sp>
      <p:sp>
        <p:nvSpPr>
          <p:cNvPr id="210" name="Google Shape;210;p10">
            <a:extLst xmlns:a="http://schemas.openxmlformats.org/drawingml/2006/main">
              <a:ext uri="{FF2B5EF4-FFF2-40B4-BE49-F238E27FC236}">
                <a16:creationId xmlns:a16="http://schemas.microsoft.com/office/drawing/2014/main" id="{5E8E3455-9029-4C49-833D-7F8AC98A37F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cavapy notebook with Sam (30 min): climate data access in Python</a:t>
            </a:r>
            <a:endParaRPr/>
          </a:p>
        </p:txBody>
      </p:sp>
      <p:sp>
        <p:nvSpPr>
          <p:cNvPr id="211" name="Google Shape;211;p10">
            <a:extLst xmlns:a="http://schemas.openxmlformats.org/drawingml/2006/main">
              <a:ext uri="{FF2B5EF4-FFF2-40B4-BE49-F238E27FC236}">
                <a16:creationId xmlns:a16="http://schemas.microsoft.com/office/drawing/2014/main" id="{E7E1D685-4B49-41EB-A9BD-9DACC3656B29}"/>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8505A022-0CC7-46DF-A693-9EBF9D0ECABE}"/>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F7FDB95C-EF23-4939-B60D-B8B3B11FCCD9}"/>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11:00</a:t>
            </a:r>
            <a:endParaRPr/>
          </a:p>
        </p:txBody>
      </p:sp>
      <p:sp>
        <p:nvSpPr>
          <p:cNvPr id="214" name="Google Shape;214;p10">
            <a:extLst xmlns:a="http://schemas.openxmlformats.org/drawingml/2006/main">
              <a:ext uri="{FF2B5EF4-FFF2-40B4-BE49-F238E27FC236}">
                <a16:creationId xmlns:a16="http://schemas.microsoft.com/office/drawing/2014/main" id="{B9831F17-C44E-4DE4-9D27-0783EC092E1E}"/>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Optional hands-on session (60 min): participant practice and questions</a:t>
            </a:r>
            <a:endParaRPr/>
          </a:p>
        </p:txBody>
      </p:sp>
      <p:sp>
        <p:nvSpPr>
          <p:cNvPr id="215" name="Google Shape;215;p10">
            <a:extLst xmlns:a="http://schemas.openxmlformats.org/drawingml/2006/main">
              <a:ext uri="{FF2B5EF4-FFF2-40B4-BE49-F238E27FC236}">
                <a16:creationId xmlns:a16="http://schemas.microsoft.com/office/drawing/2014/main" id="{B30120E4-9C68-454E-95A5-1B86976C9646}"/>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1828789321"/>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0034287B-9E2D-42F7-B79E-237205AA4C07}"/>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Preparation before Modules 3 and 4</a:t>
            </a:r>
            <a:endParaRPr/>
          </a:p>
        </p:txBody>
      </p:sp>
      <p:sp>
        <p:nvSpPr>
          <p:cNvPr id="194" name="Google Shape;194;p10">
            <a:extLst xmlns:a="http://schemas.openxmlformats.org/drawingml/2006/main">
              <a:ext uri="{FF2B5EF4-FFF2-40B4-BE49-F238E27FC236}">
                <a16:creationId xmlns:a16="http://schemas.microsoft.com/office/drawing/2014/main" id="{E1A17E60-A6D5-4A0A-A002-B3F892DBA09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Complete as much as possible before the session</a:t>
            </a:r>
            <a:endParaRPr/>
          </a:p>
        </p:txBody>
      </p:sp>
      <p:sp>
        <p:nvSpPr>
          <p:cNvPr id="195" name="Google Shape;195;p10">
            <a:extLst xmlns:a="http://schemas.openxmlformats.org/drawingml/2006/main">
              <a:ext uri="{FF2B5EF4-FFF2-40B4-BE49-F238E27FC236}">
                <a16:creationId xmlns:a16="http://schemas.microsoft.com/office/drawing/2014/main" id="{D83CC109-348A-41D7-A2ED-0A87ABEDC0A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97AAEAA7-6EC9-47D7-A52E-F054B2710441}"/>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ABC9D5FD-CD2A-4B72-9EDD-2880688D85B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F9A45910-1E33-42F1-93A8-4DD5D43F152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38D6A652-7CAC-45B2-90A7-DB828F9F000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03</a:t>
            </a:r>
            <a:endParaRPr/>
          </a:p>
        </p:txBody>
      </p:sp>
      <p:sp>
        <p:nvSpPr>
          <p:cNvPr id="200" name="Google Shape;200;p10">
            <a:extLst xmlns:a="http://schemas.openxmlformats.org/drawingml/2006/main">
              <a:ext uri="{FF2B5EF4-FFF2-40B4-BE49-F238E27FC236}">
                <a16:creationId xmlns:a16="http://schemas.microsoft.com/office/drawing/2014/main" id="{E33F638B-C5EF-4CA6-8D1A-87BA06BC02F4}"/>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F3289509-9EB5-429C-9D0E-29BFCBE055A5}"/>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Training materials</a:t>
            </a:r>
            <a:endParaRPr/>
          </a:p>
        </p:txBody>
      </p:sp>
      <p:sp>
        <p:nvSpPr>
          <p:cNvPr id="202" name="Google Shape;202;p10">
            <a:extLst xmlns:a="http://schemas.openxmlformats.org/drawingml/2006/main">
              <a:ext uri="{FF2B5EF4-FFF2-40B4-BE49-F238E27FC236}">
                <a16:creationId xmlns:a16="http://schemas.microsoft.com/office/drawing/2014/main" id="{272AF7A5-1C8F-4B20-B069-C634814CCC62}"/>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https://github.com/Risk-Team/trainings/tree/main/CAVAtraining/HQ</a:t>
            </a:r>
            <a:endParaRPr/>
          </a:p>
        </p:txBody>
      </p:sp>
      <p:sp>
        <p:nvSpPr>
          <p:cNvPr id="203" name="Google Shape;203;p10">
            <a:extLst xmlns:a="http://schemas.openxmlformats.org/drawingml/2006/main">
              <a:ext uri="{FF2B5EF4-FFF2-40B4-BE49-F238E27FC236}">
                <a16:creationId xmlns:a16="http://schemas.microsoft.com/office/drawing/2014/main" id="{206CE225-A207-4643-8387-0C558DE1DDD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4517910E-1777-4078-B3A7-F7938C5ACCF5}"/>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123C9C2B-D117-4966-856E-965DDEF91741}"/>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Software</a:t>
            </a:r>
            <a:endParaRPr/>
          </a:p>
        </p:txBody>
      </p:sp>
      <p:sp>
        <p:nvSpPr>
          <p:cNvPr id="206" name="Google Shape;206;p10">
            <a:extLst xmlns:a="http://schemas.openxmlformats.org/drawingml/2006/main">
              <a:ext uri="{FF2B5EF4-FFF2-40B4-BE49-F238E27FC236}">
                <a16:creationId xmlns:a16="http://schemas.microsoft.com/office/drawing/2014/main" id="{B6AF204C-3A32-4FAD-8739-08AF0CE9157D}"/>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Install Miniforge and a notebook editor before the session</a:t>
            </a:r>
            <a:endParaRPr/>
          </a:p>
        </p:txBody>
      </p:sp>
      <p:sp>
        <p:nvSpPr>
          <p:cNvPr id="207" name="Google Shape;207;p10">
            <a:extLst xmlns:a="http://schemas.openxmlformats.org/drawingml/2006/main">
              <a:ext uri="{FF2B5EF4-FFF2-40B4-BE49-F238E27FC236}">
                <a16:creationId xmlns:a16="http://schemas.microsoft.com/office/drawing/2014/main" id="{56712462-FC7E-4965-85A6-E0F29B7301A4}"/>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382A2A59-D719-43B7-A59F-907B712D0D6A}"/>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D82B0CC5-35FD-4221-AB28-2693D881766B}"/>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Environment</a:t>
            </a:r>
            <a:endParaRPr/>
          </a:p>
        </p:txBody>
      </p:sp>
      <p:sp>
        <p:nvSpPr>
          <p:cNvPr id="210" name="Google Shape;210;p10">
            <a:extLst xmlns:a="http://schemas.openxmlformats.org/drawingml/2006/main">
              <a:ext uri="{FF2B5EF4-FFF2-40B4-BE49-F238E27FC236}">
                <a16:creationId xmlns:a16="http://schemas.microsoft.com/office/drawing/2014/main" id="{5E8E3455-9029-4C49-833D-7F8AC98A37F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Create cava-training and install CAVAanalytics and cavapy</a:t>
            </a:r>
            <a:endParaRPr/>
          </a:p>
        </p:txBody>
      </p:sp>
      <p:sp>
        <p:nvSpPr>
          <p:cNvPr id="211" name="Google Shape;211;p10">
            <a:extLst xmlns:a="http://schemas.openxmlformats.org/drawingml/2006/main">
              <a:ext uri="{FF2B5EF4-FFF2-40B4-BE49-F238E27FC236}">
                <a16:creationId xmlns:a16="http://schemas.microsoft.com/office/drawing/2014/main" id="{E7E1D685-4B49-41EB-A9BD-9DACC3656B29}"/>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8505A022-0CC7-46DF-A693-9EBF9D0ECABE}"/>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F7FDB95C-EF23-4939-B60D-B8B3B11FCCD9}"/>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Errors</a:t>
            </a:r>
            <a:endParaRPr/>
          </a:p>
        </p:txBody>
      </p:sp>
      <p:sp>
        <p:nvSpPr>
          <p:cNvPr id="214" name="Google Shape;214;p10">
            <a:extLst xmlns:a="http://schemas.openxmlformats.org/drawingml/2006/main">
              <a:ext uri="{FF2B5EF4-FFF2-40B4-BE49-F238E27FC236}">
                <a16:creationId xmlns:a16="http://schemas.microsoft.com/office/drawing/2014/main" id="{B9831F17-C44E-4DE4-9D27-0783EC092E1E}"/>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Keep the complete error message so we can review it together</a:t>
            </a:r>
            <a:endParaRPr/>
          </a:p>
        </p:txBody>
      </p:sp>
      <p:sp>
        <p:nvSpPr>
          <p:cNvPr id="215" name="Google Shape;215;p10">
            <a:extLst xmlns:a="http://schemas.openxmlformats.org/drawingml/2006/main">
              <a:ext uri="{FF2B5EF4-FFF2-40B4-BE49-F238E27FC236}">
                <a16:creationId xmlns:a16="http://schemas.microsoft.com/office/drawing/2014/main" id="{B30120E4-9C68-454E-95A5-1B86976C9646}"/>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1828789321"/>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3395841B-4098-49E2-88E6-556B3616B65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Miniforge and notebook editor</a:t>
            </a:r>
            <a:endParaRPr/>
          </a:p>
        </p:txBody>
      </p:sp>
      <p:sp>
        <p:nvSpPr>
          <p:cNvPr id="238" name="Google Shape;238;p12">
            <a:extLst xmlns:a="http://schemas.openxmlformats.org/drawingml/2006/main">
              <a:ext uri="{FF2B5EF4-FFF2-40B4-BE49-F238E27FC236}">
                <a16:creationId xmlns:a16="http://schemas.microsoft.com/office/drawing/2014/main" id="{C2542CC5-14C8-4327-A23E-873226573F2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Install these tools before creating the training environment</a:t>
            </a:r>
            <a:endParaRPr/>
          </a:p>
        </p:txBody>
      </p:sp>
      <p:sp>
        <p:nvSpPr>
          <p:cNvPr id="239" name="Google Shape;239;p12">
            <a:extLst xmlns:a="http://schemas.openxmlformats.org/drawingml/2006/main">
              <a:ext uri="{FF2B5EF4-FFF2-40B4-BE49-F238E27FC236}">
                <a16:creationId xmlns:a16="http://schemas.microsoft.com/office/drawing/2014/main" id="{33D0C418-E943-4F79-A5F1-728E7DFFF1F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C1E34BB2-D820-4205-8CC0-00B594881CE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1425208F-E611-45D2-84B8-4BA5275555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511A1CA7-A1AA-41B8-9442-357D9FD82DA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82F403DC-7030-45D6-8742-29704254DBC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04</a:t>
            </a:r>
            <a:endParaRPr/>
          </a:p>
        </p:txBody>
      </p:sp>
      <p:sp>
        <p:nvSpPr>
          <p:cNvPr id="244" name="Google Shape;244;p12">
            <a:extLst xmlns:a="http://schemas.openxmlformats.org/drawingml/2006/main">
              <a:ext uri="{FF2B5EF4-FFF2-40B4-BE49-F238E27FC236}">
                <a16:creationId xmlns:a16="http://schemas.microsoft.com/office/drawing/2014/main" id="{B2B6A2D6-43B4-4F98-BCAC-610477A433AF}"/>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6D47F65-BD1E-4173-9271-327841E4EF94}"/>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04301776-2E97-49E3-AB77-5AD6F3665916}"/>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Miniforge</a:t>
            </a:r>
            <a:endParaRPr/>
          </a:p>
        </p:txBody>
      </p:sp>
      <p:sp>
        <p:nvSpPr>
          <p:cNvPr id="247" name="Google Shape;247;p12">
            <a:extLst xmlns:a="http://schemas.openxmlformats.org/drawingml/2006/main">
              <a:ext uri="{FF2B5EF4-FFF2-40B4-BE49-F238E27FC236}">
                <a16:creationId xmlns:a16="http://schemas.microsoft.com/office/drawing/2014/main" id="{A1114059-0490-4D32-B0F2-294D3C3EE52C}"/>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Download: https://conda-forge.org/download/</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Windows: use Miniforge Prompt</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macOS or Linux: use a terminal</a:t>
            </a:r>
            <a:endParaRPr/>
          </a:p>
        </p:txBody>
      </p:sp>
      <p:sp>
        <p:nvSpPr>
          <p:cNvPr id="248" name="Google Shape;248;p12">
            <a:extLst xmlns:a="http://schemas.openxmlformats.org/drawingml/2006/main">
              <a:ext uri="{FF2B5EF4-FFF2-40B4-BE49-F238E27FC236}">
                <a16:creationId xmlns:a16="http://schemas.microsoft.com/office/drawing/2014/main" id="{FE35E67F-D432-418F-B2D9-8A8A40139BAE}"/>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F65C2D6E-1236-4114-B0F8-0D833DD308CA}"/>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742368E2-267A-4436-A0ED-ACEEB9743BBB}"/>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VS Code or Cursor</a:t>
            </a:r>
            <a:endParaRPr/>
          </a:p>
        </p:txBody>
      </p:sp>
      <p:sp>
        <p:nvSpPr>
          <p:cNvPr id="251" name="Google Shape;251;p12">
            <a:extLst xmlns:a="http://schemas.openxmlformats.org/drawingml/2006/main">
              <a:ext uri="{FF2B5EF4-FFF2-40B4-BE49-F238E27FC236}">
                <a16:creationId xmlns:a16="http://schemas.microsoft.com/office/drawing/2014/main" id="{AEC52765-3479-4B17-BE1D-F49E02A1E8AF}"/>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VS Code: https://code.visualstudio.com/download</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 the Python and Jupyter extensions</a:t>
            </a:r>
            <a:endParaRPr/>
          </a:p>
        </p:txBody>
      </p:sp>
      <p:sp>
        <p:nvSpPr>
          <p:cNvPr id="252" name="Google Shape;252;p12">
            <a:extLst xmlns:a="http://schemas.openxmlformats.org/drawingml/2006/main">
              <a:ext uri="{FF2B5EF4-FFF2-40B4-BE49-F238E27FC236}">
                <a16:creationId xmlns:a16="http://schemas.microsoft.com/office/drawing/2014/main" id="{E26AACC5-A95B-4736-9833-8C0AFEAFA9B9}"/>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No separate Python or R installation is required. JupyterLab is also available in a browser.</a:t>
            </a:r>
            <a:endParaRPr/>
          </a:p>
        </p:txBody>
      </p:sp>
    </p:spTree>
    <p:extLst>
      <p:ext uri="{BB962C8B-B14F-4D97-AF65-F5344CB8AC3E}">
        <p14:creationId xmlns:p14="http://schemas.microsoft.com/office/powerpoint/2010/main" val="1432831999"/>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3395841B-4098-49E2-88E6-556B3616B65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The cava-training environment</a:t>
            </a:r>
            <a:endParaRPr/>
          </a:p>
        </p:txBody>
      </p:sp>
      <p:sp>
        <p:nvSpPr>
          <p:cNvPr id="238" name="Google Shape;238;p12">
            <a:extLst xmlns:a="http://schemas.openxmlformats.org/drawingml/2006/main">
              <a:ext uri="{FF2B5EF4-FFF2-40B4-BE49-F238E27FC236}">
                <a16:creationId xmlns:a16="http://schemas.microsoft.com/office/drawing/2014/main" id="{C2542CC5-14C8-4327-A23E-873226573F2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Run these commands in Miniforge Prompt or a terminal</a:t>
            </a:r>
            <a:endParaRPr/>
          </a:p>
        </p:txBody>
      </p:sp>
      <p:sp>
        <p:nvSpPr>
          <p:cNvPr id="239" name="Google Shape;239;p12">
            <a:extLst xmlns:a="http://schemas.openxmlformats.org/drawingml/2006/main">
              <a:ext uri="{FF2B5EF4-FFF2-40B4-BE49-F238E27FC236}">
                <a16:creationId xmlns:a16="http://schemas.microsoft.com/office/drawing/2014/main" id="{33D0C418-E943-4F79-A5F1-728E7DFFF1F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C1E34BB2-D820-4205-8CC0-00B594881CE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1425208F-E611-45D2-84B8-4BA5275555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511A1CA7-A1AA-41B8-9442-357D9FD82DA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82F403DC-7030-45D6-8742-29704254DBC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05</a:t>
            </a:r>
            <a:endParaRPr/>
          </a:p>
        </p:txBody>
      </p:sp>
      <p:sp>
        <p:nvSpPr>
          <p:cNvPr id="244" name="Google Shape;244;p12">
            <a:extLst xmlns:a="http://schemas.openxmlformats.org/drawingml/2006/main">
              <a:ext uri="{FF2B5EF4-FFF2-40B4-BE49-F238E27FC236}">
                <a16:creationId xmlns:a16="http://schemas.microsoft.com/office/drawing/2014/main" id="{B2B6A2D6-43B4-4F98-BCAC-610477A433AF}"/>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6D47F65-BD1E-4173-9271-327841E4EF94}"/>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04301776-2E97-49E3-AB77-5AD6F3665916}"/>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Create</a:t>
            </a:r>
            <a:endParaRPr/>
          </a:p>
        </p:txBody>
      </p:sp>
      <p:sp>
        <p:nvSpPr>
          <p:cNvPr id="247" name="Google Shape;247;p12">
            <a:extLst xmlns:a="http://schemas.openxmlformats.org/drawingml/2006/main">
              <a:ext uri="{FF2B5EF4-FFF2-40B4-BE49-F238E27FC236}">
                <a16:creationId xmlns:a16="http://schemas.microsoft.com/office/drawing/2014/main" id="{A1114059-0490-4D32-B0F2-294D3C3EE52C}"/>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create -n cava-training -c conda-forge python=3.12 r-base=4.5.3 r-rjava r-terra r-sf r-irkernel jupyterlab ipykernel pip</a:t>
            </a:r>
            <a:endParaRPr/>
          </a:p>
        </p:txBody>
      </p:sp>
      <p:sp>
        <p:nvSpPr>
          <p:cNvPr id="248" name="Google Shape;248;p12">
            <a:extLst xmlns:a="http://schemas.openxmlformats.org/drawingml/2006/main">
              <a:ext uri="{FF2B5EF4-FFF2-40B4-BE49-F238E27FC236}">
                <a16:creationId xmlns:a16="http://schemas.microsoft.com/office/drawing/2014/main" id="{FE35E67F-D432-418F-B2D9-8A8A40139BAE}"/>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F65C2D6E-1236-4114-B0F8-0D833DD308CA}"/>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742368E2-267A-4436-A0ED-ACEEB9743BBB}"/>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Activate</a:t>
            </a:r>
            <a:endParaRPr/>
          </a:p>
        </p:txBody>
      </p:sp>
      <p:sp>
        <p:nvSpPr>
          <p:cNvPr id="251" name="Google Shape;251;p12">
            <a:extLst xmlns:a="http://schemas.openxmlformats.org/drawingml/2006/main">
              <a:ext uri="{FF2B5EF4-FFF2-40B4-BE49-F238E27FC236}">
                <a16:creationId xmlns:a16="http://schemas.microsoft.com/office/drawing/2014/main" id="{AEC52765-3479-4B17-BE1D-F49E02A1E8AF}"/>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Enter y if asked to confirm.</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p:txBody>
      </p:sp>
      <p:sp>
        <p:nvSpPr>
          <p:cNvPr id="252" name="Google Shape;252;p12">
            <a:extLst xmlns:a="http://schemas.openxmlformats.org/drawingml/2006/main">
              <a:ext uri="{FF2B5EF4-FFF2-40B4-BE49-F238E27FC236}">
                <a16:creationId xmlns:a16="http://schemas.microsoft.com/office/drawing/2014/main" id="{E26AACC5-A95B-4736-9833-8C0AFEAFA9B9}"/>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The environment installs the required versions of Python and R.</a:t>
            </a:r>
            <a:endParaRPr/>
          </a:p>
        </p:txBody>
      </p:sp>
    </p:spTree>
    <p:extLst>
      <p:ext uri="{BB962C8B-B14F-4D97-AF65-F5344CB8AC3E}">
        <p14:creationId xmlns:p14="http://schemas.microsoft.com/office/powerpoint/2010/main" val="1432831999"/>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3395841B-4098-49E2-88E6-556B3616B65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CAVAanalytics installation</a:t>
            </a:r>
            <a:endParaRPr/>
          </a:p>
        </p:txBody>
      </p:sp>
      <p:sp>
        <p:nvSpPr>
          <p:cNvPr id="238" name="Google Shape;238;p12">
            <a:extLst xmlns:a="http://schemas.openxmlformats.org/drawingml/2006/main">
              <a:ext uri="{FF2B5EF4-FFF2-40B4-BE49-F238E27FC236}">
                <a16:creationId xmlns:a16="http://schemas.microsoft.com/office/drawing/2014/main" id="{C2542CC5-14C8-4327-A23E-873226573F2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Keep the cava-training environment active</a:t>
            </a:r>
            <a:endParaRPr/>
          </a:p>
        </p:txBody>
      </p:sp>
      <p:sp>
        <p:nvSpPr>
          <p:cNvPr id="239" name="Google Shape;239;p12">
            <a:extLst xmlns:a="http://schemas.openxmlformats.org/drawingml/2006/main">
              <a:ext uri="{FF2B5EF4-FFF2-40B4-BE49-F238E27FC236}">
                <a16:creationId xmlns:a16="http://schemas.microsoft.com/office/drawing/2014/main" id="{33D0C418-E943-4F79-A5F1-728E7DFFF1F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C1E34BB2-D820-4205-8CC0-00B594881CE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1425208F-E611-45D2-84B8-4BA5275555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511A1CA7-A1AA-41B8-9442-357D9FD82DA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82F403DC-7030-45D6-8742-29704254DBC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06</a:t>
            </a:r>
            <a:endParaRPr/>
          </a:p>
        </p:txBody>
      </p:sp>
      <p:sp>
        <p:nvSpPr>
          <p:cNvPr id="244" name="Google Shape;244;p12">
            <a:extLst xmlns:a="http://schemas.openxmlformats.org/drawingml/2006/main">
              <a:ext uri="{FF2B5EF4-FFF2-40B4-BE49-F238E27FC236}">
                <a16:creationId xmlns:a16="http://schemas.microsoft.com/office/drawing/2014/main" id="{B2B6A2D6-43B4-4F98-BCAC-610477A433AF}"/>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6D47F65-BD1E-4173-9271-327841E4EF94}"/>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04301776-2E97-49E3-AB77-5AD6F3665916}"/>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Start R</a:t>
            </a:r>
            <a:endParaRPr/>
          </a:p>
        </p:txBody>
      </p:sp>
      <p:sp>
        <p:nvSpPr>
          <p:cNvPr id="247" name="Google Shape;247;p12">
            <a:extLst xmlns:a="http://schemas.openxmlformats.org/drawingml/2006/main">
              <a:ext uri="{FF2B5EF4-FFF2-40B4-BE49-F238E27FC236}">
                <a16:creationId xmlns:a16="http://schemas.microsoft.com/office/drawing/2014/main" id="{A1114059-0490-4D32-B0F2-294D3C3EE52C}"/>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R</a:t>
            </a:r>
            <a:endParaRPr/>
          </a:p>
        </p:txBody>
      </p:sp>
      <p:sp>
        <p:nvSpPr>
          <p:cNvPr id="248" name="Google Shape;248;p12">
            <a:extLst xmlns:a="http://schemas.openxmlformats.org/drawingml/2006/main">
              <a:ext uri="{FF2B5EF4-FFF2-40B4-BE49-F238E27FC236}">
                <a16:creationId xmlns:a16="http://schemas.microsoft.com/office/drawing/2014/main" id="{FE35E67F-D432-418F-B2D9-8A8A40139BAE}"/>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F65C2D6E-1236-4114-B0F8-0D833DD308CA}"/>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742368E2-267A-4436-A0ED-ACEEB9743BBB}"/>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Install and test</a:t>
            </a:r>
            <a:endParaRPr/>
          </a:p>
        </p:txBody>
      </p:sp>
      <p:sp>
        <p:nvSpPr>
          <p:cNvPr id="251" name="Google Shape;251;p12">
            <a:extLst xmlns:a="http://schemas.openxmlformats.org/drawingml/2006/main">
              <a:ext uri="{FF2B5EF4-FFF2-40B4-BE49-F238E27FC236}">
                <a16:creationId xmlns:a16="http://schemas.microsoft.com/office/drawing/2014/main" id="{AEC52765-3479-4B17-BE1D-F49E02A1E8AF}"/>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install.packages("pak", repos = "https://cloud.r-project.org")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pak::pak("un-fao/CAVAanalytics")</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library(CAVAanalytics); library(rJava)</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packageVersion("CAVAanalytics")</a:t>
            </a:r>
            <a:endParaRPr/>
          </a:p>
        </p:txBody>
      </p:sp>
      <p:sp>
        <p:nvSpPr>
          <p:cNvPr id="252" name="Google Shape;252;p12">
            <a:extLst xmlns:a="http://schemas.openxmlformats.org/drawingml/2006/main">
              <a:ext uri="{FF2B5EF4-FFF2-40B4-BE49-F238E27FC236}">
                <a16:creationId xmlns:a16="http://schemas.microsoft.com/office/drawing/2014/main" id="{E26AACC5-A95B-4736-9833-8C0AFEAFA9B9}"/>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Exit with q() and select No if R asks to save the workspace.</a:t>
            </a:r>
            <a:endParaRPr/>
          </a:p>
        </p:txBody>
      </p:sp>
    </p:spTree>
    <p:extLst>
      <p:ext uri="{BB962C8B-B14F-4D97-AF65-F5344CB8AC3E}">
        <p14:creationId xmlns:p14="http://schemas.microsoft.com/office/powerpoint/2010/main" val="143283199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0034287B-9E2D-42F7-B79E-237205AA4C07}"/>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cavapy installation</a:t>
            </a:r>
            <a:endParaRPr/>
          </a:p>
        </p:txBody>
      </p:sp>
      <p:sp>
        <p:nvSpPr>
          <p:cNvPr id="194" name="Google Shape;194;p10">
            <a:extLst xmlns:a="http://schemas.openxmlformats.org/drawingml/2006/main">
              <a:ext uri="{FF2B5EF4-FFF2-40B4-BE49-F238E27FC236}">
                <a16:creationId xmlns:a16="http://schemas.microsoft.com/office/drawing/2014/main" id="{E1A17E60-A6D5-4A0A-A002-B3F892DBA09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Run these commands in the terminal</a:t>
            </a:r>
            <a:endParaRPr/>
          </a:p>
        </p:txBody>
      </p:sp>
      <p:sp>
        <p:nvSpPr>
          <p:cNvPr id="195" name="Google Shape;195;p10">
            <a:extLst xmlns:a="http://schemas.openxmlformats.org/drawingml/2006/main">
              <a:ext uri="{FF2B5EF4-FFF2-40B4-BE49-F238E27FC236}">
                <a16:creationId xmlns:a16="http://schemas.microsoft.com/office/drawing/2014/main" id="{D83CC109-348A-41D7-A2ED-0A87ABEDC0A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97AAEAA7-6EC9-47D7-A52E-F054B2710441}"/>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ABC9D5FD-CD2A-4B72-9EDD-2880688D85B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F9A45910-1E33-42F1-93A8-4DD5D43F152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38D6A652-7CAC-45B2-90A7-DB828F9F000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07</a:t>
            </a:r>
            <a:endParaRPr/>
          </a:p>
        </p:txBody>
      </p:sp>
      <p:sp>
        <p:nvSpPr>
          <p:cNvPr id="200" name="Google Shape;200;p10">
            <a:extLst xmlns:a="http://schemas.openxmlformats.org/drawingml/2006/main">
              <a:ext uri="{FF2B5EF4-FFF2-40B4-BE49-F238E27FC236}">
                <a16:creationId xmlns:a16="http://schemas.microsoft.com/office/drawing/2014/main" id="{E33F638B-C5EF-4CA6-8D1A-87BA06BC02F4}"/>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F3289509-9EB5-429C-9D0E-29BFCBE055A5}"/>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Activate</a:t>
            </a:r>
            <a:endParaRPr/>
          </a:p>
        </p:txBody>
      </p:sp>
      <p:sp>
        <p:nvSpPr>
          <p:cNvPr id="202" name="Google Shape;202;p10">
            <a:extLst xmlns:a="http://schemas.openxmlformats.org/drawingml/2006/main">
              <a:ext uri="{FF2B5EF4-FFF2-40B4-BE49-F238E27FC236}">
                <a16:creationId xmlns:a16="http://schemas.microsoft.com/office/drawing/2014/main" id="{272AF7A5-1C8F-4B20-B069-C634814CCC62}"/>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mamba activate cava-training</a:t>
            </a:r>
            <a:endParaRPr/>
          </a:p>
        </p:txBody>
      </p:sp>
      <p:sp>
        <p:nvSpPr>
          <p:cNvPr id="203" name="Google Shape;203;p10">
            <a:extLst xmlns:a="http://schemas.openxmlformats.org/drawingml/2006/main">
              <a:ext uri="{FF2B5EF4-FFF2-40B4-BE49-F238E27FC236}">
                <a16:creationId xmlns:a16="http://schemas.microsoft.com/office/drawing/2014/main" id="{206CE225-A207-4643-8387-0C558DE1DDD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4517910E-1777-4078-B3A7-F7938C5ACCF5}"/>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123C9C2B-D117-4966-856E-965DDEF91741}"/>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Install</a:t>
            </a:r>
            <a:endParaRPr/>
          </a:p>
        </p:txBody>
      </p:sp>
      <p:sp>
        <p:nvSpPr>
          <p:cNvPr id="206" name="Google Shape;206;p10">
            <a:extLst xmlns:a="http://schemas.openxmlformats.org/drawingml/2006/main">
              <a:ext uri="{FF2B5EF4-FFF2-40B4-BE49-F238E27FC236}">
                <a16:creationId xmlns:a16="http://schemas.microsoft.com/office/drawing/2014/main" id="{B6AF204C-3A32-4FAD-8739-08AF0CE9157D}"/>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python -m pip install cavapy</a:t>
            </a:r>
            <a:endParaRPr/>
          </a:p>
        </p:txBody>
      </p:sp>
      <p:sp>
        <p:nvSpPr>
          <p:cNvPr id="207" name="Google Shape;207;p10">
            <a:extLst xmlns:a="http://schemas.openxmlformats.org/drawingml/2006/main">
              <a:ext uri="{FF2B5EF4-FFF2-40B4-BE49-F238E27FC236}">
                <a16:creationId xmlns:a16="http://schemas.microsoft.com/office/drawing/2014/main" id="{56712462-FC7E-4965-85A6-E0F29B7301A4}"/>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382A2A59-D719-43B7-A59F-907B712D0D6A}"/>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D82B0CC5-35FD-4221-AB28-2693D881766B}"/>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Test</a:t>
            </a:r>
            <a:endParaRPr/>
          </a:p>
        </p:txBody>
      </p:sp>
      <p:sp>
        <p:nvSpPr>
          <p:cNvPr id="210" name="Google Shape;210;p10">
            <a:extLst xmlns:a="http://schemas.openxmlformats.org/drawingml/2006/main">
              <a:ext uri="{FF2B5EF4-FFF2-40B4-BE49-F238E27FC236}">
                <a16:creationId xmlns:a16="http://schemas.microsoft.com/office/drawing/2014/main" id="{5E8E3455-9029-4C49-833D-7F8AC98A37F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python -c "import cavapy; print(cavapy.__version__)"</a:t>
            </a:r>
            <a:endParaRPr/>
          </a:p>
        </p:txBody>
      </p:sp>
      <p:sp>
        <p:nvSpPr>
          <p:cNvPr id="211" name="Google Shape;211;p10">
            <a:extLst xmlns:a="http://schemas.openxmlformats.org/drawingml/2006/main">
              <a:ext uri="{FF2B5EF4-FFF2-40B4-BE49-F238E27FC236}">
                <a16:creationId xmlns:a16="http://schemas.microsoft.com/office/drawing/2014/main" id="{E7E1D685-4B49-41EB-A9BD-9DACC3656B29}"/>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8505A022-0CC7-46DF-A693-9EBF9D0ECABE}"/>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F7FDB95C-EF23-4939-B60D-B8B3B11FCCD9}"/>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Expected result</a:t>
            </a:r>
            <a:endParaRPr/>
          </a:p>
        </p:txBody>
      </p:sp>
      <p:sp>
        <p:nvSpPr>
          <p:cNvPr id="214" name="Google Shape;214;p10">
            <a:extLst xmlns:a="http://schemas.openxmlformats.org/drawingml/2006/main">
              <a:ext uri="{FF2B5EF4-FFF2-40B4-BE49-F238E27FC236}">
                <a16:creationId xmlns:a16="http://schemas.microsoft.com/office/drawing/2014/main" id="{B9831F17-C44E-4DE4-9D27-0783EC092E1E}"/>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The final command displays the installed cavapy version</a:t>
            </a:r>
            <a:endParaRPr/>
          </a:p>
        </p:txBody>
      </p:sp>
      <p:sp>
        <p:nvSpPr>
          <p:cNvPr id="215" name="Google Shape;215;p10">
            <a:extLst xmlns:a="http://schemas.openxmlformats.org/drawingml/2006/main">
              <a:ext uri="{FF2B5EF4-FFF2-40B4-BE49-F238E27FC236}">
                <a16:creationId xmlns:a16="http://schemas.microsoft.com/office/drawing/2014/main" id="{B30120E4-9C68-454E-95A5-1B86976C9646}"/>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1828789321"/>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3395841B-4098-49E2-88E6-556B3616B65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R kernel for VS Code or Cursor</a:t>
            </a:r>
            <a:endParaRPr/>
          </a:p>
        </p:txBody>
      </p:sp>
      <p:sp>
        <p:nvSpPr>
          <p:cNvPr id="238" name="Google Shape;238;p12">
            <a:extLst xmlns:a="http://schemas.openxmlformats.org/drawingml/2006/main">
              <a:ext uri="{FF2B5EF4-FFF2-40B4-BE49-F238E27FC236}">
                <a16:creationId xmlns:a16="http://schemas.microsoft.com/office/drawing/2014/main" id="{C2542CC5-14C8-4327-A23E-873226573F2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Register the kernel after activating cava-training</a:t>
            </a:r>
            <a:endParaRPr/>
          </a:p>
        </p:txBody>
      </p:sp>
      <p:sp>
        <p:nvSpPr>
          <p:cNvPr id="239" name="Google Shape;239;p12">
            <a:extLst xmlns:a="http://schemas.openxmlformats.org/drawingml/2006/main">
              <a:ext uri="{FF2B5EF4-FFF2-40B4-BE49-F238E27FC236}">
                <a16:creationId xmlns:a16="http://schemas.microsoft.com/office/drawing/2014/main" id="{33D0C418-E943-4F79-A5F1-728E7DFFF1F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C1E34BB2-D820-4205-8CC0-00B594881CE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1425208F-E611-45D2-84B8-4BA5275555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511A1CA7-A1AA-41B8-9442-357D9FD82DA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82F403DC-7030-45D6-8742-29704254DBC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08</a:t>
            </a:r>
            <a:endParaRPr/>
          </a:p>
        </p:txBody>
      </p:sp>
      <p:sp>
        <p:nvSpPr>
          <p:cNvPr id="244" name="Google Shape;244;p12">
            <a:extLst xmlns:a="http://schemas.openxmlformats.org/drawingml/2006/main">
              <a:ext uri="{FF2B5EF4-FFF2-40B4-BE49-F238E27FC236}">
                <a16:creationId xmlns:a16="http://schemas.microsoft.com/office/drawing/2014/main" id="{B2B6A2D6-43B4-4F98-BCAC-610477A433AF}"/>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6D47F65-BD1E-4173-9271-327841E4EF94}"/>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04301776-2E97-49E3-AB77-5AD6F3665916}"/>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Register</a:t>
            </a:r>
            <a:endParaRPr/>
          </a:p>
        </p:txBody>
      </p:sp>
      <p:sp>
        <p:nvSpPr>
          <p:cNvPr id="247" name="Google Shape;247;p12">
            <a:extLst xmlns:a="http://schemas.openxmlformats.org/drawingml/2006/main">
              <a:ext uri="{FF2B5EF4-FFF2-40B4-BE49-F238E27FC236}">
                <a16:creationId xmlns:a16="http://schemas.microsoft.com/office/drawing/2014/main" id="{A1114059-0490-4D32-B0F2-294D3C3EE52C}"/>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mamba activate cava-training</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
            </a:r>
            <a:endParaRPr/>
          </a:p>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Rscript -e "IRkernel::installspec(user = TRUE, name = 'ir-cava', displayname = 'R (CAVA)')"</a:t>
            </a:r>
            <a:endParaRPr/>
          </a:p>
        </p:txBody>
      </p:sp>
      <p:sp>
        <p:nvSpPr>
          <p:cNvPr id="248" name="Google Shape;248;p12">
            <a:extLst xmlns:a="http://schemas.openxmlformats.org/drawingml/2006/main">
              <a:ext uri="{FF2B5EF4-FFF2-40B4-BE49-F238E27FC236}">
                <a16:creationId xmlns:a16="http://schemas.microsoft.com/office/drawing/2014/main" id="{FE35E67F-D432-418F-B2D9-8A8A40139BAE}"/>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F65C2D6E-1236-4114-B0F8-0D833DD308CA}"/>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742368E2-267A-4436-A0ED-ACEEB9743BBB}"/>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Select</a:t>
            </a:r>
            <a:endParaRPr/>
          </a:p>
        </p:txBody>
      </p:sp>
      <p:sp>
        <p:nvSpPr>
          <p:cNvPr id="251" name="Google Shape;251;p12">
            <a:extLst xmlns:a="http://schemas.openxmlformats.org/drawingml/2006/main">
              <a:ext uri="{FF2B5EF4-FFF2-40B4-BE49-F238E27FC236}">
                <a16:creationId xmlns:a16="http://schemas.microsoft.com/office/drawing/2014/main" id="{AEC52765-3479-4B17-BE1D-F49E02A1E8AF}"/>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Open the R notebook in VS Code or Cursor and select R (CAVA) as the notebook kernel.</a:t>
            </a:r>
            <a:endParaRPr/>
          </a:p>
        </p:txBody>
      </p:sp>
      <p:sp>
        <p:nvSpPr>
          <p:cNvPr id="252" name="Google Shape;252;p12">
            <a:extLst xmlns:a="http://schemas.openxmlformats.org/drawingml/2006/main">
              <a:ext uri="{FF2B5EF4-FFF2-40B4-BE49-F238E27FC236}">
                <a16:creationId xmlns:a16="http://schemas.microsoft.com/office/drawing/2014/main" id="{E26AACC5-A95B-4736-9833-8C0AFEAFA9B9}"/>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JupyterLab remains available as a browser-based alternative.</a:t>
            </a:r>
            <a:endParaRPr/>
          </a:p>
        </p:txBody>
      </p:sp>
    </p:spTree>
    <p:extLst>
      <p:ext uri="{BB962C8B-B14F-4D97-AF65-F5344CB8AC3E}">
        <p14:creationId xmlns:p14="http://schemas.microsoft.com/office/powerpoint/2010/main" val="1432831999"/>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93" name="Google Shape;193;p10">
            <a:extLst xmlns:a="http://schemas.openxmlformats.org/drawingml/2006/main">
              <a:ext uri="{FF2B5EF4-FFF2-40B4-BE49-F238E27FC236}">
                <a16:creationId xmlns:a16="http://schemas.microsoft.com/office/drawing/2014/main" id="{0034287B-9E2D-42F7-B79E-237205AA4C07}"/>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Installation check</a:t>
            </a:r>
            <a:endParaRPr/>
          </a:p>
        </p:txBody>
      </p:sp>
      <p:sp>
        <p:nvSpPr>
          <p:cNvPr id="194" name="Google Shape;194;p10">
            <a:extLst xmlns:a="http://schemas.openxmlformats.org/drawingml/2006/main">
              <a:ext uri="{FF2B5EF4-FFF2-40B4-BE49-F238E27FC236}">
                <a16:creationId xmlns:a16="http://schemas.microsoft.com/office/drawing/2014/main" id="{E1A17E60-A6D5-4A0A-A002-B3F892DBA098}"/>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Confirm the setup before starting the notebooks</a:t>
            </a:r>
            <a:endParaRPr/>
          </a:p>
        </p:txBody>
      </p:sp>
      <p:sp>
        <p:nvSpPr>
          <p:cNvPr id="195" name="Google Shape;195;p10">
            <a:extLst xmlns:a="http://schemas.openxmlformats.org/drawingml/2006/main">
              <a:ext uri="{FF2B5EF4-FFF2-40B4-BE49-F238E27FC236}">
                <a16:creationId xmlns:a16="http://schemas.microsoft.com/office/drawing/2014/main" id="{D83CC109-348A-41D7-A2ED-0A87ABEDC0AD}"/>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6" name="Google Shape;196;p10">
            <a:extLst xmlns:a="http://schemas.openxmlformats.org/drawingml/2006/main">
              <a:ext uri="{FF2B5EF4-FFF2-40B4-BE49-F238E27FC236}">
                <a16:creationId xmlns:a16="http://schemas.microsoft.com/office/drawing/2014/main" id="{97AAEAA7-6EC9-47D7-A52E-F054B2710441}"/>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7" name="Google Shape;197;p10">
            <a:extLst xmlns:a="http://schemas.openxmlformats.org/drawingml/2006/main">
              <a:ext uri="{FF2B5EF4-FFF2-40B4-BE49-F238E27FC236}">
                <a16:creationId xmlns:a16="http://schemas.microsoft.com/office/drawing/2014/main" id="{ABC9D5FD-CD2A-4B72-9EDD-2880688D85BA}"/>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98" name="Google Shape;198;p10">
            <a:extLst xmlns:a="http://schemas.openxmlformats.org/drawingml/2006/main">
              <a:ext uri="{FF2B5EF4-FFF2-40B4-BE49-F238E27FC236}">
                <a16:creationId xmlns:a16="http://schemas.microsoft.com/office/drawing/2014/main" id="{F9A45910-1E33-42F1-93A8-4DD5D43F1524}"/>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199" name="Google Shape;199;p10">
            <a:extLst xmlns:a="http://schemas.openxmlformats.org/drawingml/2006/main">
              <a:ext uri="{FF2B5EF4-FFF2-40B4-BE49-F238E27FC236}">
                <a16:creationId xmlns:a16="http://schemas.microsoft.com/office/drawing/2014/main" id="{38D6A652-7CAC-45B2-90A7-DB828F9F0004}"/>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09</a:t>
            </a:r>
            <a:endParaRPr/>
          </a:p>
        </p:txBody>
      </p:sp>
      <p:sp>
        <p:nvSpPr>
          <p:cNvPr id="200" name="Google Shape;200;p10">
            <a:extLst xmlns:a="http://schemas.openxmlformats.org/drawingml/2006/main">
              <a:ext uri="{FF2B5EF4-FFF2-40B4-BE49-F238E27FC236}">
                <a16:creationId xmlns:a16="http://schemas.microsoft.com/office/drawing/2014/main" id="{E33F638B-C5EF-4CA6-8D1A-87BA06BC02F4}"/>
              </a:ext>
            </a:extLst>
          </p:cNvPr>
          <p:cNvSpPr>
            <a:spLocks xmlns:a="http://schemas.openxmlformats.org/drawingml/2006/main" noGrp="1"/>
          </p:cNvSpPr>
          <p:nvPr/>
        </p:nvSpPr>
        <p:spPr>
          <a:xfrm xmlns:a="http://schemas.openxmlformats.org/drawingml/2006/main">
            <a:off x="704850" y="1924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01</a:t>
            </a:r>
            <a:endParaRPr/>
          </a:p>
        </p:txBody>
      </p:sp>
      <p:sp>
        <p:nvSpPr>
          <p:cNvPr id="201" name="Google Shape;201;p10">
            <a:extLst xmlns:a="http://schemas.openxmlformats.org/drawingml/2006/main">
              <a:ext uri="{FF2B5EF4-FFF2-40B4-BE49-F238E27FC236}">
                <a16:creationId xmlns:a16="http://schemas.microsoft.com/office/drawing/2014/main" id="{F3289509-9EB5-429C-9D0E-29BFCBE055A5}"/>
              </a:ext>
            </a:extLst>
          </p:cNvPr>
          <p:cNvSpPr>
            <a:spLocks xmlns:a="http://schemas.openxmlformats.org/drawingml/2006/main" noGrp="1"/>
          </p:cNvSpPr>
          <p:nvPr/>
        </p:nvSpPr>
        <p:spPr>
          <a:xfrm xmlns:a="http://schemas.openxmlformats.org/drawingml/2006/main">
            <a:off x="1495425" y="1895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Miniforge</a:t>
            </a:r>
            <a:endParaRPr/>
          </a:p>
        </p:txBody>
      </p:sp>
      <p:sp>
        <p:nvSpPr>
          <p:cNvPr id="202" name="Google Shape;202;p10">
            <a:extLst xmlns:a="http://schemas.openxmlformats.org/drawingml/2006/main">
              <a:ext uri="{FF2B5EF4-FFF2-40B4-BE49-F238E27FC236}">
                <a16:creationId xmlns:a16="http://schemas.microsoft.com/office/drawing/2014/main" id="{272AF7A5-1C8F-4B20-B069-C634814CCC62}"/>
              </a:ext>
            </a:extLst>
          </p:cNvPr>
          <p:cNvSpPr>
            <a:spLocks xmlns:a="http://schemas.openxmlformats.org/drawingml/2006/main" noGrp="1"/>
          </p:cNvSpPr>
          <p:nvPr/>
        </p:nvSpPr>
        <p:spPr>
          <a:xfrm xmlns:a="http://schemas.openxmlformats.org/drawingml/2006/main">
            <a:off x="4286250" y="1933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The mamba command works in Miniforge Prompt or the terminal</a:t>
            </a:r>
            <a:endParaRPr/>
          </a:p>
        </p:txBody>
      </p:sp>
      <p:sp>
        <p:nvSpPr>
          <p:cNvPr id="203" name="Google Shape;203;p10">
            <a:extLst xmlns:a="http://schemas.openxmlformats.org/drawingml/2006/main">
              <a:ext uri="{FF2B5EF4-FFF2-40B4-BE49-F238E27FC236}">
                <a16:creationId xmlns:a16="http://schemas.microsoft.com/office/drawing/2014/main" id="{206CE225-A207-4643-8387-0C558DE1DDDA}"/>
              </a:ext>
            </a:extLst>
          </p:cNvPr>
          <p:cNvSpPr>
            <a:spLocks xmlns:a="http://schemas.openxmlformats.org/drawingml/2006/main" noGrp="1"/>
          </p:cNvSpPr>
          <p:nvPr/>
        </p:nvSpPr>
        <p:spPr>
          <a:xfrm xmlns:a="http://schemas.openxmlformats.org/drawingml/2006/main">
            <a:off x="666750" y="2543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4" name="Google Shape;204;p10">
            <a:extLst xmlns:a="http://schemas.openxmlformats.org/drawingml/2006/main">
              <a:ext uri="{FF2B5EF4-FFF2-40B4-BE49-F238E27FC236}">
                <a16:creationId xmlns:a16="http://schemas.microsoft.com/office/drawing/2014/main" id="{4517910E-1777-4078-B3A7-F7938C5ACCF5}"/>
              </a:ext>
            </a:extLst>
          </p:cNvPr>
          <p:cNvSpPr>
            <a:spLocks xmlns:a="http://schemas.openxmlformats.org/drawingml/2006/main" noGrp="1"/>
          </p:cNvSpPr>
          <p:nvPr/>
        </p:nvSpPr>
        <p:spPr>
          <a:xfrm xmlns:a="http://schemas.openxmlformats.org/drawingml/2006/main">
            <a:off x="704850" y="2876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02</a:t>
            </a:r>
            <a:endParaRPr/>
          </a:p>
        </p:txBody>
      </p:sp>
      <p:sp>
        <p:nvSpPr>
          <p:cNvPr id="205" name="Google Shape;205;p10">
            <a:extLst xmlns:a="http://schemas.openxmlformats.org/drawingml/2006/main">
              <a:ext uri="{FF2B5EF4-FFF2-40B4-BE49-F238E27FC236}">
                <a16:creationId xmlns:a16="http://schemas.microsoft.com/office/drawing/2014/main" id="{123C9C2B-D117-4966-856E-965DDEF91741}"/>
              </a:ext>
            </a:extLst>
          </p:cNvPr>
          <p:cNvSpPr>
            <a:spLocks xmlns:a="http://schemas.openxmlformats.org/drawingml/2006/main" noGrp="1"/>
          </p:cNvSpPr>
          <p:nvPr/>
        </p:nvSpPr>
        <p:spPr>
          <a:xfrm xmlns:a="http://schemas.openxmlformats.org/drawingml/2006/main">
            <a:off x="1495425" y="2847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R</a:t>
            </a:r>
            <a:endParaRPr/>
          </a:p>
        </p:txBody>
      </p:sp>
      <p:sp>
        <p:nvSpPr>
          <p:cNvPr id="206" name="Google Shape;206;p10">
            <a:extLst xmlns:a="http://schemas.openxmlformats.org/drawingml/2006/main">
              <a:ext uri="{FF2B5EF4-FFF2-40B4-BE49-F238E27FC236}">
                <a16:creationId xmlns:a16="http://schemas.microsoft.com/office/drawing/2014/main" id="{B6AF204C-3A32-4FAD-8739-08AF0CE9157D}"/>
              </a:ext>
            </a:extLst>
          </p:cNvPr>
          <p:cNvSpPr>
            <a:spLocks xmlns:a="http://schemas.openxmlformats.org/drawingml/2006/main" noGrp="1"/>
          </p:cNvSpPr>
          <p:nvPr/>
        </p:nvSpPr>
        <p:spPr>
          <a:xfrm xmlns:a="http://schemas.openxmlformats.org/drawingml/2006/main">
            <a:off x="4286250" y="2886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CAVAanalytics and rJava load without errors</a:t>
            </a:r>
            <a:endParaRPr/>
          </a:p>
        </p:txBody>
      </p:sp>
      <p:sp>
        <p:nvSpPr>
          <p:cNvPr id="207" name="Google Shape;207;p10">
            <a:extLst xmlns:a="http://schemas.openxmlformats.org/drawingml/2006/main">
              <a:ext uri="{FF2B5EF4-FFF2-40B4-BE49-F238E27FC236}">
                <a16:creationId xmlns:a16="http://schemas.microsoft.com/office/drawing/2014/main" id="{56712462-FC7E-4965-85A6-E0F29B7301A4}"/>
              </a:ext>
            </a:extLst>
          </p:cNvPr>
          <p:cNvSpPr>
            <a:spLocks xmlns:a="http://schemas.openxmlformats.org/drawingml/2006/main" noGrp="1"/>
          </p:cNvSpPr>
          <p:nvPr/>
        </p:nvSpPr>
        <p:spPr>
          <a:xfrm xmlns:a="http://schemas.openxmlformats.org/drawingml/2006/main">
            <a:off x="666750" y="3495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08" name="Google Shape;208;p10">
            <a:extLst xmlns:a="http://schemas.openxmlformats.org/drawingml/2006/main">
              <a:ext uri="{FF2B5EF4-FFF2-40B4-BE49-F238E27FC236}">
                <a16:creationId xmlns:a16="http://schemas.microsoft.com/office/drawing/2014/main" id="{382A2A59-D719-43B7-A59F-907B712D0D6A}"/>
              </a:ext>
            </a:extLst>
          </p:cNvPr>
          <p:cNvSpPr>
            <a:spLocks xmlns:a="http://schemas.openxmlformats.org/drawingml/2006/main" noGrp="1"/>
          </p:cNvSpPr>
          <p:nvPr/>
        </p:nvSpPr>
        <p:spPr>
          <a:xfrm xmlns:a="http://schemas.openxmlformats.org/drawingml/2006/main">
            <a:off x="704850" y="38290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A88F"/>
              </a:buClr>
              <a:buSzPts val="1500"/>
              <a:buFont typeface="Lato"/>
              <a:buNone/>
            </a:pPr>
            <a:r>
              <a:rPr sz="1500" b="1">
                <a:solidFill>
                  <a:srgbClr val="00A88F"/>
                </a:solidFill>
                <a:latin typeface="Lato"/>
                <a:ea typeface="Lato"/>
                <a:cs typeface="Lato"/>
              </a:rPr>
              <a:t>03</a:t>
            </a:r>
            <a:endParaRPr/>
          </a:p>
        </p:txBody>
      </p:sp>
      <p:sp>
        <p:nvSpPr>
          <p:cNvPr id="209" name="Google Shape;209;p10">
            <a:extLst xmlns:a="http://schemas.openxmlformats.org/drawingml/2006/main">
              <a:ext uri="{FF2B5EF4-FFF2-40B4-BE49-F238E27FC236}">
                <a16:creationId xmlns:a16="http://schemas.microsoft.com/office/drawing/2014/main" id="{D82B0CC5-35FD-4221-AB28-2693D881766B}"/>
              </a:ext>
            </a:extLst>
          </p:cNvPr>
          <p:cNvSpPr>
            <a:spLocks xmlns:a="http://schemas.openxmlformats.org/drawingml/2006/main" noGrp="1"/>
          </p:cNvSpPr>
          <p:nvPr/>
        </p:nvSpPr>
        <p:spPr>
          <a:xfrm xmlns:a="http://schemas.openxmlformats.org/drawingml/2006/main">
            <a:off x="1495425" y="38004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Python</a:t>
            </a:r>
            <a:endParaRPr/>
          </a:p>
        </p:txBody>
      </p:sp>
      <p:sp>
        <p:nvSpPr>
          <p:cNvPr id="210" name="Google Shape;210;p10">
            <a:extLst xmlns:a="http://schemas.openxmlformats.org/drawingml/2006/main">
              <a:ext uri="{FF2B5EF4-FFF2-40B4-BE49-F238E27FC236}">
                <a16:creationId xmlns:a16="http://schemas.microsoft.com/office/drawing/2014/main" id="{5E8E3455-9029-4C49-833D-7F8AC98A37F8}"/>
              </a:ext>
            </a:extLst>
          </p:cNvPr>
          <p:cNvSpPr>
            <a:spLocks xmlns:a="http://schemas.openxmlformats.org/drawingml/2006/main" noGrp="1"/>
          </p:cNvSpPr>
          <p:nvPr/>
        </p:nvSpPr>
        <p:spPr>
          <a:xfrm xmlns:a="http://schemas.openxmlformats.org/drawingml/2006/main">
            <a:off x="4286250" y="38385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b="0">
                <a:solidFill>
                  <a:srgbClr val="17324D"/>
                </a:solidFill>
                <a:latin typeface="Lato"/>
                <a:ea typeface="Lato"/>
                <a:cs typeface="Lato"/>
              </a:rPr>
              <a:t>The cavapy test prints the installed version</a:t>
            </a:r>
            <a:endParaRPr/>
          </a:p>
        </p:txBody>
      </p:sp>
      <p:sp>
        <p:nvSpPr>
          <p:cNvPr id="211" name="Google Shape;211;p10">
            <a:extLst xmlns:a="http://schemas.openxmlformats.org/drawingml/2006/main">
              <a:ext uri="{FF2B5EF4-FFF2-40B4-BE49-F238E27FC236}">
                <a16:creationId xmlns:a16="http://schemas.microsoft.com/office/drawing/2014/main" id="{E7E1D685-4B49-41EB-A9BD-9DACC3656B29}"/>
              </a:ext>
            </a:extLst>
          </p:cNvPr>
          <p:cNvSpPr>
            <a:spLocks xmlns:a="http://schemas.openxmlformats.org/drawingml/2006/main" noGrp="1"/>
          </p:cNvSpPr>
          <p:nvPr/>
        </p:nvSpPr>
        <p:spPr>
          <a:xfrm xmlns:a="http://schemas.openxmlformats.org/drawingml/2006/main">
            <a:off x="666750" y="44481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2" name="Google Shape;212;p10">
            <a:extLst xmlns:a="http://schemas.openxmlformats.org/drawingml/2006/main">
              <a:ext uri="{FF2B5EF4-FFF2-40B4-BE49-F238E27FC236}">
                <a16:creationId xmlns:a16="http://schemas.microsoft.com/office/drawing/2014/main" id="{8505A022-0CC7-46DF-A693-9EBF9D0ECABE}"/>
              </a:ext>
            </a:extLst>
          </p:cNvPr>
          <p:cNvSpPr>
            <a:spLocks xmlns:a="http://schemas.openxmlformats.org/drawingml/2006/main" noGrp="1"/>
          </p:cNvSpPr>
          <p:nvPr/>
        </p:nvSpPr>
        <p:spPr>
          <a:xfrm xmlns:a="http://schemas.openxmlformats.org/drawingml/2006/main">
            <a:off x="704850" y="4781550"/>
            <a:ext cx="6096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1500"/>
              <a:buFont typeface="Lato"/>
              <a:buNone/>
            </a:pPr>
            <a:r>
              <a:rPr sz="1500" b="1">
                <a:solidFill>
                  <a:srgbClr val="F2B632"/>
                </a:solidFill>
                <a:latin typeface="Lato"/>
                <a:ea typeface="Lato"/>
                <a:cs typeface="Lato"/>
              </a:rPr>
              <a:t>04</a:t>
            </a:r>
            <a:endParaRPr/>
          </a:p>
        </p:txBody>
      </p:sp>
      <p:sp>
        <p:nvSpPr>
          <p:cNvPr id="213" name="Google Shape;213;p10">
            <a:extLst xmlns:a="http://schemas.openxmlformats.org/drawingml/2006/main">
              <a:ext uri="{FF2B5EF4-FFF2-40B4-BE49-F238E27FC236}">
                <a16:creationId xmlns:a16="http://schemas.microsoft.com/office/drawing/2014/main" id="{F7FDB95C-EF23-4939-B60D-B8B3B11FCCD9}"/>
              </a:ext>
            </a:extLst>
          </p:cNvPr>
          <p:cNvSpPr>
            <a:spLocks xmlns:a="http://schemas.openxmlformats.org/drawingml/2006/main" noGrp="1"/>
          </p:cNvSpPr>
          <p:nvPr/>
        </p:nvSpPr>
        <p:spPr>
          <a:xfrm xmlns:a="http://schemas.openxmlformats.org/drawingml/2006/main">
            <a:off x="1495425" y="4752975"/>
            <a:ext cx="2333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025"/>
              <a:buFont typeface="Lato"/>
              <a:buNone/>
            </a:pPr>
            <a:r>
              <a:rPr sz="2025" b="1">
                <a:solidFill>
                  <a:srgbClr val="12304E"/>
                </a:solidFill>
                <a:latin typeface="Lato"/>
                <a:ea typeface="Lato"/>
                <a:cs typeface="Lato"/>
              </a:rPr>
              <a:t>Support</a:t>
            </a:r>
            <a:endParaRPr/>
          </a:p>
        </p:txBody>
      </p:sp>
      <p:sp>
        <p:nvSpPr>
          <p:cNvPr id="214" name="Google Shape;214;p10">
            <a:extLst xmlns:a="http://schemas.openxmlformats.org/drawingml/2006/main">
              <a:ext uri="{FF2B5EF4-FFF2-40B4-BE49-F238E27FC236}">
                <a16:creationId xmlns:a16="http://schemas.microsoft.com/office/drawing/2014/main" id="{B9831F17-C44E-4DE4-9D27-0783EC092E1E}"/>
              </a:ext>
            </a:extLst>
          </p:cNvPr>
          <p:cNvSpPr>
            <a:spLocks xmlns:a="http://schemas.openxmlformats.org/drawingml/2006/main" noGrp="1"/>
          </p:cNvSpPr>
          <p:nvPr/>
        </p:nvSpPr>
        <p:spPr>
          <a:xfrm xmlns:a="http://schemas.openxmlformats.org/drawingml/2006/main">
            <a:off x="4286250" y="4791075"/>
            <a:ext cx="67627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7324D"/>
              </a:buClr>
              <a:buSzPts val="1425"/>
              <a:buFont typeface="Lato"/>
              <a:buNone/>
            </a:pPr>
            <a:r>
              <a:rPr sz="1425">
                <a:solidFill>
                  <a:srgbClr val="17324D"/>
                </a:solidFill>
                <a:latin typeface="Lato"/>
                <a:ea typeface="Lato"/>
                <a:cs typeface="Lato"/>
              </a:rPr>
              <a:t>Keep the complete error message if any step fails</a:t>
            </a:r>
            <a:endParaRPr/>
          </a:p>
        </p:txBody>
      </p:sp>
      <p:sp>
        <p:nvSpPr>
          <p:cNvPr id="215" name="Google Shape;215;p10">
            <a:extLst xmlns:a="http://schemas.openxmlformats.org/drawingml/2006/main">
              <a:ext uri="{FF2B5EF4-FFF2-40B4-BE49-F238E27FC236}">
                <a16:creationId xmlns:a16="http://schemas.microsoft.com/office/drawing/2014/main" id="{B30120E4-9C68-454E-95A5-1B86976C9646}"/>
              </a:ext>
            </a:extLst>
          </p:cNvPr>
          <p:cNvSpPr>
            <a:spLocks xmlns:a="http://schemas.openxmlformats.org/drawingml/2006/main" noGrp="1"/>
          </p:cNvSpPr>
          <p:nvPr/>
        </p:nvSpPr>
        <p:spPr>
          <a:xfrm xmlns:a="http://schemas.openxmlformats.org/drawingml/2006/main">
            <a:off x="666750" y="5400675"/>
            <a:ext cx="10829925"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Tree>
    <p:extLst>
      <p:ext uri="{BB962C8B-B14F-4D97-AF65-F5344CB8AC3E}">
        <p14:creationId xmlns:p14="http://schemas.microsoft.com/office/powerpoint/2010/main" val="1828789321"/>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37" name="Google Shape;237;p12">
            <a:extLst xmlns:a="http://schemas.openxmlformats.org/drawingml/2006/main">
              <a:ext uri="{FF2B5EF4-FFF2-40B4-BE49-F238E27FC236}">
                <a16:creationId xmlns:a16="http://schemas.microsoft.com/office/drawing/2014/main" id="{3395841B-4098-49E2-88E6-556B3616B65C}"/>
              </a:ext>
            </a:extLst>
          </p:cNvPr>
          <p:cNvSpPr>
            <a:spLocks xmlns:a="http://schemas.openxmlformats.org/drawingml/2006/main" noGrp="1"/>
          </p:cNvSpPr>
          <p:nvPr/>
        </p:nvSpPr>
        <p:spPr>
          <a:xfrm xmlns:a="http://schemas.openxmlformats.org/drawingml/2006/main">
            <a:off x="628650" y="438150"/>
            <a:ext cx="108966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2325"/>
              <a:buFont typeface="Lato"/>
              <a:buNone/>
            </a:pPr>
            <a:r>
              <a:rPr sz="2325" b="1">
                <a:solidFill>
                  <a:srgbClr val="12304E"/>
                </a:solidFill>
                <a:latin typeface="Lato"/>
                <a:ea typeface="Lato"/>
                <a:cs typeface="Lato"/>
              </a:rPr>
              <a:t>pyAEZ installation</a:t>
            </a:r>
            <a:endParaRPr/>
          </a:p>
        </p:txBody>
      </p:sp>
      <p:sp>
        <p:nvSpPr>
          <p:cNvPr id="238" name="Google Shape;238;p12">
            <a:extLst xmlns:a="http://schemas.openxmlformats.org/drawingml/2006/main">
              <a:ext uri="{FF2B5EF4-FFF2-40B4-BE49-F238E27FC236}">
                <a16:creationId xmlns:a16="http://schemas.microsoft.com/office/drawing/2014/main" id="{C2542CC5-14C8-4327-A23E-873226573F2A}"/>
              </a:ext>
            </a:extLst>
          </p:cNvPr>
          <p:cNvSpPr>
            <a:spLocks xmlns:a="http://schemas.openxmlformats.org/drawingml/2006/main" noGrp="1"/>
          </p:cNvSpPr>
          <p:nvPr/>
        </p:nvSpPr>
        <p:spPr>
          <a:xfrm xmlns:a="http://schemas.openxmlformats.org/drawingml/2006/main">
            <a:off x="647700" y="971550"/>
            <a:ext cx="1047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1125"/>
              <a:buFont typeface="Lato"/>
              <a:buNone/>
            </a:pPr>
            <a:r>
              <a:rPr sz="1125" b="0">
                <a:solidFill>
                  <a:srgbClr val="687984"/>
                </a:solidFill>
                <a:latin typeface="Lato"/>
                <a:ea typeface="Lato"/>
                <a:cs typeface="Lato"/>
              </a:rPr>
              <a:t>Required for the Module 4 crop modelling workflow</a:t>
            </a:r>
            <a:endParaRPr/>
          </a:p>
        </p:txBody>
      </p:sp>
      <p:sp>
        <p:nvSpPr>
          <p:cNvPr id="239" name="Google Shape;239;p12">
            <a:extLst xmlns:a="http://schemas.openxmlformats.org/drawingml/2006/main">
              <a:ext uri="{FF2B5EF4-FFF2-40B4-BE49-F238E27FC236}">
                <a16:creationId xmlns:a16="http://schemas.microsoft.com/office/drawing/2014/main" id="{33D0C418-E943-4F79-A5F1-728E7DFFF1F4}"/>
              </a:ext>
            </a:extLst>
          </p:cNvPr>
          <p:cNvSpPr>
            <a:spLocks xmlns:a="http://schemas.openxmlformats.org/drawingml/2006/main" noGrp="1"/>
          </p:cNvSpPr>
          <p:nvPr/>
        </p:nvSpPr>
        <p:spPr>
          <a:xfrm xmlns:a="http://schemas.openxmlformats.org/drawingml/2006/main">
            <a:off x="647700" y="139065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0" name="Google Shape;240;p12">
            <a:extLst xmlns:a="http://schemas.openxmlformats.org/drawingml/2006/main">
              <a:ext uri="{FF2B5EF4-FFF2-40B4-BE49-F238E27FC236}">
                <a16:creationId xmlns:a16="http://schemas.microsoft.com/office/drawing/2014/main" id="{C1E34BB2-D820-4205-8CC0-00B594881CED}"/>
              </a:ext>
            </a:extLst>
          </p:cNvPr>
          <p:cNvSpPr>
            <a:spLocks xmlns:a="http://schemas.openxmlformats.org/drawingml/2006/main" noGrp="1"/>
          </p:cNvSpPr>
          <p:nvPr/>
        </p:nvSpPr>
        <p:spPr>
          <a:xfrm xmlns:a="http://schemas.openxmlformats.org/drawingml/2006/main">
            <a:off x="657225" y="1495425"/>
            <a:ext cx="9906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1" name="Google Shape;241;p12">
            <a:extLst xmlns:a="http://schemas.openxmlformats.org/drawingml/2006/main">
              <a:ext uri="{FF2B5EF4-FFF2-40B4-BE49-F238E27FC236}">
                <a16:creationId xmlns:a16="http://schemas.microsoft.com/office/drawing/2014/main" id="{1425208F-E611-45D2-84B8-4BA527555550}"/>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2" name="Google Shape;242;p12">
            <a:extLst xmlns:a="http://schemas.openxmlformats.org/drawingml/2006/main">
              <a:ext uri="{FF2B5EF4-FFF2-40B4-BE49-F238E27FC236}">
                <a16:creationId xmlns:a16="http://schemas.microsoft.com/office/drawing/2014/main" id="{511A1CA7-A1AA-41B8-9442-357D9FD82DA7}"/>
              </a:ext>
            </a:extLst>
          </p:cNvPr>
          <p:cNvSpPr>
            <a:spLocks xmlns:a="http://schemas.openxmlformats.org/drawingml/2006/main" noGrp="1"/>
          </p:cNvSpPr>
          <p:nvPr/>
        </p:nvSpPr>
        <p:spPr>
          <a:xfrm xmlns:a="http://schemas.openxmlformats.org/drawingml/2006/main">
            <a:off x="657225" y="6353175"/>
            <a:ext cx="238125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687984"/>
              </a:buClr>
              <a:buSzPts val="750"/>
              <a:buFont typeface="Lato"/>
              <a:buNone/>
            </a:pPr>
            <a:r>
              <a:rPr sz="750" b="1">
                <a:solidFill>
                  <a:srgbClr val="687984"/>
                </a:solidFill>
                <a:latin typeface="Lato"/>
                <a:ea typeface="Lato"/>
                <a:cs typeface="Lato"/>
              </a:rPr>
              <a:t>CAVA MODULE 3</a:t>
            </a:r>
            <a:endParaRPr/>
          </a:p>
        </p:txBody>
      </p:sp>
      <p:sp>
        <p:nvSpPr>
          <p:cNvPr id="243" name="Google Shape;243;p12">
            <a:extLst xmlns:a="http://schemas.openxmlformats.org/drawingml/2006/main">
              <a:ext uri="{FF2B5EF4-FFF2-40B4-BE49-F238E27FC236}">
                <a16:creationId xmlns:a16="http://schemas.microsoft.com/office/drawing/2014/main" id="{82F403DC-7030-45D6-8742-29704254DBC2}"/>
              </a:ext>
            </a:extLst>
          </p:cNvPr>
          <p:cNvSpPr>
            <a:spLocks xmlns:a="http://schemas.openxmlformats.org/drawingml/2006/main" noGrp="1"/>
          </p:cNvSpPr>
          <p:nvPr/>
        </p:nvSpPr>
        <p:spPr>
          <a:xfrm xmlns:a="http://schemas.openxmlformats.org/drawingml/2006/main">
            <a:off x="11049000" y="6343650"/>
            <a:ext cx="457200" cy="16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2000"/>
              </a:lnSpc>
              <a:spcBef>
                <a:spcPts val="0"/>
              </a:spcBef>
              <a:spcAft>
                <a:spcPts val="0"/>
              </a:spcAft>
              <a:buClr>
                <a:srgbClr val="687984"/>
              </a:buClr>
              <a:buSzPts val="750"/>
              <a:buFont typeface="Lato"/>
              <a:buNone/>
            </a:pPr>
            <a:r>
              <a:rPr sz="750" b="0">
                <a:solidFill>
                  <a:srgbClr val="687984"/>
                </a:solidFill>
                <a:latin typeface="Lato"/>
                <a:ea typeface="Lato"/>
                <a:cs typeface="Lato"/>
              </a:rPr>
              <a:t>10</a:t>
            </a:r>
            <a:endParaRPr/>
          </a:p>
        </p:txBody>
      </p:sp>
      <p:sp>
        <p:nvSpPr>
          <p:cNvPr id="244" name="Google Shape;244;p12">
            <a:extLst xmlns:a="http://schemas.openxmlformats.org/drawingml/2006/main">
              <a:ext uri="{FF2B5EF4-FFF2-40B4-BE49-F238E27FC236}">
                <a16:creationId xmlns:a16="http://schemas.microsoft.com/office/drawing/2014/main" id="{B2B6A2D6-43B4-4F98-BCAC-610477A433AF}"/>
              </a:ext>
            </a:extLst>
          </p:cNvPr>
          <p:cNvSpPr>
            <a:spLocks xmlns:a="http://schemas.openxmlformats.org/drawingml/2006/main" noGrp="1"/>
          </p:cNvSpPr>
          <p:nvPr/>
        </p:nvSpPr>
        <p:spPr>
          <a:xfrm xmlns:a="http://schemas.openxmlformats.org/drawingml/2006/main">
            <a:off x="666750" y="2019300"/>
            <a:ext cx="28575" cy="32004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5" name="Google Shape;245;p12">
            <a:extLst xmlns:a="http://schemas.openxmlformats.org/drawingml/2006/main">
              <a:ext uri="{FF2B5EF4-FFF2-40B4-BE49-F238E27FC236}">
                <a16:creationId xmlns:a16="http://schemas.microsoft.com/office/drawing/2014/main" id="{46D47F65-BD1E-4173-9271-327841E4EF94}"/>
              </a:ext>
            </a:extLst>
          </p:cNvPr>
          <p:cNvSpPr>
            <a:spLocks xmlns:a="http://schemas.openxmlformats.org/drawingml/2006/main" noGrp="1"/>
          </p:cNvSpPr>
          <p:nvPr/>
        </p:nvSpPr>
        <p:spPr>
          <a:xfrm xmlns:a="http://schemas.openxmlformats.org/drawingml/2006/main">
            <a:off x="895350" y="2124075"/>
            <a:ext cx="461010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01</a:t>
            </a:r>
            <a:endParaRPr/>
          </a:p>
        </p:txBody>
      </p:sp>
      <p:sp>
        <p:nvSpPr>
          <p:cNvPr id="246" name="Google Shape;246;p12">
            <a:extLst xmlns:a="http://schemas.openxmlformats.org/drawingml/2006/main">
              <a:ext uri="{FF2B5EF4-FFF2-40B4-BE49-F238E27FC236}">
                <a16:creationId xmlns:a16="http://schemas.microsoft.com/office/drawing/2014/main" id="{04301776-2E97-49E3-AB77-5AD6F3665916}"/>
              </a:ext>
            </a:extLst>
          </p:cNvPr>
          <p:cNvSpPr>
            <a:spLocks xmlns:a="http://schemas.openxmlformats.org/drawingml/2006/main" noGrp="1"/>
          </p:cNvSpPr>
          <p:nvPr/>
        </p:nvSpPr>
        <p:spPr>
          <a:xfrm xmlns:a="http://schemas.openxmlformats.org/drawingml/2006/main">
            <a:off x="895350" y="2838450"/>
            <a:ext cx="4381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Status</a:t>
            </a:r>
            <a:endParaRPr/>
          </a:p>
        </p:txBody>
      </p:sp>
      <p:sp>
        <p:nvSpPr>
          <p:cNvPr id="247" name="Google Shape;247;p12">
            <a:extLst xmlns:a="http://schemas.openxmlformats.org/drawingml/2006/main">
              <a:ext uri="{FF2B5EF4-FFF2-40B4-BE49-F238E27FC236}">
                <a16:creationId xmlns:a16="http://schemas.microsoft.com/office/drawing/2014/main" id="{A1114059-0490-4D32-B0F2-294D3C3EE52C}"/>
              </a:ext>
            </a:extLst>
          </p:cNvPr>
          <p:cNvSpPr>
            <a:spLocks xmlns:a="http://schemas.openxmlformats.org/drawingml/2006/main" noGrp="1"/>
          </p:cNvSpPr>
          <p:nvPr/>
        </p:nvSpPr>
        <p:spPr>
          <a:xfrm xmlns:a="http://schemas.openxmlformats.org/drawingml/2006/main">
            <a:off x="895350" y="3419475"/>
            <a:ext cx="4286250"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Installation instructions will be added when the Module 4 setup is confirmed.</a:t>
            </a:r>
            <a:endParaRPr/>
          </a:p>
        </p:txBody>
      </p:sp>
      <p:sp>
        <p:nvSpPr>
          <p:cNvPr id="248" name="Google Shape;248;p12">
            <a:extLst xmlns:a="http://schemas.openxmlformats.org/drawingml/2006/main">
              <a:ext uri="{FF2B5EF4-FFF2-40B4-BE49-F238E27FC236}">
                <a16:creationId xmlns:a16="http://schemas.microsoft.com/office/drawing/2014/main" id="{FE35E67F-D432-418F-B2D9-8A8A40139BAE}"/>
              </a:ext>
            </a:extLst>
          </p:cNvPr>
          <p:cNvSpPr>
            <a:spLocks xmlns:a="http://schemas.openxmlformats.org/drawingml/2006/main" noGrp="1"/>
          </p:cNvSpPr>
          <p:nvPr/>
        </p:nvSpPr>
        <p:spPr>
          <a:xfrm xmlns:a="http://schemas.openxmlformats.org/drawingml/2006/main">
            <a:off x="6048375" y="2019300"/>
            <a:ext cx="9525" cy="32194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49" name="Google Shape;249;p12">
            <a:extLst xmlns:a="http://schemas.openxmlformats.org/drawingml/2006/main">
              <a:ext uri="{FF2B5EF4-FFF2-40B4-BE49-F238E27FC236}">
                <a16:creationId xmlns:a16="http://schemas.microsoft.com/office/drawing/2014/main" id="{F65C2D6E-1236-4114-B0F8-0D833DD308CA}"/>
              </a:ext>
            </a:extLst>
          </p:cNvPr>
          <p:cNvSpPr>
            <a:spLocks xmlns:a="http://schemas.openxmlformats.org/drawingml/2006/main" noGrp="1"/>
          </p:cNvSpPr>
          <p:nvPr/>
        </p:nvSpPr>
        <p:spPr>
          <a:xfrm xmlns:a="http://schemas.openxmlformats.org/drawingml/2006/main">
            <a:off x="6448425" y="2124075"/>
            <a:ext cx="4324350" cy="600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3300"/>
              <a:buFont typeface="Lato"/>
              <a:buNone/>
            </a:pPr>
            <a:r>
              <a:rPr sz="3300" b="1">
                <a:solidFill>
                  <a:srgbClr val="12304E"/>
                </a:solidFill>
                <a:latin typeface="Lato"/>
                <a:ea typeface="Lato"/>
                <a:cs typeface="Lato"/>
              </a:rPr>
              <a:t>02</a:t>
            </a:r>
            <a:endParaRPr/>
          </a:p>
        </p:txBody>
      </p:sp>
      <p:sp>
        <p:nvSpPr>
          <p:cNvPr id="250" name="Google Shape;250;p12">
            <a:extLst xmlns:a="http://schemas.openxmlformats.org/drawingml/2006/main">
              <a:ext uri="{FF2B5EF4-FFF2-40B4-BE49-F238E27FC236}">
                <a16:creationId xmlns:a16="http://schemas.microsoft.com/office/drawing/2014/main" id="{742368E2-267A-4436-A0ED-ACEEB9743BBB}"/>
              </a:ext>
            </a:extLst>
          </p:cNvPr>
          <p:cNvSpPr>
            <a:spLocks xmlns:a="http://schemas.openxmlformats.org/drawingml/2006/main" noGrp="1"/>
          </p:cNvSpPr>
          <p:nvPr/>
        </p:nvSpPr>
        <p:spPr>
          <a:xfrm xmlns:a="http://schemas.openxmlformats.org/drawingml/2006/main">
            <a:off x="6448425" y="2838450"/>
            <a:ext cx="4762500" cy="409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008D7A"/>
              </a:buClr>
              <a:buSzPts val="2100"/>
              <a:buFont typeface="Lato"/>
              <a:buNone/>
            </a:pPr>
            <a:r>
              <a:rPr sz="2100" b="1">
                <a:solidFill>
                  <a:srgbClr val="008D7A"/>
                </a:solidFill>
                <a:latin typeface="Lato"/>
                <a:ea typeface="Lato"/>
                <a:cs typeface="Lato"/>
              </a:rPr>
              <a:t>For now</a:t>
            </a:r>
            <a:endParaRPr/>
          </a:p>
        </p:txBody>
      </p:sp>
      <p:sp>
        <p:nvSpPr>
          <p:cNvPr id="251" name="Google Shape;251;p12">
            <a:extLst xmlns:a="http://schemas.openxmlformats.org/drawingml/2006/main">
              <a:ext uri="{FF2B5EF4-FFF2-40B4-BE49-F238E27FC236}">
                <a16:creationId xmlns:a16="http://schemas.microsoft.com/office/drawing/2014/main" id="{AEC52765-3479-4B17-BE1D-F49E02A1E8AF}"/>
              </a:ext>
            </a:extLst>
          </p:cNvPr>
          <p:cNvSpPr>
            <a:spLocks xmlns:a="http://schemas.openxmlformats.org/drawingml/2006/main" noGrp="1"/>
          </p:cNvSpPr>
          <p:nvPr/>
        </p:nvSpPr>
        <p:spPr>
          <a:xfrm xmlns:a="http://schemas.openxmlformats.org/drawingml/2006/main">
            <a:off x="6448425" y="3419475"/>
            <a:ext cx="4333875" cy="866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7324D"/>
              </a:buClr>
              <a:buSzPts val="1500"/>
              <a:buFont typeface="Lato"/>
              <a:buNone/>
            </a:pPr>
            <a:r>
              <a:rPr sz="1500" b="0">
                <a:solidFill>
                  <a:srgbClr val="17324D"/>
                </a:solidFill>
                <a:latin typeface="Lato"/>
                <a:ea typeface="Lato"/>
                <a:cs typeface="Lato"/>
              </a:rPr>
              <a:t>Complete the Miniforge, editor, CAVAanalytics, cavapy and R-kernel steps.</a:t>
            </a:r>
            <a:endParaRPr/>
          </a:p>
        </p:txBody>
      </p:sp>
      <p:sp>
        <p:nvSpPr>
          <p:cNvPr id="252" name="Google Shape;252;p12">
            <a:extLst xmlns:a="http://schemas.openxmlformats.org/drawingml/2006/main">
              <a:ext uri="{FF2B5EF4-FFF2-40B4-BE49-F238E27FC236}">
                <a16:creationId xmlns:a16="http://schemas.microsoft.com/office/drawing/2014/main" id="{E26AACC5-A95B-4736-9833-8C0AFEAFA9B9}"/>
              </a:ext>
            </a:extLst>
          </p:cNvPr>
          <p:cNvSpPr>
            <a:spLocks xmlns:a="http://schemas.openxmlformats.org/drawingml/2006/main" noGrp="1"/>
          </p:cNvSpPr>
          <p:nvPr/>
        </p:nvSpPr>
        <p:spPr>
          <a:xfrm xmlns:a="http://schemas.openxmlformats.org/drawingml/2006/main">
            <a:off x="914400" y="5495925"/>
            <a:ext cx="981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275"/>
              <a:buFont typeface="Lato"/>
              <a:buNone/>
            </a:pPr>
            <a:r>
              <a:rPr sz="1275" b="1">
                <a:solidFill>
                  <a:srgbClr val="12304E"/>
                </a:solidFill>
                <a:latin typeface="Lato"/>
                <a:ea typeface="Lato"/>
                <a:cs typeface="Lato"/>
              </a:rPr>
              <a:t>Do not install an unconfirmed pyAEZ configuration.</a:t>
            </a:r>
            <a:endParaRPr/>
          </a:p>
        </p:txBody>
      </p:sp>
    </p:spTree>
    <p:extLst>
      <p:ext uri="{BB962C8B-B14F-4D97-AF65-F5344CB8AC3E}">
        <p14:creationId xmlns:p14="http://schemas.microsoft.com/office/powerpoint/2010/main" val="1432831999"/>
      </p:ext>
    </p:extLst>
  </p:cSld>
</p:sld>
</file>

<file path=ppt/slides/slide1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221" name="Google Shape;221;p11">
            <a:extLst xmlns:a="http://schemas.openxmlformats.org/drawingml/2006/main">
              <a:ext uri="{FF2B5EF4-FFF2-40B4-BE49-F238E27FC236}">
                <a16:creationId xmlns:a16="http://schemas.microsoft.com/office/drawing/2014/main" id="{4380D6B0-0E10-4122-85F1-4EEBE2308283}"/>
              </a:ext>
            </a:extLst>
          </p:cNvPr>
          <p:cNvSpPr>
            <a:spLocks xmlns:a="http://schemas.openxmlformats.org/drawingml/2006/main" noGrp="1"/>
          </p:cNvSpPr>
          <p:nvPr/>
        </p:nvSpPr>
        <p:spPr>
          <a:xfrm xmlns:a="http://schemas.openxmlformats.org/drawingml/2006/main">
            <a:off x="0" y="0"/>
            <a:ext cx="85725"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2" name="Google Shape;222;p11">
            <a:extLst xmlns:a="http://schemas.openxmlformats.org/drawingml/2006/main">
              <a:ext uri="{FF2B5EF4-FFF2-40B4-BE49-F238E27FC236}">
                <a16:creationId xmlns:a16="http://schemas.microsoft.com/office/drawing/2014/main" id="{26164730-DA04-4E9E-B9D1-20FAF6C92E8D}"/>
              </a:ext>
            </a:extLst>
          </p:cNvPr>
          <p:cNvSpPr>
            <a:spLocks xmlns:a="http://schemas.openxmlformats.org/drawingml/2006/main" noGrp="1"/>
          </p:cNvSpPr>
          <p:nvPr/>
        </p:nvSpPr>
        <p:spPr>
          <a:xfrm xmlns:a="http://schemas.openxmlformats.org/drawingml/2006/main">
            <a:off x="733425" y="6477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23" name="Google Shape;223;p11">
            <a:extLst xmlns:a="http://schemas.openxmlformats.org/drawingml/2006/main">
              <a:ext uri="{FF2B5EF4-FFF2-40B4-BE49-F238E27FC236}">
                <a16:creationId xmlns:a16="http://schemas.microsoft.com/office/drawing/2014/main" id="{7C23FAC3-4FC2-4E03-9962-0DAFB673C7CF}"/>
              </a:ext>
            </a:extLst>
          </p:cNvPr>
          <p:cNvSpPr>
            <a:spLocks xmlns:a="http://schemas.openxmlformats.org/drawingml/2006/main" noGrp="1"/>
          </p:cNvSpPr>
          <p:nvPr/>
        </p:nvSpPr>
        <p:spPr>
          <a:xfrm xmlns:a="http://schemas.openxmlformats.org/drawingml/2006/main">
            <a:off x="733425" y="1038225"/>
            <a:ext cx="2095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NEXT</a:t>
            </a:r>
            <a:endParaRPr/>
          </a:p>
        </p:txBody>
      </p:sp>
      <p:sp>
        <p:nvSpPr>
          <p:cNvPr id="224" name="Google Shape;224;p11">
            <a:extLst xmlns:a="http://schemas.openxmlformats.org/drawingml/2006/main">
              <a:ext uri="{FF2B5EF4-FFF2-40B4-BE49-F238E27FC236}">
                <a16:creationId xmlns:a16="http://schemas.microsoft.com/office/drawing/2014/main" id="{A94FA7FA-28D7-4DB7-8E17-AFCB3EBB70D7}"/>
              </a:ext>
            </a:extLst>
          </p:cNvPr>
          <p:cNvSpPr>
            <a:spLocks xmlns:a="http://schemas.openxmlformats.org/drawingml/2006/main" noGrp="1"/>
          </p:cNvSpPr>
          <p:nvPr/>
        </p:nvSpPr>
        <p:spPr>
          <a:xfrm xmlns:a="http://schemas.openxmlformats.org/drawingml/2006/main">
            <a:off x="733425" y="1704975"/>
            <a:ext cx="9429750" cy="1323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5000"/>
              </a:lnSpc>
              <a:spcBef>
                <a:spcPts val="0"/>
              </a:spcBef>
              <a:spcAft>
                <a:spcPts val="0"/>
              </a:spcAft>
              <a:buClr>
                <a:srgbClr val="FFFFFF"/>
              </a:buClr>
              <a:buSzPts val="3675"/>
              <a:buFont typeface="Lato"/>
              <a:buNone/>
            </a:pPr>
            <a:r>
              <a:rPr sz="3675" b="1">
                <a:solidFill>
                  <a:srgbClr val="FFFFFF"/>
                </a:solidFill>
                <a:latin typeface="Lato"/>
                <a:ea typeface="Lato"/>
                <a:cs typeface="Lato"/>
              </a:rPr>
              <a:t>Open the CAVAanalytics notebook</a:t>
            </a:r>
            <a:endParaRPr/>
          </a:p>
        </p:txBody>
      </p:sp>
      <p:sp>
        <p:nvSpPr>
          <p:cNvPr id="225" name="Google Shape;225;p11">
            <a:extLst xmlns:a="http://schemas.openxmlformats.org/drawingml/2006/main">
              <a:ext uri="{FF2B5EF4-FFF2-40B4-BE49-F238E27FC236}">
                <a16:creationId xmlns:a16="http://schemas.microsoft.com/office/drawing/2014/main" id="{7E42A2A1-144C-49D7-99FB-3AF215048153}"/>
              </a:ext>
            </a:extLst>
          </p:cNvPr>
          <p:cNvSpPr>
            <a:spLocks xmlns:a="http://schemas.openxmlformats.org/drawingml/2006/main" noGrp="1"/>
          </p:cNvSpPr>
          <p:nvPr/>
        </p:nvSpPr>
        <p:spPr>
          <a:xfrm xmlns:a="http://schemas.openxmlformats.org/drawingml/2006/main">
            <a:off x="781050" y="37052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01</a:t>
            </a:r>
            <a:endParaRPr/>
          </a:p>
        </p:txBody>
      </p:sp>
      <p:sp>
        <p:nvSpPr>
          <p:cNvPr id="226" name="Google Shape;226;p11">
            <a:extLst xmlns:a="http://schemas.openxmlformats.org/drawingml/2006/main">
              <a:ext uri="{FF2B5EF4-FFF2-40B4-BE49-F238E27FC236}">
                <a16:creationId xmlns:a16="http://schemas.microsoft.com/office/drawing/2014/main" id="{0B21C6B0-968B-468D-A8D3-D33730A9D8A4}"/>
              </a:ext>
            </a:extLst>
          </p:cNvPr>
          <p:cNvSpPr>
            <a:spLocks xmlns:a="http://schemas.openxmlformats.org/drawingml/2006/main" noGrp="1"/>
          </p:cNvSpPr>
          <p:nvPr/>
        </p:nvSpPr>
        <p:spPr>
          <a:xfrm xmlns:a="http://schemas.openxmlformats.org/drawingml/2006/main">
            <a:off x="1381125" y="36576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Load and inspect a country-scale multi-model dataset</a:t>
            </a:r>
            <a:endParaRPr/>
          </a:p>
        </p:txBody>
      </p:sp>
      <p:sp>
        <p:nvSpPr>
          <p:cNvPr id="227" name="Google Shape;227;p11">
            <a:extLst xmlns:a="http://schemas.openxmlformats.org/drawingml/2006/main">
              <a:ext uri="{FF2B5EF4-FFF2-40B4-BE49-F238E27FC236}">
                <a16:creationId xmlns:a16="http://schemas.microsoft.com/office/drawing/2014/main" id="{FD87C9A4-1D7C-4E0B-9E58-BDBA9130609A}"/>
              </a:ext>
            </a:extLst>
          </p:cNvPr>
          <p:cNvSpPr>
            <a:spLocks xmlns:a="http://schemas.openxmlformats.org/drawingml/2006/main" noGrp="1"/>
          </p:cNvSpPr>
          <p:nvPr/>
        </p:nvSpPr>
        <p:spPr>
          <a:xfrm xmlns:a="http://schemas.openxmlformats.org/drawingml/2006/main">
            <a:off x="781050" y="43529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78D8C8"/>
              </a:buClr>
              <a:buSzPts val="975"/>
              <a:buFont typeface="Lato"/>
              <a:buNone/>
            </a:pPr>
            <a:r>
              <a:rPr sz="975" b="1">
                <a:solidFill>
                  <a:srgbClr val="78D8C8"/>
                </a:solidFill>
                <a:latin typeface="Lato"/>
                <a:ea typeface="Lato"/>
                <a:cs typeface="Lato"/>
              </a:rPr>
              <a:t>02</a:t>
            </a:r>
            <a:endParaRPr/>
          </a:p>
        </p:txBody>
      </p:sp>
      <p:sp>
        <p:nvSpPr>
          <p:cNvPr id="228" name="Google Shape;228;p11">
            <a:extLst xmlns:a="http://schemas.openxmlformats.org/drawingml/2006/main">
              <a:ext uri="{FF2B5EF4-FFF2-40B4-BE49-F238E27FC236}">
                <a16:creationId xmlns:a16="http://schemas.microsoft.com/office/drawing/2014/main" id="{3823FAB8-381D-47B6-9A42-D7DE0D5CAB89}"/>
              </a:ext>
            </a:extLst>
          </p:cNvPr>
          <p:cNvSpPr>
            <a:spLocks xmlns:a="http://schemas.openxmlformats.org/drawingml/2006/main" noGrp="1"/>
          </p:cNvSpPr>
          <p:nvPr/>
        </p:nvSpPr>
        <p:spPr>
          <a:xfrm xmlns:a="http://schemas.openxmlformats.org/drawingml/2006/main">
            <a:off x="1381125" y="43053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Analyse observations, biases and future projections</a:t>
            </a:r>
            <a:endParaRPr/>
          </a:p>
        </p:txBody>
      </p:sp>
      <p:sp>
        <p:nvSpPr>
          <p:cNvPr id="229" name="Google Shape;229;p11">
            <a:extLst xmlns:a="http://schemas.openxmlformats.org/drawingml/2006/main">
              <a:ext uri="{FF2B5EF4-FFF2-40B4-BE49-F238E27FC236}">
                <a16:creationId xmlns:a16="http://schemas.microsoft.com/office/drawing/2014/main" id="{9E6D7932-E435-4D04-ACE7-82F0F2A1318F}"/>
              </a:ext>
            </a:extLst>
          </p:cNvPr>
          <p:cNvSpPr>
            <a:spLocks xmlns:a="http://schemas.openxmlformats.org/drawingml/2006/main" noGrp="1"/>
          </p:cNvSpPr>
          <p:nvPr/>
        </p:nvSpPr>
        <p:spPr>
          <a:xfrm xmlns:a="http://schemas.openxmlformats.org/drawingml/2006/main">
            <a:off x="781050" y="5000625"/>
            <a:ext cx="571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2B632"/>
              </a:buClr>
              <a:buSzPts val="975"/>
              <a:buFont typeface="Lato"/>
              <a:buNone/>
            </a:pPr>
            <a:r>
              <a:rPr sz="975" b="1">
                <a:solidFill>
                  <a:srgbClr val="F2B632"/>
                </a:solidFill>
                <a:latin typeface="Lato"/>
                <a:ea typeface="Lato"/>
                <a:cs typeface="Lato"/>
              </a:rPr>
              <a:t>03</a:t>
            </a:r>
            <a:endParaRPr/>
          </a:p>
        </p:txBody>
      </p:sp>
      <p:sp>
        <p:nvSpPr>
          <p:cNvPr id="230" name="Google Shape;230;p11">
            <a:extLst xmlns:a="http://schemas.openxmlformats.org/drawingml/2006/main">
              <a:ext uri="{FF2B5EF4-FFF2-40B4-BE49-F238E27FC236}">
                <a16:creationId xmlns:a16="http://schemas.microsoft.com/office/drawing/2014/main" id="{1D6CB94A-28F6-4F0F-9113-5D10040FF202}"/>
              </a:ext>
            </a:extLst>
          </p:cNvPr>
          <p:cNvSpPr>
            <a:spLocks xmlns:a="http://schemas.openxmlformats.org/drawingml/2006/main" noGrp="1"/>
          </p:cNvSpPr>
          <p:nvPr/>
        </p:nvSpPr>
        <p:spPr>
          <a:xfrm xmlns:a="http://schemas.openxmlformats.org/drawingml/2006/main">
            <a:off x="1381125" y="4953000"/>
            <a:ext cx="8810625" cy="352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FFFFFF"/>
              </a:buClr>
              <a:buSzPts val="1725"/>
              <a:buFont typeface="Lato"/>
              <a:buNone/>
            </a:pPr>
            <a:r>
              <a:rPr sz="1725" b="1">
                <a:solidFill>
                  <a:srgbClr val="FFFFFF"/>
                </a:solidFill>
                <a:latin typeface="Lato"/>
                <a:ea typeface="Lato"/>
                <a:cs typeface="Lato"/>
              </a:rPr>
              <a:t>Calculate climate indicators, model agreement and raster outputs</a:t>
            </a:r>
            <a:endParaRPr/>
          </a:p>
        </p:txBody>
      </p:sp>
      <p:sp>
        <p:nvSpPr>
          <p:cNvPr id="231" name="Google Shape;231;p11">
            <a:extLst xmlns:a="http://schemas.openxmlformats.org/drawingml/2006/main">
              <a:ext uri="{FF2B5EF4-FFF2-40B4-BE49-F238E27FC236}">
                <a16:creationId xmlns:a16="http://schemas.microsoft.com/office/drawing/2014/main" id="{9BE1AD0C-1B85-417C-84C0-ADABE4A6C359}"/>
              </a:ext>
            </a:extLst>
          </p:cNvPr>
          <p:cNvSpPr>
            <a:spLocks xmlns:a="http://schemas.openxmlformats.org/drawingml/2006/main" noGrp="1"/>
          </p:cNvSpPr>
          <p:nvPr/>
        </p:nvSpPr>
        <p:spPr>
          <a:xfrm xmlns:a="http://schemas.openxmlformats.org/drawingml/2006/main">
            <a:off x="781050" y="5981700"/>
            <a:ext cx="9620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D7E5EC"/>
              </a:buClr>
              <a:buSzPts val="1275"/>
              <a:buFont typeface="Lato"/>
              <a:buNone/>
            </a:pPr>
            <a:r>
              <a:rPr sz="1275" b="0">
                <a:solidFill>
                  <a:srgbClr val="D7E5EC"/>
                </a:solidFill>
                <a:latin typeface="Lato"/>
                <a:ea typeface="Lato"/>
                <a:cs typeface="Lato"/>
              </a:rPr>
              <a:t>Select R (CAVA) as the notebook kernel.</a:t>
            </a:r>
            <a:endParaRPr/>
          </a:p>
        </p:txBody>
      </p:sp>
    </p:spTree>
    <p:extLst>
      <p:ext uri="{BB962C8B-B14F-4D97-AF65-F5344CB8AC3E}">
        <p14:creationId xmlns:p14="http://schemas.microsoft.com/office/powerpoint/2010/main" val="9423978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2026-09-29T12:19:44.2560000Z</dcterms:created>
  <dcterms:modified xsi:type="dcterms:W3CDTF">2026-09-29T12:19:44.2560000Z</dcterms:modified>
</coreProperties>
</file>