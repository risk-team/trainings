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slide" Target="slides/slide1.xml"/><Relationship Id="rId19" Type="http://schemas.openxmlformats.org/officeDocument/2006/relationships/font" Target="fonts/Lato-boldItalic.fntdata"/><Relationship Id="rId6" Type="http://schemas.openxmlformats.org/officeDocument/2006/relationships/slide" Target="slides/slide2.xml"/><Relationship Id="rId18" Type="http://schemas.openxmlformats.org/officeDocument/2006/relationships/font" Target="fonts/La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304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304E">
                  <a:alpha val="98824"/>
                </a:srgbClr>
              </a:gs>
              <a:gs pos="34000">
                <a:srgbClr val="12304E">
                  <a:alpha val="96078"/>
                </a:srgbClr>
              </a:gs>
              <a:gs pos="55000">
                <a:srgbClr val="12304E">
                  <a:alpha val="74118"/>
                </a:srgbClr>
              </a:gs>
              <a:gs pos="82000">
                <a:srgbClr val="12304E">
                  <a:alpha val="18039"/>
                </a:srgbClr>
              </a:gs>
              <a:gs pos="100000">
                <a:srgbClr val="12304E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23900" y="666750"/>
            <a:ext cx="1066800" cy="381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23900" y="1038225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78D8C8"/>
              </a:buClr>
              <a:buSzPts val="1050"/>
              <a:buFont typeface="Lato"/>
              <a:buNone/>
            </a:pPr>
            <a:r>
              <a:rPr b="1" lang="en-US" sz="1050">
                <a:solidFill>
                  <a:srgbClr val="78D8C8"/>
                </a:solidFill>
                <a:latin typeface="Lato"/>
                <a:ea typeface="Lato"/>
                <a:cs typeface="Lato"/>
                <a:sym typeface="Lato"/>
              </a:rPr>
              <a:t>CAVA TRAINING SERIES</a:t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723900" y="1905000"/>
            <a:ext cx="5429250" cy="192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75"/>
              <a:buFont typeface="Lato"/>
              <a:buNone/>
            </a:pPr>
            <a:r>
              <a:rPr b="1" lang="en-US" sz="397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Using the</a:t>
            </a:r>
            <a:endParaRPr/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75"/>
              <a:buFont typeface="Lato"/>
              <a:buNone/>
            </a:pPr>
            <a:r>
              <a:rPr b="1" lang="en-US" sz="397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CAVA Platform</a:t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733425" y="4457700"/>
            <a:ext cx="190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350"/>
              <a:buFont typeface="Lato"/>
              <a:buNone/>
            </a:pPr>
            <a:r>
              <a:rPr b="1" lang="en-US" sz="135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MODULE 2</a:t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733425" y="4953000"/>
            <a:ext cx="2476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b="1"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29 September 2026</a:t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733425" y="5276850"/>
            <a:ext cx="2714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7E5EC"/>
              </a:buClr>
              <a:buSzPts val="1050"/>
              <a:buFont typeface="Lato"/>
              <a:buNone/>
            </a:pPr>
            <a:r>
              <a:rPr b="0" lang="en-US" sz="1050">
                <a:solidFill>
                  <a:srgbClr val="D7E5EC"/>
                </a:solidFill>
                <a:latin typeface="Lato"/>
                <a:ea typeface="Lato"/>
                <a:cs typeface="Lato"/>
                <a:sym typeface="Lato"/>
              </a:rPr>
              <a:t>10:00–11:30  ·  Online</a:t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733425" y="6010275"/>
            <a:ext cx="4381500" cy="9525"/>
          </a:xfrm>
          <a:prstGeom prst="rect">
            <a:avLst/>
          </a:prstGeom>
          <a:solidFill>
            <a:srgbClr val="A8C0CD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733425" y="6162675"/>
            <a:ext cx="4572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7E5EC"/>
              </a:buClr>
              <a:buSzPts val="900"/>
              <a:buFont typeface="Lato"/>
              <a:buNone/>
            </a:pPr>
            <a:r>
              <a:rPr b="0" lang="en-US" sz="900">
                <a:solidFill>
                  <a:srgbClr val="D7E5EC"/>
                </a:solidFill>
                <a:latin typeface="Lato"/>
                <a:ea typeface="Lato"/>
                <a:cs typeface="Lato"/>
                <a:sym typeface="Lato"/>
              </a:rPr>
              <a:t>From a project question to a usable climate signal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628650" y="438150"/>
            <a:ext cx="108966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325"/>
              <a:buFont typeface="Lato"/>
              <a:buNone/>
            </a:pPr>
            <a:r>
              <a:rPr b="1" lang="en-US" sz="23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Today’s route</a:t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647700" y="971550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lang="en-US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A guided demonstration, with time to interpret and try the controls</a:t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47700" y="1390650"/>
            <a:ext cx="108966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57225" y="1495425"/>
            <a:ext cx="990600" cy="28575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47700" y="6238875"/>
            <a:ext cx="108966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657225" y="6353175"/>
            <a:ext cx="2381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lang="en-US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2</a:t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11049000" y="6343650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lang="en-US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647700" y="2409825"/>
            <a:ext cx="1087755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85800" y="1885950"/>
            <a:ext cx="685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950"/>
              <a:buFont typeface="Lato"/>
              <a:buNone/>
            </a:pPr>
            <a:r>
              <a:rPr b="1" lang="en-US" sz="195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05</a:t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304925" y="2000250"/>
            <a:ext cx="323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25"/>
              <a:buFont typeface="Lato"/>
              <a:buNone/>
            </a:pPr>
            <a:r>
              <a:rPr b="0" lang="en-US" sz="8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min</a:t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943100" y="1885950"/>
            <a:ext cx="4429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75"/>
              <a:buFont typeface="Lato"/>
              <a:buNone/>
            </a:pPr>
            <a:r>
              <a:rPr b="1" lang="en-US" sz="15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Start with a project question</a:t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905625" y="1933575"/>
            <a:ext cx="419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lang="en-US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Choose the information we need</a:t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47700" y="3095625"/>
            <a:ext cx="1087755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85800" y="2571750"/>
            <a:ext cx="685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950"/>
              <a:buFont typeface="Lato"/>
              <a:buNone/>
            </a:pPr>
            <a:r>
              <a:rPr b="1" lang="en-US" sz="195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05</a:t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1304925" y="2686050"/>
            <a:ext cx="323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25"/>
              <a:buFont typeface="Lato"/>
              <a:buNone/>
            </a:pPr>
            <a:r>
              <a:rPr b="0" lang="en-US" sz="8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min</a:t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943100" y="2571750"/>
            <a:ext cx="4429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75"/>
              <a:buFont typeface="Lato"/>
              <a:buNone/>
            </a:pPr>
            <a:r>
              <a:rPr b="1" lang="en-US" sz="15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Explore the Platform</a:t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905625" y="2619375"/>
            <a:ext cx="419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lang="en-US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Select an indicator, then compare periods and scenarios</a:t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647700" y="3781425"/>
            <a:ext cx="1087755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85800" y="3257550"/>
            <a:ext cx="685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950"/>
              <a:buFont typeface="Lato"/>
              <a:buNone/>
            </a:pPr>
            <a:r>
              <a:rPr b="1" lang="en-US" sz="195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05</a:t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304925" y="3371850"/>
            <a:ext cx="323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25"/>
              <a:buFont typeface="Lato"/>
              <a:buNone/>
            </a:pPr>
            <a:r>
              <a:rPr b="0" lang="en-US" sz="8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min</a:t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1943100" y="3257550"/>
            <a:ext cx="4429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75"/>
              <a:buFont typeface="Lato"/>
              <a:buNone/>
            </a:pPr>
            <a:r>
              <a:rPr b="1" lang="en-US" sz="15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Read the climate signal</a:t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6905625" y="3305175"/>
            <a:ext cx="419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lang="en-US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Look at magnitude, pattern and uncertainty</a:t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647700" y="4467225"/>
            <a:ext cx="1087755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85800" y="3943350"/>
            <a:ext cx="685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950"/>
              <a:buFont typeface="Lato"/>
              <a:buNone/>
            </a:pPr>
            <a:r>
              <a:rPr b="1" lang="en-US" sz="195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30</a:t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1304925" y="4057650"/>
            <a:ext cx="323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25"/>
              <a:buFont typeface="Lato"/>
              <a:buNone/>
            </a:pPr>
            <a:r>
              <a:rPr b="0" lang="en-US" sz="8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min</a:t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1943100" y="3943350"/>
            <a:ext cx="4429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75"/>
              <a:buFont typeface="Lato"/>
              <a:buNone/>
            </a:pPr>
            <a:r>
              <a:rPr b="1" lang="en-US" sz="15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Live demo</a:t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6905625" y="3990975"/>
            <a:ext cx="419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lang="en-US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Repeat the workflow </a:t>
            </a:r>
            <a:r>
              <a:rPr lang="en-US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in real-time</a:t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647700" y="5153025"/>
            <a:ext cx="1087755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685800" y="4629150"/>
            <a:ext cx="685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950"/>
              <a:buFont typeface="Lato"/>
              <a:buNone/>
            </a:pPr>
            <a:r>
              <a:rPr b="1" lang="en-US" sz="195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20</a:t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1304925" y="4743450"/>
            <a:ext cx="323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25"/>
              <a:buFont typeface="Lato"/>
              <a:buNone/>
            </a:pPr>
            <a:r>
              <a:rPr b="0" lang="en-US" sz="8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min</a:t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1943100" y="4629150"/>
            <a:ext cx="4429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75"/>
              <a:buFont typeface="Lato"/>
              <a:buNone/>
            </a:pPr>
            <a:r>
              <a:rPr b="1" lang="en-US" sz="15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Advanced outputs with Andrea</a:t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6905625" y="4676775"/>
            <a:ext cx="419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lang="en-US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Climate report and processed data</a:t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647700" y="5838825"/>
            <a:ext cx="1087755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685800" y="5314950"/>
            <a:ext cx="685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950"/>
              <a:buFont typeface="Lato"/>
              <a:buNone/>
            </a:pPr>
            <a:r>
              <a:rPr b="1" lang="en-US" sz="195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20</a:t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1304925" y="5429250"/>
            <a:ext cx="323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25"/>
              <a:buFont typeface="Lato"/>
              <a:buNone/>
            </a:pPr>
            <a:r>
              <a:rPr b="0" lang="en-US" sz="8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min</a:t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1943100" y="5314950"/>
            <a:ext cx="4429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75"/>
              <a:buFont typeface="Lato"/>
              <a:buNone/>
            </a:pPr>
            <a:r>
              <a:rPr b="1" lang="en-US" sz="15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Questions</a:t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6905625" y="5362575"/>
            <a:ext cx="419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lang="en-US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Link to</a:t>
            </a:r>
            <a:r>
              <a:rPr b="0" lang="en-US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 Module 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/>
          <p:nvPr/>
        </p:nvSpPr>
        <p:spPr>
          <a:xfrm>
            <a:off x="628650" y="438150"/>
            <a:ext cx="108966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325"/>
              <a:buFont typeface="Lato"/>
              <a:buNone/>
            </a:pPr>
            <a:r>
              <a:rPr b="1" lang="en-US" sz="23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A project question becomes four choices</a:t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47700" y="971550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lang="en-US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The choices come before the first map click</a:t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47700" y="1390650"/>
            <a:ext cx="108966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57225" y="1495425"/>
            <a:ext cx="990600" cy="28575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47700" y="6238875"/>
            <a:ext cx="108966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657225" y="6353175"/>
            <a:ext cx="2381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lang="en-US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2</a:t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11049000" y="6343650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lang="en-US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647700" y="1819275"/>
            <a:ext cx="10048875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550"/>
              <a:buFont typeface="Lato"/>
              <a:buNone/>
            </a:pPr>
            <a:r>
              <a:rPr b="1" lang="en-US" sz="25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How will extreme heat change in our project area over the next 30 years?</a:t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657225" y="2876550"/>
            <a:ext cx="10668000" cy="28575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1558787" y="3257550"/>
            <a:ext cx="647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2100"/>
              <a:buFont typeface="Lato"/>
              <a:buNone/>
            </a:pPr>
            <a:r>
              <a:rPr b="1" lang="en-US" sz="210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1558787" y="3819525"/>
            <a:ext cx="1952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650"/>
              <a:buFont typeface="Lato"/>
              <a:buNone/>
            </a:pPr>
            <a:r>
              <a:rPr b="1" lang="en-US" sz="16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Area</a:t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1558787" y="4257675"/>
            <a:ext cx="188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b="0" lang="en-US" sz="12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Which geography or project boundary?</a:t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3768587" y="3257550"/>
            <a:ext cx="647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2100"/>
              <a:buFont typeface="Lato"/>
              <a:buNone/>
            </a:pPr>
            <a:r>
              <a:rPr b="1" lang="en-US" sz="210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3768587" y="3819525"/>
            <a:ext cx="1952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650"/>
              <a:buFont typeface="Lato"/>
              <a:buNone/>
            </a:pPr>
            <a:r>
              <a:rPr b="1" lang="en-US" sz="16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Indicator</a:t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3768587" y="4257675"/>
            <a:ext cx="188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b="0" lang="en-US" sz="12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What represents extreme heat?</a:t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5978387" y="3257550"/>
            <a:ext cx="647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2100"/>
              <a:buFont typeface="Lato"/>
              <a:buNone/>
            </a:pPr>
            <a:r>
              <a:rPr b="1" lang="en-US" sz="210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5978387" y="3819525"/>
            <a:ext cx="1952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650"/>
              <a:buFont typeface="Lato"/>
              <a:buNone/>
            </a:pPr>
            <a:r>
              <a:rPr b="1" lang="en-US" sz="16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Horizon</a:t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5978387" y="4257675"/>
            <a:ext cx="188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b="0" lang="en-US" sz="12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What </a:t>
            </a:r>
            <a:r>
              <a:rPr lang="en-US" sz="12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period?</a:t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8188187" y="3257550"/>
            <a:ext cx="647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2100"/>
              <a:buFont typeface="Lato"/>
              <a:buNone/>
            </a:pPr>
            <a:r>
              <a:rPr b="1" lang="en-US" sz="210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8188187" y="3819525"/>
            <a:ext cx="1952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650"/>
              <a:buFont typeface="Lato"/>
              <a:buNone/>
            </a:pPr>
            <a:r>
              <a:rPr b="1" lang="en-US" sz="16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Scenario</a:t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8188187" y="4257675"/>
            <a:ext cx="188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b="0" lang="en-US" sz="12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Which future pathway?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/>
          <p:nvPr/>
        </p:nvSpPr>
        <p:spPr>
          <a:xfrm>
            <a:off x="628650" y="438150"/>
            <a:ext cx="108966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325"/>
              <a:buFont typeface="Lato"/>
              <a:buNone/>
            </a:pPr>
            <a:r>
              <a:rPr b="1" lang="en-US" sz="23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The Platform at a glance</a:t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647700" y="971550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lang="en-US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Three places to look before interpreting a map</a:t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647700" y="1390650"/>
            <a:ext cx="108966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657225" y="1495425"/>
            <a:ext cx="990600" cy="28575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647700" y="6238875"/>
            <a:ext cx="108966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657225" y="6353175"/>
            <a:ext cx="2381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lang="en-US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2</a:t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11049000" y="6343650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lang="en-US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/>
          </a:p>
        </p:txBody>
      </p:sp>
      <p:pic>
        <p:nvPicPr>
          <p:cNvPr id="107" name="Google Shape;107;p6"/>
          <p:cNvPicPr preferRelativeResize="0"/>
          <p:nvPr/>
        </p:nvPicPr>
        <p:blipFill rotWithShape="1">
          <a:blip r:embed="rId3">
            <a:alphaModFix/>
          </a:blip>
          <a:srcRect b="2740" l="0" r="0" t="2740"/>
          <a:stretch/>
        </p:blipFill>
        <p:spPr>
          <a:xfrm>
            <a:off x="3857625" y="1771650"/>
            <a:ext cx="7667625" cy="40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/>
          <p:nvPr/>
        </p:nvSpPr>
        <p:spPr>
          <a:xfrm>
            <a:off x="3857625" y="1771650"/>
            <a:ext cx="7667625" cy="4076700"/>
          </a:xfrm>
          <a:prstGeom prst="rect">
            <a:avLst/>
          </a:prstGeom>
          <a:noFill/>
          <a:ln cap="flat" cmpd="sng" w="9525">
            <a:solidFill>
              <a:srgbClr val="DC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3895725" y="5905500"/>
            <a:ext cx="71437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25"/>
              <a:buFont typeface="Lato"/>
              <a:buNone/>
            </a:pPr>
            <a:r>
              <a:rPr b="0" lang="en-US" sz="8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Public map view captured 22 September 2026</a:t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647700" y="2028825"/>
            <a:ext cx="47625" cy="5334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838200" y="2019300"/>
            <a:ext cx="1924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825"/>
              <a:buFont typeface="Lato"/>
              <a:buNone/>
            </a:pPr>
            <a:r>
              <a:rPr b="1" lang="en-US" sz="8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LEFT</a:t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838200" y="2257425"/>
            <a:ext cx="2819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lang="en-US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Browse climate and agriculture layers</a:t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47700" y="3209925"/>
            <a:ext cx="47625" cy="5334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838200" y="3200400"/>
            <a:ext cx="1924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825"/>
              <a:buFont typeface="Lato"/>
              <a:buNone/>
            </a:pPr>
            <a:r>
              <a:rPr b="1" lang="en-US" sz="82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CENTRE</a:t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838200" y="3438525"/>
            <a:ext cx="2819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lang="en-US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See the spatial pattern</a:t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647700" y="4391025"/>
            <a:ext cx="47625" cy="5334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838200" y="4381500"/>
            <a:ext cx="1924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825"/>
              <a:buFont typeface="Lato"/>
              <a:buNone/>
            </a:pPr>
            <a:r>
              <a:rPr b="1" lang="en-US" sz="8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RIGHT</a:t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838200" y="4619625"/>
            <a:ext cx="2819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lang="en-US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Check the legend and units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/>
          <p:nvPr/>
        </p:nvSpPr>
        <p:spPr>
          <a:xfrm>
            <a:off x="628650" y="438150"/>
            <a:ext cx="108966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325"/>
              <a:buFont typeface="Lato"/>
              <a:buNone/>
            </a:pPr>
            <a:r>
              <a:rPr b="1" lang="en-US" sz="23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The indicator and historical reference</a:t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647700" y="971550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lang="en-US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Live demonstration: select the heat layer and read its settings</a:t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647700" y="1390650"/>
            <a:ext cx="108966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657225" y="1495425"/>
            <a:ext cx="990600" cy="28575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647700" y="6238875"/>
            <a:ext cx="108966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657225" y="6353175"/>
            <a:ext cx="2381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lang="en-US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2</a:t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11049000" y="6343650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lang="en-US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05</a:t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3895725" y="5905500"/>
            <a:ext cx="71437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25"/>
              <a:buFont typeface="Lato"/>
              <a:buNone/>
            </a:pPr>
            <a:r>
              <a:rPr b="0" lang="en-US" sz="8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Public map: Hot Tmax days (≥35°C), observations, annual view</a:t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647700" y="2114550"/>
            <a:ext cx="47625" cy="5334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838200" y="2105025"/>
            <a:ext cx="1924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825"/>
              <a:buFont typeface="Lato"/>
              <a:buNone/>
            </a:pPr>
            <a:r>
              <a:rPr b="1" lang="en-US" sz="8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LAYER</a:t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838200" y="2343150"/>
            <a:ext cx="2819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lang="en-US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Climate › Heat &amp; Cold</a:t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647700" y="3324225"/>
            <a:ext cx="47625" cy="5334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838200" y="3314700"/>
            <a:ext cx="1924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825"/>
              <a:buFont typeface="Lato"/>
              <a:buNone/>
            </a:pPr>
            <a:r>
              <a:rPr b="1" lang="en-US" sz="82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INDICATOR</a:t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838200" y="3552825"/>
            <a:ext cx="2819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lang="en-US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Hot Tmax days ≥35°C</a:t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647700" y="4533900"/>
            <a:ext cx="47625" cy="5334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838200" y="4524375"/>
            <a:ext cx="1924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825"/>
              <a:buFont typeface="Lato"/>
              <a:buNone/>
            </a:pPr>
            <a:r>
              <a:rPr b="1" lang="en-US" sz="8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REFERENCE</a:t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838200" y="4762500"/>
            <a:ext cx="2819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lang="en-US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Observations, 1991–2020</a:t>
            </a:r>
            <a:endParaRPr/>
          </a:p>
        </p:txBody>
      </p:sp>
      <p:pic>
        <p:nvPicPr>
          <p:cNvPr id="141" name="Google Shape;141;p7" title="Screenshot 2026-09-28 at 21.14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0475" y="1681575"/>
            <a:ext cx="7887596" cy="412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628650" y="438150"/>
            <a:ext cx="108966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325"/>
              <a:buFont typeface="Lato"/>
              <a:buNone/>
            </a:pPr>
            <a:r>
              <a:rPr b="1" lang="en-US" sz="23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A future climate view</a:t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647700" y="971550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lang="en-US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Keep the indicator fixed while changing scenario and time horizon</a:t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647700" y="1390650"/>
            <a:ext cx="108966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657225" y="1495425"/>
            <a:ext cx="990600" cy="28575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647700" y="6238875"/>
            <a:ext cx="108966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657225" y="6353175"/>
            <a:ext cx="2381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lang="en-US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2</a:t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11049000" y="6343650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lang="en-US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06</a:t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3895725" y="5905500"/>
            <a:ext cx="71437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25"/>
              <a:buFont typeface="Lato"/>
              <a:buNone/>
            </a:pPr>
            <a:r>
              <a:rPr b="0" lang="en-US" sz="8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Public map: RCP 8.5, 2070–2099, annual value view</a:t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647700" y="2095500"/>
            <a:ext cx="47625" cy="5334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838200" y="2085975"/>
            <a:ext cx="1924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825"/>
              <a:buFont typeface="Lato"/>
              <a:buNone/>
            </a:pPr>
            <a:r>
              <a:rPr b="1" lang="en-US" sz="8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SCENARIO</a:t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838200" y="2324100"/>
            <a:ext cx="2819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lang="en-US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Choose a future pathway</a:t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647700" y="3295650"/>
            <a:ext cx="47625" cy="5334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838200" y="3286125"/>
            <a:ext cx="1924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825"/>
              <a:buFont typeface="Lato"/>
              <a:buNone/>
            </a:pPr>
            <a:r>
              <a:rPr b="1" lang="en-US" sz="82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PERIOD</a:t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838200" y="3524250"/>
            <a:ext cx="2819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lang="en-US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Select the project-relevant horizon</a:t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647700" y="4495800"/>
            <a:ext cx="47625" cy="5334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838200" y="4486275"/>
            <a:ext cx="1924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825"/>
              <a:buFont typeface="Lato"/>
              <a:buNone/>
            </a:pPr>
            <a:r>
              <a:rPr b="1" lang="en-US" sz="8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READING</a:t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838200" y="4724400"/>
            <a:ext cx="2819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lang="en-US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The value map shows future conditions</a:t>
            </a:r>
            <a:endParaRPr/>
          </a:p>
        </p:txBody>
      </p:sp>
      <p:pic>
        <p:nvPicPr>
          <p:cNvPr id="164" name="Google Shape;164;p8" title="Screenshot 2026-09-28 at 21.16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0" y="1552575"/>
            <a:ext cx="8024883" cy="4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/>
          <p:nvPr/>
        </p:nvSpPr>
        <p:spPr>
          <a:xfrm>
            <a:off x="628650" y="438150"/>
            <a:ext cx="108966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325"/>
              <a:buFont typeface="Lato"/>
              <a:buNone/>
            </a:pPr>
            <a:r>
              <a:rPr b="1" lang="en-US" sz="23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Change needs a reference period</a:t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647700" y="971550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lang="en-US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The map changes meaning when “Value” becomes “Change”</a:t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647700" y="1390650"/>
            <a:ext cx="108966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657225" y="1495425"/>
            <a:ext cx="990600" cy="28575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647700" y="6238875"/>
            <a:ext cx="108966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657225" y="6353175"/>
            <a:ext cx="2381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lang="en-US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2</a:t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11049000" y="6343650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lang="en-US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07</a:t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3895725" y="5905500"/>
            <a:ext cx="71437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25"/>
              <a:buFont typeface="Lato"/>
              <a:buNone/>
            </a:pPr>
            <a:r>
              <a:rPr b="0" lang="en-US" sz="8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Public map: RCP 8.5, 2070–2099 change from 1986–2005</a:t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647700" y="2095500"/>
            <a:ext cx="47625" cy="5334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838200" y="2085975"/>
            <a:ext cx="1924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825"/>
              <a:buFont typeface="Lato"/>
              <a:buNone/>
            </a:pPr>
            <a:r>
              <a:rPr b="1" lang="en-US" sz="8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COMPARE</a:t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838200" y="2324100"/>
            <a:ext cx="2819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lang="en-US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Switch from Value to Change</a:t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647700" y="3295650"/>
            <a:ext cx="47625" cy="5334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838200" y="3286125"/>
            <a:ext cx="1924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825"/>
              <a:buFont typeface="Lato"/>
              <a:buNone/>
            </a:pPr>
            <a:r>
              <a:rPr b="1" lang="en-US" sz="82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BASELINE</a:t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838200" y="3524250"/>
            <a:ext cx="2819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lang="en-US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Read the reference period</a:t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647700" y="4495800"/>
            <a:ext cx="47625" cy="5334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838200" y="4486275"/>
            <a:ext cx="1924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825"/>
              <a:buFont typeface="Lato"/>
              <a:buNone/>
            </a:pPr>
            <a:r>
              <a:rPr b="1" lang="en-US" sz="8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UNITS</a:t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838200" y="4724400"/>
            <a:ext cx="2819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lang="en-US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Check whether the legend shows days or degrees</a:t>
            </a:r>
            <a:endParaRPr/>
          </a:p>
        </p:txBody>
      </p:sp>
      <p:pic>
        <p:nvPicPr>
          <p:cNvPr id="187" name="Google Shape;187;p9" title="Screenshot 2026-09-28 at 21.17.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0" y="1552575"/>
            <a:ext cx="8024883" cy="4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/>
          <p:nvPr/>
        </p:nvSpPr>
        <p:spPr>
          <a:xfrm>
            <a:off x="628650" y="438150"/>
            <a:ext cx="108966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325"/>
              <a:buFont typeface="Lato"/>
              <a:buNone/>
            </a:pPr>
            <a:r>
              <a:rPr b="1" lang="en-US" sz="23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Reading a climate signal</a:t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647700" y="971550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lang="en-US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A map is the beginning of interpretation</a:t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647700" y="1390650"/>
            <a:ext cx="108966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657225" y="1495425"/>
            <a:ext cx="990600" cy="28575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647700" y="6238875"/>
            <a:ext cx="108966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657225" y="6353175"/>
            <a:ext cx="2381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lang="en-US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2</a:t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11049000" y="6343650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lang="en-US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08</a:t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704850" y="1924050"/>
            <a:ext cx="6096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500"/>
              <a:buFont typeface="Lato"/>
              <a:buNone/>
            </a:pPr>
            <a:r>
              <a:rPr b="1" lang="en-US" sz="150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1495425" y="1895475"/>
            <a:ext cx="233362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025"/>
              <a:buFont typeface="Lato"/>
              <a:buNone/>
            </a:pPr>
            <a:r>
              <a:rPr b="1" lang="en-US" sz="20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Magnitude</a:t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4286250" y="1933575"/>
            <a:ext cx="6762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425"/>
              <a:buFont typeface="Lato"/>
              <a:buNone/>
            </a:pPr>
            <a:r>
              <a:rPr b="0" lang="en-US" sz="1425">
                <a:solidFill>
                  <a:srgbClr val="17324D"/>
                </a:solidFill>
                <a:latin typeface="Lato"/>
                <a:ea typeface="Lato"/>
                <a:cs typeface="Lato"/>
                <a:sym typeface="Lato"/>
              </a:rPr>
              <a:t>How large is the difference, in the legend’s units?</a:t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666750" y="2543175"/>
            <a:ext cx="10829925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704850" y="2876550"/>
            <a:ext cx="6096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500"/>
              <a:buFont typeface="Lato"/>
              <a:buNone/>
            </a:pPr>
            <a:r>
              <a:rPr b="1" lang="en-US" sz="150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1495425" y="2847975"/>
            <a:ext cx="233362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025"/>
              <a:buFont typeface="Lato"/>
              <a:buNone/>
            </a:pPr>
            <a:r>
              <a:rPr b="1" lang="en-US" sz="20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Pattern</a:t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4286250" y="2886075"/>
            <a:ext cx="6762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425"/>
              <a:buFont typeface="Lato"/>
              <a:buNone/>
            </a:pPr>
            <a:r>
              <a:rPr b="0" lang="en-US" sz="1425">
                <a:solidFill>
                  <a:srgbClr val="17324D"/>
                </a:solidFill>
                <a:latin typeface="Lato"/>
                <a:ea typeface="Lato"/>
                <a:cs typeface="Lato"/>
                <a:sym typeface="Lato"/>
              </a:rPr>
              <a:t>Is the signal widespread or localized?</a:t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666750" y="3495675"/>
            <a:ext cx="10829925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704850" y="3829050"/>
            <a:ext cx="6096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500"/>
              <a:buFont typeface="Lato"/>
              <a:buNone/>
            </a:pPr>
            <a:r>
              <a:rPr b="1" lang="en-US" sz="150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1495425" y="3800475"/>
            <a:ext cx="233362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025"/>
              <a:buFont typeface="Lato"/>
              <a:buNone/>
            </a:pPr>
            <a:r>
              <a:rPr b="1" lang="en-US" sz="20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Comparison</a:t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4286250" y="3838575"/>
            <a:ext cx="6762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425"/>
              <a:buFont typeface="Lato"/>
              <a:buNone/>
            </a:pPr>
            <a:r>
              <a:rPr b="0" lang="en-US" sz="1425">
                <a:solidFill>
                  <a:srgbClr val="17324D"/>
                </a:solidFill>
                <a:latin typeface="Lato"/>
                <a:ea typeface="Lato"/>
                <a:cs typeface="Lato"/>
                <a:sym typeface="Lato"/>
              </a:rPr>
              <a:t>Which baseline, scenario and future period are selected?</a:t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666750" y="4448175"/>
            <a:ext cx="10829925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704850" y="4781550"/>
            <a:ext cx="6096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500"/>
              <a:buFont typeface="Lato"/>
              <a:buNone/>
            </a:pPr>
            <a:r>
              <a:rPr b="1" lang="en-US" sz="150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1495425" y="4752975"/>
            <a:ext cx="233362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025"/>
              <a:buFont typeface="Lato"/>
              <a:buNone/>
            </a:pPr>
            <a:r>
              <a:rPr b="1" lang="en-US" sz="20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Confidence</a:t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4286250" y="4791075"/>
            <a:ext cx="6762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425"/>
              <a:buFont typeface="Lato"/>
              <a:buNone/>
            </a:pPr>
            <a:r>
              <a:rPr lang="en-US" sz="1425">
                <a:solidFill>
                  <a:srgbClr val="17324D"/>
                </a:solidFill>
                <a:latin typeface="Lato"/>
                <a:ea typeface="Lato"/>
                <a:cs typeface="Lato"/>
                <a:sym typeface="Lato"/>
              </a:rPr>
              <a:t>Combination of all previous points</a:t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666750" y="5400675"/>
            <a:ext cx="10829925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304E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"/>
          <p:cNvSpPr/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733425" y="647700"/>
            <a:ext cx="1028700" cy="381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733425" y="1038225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78D8C8"/>
              </a:buClr>
              <a:buSzPts val="975"/>
              <a:buFont typeface="Lato"/>
              <a:buNone/>
            </a:pPr>
            <a:r>
              <a:rPr b="1" lang="en-US" sz="975">
                <a:solidFill>
                  <a:srgbClr val="78D8C8"/>
                </a:solidFill>
                <a:latin typeface="Lato"/>
                <a:ea typeface="Lato"/>
                <a:cs typeface="Lato"/>
                <a:sym typeface="Lato"/>
              </a:rPr>
              <a:t>YOUR TURN</a:t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733425" y="1704975"/>
            <a:ext cx="942975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75"/>
              <a:buFont typeface="Lato"/>
              <a:buNone/>
            </a:pPr>
            <a:r>
              <a:rPr b="1" lang="en-US" sz="367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Let’s do a live demo</a:t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781050" y="3705225"/>
            <a:ext cx="571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78D8C8"/>
              </a:buClr>
              <a:buSzPts val="975"/>
              <a:buFont typeface="Lato"/>
              <a:buNone/>
            </a:pPr>
            <a:r>
              <a:rPr b="1" lang="en-US" sz="975">
                <a:solidFill>
                  <a:srgbClr val="78D8C8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1381125" y="3657600"/>
            <a:ext cx="881062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Lato"/>
              <a:buNone/>
            </a:pPr>
            <a:r>
              <a:rPr b="1" lang="en-US" sz="172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Choose a geography and relevant indicator</a:t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781050" y="4352925"/>
            <a:ext cx="571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78D8C8"/>
              </a:buClr>
              <a:buSzPts val="975"/>
              <a:buFont typeface="Lato"/>
              <a:buNone/>
            </a:pPr>
            <a:r>
              <a:rPr b="1" lang="en-US" sz="975">
                <a:solidFill>
                  <a:srgbClr val="78D8C8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1381125" y="4305300"/>
            <a:ext cx="881062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Lato"/>
              <a:buNone/>
            </a:pPr>
            <a:r>
              <a:rPr b="1" lang="en-US" sz="172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Select a future scenario and period</a:t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781050" y="5000625"/>
            <a:ext cx="571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975"/>
              <a:buFont typeface="Lato"/>
              <a:buNone/>
            </a:pPr>
            <a:r>
              <a:rPr b="1" lang="en-US" sz="97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1381125" y="4953000"/>
            <a:ext cx="881062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Lato"/>
              <a:buNone/>
            </a:pPr>
            <a:r>
              <a:rPr b="1" lang="en-US" sz="172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Compare Value and Change, then read the units</a:t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781050" y="5981700"/>
            <a:ext cx="9620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7E5EC"/>
              </a:buClr>
              <a:buSzPts val="1275"/>
              <a:buFont typeface="Lato"/>
              <a:buNone/>
            </a:pPr>
            <a:r>
              <a:rPr b="0" lang="en-US" sz="1275">
                <a:solidFill>
                  <a:srgbClr val="D7E5EC"/>
                </a:solidFill>
                <a:latin typeface="Lato"/>
                <a:ea typeface="Lato"/>
                <a:cs typeface="Lato"/>
                <a:sym typeface="Lato"/>
              </a:rPr>
              <a:t>Be ready to describe one pattern and one uncertainty.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"/>
          <p:cNvSpPr/>
          <p:nvPr/>
        </p:nvSpPr>
        <p:spPr>
          <a:xfrm>
            <a:off x="628650" y="438150"/>
            <a:ext cx="108966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325"/>
              <a:buFont typeface="Lato"/>
              <a:buNone/>
            </a:pPr>
            <a:r>
              <a:rPr b="1" lang="en-US" sz="23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Advanced outputs</a:t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647700" y="971550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lang="en-US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Andrea’s live demonstration: outputs that travel beyond the map</a:t>
            </a: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647700" y="1390650"/>
            <a:ext cx="108966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657225" y="1495425"/>
            <a:ext cx="990600" cy="28575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647700" y="6238875"/>
            <a:ext cx="108966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"/>
          <p:cNvSpPr/>
          <p:nvPr/>
        </p:nvSpPr>
        <p:spPr>
          <a:xfrm>
            <a:off x="657225" y="6353175"/>
            <a:ext cx="2381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lang="en-US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2</a:t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11049000" y="6343650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lang="en-US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666750" y="2019300"/>
            <a:ext cx="28575" cy="32004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895350" y="2124075"/>
            <a:ext cx="46101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3300"/>
              <a:buFont typeface="Lato"/>
              <a:buNone/>
            </a:pPr>
            <a:r>
              <a:rPr b="1" lang="en-US" sz="330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PDF</a:t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895350" y="2838450"/>
            <a:ext cx="43815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2100"/>
              <a:buFont typeface="Lato"/>
              <a:buNone/>
            </a:pPr>
            <a:r>
              <a:rPr b="1" lang="en-US" sz="2100">
                <a:solidFill>
                  <a:srgbClr val="008D7A"/>
                </a:solidFill>
                <a:latin typeface="Lato"/>
                <a:ea typeface="Lato"/>
                <a:cs typeface="Lato"/>
                <a:sym typeface="Lato"/>
              </a:rPr>
              <a:t>Climate report</a:t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895350" y="3419475"/>
            <a:ext cx="4286250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500"/>
              <a:buFont typeface="Lato"/>
              <a:buNone/>
            </a:pPr>
            <a:r>
              <a:rPr b="0" lang="en-US" sz="1500">
                <a:solidFill>
                  <a:srgbClr val="17324D"/>
                </a:solidFill>
                <a:latin typeface="Lato"/>
                <a:ea typeface="Lato"/>
                <a:cs typeface="Lato"/>
                <a:sym typeface="Lato"/>
              </a:rPr>
              <a:t>Key climatologies and analyses for discussion and project documentation</a:t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6048375" y="2019300"/>
            <a:ext cx="9525" cy="321945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6448425" y="2124075"/>
            <a:ext cx="43243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3300"/>
              <a:buFont typeface="Lato"/>
              <a:buNone/>
            </a:pPr>
            <a:r>
              <a:rPr b="1" lang="en-US" sz="330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XLSX</a:t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6448425" y="2838450"/>
            <a:ext cx="47625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2100"/>
              <a:buFont typeface="Lato"/>
              <a:buNone/>
            </a:pPr>
            <a:r>
              <a:rPr b="1" lang="en-US" sz="2100">
                <a:solidFill>
                  <a:srgbClr val="008D7A"/>
                </a:solidFill>
                <a:latin typeface="Lato"/>
                <a:ea typeface="Lato"/>
                <a:cs typeface="Lato"/>
                <a:sym typeface="Lato"/>
              </a:rPr>
              <a:t>Processed climate data</a:t>
            </a: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6448425" y="3419475"/>
            <a:ext cx="4333875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500"/>
              <a:buFont typeface="Lato"/>
              <a:buNone/>
            </a:pPr>
            <a:r>
              <a:rPr b="0" lang="en-US" sz="1500">
                <a:solidFill>
                  <a:srgbClr val="17324D"/>
                </a:solidFill>
                <a:latin typeface="Lato"/>
                <a:ea typeface="Lato"/>
                <a:cs typeface="Lato"/>
                <a:sym typeface="Lato"/>
              </a:rPr>
              <a:t>Structured inputs for further analysis and downstream impact modelling</a:t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914400" y="5495925"/>
            <a:ext cx="981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lang="en-US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The live demonstration will show the available request and download steps.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304E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"/>
          <p:cNvSpPr/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723900" y="79057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78D8C8"/>
              </a:buClr>
              <a:buSzPts val="975"/>
              <a:buFont typeface="Lato"/>
              <a:buNone/>
            </a:pPr>
            <a:r>
              <a:rPr b="1" lang="en-US" sz="975">
                <a:solidFill>
                  <a:srgbClr val="78D8C8"/>
                </a:solidFill>
                <a:latin typeface="Lato"/>
                <a:ea typeface="Lato"/>
                <a:cs typeface="Lato"/>
                <a:sym typeface="Lato"/>
              </a:rPr>
              <a:t>BEFORE YOU LEAVE</a:t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723900" y="1495425"/>
            <a:ext cx="962025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25"/>
              <a:buFont typeface="Lato"/>
              <a:buNone/>
            </a:pPr>
            <a:r>
              <a:rPr b="1" lang="en-US" sz="352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Can you explain the map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25"/>
              <a:buFont typeface="Lato"/>
              <a:buNone/>
            </a:pPr>
            <a:r>
              <a:rPr b="1" lang="en-US" sz="352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without the map?</a:t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771525" y="3629025"/>
            <a:ext cx="571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78D8C8"/>
              </a:buClr>
              <a:buSzPts val="975"/>
              <a:buFont typeface="Lato"/>
              <a:buNone/>
            </a:pPr>
            <a:r>
              <a:rPr b="1" lang="en-US" sz="975">
                <a:solidFill>
                  <a:srgbClr val="78D8C8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1400175" y="358140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b="1"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indicator and its units</a:t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771525" y="4295775"/>
            <a:ext cx="571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78D8C8"/>
              </a:buClr>
              <a:buSzPts val="975"/>
              <a:buFont typeface="Lato"/>
              <a:buNone/>
            </a:pPr>
            <a:r>
              <a:rPr b="1" lang="en-US" sz="975">
                <a:solidFill>
                  <a:srgbClr val="78D8C8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1400175" y="424815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b="1"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scenario, periods and baseline</a:t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771525" y="4962525"/>
            <a:ext cx="571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975"/>
              <a:buFont typeface="Lato"/>
              <a:buNone/>
            </a:pPr>
            <a:r>
              <a:rPr b="1" lang="en-US" sz="97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1400175" y="491490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b="1"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signal, and what remains uncertain</a:t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742950" y="5895975"/>
            <a:ext cx="4762500" cy="9525"/>
          </a:xfrm>
          <a:prstGeom prst="rect">
            <a:avLst/>
          </a:prstGeom>
          <a:solidFill>
            <a:srgbClr val="A8C0CD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742950" y="6076950"/>
            <a:ext cx="7810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7E5EC"/>
              </a:buClr>
              <a:buSzPts val="1050"/>
              <a:buFont typeface="Lato"/>
              <a:buNone/>
            </a:pPr>
            <a:r>
              <a:rPr b="0" lang="en-US" sz="1050">
                <a:solidFill>
                  <a:srgbClr val="D7E5EC"/>
                </a:solidFill>
                <a:latin typeface="Lato"/>
                <a:ea typeface="Lato"/>
                <a:cs typeface="Lato"/>
                <a:sym typeface="Lato"/>
              </a:rPr>
              <a:t>Next: Module 3 · Climate data workflows with cavapy and CAVAanalytics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