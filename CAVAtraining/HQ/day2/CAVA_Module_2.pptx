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c180747518f40ff" /><Relationship Type="http://schemas.openxmlformats.org/officeDocument/2006/relationships/extended-properties" Target="/docProps/app.xml" Id="Re59d986339744e0d" /><Relationship Type="http://schemas.openxmlformats.org/officeDocument/2006/relationships/officeDocument" Target="/ppt/presentation.xml" Id="R265b78b7af334e54" /></Relationships>
</file>

<file path=ppt/presentation.xml><?xml version="1.0" encoding="utf-8"?>
<p:presentation xmlns:p="http://schemas.openxmlformats.org/presentationml/2006/main">
  <p:sldMasterIdLst>
    <p:sldMasterId xmlns:r="http://schemas.openxmlformats.org/officeDocument/2006/relationships" id="2147483648" r:id="Refb4e2527ff84890"/>
  </p:sldMasterIdLst>
  <p:notesMasterIdLst>
    <p:notesMasterId xmlns:r="http://schemas.openxmlformats.org/officeDocument/2006/relationships" r:id="R1905872b5ec34f71"/>
  </p:notesMasterIdLst>
  <p:sldIdLst>
    <p:sldId xmlns:r="http://schemas.openxmlformats.org/officeDocument/2006/relationships" id="256" r:id="R8a260a4ca6ff405a"/>
    <p:sldId xmlns:r="http://schemas.openxmlformats.org/officeDocument/2006/relationships" id="257" r:id="Rd3765892949c467a"/>
    <p:sldId xmlns:r="http://schemas.openxmlformats.org/officeDocument/2006/relationships" id="258" r:id="Rf1ba9ccdbcb04042"/>
    <p:sldId xmlns:r="http://schemas.openxmlformats.org/officeDocument/2006/relationships" id="259" r:id="Rc7fdc411d8de415c"/>
    <p:sldId xmlns:r="http://schemas.openxmlformats.org/officeDocument/2006/relationships" id="260" r:id="R09d1e0eab2d24676"/>
    <p:sldId xmlns:r="http://schemas.openxmlformats.org/officeDocument/2006/relationships" id="261" r:id="R6e459eea43cf4a62"/>
    <p:sldId xmlns:r="http://schemas.openxmlformats.org/officeDocument/2006/relationships" id="262" r:id="Rd28018dffd554c19"/>
    <p:sldId xmlns:r="http://schemas.openxmlformats.org/officeDocument/2006/relationships" id="263" r:id="R6bc3d50359e54bbe"/>
    <p:sldId xmlns:r="http://schemas.openxmlformats.org/officeDocument/2006/relationships" id="264" r:id="Ra57069056d6b4750"/>
    <p:sldId xmlns:r="http://schemas.openxmlformats.org/officeDocument/2006/relationships" id="265" r:id="R0304bdf4c9e44820"/>
    <p:sldId xmlns:r="http://schemas.openxmlformats.org/officeDocument/2006/relationships" id="266" r:id="R20007cd3cda6456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67964cce16c4658" /><Relationship Type="http://schemas.openxmlformats.org/officeDocument/2006/relationships/slideMaster" Target="/ppt/slideMasters/slideMaster1.xml" Id="Refb4e2527ff84890" /><Relationship Type="http://schemas.openxmlformats.org/officeDocument/2006/relationships/notesMaster" Target="/ppt/notesMasters/notesMaster1.xml" Id="R1905872b5ec34f71" /><Relationship Type="http://schemas.openxmlformats.org/officeDocument/2006/relationships/presProps" Target="/ppt/presProps.xml" Id="R9a979495cb1043b0" /><Relationship Type="http://schemas.openxmlformats.org/officeDocument/2006/relationships/tableStyles" Target="/ppt/tableStyles.xml" Id="R286c4ae1cdb24230" /><Relationship Type="http://schemas.openxmlformats.org/officeDocument/2006/relationships/slide" Target="/ppt/slides/slide1.xml" Id="R8a260a4ca6ff405a" /><Relationship Type="http://schemas.openxmlformats.org/officeDocument/2006/relationships/slide" Target="/ppt/slides/slide2.xml" Id="Rd3765892949c467a" /><Relationship Type="http://schemas.openxmlformats.org/officeDocument/2006/relationships/slide" Target="/ppt/slides/slide3.xml" Id="Rf1ba9ccdbcb04042" /><Relationship Type="http://schemas.openxmlformats.org/officeDocument/2006/relationships/slide" Target="/ppt/slides/slide4.xml" Id="Rc7fdc411d8de415c" /><Relationship Type="http://schemas.openxmlformats.org/officeDocument/2006/relationships/slide" Target="/ppt/slides/slide5.xml" Id="R09d1e0eab2d24676" /><Relationship Type="http://schemas.openxmlformats.org/officeDocument/2006/relationships/slide" Target="/ppt/slides/slide6.xml" Id="R6e459eea43cf4a62" /><Relationship Type="http://schemas.openxmlformats.org/officeDocument/2006/relationships/slide" Target="/ppt/slides/slide7.xml" Id="Rd28018dffd554c19" /><Relationship Type="http://schemas.openxmlformats.org/officeDocument/2006/relationships/slide" Target="/ppt/slides/slide8.xml" Id="R6bc3d50359e54bbe" /><Relationship Type="http://schemas.openxmlformats.org/officeDocument/2006/relationships/slide" Target="/ppt/slides/slide9.xml" Id="Ra57069056d6b4750" /><Relationship Type="http://schemas.openxmlformats.org/officeDocument/2006/relationships/slide" Target="/ppt/slides/slide10.xml" Id="R0304bdf4c9e44820" /><Relationship Type="http://schemas.openxmlformats.org/officeDocument/2006/relationships/slide" Target="/ppt/slides/slide11.xml" Id="R20007cd3cda6456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efc7bf7d279412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23b40f2a5c94eeb" /><Relationship Type="http://schemas.openxmlformats.org/officeDocument/2006/relationships/notesMaster" Target="/ppt/notesMasters/notesMaster1.xml" Id="R9a9cf090f6094f1d" /></Relationships>
</file>

<file path=ppt/notesSlides/_rels/notesSlide2.xml.rels>&#65279;<?xml version="1.0" encoding="utf-8"?><Relationships xmlns="http://schemas.openxmlformats.org/package/2006/relationships"><Relationship Type="http://schemas.openxmlformats.org/officeDocument/2006/relationships/slide" Target="/ppt/slides/slide2.xml" Id="R90868b11528d430c" /><Relationship Type="http://schemas.openxmlformats.org/officeDocument/2006/relationships/notesMaster" Target="/ppt/notesMasters/notesMaster1.xml" Id="R09b28d8a227241d9" /></Relationships>
</file>

<file path=ppt/notesSlides/_rels/notesSlide3.xml.rels>&#65279;<?xml version="1.0" encoding="utf-8"?><Relationships xmlns="http://schemas.openxmlformats.org/package/2006/relationships"><Relationship Type="http://schemas.openxmlformats.org/officeDocument/2006/relationships/slide" Target="/ppt/slides/slide3.xml" Id="R1ac117e71e104a5e" /><Relationship Type="http://schemas.openxmlformats.org/officeDocument/2006/relationships/notesMaster" Target="/ppt/notesMasters/notesMaster1.xml" Id="R3420031e4d8f4709" /></Relationships>
</file>

<file path=ppt/notesSlides/_rels/notesSlide4.xml.rels>&#65279;<?xml version="1.0" encoding="utf-8"?><Relationships xmlns="http://schemas.openxmlformats.org/package/2006/relationships"><Relationship Type="http://schemas.openxmlformats.org/officeDocument/2006/relationships/slide" Target="/ppt/slides/slide4.xml" Id="Rc04b1bc04ced4a85" /><Relationship Type="http://schemas.openxmlformats.org/officeDocument/2006/relationships/notesMaster" Target="/ppt/notesMasters/notesMaster1.xml" Id="R03446f24c4654a16" /></Relationships>
</file>

<file path=ppt/notesSlides/_rels/notesSlide5.xml.rels>&#65279;<?xml version="1.0" encoding="utf-8"?><Relationships xmlns="http://schemas.openxmlformats.org/package/2006/relationships"><Relationship Type="http://schemas.openxmlformats.org/officeDocument/2006/relationships/slide" Target="/ppt/slides/slide5.xml" Id="Re5c8e391edfc4026" /><Relationship Type="http://schemas.openxmlformats.org/officeDocument/2006/relationships/notesMaster" Target="/ppt/notesMasters/notesMaster1.xml" Id="R45d0532dbbdd4f26" /></Relationships>
</file>

<file path=ppt/notesSlides/_rels/notesSlide6.xml.rels>&#65279;<?xml version="1.0" encoding="utf-8"?><Relationships xmlns="http://schemas.openxmlformats.org/package/2006/relationships"><Relationship Type="http://schemas.openxmlformats.org/officeDocument/2006/relationships/slide" Target="/ppt/slides/slide6.xml" Id="R0474b1f14e324d94" /><Relationship Type="http://schemas.openxmlformats.org/officeDocument/2006/relationships/notesMaster" Target="/ppt/notesMasters/notesMaster1.xml" Id="Re5697ef3e4774ebf" /></Relationships>
</file>

<file path=ppt/notesSlides/_rels/notesSlide7.xml.rels>&#65279;<?xml version="1.0" encoding="utf-8"?><Relationships xmlns="http://schemas.openxmlformats.org/package/2006/relationships"><Relationship Type="http://schemas.openxmlformats.org/officeDocument/2006/relationships/slide" Target="/ppt/slides/slide7.xml" Id="R8351620f092b4b0b" /><Relationship Type="http://schemas.openxmlformats.org/officeDocument/2006/relationships/notesMaster" Target="/ppt/notesMasters/notesMaster1.xml" Id="R69ef26dbe4934cdf" /></Relationships>
</file>

<file path=ppt/notesSlides/_rels/notesSlide8.xml.rels>&#65279;<?xml version="1.0" encoding="utf-8"?><Relationships xmlns="http://schemas.openxmlformats.org/package/2006/relationships"><Relationship Type="http://schemas.openxmlformats.org/officeDocument/2006/relationships/slide" Target="/ppt/slides/slide8.xml" Id="R8d2fcf9d90a14ab0" /><Relationship Type="http://schemas.openxmlformats.org/officeDocument/2006/relationships/notesMaster" Target="/ppt/notesMasters/notesMaster1.xml" Id="R919f5a973b0c4297" /></Relationships>
</file>

<file path=ppt/notesSlides/_rels/notesSlide9.xml.rels>&#65279;<?xml version="1.0" encoding="utf-8"?><Relationships xmlns="http://schemas.openxmlformats.org/package/2006/relationships"><Relationship Type="http://schemas.openxmlformats.org/officeDocument/2006/relationships/slide" Target="/ppt/slides/slide9.xml" Id="R745aad33dfc64fe3" /><Relationship Type="http://schemas.openxmlformats.org/officeDocument/2006/relationships/notesMaster" Target="/ppt/notesMasters/notesMaster1.xml" Id="R727ee764e162484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d35b855352849e0" /><Relationship Type="http://schemas.openxmlformats.org/officeDocument/2006/relationships/notesMaster" Target="/ppt/notesMasters/notesMaster1.xml" Id="Ra032e95e66cf458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4264d142df344e2" /><Relationship Type="http://schemas.openxmlformats.org/officeDocument/2006/relationships/notesMaster" Target="/ppt/notesMasters/notesMaster1.xml" Id="R08b36ac5491a41a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 Welcome participants. Module 2 is primarily a live demonstration with short pauses for interpretation. The example shown on the cover uses the public CAVA Platform map, captured on 22 September 2026. Source: https://cavaplatform.fao.org/map. Session plan and date: CAVA Training Series Concept Note supplied by the user.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 The row durations total 90 minutes and include the cover/introduction. Riccardo leads the project question, Platform tour, interpretation and participant practice. Andrea leads advanced outputs. Keep this as a route, not a script; the live map occupies most of the session. Source: CAVA Training Series Concept Note supplied by the user.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 minutes. Ask participants what decision the information would support. Use days with maximum temperature at or above 35 °C only as a teaching example, not a universal heat-hazard definition. Ask them to identify the area, indicator, historical reference, scenario and future horizon before entering the Platform. CAVA map currently offers a Hot Tmax days (&gt;=35°C) indicator. Verify the controls during the live session. Source for interface: https://cavaplatform.fao.org/map, accessed 22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7 minutes. Open https://cavaplatform.fao.org/map. The screenshot is a genuine public map capture from 22 September 2026. Orient participants to the layer menu, map and legend. The public page shows that login or registration is needed for advanced features, so sign in before the session if Andrea plans to demonstrate reports or downloads. Do not interpret a map before checking the selected layer, period, scenario and units.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 minutes, mostly live. In the public map, expand Climate, then Heat &amp; Cold, then select Hot Tmax days (&gt;=35°C). Inspect magnitude, scenario, period and time filter. Ask participants to confirm that the unit is days. The screenshot is from https://cavaplatform.fao.org/map, captured 22 September 2026. It illustrates a global view; in the live session choose a suitable project geography and verify current settings. No screenshot values should be treated as analytical results for a specific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 minutes, mostly live. With the heat indicator selected, switch from observations to a scenario. The public map captured 22 September 2026 displayed RCP 2.6 and RCP 8.5; this screenshot shows RCP 8.5 and the 2070–2099 period as an illustration. Show a nearer period if that better fits the project decision. Explain that a scenario is conditional and a climate projection is not a weather forecast for a particular year. Source: https://cavaplatform.fao.org/map. Avoid reading precise values from this static screenshot; use the live legend and selected location.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 minutes, mostly live. Switch to Change and point to the baseline selector. In the public map capture the default baseline displayed as 1986–2005 and the legend unit as days. Stress that a change map answers a different question from a future-value map. Check the live settings because defaults may change. The map's color scale in this screenshot is illustrative and should not be used as a quantitative result without checking its range. Source: https://cavaplatform.fao.org/map, captured 22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 minutes. Use the live map to discuss the magnitude and spatial pattern. Ask participants to say the selected indicator, units, baseline, scenario and horizon aloud. Then ask what other information they would need: model spread/agreement when available, local exposure, vulnerability and sector thresholds. Do not imply that the public map alone always displays model agreement. The concept note calls for discussing magnitude, spatial patterns, model agreement and uncertainty. Sources: CAVA Training Series Concept Note supplied by the user and https://cavaplatform.fao.org/map.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 minutes. Give participants about 6 minutes in the Platform and use the remaining time for two brief examples. If access is limited, let them work in pairs or follow the shared screen. Ask for the area, layer, scenario, period, baseline, unit and one observed spatial pattern. Also ask what they cannot conclude from this view. Use the public map at https://cavaplatform.fao.org/map.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 minutes. Handover to Andrea. The concept note describes the option to request a climate report with key climatologies and analyses in PDF format, or processed climate data in Excel format for downstream modelling. This slide deliberately avoids a screenshot of authenticated advanced features because only the public map was accessible during preparation. Andrea should confirm the exact request flow and available formats in the live Platform. Source: CAVA Training Series Concept Note supplied by the user. Public site: https://cavaplatform.fao.org/map.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 Invite questions. Recap the three checks participants should be able to state without pointing to colors alone. Module 3 moves to backend packages and reproducible data workflows. Source: CAVA Training Series Concept Note supplied by the user.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fae1497905b491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f4027b7182540c9" /><Relationship Type="http://schemas.openxmlformats.org/officeDocument/2006/relationships/slideLayout" Target="/ppt/slideLayouts/slideLayout1.xml" Id="Ra710191c300546a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710191c300546a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43da9e160984942" /><Relationship Type="http://schemas.openxmlformats.org/officeDocument/2006/relationships/image" Target="/ppt/media/image.jpeg" Id="Rcf6eab5444ae4d19" /><Relationship Type="http://schemas.openxmlformats.org/officeDocument/2006/relationships/notesSlide" Target="/ppt/notesSlides/notesSlide1.xml" Id="R863df83061cf45a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0ba913add4c4eec" /><Relationship Type="http://schemas.openxmlformats.org/officeDocument/2006/relationships/notesSlide" Target="/ppt/notesSlides/notesSlide2.xml" Id="Rddb0f98f237a4f3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c8e3018004f4ab6" /><Relationship Type="http://schemas.openxmlformats.org/officeDocument/2006/relationships/notesSlide" Target="/ppt/notesSlides/notesSlide3.xml" Id="Ra0622d0fb5004dd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a01988d8af543b1" /><Relationship Type="http://schemas.openxmlformats.org/officeDocument/2006/relationships/image" Target="/ppt/media/image2.jpeg" Id="R431b7a7753ea48dc" /><Relationship Type="http://schemas.openxmlformats.org/officeDocument/2006/relationships/notesSlide" Target="/ppt/notesSlides/notesSlide4.xml" Id="Rbca7992cc95a4db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8c5dca5b20a4ea6" /><Relationship Type="http://schemas.openxmlformats.org/officeDocument/2006/relationships/image" Target="/ppt/media/image3.jpeg" Id="R8e2aebf0e9944e85" /><Relationship Type="http://schemas.openxmlformats.org/officeDocument/2006/relationships/notesSlide" Target="/ppt/notesSlides/notesSlide5.xml" Id="R82d9ec996be6428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81df3b9d6f64fed" /><Relationship Type="http://schemas.openxmlformats.org/officeDocument/2006/relationships/image" Target="/ppt/media/image4.jpeg" Id="R51412135e5984750" /><Relationship Type="http://schemas.openxmlformats.org/officeDocument/2006/relationships/notesSlide" Target="/ppt/notesSlides/notesSlide6.xml" Id="R29e7e6dec9f148a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9d46c3b91d54cc0" /><Relationship Type="http://schemas.openxmlformats.org/officeDocument/2006/relationships/image" Target="/ppt/media/image5.jpeg" Id="R1c8a0c113a714f8b" /><Relationship Type="http://schemas.openxmlformats.org/officeDocument/2006/relationships/notesSlide" Target="/ppt/notesSlides/notesSlide7.xml" Id="R66cd5b70693d4e6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d7ab25d04cf47c9" /><Relationship Type="http://schemas.openxmlformats.org/officeDocument/2006/relationships/notesSlide" Target="/ppt/notesSlides/notesSlide8.xml" Id="Rccf39d20dea04e4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b4b26b9c1d548dd" /><Relationship Type="http://schemas.openxmlformats.org/officeDocument/2006/relationships/notesSlide" Target="/ppt/notesSlides/notesSlide9.xml" Id="R87badc69db9e431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a0ade020fcb49d0" /><Relationship Type="http://schemas.openxmlformats.org/officeDocument/2006/relationships/notesSlide" Target="/ppt/notesSlides/notesSlide10.xml" Id="Re111a68a1ec74f7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7ed29a0950046d2" /><Relationship Type="http://schemas.openxmlformats.org/officeDocument/2006/relationships/notesSlide" Target="/ppt/notesSlides/notesSlide11.xml" Id="Rb686a9d957da4773" /></Relationships>
</file>

<file path=ppt/slides/slide1.xml><?xml version="1.0" encoding="utf-8"?>
<p:sld xmlns:p="http://schemas.openxmlformats.org/presentationml/2006/main">
  <p:cSld>
    <p:bg>
      <p:bgPr>
        <a:solidFill xmlns:a="http://schemas.openxmlformats.org/drawingml/2006/main">
          <a:srgbClr val="12304E"/>
        </a:solidFill>
      </p:bgPr>
    </p:bg>
    <p:spTree>
      <p:nvGrpSpPr>
        <p:cNvPr id="1" name=""/>
        <p:cNvGrpSpPr/>
        <p:nvPr/>
      </p:nvGrpSpPr>
      <p:grpSpPr>
        <a:xfrm xmlns:a="http://schemas.openxmlformats.org/drawingml/2006/main"/>
      </p:grpSpPr>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cf6eab5444ae4d1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3E7B2F8-2A5D-4454-98F1-448F5370621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gradFill xmlns:a="http://schemas.openxmlformats.org/drawingml/2006/main">
            <a:gsLst>
              <a:gs pos="0">
                <a:srgbClr val="12304E">
                  <a:alpha val="99000"/>
                </a:srgbClr>
              </a:gs>
              <a:gs pos="34000">
                <a:srgbClr val="12304E">
                  <a:alpha val="96000"/>
                </a:srgbClr>
              </a:gs>
              <a:gs pos="55000">
                <a:srgbClr val="12304E">
                  <a:alpha val="74000"/>
                </a:srgbClr>
              </a:gs>
              <a:gs pos="82000">
                <a:srgbClr val="12304E">
                  <a:alpha val="18000"/>
                </a:srgbClr>
              </a:gs>
              <a:gs pos="100000">
                <a:srgbClr val="12304E">
                  <a:alpha val="0"/>
                </a:srgbClr>
              </a:gs>
            </a:gsLst>
            <a:lin ang="0"/>
          </a:gra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DC43F0F-B3BD-4D79-99E0-1AF3F796C96F}"/>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00A88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9C5B8E4-1685-4AED-AF04-9C272FFDF5B6}"/>
              </a:ext>
            </a:extLst>
          </p:cNvPr>
          <p:cNvSpPr>
            <a:spLocks xmlns:a="http://schemas.openxmlformats.org/drawingml/2006/main" noGrp="1"/>
          </p:cNvSpPr>
          <p:nvPr/>
        </p:nvSpPr>
        <p:spPr>
          <a:xfrm xmlns:a="http://schemas.openxmlformats.org/drawingml/2006/main">
            <a:off x="723900" y="666750"/>
            <a:ext cx="1066800" cy="38100"/>
          </a:xfrm>
          <a:prstGeom xmlns:a="http://schemas.openxmlformats.org/drawingml/2006/main" prst="rect">
            <a:avLst/>
          </a:prstGeom>
          <a:solidFill xmlns:a="http://schemas.openxmlformats.org/drawingml/2006/main">
            <a:srgbClr val="F2B632"/>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60F42DB-9438-4E07-B6AF-0DD4EBCA3965}"/>
              </a:ext>
            </a:extLst>
          </p:cNvPr>
          <p:cNvSpPr>
            <a:spLocks xmlns:a="http://schemas.openxmlformats.org/drawingml/2006/main" noGrp="1"/>
          </p:cNvSpPr>
          <p:nvPr/>
        </p:nvSpPr>
        <p:spPr>
          <a:xfrm xmlns:a="http://schemas.openxmlformats.org/drawingml/2006/main">
            <a:off x="723900" y="103822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50" b="1">
                <a:solidFill>
                  <a:srgbClr val="78D8C8"/>
                </a:solidFill>
                <a:latin typeface="Lato"/>
                <a:ea typeface="Lato"/>
                <a:cs typeface="Lato"/>
              </a:defRPr>
            </a:pPr>
            <a:r>
              <a:rPr sz="1050" b="1">
                <a:solidFill>
                  <a:srgbClr val="78D8C8"/>
                </a:solidFill>
                <a:latin typeface="Lato"/>
                <a:ea typeface="Lato"/>
                <a:cs typeface="Lato"/>
              </a:rPr>
              <a:t>CAVA TRAINING SERIES</a:t>
            </a:r>
          </a:p>
        </p:txBody>
      </p:sp>
      <p:sp>
        <p:nvSpPr>
          <p:cNvPr id="6" name="">
            <a:extLst xmlns:a="http://schemas.openxmlformats.org/drawingml/2006/main">
              <a:ext uri="{FF2B5EF4-FFF2-40B4-BE49-F238E27FC236}">
                <a16:creationId xmlns:a16="http://schemas.microsoft.com/office/drawing/2014/main" id="{F0B82751-7D18-4AA8-9829-30D8191E3ED8}"/>
              </a:ext>
            </a:extLst>
          </p:cNvPr>
          <p:cNvSpPr>
            <a:spLocks xmlns:a="http://schemas.openxmlformats.org/drawingml/2006/main" noGrp="1"/>
          </p:cNvSpPr>
          <p:nvPr/>
        </p:nvSpPr>
        <p:spPr>
          <a:xfrm xmlns:a="http://schemas.openxmlformats.org/drawingml/2006/main">
            <a:off x="723900" y="1905000"/>
            <a:ext cx="5429250" cy="1924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1000"/>
              </a:lnSpc>
              <a:buNone/>
              <a:defRPr sz="3975" b="1">
                <a:solidFill>
                  <a:srgbClr val="FFFFFF"/>
                </a:solidFill>
                <a:latin typeface="Lato"/>
                <a:ea typeface="Lato"/>
                <a:cs typeface="Lato"/>
              </a:defRPr>
            </a:pPr>
            <a:r>
              <a:rPr sz="3975" b="1">
                <a:solidFill>
                  <a:srgbClr val="FFFFFF"/>
                </a:solidFill>
                <a:latin typeface="Lato"/>
                <a:ea typeface="Lato"/>
                <a:cs typeface="Lato"/>
              </a:rPr>
              <a:t>Using the</a:t>
            </a:r>
          </a:p>
          <a:p xmlns:a="http://schemas.openxmlformats.org/drawingml/2006/main">
            <a:pPr algn="l">
              <a:lnSpc>
                <a:spcPct val="91000"/>
              </a:lnSpc>
              <a:buNone/>
              <a:defRPr sz="3975" b="1">
                <a:solidFill>
                  <a:srgbClr val="FFFFFF"/>
                </a:solidFill>
                <a:latin typeface="Lato"/>
                <a:ea typeface="Lato"/>
                <a:cs typeface="Lato"/>
              </a:defRPr>
            </a:pPr>
            <a:r>
              <a:rPr sz="3975" b="1">
                <a:solidFill>
                  <a:srgbClr val="FFFFFF"/>
                </a:solidFill>
                <a:latin typeface="Lato"/>
                <a:ea typeface="Lato"/>
                <a:cs typeface="Lato"/>
              </a:rPr>
              <a:t>CAVA Platform</a:t>
            </a:r>
          </a:p>
        </p:txBody>
      </p:sp>
      <p:sp>
        <p:nvSpPr>
          <p:cNvPr id="7" name="">
            <a:extLst xmlns:a="http://schemas.openxmlformats.org/drawingml/2006/main">
              <a:ext uri="{FF2B5EF4-FFF2-40B4-BE49-F238E27FC236}">
                <a16:creationId xmlns:a16="http://schemas.microsoft.com/office/drawing/2014/main" id="{6063261D-1C7B-4141-8DCF-3FB023BD39B0}"/>
              </a:ext>
            </a:extLst>
          </p:cNvPr>
          <p:cNvSpPr>
            <a:spLocks xmlns:a="http://schemas.openxmlformats.org/drawingml/2006/main" noGrp="1"/>
          </p:cNvSpPr>
          <p:nvPr/>
        </p:nvSpPr>
        <p:spPr>
          <a:xfrm xmlns:a="http://schemas.openxmlformats.org/drawingml/2006/main">
            <a:off x="733425" y="4457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350" b="1">
                <a:solidFill>
                  <a:srgbClr val="F2B632"/>
                </a:solidFill>
                <a:latin typeface="Lato"/>
                <a:ea typeface="Lato"/>
                <a:cs typeface="Lato"/>
              </a:defRPr>
            </a:pPr>
            <a:r>
              <a:rPr sz="1350" b="1">
                <a:solidFill>
                  <a:srgbClr val="F2B632"/>
                </a:solidFill>
                <a:latin typeface="Lato"/>
                <a:ea typeface="Lato"/>
                <a:cs typeface="Lato"/>
              </a:rPr>
              <a:t>MODULE 2</a:t>
            </a:r>
          </a:p>
        </p:txBody>
      </p:sp>
      <p:sp>
        <p:nvSpPr>
          <p:cNvPr id="8" name="">
            <a:extLst xmlns:a="http://schemas.openxmlformats.org/drawingml/2006/main">
              <a:ext uri="{FF2B5EF4-FFF2-40B4-BE49-F238E27FC236}">
                <a16:creationId xmlns:a16="http://schemas.microsoft.com/office/drawing/2014/main" id="{EE1C39D0-ADFB-4BA0-987D-7E03680DAFC4}"/>
              </a:ext>
            </a:extLst>
          </p:cNvPr>
          <p:cNvSpPr>
            <a:spLocks xmlns:a="http://schemas.openxmlformats.org/drawingml/2006/main" noGrp="1"/>
          </p:cNvSpPr>
          <p:nvPr/>
        </p:nvSpPr>
        <p:spPr>
          <a:xfrm xmlns:a="http://schemas.openxmlformats.org/drawingml/2006/main">
            <a:off x="733425" y="4953000"/>
            <a:ext cx="2476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200" b="1">
                <a:solidFill>
                  <a:srgbClr val="FFFFFF"/>
                </a:solidFill>
                <a:latin typeface="Lato"/>
                <a:ea typeface="Lato"/>
                <a:cs typeface="Lato"/>
              </a:defRPr>
            </a:pPr>
            <a:r>
              <a:rPr sz="1200" b="1">
                <a:solidFill>
                  <a:srgbClr val="FFFFFF"/>
                </a:solidFill>
                <a:latin typeface="Lato"/>
                <a:ea typeface="Lato"/>
                <a:cs typeface="Lato"/>
              </a:rPr>
              <a:t>29 September 2026</a:t>
            </a:r>
          </a:p>
        </p:txBody>
      </p:sp>
      <p:sp>
        <p:nvSpPr>
          <p:cNvPr id="9" name="">
            <a:extLst xmlns:a="http://schemas.openxmlformats.org/drawingml/2006/main">
              <a:ext uri="{FF2B5EF4-FFF2-40B4-BE49-F238E27FC236}">
                <a16:creationId xmlns:a16="http://schemas.microsoft.com/office/drawing/2014/main" id="{4E958909-BAC4-45E3-826A-EBE26DB43A92}"/>
              </a:ext>
            </a:extLst>
          </p:cNvPr>
          <p:cNvSpPr>
            <a:spLocks xmlns:a="http://schemas.openxmlformats.org/drawingml/2006/main" noGrp="1"/>
          </p:cNvSpPr>
          <p:nvPr/>
        </p:nvSpPr>
        <p:spPr>
          <a:xfrm xmlns:a="http://schemas.openxmlformats.org/drawingml/2006/main">
            <a:off x="733425" y="5276850"/>
            <a:ext cx="2714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50" b="0">
                <a:solidFill>
                  <a:srgbClr val="D7E5EC"/>
                </a:solidFill>
                <a:latin typeface="Lato"/>
                <a:ea typeface="Lato"/>
                <a:cs typeface="Lato"/>
              </a:defRPr>
            </a:pPr>
            <a:r>
              <a:rPr sz="1050" b="0">
                <a:solidFill>
                  <a:srgbClr val="D7E5EC"/>
                </a:solidFill>
                <a:latin typeface="Lato"/>
                <a:ea typeface="Lato"/>
                <a:cs typeface="Lato"/>
              </a:rPr>
              <a:t>10:00–11:30  ·  Online</a:t>
            </a:r>
          </a:p>
        </p:txBody>
      </p:sp>
      <p:sp>
        <p:nvSpPr>
          <p:cNvPr id="10" name="">
            <a:extLst xmlns:a="http://schemas.openxmlformats.org/drawingml/2006/main">
              <a:ext uri="{FF2B5EF4-FFF2-40B4-BE49-F238E27FC236}">
                <a16:creationId xmlns:a16="http://schemas.microsoft.com/office/drawing/2014/main" id="{EF3B5F0A-83DC-49DA-8144-76FB67D43EBE}"/>
              </a:ext>
            </a:extLst>
          </p:cNvPr>
          <p:cNvSpPr>
            <a:spLocks xmlns:a="http://schemas.openxmlformats.org/drawingml/2006/main" noGrp="1"/>
          </p:cNvSpPr>
          <p:nvPr/>
        </p:nvSpPr>
        <p:spPr>
          <a:xfrm xmlns:a="http://schemas.openxmlformats.org/drawingml/2006/main">
            <a:off x="733425" y="6010275"/>
            <a:ext cx="4381500" cy="9525"/>
          </a:xfrm>
          <a:prstGeom xmlns:a="http://schemas.openxmlformats.org/drawingml/2006/main" prst="rect">
            <a:avLst/>
          </a:prstGeom>
          <a:solidFill xmlns:a="http://schemas.openxmlformats.org/drawingml/2006/main">
            <a:srgbClr val="A8C0CD">
              <a:alpha val="55000"/>
            </a:srgbClr>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C8645E9-D502-49B4-BA63-1B1153F734DA}"/>
              </a:ext>
            </a:extLst>
          </p:cNvPr>
          <p:cNvSpPr>
            <a:spLocks xmlns:a="http://schemas.openxmlformats.org/drawingml/2006/main" noGrp="1"/>
          </p:cNvSpPr>
          <p:nvPr/>
        </p:nvSpPr>
        <p:spPr>
          <a:xfrm xmlns:a="http://schemas.openxmlformats.org/drawingml/2006/main">
            <a:off x="733425" y="6162675"/>
            <a:ext cx="4572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00" b="0">
                <a:solidFill>
                  <a:srgbClr val="D7E5EC"/>
                </a:solidFill>
                <a:latin typeface="Lato"/>
                <a:ea typeface="Lato"/>
                <a:cs typeface="Lato"/>
              </a:defRPr>
            </a:pPr>
            <a:r>
              <a:rPr sz="900" b="0">
                <a:solidFill>
                  <a:srgbClr val="D7E5EC"/>
                </a:solidFill>
                <a:latin typeface="Lato"/>
                <a:ea typeface="Lato"/>
                <a:cs typeface="Lato"/>
              </a:rPr>
              <a:t>From a project question to a usable climate signal</a:t>
            </a:r>
          </a:p>
        </p:txBody>
      </p:sp>
    </p:spTree>
    <p:extLst>
      <p:ext uri="{BB962C8B-B14F-4D97-AF65-F5344CB8AC3E}">
        <p14:creationId xmlns:p14="http://schemas.microsoft.com/office/powerpoint/2010/main" val="963855000"/>
      </p:ext>
    </p:extLst>
  </p:cSld>
</p:sld>
</file>

<file path=ppt/slides/slide2.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1DF6D62D-7889-4BE5-8295-DDC1B2A4A7BA}"/>
              </a:ext>
            </a:extLst>
          </p:cNvPr>
          <p:cNvSpPr>
            <a:spLocks xmlns:a="http://schemas.openxmlformats.org/drawingml/2006/main" noGrp="1"/>
          </p:cNvSpPr>
          <p:nvPr/>
        </p:nvSpPr>
        <p:spPr>
          <a:xfrm xmlns:a="http://schemas.openxmlformats.org/drawingml/2006/main">
            <a:off x="628650" y="438150"/>
            <a:ext cx="108966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a:solidFill>
                  <a:srgbClr val="12304E"/>
                </a:solidFill>
                <a:latin typeface="Lato"/>
                <a:ea typeface="Lato"/>
                <a:cs typeface="Lato"/>
              </a:defRPr>
            </a:pPr>
            <a:r>
              <a:rPr sz="2325" b="1">
                <a:solidFill>
                  <a:srgbClr val="12304E"/>
                </a:solidFill>
                <a:latin typeface="Lato"/>
                <a:ea typeface="Lato"/>
                <a:cs typeface="Lato"/>
              </a:rPr>
              <a:t>Today’s route</a:t>
            </a:r>
          </a:p>
        </p:txBody>
      </p:sp>
      <p:sp>
        <p:nvSpPr>
          <p:cNvPr id="2" name="">
            <a:extLst xmlns:a="http://schemas.openxmlformats.org/drawingml/2006/main">
              <a:ext uri="{FF2B5EF4-FFF2-40B4-BE49-F238E27FC236}">
                <a16:creationId xmlns:a16="http://schemas.microsoft.com/office/drawing/2014/main" id="{E6837455-4A79-4B9D-B922-25531AD2D929}"/>
              </a:ext>
            </a:extLst>
          </p:cNvPr>
          <p:cNvSpPr>
            <a:spLocks xmlns:a="http://schemas.openxmlformats.org/drawingml/2006/main" noGrp="1"/>
          </p:cNvSpPr>
          <p:nvPr/>
        </p:nvSpPr>
        <p:spPr>
          <a:xfrm xmlns:a="http://schemas.openxmlformats.org/drawingml/2006/main">
            <a:off x="647700" y="971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125" b="0">
                <a:solidFill>
                  <a:srgbClr val="687984"/>
                </a:solidFill>
                <a:latin typeface="Lato"/>
                <a:ea typeface="Lato"/>
                <a:cs typeface="Lato"/>
              </a:defRPr>
            </a:pPr>
            <a:r>
              <a:rPr sz="1125" b="0">
                <a:solidFill>
                  <a:srgbClr val="687984"/>
                </a:solidFill>
                <a:latin typeface="Lato"/>
                <a:ea typeface="Lato"/>
                <a:cs typeface="Lato"/>
              </a:rPr>
              <a:t>A guided demonstration, with time to interpret and try the controls</a:t>
            </a:r>
          </a:p>
        </p:txBody>
      </p:sp>
      <p:sp>
        <p:nvSpPr>
          <p:cNvPr id="3" name="">
            <a:extLst xmlns:a="http://schemas.openxmlformats.org/drawingml/2006/main">
              <a:ext uri="{FF2B5EF4-FFF2-40B4-BE49-F238E27FC236}">
                <a16:creationId xmlns:a16="http://schemas.microsoft.com/office/drawing/2014/main" id="{3B0C845D-E4F1-46ED-867C-D41F94905716}"/>
              </a:ext>
            </a:extLst>
          </p:cNvPr>
          <p:cNvSpPr>
            <a:spLocks xmlns:a="http://schemas.openxmlformats.org/drawingml/2006/main" noGrp="1"/>
          </p:cNvSpPr>
          <p:nvPr/>
        </p:nvSpPr>
        <p:spPr>
          <a:xfrm xmlns:a="http://schemas.openxmlformats.org/drawingml/2006/main">
            <a:off x="647700" y="1390650"/>
            <a:ext cx="1089660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C4AD5E1-F181-4570-BC70-48D60E1A85EB}"/>
              </a:ext>
            </a:extLst>
          </p:cNvPr>
          <p:cNvSpPr>
            <a:spLocks xmlns:a="http://schemas.openxmlformats.org/drawingml/2006/main" noGrp="1"/>
          </p:cNvSpPr>
          <p:nvPr/>
        </p:nvSpPr>
        <p:spPr>
          <a:xfrm xmlns:a="http://schemas.openxmlformats.org/drawingml/2006/main">
            <a:off x="657225" y="1495425"/>
            <a:ext cx="990600" cy="28575"/>
          </a:xfrm>
          <a:prstGeom xmlns:a="http://schemas.openxmlformats.org/drawingml/2006/main" prst="rect">
            <a:avLst/>
          </a:prstGeom>
          <a:solidFill xmlns:a="http://schemas.openxmlformats.org/drawingml/2006/main">
            <a:srgbClr val="00A88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CFEE48-4CBE-4641-AEAB-F2F057D70885}"/>
              </a:ext>
            </a:extLst>
          </p:cNvPr>
          <p:cNvSpPr>
            <a:spLocks xmlns:a="http://schemas.openxmlformats.org/drawingml/2006/main" noGrp="1"/>
          </p:cNvSpPr>
          <p:nvPr/>
        </p:nvSpPr>
        <p:spPr>
          <a:xfrm xmlns:a="http://schemas.openxmlformats.org/drawingml/2006/main">
            <a:off x="647700" y="6238875"/>
            <a:ext cx="1089660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DB3C51E-20F8-4107-8924-FC95EFCB2A80}"/>
              </a:ext>
            </a:extLst>
          </p:cNvPr>
          <p:cNvSpPr>
            <a:spLocks xmlns:a="http://schemas.openxmlformats.org/drawingml/2006/main" noGrp="1"/>
          </p:cNvSpPr>
          <p:nvPr/>
        </p:nvSpPr>
        <p:spPr>
          <a:xfrm xmlns:a="http://schemas.openxmlformats.org/drawingml/2006/main">
            <a:off x="657225" y="6353175"/>
            <a:ext cx="2381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750" b="1">
                <a:solidFill>
                  <a:srgbClr val="687984"/>
                </a:solidFill>
                <a:latin typeface="Lato"/>
                <a:ea typeface="Lato"/>
                <a:cs typeface="Lato"/>
              </a:defRPr>
            </a:pPr>
            <a:r>
              <a:rPr sz="750" b="1">
                <a:solidFill>
                  <a:srgbClr val="687984"/>
                </a:solidFill>
                <a:latin typeface="Lato"/>
                <a:ea typeface="Lato"/>
                <a:cs typeface="Lato"/>
              </a:rPr>
              <a:t>CAVA MODULE 2</a:t>
            </a:r>
          </a:p>
        </p:txBody>
      </p:sp>
      <p:sp>
        <p:nvSpPr>
          <p:cNvPr id="7" name="">
            <a:extLst xmlns:a="http://schemas.openxmlformats.org/drawingml/2006/main">
              <a:ext uri="{FF2B5EF4-FFF2-40B4-BE49-F238E27FC236}">
                <a16:creationId xmlns:a16="http://schemas.microsoft.com/office/drawing/2014/main" id="{F5FC8FFA-C957-4EA6-AE73-D360C4E3D306}"/>
              </a:ext>
            </a:extLst>
          </p:cNvPr>
          <p:cNvSpPr>
            <a:spLocks xmlns:a="http://schemas.openxmlformats.org/drawingml/2006/main" noGrp="1"/>
          </p:cNvSpPr>
          <p:nvPr/>
        </p:nvSpPr>
        <p:spPr>
          <a:xfrm xmlns:a="http://schemas.openxmlformats.org/drawingml/2006/main">
            <a:off x="11049000" y="6343650"/>
            <a:ext cx="4572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2000"/>
              </a:lnSpc>
              <a:buNone/>
              <a:defRPr sz="750" b="0">
                <a:solidFill>
                  <a:srgbClr val="687984"/>
                </a:solidFill>
                <a:latin typeface="Lato"/>
                <a:ea typeface="Lato"/>
                <a:cs typeface="Lato"/>
              </a:defRPr>
            </a:pPr>
            <a:r>
              <a:rPr sz="750" b="0">
                <a:solidFill>
                  <a:srgbClr val="687984"/>
                </a:solidFill>
                <a:latin typeface="Lato"/>
                <a:ea typeface="Lato"/>
                <a:cs typeface="Lato"/>
              </a:rPr>
              <a:t>02</a:t>
            </a:r>
          </a:p>
        </p:txBody>
      </p:sp>
      <p:sp>
        <p:nvSpPr>
          <p:cNvPr id="8" name="">
            <a:extLst xmlns:a="http://schemas.openxmlformats.org/drawingml/2006/main">
              <a:ext uri="{FF2B5EF4-FFF2-40B4-BE49-F238E27FC236}">
                <a16:creationId xmlns:a16="http://schemas.microsoft.com/office/drawing/2014/main" id="{16813C02-7D1F-4431-B5AF-23BA8F68B6CB}"/>
              </a:ext>
            </a:extLst>
          </p:cNvPr>
          <p:cNvSpPr>
            <a:spLocks xmlns:a="http://schemas.openxmlformats.org/drawingml/2006/main" noGrp="1"/>
          </p:cNvSpPr>
          <p:nvPr/>
        </p:nvSpPr>
        <p:spPr>
          <a:xfrm xmlns:a="http://schemas.openxmlformats.org/drawingml/2006/main">
            <a:off x="647700" y="2409825"/>
            <a:ext cx="1087755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7A18FD3-1DE8-4E27-82AD-00ADCBA28333}"/>
              </a:ext>
            </a:extLst>
          </p:cNvPr>
          <p:cNvSpPr>
            <a:spLocks xmlns:a="http://schemas.openxmlformats.org/drawingml/2006/main" noGrp="1"/>
          </p:cNvSpPr>
          <p:nvPr/>
        </p:nvSpPr>
        <p:spPr>
          <a:xfrm xmlns:a="http://schemas.openxmlformats.org/drawingml/2006/main">
            <a:off x="685800" y="1885950"/>
            <a:ext cx="685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950" b="1">
                <a:solidFill>
                  <a:srgbClr val="00A88F"/>
                </a:solidFill>
                <a:latin typeface="Lato"/>
                <a:ea typeface="Lato"/>
                <a:cs typeface="Lato"/>
              </a:defRPr>
            </a:pPr>
            <a:r>
              <a:rPr sz="1950" b="1">
                <a:solidFill>
                  <a:srgbClr val="00A88F"/>
                </a:solidFill>
                <a:latin typeface="Lato"/>
                <a:ea typeface="Lato"/>
                <a:cs typeface="Lato"/>
              </a:rPr>
              <a:t>05</a:t>
            </a:r>
          </a:p>
        </p:txBody>
      </p:sp>
      <p:sp>
        <p:nvSpPr>
          <p:cNvPr id="10" name="">
            <a:extLst xmlns:a="http://schemas.openxmlformats.org/drawingml/2006/main">
              <a:ext uri="{FF2B5EF4-FFF2-40B4-BE49-F238E27FC236}">
                <a16:creationId xmlns:a16="http://schemas.microsoft.com/office/drawing/2014/main" id="{12C8C8D2-DE03-4D0B-A42C-9BF67159AE94}"/>
              </a:ext>
            </a:extLst>
          </p:cNvPr>
          <p:cNvSpPr>
            <a:spLocks xmlns:a="http://schemas.openxmlformats.org/drawingml/2006/main" noGrp="1"/>
          </p:cNvSpPr>
          <p:nvPr/>
        </p:nvSpPr>
        <p:spPr>
          <a:xfrm xmlns:a="http://schemas.openxmlformats.org/drawingml/2006/main">
            <a:off x="1304925" y="2000250"/>
            <a:ext cx="3238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87984"/>
                </a:solidFill>
                <a:latin typeface="Lato"/>
                <a:ea typeface="Lato"/>
                <a:cs typeface="Lato"/>
              </a:defRPr>
            </a:pPr>
            <a:r>
              <a:rPr sz="825" b="0">
                <a:solidFill>
                  <a:srgbClr val="687984"/>
                </a:solidFill>
                <a:latin typeface="Lato"/>
                <a:ea typeface="Lato"/>
                <a:cs typeface="Lato"/>
              </a:rPr>
              <a:t>min</a:t>
            </a:r>
          </a:p>
        </p:txBody>
      </p:sp>
      <p:sp>
        <p:nvSpPr>
          <p:cNvPr id="11" name="">
            <a:extLst xmlns:a="http://schemas.openxmlformats.org/drawingml/2006/main">
              <a:ext uri="{FF2B5EF4-FFF2-40B4-BE49-F238E27FC236}">
                <a16:creationId xmlns:a16="http://schemas.microsoft.com/office/drawing/2014/main" id="{E44C5F97-4381-439B-ABA5-87130BA496A0}"/>
              </a:ext>
            </a:extLst>
          </p:cNvPr>
          <p:cNvSpPr>
            <a:spLocks xmlns:a="http://schemas.openxmlformats.org/drawingml/2006/main" noGrp="1"/>
          </p:cNvSpPr>
          <p:nvPr/>
        </p:nvSpPr>
        <p:spPr>
          <a:xfrm xmlns:a="http://schemas.openxmlformats.org/drawingml/2006/main">
            <a:off x="1943100" y="1885950"/>
            <a:ext cx="442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1">
                <a:solidFill>
                  <a:srgbClr val="12304E"/>
                </a:solidFill>
                <a:latin typeface="Lato"/>
                <a:ea typeface="Lato"/>
                <a:cs typeface="Lato"/>
              </a:defRPr>
            </a:pPr>
            <a:r>
              <a:rPr sz="1575" b="1">
                <a:solidFill>
                  <a:srgbClr val="12304E"/>
                </a:solidFill>
                <a:latin typeface="Lato"/>
                <a:ea typeface="Lato"/>
                <a:cs typeface="Lato"/>
              </a:rPr>
              <a:t>Start with a project question</a:t>
            </a:r>
          </a:p>
        </p:txBody>
      </p:sp>
      <p:sp>
        <p:nvSpPr>
          <p:cNvPr id="12" name="">
            <a:extLst xmlns:a="http://schemas.openxmlformats.org/drawingml/2006/main">
              <a:ext uri="{FF2B5EF4-FFF2-40B4-BE49-F238E27FC236}">
                <a16:creationId xmlns:a16="http://schemas.microsoft.com/office/drawing/2014/main" id="{33834CF8-00DA-47F8-9072-D75F1BAF37E1}"/>
              </a:ext>
            </a:extLst>
          </p:cNvPr>
          <p:cNvSpPr>
            <a:spLocks xmlns:a="http://schemas.openxmlformats.org/drawingml/2006/main" noGrp="1"/>
          </p:cNvSpPr>
          <p:nvPr/>
        </p:nvSpPr>
        <p:spPr>
          <a:xfrm xmlns:a="http://schemas.openxmlformats.org/drawingml/2006/main">
            <a:off x="6905625" y="1933575"/>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125" b="0">
                <a:solidFill>
                  <a:srgbClr val="687984"/>
                </a:solidFill>
                <a:latin typeface="Lato"/>
                <a:ea typeface="Lato"/>
                <a:cs typeface="Lato"/>
              </a:defRPr>
            </a:pPr>
            <a:r>
              <a:rPr sz="1125" b="0">
                <a:solidFill>
                  <a:srgbClr val="687984"/>
                </a:solidFill>
                <a:latin typeface="Lato"/>
                <a:ea typeface="Lato"/>
                <a:cs typeface="Lato"/>
              </a:rPr>
              <a:t>Choose the information we need</a:t>
            </a:r>
          </a:p>
        </p:txBody>
      </p:sp>
      <p:sp>
        <p:nvSpPr>
          <p:cNvPr id="13" name="">
            <a:extLst xmlns:a="http://schemas.openxmlformats.org/drawingml/2006/main">
              <a:ext uri="{FF2B5EF4-FFF2-40B4-BE49-F238E27FC236}">
                <a16:creationId xmlns:a16="http://schemas.microsoft.com/office/drawing/2014/main" id="{DC503B8E-1A55-49A8-8235-359DD0E2E822}"/>
              </a:ext>
            </a:extLst>
          </p:cNvPr>
          <p:cNvSpPr>
            <a:spLocks xmlns:a="http://schemas.openxmlformats.org/drawingml/2006/main" noGrp="1"/>
          </p:cNvSpPr>
          <p:nvPr/>
        </p:nvSpPr>
        <p:spPr>
          <a:xfrm xmlns:a="http://schemas.openxmlformats.org/drawingml/2006/main">
            <a:off x="647700" y="3095625"/>
            <a:ext cx="1087755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AE4C238-249F-40D6-9774-CA30D9786C98}"/>
              </a:ext>
            </a:extLst>
          </p:cNvPr>
          <p:cNvSpPr>
            <a:spLocks xmlns:a="http://schemas.openxmlformats.org/drawingml/2006/main" noGrp="1"/>
          </p:cNvSpPr>
          <p:nvPr/>
        </p:nvSpPr>
        <p:spPr>
          <a:xfrm xmlns:a="http://schemas.openxmlformats.org/drawingml/2006/main">
            <a:off x="685800" y="2571750"/>
            <a:ext cx="685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950" b="1">
                <a:solidFill>
                  <a:srgbClr val="00A88F"/>
                </a:solidFill>
                <a:latin typeface="Lato"/>
                <a:ea typeface="Lato"/>
                <a:cs typeface="Lato"/>
              </a:defRPr>
            </a:pPr>
            <a:r>
              <a:rPr sz="1950" b="1">
                <a:solidFill>
                  <a:srgbClr val="00A88F"/>
                </a:solidFill>
                <a:latin typeface="Lato"/>
                <a:ea typeface="Lato"/>
                <a:cs typeface="Lato"/>
              </a:rPr>
              <a:t>45</a:t>
            </a:r>
          </a:p>
        </p:txBody>
      </p:sp>
      <p:sp>
        <p:nvSpPr>
          <p:cNvPr id="15" name="">
            <a:extLst xmlns:a="http://schemas.openxmlformats.org/drawingml/2006/main">
              <a:ext uri="{FF2B5EF4-FFF2-40B4-BE49-F238E27FC236}">
                <a16:creationId xmlns:a16="http://schemas.microsoft.com/office/drawing/2014/main" id="{72075E8A-E527-4710-85B4-D4C892107622}"/>
              </a:ext>
            </a:extLst>
          </p:cNvPr>
          <p:cNvSpPr>
            <a:spLocks xmlns:a="http://schemas.openxmlformats.org/drawingml/2006/main" noGrp="1"/>
          </p:cNvSpPr>
          <p:nvPr/>
        </p:nvSpPr>
        <p:spPr>
          <a:xfrm xmlns:a="http://schemas.openxmlformats.org/drawingml/2006/main">
            <a:off x="1304925" y="2686050"/>
            <a:ext cx="3238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87984"/>
                </a:solidFill>
                <a:latin typeface="Lato"/>
                <a:ea typeface="Lato"/>
                <a:cs typeface="Lato"/>
              </a:defRPr>
            </a:pPr>
            <a:r>
              <a:rPr sz="825" b="0">
                <a:solidFill>
                  <a:srgbClr val="687984"/>
                </a:solidFill>
                <a:latin typeface="Lato"/>
                <a:ea typeface="Lato"/>
                <a:cs typeface="Lato"/>
              </a:rPr>
              <a:t>min</a:t>
            </a:r>
          </a:p>
        </p:txBody>
      </p:sp>
      <p:sp>
        <p:nvSpPr>
          <p:cNvPr id="16" name="">
            <a:extLst xmlns:a="http://schemas.openxmlformats.org/drawingml/2006/main">
              <a:ext uri="{FF2B5EF4-FFF2-40B4-BE49-F238E27FC236}">
                <a16:creationId xmlns:a16="http://schemas.microsoft.com/office/drawing/2014/main" id="{26EE287D-8581-4DE9-B3C6-29BB29EA8493}"/>
              </a:ext>
            </a:extLst>
          </p:cNvPr>
          <p:cNvSpPr>
            <a:spLocks xmlns:a="http://schemas.openxmlformats.org/drawingml/2006/main" noGrp="1"/>
          </p:cNvSpPr>
          <p:nvPr/>
        </p:nvSpPr>
        <p:spPr>
          <a:xfrm xmlns:a="http://schemas.openxmlformats.org/drawingml/2006/main">
            <a:off x="1943100" y="2571750"/>
            <a:ext cx="442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1">
                <a:solidFill>
                  <a:srgbClr val="12304E"/>
                </a:solidFill>
                <a:latin typeface="Lato"/>
                <a:ea typeface="Lato"/>
                <a:cs typeface="Lato"/>
              </a:defRPr>
            </a:pPr>
            <a:r>
              <a:rPr sz="1575" b="1">
                <a:solidFill>
                  <a:srgbClr val="12304E"/>
                </a:solidFill>
                <a:latin typeface="Lato"/>
                <a:ea typeface="Lato"/>
                <a:cs typeface="Lato"/>
              </a:rPr>
              <a:t>Explore the Platform</a:t>
            </a:r>
          </a:p>
        </p:txBody>
      </p:sp>
      <p:sp>
        <p:nvSpPr>
          <p:cNvPr id="17" name="">
            <a:extLst xmlns:a="http://schemas.openxmlformats.org/drawingml/2006/main">
              <a:ext uri="{FF2B5EF4-FFF2-40B4-BE49-F238E27FC236}">
                <a16:creationId xmlns:a16="http://schemas.microsoft.com/office/drawing/2014/main" id="{581CA54F-458E-45F2-8FF5-57E9828F8075}"/>
              </a:ext>
            </a:extLst>
          </p:cNvPr>
          <p:cNvSpPr>
            <a:spLocks xmlns:a="http://schemas.openxmlformats.org/drawingml/2006/main" noGrp="1"/>
          </p:cNvSpPr>
          <p:nvPr/>
        </p:nvSpPr>
        <p:spPr>
          <a:xfrm xmlns:a="http://schemas.openxmlformats.org/drawingml/2006/main">
            <a:off x="6905625" y="2619375"/>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125" b="0">
                <a:solidFill>
                  <a:srgbClr val="687984"/>
                </a:solidFill>
                <a:latin typeface="Lato"/>
                <a:ea typeface="Lato"/>
                <a:cs typeface="Lato"/>
              </a:defRPr>
            </a:pPr>
            <a:r>
              <a:rPr sz="1125" b="0">
                <a:solidFill>
                  <a:srgbClr val="687984"/>
                </a:solidFill>
                <a:latin typeface="Lato"/>
                <a:ea typeface="Lato"/>
                <a:cs typeface="Lato"/>
              </a:rPr>
              <a:t>Select an indicator, then compare periods and scenarios</a:t>
            </a:r>
          </a:p>
        </p:txBody>
      </p:sp>
      <p:sp>
        <p:nvSpPr>
          <p:cNvPr id="18" name="">
            <a:extLst xmlns:a="http://schemas.openxmlformats.org/drawingml/2006/main">
              <a:ext uri="{FF2B5EF4-FFF2-40B4-BE49-F238E27FC236}">
                <a16:creationId xmlns:a16="http://schemas.microsoft.com/office/drawing/2014/main" id="{8A150373-322B-4E01-B8BD-761029BC69FC}"/>
              </a:ext>
            </a:extLst>
          </p:cNvPr>
          <p:cNvSpPr>
            <a:spLocks xmlns:a="http://schemas.openxmlformats.org/drawingml/2006/main" noGrp="1"/>
          </p:cNvSpPr>
          <p:nvPr/>
        </p:nvSpPr>
        <p:spPr>
          <a:xfrm xmlns:a="http://schemas.openxmlformats.org/drawingml/2006/main">
            <a:off x="647700" y="3781425"/>
            <a:ext cx="1087755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68067CEA-4D40-45CE-A03E-E90E5AC25092}"/>
              </a:ext>
            </a:extLst>
          </p:cNvPr>
          <p:cNvSpPr>
            <a:spLocks xmlns:a="http://schemas.openxmlformats.org/drawingml/2006/main" noGrp="1"/>
          </p:cNvSpPr>
          <p:nvPr/>
        </p:nvSpPr>
        <p:spPr>
          <a:xfrm xmlns:a="http://schemas.openxmlformats.org/drawingml/2006/main">
            <a:off x="685800" y="3257550"/>
            <a:ext cx="685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950" b="1">
                <a:solidFill>
                  <a:srgbClr val="00A88F"/>
                </a:solidFill>
                <a:latin typeface="Lato"/>
                <a:ea typeface="Lato"/>
                <a:cs typeface="Lato"/>
              </a:defRPr>
            </a:pPr>
            <a:r>
              <a:rPr sz="1950" b="1">
                <a:solidFill>
                  <a:srgbClr val="00A88F"/>
                </a:solidFill>
                <a:latin typeface="Lato"/>
                <a:ea typeface="Lato"/>
                <a:cs typeface="Lato"/>
              </a:rPr>
              <a:t>15</a:t>
            </a:r>
          </a:p>
        </p:txBody>
      </p:sp>
      <p:sp>
        <p:nvSpPr>
          <p:cNvPr id="20" name="">
            <a:extLst xmlns:a="http://schemas.openxmlformats.org/drawingml/2006/main">
              <a:ext uri="{FF2B5EF4-FFF2-40B4-BE49-F238E27FC236}">
                <a16:creationId xmlns:a16="http://schemas.microsoft.com/office/drawing/2014/main" id="{874044B9-979E-4E1C-BC07-7D6BFBBB0163}"/>
              </a:ext>
            </a:extLst>
          </p:cNvPr>
          <p:cNvSpPr>
            <a:spLocks xmlns:a="http://schemas.openxmlformats.org/drawingml/2006/main" noGrp="1"/>
          </p:cNvSpPr>
          <p:nvPr/>
        </p:nvSpPr>
        <p:spPr>
          <a:xfrm xmlns:a="http://schemas.openxmlformats.org/drawingml/2006/main">
            <a:off x="1304925" y="3371850"/>
            <a:ext cx="3238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87984"/>
                </a:solidFill>
                <a:latin typeface="Lato"/>
                <a:ea typeface="Lato"/>
                <a:cs typeface="Lato"/>
              </a:defRPr>
            </a:pPr>
            <a:r>
              <a:rPr sz="825" b="0">
                <a:solidFill>
                  <a:srgbClr val="687984"/>
                </a:solidFill>
                <a:latin typeface="Lato"/>
                <a:ea typeface="Lato"/>
                <a:cs typeface="Lato"/>
              </a:rPr>
              <a:t>min</a:t>
            </a:r>
          </a:p>
        </p:txBody>
      </p:sp>
      <p:sp>
        <p:nvSpPr>
          <p:cNvPr id="21" name="">
            <a:extLst xmlns:a="http://schemas.openxmlformats.org/drawingml/2006/main">
              <a:ext uri="{FF2B5EF4-FFF2-40B4-BE49-F238E27FC236}">
                <a16:creationId xmlns:a16="http://schemas.microsoft.com/office/drawing/2014/main" id="{7FB79ADE-5912-4FB5-86AB-7E94DF54AB27}"/>
              </a:ext>
            </a:extLst>
          </p:cNvPr>
          <p:cNvSpPr>
            <a:spLocks xmlns:a="http://schemas.openxmlformats.org/drawingml/2006/main" noGrp="1"/>
          </p:cNvSpPr>
          <p:nvPr/>
        </p:nvSpPr>
        <p:spPr>
          <a:xfrm xmlns:a="http://schemas.openxmlformats.org/drawingml/2006/main">
            <a:off x="1943100" y="3257550"/>
            <a:ext cx="442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1">
                <a:solidFill>
                  <a:srgbClr val="12304E"/>
                </a:solidFill>
                <a:latin typeface="Lato"/>
                <a:ea typeface="Lato"/>
                <a:cs typeface="Lato"/>
              </a:defRPr>
            </a:pPr>
            <a:r>
              <a:rPr sz="1575" b="1">
                <a:solidFill>
                  <a:srgbClr val="12304E"/>
                </a:solidFill>
                <a:latin typeface="Lato"/>
                <a:ea typeface="Lato"/>
                <a:cs typeface="Lato"/>
              </a:rPr>
              <a:t>Read the climate signal</a:t>
            </a:r>
          </a:p>
        </p:txBody>
      </p:sp>
      <p:sp>
        <p:nvSpPr>
          <p:cNvPr id="22" name="">
            <a:extLst xmlns:a="http://schemas.openxmlformats.org/drawingml/2006/main">
              <a:ext uri="{FF2B5EF4-FFF2-40B4-BE49-F238E27FC236}">
                <a16:creationId xmlns:a16="http://schemas.microsoft.com/office/drawing/2014/main" id="{BEB69B5F-862E-491E-8EE8-550519C8CED7}"/>
              </a:ext>
            </a:extLst>
          </p:cNvPr>
          <p:cNvSpPr>
            <a:spLocks xmlns:a="http://schemas.openxmlformats.org/drawingml/2006/main" noGrp="1"/>
          </p:cNvSpPr>
          <p:nvPr/>
        </p:nvSpPr>
        <p:spPr>
          <a:xfrm xmlns:a="http://schemas.openxmlformats.org/drawingml/2006/main">
            <a:off x="6905625" y="3305175"/>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125" b="0">
                <a:solidFill>
                  <a:srgbClr val="687984"/>
                </a:solidFill>
                <a:latin typeface="Lato"/>
                <a:ea typeface="Lato"/>
                <a:cs typeface="Lato"/>
              </a:defRPr>
            </a:pPr>
            <a:r>
              <a:rPr sz="1125" b="0">
                <a:solidFill>
                  <a:srgbClr val="687984"/>
                </a:solidFill>
                <a:latin typeface="Lato"/>
                <a:ea typeface="Lato"/>
                <a:cs typeface="Lato"/>
              </a:rPr>
              <a:t>Look at magnitude, pattern and uncertainty</a:t>
            </a:r>
          </a:p>
        </p:txBody>
      </p:sp>
      <p:sp>
        <p:nvSpPr>
          <p:cNvPr id="23" name="">
            <a:extLst xmlns:a="http://schemas.openxmlformats.org/drawingml/2006/main">
              <a:ext uri="{FF2B5EF4-FFF2-40B4-BE49-F238E27FC236}">
                <a16:creationId xmlns:a16="http://schemas.microsoft.com/office/drawing/2014/main" id="{B0EE5618-5458-4AD1-AE2B-B0E031910E1C}"/>
              </a:ext>
            </a:extLst>
          </p:cNvPr>
          <p:cNvSpPr>
            <a:spLocks xmlns:a="http://schemas.openxmlformats.org/drawingml/2006/main" noGrp="1"/>
          </p:cNvSpPr>
          <p:nvPr/>
        </p:nvSpPr>
        <p:spPr>
          <a:xfrm xmlns:a="http://schemas.openxmlformats.org/drawingml/2006/main">
            <a:off x="647700" y="4467225"/>
            <a:ext cx="1087755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FD4A4B8-48E9-41A4-A9FC-A01C9BA2D906}"/>
              </a:ext>
            </a:extLst>
          </p:cNvPr>
          <p:cNvSpPr>
            <a:spLocks xmlns:a="http://schemas.openxmlformats.org/drawingml/2006/main" noGrp="1"/>
          </p:cNvSpPr>
          <p:nvPr/>
        </p:nvSpPr>
        <p:spPr>
          <a:xfrm xmlns:a="http://schemas.openxmlformats.org/drawingml/2006/main">
            <a:off x="685800" y="3943350"/>
            <a:ext cx="685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950" b="1">
                <a:solidFill>
                  <a:srgbClr val="00A88F"/>
                </a:solidFill>
                <a:latin typeface="Lato"/>
                <a:ea typeface="Lato"/>
                <a:cs typeface="Lato"/>
              </a:defRPr>
            </a:pPr>
            <a:r>
              <a:rPr sz="1950" b="1">
                <a:solidFill>
                  <a:srgbClr val="00A88F"/>
                </a:solidFill>
                <a:latin typeface="Lato"/>
                <a:ea typeface="Lato"/>
                <a:cs typeface="Lato"/>
              </a:rPr>
              <a:t>10</a:t>
            </a:r>
          </a:p>
        </p:txBody>
      </p:sp>
      <p:sp>
        <p:nvSpPr>
          <p:cNvPr id="25" name="">
            <a:extLst xmlns:a="http://schemas.openxmlformats.org/drawingml/2006/main">
              <a:ext uri="{FF2B5EF4-FFF2-40B4-BE49-F238E27FC236}">
                <a16:creationId xmlns:a16="http://schemas.microsoft.com/office/drawing/2014/main" id="{A33E889C-0BB4-4160-B234-B27F62FE47A2}"/>
              </a:ext>
            </a:extLst>
          </p:cNvPr>
          <p:cNvSpPr>
            <a:spLocks xmlns:a="http://schemas.openxmlformats.org/drawingml/2006/main" noGrp="1"/>
          </p:cNvSpPr>
          <p:nvPr/>
        </p:nvSpPr>
        <p:spPr>
          <a:xfrm xmlns:a="http://schemas.openxmlformats.org/drawingml/2006/main">
            <a:off x="1304925" y="4057650"/>
            <a:ext cx="3238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87984"/>
                </a:solidFill>
                <a:latin typeface="Lato"/>
                <a:ea typeface="Lato"/>
                <a:cs typeface="Lato"/>
              </a:defRPr>
            </a:pPr>
            <a:r>
              <a:rPr sz="825" b="0">
                <a:solidFill>
                  <a:srgbClr val="687984"/>
                </a:solidFill>
                <a:latin typeface="Lato"/>
                <a:ea typeface="Lato"/>
                <a:cs typeface="Lato"/>
              </a:rPr>
              <a:t>min</a:t>
            </a:r>
          </a:p>
        </p:txBody>
      </p:sp>
      <p:sp>
        <p:nvSpPr>
          <p:cNvPr id="26" name="">
            <a:extLst xmlns:a="http://schemas.openxmlformats.org/drawingml/2006/main">
              <a:ext uri="{FF2B5EF4-FFF2-40B4-BE49-F238E27FC236}">
                <a16:creationId xmlns:a16="http://schemas.microsoft.com/office/drawing/2014/main" id="{05F9775F-0FC4-4B64-A336-807CBDA2361A}"/>
              </a:ext>
            </a:extLst>
          </p:cNvPr>
          <p:cNvSpPr>
            <a:spLocks xmlns:a="http://schemas.openxmlformats.org/drawingml/2006/main" noGrp="1"/>
          </p:cNvSpPr>
          <p:nvPr/>
        </p:nvSpPr>
        <p:spPr>
          <a:xfrm xmlns:a="http://schemas.openxmlformats.org/drawingml/2006/main">
            <a:off x="1943100" y="3943350"/>
            <a:ext cx="442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1">
                <a:solidFill>
                  <a:srgbClr val="12304E"/>
                </a:solidFill>
                <a:latin typeface="Lato"/>
                <a:ea typeface="Lato"/>
                <a:cs typeface="Lato"/>
              </a:defRPr>
            </a:pPr>
            <a:r>
              <a:rPr sz="1575" b="1">
                <a:solidFill>
                  <a:srgbClr val="12304E"/>
                </a:solidFill>
                <a:latin typeface="Lato"/>
                <a:ea typeface="Lato"/>
                <a:cs typeface="Lato"/>
              </a:rPr>
              <a:t>Try it yourself</a:t>
            </a:r>
          </a:p>
        </p:txBody>
      </p:sp>
      <p:sp>
        <p:nvSpPr>
          <p:cNvPr id="27" name="">
            <a:extLst xmlns:a="http://schemas.openxmlformats.org/drawingml/2006/main">
              <a:ext uri="{FF2B5EF4-FFF2-40B4-BE49-F238E27FC236}">
                <a16:creationId xmlns:a16="http://schemas.microsoft.com/office/drawing/2014/main" id="{24ABB72E-271A-4B91-B942-48C9268062A0}"/>
              </a:ext>
            </a:extLst>
          </p:cNvPr>
          <p:cNvSpPr>
            <a:spLocks xmlns:a="http://schemas.openxmlformats.org/drawingml/2006/main" noGrp="1"/>
          </p:cNvSpPr>
          <p:nvPr/>
        </p:nvSpPr>
        <p:spPr>
          <a:xfrm xmlns:a="http://schemas.openxmlformats.org/drawingml/2006/main">
            <a:off x="6905625" y="3990975"/>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125" b="0">
                <a:solidFill>
                  <a:srgbClr val="687984"/>
                </a:solidFill>
                <a:latin typeface="Lato"/>
                <a:ea typeface="Lato"/>
                <a:cs typeface="Lato"/>
              </a:defRPr>
            </a:pPr>
            <a:r>
              <a:rPr sz="1125" b="0">
                <a:solidFill>
                  <a:srgbClr val="687984"/>
                </a:solidFill>
                <a:latin typeface="Lato"/>
                <a:ea typeface="Lato"/>
                <a:cs typeface="Lato"/>
              </a:rPr>
              <a:t>Repeat the workflow for your own area</a:t>
            </a:r>
          </a:p>
        </p:txBody>
      </p:sp>
      <p:sp>
        <p:nvSpPr>
          <p:cNvPr id="28" name="">
            <a:extLst xmlns:a="http://schemas.openxmlformats.org/drawingml/2006/main">
              <a:ext uri="{FF2B5EF4-FFF2-40B4-BE49-F238E27FC236}">
                <a16:creationId xmlns:a16="http://schemas.microsoft.com/office/drawing/2014/main" id="{B4894B59-971C-407C-8B43-43A492577C47}"/>
              </a:ext>
            </a:extLst>
          </p:cNvPr>
          <p:cNvSpPr>
            <a:spLocks xmlns:a="http://schemas.openxmlformats.org/drawingml/2006/main" noGrp="1"/>
          </p:cNvSpPr>
          <p:nvPr/>
        </p:nvSpPr>
        <p:spPr>
          <a:xfrm xmlns:a="http://schemas.openxmlformats.org/drawingml/2006/main">
            <a:off x="647700" y="5153025"/>
            <a:ext cx="1087755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42F987BF-7DDB-45D5-9E9B-12458B5DCA07}"/>
              </a:ext>
            </a:extLst>
          </p:cNvPr>
          <p:cNvSpPr>
            <a:spLocks xmlns:a="http://schemas.openxmlformats.org/drawingml/2006/main" noGrp="1"/>
          </p:cNvSpPr>
          <p:nvPr/>
        </p:nvSpPr>
        <p:spPr>
          <a:xfrm xmlns:a="http://schemas.openxmlformats.org/drawingml/2006/main">
            <a:off x="685800" y="4629150"/>
            <a:ext cx="685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950" b="1">
                <a:solidFill>
                  <a:srgbClr val="F2B632"/>
                </a:solidFill>
                <a:latin typeface="Lato"/>
                <a:ea typeface="Lato"/>
                <a:cs typeface="Lato"/>
              </a:defRPr>
            </a:pPr>
            <a:r>
              <a:rPr sz="1950" b="1">
                <a:solidFill>
                  <a:srgbClr val="F2B632"/>
                </a:solidFill>
                <a:latin typeface="Lato"/>
                <a:ea typeface="Lato"/>
                <a:cs typeface="Lato"/>
              </a:rPr>
              <a:t>10</a:t>
            </a:r>
          </a:p>
        </p:txBody>
      </p:sp>
      <p:sp>
        <p:nvSpPr>
          <p:cNvPr id="30" name="">
            <a:extLst xmlns:a="http://schemas.openxmlformats.org/drawingml/2006/main">
              <a:ext uri="{FF2B5EF4-FFF2-40B4-BE49-F238E27FC236}">
                <a16:creationId xmlns:a16="http://schemas.microsoft.com/office/drawing/2014/main" id="{0A19E6E3-722B-4C8A-91D1-3D7127ECD8FE}"/>
              </a:ext>
            </a:extLst>
          </p:cNvPr>
          <p:cNvSpPr>
            <a:spLocks xmlns:a="http://schemas.openxmlformats.org/drawingml/2006/main" noGrp="1"/>
          </p:cNvSpPr>
          <p:nvPr/>
        </p:nvSpPr>
        <p:spPr>
          <a:xfrm xmlns:a="http://schemas.openxmlformats.org/drawingml/2006/main">
            <a:off x="1304925" y="4743450"/>
            <a:ext cx="3238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87984"/>
                </a:solidFill>
                <a:latin typeface="Lato"/>
                <a:ea typeface="Lato"/>
                <a:cs typeface="Lato"/>
              </a:defRPr>
            </a:pPr>
            <a:r>
              <a:rPr sz="825" b="0">
                <a:solidFill>
                  <a:srgbClr val="687984"/>
                </a:solidFill>
                <a:latin typeface="Lato"/>
                <a:ea typeface="Lato"/>
                <a:cs typeface="Lato"/>
              </a:rPr>
              <a:t>min</a:t>
            </a:r>
          </a:p>
        </p:txBody>
      </p:sp>
      <p:sp>
        <p:nvSpPr>
          <p:cNvPr id="31" name="">
            <a:extLst xmlns:a="http://schemas.openxmlformats.org/drawingml/2006/main">
              <a:ext uri="{FF2B5EF4-FFF2-40B4-BE49-F238E27FC236}">
                <a16:creationId xmlns:a16="http://schemas.microsoft.com/office/drawing/2014/main" id="{ED296CEC-1148-4AAA-90FB-7F0F5CE53E0E}"/>
              </a:ext>
            </a:extLst>
          </p:cNvPr>
          <p:cNvSpPr>
            <a:spLocks xmlns:a="http://schemas.openxmlformats.org/drawingml/2006/main" noGrp="1"/>
          </p:cNvSpPr>
          <p:nvPr/>
        </p:nvSpPr>
        <p:spPr>
          <a:xfrm xmlns:a="http://schemas.openxmlformats.org/drawingml/2006/main">
            <a:off x="1943100" y="4629150"/>
            <a:ext cx="442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1">
                <a:solidFill>
                  <a:srgbClr val="12304E"/>
                </a:solidFill>
                <a:latin typeface="Lato"/>
                <a:ea typeface="Lato"/>
                <a:cs typeface="Lato"/>
              </a:defRPr>
            </a:pPr>
            <a:r>
              <a:rPr sz="1575" b="1">
                <a:solidFill>
                  <a:srgbClr val="12304E"/>
                </a:solidFill>
                <a:latin typeface="Lato"/>
                <a:ea typeface="Lato"/>
                <a:cs typeface="Lato"/>
              </a:rPr>
              <a:t>Advanced outputs with Andrea</a:t>
            </a:r>
          </a:p>
        </p:txBody>
      </p:sp>
      <p:sp>
        <p:nvSpPr>
          <p:cNvPr id="32" name="">
            <a:extLst xmlns:a="http://schemas.openxmlformats.org/drawingml/2006/main">
              <a:ext uri="{FF2B5EF4-FFF2-40B4-BE49-F238E27FC236}">
                <a16:creationId xmlns:a16="http://schemas.microsoft.com/office/drawing/2014/main" id="{77DC334C-3CD9-4C70-BB7C-A572519F567B}"/>
              </a:ext>
            </a:extLst>
          </p:cNvPr>
          <p:cNvSpPr>
            <a:spLocks xmlns:a="http://schemas.openxmlformats.org/drawingml/2006/main" noGrp="1"/>
          </p:cNvSpPr>
          <p:nvPr/>
        </p:nvSpPr>
        <p:spPr>
          <a:xfrm xmlns:a="http://schemas.openxmlformats.org/drawingml/2006/main">
            <a:off x="6905625" y="4676775"/>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125" b="0">
                <a:solidFill>
                  <a:srgbClr val="687984"/>
                </a:solidFill>
                <a:latin typeface="Lato"/>
                <a:ea typeface="Lato"/>
                <a:cs typeface="Lato"/>
              </a:defRPr>
            </a:pPr>
            <a:r>
              <a:rPr sz="1125" b="0">
                <a:solidFill>
                  <a:srgbClr val="687984"/>
                </a:solidFill>
                <a:latin typeface="Lato"/>
                <a:ea typeface="Lato"/>
                <a:cs typeface="Lato"/>
              </a:rPr>
              <a:t>Climate report and processed data</a:t>
            </a:r>
          </a:p>
        </p:txBody>
      </p:sp>
      <p:sp>
        <p:nvSpPr>
          <p:cNvPr id="33" name="">
            <a:extLst xmlns:a="http://schemas.openxmlformats.org/drawingml/2006/main">
              <a:ext uri="{FF2B5EF4-FFF2-40B4-BE49-F238E27FC236}">
                <a16:creationId xmlns:a16="http://schemas.microsoft.com/office/drawing/2014/main" id="{D9B06EBD-EDCE-4611-9A08-380CAF4F7A21}"/>
              </a:ext>
            </a:extLst>
          </p:cNvPr>
          <p:cNvSpPr>
            <a:spLocks xmlns:a="http://schemas.openxmlformats.org/drawingml/2006/main" noGrp="1"/>
          </p:cNvSpPr>
          <p:nvPr/>
        </p:nvSpPr>
        <p:spPr>
          <a:xfrm xmlns:a="http://schemas.openxmlformats.org/drawingml/2006/main">
            <a:off x="647700" y="5838825"/>
            <a:ext cx="1087755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0726751D-897C-4EB5-BD25-59DA0D9466CC}"/>
              </a:ext>
            </a:extLst>
          </p:cNvPr>
          <p:cNvSpPr>
            <a:spLocks xmlns:a="http://schemas.openxmlformats.org/drawingml/2006/main" noGrp="1"/>
          </p:cNvSpPr>
          <p:nvPr/>
        </p:nvSpPr>
        <p:spPr>
          <a:xfrm xmlns:a="http://schemas.openxmlformats.org/drawingml/2006/main">
            <a:off x="685800" y="5314950"/>
            <a:ext cx="685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950" b="1">
                <a:solidFill>
                  <a:srgbClr val="00A88F"/>
                </a:solidFill>
                <a:latin typeface="Lato"/>
                <a:ea typeface="Lato"/>
                <a:cs typeface="Lato"/>
              </a:defRPr>
            </a:pPr>
            <a:r>
              <a:rPr sz="1950" b="1">
                <a:solidFill>
                  <a:srgbClr val="00A88F"/>
                </a:solidFill>
                <a:latin typeface="Lato"/>
                <a:ea typeface="Lato"/>
                <a:cs typeface="Lato"/>
              </a:rPr>
              <a:t>05</a:t>
            </a:r>
          </a:p>
        </p:txBody>
      </p:sp>
      <p:sp>
        <p:nvSpPr>
          <p:cNvPr id="35" name="">
            <a:extLst xmlns:a="http://schemas.openxmlformats.org/drawingml/2006/main">
              <a:ext uri="{FF2B5EF4-FFF2-40B4-BE49-F238E27FC236}">
                <a16:creationId xmlns:a16="http://schemas.microsoft.com/office/drawing/2014/main" id="{90880CF1-09B5-46E2-91B4-6B4B1FCC9310}"/>
              </a:ext>
            </a:extLst>
          </p:cNvPr>
          <p:cNvSpPr>
            <a:spLocks xmlns:a="http://schemas.openxmlformats.org/drawingml/2006/main" noGrp="1"/>
          </p:cNvSpPr>
          <p:nvPr/>
        </p:nvSpPr>
        <p:spPr>
          <a:xfrm xmlns:a="http://schemas.openxmlformats.org/drawingml/2006/main">
            <a:off x="1304925" y="5429250"/>
            <a:ext cx="3238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87984"/>
                </a:solidFill>
                <a:latin typeface="Lato"/>
                <a:ea typeface="Lato"/>
                <a:cs typeface="Lato"/>
              </a:defRPr>
            </a:pPr>
            <a:r>
              <a:rPr sz="825" b="0">
                <a:solidFill>
                  <a:srgbClr val="687984"/>
                </a:solidFill>
                <a:latin typeface="Lato"/>
                <a:ea typeface="Lato"/>
                <a:cs typeface="Lato"/>
              </a:rPr>
              <a:t>min</a:t>
            </a:r>
          </a:p>
        </p:txBody>
      </p:sp>
      <p:sp>
        <p:nvSpPr>
          <p:cNvPr id="36" name="">
            <a:extLst xmlns:a="http://schemas.openxmlformats.org/drawingml/2006/main">
              <a:ext uri="{FF2B5EF4-FFF2-40B4-BE49-F238E27FC236}">
                <a16:creationId xmlns:a16="http://schemas.microsoft.com/office/drawing/2014/main" id="{2FCA97F1-A2A0-4E6D-BF08-6957926B2CBE}"/>
              </a:ext>
            </a:extLst>
          </p:cNvPr>
          <p:cNvSpPr>
            <a:spLocks xmlns:a="http://schemas.openxmlformats.org/drawingml/2006/main" noGrp="1"/>
          </p:cNvSpPr>
          <p:nvPr/>
        </p:nvSpPr>
        <p:spPr>
          <a:xfrm xmlns:a="http://schemas.openxmlformats.org/drawingml/2006/main">
            <a:off x="1943100" y="5314950"/>
            <a:ext cx="4429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1">
                <a:solidFill>
                  <a:srgbClr val="12304E"/>
                </a:solidFill>
                <a:latin typeface="Lato"/>
                <a:ea typeface="Lato"/>
                <a:cs typeface="Lato"/>
              </a:defRPr>
            </a:pPr>
            <a:r>
              <a:rPr sz="1575" b="1">
                <a:solidFill>
                  <a:srgbClr val="12304E"/>
                </a:solidFill>
                <a:latin typeface="Lato"/>
                <a:ea typeface="Lato"/>
                <a:cs typeface="Lato"/>
              </a:rPr>
              <a:t>Questions and next steps</a:t>
            </a:r>
          </a:p>
        </p:txBody>
      </p:sp>
      <p:sp>
        <p:nvSpPr>
          <p:cNvPr id="37" name="">
            <a:extLst xmlns:a="http://schemas.openxmlformats.org/drawingml/2006/main">
              <a:ext uri="{FF2B5EF4-FFF2-40B4-BE49-F238E27FC236}">
                <a16:creationId xmlns:a16="http://schemas.microsoft.com/office/drawing/2014/main" id="{A55B326A-0439-4DB7-BBF9-6568DC325BCE}"/>
              </a:ext>
            </a:extLst>
          </p:cNvPr>
          <p:cNvSpPr>
            <a:spLocks xmlns:a="http://schemas.openxmlformats.org/drawingml/2006/main" noGrp="1"/>
          </p:cNvSpPr>
          <p:nvPr/>
        </p:nvSpPr>
        <p:spPr>
          <a:xfrm xmlns:a="http://schemas.openxmlformats.org/drawingml/2006/main">
            <a:off x="6905625" y="5362575"/>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125" b="0">
                <a:solidFill>
                  <a:srgbClr val="687984"/>
                </a:solidFill>
                <a:latin typeface="Lato"/>
                <a:ea typeface="Lato"/>
                <a:cs typeface="Lato"/>
              </a:defRPr>
            </a:pPr>
            <a:r>
              <a:rPr sz="1125" b="0">
                <a:solidFill>
                  <a:srgbClr val="687984"/>
                </a:solidFill>
                <a:latin typeface="Lato"/>
                <a:ea typeface="Lato"/>
                <a:cs typeface="Lato"/>
              </a:rPr>
              <a:t>Connect the map to Module 3</a:t>
            </a:r>
          </a:p>
        </p:txBody>
      </p:sp>
    </p:spTree>
    <p:extLst>
      <p:ext uri="{BB962C8B-B14F-4D97-AF65-F5344CB8AC3E}">
        <p14:creationId xmlns:p14="http://schemas.microsoft.com/office/powerpoint/2010/main" val="1008319310"/>
      </p:ext>
    </p:extLst>
  </p:cSld>
</p:sld>
</file>

<file path=ppt/slides/slide3.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0784B05B-D6A8-4521-BD23-BA46DEF70B16}"/>
              </a:ext>
            </a:extLst>
          </p:cNvPr>
          <p:cNvSpPr>
            <a:spLocks xmlns:a="http://schemas.openxmlformats.org/drawingml/2006/main" noGrp="1"/>
          </p:cNvSpPr>
          <p:nvPr/>
        </p:nvSpPr>
        <p:spPr>
          <a:xfrm xmlns:a="http://schemas.openxmlformats.org/drawingml/2006/main">
            <a:off x="628650" y="438150"/>
            <a:ext cx="108966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a:solidFill>
                  <a:srgbClr val="12304E"/>
                </a:solidFill>
                <a:latin typeface="Lato"/>
                <a:ea typeface="Lato"/>
                <a:cs typeface="Lato"/>
              </a:defRPr>
            </a:pPr>
            <a:r>
              <a:rPr sz="2325" b="1">
                <a:solidFill>
                  <a:srgbClr val="12304E"/>
                </a:solidFill>
                <a:latin typeface="Lato"/>
                <a:ea typeface="Lato"/>
                <a:cs typeface="Lato"/>
              </a:rPr>
              <a:t>A project question becomes five choices</a:t>
            </a:r>
          </a:p>
        </p:txBody>
      </p:sp>
      <p:sp>
        <p:nvSpPr>
          <p:cNvPr id="2" name="">
            <a:extLst xmlns:a="http://schemas.openxmlformats.org/drawingml/2006/main">
              <a:ext uri="{FF2B5EF4-FFF2-40B4-BE49-F238E27FC236}">
                <a16:creationId xmlns:a16="http://schemas.microsoft.com/office/drawing/2014/main" id="{BA27AB8B-7470-4207-8B15-758E52FDB150}"/>
              </a:ext>
            </a:extLst>
          </p:cNvPr>
          <p:cNvSpPr>
            <a:spLocks xmlns:a="http://schemas.openxmlformats.org/drawingml/2006/main" noGrp="1"/>
          </p:cNvSpPr>
          <p:nvPr/>
        </p:nvSpPr>
        <p:spPr>
          <a:xfrm xmlns:a="http://schemas.openxmlformats.org/drawingml/2006/main">
            <a:off x="647700" y="971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125" b="0">
                <a:solidFill>
                  <a:srgbClr val="687984"/>
                </a:solidFill>
                <a:latin typeface="Lato"/>
                <a:ea typeface="Lato"/>
                <a:cs typeface="Lato"/>
              </a:defRPr>
            </a:pPr>
            <a:r>
              <a:rPr sz="1125" b="0">
                <a:solidFill>
                  <a:srgbClr val="687984"/>
                </a:solidFill>
                <a:latin typeface="Lato"/>
                <a:ea typeface="Lato"/>
                <a:cs typeface="Lato"/>
              </a:rPr>
              <a:t>The choices come before the first map click</a:t>
            </a:r>
          </a:p>
        </p:txBody>
      </p:sp>
      <p:sp>
        <p:nvSpPr>
          <p:cNvPr id="3" name="">
            <a:extLst xmlns:a="http://schemas.openxmlformats.org/drawingml/2006/main">
              <a:ext uri="{FF2B5EF4-FFF2-40B4-BE49-F238E27FC236}">
                <a16:creationId xmlns:a16="http://schemas.microsoft.com/office/drawing/2014/main" id="{E049E10B-80AF-43AA-907E-17E8D951A81B}"/>
              </a:ext>
            </a:extLst>
          </p:cNvPr>
          <p:cNvSpPr>
            <a:spLocks xmlns:a="http://schemas.openxmlformats.org/drawingml/2006/main" noGrp="1"/>
          </p:cNvSpPr>
          <p:nvPr/>
        </p:nvSpPr>
        <p:spPr>
          <a:xfrm xmlns:a="http://schemas.openxmlformats.org/drawingml/2006/main">
            <a:off x="647700" y="1390650"/>
            <a:ext cx="1089660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04AE5FF-00AB-4879-9905-0F7B1293562B}"/>
              </a:ext>
            </a:extLst>
          </p:cNvPr>
          <p:cNvSpPr>
            <a:spLocks xmlns:a="http://schemas.openxmlformats.org/drawingml/2006/main" noGrp="1"/>
          </p:cNvSpPr>
          <p:nvPr/>
        </p:nvSpPr>
        <p:spPr>
          <a:xfrm xmlns:a="http://schemas.openxmlformats.org/drawingml/2006/main">
            <a:off x="657225" y="1495425"/>
            <a:ext cx="990600" cy="28575"/>
          </a:xfrm>
          <a:prstGeom xmlns:a="http://schemas.openxmlformats.org/drawingml/2006/main" prst="rect">
            <a:avLst/>
          </a:prstGeom>
          <a:solidFill xmlns:a="http://schemas.openxmlformats.org/drawingml/2006/main">
            <a:srgbClr val="F2B632"/>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857443-32F5-4E35-B71A-2F532CA3313C}"/>
              </a:ext>
            </a:extLst>
          </p:cNvPr>
          <p:cNvSpPr>
            <a:spLocks xmlns:a="http://schemas.openxmlformats.org/drawingml/2006/main" noGrp="1"/>
          </p:cNvSpPr>
          <p:nvPr/>
        </p:nvSpPr>
        <p:spPr>
          <a:xfrm xmlns:a="http://schemas.openxmlformats.org/drawingml/2006/main">
            <a:off x="647700" y="6238875"/>
            <a:ext cx="1089660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56B8325-C2AF-4626-B260-E5644DB9308D}"/>
              </a:ext>
            </a:extLst>
          </p:cNvPr>
          <p:cNvSpPr>
            <a:spLocks xmlns:a="http://schemas.openxmlformats.org/drawingml/2006/main" noGrp="1"/>
          </p:cNvSpPr>
          <p:nvPr/>
        </p:nvSpPr>
        <p:spPr>
          <a:xfrm xmlns:a="http://schemas.openxmlformats.org/drawingml/2006/main">
            <a:off x="657225" y="6353175"/>
            <a:ext cx="2381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750" b="1">
                <a:solidFill>
                  <a:srgbClr val="687984"/>
                </a:solidFill>
                <a:latin typeface="Lato"/>
                <a:ea typeface="Lato"/>
                <a:cs typeface="Lato"/>
              </a:defRPr>
            </a:pPr>
            <a:r>
              <a:rPr sz="750" b="1">
                <a:solidFill>
                  <a:srgbClr val="687984"/>
                </a:solidFill>
                <a:latin typeface="Lato"/>
                <a:ea typeface="Lato"/>
                <a:cs typeface="Lato"/>
              </a:rPr>
              <a:t>CAVA MODULE 2</a:t>
            </a:r>
          </a:p>
        </p:txBody>
      </p:sp>
      <p:sp>
        <p:nvSpPr>
          <p:cNvPr id="7" name="">
            <a:extLst xmlns:a="http://schemas.openxmlformats.org/drawingml/2006/main">
              <a:ext uri="{FF2B5EF4-FFF2-40B4-BE49-F238E27FC236}">
                <a16:creationId xmlns:a16="http://schemas.microsoft.com/office/drawing/2014/main" id="{08D84848-AA10-4695-9833-C95496609BFD}"/>
              </a:ext>
            </a:extLst>
          </p:cNvPr>
          <p:cNvSpPr>
            <a:spLocks xmlns:a="http://schemas.openxmlformats.org/drawingml/2006/main" noGrp="1"/>
          </p:cNvSpPr>
          <p:nvPr/>
        </p:nvSpPr>
        <p:spPr>
          <a:xfrm xmlns:a="http://schemas.openxmlformats.org/drawingml/2006/main">
            <a:off x="11049000" y="6343650"/>
            <a:ext cx="4572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2000"/>
              </a:lnSpc>
              <a:buNone/>
              <a:defRPr sz="750" b="0">
                <a:solidFill>
                  <a:srgbClr val="687984"/>
                </a:solidFill>
                <a:latin typeface="Lato"/>
                <a:ea typeface="Lato"/>
                <a:cs typeface="Lato"/>
              </a:defRPr>
            </a:pPr>
            <a:r>
              <a:rPr sz="750" b="0">
                <a:solidFill>
                  <a:srgbClr val="687984"/>
                </a:solidFill>
                <a:latin typeface="Lato"/>
                <a:ea typeface="Lato"/>
                <a:cs typeface="Lato"/>
              </a:rPr>
              <a:t>03</a:t>
            </a:r>
          </a:p>
        </p:txBody>
      </p:sp>
      <p:sp>
        <p:nvSpPr>
          <p:cNvPr id="8" name="">
            <a:extLst xmlns:a="http://schemas.openxmlformats.org/drawingml/2006/main">
              <a:ext uri="{FF2B5EF4-FFF2-40B4-BE49-F238E27FC236}">
                <a16:creationId xmlns:a16="http://schemas.microsoft.com/office/drawing/2014/main" id="{AD41AFB0-92C6-4CDC-A62B-B32F96747647}"/>
              </a:ext>
            </a:extLst>
          </p:cNvPr>
          <p:cNvSpPr>
            <a:spLocks xmlns:a="http://schemas.openxmlformats.org/drawingml/2006/main" noGrp="1"/>
          </p:cNvSpPr>
          <p:nvPr/>
        </p:nvSpPr>
        <p:spPr>
          <a:xfrm xmlns:a="http://schemas.openxmlformats.org/drawingml/2006/main">
            <a:off x="647700" y="1819275"/>
            <a:ext cx="10048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8000"/>
              </a:lnSpc>
              <a:buNone/>
              <a:defRPr sz="2550" b="1">
                <a:solidFill>
                  <a:srgbClr val="12304E"/>
                </a:solidFill>
                <a:latin typeface="Lato"/>
                <a:ea typeface="Lato"/>
                <a:cs typeface="Lato"/>
              </a:defRPr>
            </a:pPr>
            <a:r>
              <a:rPr sz="2550" b="1">
                <a:solidFill>
                  <a:srgbClr val="12304E"/>
                </a:solidFill>
                <a:latin typeface="Lato"/>
                <a:ea typeface="Lato"/>
                <a:cs typeface="Lato"/>
              </a:rPr>
              <a:t>How will extreme heat change in our project area over the next 30 years?</a:t>
            </a:r>
          </a:p>
        </p:txBody>
      </p:sp>
      <p:sp>
        <p:nvSpPr>
          <p:cNvPr id="9" name="">
            <a:extLst xmlns:a="http://schemas.openxmlformats.org/drawingml/2006/main">
              <a:ext uri="{FF2B5EF4-FFF2-40B4-BE49-F238E27FC236}">
                <a16:creationId xmlns:a16="http://schemas.microsoft.com/office/drawing/2014/main" id="{DA9CC3C9-ECE1-44C3-B367-38DB8DA68239}"/>
              </a:ext>
            </a:extLst>
          </p:cNvPr>
          <p:cNvSpPr>
            <a:spLocks xmlns:a="http://schemas.openxmlformats.org/drawingml/2006/main" noGrp="1"/>
          </p:cNvSpPr>
          <p:nvPr/>
        </p:nvSpPr>
        <p:spPr>
          <a:xfrm xmlns:a="http://schemas.openxmlformats.org/drawingml/2006/main">
            <a:off x="657225" y="2876550"/>
            <a:ext cx="10668000" cy="28575"/>
          </a:xfrm>
          <a:prstGeom xmlns:a="http://schemas.openxmlformats.org/drawingml/2006/main" prst="rect">
            <a:avLst/>
          </a:prstGeom>
          <a:solidFill xmlns:a="http://schemas.openxmlformats.org/drawingml/2006/main">
            <a:srgbClr val="F2B63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7C931D6-6923-41DF-801E-915C812E0E5C}"/>
              </a:ext>
            </a:extLst>
          </p:cNvPr>
          <p:cNvSpPr>
            <a:spLocks xmlns:a="http://schemas.openxmlformats.org/drawingml/2006/main" noGrp="1"/>
          </p:cNvSpPr>
          <p:nvPr/>
        </p:nvSpPr>
        <p:spPr>
          <a:xfrm xmlns:a="http://schemas.openxmlformats.org/drawingml/2006/main">
            <a:off x="647700" y="3257550"/>
            <a:ext cx="647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100" b="1">
                <a:solidFill>
                  <a:srgbClr val="00A88F"/>
                </a:solidFill>
                <a:latin typeface="Lato"/>
                <a:ea typeface="Lato"/>
                <a:cs typeface="Lato"/>
              </a:defRPr>
            </a:pPr>
            <a:r>
              <a:rPr sz="2100" b="1">
                <a:solidFill>
                  <a:srgbClr val="00A88F"/>
                </a:solidFill>
                <a:latin typeface="Lato"/>
                <a:ea typeface="Lato"/>
                <a:cs typeface="Lato"/>
              </a:rPr>
              <a:t>01</a:t>
            </a:r>
          </a:p>
        </p:txBody>
      </p:sp>
      <p:sp>
        <p:nvSpPr>
          <p:cNvPr id="11" name="">
            <a:extLst xmlns:a="http://schemas.openxmlformats.org/drawingml/2006/main">
              <a:ext uri="{FF2B5EF4-FFF2-40B4-BE49-F238E27FC236}">
                <a16:creationId xmlns:a16="http://schemas.microsoft.com/office/drawing/2014/main" id="{DD8905CC-4DEE-4D98-B12C-03712FB7F714}"/>
              </a:ext>
            </a:extLst>
          </p:cNvPr>
          <p:cNvSpPr>
            <a:spLocks xmlns:a="http://schemas.openxmlformats.org/drawingml/2006/main" noGrp="1"/>
          </p:cNvSpPr>
          <p:nvPr/>
        </p:nvSpPr>
        <p:spPr>
          <a:xfrm xmlns:a="http://schemas.openxmlformats.org/drawingml/2006/main">
            <a:off x="647700" y="3819525"/>
            <a:ext cx="1952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650" b="1">
                <a:solidFill>
                  <a:srgbClr val="12304E"/>
                </a:solidFill>
                <a:latin typeface="Lato"/>
                <a:ea typeface="Lato"/>
                <a:cs typeface="Lato"/>
              </a:defRPr>
            </a:pPr>
            <a:r>
              <a:rPr sz="1650" b="1">
                <a:solidFill>
                  <a:srgbClr val="12304E"/>
                </a:solidFill>
                <a:latin typeface="Lato"/>
                <a:ea typeface="Lato"/>
                <a:cs typeface="Lato"/>
              </a:rPr>
              <a:t>Area</a:t>
            </a:r>
          </a:p>
        </p:txBody>
      </p:sp>
      <p:sp>
        <p:nvSpPr>
          <p:cNvPr id="12" name="">
            <a:extLst xmlns:a="http://schemas.openxmlformats.org/drawingml/2006/main">
              <a:ext uri="{FF2B5EF4-FFF2-40B4-BE49-F238E27FC236}">
                <a16:creationId xmlns:a16="http://schemas.microsoft.com/office/drawing/2014/main" id="{809BCEAD-A5A5-4429-8181-B447D2E315BE}"/>
              </a:ext>
            </a:extLst>
          </p:cNvPr>
          <p:cNvSpPr>
            <a:spLocks xmlns:a="http://schemas.openxmlformats.org/drawingml/2006/main" noGrp="1"/>
          </p:cNvSpPr>
          <p:nvPr/>
        </p:nvSpPr>
        <p:spPr>
          <a:xfrm xmlns:a="http://schemas.openxmlformats.org/drawingml/2006/main">
            <a:off x="647700" y="4257675"/>
            <a:ext cx="18859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1275" b="0">
                <a:solidFill>
                  <a:srgbClr val="687984"/>
                </a:solidFill>
                <a:latin typeface="Lato"/>
                <a:ea typeface="Lato"/>
                <a:cs typeface="Lato"/>
              </a:defRPr>
            </a:pPr>
            <a:r>
              <a:rPr sz="1275" b="0">
                <a:solidFill>
                  <a:srgbClr val="687984"/>
                </a:solidFill>
                <a:latin typeface="Lato"/>
                <a:ea typeface="Lato"/>
                <a:cs typeface="Lato"/>
              </a:rPr>
              <a:t>Which geography or project boundary?</a:t>
            </a:r>
          </a:p>
        </p:txBody>
      </p:sp>
      <p:sp>
        <p:nvSpPr>
          <p:cNvPr id="13" name="">
            <a:extLst xmlns:a="http://schemas.openxmlformats.org/drawingml/2006/main">
              <a:ext uri="{FF2B5EF4-FFF2-40B4-BE49-F238E27FC236}">
                <a16:creationId xmlns:a16="http://schemas.microsoft.com/office/drawing/2014/main" id="{16517C29-4231-49AC-87F1-B8BAF7F021A7}"/>
              </a:ext>
            </a:extLst>
          </p:cNvPr>
          <p:cNvSpPr>
            <a:spLocks xmlns:a="http://schemas.openxmlformats.org/drawingml/2006/main" noGrp="1"/>
          </p:cNvSpPr>
          <p:nvPr/>
        </p:nvSpPr>
        <p:spPr>
          <a:xfrm xmlns:a="http://schemas.openxmlformats.org/drawingml/2006/main">
            <a:off x="2857500" y="3257550"/>
            <a:ext cx="647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100" b="1">
                <a:solidFill>
                  <a:srgbClr val="00A88F"/>
                </a:solidFill>
                <a:latin typeface="Lato"/>
                <a:ea typeface="Lato"/>
                <a:cs typeface="Lato"/>
              </a:defRPr>
            </a:pPr>
            <a:r>
              <a:rPr sz="2100" b="1">
                <a:solidFill>
                  <a:srgbClr val="00A88F"/>
                </a:solidFill>
                <a:latin typeface="Lato"/>
                <a:ea typeface="Lato"/>
                <a:cs typeface="Lato"/>
              </a:rPr>
              <a:t>02</a:t>
            </a:r>
          </a:p>
        </p:txBody>
      </p:sp>
      <p:sp>
        <p:nvSpPr>
          <p:cNvPr id="14" name="">
            <a:extLst xmlns:a="http://schemas.openxmlformats.org/drawingml/2006/main">
              <a:ext uri="{FF2B5EF4-FFF2-40B4-BE49-F238E27FC236}">
                <a16:creationId xmlns:a16="http://schemas.microsoft.com/office/drawing/2014/main" id="{CFB93E23-D269-4135-A027-C65AC09B36CD}"/>
              </a:ext>
            </a:extLst>
          </p:cNvPr>
          <p:cNvSpPr>
            <a:spLocks xmlns:a="http://schemas.openxmlformats.org/drawingml/2006/main" noGrp="1"/>
          </p:cNvSpPr>
          <p:nvPr/>
        </p:nvSpPr>
        <p:spPr>
          <a:xfrm xmlns:a="http://schemas.openxmlformats.org/drawingml/2006/main">
            <a:off x="2857500" y="3819525"/>
            <a:ext cx="1952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650" b="1">
                <a:solidFill>
                  <a:srgbClr val="12304E"/>
                </a:solidFill>
                <a:latin typeface="Lato"/>
                <a:ea typeface="Lato"/>
                <a:cs typeface="Lato"/>
              </a:defRPr>
            </a:pPr>
            <a:r>
              <a:rPr sz="1650" b="1">
                <a:solidFill>
                  <a:srgbClr val="12304E"/>
                </a:solidFill>
                <a:latin typeface="Lato"/>
                <a:ea typeface="Lato"/>
                <a:cs typeface="Lato"/>
              </a:rPr>
              <a:t>Indicator</a:t>
            </a:r>
          </a:p>
        </p:txBody>
      </p:sp>
      <p:sp>
        <p:nvSpPr>
          <p:cNvPr id="15" name="">
            <a:extLst xmlns:a="http://schemas.openxmlformats.org/drawingml/2006/main">
              <a:ext uri="{FF2B5EF4-FFF2-40B4-BE49-F238E27FC236}">
                <a16:creationId xmlns:a16="http://schemas.microsoft.com/office/drawing/2014/main" id="{A0674F3D-6EB2-4681-A546-C0E144E173B8}"/>
              </a:ext>
            </a:extLst>
          </p:cNvPr>
          <p:cNvSpPr>
            <a:spLocks xmlns:a="http://schemas.openxmlformats.org/drawingml/2006/main" noGrp="1"/>
          </p:cNvSpPr>
          <p:nvPr/>
        </p:nvSpPr>
        <p:spPr>
          <a:xfrm xmlns:a="http://schemas.openxmlformats.org/drawingml/2006/main">
            <a:off x="2857500" y="4257675"/>
            <a:ext cx="18859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1275" b="0">
                <a:solidFill>
                  <a:srgbClr val="687984"/>
                </a:solidFill>
                <a:latin typeface="Lato"/>
                <a:ea typeface="Lato"/>
                <a:cs typeface="Lato"/>
              </a:defRPr>
            </a:pPr>
            <a:r>
              <a:rPr sz="1275" b="0">
                <a:solidFill>
                  <a:srgbClr val="687984"/>
                </a:solidFill>
                <a:latin typeface="Lato"/>
                <a:ea typeface="Lato"/>
                <a:cs typeface="Lato"/>
              </a:rPr>
              <a:t>What represents extreme heat?</a:t>
            </a:r>
          </a:p>
        </p:txBody>
      </p:sp>
      <p:sp>
        <p:nvSpPr>
          <p:cNvPr id="16" name="">
            <a:extLst xmlns:a="http://schemas.openxmlformats.org/drawingml/2006/main">
              <a:ext uri="{FF2B5EF4-FFF2-40B4-BE49-F238E27FC236}">
                <a16:creationId xmlns:a16="http://schemas.microsoft.com/office/drawing/2014/main" id="{D2595DBD-9F37-44D4-A76D-D87332CC4A62}"/>
              </a:ext>
            </a:extLst>
          </p:cNvPr>
          <p:cNvSpPr>
            <a:spLocks xmlns:a="http://schemas.openxmlformats.org/drawingml/2006/main" noGrp="1"/>
          </p:cNvSpPr>
          <p:nvPr/>
        </p:nvSpPr>
        <p:spPr>
          <a:xfrm xmlns:a="http://schemas.openxmlformats.org/drawingml/2006/main">
            <a:off x="5067300" y="3257550"/>
            <a:ext cx="647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100" b="1">
                <a:solidFill>
                  <a:srgbClr val="00A88F"/>
                </a:solidFill>
                <a:latin typeface="Lato"/>
                <a:ea typeface="Lato"/>
                <a:cs typeface="Lato"/>
              </a:defRPr>
            </a:pPr>
            <a:r>
              <a:rPr sz="2100" b="1">
                <a:solidFill>
                  <a:srgbClr val="00A88F"/>
                </a:solidFill>
                <a:latin typeface="Lato"/>
                <a:ea typeface="Lato"/>
                <a:cs typeface="Lato"/>
              </a:rPr>
              <a:t>03</a:t>
            </a:r>
          </a:p>
        </p:txBody>
      </p:sp>
      <p:sp>
        <p:nvSpPr>
          <p:cNvPr id="17" name="">
            <a:extLst xmlns:a="http://schemas.openxmlformats.org/drawingml/2006/main">
              <a:ext uri="{FF2B5EF4-FFF2-40B4-BE49-F238E27FC236}">
                <a16:creationId xmlns:a16="http://schemas.microsoft.com/office/drawing/2014/main" id="{43105C28-6F9D-48D1-BF6B-79E90EBAF9F2}"/>
              </a:ext>
            </a:extLst>
          </p:cNvPr>
          <p:cNvSpPr>
            <a:spLocks xmlns:a="http://schemas.openxmlformats.org/drawingml/2006/main" noGrp="1"/>
          </p:cNvSpPr>
          <p:nvPr/>
        </p:nvSpPr>
        <p:spPr>
          <a:xfrm xmlns:a="http://schemas.openxmlformats.org/drawingml/2006/main">
            <a:off x="5067300" y="3819525"/>
            <a:ext cx="1952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650" b="1">
                <a:solidFill>
                  <a:srgbClr val="12304E"/>
                </a:solidFill>
                <a:latin typeface="Lato"/>
                <a:ea typeface="Lato"/>
                <a:cs typeface="Lato"/>
              </a:defRPr>
            </a:pPr>
            <a:r>
              <a:rPr sz="1650" b="1">
                <a:solidFill>
                  <a:srgbClr val="12304E"/>
                </a:solidFill>
                <a:latin typeface="Lato"/>
                <a:ea typeface="Lato"/>
                <a:cs typeface="Lato"/>
              </a:rPr>
              <a:t>Reference</a:t>
            </a:r>
          </a:p>
        </p:txBody>
      </p:sp>
      <p:sp>
        <p:nvSpPr>
          <p:cNvPr id="18" name="">
            <a:extLst xmlns:a="http://schemas.openxmlformats.org/drawingml/2006/main">
              <a:ext uri="{FF2B5EF4-FFF2-40B4-BE49-F238E27FC236}">
                <a16:creationId xmlns:a16="http://schemas.microsoft.com/office/drawing/2014/main" id="{461D24D8-640F-46DC-9D23-5E4B5C31B6A5}"/>
              </a:ext>
            </a:extLst>
          </p:cNvPr>
          <p:cNvSpPr>
            <a:spLocks xmlns:a="http://schemas.openxmlformats.org/drawingml/2006/main" noGrp="1"/>
          </p:cNvSpPr>
          <p:nvPr/>
        </p:nvSpPr>
        <p:spPr>
          <a:xfrm xmlns:a="http://schemas.openxmlformats.org/drawingml/2006/main">
            <a:off x="5067300" y="4257675"/>
            <a:ext cx="18859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1275" b="0">
                <a:solidFill>
                  <a:srgbClr val="687984"/>
                </a:solidFill>
                <a:latin typeface="Lato"/>
                <a:ea typeface="Lato"/>
                <a:cs typeface="Lato"/>
              </a:defRPr>
            </a:pPr>
            <a:r>
              <a:rPr sz="1275" b="0">
                <a:solidFill>
                  <a:srgbClr val="687984"/>
                </a:solidFill>
                <a:latin typeface="Lato"/>
                <a:ea typeface="Lato"/>
                <a:cs typeface="Lato"/>
              </a:rPr>
              <a:t>What historical period is the comparison?</a:t>
            </a:r>
          </a:p>
        </p:txBody>
      </p:sp>
      <p:sp>
        <p:nvSpPr>
          <p:cNvPr id="19" name="">
            <a:extLst xmlns:a="http://schemas.openxmlformats.org/drawingml/2006/main">
              <a:ext uri="{FF2B5EF4-FFF2-40B4-BE49-F238E27FC236}">
                <a16:creationId xmlns:a16="http://schemas.microsoft.com/office/drawing/2014/main" id="{624DCEB7-FFED-437F-AC43-53277E923486}"/>
              </a:ext>
            </a:extLst>
          </p:cNvPr>
          <p:cNvSpPr>
            <a:spLocks xmlns:a="http://schemas.openxmlformats.org/drawingml/2006/main" noGrp="1"/>
          </p:cNvSpPr>
          <p:nvPr/>
        </p:nvSpPr>
        <p:spPr>
          <a:xfrm xmlns:a="http://schemas.openxmlformats.org/drawingml/2006/main">
            <a:off x="7277100" y="3257550"/>
            <a:ext cx="647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100" b="1">
                <a:solidFill>
                  <a:srgbClr val="00A88F"/>
                </a:solidFill>
                <a:latin typeface="Lato"/>
                <a:ea typeface="Lato"/>
                <a:cs typeface="Lato"/>
              </a:defRPr>
            </a:pPr>
            <a:r>
              <a:rPr sz="2100" b="1">
                <a:solidFill>
                  <a:srgbClr val="00A88F"/>
                </a:solidFill>
                <a:latin typeface="Lato"/>
                <a:ea typeface="Lato"/>
                <a:cs typeface="Lato"/>
              </a:rPr>
              <a:t>04</a:t>
            </a:r>
          </a:p>
        </p:txBody>
      </p:sp>
      <p:sp>
        <p:nvSpPr>
          <p:cNvPr id="20" name="">
            <a:extLst xmlns:a="http://schemas.openxmlformats.org/drawingml/2006/main">
              <a:ext uri="{FF2B5EF4-FFF2-40B4-BE49-F238E27FC236}">
                <a16:creationId xmlns:a16="http://schemas.microsoft.com/office/drawing/2014/main" id="{560AA86D-DFDB-44A2-979E-5A0B79334419}"/>
              </a:ext>
            </a:extLst>
          </p:cNvPr>
          <p:cNvSpPr>
            <a:spLocks xmlns:a="http://schemas.openxmlformats.org/drawingml/2006/main" noGrp="1"/>
          </p:cNvSpPr>
          <p:nvPr/>
        </p:nvSpPr>
        <p:spPr>
          <a:xfrm xmlns:a="http://schemas.openxmlformats.org/drawingml/2006/main">
            <a:off x="7277100" y="3819525"/>
            <a:ext cx="1952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650" b="1">
                <a:solidFill>
                  <a:srgbClr val="12304E"/>
                </a:solidFill>
                <a:latin typeface="Lato"/>
                <a:ea typeface="Lato"/>
                <a:cs typeface="Lato"/>
              </a:defRPr>
            </a:pPr>
            <a:r>
              <a:rPr sz="1650" b="1">
                <a:solidFill>
                  <a:srgbClr val="12304E"/>
                </a:solidFill>
                <a:latin typeface="Lato"/>
                <a:ea typeface="Lato"/>
                <a:cs typeface="Lato"/>
              </a:rPr>
              <a:t>Scenario</a:t>
            </a:r>
          </a:p>
        </p:txBody>
      </p:sp>
      <p:sp>
        <p:nvSpPr>
          <p:cNvPr id="21" name="">
            <a:extLst xmlns:a="http://schemas.openxmlformats.org/drawingml/2006/main">
              <a:ext uri="{FF2B5EF4-FFF2-40B4-BE49-F238E27FC236}">
                <a16:creationId xmlns:a16="http://schemas.microsoft.com/office/drawing/2014/main" id="{0E425DA1-30A7-44BB-917C-0B7AE2314555}"/>
              </a:ext>
            </a:extLst>
          </p:cNvPr>
          <p:cNvSpPr>
            <a:spLocks xmlns:a="http://schemas.openxmlformats.org/drawingml/2006/main" noGrp="1"/>
          </p:cNvSpPr>
          <p:nvPr/>
        </p:nvSpPr>
        <p:spPr>
          <a:xfrm xmlns:a="http://schemas.openxmlformats.org/drawingml/2006/main">
            <a:off x="7277100" y="4257675"/>
            <a:ext cx="18859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1275" b="0">
                <a:solidFill>
                  <a:srgbClr val="687984"/>
                </a:solidFill>
                <a:latin typeface="Lato"/>
                <a:ea typeface="Lato"/>
                <a:cs typeface="Lato"/>
              </a:defRPr>
            </a:pPr>
            <a:r>
              <a:rPr sz="1275" b="0">
                <a:solidFill>
                  <a:srgbClr val="687984"/>
                </a:solidFill>
                <a:latin typeface="Lato"/>
                <a:ea typeface="Lato"/>
                <a:cs typeface="Lato"/>
              </a:rPr>
              <a:t>Which future pathway?</a:t>
            </a:r>
          </a:p>
        </p:txBody>
      </p:sp>
      <p:sp>
        <p:nvSpPr>
          <p:cNvPr id="22" name="">
            <a:extLst xmlns:a="http://schemas.openxmlformats.org/drawingml/2006/main">
              <a:ext uri="{FF2B5EF4-FFF2-40B4-BE49-F238E27FC236}">
                <a16:creationId xmlns:a16="http://schemas.microsoft.com/office/drawing/2014/main" id="{1D5DE0DC-4C72-442F-8A5F-B89888CC6DBA}"/>
              </a:ext>
            </a:extLst>
          </p:cNvPr>
          <p:cNvSpPr>
            <a:spLocks xmlns:a="http://schemas.openxmlformats.org/drawingml/2006/main" noGrp="1"/>
          </p:cNvSpPr>
          <p:nvPr/>
        </p:nvSpPr>
        <p:spPr>
          <a:xfrm xmlns:a="http://schemas.openxmlformats.org/drawingml/2006/main">
            <a:off x="9486900" y="3257550"/>
            <a:ext cx="647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100" b="1">
                <a:solidFill>
                  <a:srgbClr val="F2B632"/>
                </a:solidFill>
                <a:latin typeface="Lato"/>
                <a:ea typeface="Lato"/>
                <a:cs typeface="Lato"/>
              </a:defRPr>
            </a:pPr>
            <a:r>
              <a:rPr sz="2100" b="1">
                <a:solidFill>
                  <a:srgbClr val="F2B632"/>
                </a:solidFill>
                <a:latin typeface="Lato"/>
                <a:ea typeface="Lato"/>
                <a:cs typeface="Lato"/>
              </a:rPr>
              <a:t>05</a:t>
            </a:r>
          </a:p>
        </p:txBody>
      </p:sp>
      <p:sp>
        <p:nvSpPr>
          <p:cNvPr id="23" name="">
            <a:extLst xmlns:a="http://schemas.openxmlformats.org/drawingml/2006/main">
              <a:ext uri="{FF2B5EF4-FFF2-40B4-BE49-F238E27FC236}">
                <a16:creationId xmlns:a16="http://schemas.microsoft.com/office/drawing/2014/main" id="{CC687FA9-A78C-4EC3-BF76-D8F75E46A625}"/>
              </a:ext>
            </a:extLst>
          </p:cNvPr>
          <p:cNvSpPr>
            <a:spLocks xmlns:a="http://schemas.openxmlformats.org/drawingml/2006/main" noGrp="1"/>
          </p:cNvSpPr>
          <p:nvPr/>
        </p:nvSpPr>
        <p:spPr>
          <a:xfrm xmlns:a="http://schemas.openxmlformats.org/drawingml/2006/main">
            <a:off x="9486900" y="3819525"/>
            <a:ext cx="1952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650" b="1">
                <a:solidFill>
                  <a:srgbClr val="12304E"/>
                </a:solidFill>
                <a:latin typeface="Lato"/>
                <a:ea typeface="Lato"/>
                <a:cs typeface="Lato"/>
              </a:defRPr>
            </a:pPr>
            <a:r>
              <a:rPr sz="1650" b="1">
                <a:solidFill>
                  <a:srgbClr val="12304E"/>
                </a:solidFill>
                <a:latin typeface="Lato"/>
                <a:ea typeface="Lato"/>
                <a:cs typeface="Lato"/>
              </a:rPr>
              <a:t>Horizon</a:t>
            </a:r>
          </a:p>
        </p:txBody>
      </p:sp>
      <p:sp>
        <p:nvSpPr>
          <p:cNvPr id="24" name="">
            <a:extLst xmlns:a="http://schemas.openxmlformats.org/drawingml/2006/main">
              <a:ext uri="{FF2B5EF4-FFF2-40B4-BE49-F238E27FC236}">
                <a16:creationId xmlns:a16="http://schemas.microsoft.com/office/drawing/2014/main" id="{BDE7D344-95DB-4B66-915E-F4650455F929}"/>
              </a:ext>
            </a:extLst>
          </p:cNvPr>
          <p:cNvSpPr>
            <a:spLocks xmlns:a="http://schemas.openxmlformats.org/drawingml/2006/main" noGrp="1"/>
          </p:cNvSpPr>
          <p:nvPr/>
        </p:nvSpPr>
        <p:spPr>
          <a:xfrm xmlns:a="http://schemas.openxmlformats.org/drawingml/2006/main">
            <a:off x="9486900" y="4257675"/>
            <a:ext cx="18859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1275" b="0">
                <a:solidFill>
                  <a:srgbClr val="687984"/>
                </a:solidFill>
                <a:latin typeface="Lato"/>
                <a:ea typeface="Lato"/>
                <a:cs typeface="Lato"/>
              </a:defRPr>
            </a:pPr>
            <a:r>
              <a:rPr sz="1275" b="0">
                <a:solidFill>
                  <a:srgbClr val="687984"/>
                </a:solidFill>
                <a:latin typeface="Lato"/>
                <a:ea typeface="Lato"/>
                <a:cs typeface="Lato"/>
              </a:rPr>
              <a:t>Which future period matters for the decision?</a:t>
            </a:r>
          </a:p>
        </p:txBody>
      </p:sp>
      <p:sp>
        <p:nvSpPr>
          <p:cNvPr id="25" name="">
            <a:extLst xmlns:a="http://schemas.openxmlformats.org/drawingml/2006/main">
              <a:ext uri="{FF2B5EF4-FFF2-40B4-BE49-F238E27FC236}">
                <a16:creationId xmlns:a16="http://schemas.microsoft.com/office/drawing/2014/main" id="{359A3130-6FA7-47DF-812C-C94B01BD3102}"/>
              </a:ext>
            </a:extLst>
          </p:cNvPr>
          <p:cNvSpPr>
            <a:spLocks xmlns:a="http://schemas.openxmlformats.org/drawingml/2006/main" noGrp="1"/>
          </p:cNvSpPr>
          <p:nvPr/>
        </p:nvSpPr>
        <p:spPr>
          <a:xfrm xmlns:a="http://schemas.openxmlformats.org/drawingml/2006/main">
            <a:off x="666750" y="5791200"/>
            <a:ext cx="10334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0">
                <a:solidFill>
                  <a:srgbClr val="687984"/>
                </a:solidFill>
                <a:latin typeface="Lato"/>
                <a:ea typeface="Lato"/>
                <a:cs typeface="Lato"/>
              </a:defRPr>
            </a:pPr>
            <a:r>
              <a:rPr sz="975" b="0">
                <a:solidFill>
                  <a:srgbClr val="687984"/>
                </a:solidFill>
                <a:latin typeface="Lato"/>
                <a:ea typeface="Lato"/>
                <a:cs typeface="Lato"/>
              </a:rPr>
              <a:t>Teaching example: the threshold and location should reflect the actual project question.</a:t>
            </a:r>
          </a:p>
        </p:txBody>
      </p:sp>
    </p:spTree>
    <p:extLst>
      <p:ext uri="{BB962C8B-B14F-4D97-AF65-F5344CB8AC3E}">
        <p14:creationId xmlns:p14="http://schemas.microsoft.com/office/powerpoint/2010/main" val="1152623235"/>
      </p:ext>
    </p:extLst>
  </p:cSld>
</p:sld>
</file>

<file path=ppt/slides/slide4.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F773C1E-3C22-4275-8B01-77433CF1C034}"/>
              </a:ext>
            </a:extLst>
          </p:cNvPr>
          <p:cNvSpPr>
            <a:spLocks xmlns:a="http://schemas.openxmlformats.org/drawingml/2006/main" noGrp="1"/>
          </p:cNvSpPr>
          <p:nvPr/>
        </p:nvSpPr>
        <p:spPr>
          <a:xfrm xmlns:a="http://schemas.openxmlformats.org/drawingml/2006/main">
            <a:off x="628650" y="438150"/>
            <a:ext cx="108966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a:solidFill>
                  <a:srgbClr val="12304E"/>
                </a:solidFill>
                <a:latin typeface="Lato"/>
                <a:ea typeface="Lato"/>
                <a:cs typeface="Lato"/>
              </a:defRPr>
            </a:pPr>
            <a:r>
              <a:rPr sz="2325" b="1">
                <a:solidFill>
                  <a:srgbClr val="12304E"/>
                </a:solidFill>
                <a:latin typeface="Lato"/>
                <a:ea typeface="Lato"/>
                <a:cs typeface="Lato"/>
              </a:rPr>
              <a:t>The Platform at a glance</a:t>
            </a:r>
          </a:p>
        </p:txBody>
      </p:sp>
      <p:sp>
        <p:nvSpPr>
          <p:cNvPr id="2" name="">
            <a:extLst xmlns:a="http://schemas.openxmlformats.org/drawingml/2006/main">
              <a:ext uri="{FF2B5EF4-FFF2-40B4-BE49-F238E27FC236}">
                <a16:creationId xmlns:a16="http://schemas.microsoft.com/office/drawing/2014/main" id="{66D0121D-00E3-42F7-AAF5-4A43F89E28A3}"/>
              </a:ext>
            </a:extLst>
          </p:cNvPr>
          <p:cNvSpPr>
            <a:spLocks xmlns:a="http://schemas.openxmlformats.org/drawingml/2006/main" noGrp="1"/>
          </p:cNvSpPr>
          <p:nvPr/>
        </p:nvSpPr>
        <p:spPr>
          <a:xfrm xmlns:a="http://schemas.openxmlformats.org/drawingml/2006/main">
            <a:off x="647700" y="971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125" b="0">
                <a:solidFill>
                  <a:srgbClr val="687984"/>
                </a:solidFill>
                <a:latin typeface="Lato"/>
                <a:ea typeface="Lato"/>
                <a:cs typeface="Lato"/>
              </a:defRPr>
            </a:pPr>
            <a:r>
              <a:rPr sz="1125" b="0">
                <a:solidFill>
                  <a:srgbClr val="687984"/>
                </a:solidFill>
                <a:latin typeface="Lato"/>
                <a:ea typeface="Lato"/>
                <a:cs typeface="Lato"/>
              </a:rPr>
              <a:t>Three places to look before interpreting a map</a:t>
            </a:r>
          </a:p>
        </p:txBody>
      </p:sp>
      <p:sp>
        <p:nvSpPr>
          <p:cNvPr id="3" name="">
            <a:extLst xmlns:a="http://schemas.openxmlformats.org/drawingml/2006/main">
              <a:ext uri="{FF2B5EF4-FFF2-40B4-BE49-F238E27FC236}">
                <a16:creationId xmlns:a16="http://schemas.microsoft.com/office/drawing/2014/main" id="{EBD025F3-3857-42E2-872E-1A93A73BC538}"/>
              </a:ext>
            </a:extLst>
          </p:cNvPr>
          <p:cNvSpPr>
            <a:spLocks xmlns:a="http://schemas.openxmlformats.org/drawingml/2006/main" noGrp="1"/>
          </p:cNvSpPr>
          <p:nvPr/>
        </p:nvSpPr>
        <p:spPr>
          <a:xfrm xmlns:a="http://schemas.openxmlformats.org/drawingml/2006/main">
            <a:off x="647700" y="1390650"/>
            <a:ext cx="1089660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6B96AA1-CD1E-428B-8D4B-4E95E411258B}"/>
              </a:ext>
            </a:extLst>
          </p:cNvPr>
          <p:cNvSpPr>
            <a:spLocks xmlns:a="http://schemas.openxmlformats.org/drawingml/2006/main" noGrp="1"/>
          </p:cNvSpPr>
          <p:nvPr/>
        </p:nvSpPr>
        <p:spPr>
          <a:xfrm xmlns:a="http://schemas.openxmlformats.org/drawingml/2006/main">
            <a:off x="657225" y="1495425"/>
            <a:ext cx="990600" cy="28575"/>
          </a:xfrm>
          <a:prstGeom xmlns:a="http://schemas.openxmlformats.org/drawingml/2006/main" prst="rect">
            <a:avLst/>
          </a:prstGeom>
          <a:solidFill xmlns:a="http://schemas.openxmlformats.org/drawingml/2006/main">
            <a:srgbClr val="00A88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42B458-247F-4BC9-BE9D-24DE2B2E0897}"/>
              </a:ext>
            </a:extLst>
          </p:cNvPr>
          <p:cNvSpPr>
            <a:spLocks xmlns:a="http://schemas.openxmlformats.org/drawingml/2006/main" noGrp="1"/>
          </p:cNvSpPr>
          <p:nvPr/>
        </p:nvSpPr>
        <p:spPr>
          <a:xfrm xmlns:a="http://schemas.openxmlformats.org/drawingml/2006/main">
            <a:off x="647700" y="6238875"/>
            <a:ext cx="1089660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D00969B-A7CD-4DE9-B387-3AC38AEB164F}"/>
              </a:ext>
            </a:extLst>
          </p:cNvPr>
          <p:cNvSpPr>
            <a:spLocks xmlns:a="http://schemas.openxmlformats.org/drawingml/2006/main" noGrp="1"/>
          </p:cNvSpPr>
          <p:nvPr/>
        </p:nvSpPr>
        <p:spPr>
          <a:xfrm xmlns:a="http://schemas.openxmlformats.org/drawingml/2006/main">
            <a:off x="657225" y="6353175"/>
            <a:ext cx="2381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750" b="1">
                <a:solidFill>
                  <a:srgbClr val="687984"/>
                </a:solidFill>
                <a:latin typeface="Lato"/>
                <a:ea typeface="Lato"/>
                <a:cs typeface="Lato"/>
              </a:defRPr>
            </a:pPr>
            <a:r>
              <a:rPr sz="750" b="1">
                <a:solidFill>
                  <a:srgbClr val="687984"/>
                </a:solidFill>
                <a:latin typeface="Lato"/>
                <a:ea typeface="Lato"/>
                <a:cs typeface="Lato"/>
              </a:rPr>
              <a:t>CAVA MODULE 2</a:t>
            </a:r>
          </a:p>
        </p:txBody>
      </p:sp>
      <p:sp>
        <p:nvSpPr>
          <p:cNvPr id="7" name="">
            <a:extLst xmlns:a="http://schemas.openxmlformats.org/drawingml/2006/main">
              <a:ext uri="{FF2B5EF4-FFF2-40B4-BE49-F238E27FC236}">
                <a16:creationId xmlns:a16="http://schemas.microsoft.com/office/drawing/2014/main" id="{2714900D-D2B9-4790-A697-E9486C558F04}"/>
              </a:ext>
            </a:extLst>
          </p:cNvPr>
          <p:cNvSpPr>
            <a:spLocks xmlns:a="http://schemas.openxmlformats.org/drawingml/2006/main" noGrp="1"/>
          </p:cNvSpPr>
          <p:nvPr/>
        </p:nvSpPr>
        <p:spPr>
          <a:xfrm xmlns:a="http://schemas.openxmlformats.org/drawingml/2006/main">
            <a:off x="11049000" y="6343650"/>
            <a:ext cx="4572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2000"/>
              </a:lnSpc>
              <a:buNone/>
              <a:defRPr sz="750" b="0">
                <a:solidFill>
                  <a:srgbClr val="687984"/>
                </a:solidFill>
                <a:latin typeface="Lato"/>
                <a:ea typeface="Lato"/>
                <a:cs typeface="Lato"/>
              </a:defRPr>
            </a:pPr>
            <a:r>
              <a:rPr sz="750" b="0">
                <a:solidFill>
                  <a:srgbClr val="687984"/>
                </a:solidFill>
                <a:latin typeface="Lato"/>
                <a:ea typeface="Lato"/>
                <a:cs typeface="Lato"/>
              </a:rPr>
              <a:t>04</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431b7a7753ea48dc"/>
          <a:srcRect xmlns:a="http://schemas.openxmlformats.org/drawingml/2006/main" l="0" t="2740" r="0" b="2740"/>
          <a:stretch xmlns:a="http://schemas.openxmlformats.org/drawingml/2006/main">
            <a:fillRect l="0" t="0" r="0" b="0"/>
          </a:stretch>
        </p:blipFill>
        <p:spPr>
          <a:xfrm xmlns:a="http://schemas.openxmlformats.org/drawingml/2006/main">
            <a:off x="3857625" y="1771650"/>
            <a:ext cx="7667625" cy="40767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8D39E4FA-172D-48DF-95D7-53FBE775835C}"/>
              </a:ext>
            </a:extLst>
          </p:cNvPr>
          <p:cNvSpPr>
            <a:spLocks xmlns:a="http://schemas.openxmlformats.org/drawingml/2006/main" noGrp="1"/>
          </p:cNvSpPr>
          <p:nvPr/>
        </p:nvSpPr>
        <p:spPr>
          <a:xfrm xmlns:a="http://schemas.openxmlformats.org/drawingml/2006/main">
            <a:off x="3857625" y="1771650"/>
            <a:ext cx="7667625" cy="4076700"/>
          </a:xfrm>
          <a:prstGeom xmlns:a="http://schemas.openxmlformats.org/drawingml/2006/main" prst="rect">
            <a:avLst/>
          </a:prstGeom>
          <a:noFill xmlns:a="http://schemas.openxmlformats.org/drawingml/2006/main"/>
          <a:ln xmlns:a="http://schemas.openxmlformats.org/drawingml/2006/main" w="9525">
            <a:solidFill>
              <a:srgbClr val="DCE5E2"/>
            </a:solidFill>
          </a:ln>
        </p:spPr>
      </p:sp>
      <p:sp>
        <p:nvSpPr>
          <p:cNvPr id="10" name="">
            <a:extLst xmlns:a="http://schemas.openxmlformats.org/drawingml/2006/main">
              <a:ext uri="{FF2B5EF4-FFF2-40B4-BE49-F238E27FC236}">
                <a16:creationId xmlns:a16="http://schemas.microsoft.com/office/drawing/2014/main" id="{602C4B5E-59B5-44F8-ABD2-2AC5653981F8}"/>
              </a:ext>
            </a:extLst>
          </p:cNvPr>
          <p:cNvSpPr>
            <a:spLocks xmlns:a="http://schemas.openxmlformats.org/drawingml/2006/main" noGrp="1"/>
          </p:cNvSpPr>
          <p:nvPr/>
        </p:nvSpPr>
        <p:spPr>
          <a:xfrm xmlns:a="http://schemas.openxmlformats.org/drawingml/2006/main">
            <a:off x="3895725" y="5905500"/>
            <a:ext cx="7143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87984"/>
                </a:solidFill>
                <a:latin typeface="Lato"/>
                <a:ea typeface="Lato"/>
                <a:cs typeface="Lato"/>
              </a:defRPr>
            </a:pPr>
            <a:r>
              <a:rPr sz="825" b="0">
                <a:solidFill>
                  <a:srgbClr val="687984"/>
                </a:solidFill>
                <a:latin typeface="Lato"/>
                <a:ea typeface="Lato"/>
                <a:cs typeface="Lato"/>
              </a:rPr>
              <a:t>Public map view captured 22 September 2026</a:t>
            </a:r>
          </a:p>
        </p:txBody>
      </p:sp>
      <p:sp>
        <p:nvSpPr>
          <p:cNvPr id="11" name="">
            <a:extLst xmlns:a="http://schemas.openxmlformats.org/drawingml/2006/main">
              <a:ext uri="{FF2B5EF4-FFF2-40B4-BE49-F238E27FC236}">
                <a16:creationId xmlns:a16="http://schemas.microsoft.com/office/drawing/2014/main" id="{A1050D44-5BDC-4143-8C48-F3FF96B3548C}"/>
              </a:ext>
            </a:extLst>
          </p:cNvPr>
          <p:cNvSpPr>
            <a:spLocks xmlns:a="http://schemas.openxmlformats.org/drawingml/2006/main" noGrp="1"/>
          </p:cNvSpPr>
          <p:nvPr/>
        </p:nvSpPr>
        <p:spPr>
          <a:xfrm xmlns:a="http://schemas.openxmlformats.org/drawingml/2006/main">
            <a:off x="647700" y="2028825"/>
            <a:ext cx="47625" cy="533400"/>
          </a:xfrm>
          <a:prstGeom xmlns:a="http://schemas.openxmlformats.org/drawingml/2006/main" prst="rect">
            <a:avLst/>
          </a:prstGeom>
          <a:solidFill xmlns:a="http://schemas.openxmlformats.org/drawingml/2006/main">
            <a:srgbClr val="00A88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E528909-D5F1-4EC1-86A8-A5CEAF548E7B}"/>
              </a:ext>
            </a:extLst>
          </p:cNvPr>
          <p:cNvSpPr>
            <a:spLocks xmlns:a="http://schemas.openxmlformats.org/drawingml/2006/main" noGrp="1"/>
          </p:cNvSpPr>
          <p:nvPr/>
        </p:nvSpPr>
        <p:spPr>
          <a:xfrm xmlns:a="http://schemas.openxmlformats.org/drawingml/2006/main">
            <a:off x="838200" y="2019300"/>
            <a:ext cx="19240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1">
                <a:solidFill>
                  <a:srgbClr val="00A88F"/>
                </a:solidFill>
                <a:latin typeface="Lato"/>
                <a:ea typeface="Lato"/>
                <a:cs typeface="Lato"/>
              </a:defRPr>
            </a:pPr>
            <a:r>
              <a:rPr sz="825" b="1">
                <a:solidFill>
                  <a:srgbClr val="00A88F"/>
                </a:solidFill>
                <a:latin typeface="Lato"/>
                <a:ea typeface="Lato"/>
                <a:cs typeface="Lato"/>
              </a:rPr>
              <a:t>LEFT</a:t>
            </a:r>
          </a:p>
        </p:txBody>
      </p:sp>
      <p:sp>
        <p:nvSpPr>
          <p:cNvPr id="13" name="">
            <a:extLst xmlns:a="http://schemas.openxmlformats.org/drawingml/2006/main">
              <a:ext uri="{FF2B5EF4-FFF2-40B4-BE49-F238E27FC236}">
                <a16:creationId xmlns:a16="http://schemas.microsoft.com/office/drawing/2014/main" id="{ABBB8AEA-351B-4226-9DE8-E46486DC43FA}"/>
              </a:ext>
            </a:extLst>
          </p:cNvPr>
          <p:cNvSpPr>
            <a:spLocks xmlns:a="http://schemas.openxmlformats.org/drawingml/2006/main" noGrp="1"/>
          </p:cNvSpPr>
          <p:nvPr/>
        </p:nvSpPr>
        <p:spPr>
          <a:xfrm xmlns:a="http://schemas.openxmlformats.org/drawingml/2006/main">
            <a:off x="838200" y="2257425"/>
            <a:ext cx="2819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a:solidFill>
                  <a:srgbClr val="12304E"/>
                </a:solidFill>
                <a:latin typeface="Lato"/>
                <a:ea typeface="Lato"/>
                <a:cs typeface="Lato"/>
              </a:defRPr>
            </a:pPr>
            <a:r>
              <a:rPr sz="1275" b="1">
                <a:solidFill>
                  <a:srgbClr val="12304E"/>
                </a:solidFill>
                <a:latin typeface="Lato"/>
                <a:ea typeface="Lato"/>
                <a:cs typeface="Lato"/>
              </a:rPr>
              <a:t>Browse climate and agriculture layers</a:t>
            </a:r>
          </a:p>
        </p:txBody>
      </p:sp>
      <p:sp>
        <p:nvSpPr>
          <p:cNvPr id="14" name="">
            <a:extLst xmlns:a="http://schemas.openxmlformats.org/drawingml/2006/main">
              <a:ext uri="{FF2B5EF4-FFF2-40B4-BE49-F238E27FC236}">
                <a16:creationId xmlns:a16="http://schemas.microsoft.com/office/drawing/2014/main" id="{927524F6-08B8-45F6-9EC7-33580D9EA25B}"/>
              </a:ext>
            </a:extLst>
          </p:cNvPr>
          <p:cNvSpPr>
            <a:spLocks xmlns:a="http://schemas.openxmlformats.org/drawingml/2006/main" noGrp="1"/>
          </p:cNvSpPr>
          <p:nvPr/>
        </p:nvSpPr>
        <p:spPr>
          <a:xfrm xmlns:a="http://schemas.openxmlformats.org/drawingml/2006/main">
            <a:off x="647700" y="3209925"/>
            <a:ext cx="47625" cy="533400"/>
          </a:xfrm>
          <a:prstGeom xmlns:a="http://schemas.openxmlformats.org/drawingml/2006/main" prst="rect">
            <a:avLst/>
          </a:prstGeom>
          <a:solidFill xmlns:a="http://schemas.openxmlformats.org/drawingml/2006/main">
            <a:srgbClr val="F2B63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E7E4C4E-C353-4D88-9449-A8C02622E7E8}"/>
              </a:ext>
            </a:extLst>
          </p:cNvPr>
          <p:cNvSpPr>
            <a:spLocks xmlns:a="http://schemas.openxmlformats.org/drawingml/2006/main" noGrp="1"/>
          </p:cNvSpPr>
          <p:nvPr/>
        </p:nvSpPr>
        <p:spPr>
          <a:xfrm xmlns:a="http://schemas.openxmlformats.org/drawingml/2006/main">
            <a:off x="838200" y="3200400"/>
            <a:ext cx="19240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1">
                <a:solidFill>
                  <a:srgbClr val="F2B632"/>
                </a:solidFill>
                <a:latin typeface="Lato"/>
                <a:ea typeface="Lato"/>
                <a:cs typeface="Lato"/>
              </a:defRPr>
            </a:pPr>
            <a:r>
              <a:rPr sz="825" b="1">
                <a:solidFill>
                  <a:srgbClr val="F2B632"/>
                </a:solidFill>
                <a:latin typeface="Lato"/>
                <a:ea typeface="Lato"/>
                <a:cs typeface="Lato"/>
              </a:rPr>
              <a:t>CENTRE</a:t>
            </a:r>
          </a:p>
        </p:txBody>
      </p:sp>
      <p:sp>
        <p:nvSpPr>
          <p:cNvPr id="16" name="">
            <a:extLst xmlns:a="http://schemas.openxmlformats.org/drawingml/2006/main">
              <a:ext uri="{FF2B5EF4-FFF2-40B4-BE49-F238E27FC236}">
                <a16:creationId xmlns:a16="http://schemas.microsoft.com/office/drawing/2014/main" id="{6E3AEEC7-41C7-4CBD-B042-1F19D93A03D9}"/>
              </a:ext>
            </a:extLst>
          </p:cNvPr>
          <p:cNvSpPr>
            <a:spLocks xmlns:a="http://schemas.openxmlformats.org/drawingml/2006/main" noGrp="1"/>
          </p:cNvSpPr>
          <p:nvPr/>
        </p:nvSpPr>
        <p:spPr>
          <a:xfrm xmlns:a="http://schemas.openxmlformats.org/drawingml/2006/main">
            <a:off x="838200" y="3438525"/>
            <a:ext cx="2819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a:solidFill>
                  <a:srgbClr val="12304E"/>
                </a:solidFill>
                <a:latin typeface="Lato"/>
                <a:ea typeface="Lato"/>
                <a:cs typeface="Lato"/>
              </a:defRPr>
            </a:pPr>
            <a:r>
              <a:rPr sz="1275" b="1">
                <a:solidFill>
                  <a:srgbClr val="12304E"/>
                </a:solidFill>
                <a:latin typeface="Lato"/>
                <a:ea typeface="Lato"/>
                <a:cs typeface="Lato"/>
              </a:rPr>
              <a:t>See the spatial pattern</a:t>
            </a:r>
          </a:p>
        </p:txBody>
      </p:sp>
      <p:sp>
        <p:nvSpPr>
          <p:cNvPr id="17" name="">
            <a:extLst xmlns:a="http://schemas.openxmlformats.org/drawingml/2006/main">
              <a:ext uri="{FF2B5EF4-FFF2-40B4-BE49-F238E27FC236}">
                <a16:creationId xmlns:a16="http://schemas.microsoft.com/office/drawing/2014/main" id="{D634D1F4-92CD-43E4-B221-531024B0CBBD}"/>
              </a:ext>
            </a:extLst>
          </p:cNvPr>
          <p:cNvSpPr>
            <a:spLocks xmlns:a="http://schemas.openxmlformats.org/drawingml/2006/main" noGrp="1"/>
          </p:cNvSpPr>
          <p:nvPr/>
        </p:nvSpPr>
        <p:spPr>
          <a:xfrm xmlns:a="http://schemas.openxmlformats.org/drawingml/2006/main">
            <a:off x="647700" y="4391025"/>
            <a:ext cx="47625" cy="533400"/>
          </a:xfrm>
          <a:prstGeom xmlns:a="http://schemas.openxmlformats.org/drawingml/2006/main" prst="rect">
            <a:avLst/>
          </a:prstGeom>
          <a:solidFill xmlns:a="http://schemas.openxmlformats.org/drawingml/2006/main">
            <a:srgbClr val="00A88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98FEA8C-02AE-46F5-9634-927027D0D4FD}"/>
              </a:ext>
            </a:extLst>
          </p:cNvPr>
          <p:cNvSpPr>
            <a:spLocks xmlns:a="http://schemas.openxmlformats.org/drawingml/2006/main" noGrp="1"/>
          </p:cNvSpPr>
          <p:nvPr/>
        </p:nvSpPr>
        <p:spPr>
          <a:xfrm xmlns:a="http://schemas.openxmlformats.org/drawingml/2006/main">
            <a:off x="838200" y="4381500"/>
            <a:ext cx="19240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1">
                <a:solidFill>
                  <a:srgbClr val="00A88F"/>
                </a:solidFill>
                <a:latin typeface="Lato"/>
                <a:ea typeface="Lato"/>
                <a:cs typeface="Lato"/>
              </a:defRPr>
            </a:pPr>
            <a:r>
              <a:rPr sz="825" b="1">
                <a:solidFill>
                  <a:srgbClr val="00A88F"/>
                </a:solidFill>
                <a:latin typeface="Lato"/>
                <a:ea typeface="Lato"/>
                <a:cs typeface="Lato"/>
              </a:rPr>
              <a:t>RIGHT</a:t>
            </a:r>
          </a:p>
        </p:txBody>
      </p:sp>
      <p:sp>
        <p:nvSpPr>
          <p:cNvPr id="19" name="">
            <a:extLst xmlns:a="http://schemas.openxmlformats.org/drawingml/2006/main">
              <a:ext uri="{FF2B5EF4-FFF2-40B4-BE49-F238E27FC236}">
                <a16:creationId xmlns:a16="http://schemas.microsoft.com/office/drawing/2014/main" id="{E489AB16-EADD-4C20-9D12-48F17EF2498B}"/>
              </a:ext>
            </a:extLst>
          </p:cNvPr>
          <p:cNvSpPr>
            <a:spLocks xmlns:a="http://schemas.openxmlformats.org/drawingml/2006/main" noGrp="1"/>
          </p:cNvSpPr>
          <p:nvPr/>
        </p:nvSpPr>
        <p:spPr>
          <a:xfrm xmlns:a="http://schemas.openxmlformats.org/drawingml/2006/main">
            <a:off x="838200" y="4619625"/>
            <a:ext cx="2819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a:solidFill>
                  <a:srgbClr val="12304E"/>
                </a:solidFill>
                <a:latin typeface="Lato"/>
                <a:ea typeface="Lato"/>
                <a:cs typeface="Lato"/>
              </a:defRPr>
            </a:pPr>
            <a:r>
              <a:rPr sz="1275" b="1">
                <a:solidFill>
                  <a:srgbClr val="12304E"/>
                </a:solidFill>
                <a:latin typeface="Lato"/>
                <a:ea typeface="Lato"/>
                <a:cs typeface="Lato"/>
              </a:rPr>
              <a:t>Check the legend and units</a:t>
            </a:r>
          </a:p>
        </p:txBody>
      </p:sp>
    </p:spTree>
    <p:extLst>
      <p:ext uri="{BB962C8B-B14F-4D97-AF65-F5344CB8AC3E}">
        <p14:creationId xmlns:p14="http://schemas.microsoft.com/office/powerpoint/2010/main" val="1730189630"/>
      </p:ext>
    </p:extLst>
  </p:cSld>
</p:sld>
</file>

<file path=ppt/slides/slide5.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30A05FE2-8E36-41C3-A27E-AF9AD8DCEDB9}"/>
              </a:ext>
            </a:extLst>
          </p:cNvPr>
          <p:cNvSpPr>
            <a:spLocks xmlns:a="http://schemas.openxmlformats.org/drawingml/2006/main" noGrp="1"/>
          </p:cNvSpPr>
          <p:nvPr/>
        </p:nvSpPr>
        <p:spPr>
          <a:xfrm xmlns:a="http://schemas.openxmlformats.org/drawingml/2006/main">
            <a:off x="628650" y="438150"/>
            <a:ext cx="108966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a:solidFill>
                  <a:srgbClr val="12304E"/>
                </a:solidFill>
                <a:latin typeface="Lato"/>
                <a:ea typeface="Lato"/>
                <a:cs typeface="Lato"/>
              </a:defRPr>
            </a:pPr>
            <a:r>
              <a:rPr sz="2325" b="1">
                <a:solidFill>
                  <a:srgbClr val="12304E"/>
                </a:solidFill>
                <a:latin typeface="Lato"/>
                <a:ea typeface="Lato"/>
                <a:cs typeface="Lato"/>
              </a:rPr>
              <a:t>The indicator and historical reference</a:t>
            </a:r>
          </a:p>
        </p:txBody>
      </p:sp>
      <p:sp>
        <p:nvSpPr>
          <p:cNvPr id="2" name="">
            <a:extLst xmlns:a="http://schemas.openxmlformats.org/drawingml/2006/main">
              <a:ext uri="{FF2B5EF4-FFF2-40B4-BE49-F238E27FC236}">
                <a16:creationId xmlns:a16="http://schemas.microsoft.com/office/drawing/2014/main" id="{7C7B4E1C-CFE3-4196-86C4-F59B303CA823}"/>
              </a:ext>
            </a:extLst>
          </p:cNvPr>
          <p:cNvSpPr>
            <a:spLocks xmlns:a="http://schemas.openxmlformats.org/drawingml/2006/main" noGrp="1"/>
          </p:cNvSpPr>
          <p:nvPr/>
        </p:nvSpPr>
        <p:spPr>
          <a:xfrm xmlns:a="http://schemas.openxmlformats.org/drawingml/2006/main">
            <a:off x="647700" y="971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125" b="0">
                <a:solidFill>
                  <a:srgbClr val="687984"/>
                </a:solidFill>
                <a:latin typeface="Lato"/>
                <a:ea typeface="Lato"/>
                <a:cs typeface="Lato"/>
              </a:defRPr>
            </a:pPr>
            <a:r>
              <a:rPr sz="1125" b="0">
                <a:solidFill>
                  <a:srgbClr val="687984"/>
                </a:solidFill>
                <a:latin typeface="Lato"/>
                <a:ea typeface="Lato"/>
                <a:cs typeface="Lato"/>
              </a:rPr>
              <a:t>Live demonstration: select the heat layer and read its settings</a:t>
            </a:r>
          </a:p>
        </p:txBody>
      </p:sp>
      <p:sp>
        <p:nvSpPr>
          <p:cNvPr id="3" name="">
            <a:extLst xmlns:a="http://schemas.openxmlformats.org/drawingml/2006/main">
              <a:ext uri="{FF2B5EF4-FFF2-40B4-BE49-F238E27FC236}">
                <a16:creationId xmlns:a16="http://schemas.microsoft.com/office/drawing/2014/main" id="{0408CFCC-2F06-4BA1-B7E3-B5FC94DC88A5}"/>
              </a:ext>
            </a:extLst>
          </p:cNvPr>
          <p:cNvSpPr>
            <a:spLocks xmlns:a="http://schemas.openxmlformats.org/drawingml/2006/main" noGrp="1"/>
          </p:cNvSpPr>
          <p:nvPr/>
        </p:nvSpPr>
        <p:spPr>
          <a:xfrm xmlns:a="http://schemas.openxmlformats.org/drawingml/2006/main">
            <a:off x="647700" y="1390650"/>
            <a:ext cx="1089660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2B920E4-F548-45B1-8148-D2E5EE743D77}"/>
              </a:ext>
            </a:extLst>
          </p:cNvPr>
          <p:cNvSpPr>
            <a:spLocks xmlns:a="http://schemas.openxmlformats.org/drawingml/2006/main" noGrp="1"/>
          </p:cNvSpPr>
          <p:nvPr/>
        </p:nvSpPr>
        <p:spPr>
          <a:xfrm xmlns:a="http://schemas.openxmlformats.org/drawingml/2006/main">
            <a:off x="657225" y="1495425"/>
            <a:ext cx="990600" cy="28575"/>
          </a:xfrm>
          <a:prstGeom xmlns:a="http://schemas.openxmlformats.org/drawingml/2006/main" prst="rect">
            <a:avLst/>
          </a:prstGeom>
          <a:solidFill xmlns:a="http://schemas.openxmlformats.org/drawingml/2006/main">
            <a:srgbClr val="00A88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B1E3D1-CE59-4096-8096-6ABE94FBD539}"/>
              </a:ext>
            </a:extLst>
          </p:cNvPr>
          <p:cNvSpPr>
            <a:spLocks xmlns:a="http://schemas.openxmlformats.org/drawingml/2006/main" noGrp="1"/>
          </p:cNvSpPr>
          <p:nvPr/>
        </p:nvSpPr>
        <p:spPr>
          <a:xfrm xmlns:a="http://schemas.openxmlformats.org/drawingml/2006/main">
            <a:off x="647700" y="6238875"/>
            <a:ext cx="1089660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A724274-F4B0-45AB-B481-56E3AD7A91E6}"/>
              </a:ext>
            </a:extLst>
          </p:cNvPr>
          <p:cNvSpPr>
            <a:spLocks xmlns:a="http://schemas.openxmlformats.org/drawingml/2006/main" noGrp="1"/>
          </p:cNvSpPr>
          <p:nvPr/>
        </p:nvSpPr>
        <p:spPr>
          <a:xfrm xmlns:a="http://schemas.openxmlformats.org/drawingml/2006/main">
            <a:off x="657225" y="6353175"/>
            <a:ext cx="2381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750" b="1">
                <a:solidFill>
                  <a:srgbClr val="687984"/>
                </a:solidFill>
                <a:latin typeface="Lato"/>
                <a:ea typeface="Lato"/>
                <a:cs typeface="Lato"/>
              </a:defRPr>
            </a:pPr>
            <a:r>
              <a:rPr sz="750" b="1">
                <a:solidFill>
                  <a:srgbClr val="687984"/>
                </a:solidFill>
                <a:latin typeface="Lato"/>
                <a:ea typeface="Lato"/>
                <a:cs typeface="Lato"/>
              </a:rPr>
              <a:t>CAVA MODULE 2</a:t>
            </a:r>
          </a:p>
        </p:txBody>
      </p:sp>
      <p:sp>
        <p:nvSpPr>
          <p:cNvPr id="7" name="">
            <a:extLst xmlns:a="http://schemas.openxmlformats.org/drawingml/2006/main">
              <a:ext uri="{FF2B5EF4-FFF2-40B4-BE49-F238E27FC236}">
                <a16:creationId xmlns:a16="http://schemas.microsoft.com/office/drawing/2014/main" id="{5739EEF2-691E-44F8-9FDA-4480C0433911}"/>
              </a:ext>
            </a:extLst>
          </p:cNvPr>
          <p:cNvSpPr>
            <a:spLocks xmlns:a="http://schemas.openxmlformats.org/drawingml/2006/main" noGrp="1"/>
          </p:cNvSpPr>
          <p:nvPr/>
        </p:nvSpPr>
        <p:spPr>
          <a:xfrm xmlns:a="http://schemas.openxmlformats.org/drawingml/2006/main">
            <a:off x="11049000" y="6343650"/>
            <a:ext cx="4572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2000"/>
              </a:lnSpc>
              <a:buNone/>
              <a:defRPr sz="750" b="0">
                <a:solidFill>
                  <a:srgbClr val="687984"/>
                </a:solidFill>
                <a:latin typeface="Lato"/>
                <a:ea typeface="Lato"/>
                <a:cs typeface="Lato"/>
              </a:defRPr>
            </a:pPr>
            <a:r>
              <a:rPr sz="750" b="0">
                <a:solidFill>
                  <a:srgbClr val="687984"/>
                </a:solidFill>
                <a:latin typeface="Lato"/>
                <a:ea typeface="Lato"/>
                <a:cs typeface="Lato"/>
              </a:rPr>
              <a:t>05</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8e2aebf0e9944e85"/>
          <a:srcRect xmlns:a="http://schemas.openxmlformats.org/drawingml/2006/main" l="0" t="2740" r="0" b="2740"/>
          <a:stretch xmlns:a="http://schemas.openxmlformats.org/drawingml/2006/main">
            <a:fillRect l="0" t="0" r="0" b="0"/>
          </a:stretch>
        </p:blipFill>
        <p:spPr>
          <a:xfrm xmlns:a="http://schemas.openxmlformats.org/drawingml/2006/main">
            <a:off x="3857625" y="1771650"/>
            <a:ext cx="7667625" cy="40767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31D4BD99-3493-4CBF-9B95-821385D0EAD9}"/>
              </a:ext>
            </a:extLst>
          </p:cNvPr>
          <p:cNvSpPr>
            <a:spLocks xmlns:a="http://schemas.openxmlformats.org/drawingml/2006/main" noGrp="1"/>
          </p:cNvSpPr>
          <p:nvPr/>
        </p:nvSpPr>
        <p:spPr>
          <a:xfrm xmlns:a="http://schemas.openxmlformats.org/drawingml/2006/main">
            <a:off x="3857625" y="1771650"/>
            <a:ext cx="7667625" cy="4076700"/>
          </a:xfrm>
          <a:prstGeom xmlns:a="http://schemas.openxmlformats.org/drawingml/2006/main" prst="rect">
            <a:avLst/>
          </a:prstGeom>
          <a:noFill xmlns:a="http://schemas.openxmlformats.org/drawingml/2006/main"/>
          <a:ln xmlns:a="http://schemas.openxmlformats.org/drawingml/2006/main" w="9525">
            <a:solidFill>
              <a:srgbClr val="DCE5E2"/>
            </a:solidFill>
          </a:ln>
        </p:spPr>
      </p:sp>
      <p:sp>
        <p:nvSpPr>
          <p:cNvPr id="10" name="">
            <a:extLst xmlns:a="http://schemas.openxmlformats.org/drawingml/2006/main">
              <a:ext uri="{FF2B5EF4-FFF2-40B4-BE49-F238E27FC236}">
                <a16:creationId xmlns:a16="http://schemas.microsoft.com/office/drawing/2014/main" id="{319E9E4C-DC86-44CE-A44D-372D53D58813}"/>
              </a:ext>
            </a:extLst>
          </p:cNvPr>
          <p:cNvSpPr>
            <a:spLocks xmlns:a="http://schemas.openxmlformats.org/drawingml/2006/main" noGrp="1"/>
          </p:cNvSpPr>
          <p:nvPr/>
        </p:nvSpPr>
        <p:spPr>
          <a:xfrm xmlns:a="http://schemas.openxmlformats.org/drawingml/2006/main">
            <a:off x="3895725" y="5905500"/>
            <a:ext cx="7143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87984"/>
                </a:solidFill>
                <a:latin typeface="Lato"/>
                <a:ea typeface="Lato"/>
                <a:cs typeface="Lato"/>
              </a:defRPr>
            </a:pPr>
            <a:r>
              <a:rPr sz="825" b="0">
                <a:solidFill>
                  <a:srgbClr val="687984"/>
                </a:solidFill>
                <a:latin typeface="Lato"/>
                <a:ea typeface="Lato"/>
                <a:cs typeface="Lato"/>
              </a:rPr>
              <a:t>Public map: Hot Tmax days (≥35°C), observations, annual view</a:t>
            </a:r>
          </a:p>
        </p:txBody>
      </p:sp>
      <p:sp>
        <p:nvSpPr>
          <p:cNvPr id="11" name="">
            <a:extLst xmlns:a="http://schemas.openxmlformats.org/drawingml/2006/main">
              <a:ext uri="{FF2B5EF4-FFF2-40B4-BE49-F238E27FC236}">
                <a16:creationId xmlns:a16="http://schemas.microsoft.com/office/drawing/2014/main" id="{66514021-23C0-4640-9B4A-62E64AEB0DFF}"/>
              </a:ext>
            </a:extLst>
          </p:cNvPr>
          <p:cNvSpPr>
            <a:spLocks xmlns:a="http://schemas.openxmlformats.org/drawingml/2006/main" noGrp="1"/>
          </p:cNvSpPr>
          <p:nvPr/>
        </p:nvSpPr>
        <p:spPr>
          <a:xfrm xmlns:a="http://schemas.openxmlformats.org/drawingml/2006/main">
            <a:off x="647700" y="2114550"/>
            <a:ext cx="47625" cy="533400"/>
          </a:xfrm>
          <a:prstGeom xmlns:a="http://schemas.openxmlformats.org/drawingml/2006/main" prst="rect">
            <a:avLst/>
          </a:prstGeom>
          <a:solidFill xmlns:a="http://schemas.openxmlformats.org/drawingml/2006/main">
            <a:srgbClr val="00A88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22D5F99-A978-4E48-BACD-6BE194542C69}"/>
              </a:ext>
            </a:extLst>
          </p:cNvPr>
          <p:cNvSpPr>
            <a:spLocks xmlns:a="http://schemas.openxmlformats.org/drawingml/2006/main" noGrp="1"/>
          </p:cNvSpPr>
          <p:nvPr/>
        </p:nvSpPr>
        <p:spPr>
          <a:xfrm xmlns:a="http://schemas.openxmlformats.org/drawingml/2006/main">
            <a:off x="838200" y="2105025"/>
            <a:ext cx="19240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1">
                <a:solidFill>
                  <a:srgbClr val="00A88F"/>
                </a:solidFill>
                <a:latin typeface="Lato"/>
                <a:ea typeface="Lato"/>
                <a:cs typeface="Lato"/>
              </a:defRPr>
            </a:pPr>
            <a:r>
              <a:rPr sz="825" b="1">
                <a:solidFill>
                  <a:srgbClr val="00A88F"/>
                </a:solidFill>
                <a:latin typeface="Lato"/>
                <a:ea typeface="Lato"/>
                <a:cs typeface="Lato"/>
              </a:rPr>
              <a:t>LAYER</a:t>
            </a:r>
          </a:p>
        </p:txBody>
      </p:sp>
      <p:sp>
        <p:nvSpPr>
          <p:cNvPr id="13" name="">
            <a:extLst xmlns:a="http://schemas.openxmlformats.org/drawingml/2006/main">
              <a:ext uri="{FF2B5EF4-FFF2-40B4-BE49-F238E27FC236}">
                <a16:creationId xmlns:a16="http://schemas.microsoft.com/office/drawing/2014/main" id="{3F1A026F-76E7-4093-888B-21EA5409132A}"/>
              </a:ext>
            </a:extLst>
          </p:cNvPr>
          <p:cNvSpPr>
            <a:spLocks xmlns:a="http://schemas.openxmlformats.org/drawingml/2006/main" noGrp="1"/>
          </p:cNvSpPr>
          <p:nvPr/>
        </p:nvSpPr>
        <p:spPr>
          <a:xfrm xmlns:a="http://schemas.openxmlformats.org/drawingml/2006/main">
            <a:off x="838200" y="2343150"/>
            <a:ext cx="2819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a:solidFill>
                  <a:srgbClr val="12304E"/>
                </a:solidFill>
                <a:latin typeface="Lato"/>
                <a:ea typeface="Lato"/>
                <a:cs typeface="Lato"/>
              </a:defRPr>
            </a:pPr>
            <a:r>
              <a:rPr sz="1275" b="1">
                <a:solidFill>
                  <a:srgbClr val="12304E"/>
                </a:solidFill>
                <a:latin typeface="Lato"/>
                <a:ea typeface="Lato"/>
                <a:cs typeface="Lato"/>
              </a:rPr>
              <a:t>Climate › Heat &amp; Cold</a:t>
            </a:r>
          </a:p>
        </p:txBody>
      </p:sp>
      <p:sp>
        <p:nvSpPr>
          <p:cNvPr id="14" name="">
            <a:extLst xmlns:a="http://schemas.openxmlformats.org/drawingml/2006/main">
              <a:ext uri="{FF2B5EF4-FFF2-40B4-BE49-F238E27FC236}">
                <a16:creationId xmlns:a16="http://schemas.microsoft.com/office/drawing/2014/main" id="{C8698B1C-B0D3-445E-A6BD-9EC65442E50A}"/>
              </a:ext>
            </a:extLst>
          </p:cNvPr>
          <p:cNvSpPr>
            <a:spLocks xmlns:a="http://schemas.openxmlformats.org/drawingml/2006/main" noGrp="1"/>
          </p:cNvSpPr>
          <p:nvPr/>
        </p:nvSpPr>
        <p:spPr>
          <a:xfrm xmlns:a="http://schemas.openxmlformats.org/drawingml/2006/main">
            <a:off x="647700" y="3324225"/>
            <a:ext cx="47625" cy="533400"/>
          </a:xfrm>
          <a:prstGeom xmlns:a="http://schemas.openxmlformats.org/drawingml/2006/main" prst="rect">
            <a:avLst/>
          </a:prstGeom>
          <a:solidFill xmlns:a="http://schemas.openxmlformats.org/drawingml/2006/main">
            <a:srgbClr val="F2B63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16F991B-F0C1-4D11-9C99-B4195190B4C0}"/>
              </a:ext>
            </a:extLst>
          </p:cNvPr>
          <p:cNvSpPr>
            <a:spLocks xmlns:a="http://schemas.openxmlformats.org/drawingml/2006/main" noGrp="1"/>
          </p:cNvSpPr>
          <p:nvPr/>
        </p:nvSpPr>
        <p:spPr>
          <a:xfrm xmlns:a="http://schemas.openxmlformats.org/drawingml/2006/main">
            <a:off x="838200" y="3314700"/>
            <a:ext cx="19240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1">
                <a:solidFill>
                  <a:srgbClr val="F2B632"/>
                </a:solidFill>
                <a:latin typeface="Lato"/>
                <a:ea typeface="Lato"/>
                <a:cs typeface="Lato"/>
              </a:defRPr>
            </a:pPr>
            <a:r>
              <a:rPr sz="825" b="1">
                <a:solidFill>
                  <a:srgbClr val="F2B632"/>
                </a:solidFill>
                <a:latin typeface="Lato"/>
                <a:ea typeface="Lato"/>
                <a:cs typeface="Lato"/>
              </a:rPr>
              <a:t>INDICATOR</a:t>
            </a:r>
          </a:p>
        </p:txBody>
      </p:sp>
      <p:sp>
        <p:nvSpPr>
          <p:cNvPr id="16" name="">
            <a:extLst xmlns:a="http://schemas.openxmlformats.org/drawingml/2006/main">
              <a:ext uri="{FF2B5EF4-FFF2-40B4-BE49-F238E27FC236}">
                <a16:creationId xmlns:a16="http://schemas.microsoft.com/office/drawing/2014/main" id="{590F07DB-373D-43CD-8A6B-395E92E57CD8}"/>
              </a:ext>
            </a:extLst>
          </p:cNvPr>
          <p:cNvSpPr>
            <a:spLocks xmlns:a="http://schemas.openxmlformats.org/drawingml/2006/main" noGrp="1"/>
          </p:cNvSpPr>
          <p:nvPr/>
        </p:nvSpPr>
        <p:spPr>
          <a:xfrm xmlns:a="http://schemas.openxmlformats.org/drawingml/2006/main">
            <a:off x="838200" y="3552825"/>
            <a:ext cx="2819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a:solidFill>
                  <a:srgbClr val="12304E"/>
                </a:solidFill>
                <a:latin typeface="Lato"/>
                <a:ea typeface="Lato"/>
                <a:cs typeface="Lato"/>
              </a:defRPr>
            </a:pPr>
            <a:r>
              <a:rPr sz="1275" b="1">
                <a:solidFill>
                  <a:srgbClr val="12304E"/>
                </a:solidFill>
                <a:latin typeface="Lato"/>
                <a:ea typeface="Lato"/>
                <a:cs typeface="Lato"/>
              </a:rPr>
              <a:t>Hot Tmax days ≥35°C</a:t>
            </a:r>
          </a:p>
        </p:txBody>
      </p:sp>
      <p:sp>
        <p:nvSpPr>
          <p:cNvPr id="17" name="">
            <a:extLst xmlns:a="http://schemas.openxmlformats.org/drawingml/2006/main">
              <a:ext uri="{FF2B5EF4-FFF2-40B4-BE49-F238E27FC236}">
                <a16:creationId xmlns:a16="http://schemas.microsoft.com/office/drawing/2014/main" id="{1919E176-747D-474C-B0A2-56280F56CE7D}"/>
              </a:ext>
            </a:extLst>
          </p:cNvPr>
          <p:cNvSpPr>
            <a:spLocks xmlns:a="http://schemas.openxmlformats.org/drawingml/2006/main" noGrp="1"/>
          </p:cNvSpPr>
          <p:nvPr/>
        </p:nvSpPr>
        <p:spPr>
          <a:xfrm xmlns:a="http://schemas.openxmlformats.org/drawingml/2006/main">
            <a:off x="647700" y="4533900"/>
            <a:ext cx="47625" cy="533400"/>
          </a:xfrm>
          <a:prstGeom xmlns:a="http://schemas.openxmlformats.org/drawingml/2006/main" prst="rect">
            <a:avLst/>
          </a:prstGeom>
          <a:solidFill xmlns:a="http://schemas.openxmlformats.org/drawingml/2006/main">
            <a:srgbClr val="00A88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0CEC134-386B-47D2-B71A-ABA5FCB4A980}"/>
              </a:ext>
            </a:extLst>
          </p:cNvPr>
          <p:cNvSpPr>
            <a:spLocks xmlns:a="http://schemas.openxmlformats.org/drawingml/2006/main" noGrp="1"/>
          </p:cNvSpPr>
          <p:nvPr/>
        </p:nvSpPr>
        <p:spPr>
          <a:xfrm xmlns:a="http://schemas.openxmlformats.org/drawingml/2006/main">
            <a:off x="838200" y="4524375"/>
            <a:ext cx="19240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1">
                <a:solidFill>
                  <a:srgbClr val="00A88F"/>
                </a:solidFill>
                <a:latin typeface="Lato"/>
                <a:ea typeface="Lato"/>
                <a:cs typeface="Lato"/>
              </a:defRPr>
            </a:pPr>
            <a:r>
              <a:rPr sz="825" b="1">
                <a:solidFill>
                  <a:srgbClr val="00A88F"/>
                </a:solidFill>
                <a:latin typeface="Lato"/>
                <a:ea typeface="Lato"/>
                <a:cs typeface="Lato"/>
              </a:rPr>
              <a:t>REFERENCE</a:t>
            </a:r>
          </a:p>
        </p:txBody>
      </p:sp>
      <p:sp>
        <p:nvSpPr>
          <p:cNvPr id="19" name="">
            <a:extLst xmlns:a="http://schemas.openxmlformats.org/drawingml/2006/main">
              <a:ext uri="{FF2B5EF4-FFF2-40B4-BE49-F238E27FC236}">
                <a16:creationId xmlns:a16="http://schemas.microsoft.com/office/drawing/2014/main" id="{390BD26F-6616-4EAF-A38A-1F40C156CF84}"/>
              </a:ext>
            </a:extLst>
          </p:cNvPr>
          <p:cNvSpPr>
            <a:spLocks xmlns:a="http://schemas.openxmlformats.org/drawingml/2006/main" noGrp="1"/>
          </p:cNvSpPr>
          <p:nvPr/>
        </p:nvSpPr>
        <p:spPr>
          <a:xfrm xmlns:a="http://schemas.openxmlformats.org/drawingml/2006/main">
            <a:off x="838200" y="4762500"/>
            <a:ext cx="2819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a:solidFill>
                  <a:srgbClr val="12304E"/>
                </a:solidFill>
                <a:latin typeface="Lato"/>
                <a:ea typeface="Lato"/>
                <a:cs typeface="Lato"/>
              </a:defRPr>
            </a:pPr>
            <a:r>
              <a:rPr sz="1275" b="1">
                <a:solidFill>
                  <a:srgbClr val="12304E"/>
                </a:solidFill>
                <a:latin typeface="Lato"/>
                <a:ea typeface="Lato"/>
                <a:cs typeface="Lato"/>
              </a:rPr>
              <a:t>Observations, 1991–2020</a:t>
            </a:r>
          </a:p>
        </p:txBody>
      </p:sp>
    </p:spTree>
    <p:extLst>
      <p:ext uri="{BB962C8B-B14F-4D97-AF65-F5344CB8AC3E}">
        <p14:creationId xmlns:p14="http://schemas.microsoft.com/office/powerpoint/2010/main" val="900523820"/>
      </p:ext>
    </p:extLst>
  </p:cSld>
</p:sld>
</file>

<file path=ppt/slides/slide6.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396B9848-D6CB-48D5-92F4-A81E989536E5}"/>
              </a:ext>
            </a:extLst>
          </p:cNvPr>
          <p:cNvSpPr>
            <a:spLocks xmlns:a="http://schemas.openxmlformats.org/drawingml/2006/main" noGrp="1"/>
          </p:cNvSpPr>
          <p:nvPr/>
        </p:nvSpPr>
        <p:spPr>
          <a:xfrm xmlns:a="http://schemas.openxmlformats.org/drawingml/2006/main">
            <a:off x="628650" y="438150"/>
            <a:ext cx="108966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a:solidFill>
                  <a:srgbClr val="12304E"/>
                </a:solidFill>
                <a:latin typeface="Lato"/>
                <a:ea typeface="Lato"/>
                <a:cs typeface="Lato"/>
              </a:defRPr>
            </a:pPr>
            <a:r>
              <a:rPr sz="2325" b="1">
                <a:solidFill>
                  <a:srgbClr val="12304E"/>
                </a:solidFill>
                <a:latin typeface="Lato"/>
                <a:ea typeface="Lato"/>
                <a:cs typeface="Lato"/>
              </a:rPr>
              <a:t>A future climate view</a:t>
            </a:r>
          </a:p>
        </p:txBody>
      </p:sp>
      <p:sp>
        <p:nvSpPr>
          <p:cNvPr id="2" name="">
            <a:extLst xmlns:a="http://schemas.openxmlformats.org/drawingml/2006/main">
              <a:ext uri="{FF2B5EF4-FFF2-40B4-BE49-F238E27FC236}">
                <a16:creationId xmlns:a16="http://schemas.microsoft.com/office/drawing/2014/main" id="{FB04F5EF-920C-4088-BBC1-A13A91FB5CB2}"/>
              </a:ext>
            </a:extLst>
          </p:cNvPr>
          <p:cNvSpPr>
            <a:spLocks xmlns:a="http://schemas.openxmlformats.org/drawingml/2006/main" noGrp="1"/>
          </p:cNvSpPr>
          <p:nvPr/>
        </p:nvSpPr>
        <p:spPr>
          <a:xfrm xmlns:a="http://schemas.openxmlformats.org/drawingml/2006/main">
            <a:off x="647700" y="971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125" b="0">
                <a:solidFill>
                  <a:srgbClr val="687984"/>
                </a:solidFill>
                <a:latin typeface="Lato"/>
                <a:ea typeface="Lato"/>
                <a:cs typeface="Lato"/>
              </a:defRPr>
            </a:pPr>
            <a:r>
              <a:rPr sz="1125" b="0">
                <a:solidFill>
                  <a:srgbClr val="687984"/>
                </a:solidFill>
                <a:latin typeface="Lato"/>
                <a:ea typeface="Lato"/>
                <a:cs typeface="Lato"/>
              </a:rPr>
              <a:t>Keep the indicator fixed while changing scenario and time horizon</a:t>
            </a:r>
          </a:p>
        </p:txBody>
      </p:sp>
      <p:sp>
        <p:nvSpPr>
          <p:cNvPr id="3" name="">
            <a:extLst xmlns:a="http://schemas.openxmlformats.org/drawingml/2006/main">
              <a:ext uri="{FF2B5EF4-FFF2-40B4-BE49-F238E27FC236}">
                <a16:creationId xmlns:a16="http://schemas.microsoft.com/office/drawing/2014/main" id="{4292C9BE-B9F5-4519-AE85-27C56039BB18}"/>
              </a:ext>
            </a:extLst>
          </p:cNvPr>
          <p:cNvSpPr>
            <a:spLocks xmlns:a="http://schemas.openxmlformats.org/drawingml/2006/main" noGrp="1"/>
          </p:cNvSpPr>
          <p:nvPr/>
        </p:nvSpPr>
        <p:spPr>
          <a:xfrm xmlns:a="http://schemas.openxmlformats.org/drawingml/2006/main">
            <a:off x="647700" y="1390650"/>
            <a:ext cx="1089660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824C8FD-EDAC-44A4-AE88-E5226517AE90}"/>
              </a:ext>
            </a:extLst>
          </p:cNvPr>
          <p:cNvSpPr>
            <a:spLocks xmlns:a="http://schemas.openxmlformats.org/drawingml/2006/main" noGrp="1"/>
          </p:cNvSpPr>
          <p:nvPr/>
        </p:nvSpPr>
        <p:spPr>
          <a:xfrm xmlns:a="http://schemas.openxmlformats.org/drawingml/2006/main">
            <a:off x="657225" y="1495425"/>
            <a:ext cx="990600" cy="28575"/>
          </a:xfrm>
          <a:prstGeom xmlns:a="http://schemas.openxmlformats.org/drawingml/2006/main" prst="rect">
            <a:avLst/>
          </a:prstGeom>
          <a:solidFill xmlns:a="http://schemas.openxmlformats.org/drawingml/2006/main">
            <a:srgbClr val="00A88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E8DFD39-AD92-4B97-B1FA-84B4D27F5429}"/>
              </a:ext>
            </a:extLst>
          </p:cNvPr>
          <p:cNvSpPr>
            <a:spLocks xmlns:a="http://schemas.openxmlformats.org/drawingml/2006/main" noGrp="1"/>
          </p:cNvSpPr>
          <p:nvPr/>
        </p:nvSpPr>
        <p:spPr>
          <a:xfrm xmlns:a="http://schemas.openxmlformats.org/drawingml/2006/main">
            <a:off x="647700" y="6238875"/>
            <a:ext cx="1089660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FD166B5-39F2-4F3D-8DBC-2B4B90C28632}"/>
              </a:ext>
            </a:extLst>
          </p:cNvPr>
          <p:cNvSpPr>
            <a:spLocks xmlns:a="http://schemas.openxmlformats.org/drawingml/2006/main" noGrp="1"/>
          </p:cNvSpPr>
          <p:nvPr/>
        </p:nvSpPr>
        <p:spPr>
          <a:xfrm xmlns:a="http://schemas.openxmlformats.org/drawingml/2006/main">
            <a:off x="657225" y="6353175"/>
            <a:ext cx="2381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750" b="1">
                <a:solidFill>
                  <a:srgbClr val="687984"/>
                </a:solidFill>
                <a:latin typeface="Lato"/>
                <a:ea typeface="Lato"/>
                <a:cs typeface="Lato"/>
              </a:defRPr>
            </a:pPr>
            <a:r>
              <a:rPr sz="750" b="1">
                <a:solidFill>
                  <a:srgbClr val="687984"/>
                </a:solidFill>
                <a:latin typeface="Lato"/>
                <a:ea typeface="Lato"/>
                <a:cs typeface="Lato"/>
              </a:rPr>
              <a:t>CAVA MODULE 2</a:t>
            </a:r>
          </a:p>
        </p:txBody>
      </p:sp>
      <p:sp>
        <p:nvSpPr>
          <p:cNvPr id="7" name="">
            <a:extLst xmlns:a="http://schemas.openxmlformats.org/drawingml/2006/main">
              <a:ext uri="{FF2B5EF4-FFF2-40B4-BE49-F238E27FC236}">
                <a16:creationId xmlns:a16="http://schemas.microsoft.com/office/drawing/2014/main" id="{CE538453-39C2-43C3-9383-B8B7CB676C57}"/>
              </a:ext>
            </a:extLst>
          </p:cNvPr>
          <p:cNvSpPr>
            <a:spLocks xmlns:a="http://schemas.openxmlformats.org/drawingml/2006/main" noGrp="1"/>
          </p:cNvSpPr>
          <p:nvPr/>
        </p:nvSpPr>
        <p:spPr>
          <a:xfrm xmlns:a="http://schemas.openxmlformats.org/drawingml/2006/main">
            <a:off x="11049000" y="6343650"/>
            <a:ext cx="4572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2000"/>
              </a:lnSpc>
              <a:buNone/>
              <a:defRPr sz="750" b="0">
                <a:solidFill>
                  <a:srgbClr val="687984"/>
                </a:solidFill>
                <a:latin typeface="Lato"/>
                <a:ea typeface="Lato"/>
                <a:cs typeface="Lato"/>
              </a:defRPr>
            </a:pPr>
            <a:r>
              <a:rPr sz="750" b="0">
                <a:solidFill>
                  <a:srgbClr val="687984"/>
                </a:solidFill>
                <a:latin typeface="Lato"/>
                <a:ea typeface="Lato"/>
                <a:cs typeface="Lato"/>
              </a:rPr>
              <a:t>06</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51412135e5984750"/>
          <a:srcRect xmlns:a="http://schemas.openxmlformats.org/drawingml/2006/main" l="0" t="2740" r="0" b="2740"/>
          <a:stretch xmlns:a="http://schemas.openxmlformats.org/drawingml/2006/main">
            <a:fillRect l="0" t="0" r="0" b="0"/>
          </a:stretch>
        </p:blipFill>
        <p:spPr>
          <a:xfrm xmlns:a="http://schemas.openxmlformats.org/drawingml/2006/main">
            <a:off x="3857625" y="1771650"/>
            <a:ext cx="7667625" cy="40767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F5EC5F4B-B3AD-4544-97DC-40121DDF9001}"/>
              </a:ext>
            </a:extLst>
          </p:cNvPr>
          <p:cNvSpPr>
            <a:spLocks xmlns:a="http://schemas.openxmlformats.org/drawingml/2006/main" noGrp="1"/>
          </p:cNvSpPr>
          <p:nvPr/>
        </p:nvSpPr>
        <p:spPr>
          <a:xfrm xmlns:a="http://schemas.openxmlformats.org/drawingml/2006/main">
            <a:off x="3857625" y="1771650"/>
            <a:ext cx="7667625" cy="4076700"/>
          </a:xfrm>
          <a:prstGeom xmlns:a="http://schemas.openxmlformats.org/drawingml/2006/main" prst="rect">
            <a:avLst/>
          </a:prstGeom>
          <a:noFill xmlns:a="http://schemas.openxmlformats.org/drawingml/2006/main"/>
          <a:ln xmlns:a="http://schemas.openxmlformats.org/drawingml/2006/main" w="9525">
            <a:solidFill>
              <a:srgbClr val="DCE5E2"/>
            </a:solidFill>
          </a:ln>
        </p:spPr>
      </p:sp>
      <p:sp>
        <p:nvSpPr>
          <p:cNvPr id="10" name="">
            <a:extLst xmlns:a="http://schemas.openxmlformats.org/drawingml/2006/main">
              <a:ext uri="{FF2B5EF4-FFF2-40B4-BE49-F238E27FC236}">
                <a16:creationId xmlns:a16="http://schemas.microsoft.com/office/drawing/2014/main" id="{BF7C1A18-7674-4A0E-9253-5BF82232CAC4}"/>
              </a:ext>
            </a:extLst>
          </p:cNvPr>
          <p:cNvSpPr>
            <a:spLocks xmlns:a="http://schemas.openxmlformats.org/drawingml/2006/main" noGrp="1"/>
          </p:cNvSpPr>
          <p:nvPr/>
        </p:nvSpPr>
        <p:spPr>
          <a:xfrm xmlns:a="http://schemas.openxmlformats.org/drawingml/2006/main">
            <a:off x="3895725" y="5905500"/>
            <a:ext cx="7143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87984"/>
                </a:solidFill>
                <a:latin typeface="Lato"/>
                <a:ea typeface="Lato"/>
                <a:cs typeface="Lato"/>
              </a:defRPr>
            </a:pPr>
            <a:r>
              <a:rPr sz="825" b="0">
                <a:solidFill>
                  <a:srgbClr val="687984"/>
                </a:solidFill>
                <a:latin typeface="Lato"/>
                <a:ea typeface="Lato"/>
                <a:cs typeface="Lato"/>
              </a:rPr>
              <a:t>Public map: RCP 8.5, 2070–2099, annual value view</a:t>
            </a:r>
          </a:p>
        </p:txBody>
      </p:sp>
      <p:sp>
        <p:nvSpPr>
          <p:cNvPr id="11" name="">
            <a:extLst xmlns:a="http://schemas.openxmlformats.org/drawingml/2006/main">
              <a:ext uri="{FF2B5EF4-FFF2-40B4-BE49-F238E27FC236}">
                <a16:creationId xmlns:a16="http://schemas.microsoft.com/office/drawing/2014/main" id="{269E8783-8061-47DA-96C5-11A0BFEE0A10}"/>
              </a:ext>
            </a:extLst>
          </p:cNvPr>
          <p:cNvSpPr>
            <a:spLocks xmlns:a="http://schemas.openxmlformats.org/drawingml/2006/main" noGrp="1"/>
          </p:cNvSpPr>
          <p:nvPr/>
        </p:nvSpPr>
        <p:spPr>
          <a:xfrm xmlns:a="http://schemas.openxmlformats.org/drawingml/2006/main">
            <a:off x="647700" y="2095500"/>
            <a:ext cx="47625" cy="533400"/>
          </a:xfrm>
          <a:prstGeom xmlns:a="http://schemas.openxmlformats.org/drawingml/2006/main" prst="rect">
            <a:avLst/>
          </a:prstGeom>
          <a:solidFill xmlns:a="http://schemas.openxmlformats.org/drawingml/2006/main">
            <a:srgbClr val="00A88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906CAFF-7DC8-4BE1-A2C9-611FF05C97FB}"/>
              </a:ext>
            </a:extLst>
          </p:cNvPr>
          <p:cNvSpPr>
            <a:spLocks xmlns:a="http://schemas.openxmlformats.org/drawingml/2006/main" noGrp="1"/>
          </p:cNvSpPr>
          <p:nvPr/>
        </p:nvSpPr>
        <p:spPr>
          <a:xfrm xmlns:a="http://schemas.openxmlformats.org/drawingml/2006/main">
            <a:off x="838200" y="2085975"/>
            <a:ext cx="19240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1">
                <a:solidFill>
                  <a:srgbClr val="00A88F"/>
                </a:solidFill>
                <a:latin typeface="Lato"/>
                <a:ea typeface="Lato"/>
                <a:cs typeface="Lato"/>
              </a:defRPr>
            </a:pPr>
            <a:r>
              <a:rPr sz="825" b="1">
                <a:solidFill>
                  <a:srgbClr val="00A88F"/>
                </a:solidFill>
                <a:latin typeface="Lato"/>
                <a:ea typeface="Lato"/>
                <a:cs typeface="Lato"/>
              </a:rPr>
              <a:t>SCENARIO</a:t>
            </a:r>
          </a:p>
        </p:txBody>
      </p:sp>
      <p:sp>
        <p:nvSpPr>
          <p:cNvPr id="13" name="">
            <a:extLst xmlns:a="http://schemas.openxmlformats.org/drawingml/2006/main">
              <a:ext uri="{FF2B5EF4-FFF2-40B4-BE49-F238E27FC236}">
                <a16:creationId xmlns:a16="http://schemas.microsoft.com/office/drawing/2014/main" id="{CA5BD595-F466-43EB-A8C0-7A3E1DBC6EC4}"/>
              </a:ext>
            </a:extLst>
          </p:cNvPr>
          <p:cNvSpPr>
            <a:spLocks xmlns:a="http://schemas.openxmlformats.org/drawingml/2006/main" noGrp="1"/>
          </p:cNvSpPr>
          <p:nvPr/>
        </p:nvSpPr>
        <p:spPr>
          <a:xfrm xmlns:a="http://schemas.openxmlformats.org/drawingml/2006/main">
            <a:off x="838200" y="2324100"/>
            <a:ext cx="2819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a:solidFill>
                  <a:srgbClr val="12304E"/>
                </a:solidFill>
                <a:latin typeface="Lato"/>
                <a:ea typeface="Lato"/>
                <a:cs typeface="Lato"/>
              </a:defRPr>
            </a:pPr>
            <a:r>
              <a:rPr sz="1275" b="1">
                <a:solidFill>
                  <a:srgbClr val="12304E"/>
                </a:solidFill>
                <a:latin typeface="Lato"/>
                <a:ea typeface="Lato"/>
                <a:cs typeface="Lato"/>
              </a:rPr>
              <a:t>Choose a future pathway</a:t>
            </a:r>
          </a:p>
        </p:txBody>
      </p:sp>
      <p:sp>
        <p:nvSpPr>
          <p:cNvPr id="14" name="">
            <a:extLst xmlns:a="http://schemas.openxmlformats.org/drawingml/2006/main">
              <a:ext uri="{FF2B5EF4-FFF2-40B4-BE49-F238E27FC236}">
                <a16:creationId xmlns:a16="http://schemas.microsoft.com/office/drawing/2014/main" id="{0C46C8A2-CF28-4E73-A821-0F3970A9E1B3}"/>
              </a:ext>
            </a:extLst>
          </p:cNvPr>
          <p:cNvSpPr>
            <a:spLocks xmlns:a="http://schemas.openxmlformats.org/drawingml/2006/main" noGrp="1"/>
          </p:cNvSpPr>
          <p:nvPr/>
        </p:nvSpPr>
        <p:spPr>
          <a:xfrm xmlns:a="http://schemas.openxmlformats.org/drawingml/2006/main">
            <a:off x="647700" y="3295650"/>
            <a:ext cx="47625" cy="533400"/>
          </a:xfrm>
          <a:prstGeom xmlns:a="http://schemas.openxmlformats.org/drawingml/2006/main" prst="rect">
            <a:avLst/>
          </a:prstGeom>
          <a:solidFill xmlns:a="http://schemas.openxmlformats.org/drawingml/2006/main">
            <a:srgbClr val="F2B63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F885D7A-04E6-465E-988B-5912F86D23A5}"/>
              </a:ext>
            </a:extLst>
          </p:cNvPr>
          <p:cNvSpPr>
            <a:spLocks xmlns:a="http://schemas.openxmlformats.org/drawingml/2006/main" noGrp="1"/>
          </p:cNvSpPr>
          <p:nvPr/>
        </p:nvSpPr>
        <p:spPr>
          <a:xfrm xmlns:a="http://schemas.openxmlformats.org/drawingml/2006/main">
            <a:off x="838200" y="3286125"/>
            <a:ext cx="19240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1">
                <a:solidFill>
                  <a:srgbClr val="F2B632"/>
                </a:solidFill>
                <a:latin typeface="Lato"/>
                <a:ea typeface="Lato"/>
                <a:cs typeface="Lato"/>
              </a:defRPr>
            </a:pPr>
            <a:r>
              <a:rPr sz="825" b="1">
                <a:solidFill>
                  <a:srgbClr val="F2B632"/>
                </a:solidFill>
                <a:latin typeface="Lato"/>
                <a:ea typeface="Lato"/>
                <a:cs typeface="Lato"/>
              </a:rPr>
              <a:t>PERIOD</a:t>
            </a:r>
          </a:p>
        </p:txBody>
      </p:sp>
      <p:sp>
        <p:nvSpPr>
          <p:cNvPr id="16" name="">
            <a:extLst xmlns:a="http://schemas.openxmlformats.org/drawingml/2006/main">
              <a:ext uri="{FF2B5EF4-FFF2-40B4-BE49-F238E27FC236}">
                <a16:creationId xmlns:a16="http://schemas.microsoft.com/office/drawing/2014/main" id="{F71CC916-93EF-4D44-8149-C0C106447AE0}"/>
              </a:ext>
            </a:extLst>
          </p:cNvPr>
          <p:cNvSpPr>
            <a:spLocks xmlns:a="http://schemas.openxmlformats.org/drawingml/2006/main" noGrp="1"/>
          </p:cNvSpPr>
          <p:nvPr/>
        </p:nvSpPr>
        <p:spPr>
          <a:xfrm xmlns:a="http://schemas.openxmlformats.org/drawingml/2006/main">
            <a:off x="838200" y="3524250"/>
            <a:ext cx="2819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a:solidFill>
                  <a:srgbClr val="12304E"/>
                </a:solidFill>
                <a:latin typeface="Lato"/>
                <a:ea typeface="Lato"/>
                <a:cs typeface="Lato"/>
              </a:defRPr>
            </a:pPr>
            <a:r>
              <a:rPr sz="1275" b="1">
                <a:solidFill>
                  <a:srgbClr val="12304E"/>
                </a:solidFill>
                <a:latin typeface="Lato"/>
                <a:ea typeface="Lato"/>
                <a:cs typeface="Lato"/>
              </a:rPr>
              <a:t>Select the project-relevant horizon</a:t>
            </a:r>
          </a:p>
        </p:txBody>
      </p:sp>
      <p:sp>
        <p:nvSpPr>
          <p:cNvPr id="17" name="">
            <a:extLst xmlns:a="http://schemas.openxmlformats.org/drawingml/2006/main">
              <a:ext uri="{FF2B5EF4-FFF2-40B4-BE49-F238E27FC236}">
                <a16:creationId xmlns:a16="http://schemas.microsoft.com/office/drawing/2014/main" id="{EAC6B2BC-987F-4964-AF29-A21563643BF6}"/>
              </a:ext>
            </a:extLst>
          </p:cNvPr>
          <p:cNvSpPr>
            <a:spLocks xmlns:a="http://schemas.openxmlformats.org/drawingml/2006/main" noGrp="1"/>
          </p:cNvSpPr>
          <p:nvPr/>
        </p:nvSpPr>
        <p:spPr>
          <a:xfrm xmlns:a="http://schemas.openxmlformats.org/drawingml/2006/main">
            <a:off x="647700" y="4495800"/>
            <a:ext cx="47625" cy="533400"/>
          </a:xfrm>
          <a:prstGeom xmlns:a="http://schemas.openxmlformats.org/drawingml/2006/main" prst="rect">
            <a:avLst/>
          </a:prstGeom>
          <a:solidFill xmlns:a="http://schemas.openxmlformats.org/drawingml/2006/main">
            <a:srgbClr val="00A88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3199B5C-A56B-48B8-9F9F-5F51C4937E41}"/>
              </a:ext>
            </a:extLst>
          </p:cNvPr>
          <p:cNvSpPr>
            <a:spLocks xmlns:a="http://schemas.openxmlformats.org/drawingml/2006/main" noGrp="1"/>
          </p:cNvSpPr>
          <p:nvPr/>
        </p:nvSpPr>
        <p:spPr>
          <a:xfrm xmlns:a="http://schemas.openxmlformats.org/drawingml/2006/main">
            <a:off x="838200" y="4486275"/>
            <a:ext cx="19240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1">
                <a:solidFill>
                  <a:srgbClr val="00A88F"/>
                </a:solidFill>
                <a:latin typeface="Lato"/>
                <a:ea typeface="Lato"/>
                <a:cs typeface="Lato"/>
              </a:defRPr>
            </a:pPr>
            <a:r>
              <a:rPr sz="825" b="1">
                <a:solidFill>
                  <a:srgbClr val="00A88F"/>
                </a:solidFill>
                <a:latin typeface="Lato"/>
                <a:ea typeface="Lato"/>
                <a:cs typeface="Lato"/>
              </a:rPr>
              <a:t>READING</a:t>
            </a:r>
          </a:p>
        </p:txBody>
      </p:sp>
      <p:sp>
        <p:nvSpPr>
          <p:cNvPr id="19" name="">
            <a:extLst xmlns:a="http://schemas.openxmlformats.org/drawingml/2006/main">
              <a:ext uri="{FF2B5EF4-FFF2-40B4-BE49-F238E27FC236}">
                <a16:creationId xmlns:a16="http://schemas.microsoft.com/office/drawing/2014/main" id="{211ED5CA-933F-42AC-BFD2-9FCA3552237E}"/>
              </a:ext>
            </a:extLst>
          </p:cNvPr>
          <p:cNvSpPr>
            <a:spLocks xmlns:a="http://schemas.openxmlformats.org/drawingml/2006/main" noGrp="1"/>
          </p:cNvSpPr>
          <p:nvPr/>
        </p:nvSpPr>
        <p:spPr>
          <a:xfrm xmlns:a="http://schemas.openxmlformats.org/drawingml/2006/main">
            <a:off x="838200" y="4724400"/>
            <a:ext cx="2819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a:solidFill>
                  <a:srgbClr val="12304E"/>
                </a:solidFill>
                <a:latin typeface="Lato"/>
                <a:ea typeface="Lato"/>
                <a:cs typeface="Lato"/>
              </a:defRPr>
            </a:pPr>
            <a:r>
              <a:rPr sz="1275" b="1">
                <a:solidFill>
                  <a:srgbClr val="12304E"/>
                </a:solidFill>
                <a:latin typeface="Lato"/>
                <a:ea typeface="Lato"/>
                <a:cs typeface="Lato"/>
              </a:rPr>
              <a:t>The value map shows future conditions</a:t>
            </a:r>
          </a:p>
        </p:txBody>
      </p:sp>
    </p:spTree>
    <p:extLst>
      <p:ext uri="{BB962C8B-B14F-4D97-AF65-F5344CB8AC3E}">
        <p14:creationId xmlns:p14="http://schemas.microsoft.com/office/powerpoint/2010/main" val="1917684800"/>
      </p:ext>
    </p:extLst>
  </p:cSld>
</p:sld>
</file>

<file path=ppt/slides/slide7.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D095A563-4E8E-4022-BEB8-9C40FA2BC8F2}"/>
              </a:ext>
            </a:extLst>
          </p:cNvPr>
          <p:cNvSpPr>
            <a:spLocks xmlns:a="http://schemas.openxmlformats.org/drawingml/2006/main" noGrp="1"/>
          </p:cNvSpPr>
          <p:nvPr/>
        </p:nvSpPr>
        <p:spPr>
          <a:xfrm xmlns:a="http://schemas.openxmlformats.org/drawingml/2006/main">
            <a:off x="628650" y="438150"/>
            <a:ext cx="108966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a:solidFill>
                  <a:srgbClr val="12304E"/>
                </a:solidFill>
                <a:latin typeface="Lato"/>
                <a:ea typeface="Lato"/>
                <a:cs typeface="Lato"/>
              </a:defRPr>
            </a:pPr>
            <a:r>
              <a:rPr sz="2325" b="1">
                <a:solidFill>
                  <a:srgbClr val="12304E"/>
                </a:solidFill>
                <a:latin typeface="Lato"/>
                <a:ea typeface="Lato"/>
                <a:cs typeface="Lato"/>
              </a:rPr>
              <a:t>Change needs a reference period</a:t>
            </a:r>
          </a:p>
        </p:txBody>
      </p:sp>
      <p:sp>
        <p:nvSpPr>
          <p:cNvPr id="2" name="">
            <a:extLst xmlns:a="http://schemas.openxmlformats.org/drawingml/2006/main">
              <a:ext uri="{FF2B5EF4-FFF2-40B4-BE49-F238E27FC236}">
                <a16:creationId xmlns:a16="http://schemas.microsoft.com/office/drawing/2014/main" id="{91DCEFEB-6C63-4684-95F5-D77F7D07F5EB}"/>
              </a:ext>
            </a:extLst>
          </p:cNvPr>
          <p:cNvSpPr>
            <a:spLocks xmlns:a="http://schemas.openxmlformats.org/drawingml/2006/main" noGrp="1"/>
          </p:cNvSpPr>
          <p:nvPr/>
        </p:nvSpPr>
        <p:spPr>
          <a:xfrm xmlns:a="http://schemas.openxmlformats.org/drawingml/2006/main">
            <a:off x="647700" y="971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125" b="0">
                <a:solidFill>
                  <a:srgbClr val="687984"/>
                </a:solidFill>
                <a:latin typeface="Lato"/>
                <a:ea typeface="Lato"/>
                <a:cs typeface="Lato"/>
              </a:defRPr>
            </a:pPr>
            <a:r>
              <a:rPr sz="1125" b="0">
                <a:solidFill>
                  <a:srgbClr val="687984"/>
                </a:solidFill>
                <a:latin typeface="Lato"/>
                <a:ea typeface="Lato"/>
                <a:cs typeface="Lato"/>
              </a:rPr>
              <a:t>The map changes meaning when “Value” becomes “Change”</a:t>
            </a:r>
          </a:p>
        </p:txBody>
      </p:sp>
      <p:sp>
        <p:nvSpPr>
          <p:cNvPr id="3" name="">
            <a:extLst xmlns:a="http://schemas.openxmlformats.org/drawingml/2006/main">
              <a:ext uri="{FF2B5EF4-FFF2-40B4-BE49-F238E27FC236}">
                <a16:creationId xmlns:a16="http://schemas.microsoft.com/office/drawing/2014/main" id="{BEC8AC22-FDEE-4BA2-8AE5-8A09A5310572}"/>
              </a:ext>
            </a:extLst>
          </p:cNvPr>
          <p:cNvSpPr>
            <a:spLocks xmlns:a="http://schemas.openxmlformats.org/drawingml/2006/main" noGrp="1"/>
          </p:cNvSpPr>
          <p:nvPr/>
        </p:nvSpPr>
        <p:spPr>
          <a:xfrm xmlns:a="http://schemas.openxmlformats.org/drawingml/2006/main">
            <a:off x="647700" y="1390650"/>
            <a:ext cx="1089660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BB59A42-7A18-4E41-9168-038048AB4F8F}"/>
              </a:ext>
            </a:extLst>
          </p:cNvPr>
          <p:cNvSpPr>
            <a:spLocks xmlns:a="http://schemas.openxmlformats.org/drawingml/2006/main" noGrp="1"/>
          </p:cNvSpPr>
          <p:nvPr/>
        </p:nvSpPr>
        <p:spPr>
          <a:xfrm xmlns:a="http://schemas.openxmlformats.org/drawingml/2006/main">
            <a:off x="657225" y="1495425"/>
            <a:ext cx="990600" cy="28575"/>
          </a:xfrm>
          <a:prstGeom xmlns:a="http://schemas.openxmlformats.org/drawingml/2006/main" prst="rect">
            <a:avLst/>
          </a:prstGeom>
          <a:solidFill xmlns:a="http://schemas.openxmlformats.org/drawingml/2006/main">
            <a:srgbClr val="00A88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4BE4D59-4615-49F5-86E3-76D2005E667A}"/>
              </a:ext>
            </a:extLst>
          </p:cNvPr>
          <p:cNvSpPr>
            <a:spLocks xmlns:a="http://schemas.openxmlformats.org/drawingml/2006/main" noGrp="1"/>
          </p:cNvSpPr>
          <p:nvPr/>
        </p:nvSpPr>
        <p:spPr>
          <a:xfrm xmlns:a="http://schemas.openxmlformats.org/drawingml/2006/main">
            <a:off x="647700" y="6238875"/>
            <a:ext cx="1089660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24D91E0-00C8-4CF1-A703-7B8070244F4B}"/>
              </a:ext>
            </a:extLst>
          </p:cNvPr>
          <p:cNvSpPr>
            <a:spLocks xmlns:a="http://schemas.openxmlformats.org/drawingml/2006/main" noGrp="1"/>
          </p:cNvSpPr>
          <p:nvPr/>
        </p:nvSpPr>
        <p:spPr>
          <a:xfrm xmlns:a="http://schemas.openxmlformats.org/drawingml/2006/main">
            <a:off x="657225" y="6353175"/>
            <a:ext cx="2381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750" b="1">
                <a:solidFill>
                  <a:srgbClr val="687984"/>
                </a:solidFill>
                <a:latin typeface="Lato"/>
                <a:ea typeface="Lato"/>
                <a:cs typeface="Lato"/>
              </a:defRPr>
            </a:pPr>
            <a:r>
              <a:rPr sz="750" b="1">
                <a:solidFill>
                  <a:srgbClr val="687984"/>
                </a:solidFill>
                <a:latin typeface="Lato"/>
                <a:ea typeface="Lato"/>
                <a:cs typeface="Lato"/>
              </a:rPr>
              <a:t>CAVA MODULE 2</a:t>
            </a:r>
          </a:p>
        </p:txBody>
      </p:sp>
      <p:sp>
        <p:nvSpPr>
          <p:cNvPr id="7" name="">
            <a:extLst xmlns:a="http://schemas.openxmlformats.org/drawingml/2006/main">
              <a:ext uri="{FF2B5EF4-FFF2-40B4-BE49-F238E27FC236}">
                <a16:creationId xmlns:a16="http://schemas.microsoft.com/office/drawing/2014/main" id="{703B73AF-098C-4DFB-8D94-A35BC770A55C}"/>
              </a:ext>
            </a:extLst>
          </p:cNvPr>
          <p:cNvSpPr>
            <a:spLocks xmlns:a="http://schemas.openxmlformats.org/drawingml/2006/main" noGrp="1"/>
          </p:cNvSpPr>
          <p:nvPr/>
        </p:nvSpPr>
        <p:spPr>
          <a:xfrm xmlns:a="http://schemas.openxmlformats.org/drawingml/2006/main">
            <a:off x="11049000" y="6343650"/>
            <a:ext cx="4572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2000"/>
              </a:lnSpc>
              <a:buNone/>
              <a:defRPr sz="750" b="0">
                <a:solidFill>
                  <a:srgbClr val="687984"/>
                </a:solidFill>
                <a:latin typeface="Lato"/>
                <a:ea typeface="Lato"/>
                <a:cs typeface="Lato"/>
              </a:defRPr>
            </a:pPr>
            <a:r>
              <a:rPr sz="750" b="0">
                <a:solidFill>
                  <a:srgbClr val="687984"/>
                </a:solidFill>
                <a:latin typeface="Lato"/>
                <a:ea typeface="Lato"/>
                <a:cs typeface="Lato"/>
              </a:rPr>
              <a:t>07</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1c8a0c113a714f8b"/>
          <a:srcRect xmlns:a="http://schemas.openxmlformats.org/drawingml/2006/main" l="0" t="2740" r="0" b="2740"/>
          <a:stretch xmlns:a="http://schemas.openxmlformats.org/drawingml/2006/main">
            <a:fillRect l="0" t="0" r="0" b="0"/>
          </a:stretch>
        </p:blipFill>
        <p:spPr>
          <a:xfrm xmlns:a="http://schemas.openxmlformats.org/drawingml/2006/main">
            <a:off x="3857625" y="1771650"/>
            <a:ext cx="7667625" cy="40767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DE4A3EE9-8C6D-4F6E-955D-18367EA226ED}"/>
              </a:ext>
            </a:extLst>
          </p:cNvPr>
          <p:cNvSpPr>
            <a:spLocks xmlns:a="http://schemas.openxmlformats.org/drawingml/2006/main" noGrp="1"/>
          </p:cNvSpPr>
          <p:nvPr/>
        </p:nvSpPr>
        <p:spPr>
          <a:xfrm xmlns:a="http://schemas.openxmlformats.org/drawingml/2006/main">
            <a:off x="3857625" y="1771650"/>
            <a:ext cx="7667625" cy="4076700"/>
          </a:xfrm>
          <a:prstGeom xmlns:a="http://schemas.openxmlformats.org/drawingml/2006/main" prst="rect">
            <a:avLst/>
          </a:prstGeom>
          <a:noFill xmlns:a="http://schemas.openxmlformats.org/drawingml/2006/main"/>
          <a:ln xmlns:a="http://schemas.openxmlformats.org/drawingml/2006/main" w="9525">
            <a:solidFill>
              <a:srgbClr val="DCE5E2"/>
            </a:solidFill>
          </a:ln>
        </p:spPr>
      </p:sp>
      <p:sp>
        <p:nvSpPr>
          <p:cNvPr id="10" name="">
            <a:extLst xmlns:a="http://schemas.openxmlformats.org/drawingml/2006/main">
              <a:ext uri="{FF2B5EF4-FFF2-40B4-BE49-F238E27FC236}">
                <a16:creationId xmlns:a16="http://schemas.microsoft.com/office/drawing/2014/main" id="{6D702F12-76FE-4601-8A7F-CE893D8ACF50}"/>
              </a:ext>
            </a:extLst>
          </p:cNvPr>
          <p:cNvSpPr>
            <a:spLocks xmlns:a="http://schemas.openxmlformats.org/drawingml/2006/main" noGrp="1"/>
          </p:cNvSpPr>
          <p:nvPr/>
        </p:nvSpPr>
        <p:spPr>
          <a:xfrm xmlns:a="http://schemas.openxmlformats.org/drawingml/2006/main">
            <a:off x="3895725" y="5905500"/>
            <a:ext cx="7143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87984"/>
                </a:solidFill>
                <a:latin typeface="Lato"/>
                <a:ea typeface="Lato"/>
                <a:cs typeface="Lato"/>
              </a:defRPr>
            </a:pPr>
            <a:r>
              <a:rPr sz="825" b="0">
                <a:solidFill>
                  <a:srgbClr val="687984"/>
                </a:solidFill>
                <a:latin typeface="Lato"/>
                <a:ea typeface="Lato"/>
                <a:cs typeface="Lato"/>
              </a:rPr>
              <a:t>Public map: RCP 8.5, 2070–2099 change from 1986–2005</a:t>
            </a:r>
          </a:p>
        </p:txBody>
      </p:sp>
      <p:sp>
        <p:nvSpPr>
          <p:cNvPr id="11" name="">
            <a:extLst xmlns:a="http://schemas.openxmlformats.org/drawingml/2006/main">
              <a:ext uri="{FF2B5EF4-FFF2-40B4-BE49-F238E27FC236}">
                <a16:creationId xmlns:a16="http://schemas.microsoft.com/office/drawing/2014/main" id="{C59D5B09-9C19-47C8-9686-636E458510BA}"/>
              </a:ext>
            </a:extLst>
          </p:cNvPr>
          <p:cNvSpPr>
            <a:spLocks xmlns:a="http://schemas.openxmlformats.org/drawingml/2006/main" noGrp="1"/>
          </p:cNvSpPr>
          <p:nvPr/>
        </p:nvSpPr>
        <p:spPr>
          <a:xfrm xmlns:a="http://schemas.openxmlformats.org/drawingml/2006/main">
            <a:off x="647700" y="2095500"/>
            <a:ext cx="47625" cy="533400"/>
          </a:xfrm>
          <a:prstGeom xmlns:a="http://schemas.openxmlformats.org/drawingml/2006/main" prst="rect">
            <a:avLst/>
          </a:prstGeom>
          <a:solidFill xmlns:a="http://schemas.openxmlformats.org/drawingml/2006/main">
            <a:srgbClr val="00A88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8E8B4B0-E164-44F6-991F-2B2E96B910C6}"/>
              </a:ext>
            </a:extLst>
          </p:cNvPr>
          <p:cNvSpPr>
            <a:spLocks xmlns:a="http://schemas.openxmlformats.org/drawingml/2006/main" noGrp="1"/>
          </p:cNvSpPr>
          <p:nvPr/>
        </p:nvSpPr>
        <p:spPr>
          <a:xfrm xmlns:a="http://schemas.openxmlformats.org/drawingml/2006/main">
            <a:off x="838200" y="2085975"/>
            <a:ext cx="19240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1">
                <a:solidFill>
                  <a:srgbClr val="00A88F"/>
                </a:solidFill>
                <a:latin typeface="Lato"/>
                <a:ea typeface="Lato"/>
                <a:cs typeface="Lato"/>
              </a:defRPr>
            </a:pPr>
            <a:r>
              <a:rPr sz="825" b="1">
                <a:solidFill>
                  <a:srgbClr val="00A88F"/>
                </a:solidFill>
                <a:latin typeface="Lato"/>
                <a:ea typeface="Lato"/>
                <a:cs typeface="Lato"/>
              </a:rPr>
              <a:t>COMPARE</a:t>
            </a:r>
          </a:p>
        </p:txBody>
      </p:sp>
      <p:sp>
        <p:nvSpPr>
          <p:cNvPr id="13" name="">
            <a:extLst xmlns:a="http://schemas.openxmlformats.org/drawingml/2006/main">
              <a:ext uri="{FF2B5EF4-FFF2-40B4-BE49-F238E27FC236}">
                <a16:creationId xmlns:a16="http://schemas.microsoft.com/office/drawing/2014/main" id="{7D7D54C6-9034-41E7-A6C2-5CAF56A0EDD2}"/>
              </a:ext>
            </a:extLst>
          </p:cNvPr>
          <p:cNvSpPr>
            <a:spLocks xmlns:a="http://schemas.openxmlformats.org/drawingml/2006/main" noGrp="1"/>
          </p:cNvSpPr>
          <p:nvPr/>
        </p:nvSpPr>
        <p:spPr>
          <a:xfrm xmlns:a="http://schemas.openxmlformats.org/drawingml/2006/main">
            <a:off x="838200" y="2324100"/>
            <a:ext cx="2819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a:solidFill>
                  <a:srgbClr val="12304E"/>
                </a:solidFill>
                <a:latin typeface="Lato"/>
                <a:ea typeface="Lato"/>
                <a:cs typeface="Lato"/>
              </a:defRPr>
            </a:pPr>
            <a:r>
              <a:rPr sz="1275" b="1">
                <a:solidFill>
                  <a:srgbClr val="12304E"/>
                </a:solidFill>
                <a:latin typeface="Lato"/>
                <a:ea typeface="Lato"/>
                <a:cs typeface="Lato"/>
              </a:rPr>
              <a:t>Switch from Value to Change</a:t>
            </a:r>
          </a:p>
        </p:txBody>
      </p:sp>
      <p:sp>
        <p:nvSpPr>
          <p:cNvPr id="14" name="">
            <a:extLst xmlns:a="http://schemas.openxmlformats.org/drawingml/2006/main">
              <a:ext uri="{FF2B5EF4-FFF2-40B4-BE49-F238E27FC236}">
                <a16:creationId xmlns:a16="http://schemas.microsoft.com/office/drawing/2014/main" id="{A26DC4B0-A66C-48F7-BEF5-507C6A8BBD11}"/>
              </a:ext>
            </a:extLst>
          </p:cNvPr>
          <p:cNvSpPr>
            <a:spLocks xmlns:a="http://schemas.openxmlformats.org/drawingml/2006/main" noGrp="1"/>
          </p:cNvSpPr>
          <p:nvPr/>
        </p:nvSpPr>
        <p:spPr>
          <a:xfrm xmlns:a="http://schemas.openxmlformats.org/drawingml/2006/main">
            <a:off x="647700" y="3295650"/>
            <a:ext cx="47625" cy="533400"/>
          </a:xfrm>
          <a:prstGeom xmlns:a="http://schemas.openxmlformats.org/drawingml/2006/main" prst="rect">
            <a:avLst/>
          </a:prstGeom>
          <a:solidFill xmlns:a="http://schemas.openxmlformats.org/drawingml/2006/main">
            <a:srgbClr val="F2B63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7D39CD6-0940-47D5-B4AE-B61594300A7F}"/>
              </a:ext>
            </a:extLst>
          </p:cNvPr>
          <p:cNvSpPr>
            <a:spLocks xmlns:a="http://schemas.openxmlformats.org/drawingml/2006/main" noGrp="1"/>
          </p:cNvSpPr>
          <p:nvPr/>
        </p:nvSpPr>
        <p:spPr>
          <a:xfrm xmlns:a="http://schemas.openxmlformats.org/drawingml/2006/main">
            <a:off x="838200" y="3286125"/>
            <a:ext cx="19240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1">
                <a:solidFill>
                  <a:srgbClr val="F2B632"/>
                </a:solidFill>
                <a:latin typeface="Lato"/>
                <a:ea typeface="Lato"/>
                <a:cs typeface="Lato"/>
              </a:defRPr>
            </a:pPr>
            <a:r>
              <a:rPr sz="825" b="1">
                <a:solidFill>
                  <a:srgbClr val="F2B632"/>
                </a:solidFill>
                <a:latin typeface="Lato"/>
                <a:ea typeface="Lato"/>
                <a:cs typeface="Lato"/>
              </a:rPr>
              <a:t>BASELINE</a:t>
            </a:r>
          </a:p>
        </p:txBody>
      </p:sp>
      <p:sp>
        <p:nvSpPr>
          <p:cNvPr id="16" name="">
            <a:extLst xmlns:a="http://schemas.openxmlformats.org/drawingml/2006/main">
              <a:ext uri="{FF2B5EF4-FFF2-40B4-BE49-F238E27FC236}">
                <a16:creationId xmlns:a16="http://schemas.microsoft.com/office/drawing/2014/main" id="{4BBD156E-8185-4CCB-813A-8FD077D5398B}"/>
              </a:ext>
            </a:extLst>
          </p:cNvPr>
          <p:cNvSpPr>
            <a:spLocks xmlns:a="http://schemas.openxmlformats.org/drawingml/2006/main" noGrp="1"/>
          </p:cNvSpPr>
          <p:nvPr/>
        </p:nvSpPr>
        <p:spPr>
          <a:xfrm xmlns:a="http://schemas.openxmlformats.org/drawingml/2006/main">
            <a:off x="838200" y="3524250"/>
            <a:ext cx="2819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a:solidFill>
                  <a:srgbClr val="12304E"/>
                </a:solidFill>
                <a:latin typeface="Lato"/>
                <a:ea typeface="Lato"/>
                <a:cs typeface="Lato"/>
              </a:defRPr>
            </a:pPr>
            <a:r>
              <a:rPr sz="1275" b="1">
                <a:solidFill>
                  <a:srgbClr val="12304E"/>
                </a:solidFill>
                <a:latin typeface="Lato"/>
                <a:ea typeface="Lato"/>
                <a:cs typeface="Lato"/>
              </a:rPr>
              <a:t>Read the reference period</a:t>
            </a:r>
          </a:p>
        </p:txBody>
      </p:sp>
      <p:sp>
        <p:nvSpPr>
          <p:cNvPr id="17" name="">
            <a:extLst xmlns:a="http://schemas.openxmlformats.org/drawingml/2006/main">
              <a:ext uri="{FF2B5EF4-FFF2-40B4-BE49-F238E27FC236}">
                <a16:creationId xmlns:a16="http://schemas.microsoft.com/office/drawing/2014/main" id="{8D3445E1-598F-4307-B366-5F65E0943FD7}"/>
              </a:ext>
            </a:extLst>
          </p:cNvPr>
          <p:cNvSpPr>
            <a:spLocks xmlns:a="http://schemas.openxmlformats.org/drawingml/2006/main" noGrp="1"/>
          </p:cNvSpPr>
          <p:nvPr/>
        </p:nvSpPr>
        <p:spPr>
          <a:xfrm xmlns:a="http://schemas.openxmlformats.org/drawingml/2006/main">
            <a:off x="647700" y="4495800"/>
            <a:ext cx="47625" cy="533400"/>
          </a:xfrm>
          <a:prstGeom xmlns:a="http://schemas.openxmlformats.org/drawingml/2006/main" prst="rect">
            <a:avLst/>
          </a:prstGeom>
          <a:solidFill xmlns:a="http://schemas.openxmlformats.org/drawingml/2006/main">
            <a:srgbClr val="00A88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5BBB931-CC12-4A54-BDE5-C80211B4A591}"/>
              </a:ext>
            </a:extLst>
          </p:cNvPr>
          <p:cNvSpPr>
            <a:spLocks xmlns:a="http://schemas.openxmlformats.org/drawingml/2006/main" noGrp="1"/>
          </p:cNvSpPr>
          <p:nvPr/>
        </p:nvSpPr>
        <p:spPr>
          <a:xfrm xmlns:a="http://schemas.openxmlformats.org/drawingml/2006/main">
            <a:off x="838200" y="4486275"/>
            <a:ext cx="19240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1">
                <a:solidFill>
                  <a:srgbClr val="00A88F"/>
                </a:solidFill>
                <a:latin typeface="Lato"/>
                <a:ea typeface="Lato"/>
                <a:cs typeface="Lato"/>
              </a:defRPr>
            </a:pPr>
            <a:r>
              <a:rPr sz="825" b="1">
                <a:solidFill>
                  <a:srgbClr val="00A88F"/>
                </a:solidFill>
                <a:latin typeface="Lato"/>
                <a:ea typeface="Lato"/>
                <a:cs typeface="Lato"/>
              </a:rPr>
              <a:t>UNITS</a:t>
            </a:r>
          </a:p>
        </p:txBody>
      </p:sp>
      <p:sp>
        <p:nvSpPr>
          <p:cNvPr id="19" name="">
            <a:extLst xmlns:a="http://schemas.openxmlformats.org/drawingml/2006/main">
              <a:ext uri="{FF2B5EF4-FFF2-40B4-BE49-F238E27FC236}">
                <a16:creationId xmlns:a16="http://schemas.microsoft.com/office/drawing/2014/main" id="{114397DE-668D-40E5-8B2F-2274D77D4563}"/>
              </a:ext>
            </a:extLst>
          </p:cNvPr>
          <p:cNvSpPr>
            <a:spLocks xmlns:a="http://schemas.openxmlformats.org/drawingml/2006/main" noGrp="1"/>
          </p:cNvSpPr>
          <p:nvPr/>
        </p:nvSpPr>
        <p:spPr>
          <a:xfrm xmlns:a="http://schemas.openxmlformats.org/drawingml/2006/main">
            <a:off x="838200" y="4724400"/>
            <a:ext cx="2819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a:solidFill>
                  <a:srgbClr val="12304E"/>
                </a:solidFill>
                <a:latin typeface="Lato"/>
                <a:ea typeface="Lato"/>
                <a:cs typeface="Lato"/>
              </a:defRPr>
            </a:pPr>
            <a:r>
              <a:rPr sz="1275" b="1">
                <a:solidFill>
                  <a:srgbClr val="12304E"/>
                </a:solidFill>
                <a:latin typeface="Lato"/>
                <a:ea typeface="Lato"/>
                <a:cs typeface="Lato"/>
              </a:rPr>
              <a:t>Check whether the legend shows days or degrees</a:t>
            </a:r>
          </a:p>
        </p:txBody>
      </p:sp>
    </p:spTree>
    <p:extLst>
      <p:ext uri="{BB962C8B-B14F-4D97-AF65-F5344CB8AC3E}">
        <p14:creationId xmlns:p14="http://schemas.microsoft.com/office/powerpoint/2010/main" val="1458261793"/>
      </p:ext>
    </p:extLst>
  </p:cSld>
</p:sld>
</file>

<file path=ppt/slides/slide8.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5A4341F9-F05B-46AD-9DD3-BC9C95F51AB2}"/>
              </a:ext>
            </a:extLst>
          </p:cNvPr>
          <p:cNvSpPr>
            <a:spLocks xmlns:a="http://schemas.openxmlformats.org/drawingml/2006/main" noGrp="1"/>
          </p:cNvSpPr>
          <p:nvPr/>
        </p:nvSpPr>
        <p:spPr>
          <a:xfrm xmlns:a="http://schemas.openxmlformats.org/drawingml/2006/main">
            <a:off x="628650" y="438150"/>
            <a:ext cx="108966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a:solidFill>
                  <a:srgbClr val="12304E"/>
                </a:solidFill>
                <a:latin typeface="Lato"/>
                <a:ea typeface="Lato"/>
                <a:cs typeface="Lato"/>
              </a:defRPr>
            </a:pPr>
            <a:r>
              <a:rPr sz="2325" b="1">
                <a:solidFill>
                  <a:srgbClr val="12304E"/>
                </a:solidFill>
                <a:latin typeface="Lato"/>
                <a:ea typeface="Lato"/>
                <a:cs typeface="Lato"/>
              </a:rPr>
              <a:t>Reading a climate signal</a:t>
            </a:r>
          </a:p>
        </p:txBody>
      </p:sp>
      <p:sp>
        <p:nvSpPr>
          <p:cNvPr id="2" name="">
            <a:extLst xmlns:a="http://schemas.openxmlformats.org/drawingml/2006/main">
              <a:ext uri="{FF2B5EF4-FFF2-40B4-BE49-F238E27FC236}">
                <a16:creationId xmlns:a16="http://schemas.microsoft.com/office/drawing/2014/main" id="{BE16BF0F-326E-46AE-969C-01BC680F106F}"/>
              </a:ext>
            </a:extLst>
          </p:cNvPr>
          <p:cNvSpPr>
            <a:spLocks xmlns:a="http://schemas.openxmlformats.org/drawingml/2006/main" noGrp="1"/>
          </p:cNvSpPr>
          <p:nvPr/>
        </p:nvSpPr>
        <p:spPr>
          <a:xfrm xmlns:a="http://schemas.openxmlformats.org/drawingml/2006/main">
            <a:off x="647700" y="971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125" b="0">
                <a:solidFill>
                  <a:srgbClr val="687984"/>
                </a:solidFill>
                <a:latin typeface="Lato"/>
                <a:ea typeface="Lato"/>
                <a:cs typeface="Lato"/>
              </a:defRPr>
            </a:pPr>
            <a:r>
              <a:rPr sz="1125" b="0">
                <a:solidFill>
                  <a:srgbClr val="687984"/>
                </a:solidFill>
                <a:latin typeface="Lato"/>
                <a:ea typeface="Lato"/>
                <a:cs typeface="Lato"/>
              </a:rPr>
              <a:t>A map is the beginning of interpretation</a:t>
            </a:r>
          </a:p>
        </p:txBody>
      </p:sp>
      <p:sp>
        <p:nvSpPr>
          <p:cNvPr id="3" name="">
            <a:extLst xmlns:a="http://schemas.openxmlformats.org/drawingml/2006/main">
              <a:ext uri="{FF2B5EF4-FFF2-40B4-BE49-F238E27FC236}">
                <a16:creationId xmlns:a16="http://schemas.microsoft.com/office/drawing/2014/main" id="{689CBF89-E813-4558-9005-5E62031EC01D}"/>
              </a:ext>
            </a:extLst>
          </p:cNvPr>
          <p:cNvSpPr>
            <a:spLocks xmlns:a="http://schemas.openxmlformats.org/drawingml/2006/main" noGrp="1"/>
          </p:cNvSpPr>
          <p:nvPr/>
        </p:nvSpPr>
        <p:spPr>
          <a:xfrm xmlns:a="http://schemas.openxmlformats.org/drawingml/2006/main">
            <a:off x="647700" y="1390650"/>
            <a:ext cx="1089660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33E63F1-454A-4371-8082-DE473FD91046}"/>
              </a:ext>
            </a:extLst>
          </p:cNvPr>
          <p:cNvSpPr>
            <a:spLocks xmlns:a="http://schemas.openxmlformats.org/drawingml/2006/main" noGrp="1"/>
          </p:cNvSpPr>
          <p:nvPr/>
        </p:nvSpPr>
        <p:spPr>
          <a:xfrm xmlns:a="http://schemas.openxmlformats.org/drawingml/2006/main">
            <a:off x="657225" y="1495425"/>
            <a:ext cx="990600" cy="28575"/>
          </a:xfrm>
          <a:prstGeom xmlns:a="http://schemas.openxmlformats.org/drawingml/2006/main" prst="rect">
            <a:avLst/>
          </a:prstGeom>
          <a:solidFill xmlns:a="http://schemas.openxmlformats.org/drawingml/2006/main">
            <a:srgbClr val="00A88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C8EE805-7F9A-4883-9225-81E39569D620}"/>
              </a:ext>
            </a:extLst>
          </p:cNvPr>
          <p:cNvSpPr>
            <a:spLocks xmlns:a="http://schemas.openxmlformats.org/drawingml/2006/main" noGrp="1"/>
          </p:cNvSpPr>
          <p:nvPr/>
        </p:nvSpPr>
        <p:spPr>
          <a:xfrm xmlns:a="http://schemas.openxmlformats.org/drawingml/2006/main">
            <a:off x="647700" y="6238875"/>
            <a:ext cx="1089660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D8AC87E-EA2C-4EBC-BC36-996A1B0588D6}"/>
              </a:ext>
            </a:extLst>
          </p:cNvPr>
          <p:cNvSpPr>
            <a:spLocks xmlns:a="http://schemas.openxmlformats.org/drawingml/2006/main" noGrp="1"/>
          </p:cNvSpPr>
          <p:nvPr/>
        </p:nvSpPr>
        <p:spPr>
          <a:xfrm xmlns:a="http://schemas.openxmlformats.org/drawingml/2006/main">
            <a:off x="657225" y="6353175"/>
            <a:ext cx="2381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750" b="1">
                <a:solidFill>
                  <a:srgbClr val="687984"/>
                </a:solidFill>
                <a:latin typeface="Lato"/>
                <a:ea typeface="Lato"/>
                <a:cs typeface="Lato"/>
              </a:defRPr>
            </a:pPr>
            <a:r>
              <a:rPr sz="750" b="1">
                <a:solidFill>
                  <a:srgbClr val="687984"/>
                </a:solidFill>
                <a:latin typeface="Lato"/>
                <a:ea typeface="Lato"/>
                <a:cs typeface="Lato"/>
              </a:rPr>
              <a:t>CAVA MODULE 2</a:t>
            </a:r>
          </a:p>
        </p:txBody>
      </p:sp>
      <p:sp>
        <p:nvSpPr>
          <p:cNvPr id="7" name="">
            <a:extLst xmlns:a="http://schemas.openxmlformats.org/drawingml/2006/main">
              <a:ext uri="{FF2B5EF4-FFF2-40B4-BE49-F238E27FC236}">
                <a16:creationId xmlns:a16="http://schemas.microsoft.com/office/drawing/2014/main" id="{8ECA1604-6AB2-4EE3-9A6A-C61B888843FA}"/>
              </a:ext>
            </a:extLst>
          </p:cNvPr>
          <p:cNvSpPr>
            <a:spLocks xmlns:a="http://schemas.openxmlformats.org/drawingml/2006/main" noGrp="1"/>
          </p:cNvSpPr>
          <p:nvPr/>
        </p:nvSpPr>
        <p:spPr>
          <a:xfrm xmlns:a="http://schemas.openxmlformats.org/drawingml/2006/main">
            <a:off x="11049000" y="6343650"/>
            <a:ext cx="4572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2000"/>
              </a:lnSpc>
              <a:buNone/>
              <a:defRPr sz="750" b="0">
                <a:solidFill>
                  <a:srgbClr val="687984"/>
                </a:solidFill>
                <a:latin typeface="Lato"/>
                <a:ea typeface="Lato"/>
                <a:cs typeface="Lato"/>
              </a:defRPr>
            </a:pPr>
            <a:r>
              <a:rPr sz="750" b="0">
                <a:solidFill>
                  <a:srgbClr val="687984"/>
                </a:solidFill>
                <a:latin typeface="Lato"/>
                <a:ea typeface="Lato"/>
                <a:cs typeface="Lato"/>
              </a:rPr>
              <a:t>08</a:t>
            </a:r>
          </a:p>
        </p:txBody>
      </p:sp>
      <p:sp>
        <p:nvSpPr>
          <p:cNvPr id="8" name="">
            <a:extLst xmlns:a="http://schemas.openxmlformats.org/drawingml/2006/main">
              <a:ext uri="{FF2B5EF4-FFF2-40B4-BE49-F238E27FC236}">
                <a16:creationId xmlns:a16="http://schemas.microsoft.com/office/drawing/2014/main" id="{7223328F-7F71-470B-9F78-6FF3B863F676}"/>
              </a:ext>
            </a:extLst>
          </p:cNvPr>
          <p:cNvSpPr>
            <a:spLocks xmlns:a="http://schemas.openxmlformats.org/drawingml/2006/main" noGrp="1"/>
          </p:cNvSpPr>
          <p:nvPr/>
        </p:nvSpPr>
        <p:spPr>
          <a:xfrm xmlns:a="http://schemas.openxmlformats.org/drawingml/2006/main">
            <a:off x="704850" y="1924050"/>
            <a:ext cx="60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00" b="1">
                <a:solidFill>
                  <a:srgbClr val="00A88F"/>
                </a:solidFill>
                <a:latin typeface="Lato"/>
                <a:ea typeface="Lato"/>
                <a:cs typeface="Lato"/>
              </a:defRPr>
            </a:pPr>
            <a:r>
              <a:rPr sz="1500" b="1">
                <a:solidFill>
                  <a:srgbClr val="00A88F"/>
                </a:solidFill>
                <a:latin typeface="Lato"/>
                <a:ea typeface="Lato"/>
                <a:cs typeface="Lato"/>
              </a:rPr>
              <a:t>01</a:t>
            </a:r>
          </a:p>
        </p:txBody>
      </p:sp>
      <p:sp>
        <p:nvSpPr>
          <p:cNvPr id="9" name="">
            <a:extLst xmlns:a="http://schemas.openxmlformats.org/drawingml/2006/main">
              <a:ext uri="{FF2B5EF4-FFF2-40B4-BE49-F238E27FC236}">
                <a16:creationId xmlns:a16="http://schemas.microsoft.com/office/drawing/2014/main" id="{4CA519E5-CA9B-45D0-92A1-6EDDA79D847B}"/>
              </a:ext>
            </a:extLst>
          </p:cNvPr>
          <p:cNvSpPr>
            <a:spLocks xmlns:a="http://schemas.openxmlformats.org/drawingml/2006/main" noGrp="1"/>
          </p:cNvSpPr>
          <p:nvPr/>
        </p:nvSpPr>
        <p:spPr>
          <a:xfrm xmlns:a="http://schemas.openxmlformats.org/drawingml/2006/main">
            <a:off x="1495425" y="1895475"/>
            <a:ext cx="23336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025" b="1">
                <a:solidFill>
                  <a:srgbClr val="12304E"/>
                </a:solidFill>
                <a:latin typeface="Lato"/>
                <a:ea typeface="Lato"/>
                <a:cs typeface="Lato"/>
              </a:defRPr>
            </a:pPr>
            <a:r>
              <a:rPr sz="2025" b="1">
                <a:solidFill>
                  <a:srgbClr val="12304E"/>
                </a:solidFill>
                <a:latin typeface="Lato"/>
                <a:ea typeface="Lato"/>
                <a:cs typeface="Lato"/>
              </a:rPr>
              <a:t>Magnitude</a:t>
            </a:r>
          </a:p>
        </p:txBody>
      </p:sp>
      <p:sp>
        <p:nvSpPr>
          <p:cNvPr id="10" name="">
            <a:extLst xmlns:a="http://schemas.openxmlformats.org/drawingml/2006/main">
              <a:ext uri="{FF2B5EF4-FFF2-40B4-BE49-F238E27FC236}">
                <a16:creationId xmlns:a16="http://schemas.microsoft.com/office/drawing/2014/main" id="{0D2B5BA6-B179-4629-BF40-33440EFD6116}"/>
              </a:ext>
            </a:extLst>
          </p:cNvPr>
          <p:cNvSpPr>
            <a:spLocks xmlns:a="http://schemas.openxmlformats.org/drawingml/2006/main" noGrp="1"/>
          </p:cNvSpPr>
          <p:nvPr/>
        </p:nvSpPr>
        <p:spPr>
          <a:xfrm xmlns:a="http://schemas.openxmlformats.org/drawingml/2006/main">
            <a:off x="4286250" y="1933575"/>
            <a:ext cx="676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425" b="0">
                <a:solidFill>
                  <a:srgbClr val="17324D"/>
                </a:solidFill>
                <a:latin typeface="Lato"/>
                <a:ea typeface="Lato"/>
                <a:cs typeface="Lato"/>
              </a:defRPr>
            </a:pPr>
            <a:r>
              <a:rPr sz="1425" b="0">
                <a:solidFill>
                  <a:srgbClr val="17324D"/>
                </a:solidFill>
                <a:latin typeface="Lato"/>
                <a:ea typeface="Lato"/>
                <a:cs typeface="Lato"/>
              </a:rPr>
              <a:t>How large is the difference, in the legend’s units?</a:t>
            </a:r>
          </a:p>
        </p:txBody>
      </p:sp>
      <p:sp>
        <p:nvSpPr>
          <p:cNvPr id="11" name="">
            <a:extLst xmlns:a="http://schemas.openxmlformats.org/drawingml/2006/main">
              <a:ext uri="{FF2B5EF4-FFF2-40B4-BE49-F238E27FC236}">
                <a16:creationId xmlns:a16="http://schemas.microsoft.com/office/drawing/2014/main" id="{333CA80D-C01D-4406-9FEA-86AAD2607A1B}"/>
              </a:ext>
            </a:extLst>
          </p:cNvPr>
          <p:cNvSpPr>
            <a:spLocks xmlns:a="http://schemas.openxmlformats.org/drawingml/2006/main" noGrp="1"/>
          </p:cNvSpPr>
          <p:nvPr/>
        </p:nvSpPr>
        <p:spPr>
          <a:xfrm xmlns:a="http://schemas.openxmlformats.org/drawingml/2006/main">
            <a:off x="666750" y="2543175"/>
            <a:ext cx="10829925"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780B91E-E7E6-4056-9151-02F3A85721D3}"/>
              </a:ext>
            </a:extLst>
          </p:cNvPr>
          <p:cNvSpPr>
            <a:spLocks xmlns:a="http://schemas.openxmlformats.org/drawingml/2006/main" noGrp="1"/>
          </p:cNvSpPr>
          <p:nvPr/>
        </p:nvSpPr>
        <p:spPr>
          <a:xfrm xmlns:a="http://schemas.openxmlformats.org/drawingml/2006/main">
            <a:off x="704850" y="2876550"/>
            <a:ext cx="60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00" b="1">
                <a:solidFill>
                  <a:srgbClr val="00A88F"/>
                </a:solidFill>
                <a:latin typeface="Lato"/>
                <a:ea typeface="Lato"/>
                <a:cs typeface="Lato"/>
              </a:defRPr>
            </a:pPr>
            <a:r>
              <a:rPr sz="1500" b="1">
                <a:solidFill>
                  <a:srgbClr val="00A88F"/>
                </a:solidFill>
                <a:latin typeface="Lato"/>
                <a:ea typeface="Lato"/>
                <a:cs typeface="Lato"/>
              </a:rPr>
              <a:t>02</a:t>
            </a:r>
          </a:p>
        </p:txBody>
      </p:sp>
      <p:sp>
        <p:nvSpPr>
          <p:cNvPr id="13" name="">
            <a:extLst xmlns:a="http://schemas.openxmlformats.org/drawingml/2006/main">
              <a:ext uri="{FF2B5EF4-FFF2-40B4-BE49-F238E27FC236}">
                <a16:creationId xmlns:a16="http://schemas.microsoft.com/office/drawing/2014/main" id="{373E7402-BB31-418E-9B8E-4B485A65E5E8}"/>
              </a:ext>
            </a:extLst>
          </p:cNvPr>
          <p:cNvSpPr>
            <a:spLocks xmlns:a="http://schemas.openxmlformats.org/drawingml/2006/main" noGrp="1"/>
          </p:cNvSpPr>
          <p:nvPr/>
        </p:nvSpPr>
        <p:spPr>
          <a:xfrm xmlns:a="http://schemas.openxmlformats.org/drawingml/2006/main">
            <a:off x="1495425" y="2847975"/>
            <a:ext cx="23336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025" b="1">
                <a:solidFill>
                  <a:srgbClr val="12304E"/>
                </a:solidFill>
                <a:latin typeface="Lato"/>
                <a:ea typeface="Lato"/>
                <a:cs typeface="Lato"/>
              </a:defRPr>
            </a:pPr>
            <a:r>
              <a:rPr sz="2025" b="1">
                <a:solidFill>
                  <a:srgbClr val="12304E"/>
                </a:solidFill>
                <a:latin typeface="Lato"/>
                <a:ea typeface="Lato"/>
                <a:cs typeface="Lato"/>
              </a:rPr>
              <a:t>Pattern</a:t>
            </a:r>
          </a:p>
        </p:txBody>
      </p:sp>
      <p:sp>
        <p:nvSpPr>
          <p:cNvPr id="14" name="">
            <a:extLst xmlns:a="http://schemas.openxmlformats.org/drawingml/2006/main">
              <a:ext uri="{FF2B5EF4-FFF2-40B4-BE49-F238E27FC236}">
                <a16:creationId xmlns:a16="http://schemas.microsoft.com/office/drawing/2014/main" id="{4BEC7D78-0875-4C71-88DA-1EDF0ADB5F47}"/>
              </a:ext>
            </a:extLst>
          </p:cNvPr>
          <p:cNvSpPr>
            <a:spLocks xmlns:a="http://schemas.openxmlformats.org/drawingml/2006/main" noGrp="1"/>
          </p:cNvSpPr>
          <p:nvPr/>
        </p:nvSpPr>
        <p:spPr>
          <a:xfrm xmlns:a="http://schemas.openxmlformats.org/drawingml/2006/main">
            <a:off x="4286250" y="2886075"/>
            <a:ext cx="676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425" b="0">
                <a:solidFill>
                  <a:srgbClr val="17324D"/>
                </a:solidFill>
                <a:latin typeface="Lato"/>
                <a:ea typeface="Lato"/>
                <a:cs typeface="Lato"/>
              </a:defRPr>
            </a:pPr>
            <a:r>
              <a:rPr sz="1425" b="0">
                <a:solidFill>
                  <a:srgbClr val="17324D"/>
                </a:solidFill>
                <a:latin typeface="Lato"/>
                <a:ea typeface="Lato"/>
                <a:cs typeface="Lato"/>
              </a:rPr>
              <a:t>Is the signal widespread or localized?</a:t>
            </a:r>
          </a:p>
        </p:txBody>
      </p:sp>
      <p:sp>
        <p:nvSpPr>
          <p:cNvPr id="15" name="">
            <a:extLst xmlns:a="http://schemas.openxmlformats.org/drawingml/2006/main">
              <a:ext uri="{FF2B5EF4-FFF2-40B4-BE49-F238E27FC236}">
                <a16:creationId xmlns:a16="http://schemas.microsoft.com/office/drawing/2014/main" id="{C9A6F7A6-9B37-4E7E-8030-49004B3A7A82}"/>
              </a:ext>
            </a:extLst>
          </p:cNvPr>
          <p:cNvSpPr>
            <a:spLocks xmlns:a="http://schemas.openxmlformats.org/drawingml/2006/main" noGrp="1"/>
          </p:cNvSpPr>
          <p:nvPr/>
        </p:nvSpPr>
        <p:spPr>
          <a:xfrm xmlns:a="http://schemas.openxmlformats.org/drawingml/2006/main">
            <a:off x="666750" y="3495675"/>
            <a:ext cx="10829925"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739A4A4-F674-4818-BF24-F87EBF317344}"/>
              </a:ext>
            </a:extLst>
          </p:cNvPr>
          <p:cNvSpPr>
            <a:spLocks xmlns:a="http://schemas.openxmlformats.org/drawingml/2006/main" noGrp="1"/>
          </p:cNvSpPr>
          <p:nvPr/>
        </p:nvSpPr>
        <p:spPr>
          <a:xfrm xmlns:a="http://schemas.openxmlformats.org/drawingml/2006/main">
            <a:off x="704850" y="3829050"/>
            <a:ext cx="60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00" b="1">
                <a:solidFill>
                  <a:srgbClr val="00A88F"/>
                </a:solidFill>
                <a:latin typeface="Lato"/>
                <a:ea typeface="Lato"/>
                <a:cs typeface="Lato"/>
              </a:defRPr>
            </a:pPr>
            <a:r>
              <a:rPr sz="1500" b="1">
                <a:solidFill>
                  <a:srgbClr val="00A88F"/>
                </a:solidFill>
                <a:latin typeface="Lato"/>
                <a:ea typeface="Lato"/>
                <a:cs typeface="Lato"/>
              </a:rPr>
              <a:t>03</a:t>
            </a:r>
          </a:p>
        </p:txBody>
      </p:sp>
      <p:sp>
        <p:nvSpPr>
          <p:cNvPr id="17" name="">
            <a:extLst xmlns:a="http://schemas.openxmlformats.org/drawingml/2006/main">
              <a:ext uri="{FF2B5EF4-FFF2-40B4-BE49-F238E27FC236}">
                <a16:creationId xmlns:a16="http://schemas.microsoft.com/office/drawing/2014/main" id="{D3380CDA-C844-4E1B-B89D-29EA156C7A23}"/>
              </a:ext>
            </a:extLst>
          </p:cNvPr>
          <p:cNvSpPr>
            <a:spLocks xmlns:a="http://schemas.openxmlformats.org/drawingml/2006/main" noGrp="1"/>
          </p:cNvSpPr>
          <p:nvPr/>
        </p:nvSpPr>
        <p:spPr>
          <a:xfrm xmlns:a="http://schemas.openxmlformats.org/drawingml/2006/main">
            <a:off x="1495425" y="3800475"/>
            <a:ext cx="23336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025" b="1">
                <a:solidFill>
                  <a:srgbClr val="12304E"/>
                </a:solidFill>
                <a:latin typeface="Lato"/>
                <a:ea typeface="Lato"/>
                <a:cs typeface="Lato"/>
              </a:defRPr>
            </a:pPr>
            <a:r>
              <a:rPr sz="2025" b="1">
                <a:solidFill>
                  <a:srgbClr val="12304E"/>
                </a:solidFill>
                <a:latin typeface="Lato"/>
                <a:ea typeface="Lato"/>
                <a:cs typeface="Lato"/>
              </a:rPr>
              <a:t>Comparison</a:t>
            </a:r>
          </a:p>
        </p:txBody>
      </p:sp>
      <p:sp>
        <p:nvSpPr>
          <p:cNvPr id="18" name="">
            <a:extLst xmlns:a="http://schemas.openxmlformats.org/drawingml/2006/main">
              <a:ext uri="{FF2B5EF4-FFF2-40B4-BE49-F238E27FC236}">
                <a16:creationId xmlns:a16="http://schemas.microsoft.com/office/drawing/2014/main" id="{494991F5-88EA-412A-9D15-07F37C38D63A}"/>
              </a:ext>
            </a:extLst>
          </p:cNvPr>
          <p:cNvSpPr>
            <a:spLocks xmlns:a="http://schemas.openxmlformats.org/drawingml/2006/main" noGrp="1"/>
          </p:cNvSpPr>
          <p:nvPr/>
        </p:nvSpPr>
        <p:spPr>
          <a:xfrm xmlns:a="http://schemas.openxmlformats.org/drawingml/2006/main">
            <a:off x="4286250" y="3838575"/>
            <a:ext cx="676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425" b="0">
                <a:solidFill>
                  <a:srgbClr val="17324D"/>
                </a:solidFill>
                <a:latin typeface="Lato"/>
                <a:ea typeface="Lato"/>
                <a:cs typeface="Lato"/>
              </a:defRPr>
            </a:pPr>
            <a:r>
              <a:rPr sz="1425" b="0">
                <a:solidFill>
                  <a:srgbClr val="17324D"/>
                </a:solidFill>
                <a:latin typeface="Lato"/>
                <a:ea typeface="Lato"/>
                <a:cs typeface="Lato"/>
              </a:rPr>
              <a:t>Which baseline, scenario and future period are selected?</a:t>
            </a:r>
          </a:p>
        </p:txBody>
      </p:sp>
      <p:sp>
        <p:nvSpPr>
          <p:cNvPr id="19" name="">
            <a:extLst xmlns:a="http://schemas.openxmlformats.org/drawingml/2006/main">
              <a:ext uri="{FF2B5EF4-FFF2-40B4-BE49-F238E27FC236}">
                <a16:creationId xmlns:a16="http://schemas.microsoft.com/office/drawing/2014/main" id="{4FEABD66-65E6-4F84-A121-50AC4095EA5A}"/>
              </a:ext>
            </a:extLst>
          </p:cNvPr>
          <p:cNvSpPr>
            <a:spLocks xmlns:a="http://schemas.openxmlformats.org/drawingml/2006/main" noGrp="1"/>
          </p:cNvSpPr>
          <p:nvPr/>
        </p:nvSpPr>
        <p:spPr>
          <a:xfrm xmlns:a="http://schemas.openxmlformats.org/drawingml/2006/main">
            <a:off x="666750" y="4448175"/>
            <a:ext cx="10829925"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D275C21-A347-4E74-848E-152841CE13BD}"/>
              </a:ext>
            </a:extLst>
          </p:cNvPr>
          <p:cNvSpPr>
            <a:spLocks xmlns:a="http://schemas.openxmlformats.org/drawingml/2006/main" noGrp="1"/>
          </p:cNvSpPr>
          <p:nvPr/>
        </p:nvSpPr>
        <p:spPr>
          <a:xfrm xmlns:a="http://schemas.openxmlformats.org/drawingml/2006/main">
            <a:off x="704850" y="4781550"/>
            <a:ext cx="60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00" b="1">
                <a:solidFill>
                  <a:srgbClr val="F2B632"/>
                </a:solidFill>
                <a:latin typeface="Lato"/>
                <a:ea typeface="Lato"/>
                <a:cs typeface="Lato"/>
              </a:defRPr>
            </a:pPr>
            <a:r>
              <a:rPr sz="1500" b="1">
                <a:solidFill>
                  <a:srgbClr val="F2B632"/>
                </a:solidFill>
                <a:latin typeface="Lato"/>
                <a:ea typeface="Lato"/>
                <a:cs typeface="Lato"/>
              </a:rPr>
              <a:t>04</a:t>
            </a:r>
          </a:p>
        </p:txBody>
      </p:sp>
      <p:sp>
        <p:nvSpPr>
          <p:cNvPr id="21" name="">
            <a:extLst xmlns:a="http://schemas.openxmlformats.org/drawingml/2006/main">
              <a:ext uri="{FF2B5EF4-FFF2-40B4-BE49-F238E27FC236}">
                <a16:creationId xmlns:a16="http://schemas.microsoft.com/office/drawing/2014/main" id="{248F1AEC-63CA-49F4-A532-17573DC9D04E}"/>
              </a:ext>
            </a:extLst>
          </p:cNvPr>
          <p:cNvSpPr>
            <a:spLocks xmlns:a="http://schemas.openxmlformats.org/drawingml/2006/main" noGrp="1"/>
          </p:cNvSpPr>
          <p:nvPr/>
        </p:nvSpPr>
        <p:spPr>
          <a:xfrm xmlns:a="http://schemas.openxmlformats.org/drawingml/2006/main">
            <a:off x="1495425" y="4752975"/>
            <a:ext cx="23336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025" b="1">
                <a:solidFill>
                  <a:srgbClr val="12304E"/>
                </a:solidFill>
                <a:latin typeface="Lato"/>
                <a:ea typeface="Lato"/>
                <a:cs typeface="Lato"/>
              </a:defRPr>
            </a:pPr>
            <a:r>
              <a:rPr sz="2025" b="1">
                <a:solidFill>
                  <a:srgbClr val="12304E"/>
                </a:solidFill>
                <a:latin typeface="Lato"/>
                <a:ea typeface="Lato"/>
                <a:cs typeface="Lato"/>
              </a:rPr>
              <a:t>Confidence</a:t>
            </a:r>
          </a:p>
        </p:txBody>
      </p:sp>
      <p:sp>
        <p:nvSpPr>
          <p:cNvPr id="22" name="">
            <a:extLst xmlns:a="http://schemas.openxmlformats.org/drawingml/2006/main">
              <a:ext uri="{FF2B5EF4-FFF2-40B4-BE49-F238E27FC236}">
                <a16:creationId xmlns:a16="http://schemas.microsoft.com/office/drawing/2014/main" id="{A2CC7068-0396-474D-9495-1AC48AAF6447}"/>
              </a:ext>
            </a:extLst>
          </p:cNvPr>
          <p:cNvSpPr>
            <a:spLocks xmlns:a="http://schemas.openxmlformats.org/drawingml/2006/main" noGrp="1"/>
          </p:cNvSpPr>
          <p:nvPr/>
        </p:nvSpPr>
        <p:spPr>
          <a:xfrm xmlns:a="http://schemas.openxmlformats.org/drawingml/2006/main">
            <a:off x="4286250" y="4791075"/>
            <a:ext cx="676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425" b="0">
                <a:solidFill>
                  <a:srgbClr val="17324D"/>
                </a:solidFill>
                <a:latin typeface="Lato"/>
                <a:ea typeface="Lato"/>
                <a:cs typeface="Lato"/>
              </a:defRPr>
            </a:pPr>
            <a:r>
              <a:rPr sz="1425" b="0">
                <a:solidFill>
                  <a:srgbClr val="17324D"/>
                </a:solidFill>
                <a:latin typeface="Lato"/>
                <a:ea typeface="Lato"/>
                <a:cs typeface="Lato"/>
              </a:rPr>
              <a:t>What do other models or available analyses show?</a:t>
            </a:r>
          </a:p>
        </p:txBody>
      </p:sp>
      <p:sp>
        <p:nvSpPr>
          <p:cNvPr id="23" name="">
            <a:extLst xmlns:a="http://schemas.openxmlformats.org/drawingml/2006/main">
              <a:ext uri="{FF2B5EF4-FFF2-40B4-BE49-F238E27FC236}">
                <a16:creationId xmlns:a16="http://schemas.microsoft.com/office/drawing/2014/main" id="{5E3209AC-9DC2-46F0-9C84-6C80723C9BB3}"/>
              </a:ext>
            </a:extLst>
          </p:cNvPr>
          <p:cNvSpPr>
            <a:spLocks xmlns:a="http://schemas.openxmlformats.org/drawingml/2006/main" noGrp="1"/>
          </p:cNvSpPr>
          <p:nvPr/>
        </p:nvSpPr>
        <p:spPr>
          <a:xfrm xmlns:a="http://schemas.openxmlformats.org/drawingml/2006/main">
            <a:off x="666750" y="5400675"/>
            <a:ext cx="10829925"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E189D44C-38B6-4D7D-8721-DB51EF322147}"/>
              </a:ext>
            </a:extLst>
          </p:cNvPr>
          <p:cNvSpPr>
            <a:spLocks xmlns:a="http://schemas.openxmlformats.org/drawingml/2006/main" noGrp="1"/>
          </p:cNvSpPr>
          <p:nvPr/>
        </p:nvSpPr>
        <p:spPr>
          <a:xfrm xmlns:a="http://schemas.openxmlformats.org/drawingml/2006/main">
            <a:off x="685800" y="57626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275" b="1">
                <a:solidFill>
                  <a:srgbClr val="008D7A"/>
                </a:solidFill>
                <a:latin typeface="Lato"/>
                <a:ea typeface="Lato"/>
                <a:cs typeface="Lato"/>
              </a:defRPr>
            </a:pPr>
            <a:r>
              <a:rPr sz="1275" b="1">
                <a:solidFill>
                  <a:srgbClr val="008D7A"/>
                </a:solidFill>
                <a:latin typeface="Lato"/>
                <a:ea typeface="Lato"/>
                <a:cs typeface="Lato"/>
              </a:rPr>
              <a:t>Interpret the output alongside the project’s exposure, vulnerability and decision context.</a:t>
            </a:r>
          </a:p>
        </p:txBody>
      </p:sp>
    </p:spTree>
    <p:extLst>
      <p:ext uri="{BB962C8B-B14F-4D97-AF65-F5344CB8AC3E}">
        <p14:creationId xmlns:p14="http://schemas.microsoft.com/office/powerpoint/2010/main" val="832638249"/>
      </p:ext>
    </p:extLst>
  </p:cSld>
</p:sld>
</file>

<file path=ppt/slides/slide9.xml><?xml version="1.0" encoding="utf-8"?>
<p:sld xmlns:p="http://schemas.openxmlformats.org/presentationml/2006/main">
  <p:cSld>
    <p:bg>
      <p:bgPr>
        <a:solidFill xmlns:a="http://schemas.openxmlformats.org/drawingml/2006/main">
          <a:srgbClr val="12304E"/>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2354B37-A678-455C-B4F8-25383FE5F429}"/>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00A88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2DE398F-9C18-4EA9-BD06-FC7BDCDF3F04}"/>
              </a:ext>
            </a:extLst>
          </p:cNvPr>
          <p:cNvSpPr>
            <a:spLocks xmlns:a="http://schemas.openxmlformats.org/drawingml/2006/main" noGrp="1"/>
          </p:cNvSpPr>
          <p:nvPr/>
        </p:nvSpPr>
        <p:spPr>
          <a:xfrm xmlns:a="http://schemas.openxmlformats.org/drawingml/2006/main">
            <a:off x="733425" y="647700"/>
            <a:ext cx="1028700" cy="38100"/>
          </a:xfrm>
          <a:prstGeom xmlns:a="http://schemas.openxmlformats.org/drawingml/2006/main" prst="rect">
            <a:avLst/>
          </a:prstGeom>
          <a:solidFill xmlns:a="http://schemas.openxmlformats.org/drawingml/2006/main">
            <a:srgbClr val="F2B632"/>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BAA5487-A3FD-4F0A-B378-5DF45BEAC3A2}"/>
              </a:ext>
            </a:extLst>
          </p:cNvPr>
          <p:cNvSpPr>
            <a:spLocks xmlns:a="http://schemas.openxmlformats.org/drawingml/2006/main" noGrp="1"/>
          </p:cNvSpPr>
          <p:nvPr/>
        </p:nvSpPr>
        <p:spPr>
          <a:xfrm xmlns:a="http://schemas.openxmlformats.org/drawingml/2006/main">
            <a:off x="733425" y="1038225"/>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8D8C8"/>
                </a:solidFill>
                <a:latin typeface="Lato"/>
                <a:ea typeface="Lato"/>
                <a:cs typeface="Lato"/>
              </a:defRPr>
            </a:pPr>
            <a:r>
              <a:rPr sz="975" b="1">
                <a:solidFill>
                  <a:srgbClr val="78D8C8"/>
                </a:solidFill>
                <a:latin typeface="Lato"/>
                <a:ea typeface="Lato"/>
                <a:cs typeface="Lato"/>
              </a:rPr>
              <a:t>YOUR TURN</a:t>
            </a:r>
          </a:p>
        </p:txBody>
      </p:sp>
      <p:sp>
        <p:nvSpPr>
          <p:cNvPr id="4" name="">
            <a:extLst xmlns:a="http://schemas.openxmlformats.org/drawingml/2006/main">
              <a:ext uri="{FF2B5EF4-FFF2-40B4-BE49-F238E27FC236}">
                <a16:creationId xmlns:a16="http://schemas.microsoft.com/office/drawing/2014/main" id="{E4B5A25A-8E1D-4F96-BC47-30D71C764F5C}"/>
              </a:ext>
            </a:extLst>
          </p:cNvPr>
          <p:cNvSpPr>
            <a:spLocks xmlns:a="http://schemas.openxmlformats.org/drawingml/2006/main" noGrp="1"/>
          </p:cNvSpPr>
          <p:nvPr/>
        </p:nvSpPr>
        <p:spPr>
          <a:xfrm xmlns:a="http://schemas.openxmlformats.org/drawingml/2006/main">
            <a:off x="733425" y="1704975"/>
            <a:ext cx="942975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3675" b="1">
                <a:solidFill>
                  <a:srgbClr val="FFFFFF"/>
                </a:solidFill>
                <a:latin typeface="Lato"/>
                <a:ea typeface="Lato"/>
                <a:cs typeface="Lato"/>
              </a:defRPr>
            </a:pPr>
            <a:r>
              <a:rPr sz="3675" b="1">
                <a:solidFill>
                  <a:srgbClr val="FFFFFF"/>
                </a:solidFill>
                <a:latin typeface="Lato"/>
                <a:ea typeface="Lato"/>
                <a:cs typeface="Lato"/>
              </a:rPr>
              <a:t>Try the same workflow</a:t>
            </a:r>
          </a:p>
          <a:p xmlns:a="http://schemas.openxmlformats.org/drawingml/2006/main">
            <a:pPr algn="l">
              <a:lnSpc>
                <a:spcPct val="95000"/>
              </a:lnSpc>
              <a:buNone/>
              <a:defRPr sz="3675" b="1">
                <a:solidFill>
                  <a:srgbClr val="FFFFFF"/>
                </a:solidFill>
                <a:latin typeface="Lato"/>
                <a:ea typeface="Lato"/>
                <a:cs typeface="Lato"/>
              </a:defRPr>
            </a:pPr>
            <a:r>
              <a:rPr sz="3675" b="1">
                <a:solidFill>
                  <a:srgbClr val="FFFFFF"/>
                </a:solidFill>
                <a:latin typeface="Lato"/>
                <a:ea typeface="Lato"/>
                <a:cs typeface="Lato"/>
              </a:rPr>
              <a:t>for your area</a:t>
            </a:r>
          </a:p>
        </p:txBody>
      </p:sp>
      <p:sp>
        <p:nvSpPr>
          <p:cNvPr id="5" name="">
            <a:extLst xmlns:a="http://schemas.openxmlformats.org/drawingml/2006/main">
              <a:ext uri="{FF2B5EF4-FFF2-40B4-BE49-F238E27FC236}">
                <a16:creationId xmlns:a16="http://schemas.microsoft.com/office/drawing/2014/main" id="{FC955A58-0AEA-4C9A-96DB-830BCC290D38}"/>
              </a:ext>
            </a:extLst>
          </p:cNvPr>
          <p:cNvSpPr>
            <a:spLocks xmlns:a="http://schemas.openxmlformats.org/drawingml/2006/main" noGrp="1"/>
          </p:cNvSpPr>
          <p:nvPr/>
        </p:nvSpPr>
        <p:spPr>
          <a:xfrm xmlns:a="http://schemas.openxmlformats.org/drawingml/2006/main">
            <a:off x="781050" y="370522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8D8C8"/>
                </a:solidFill>
                <a:latin typeface="Lato"/>
                <a:ea typeface="Lato"/>
                <a:cs typeface="Lato"/>
              </a:defRPr>
            </a:pPr>
            <a:r>
              <a:rPr sz="975" b="1">
                <a:solidFill>
                  <a:srgbClr val="78D8C8"/>
                </a:solidFill>
                <a:latin typeface="Lato"/>
                <a:ea typeface="Lato"/>
                <a:cs typeface="Lato"/>
              </a:rPr>
              <a:t>01</a:t>
            </a:r>
          </a:p>
        </p:txBody>
      </p:sp>
      <p:sp>
        <p:nvSpPr>
          <p:cNvPr id="6" name="">
            <a:extLst xmlns:a="http://schemas.openxmlformats.org/drawingml/2006/main">
              <a:ext uri="{FF2B5EF4-FFF2-40B4-BE49-F238E27FC236}">
                <a16:creationId xmlns:a16="http://schemas.microsoft.com/office/drawing/2014/main" id="{1A70CBC5-94C6-4E61-A795-C2B7A61D766A}"/>
              </a:ext>
            </a:extLst>
          </p:cNvPr>
          <p:cNvSpPr>
            <a:spLocks xmlns:a="http://schemas.openxmlformats.org/drawingml/2006/main" noGrp="1"/>
          </p:cNvSpPr>
          <p:nvPr/>
        </p:nvSpPr>
        <p:spPr>
          <a:xfrm xmlns:a="http://schemas.openxmlformats.org/drawingml/2006/main">
            <a:off x="1381125" y="3657600"/>
            <a:ext cx="88106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725" b="1">
                <a:solidFill>
                  <a:srgbClr val="FFFFFF"/>
                </a:solidFill>
                <a:latin typeface="Lato"/>
                <a:ea typeface="Lato"/>
                <a:cs typeface="Lato"/>
              </a:defRPr>
            </a:pPr>
            <a:r>
              <a:rPr sz="1725" b="1">
                <a:solidFill>
                  <a:srgbClr val="FFFFFF"/>
                </a:solidFill>
                <a:latin typeface="Lato"/>
                <a:ea typeface="Lato"/>
                <a:cs typeface="Lato"/>
              </a:rPr>
              <a:t>Choose a geography and relevant indicator</a:t>
            </a:r>
          </a:p>
        </p:txBody>
      </p:sp>
      <p:sp>
        <p:nvSpPr>
          <p:cNvPr id="7" name="">
            <a:extLst xmlns:a="http://schemas.openxmlformats.org/drawingml/2006/main">
              <a:ext uri="{FF2B5EF4-FFF2-40B4-BE49-F238E27FC236}">
                <a16:creationId xmlns:a16="http://schemas.microsoft.com/office/drawing/2014/main" id="{58F4A15F-1BB9-41FB-ACC1-B6D7E9ABECC3}"/>
              </a:ext>
            </a:extLst>
          </p:cNvPr>
          <p:cNvSpPr>
            <a:spLocks xmlns:a="http://schemas.openxmlformats.org/drawingml/2006/main" noGrp="1"/>
          </p:cNvSpPr>
          <p:nvPr/>
        </p:nvSpPr>
        <p:spPr>
          <a:xfrm xmlns:a="http://schemas.openxmlformats.org/drawingml/2006/main">
            <a:off x="781050" y="435292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8D8C8"/>
                </a:solidFill>
                <a:latin typeface="Lato"/>
                <a:ea typeface="Lato"/>
                <a:cs typeface="Lato"/>
              </a:defRPr>
            </a:pPr>
            <a:r>
              <a:rPr sz="975" b="1">
                <a:solidFill>
                  <a:srgbClr val="78D8C8"/>
                </a:solidFill>
                <a:latin typeface="Lato"/>
                <a:ea typeface="Lato"/>
                <a:cs typeface="Lato"/>
              </a:rPr>
              <a:t>02</a:t>
            </a:r>
          </a:p>
        </p:txBody>
      </p:sp>
      <p:sp>
        <p:nvSpPr>
          <p:cNvPr id="8" name="">
            <a:extLst xmlns:a="http://schemas.openxmlformats.org/drawingml/2006/main">
              <a:ext uri="{FF2B5EF4-FFF2-40B4-BE49-F238E27FC236}">
                <a16:creationId xmlns:a16="http://schemas.microsoft.com/office/drawing/2014/main" id="{DD950761-711F-43D9-B0B2-0F5775113839}"/>
              </a:ext>
            </a:extLst>
          </p:cNvPr>
          <p:cNvSpPr>
            <a:spLocks xmlns:a="http://schemas.openxmlformats.org/drawingml/2006/main" noGrp="1"/>
          </p:cNvSpPr>
          <p:nvPr/>
        </p:nvSpPr>
        <p:spPr>
          <a:xfrm xmlns:a="http://schemas.openxmlformats.org/drawingml/2006/main">
            <a:off x="1381125" y="4305300"/>
            <a:ext cx="88106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725" b="1">
                <a:solidFill>
                  <a:srgbClr val="FFFFFF"/>
                </a:solidFill>
                <a:latin typeface="Lato"/>
                <a:ea typeface="Lato"/>
                <a:cs typeface="Lato"/>
              </a:defRPr>
            </a:pPr>
            <a:r>
              <a:rPr sz="1725" b="1">
                <a:solidFill>
                  <a:srgbClr val="FFFFFF"/>
                </a:solidFill>
                <a:latin typeface="Lato"/>
                <a:ea typeface="Lato"/>
                <a:cs typeface="Lato"/>
              </a:rPr>
              <a:t>Select a future scenario and period</a:t>
            </a:r>
          </a:p>
        </p:txBody>
      </p:sp>
      <p:sp>
        <p:nvSpPr>
          <p:cNvPr id="9" name="">
            <a:extLst xmlns:a="http://schemas.openxmlformats.org/drawingml/2006/main">
              <a:ext uri="{FF2B5EF4-FFF2-40B4-BE49-F238E27FC236}">
                <a16:creationId xmlns:a16="http://schemas.microsoft.com/office/drawing/2014/main" id="{79C423DF-C4E5-45F0-A8E4-1E7EAE6AF3A0}"/>
              </a:ext>
            </a:extLst>
          </p:cNvPr>
          <p:cNvSpPr>
            <a:spLocks xmlns:a="http://schemas.openxmlformats.org/drawingml/2006/main" noGrp="1"/>
          </p:cNvSpPr>
          <p:nvPr/>
        </p:nvSpPr>
        <p:spPr>
          <a:xfrm xmlns:a="http://schemas.openxmlformats.org/drawingml/2006/main">
            <a:off x="781050" y="500062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F2B632"/>
                </a:solidFill>
                <a:latin typeface="Lato"/>
                <a:ea typeface="Lato"/>
                <a:cs typeface="Lato"/>
              </a:defRPr>
            </a:pPr>
            <a:r>
              <a:rPr sz="975" b="1">
                <a:solidFill>
                  <a:srgbClr val="F2B632"/>
                </a:solidFill>
                <a:latin typeface="Lato"/>
                <a:ea typeface="Lato"/>
                <a:cs typeface="Lato"/>
              </a:rPr>
              <a:t>03</a:t>
            </a:r>
          </a:p>
        </p:txBody>
      </p:sp>
      <p:sp>
        <p:nvSpPr>
          <p:cNvPr id="10" name="">
            <a:extLst xmlns:a="http://schemas.openxmlformats.org/drawingml/2006/main">
              <a:ext uri="{FF2B5EF4-FFF2-40B4-BE49-F238E27FC236}">
                <a16:creationId xmlns:a16="http://schemas.microsoft.com/office/drawing/2014/main" id="{8C25EA11-6DA6-4399-BB74-313F7F6244B4}"/>
              </a:ext>
            </a:extLst>
          </p:cNvPr>
          <p:cNvSpPr>
            <a:spLocks xmlns:a="http://schemas.openxmlformats.org/drawingml/2006/main" noGrp="1"/>
          </p:cNvSpPr>
          <p:nvPr/>
        </p:nvSpPr>
        <p:spPr>
          <a:xfrm xmlns:a="http://schemas.openxmlformats.org/drawingml/2006/main">
            <a:off x="1381125" y="4953000"/>
            <a:ext cx="88106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725" b="1">
                <a:solidFill>
                  <a:srgbClr val="FFFFFF"/>
                </a:solidFill>
                <a:latin typeface="Lato"/>
                <a:ea typeface="Lato"/>
                <a:cs typeface="Lato"/>
              </a:defRPr>
            </a:pPr>
            <a:r>
              <a:rPr sz="1725" b="1">
                <a:solidFill>
                  <a:srgbClr val="FFFFFF"/>
                </a:solidFill>
                <a:latin typeface="Lato"/>
                <a:ea typeface="Lato"/>
                <a:cs typeface="Lato"/>
              </a:rPr>
              <a:t>Compare Value and Change, then read the units</a:t>
            </a:r>
          </a:p>
        </p:txBody>
      </p:sp>
      <p:sp>
        <p:nvSpPr>
          <p:cNvPr id="11" name="">
            <a:extLst xmlns:a="http://schemas.openxmlformats.org/drawingml/2006/main">
              <a:ext uri="{FF2B5EF4-FFF2-40B4-BE49-F238E27FC236}">
                <a16:creationId xmlns:a16="http://schemas.microsoft.com/office/drawing/2014/main" id="{5D7F2C70-6DEF-4A68-984B-ECAB176018BB}"/>
              </a:ext>
            </a:extLst>
          </p:cNvPr>
          <p:cNvSpPr>
            <a:spLocks xmlns:a="http://schemas.openxmlformats.org/drawingml/2006/main" noGrp="1"/>
          </p:cNvSpPr>
          <p:nvPr/>
        </p:nvSpPr>
        <p:spPr>
          <a:xfrm xmlns:a="http://schemas.openxmlformats.org/drawingml/2006/main">
            <a:off x="781050" y="5981700"/>
            <a:ext cx="962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275" b="0">
                <a:solidFill>
                  <a:srgbClr val="D7E5EC"/>
                </a:solidFill>
                <a:latin typeface="Lato"/>
                <a:ea typeface="Lato"/>
                <a:cs typeface="Lato"/>
              </a:defRPr>
            </a:pPr>
            <a:r>
              <a:rPr sz="1275" b="0">
                <a:solidFill>
                  <a:srgbClr val="D7E5EC"/>
                </a:solidFill>
                <a:latin typeface="Lato"/>
                <a:ea typeface="Lato"/>
                <a:cs typeface="Lato"/>
              </a:rPr>
              <a:t>Be ready to describe one pattern and one uncertainty.</a:t>
            </a:r>
          </a:p>
        </p:txBody>
      </p:sp>
    </p:spTree>
    <p:extLst>
      <p:ext uri="{BB962C8B-B14F-4D97-AF65-F5344CB8AC3E}">
        <p14:creationId xmlns:p14="http://schemas.microsoft.com/office/powerpoint/2010/main" val="442573818"/>
      </p:ext>
    </p:extLst>
  </p:cSld>
</p:sld>
</file>

<file path=ppt/slides/slide10.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959111A-FE82-4C34-9686-4B56CE765016}"/>
              </a:ext>
            </a:extLst>
          </p:cNvPr>
          <p:cNvSpPr>
            <a:spLocks xmlns:a="http://schemas.openxmlformats.org/drawingml/2006/main" noGrp="1"/>
          </p:cNvSpPr>
          <p:nvPr/>
        </p:nvSpPr>
        <p:spPr>
          <a:xfrm xmlns:a="http://schemas.openxmlformats.org/drawingml/2006/main">
            <a:off x="628650" y="438150"/>
            <a:ext cx="108966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a:solidFill>
                  <a:srgbClr val="12304E"/>
                </a:solidFill>
                <a:latin typeface="Lato"/>
                <a:ea typeface="Lato"/>
                <a:cs typeface="Lato"/>
              </a:defRPr>
            </a:pPr>
            <a:r>
              <a:rPr sz="2325" b="1">
                <a:solidFill>
                  <a:srgbClr val="12304E"/>
                </a:solidFill>
                <a:latin typeface="Lato"/>
                <a:ea typeface="Lato"/>
                <a:cs typeface="Lato"/>
              </a:rPr>
              <a:t>Advanced outputs</a:t>
            </a:r>
          </a:p>
        </p:txBody>
      </p:sp>
      <p:sp>
        <p:nvSpPr>
          <p:cNvPr id="2" name="">
            <a:extLst xmlns:a="http://schemas.openxmlformats.org/drawingml/2006/main">
              <a:ext uri="{FF2B5EF4-FFF2-40B4-BE49-F238E27FC236}">
                <a16:creationId xmlns:a16="http://schemas.microsoft.com/office/drawing/2014/main" id="{34F9FC1C-C144-4F74-9DE9-33A9BF8735DE}"/>
              </a:ext>
            </a:extLst>
          </p:cNvPr>
          <p:cNvSpPr>
            <a:spLocks xmlns:a="http://schemas.openxmlformats.org/drawingml/2006/main" noGrp="1"/>
          </p:cNvSpPr>
          <p:nvPr/>
        </p:nvSpPr>
        <p:spPr>
          <a:xfrm xmlns:a="http://schemas.openxmlformats.org/drawingml/2006/main">
            <a:off x="647700" y="9715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125" b="0">
                <a:solidFill>
                  <a:srgbClr val="687984"/>
                </a:solidFill>
                <a:latin typeface="Lato"/>
                <a:ea typeface="Lato"/>
                <a:cs typeface="Lato"/>
              </a:defRPr>
            </a:pPr>
            <a:r>
              <a:rPr sz="1125" b="0">
                <a:solidFill>
                  <a:srgbClr val="687984"/>
                </a:solidFill>
                <a:latin typeface="Lato"/>
                <a:ea typeface="Lato"/>
                <a:cs typeface="Lato"/>
              </a:rPr>
              <a:t>Andrea’s live demonstration: outputs that travel beyond the map</a:t>
            </a:r>
          </a:p>
        </p:txBody>
      </p:sp>
      <p:sp>
        <p:nvSpPr>
          <p:cNvPr id="3" name="">
            <a:extLst xmlns:a="http://schemas.openxmlformats.org/drawingml/2006/main">
              <a:ext uri="{FF2B5EF4-FFF2-40B4-BE49-F238E27FC236}">
                <a16:creationId xmlns:a16="http://schemas.microsoft.com/office/drawing/2014/main" id="{C76D74EE-934E-45DD-8F4B-9ABC214FB5C6}"/>
              </a:ext>
            </a:extLst>
          </p:cNvPr>
          <p:cNvSpPr>
            <a:spLocks xmlns:a="http://schemas.openxmlformats.org/drawingml/2006/main" noGrp="1"/>
          </p:cNvSpPr>
          <p:nvPr/>
        </p:nvSpPr>
        <p:spPr>
          <a:xfrm xmlns:a="http://schemas.openxmlformats.org/drawingml/2006/main">
            <a:off x="647700" y="1390650"/>
            <a:ext cx="1089660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FA391C9-6F1A-486F-9E2A-4859936A698E}"/>
              </a:ext>
            </a:extLst>
          </p:cNvPr>
          <p:cNvSpPr>
            <a:spLocks xmlns:a="http://schemas.openxmlformats.org/drawingml/2006/main" noGrp="1"/>
          </p:cNvSpPr>
          <p:nvPr/>
        </p:nvSpPr>
        <p:spPr>
          <a:xfrm xmlns:a="http://schemas.openxmlformats.org/drawingml/2006/main">
            <a:off x="657225" y="1495425"/>
            <a:ext cx="990600" cy="28575"/>
          </a:xfrm>
          <a:prstGeom xmlns:a="http://schemas.openxmlformats.org/drawingml/2006/main" prst="rect">
            <a:avLst/>
          </a:prstGeom>
          <a:solidFill xmlns:a="http://schemas.openxmlformats.org/drawingml/2006/main">
            <a:srgbClr val="F2B632"/>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D32DF8-5BBE-4D66-AF81-C76F2CAC49FE}"/>
              </a:ext>
            </a:extLst>
          </p:cNvPr>
          <p:cNvSpPr>
            <a:spLocks xmlns:a="http://schemas.openxmlformats.org/drawingml/2006/main" noGrp="1"/>
          </p:cNvSpPr>
          <p:nvPr/>
        </p:nvSpPr>
        <p:spPr>
          <a:xfrm xmlns:a="http://schemas.openxmlformats.org/drawingml/2006/main">
            <a:off x="647700" y="6238875"/>
            <a:ext cx="10896600" cy="9525"/>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056F5B8-4B6A-4E11-9A4B-1B6DA5F0A515}"/>
              </a:ext>
            </a:extLst>
          </p:cNvPr>
          <p:cNvSpPr>
            <a:spLocks xmlns:a="http://schemas.openxmlformats.org/drawingml/2006/main" noGrp="1"/>
          </p:cNvSpPr>
          <p:nvPr/>
        </p:nvSpPr>
        <p:spPr>
          <a:xfrm xmlns:a="http://schemas.openxmlformats.org/drawingml/2006/main">
            <a:off x="657225" y="6353175"/>
            <a:ext cx="23812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750" b="1">
                <a:solidFill>
                  <a:srgbClr val="687984"/>
                </a:solidFill>
                <a:latin typeface="Lato"/>
                <a:ea typeface="Lato"/>
                <a:cs typeface="Lato"/>
              </a:defRPr>
            </a:pPr>
            <a:r>
              <a:rPr sz="750" b="1">
                <a:solidFill>
                  <a:srgbClr val="687984"/>
                </a:solidFill>
                <a:latin typeface="Lato"/>
                <a:ea typeface="Lato"/>
                <a:cs typeface="Lato"/>
              </a:rPr>
              <a:t>CAVA MODULE 2</a:t>
            </a:r>
          </a:p>
        </p:txBody>
      </p:sp>
      <p:sp>
        <p:nvSpPr>
          <p:cNvPr id="7" name="">
            <a:extLst xmlns:a="http://schemas.openxmlformats.org/drawingml/2006/main">
              <a:ext uri="{FF2B5EF4-FFF2-40B4-BE49-F238E27FC236}">
                <a16:creationId xmlns:a16="http://schemas.microsoft.com/office/drawing/2014/main" id="{99DDCD5F-E65A-4F84-BEF7-FD49E0852C6A}"/>
              </a:ext>
            </a:extLst>
          </p:cNvPr>
          <p:cNvSpPr>
            <a:spLocks xmlns:a="http://schemas.openxmlformats.org/drawingml/2006/main" noGrp="1"/>
          </p:cNvSpPr>
          <p:nvPr/>
        </p:nvSpPr>
        <p:spPr>
          <a:xfrm xmlns:a="http://schemas.openxmlformats.org/drawingml/2006/main">
            <a:off x="11049000" y="6343650"/>
            <a:ext cx="4572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2000"/>
              </a:lnSpc>
              <a:buNone/>
              <a:defRPr sz="750" b="0">
                <a:solidFill>
                  <a:srgbClr val="687984"/>
                </a:solidFill>
                <a:latin typeface="Lato"/>
                <a:ea typeface="Lato"/>
                <a:cs typeface="Lato"/>
              </a:defRPr>
            </a:pPr>
            <a:r>
              <a:rPr sz="750" b="0">
                <a:solidFill>
                  <a:srgbClr val="687984"/>
                </a:solidFill>
                <a:latin typeface="Lato"/>
                <a:ea typeface="Lato"/>
                <a:cs typeface="Lato"/>
              </a:rPr>
              <a:t>10</a:t>
            </a:r>
          </a:p>
        </p:txBody>
      </p:sp>
      <p:sp>
        <p:nvSpPr>
          <p:cNvPr id="8" name="">
            <a:extLst xmlns:a="http://schemas.openxmlformats.org/drawingml/2006/main">
              <a:ext uri="{FF2B5EF4-FFF2-40B4-BE49-F238E27FC236}">
                <a16:creationId xmlns:a16="http://schemas.microsoft.com/office/drawing/2014/main" id="{585FD6DF-8DFB-493E-B228-6D581F3BD6C7}"/>
              </a:ext>
            </a:extLst>
          </p:cNvPr>
          <p:cNvSpPr>
            <a:spLocks xmlns:a="http://schemas.openxmlformats.org/drawingml/2006/main" noGrp="1"/>
          </p:cNvSpPr>
          <p:nvPr/>
        </p:nvSpPr>
        <p:spPr>
          <a:xfrm xmlns:a="http://schemas.openxmlformats.org/drawingml/2006/main">
            <a:off x="666750" y="2019300"/>
            <a:ext cx="28575" cy="3200400"/>
          </a:xfrm>
          <a:prstGeom xmlns:a="http://schemas.openxmlformats.org/drawingml/2006/main" prst="rect">
            <a:avLst/>
          </a:prstGeom>
          <a:solidFill xmlns:a="http://schemas.openxmlformats.org/drawingml/2006/main">
            <a:srgbClr val="F2B63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B4BCE84-9486-4AFC-A62E-0B847C243A0F}"/>
              </a:ext>
            </a:extLst>
          </p:cNvPr>
          <p:cNvSpPr>
            <a:spLocks xmlns:a="http://schemas.openxmlformats.org/drawingml/2006/main" noGrp="1"/>
          </p:cNvSpPr>
          <p:nvPr/>
        </p:nvSpPr>
        <p:spPr>
          <a:xfrm xmlns:a="http://schemas.openxmlformats.org/drawingml/2006/main">
            <a:off x="895350" y="2124075"/>
            <a:ext cx="46101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3300" b="1">
                <a:solidFill>
                  <a:srgbClr val="12304E"/>
                </a:solidFill>
                <a:latin typeface="Lato"/>
                <a:ea typeface="Lato"/>
                <a:cs typeface="Lato"/>
              </a:defRPr>
            </a:pPr>
            <a:r>
              <a:rPr sz="3300" b="1">
                <a:solidFill>
                  <a:srgbClr val="12304E"/>
                </a:solidFill>
                <a:latin typeface="Lato"/>
                <a:ea typeface="Lato"/>
                <a:cs typeface="Lato"/>
              </a:rPr>
              <a:t>PDF</a:t>
            </a:r>
          </a:p>
        </p:txBody>
      </p:sp>
      <p:sp>
        <p:nvSpPr>
          <p:cNvPr id="10" name="">
            <a:extLst xmlns:a="http://schemas.openxmlformats.org/drawingml/2006/main">
              <a:ext uri="{FF2B5EF4-FFF2-40B4-BE49-F238E27FC236}">
                <a16:creationId xmlns:a16="http://schemas.microsoft.com/office/drawing/2014/main" id="{6B48595D-6317-4799-A4F9-6881E443991F}"/>
              </a:ext>
            </a:extLst>
          </p:cNvPr>
          <p:cNvSpPr>
            <a:spLocks xmlns:a="http://schemas.openxmlformats.org/drawingml/2006/main" noGrp="1"/>
          </p:cNvSpPr>
          <p:nvPr/>
        </p:nvSpPr>
        <p:spPr>
          <a:xfrm xmlns:a="http://schemas.openxmlformats.org/drawingml/2006/main">
            <a:off x="895350" y="2838450"/>
            <a:ext cx="4381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100" b="1">
                <a:solidFill>
                  <a:srgbClr val="008D7A"/>
                </a:solidFill>
                <a:latin typeface="Lato"/>
                <a:ea typeface="Lato"/>
                <a:cs typeface="Lato"/>
              </a:defRPr>
            </a:pPr>
            <a:r>
              <a:rPr sz="2100" b="1">
                <a:solidFill>
                  <a:srgbClr val="008D7A"/>
                </a:solidFill>
                <a:latin typeface="Lato"/>
                <a:ea typeface="Lato"/>
                <a:cs typeface="Lato"/>
              </a:rPr>
              <a:t>Climate report</a:t>
            </a:r>
          </a:p>
        </p:txBody>
      </p:sp>
      <p:sp>
        <p:nvSpPr>
          <p:cNvPr id="11" name="">
            <a:extLst xmlns:a="http://schemas.openxmlformats.org/drawingml/2006/main">
              <a:ext uri="{FF2B5EF4-FFF2-40B4-BE49-F238E27FC236}">
                <a16:creationId xmlns:a16="http://schemas.microsoft.com/office/drawing/2014/main" id="{F7A97676-8B73-4041-87EB-948355D75950}"/>
              </a:ext>
            </a:extLst>
          </p:cNvPr>
          <p:cNvSpPr>
            <a:spLocks xmlns:a="http://schemas.openxmlformats.org/drawingml/2006/main" noGrp="1"/>
          </p:cNvSpPr>
          <p:nvPr/>
        </p:nvSpPr>
        <p:spPr>
          <a:xfrm xmlns:a="http://schemas.openxmlformats.org/drawingml/2006/main">
            <a:off x="895350" y="3419475"/>
            <a:ext cx="4286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500" b="0">
                <a:solidFill>
                  <a:srgbClr val="17324D"/>
                </a:solidFill>
                <a:latin typeface="Lato"/>
                <a:ea typeface="Lato"/>
                <a:cs typeface="Lato"/>
              </a:defRPr>
            </a:pPr>
            <a:r>
              <a:rPr sz="1500" b="0">
                <a:solidFill>
                  <a:srgbClr val="17324D"/>
                </a:solidFill>
                <a:latin typeface="Lato"/>
                <a:ea typeface="Lato"/>
                <a:cs typeface="Lato"/>
              </a:rPr>
              <a:t>Key climatologies and analyses for discussion and project documentation</a:t>
            </a:r>
          </a:p>
        </p:txBody>
      </p:sp>
      <p:sp>
        <p:nvSpPr>
          <p:cNvPr id="12" name="">
            <a:extLst xmlns:a="http://schemas.openxmlformats.org/drawingml/2006/main">
              <a:ext uri="{FF2B5EF4-FFF2-40B4-BE49-F238E27FC236}">
                <a16:creationId xmlns:a16="http://schemas.microsoft.com/office/drawing/2014/main" id="{9C9B7863-11FB-4267-84A4-F8C2D4D6FE0A}"/>
              </a:ext>
            </a:extLst>
          </p:cNvPr>
          <p:cNvSpPr>
            <a:spLocks xmlns:a="http://schemas.openxmlformats.org/drawingml/2006/main" noGrp="1"/>
          </p:cNvSpPr>
          <p:nvPr/>
        </p:nvSpPr>
        <p:spPr>
          <a:xfrm xmlns:a="http://schemas.openxmlformats.org/drawingml/2006/main">
            <a:off x="6048375" y="2019300"/>
            <a:ext cx="9525" cy="3219450"/>
          </a:xfrm>
          <a:prstGeom xmlns:a="http://schemas.openxmlformats.org/drawingml/2006/main" prst="rect">
            <a:avLst/>
          </a:prstGeom>
          <a:solidFill xmlns:a="http://schemas.openxmlformats.org/drawingml/2006/main">
            <a:srgbClr val="DCE5E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8AD8AD3-E974-4AFC-861C-18EDE321258F}"/>
              </a:ext>
            </a:extLst>
          </p:cNvPr>
          <p:cNvSpPr>
            <a:spLocks xmlns:a="http://schemas.openxmlformats.org/drawingml/2006/main" noGrp="1"/>
          </p:cNvSpPr>
          <p:nvPr/>
        </p:nvSpPr>
        <p:spPr>
          <a:xfrm xmlns:a="http://schemas.openxmlformats.org/drawingml/2006/main">
            <a:off x="6448425" y="2124075"/>
            <a:ext cx="43243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3300" b="1">
                <a:solidFill>
                  <a:srgbClr val="12304E"/>
                </a:solidFill>
                <a:latin typeface="Lato"/>
                <a:ea typeface="Lato"/>
                <a:cs typeface="Lato"/>
              </a:defRPr>
            </a:pPr>
            <a:r>
              <a:rPr sz="3300" b="1">
                <a:solidFill>
                  <a:srgbClr val="12304E"/>
                </a:solidFill>
                <a:latin typeface="Lato"/>
                <a:ea typeface="Lato"/>
                <a:cs typeface="Lato"/>
              </a:rPr>
              <a:t>XLSX</a:t>
            </a:r>
          </a:p>
        </p:txBody>
      </p:sp>
      <p:sp>
        <p:nvSpPr>
          <p:cNvPr id="14" name="">
            <a:extLst xmlns:a="http://schemas.openxmlformats.org/drawingml/2006/main">
              <a:ext uri="{FF2B5EF4-FFF2-40B4-BE49-F238E27FC236}">
                <a16:creationId xmlns:a16="http://schemas.microsoft.com/office/drawing/2014/main" id="{6DC5A37A-7437-4F51-9FF6-CD6473F90707}"/>
              </a:ext>
            </a:extLst>
          </p:cNvPr>
          <p:cNvSpPr>
            <a:spLocks xmlns:a="http://schemas.openxmlformats.org/drawingml/2006/main" noGrp="1"/>
          </p:cNvSpPr>
          <p:nvPr/>
        </p:nvSpPr>
        <p:spPr>
          <a:xfrm xmlns:a="http://schemas.openxmlformats.org/drawingml/2006/main">
            <a:off x="6448425" y="2838450"/>
            <a:ext cx="4762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100" b="1">
                <a:solidFill>
                  <a:srgbClr val="008D7A"/>
                </a:solidFill>
                <a:latin typeface="Lato"/>
                <a:ea typeface="Lato"/>
                <a:cs typeface="Lato"/>
              </a:defRPr>
            </a:pPr>
            <a:r>
              <a:rPr sz="2100" b="1">
                <a:solidFill>
                  <a:srgbClr val="008D7A"/>
                </a:solidFill>
                <a:latin typeface="Lato"/>
                <a:ea typeface="Lato"/>
                <a:cs typeface="Lato"/>
              </a:rPr>
              <a:t>Processed climate data</a:t>
            </a:r>
          </a:p>
        </p:txBody>
      </p:sp>
      <p:sp>
        <p:nvSpPr>
          <p:cNvPr id="15" name="">
            <a:extLst xmlns:a="http://schemas.openxmlformats.org/drawingml/2006/main">
              <a:ext uri="{FF2B5EF4-FFF2-40B4-BE49-F238E27FC236}">
                <a16:creationId xmlns:a16="http://schemas.microsoft.com/office/drawing/2014/main" id="{CEC26716-62EA-4333-9D76-3714512AEE9C}"/>
              </a:ext>
            </a:extLst>
          </p:cNvPr>
          <p:cNvSpPr>
            <a:spLocks xmlns:a="http://schemas.openxmlformats.org/drawingml/2006/main" noGrp="1"/>
          </p:cNvSpPr>
          <p:nvPr/>
        </p:nvSpPr>
        <p:spPr>
          <a:xfrm xmlns:a="http://schemas.openxmlformats.org/drawingml/2006/main">
            <a:off x="6448425" y="3419475"/>
            <a:ext cx="43338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500" b="0">
                <a:solidFill>
                  <a:srgbClr val="17324D"/>
                </a:solidFill>
                <a:latin typeface="Lato"/>
                <a:ea typeface="Lato"/>
                <a:cs typeface="Lato"/>
              </a:defRPr>
            </a:pPr>
            <a:r>
              <a:rPr sz="1500" b="0">
                <a:solidFill>
                  <a:srgbClr val="17324D"/>
                </a:solidFill>
                <a:latin typeface="Lato"/>
                <a:ea typeface="Lato"/>
                <a:cs typeface="Lato"/>
              </a:rPr>
              <a:t>Structured inputs for further analysis and downstream impact modelling</a:t>
            </a:r>
          </a:p>
        </p:txBody>
      </p:sp>
      <p:sp>
        <p:nvSpPr>
          <p:cNvPr id="16" name="">
            <a:extLst xmlns:a="http://schemas.openxmlformats.org/drawingml/2006/main">
              <a:ext uri="{FF2B5EF4-FFF2-40B4-BE49-F238E27FC236}">
                <a16:creationId xmlns:a16="http://schemas.microsoft.com/office/drawing/2014/main" id="{F44C21FB-9ABD-4319-9CD7-07663F84B19B}"/>
              </a:ext>
            </a:extLst>
          </p:cNvPr>
          <p:cNvSpPr>
            <a:spLocks xmlns:a="http://schemas.openxmlformats.org/drawingml/2006/main" noGrp="1"/>
          </p:cNvSpPr>
          <p:nvPr/>
        </p:nvSpPr>
        <p:spPr>
          <a:xfrm xmlns:a="http://schemas.openxmlformats.org/drawingml/2006/main">
            <a:off x="914400" y="5495925"/>
            <a:ext cx="9810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275" b="1">
                <a:solidFill>
                  <a:srgbClr val="12304E"/>
                </a:solidFill>
                <a:latin typeface="Lato"/>
                <a:ea typeface="Lato"/>
                <a:cs typeface="Lato"/>
              </a:defRPr>
            </a:pPr>
            <a:r>
              <a:rPr sz="1275" b="1">
                <a:solidFill>
                  <a:srgbClr val="12304E"/>
                </a:solidFill>
                <a:latin typeface="Lato"/>
                <a:ea typeface="Lato"/>
                <a:cs typeface="Lato"/>
              </a:rPr>
              <a:t>The live demonstration will show the available request and download steps.</a:t>
            </a:r>
          </a:p>
        </p:txBody>
      </p:sp>
    </p:spTree>
    <p:extLst>
      <p:ext uri="{BB962C8B-B14F-4D97-AF65-F5344CB8AC3E}">
        <p14:creationId xmlns:p14="http://schemas.microsoft.com/office/powerpoint/2010/main" val="2126068905"/>
      </p:ext>
    </p:extLst>
  </p:cSld>
</p:sld>
</file>

<file path=ppt/slides/slide11.xml><?xml version="1.0" encoding="utf-8"?>
<p:sld xmlns:p="http://schemas.openxmlformats.org/presentationml/2006/main">
  <p:cSld>
    <p:bg>
      <p:bgPr>
        <a:solidFill xmlns:a="http://schemas.openxmlformats.org/drawingml/2006/main">
          <a:srgbClr val="12304E"/>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3F81C47-061E-4FB0-9C47-9BC10E72CA57}"/>
              </a:ext>
            </a:extLst>
          </p:cNvPr>
          <p:cNvSpPr>
            <a:spLocks xmlns:a="http://schemas.openxmlformats.org/drawingml/2006/main" noGrp="1"/>
          </p:cNvSpPr>
          <p:nvPr/>
        </p:nvSpPr>
        <p:spPr>
          <a:xfrm xmlns:a="http://schemas.openxmlformats.org/drawingml/2006/main">
            <a:off x="0" y="0"/>
            <a:ext cx="85725" cy="6858000"/>
          </a:xfrm>
          <a:prstGeom xmlns:a="http://schemas.openxmlformats.org/drawingml/2006/main" prst="rect">
            <a:avLst/>
          </a:prstGeom>
          <a:solidFill xmlns:a="http://schemas.openxmlformats.org/drawingml/2006/main">
            <a:srgbClr val="00A88F"/>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CE89D0-E498-4009-8B01-9A797ED1E4CD}"/>
              </a:ext>
            </a:extLst>
          </p:cNvPr>
          <p:cNvSpPr>
            <a:spLocks xmlns:a="http://schemas.openxmlformats.org/drawingml/2006/main" noGrp="1"/>
          </p:cNvSpPr>
          <p:nvPr/>
        </p:nvSpPr>
        <p:spPr>
          <a:xfrm xmlns:a="http://schemas.openxmlformats.org/drawingml/2006/main">
            <a:off x="723900" y="790575"/>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8D8C8"/>
                </a:solidFill>
                <a:latin typeface="Lato"/>
                <a:ea typeface="Lato"/>
                <a:cs typeface="Lato"/>
              </a:defRPr>
            </a:pPr>
            <a:r>
              <a:rPr sz="975" b="1">
                <a:solidFill>
                  <a:srgbClr val="78D8C8"/>
                </a:solidFill>
                <a:latin typeface="Lato"/>
                <a:ea typeface="Lato"/>
                <a:cs typeface="Lato"/>
              </a:rPr>
              <a:t>BEFORE YOU LEAVE</a:t>
            </a:r>
          </a:p>
        </p:txBody>
      </p:sp>
      <p:sp>
        <p:nvSpPr>
          <p:cNvPr id="3" name="">
            <a:extLst xmlns:a="http://schemas.openxmlformats.org/drawingml/2006/main">
              <a:ext uri="{FF2B5EF4-FFF2-40B4-BE49-F238E27FC236}">
                <a16:creationId xmlns:a16="http://schemas.microsoft.com/office/drawing/2014/main" id="{A871A147-2438-4BF9-86CC-EA99FAA7827A}"/>
              </a:ext>
            </a:extLst>
          </p:cNvPr>
          <p:cNvSpPr>
            <a:spLocks xmlns:a="http://schemas.openxmlformats.org/drawingml/2006/main" noGrp="1"/>
          </p:cNvSpPr>
          <p:nvPr/>
        </p:nvSpPr>
        <p:spPr>
          <a:xfrm xmlns:a="http://schemas.openxmlformats.org/drawingml/2006/main">
            <a:off x="723900" y="1495425"/>
            <a:ext cx="9620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3525" b="1">
                <a:solidFill>
                  <a:srgbClr val="FFFFFF"/>
                </a:solidFill>
                <a:latin typeface="Lato"/>
                <a:ea typeface="Lato"/>
                <a:cs typeface="Lato"/>
              </a:defRPr>
            </a:pPr>
            <a:r>
              <a:rPr sz="3525" b="1">
                <a:solidFill>
                  <a:srgbClr val="FFFFFF"/>
                </a:solidFill>
                <a:latin typeface="Lato"/>
                <a:ea typeface="Lato"/>
                <a:cs typeface="Lato"/>
              </a:rPr>
              <a:t>Can you explain the map</a:t>
            </a:r>
          </a:p>
          <a:p xmlns:a="http://schemas.openxmlformats.org/drawingml/2006/main">
            <a:pPr algn="l">
              <a:lnSpc>
                <a:spcPct val="95000"/>
              </a:lnSpc>
              <a:buNone/>
              <a:defRPr sz="3525" b="1">
                <a:solidFill>
                  <a:srgbClr val="FFFFFF"/>
                </a:solidFill>
                <a:latin typeface="Lato"/>
                <a:ea typeface="Lato"/>
                <a:cs typeface="Lato"/>
              </a:defRPr>
            </a:pPr>
            <a:r>
              <a:rPr sz="3525" b="1">
                <a:solidFill>
                  <a:srgbClr val="FFFFFF"/>
                </a:solidFill>
                <a:latin typeface="Lato"/>
                <a:ea typeface="Lato"/>
                <a:cs typeface="Lato"/>
              </a:rPr>
              <a:t>without the map?</a:t>
            </a:r>
          </a:p>
        </p:txBody>
      </p:sp>
      <p:sp>
        <p:nvSpPr>
          <p:cNvPr id="4" name="">
            <a:extLst xmlns:a="http://schemas.openxmlformats.org/drawingml/2006/main">
              <a:ext uri="{FF2B5EF4-FFF2-40B4-BE49-F238E27FC236}">
                <a16:creationId xmlns:a16="http://schemas.microsoft.com/office/drawing/2014/main" id="{C532F763-622B-4834-B015-2F90DA0972A6}"/>
              </a:ext>
            </a:extLst>
          </p:cNvPr>
          <p:cNvSpPr>
            <a:spLocks xmlns:a="http://schemas.openxmlformats.org/drawingml/2006/main" noGrp="1"/>
          </p:cNvSpPr>
          <p:nvPr/>
        </p:nvSpPr>
        <p:spPr>
          <a:xfrm xmlns:a="http://schemas.openxmlformats.org/drawingml/2006/main">
            <a:off x="771525" y="362902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8D8C8"/>
                </a:solidFill>
                <a:latin typeface="Lato"/>
                <a:ea typeface="Lato"/>
                <a:cs typeface="Lato"/>
              </a:defRPr>
            </a:pPr>
            <a:r>
              <a:rPr sz="975" b="1">
                <a:solidFill>
                  <a:srgbClr val="78D8C8"/>
                </a:solidFill>
                <a:latin typeface="Lato"/>
                <a:ea typeface="Lato"/>
                <a:cs typeface="Lato"/>
              </a:rPr>
              <a:t>01</a:t>
            </a:r>
          </a:p>
        </p:txBody>
      </p:sp>
      <p:sp>
        <p:nvSpPr>
          <p:cNvPr id="5" name="">
            <a:extLst xmlns:a="http://schemas.openxmlformats.org/drawingml/2006/main">
              <a:ext uri="{FF2B5EF4-FFF2-40B4-BE49-F238E27FC236}">
                <a16:creationId xmlns:a16="http://schemas.microsoft.com/office/drawing/2014/main" id="{7CAEAAC9-ACDD-4023-B9F4-B0607BB8B3C4}"/>
              </a:ext>
            </a:extLst>
          </p:cNvPr>
          <p:cNvSpPr>
            <a:spLocks xmlns:a="http://schemas.openxmlformats.org/drawingml/2006/main" noGrp="1"/>
          </p:cNvSpPr>
          <p:nvPr/>
        </p:nvSpPr>
        <p:spPr>
          <a:xfrm xmlns:a="http://schemas.openxmlformats.org/drawingml/2006/main">
            <a:off x="1400175" y="3581400"/>
            <a:ext cx="819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800" b="1">
                <a:solidFill>
                  <a:srgbClr val="FFFFFF"/>
                </a:solidFill>
                <a:latin typeface="Lato"/>
                <a:ea typeface="Lato"/>
                <a:cs typeface="Lato"/>
              </a:defRPr>
            </a:pPr>
            <a:r>
              <a:rPr sz="1800" b="1">
                <a:solidFill>
                  <a:srgbClr val="FFFFFF"/>
                </a:solidFill>
                <a:latin typeface="Lato"/>
                <a:ea typeface="Lato"/>
                <a:cs typeface="Lato"/>
              </a:rPr>
              <a:t>The indicator and its units</a:t>
            </a:r>
          </a:p>
        </p:txBody>
      </p:sp>
      <p:sp>
        <p:nvSpPr>
          <p:cNvPr id="6" name="">
            <a:extLst xmlns:a="http://schemas.openxmlformats.org/drawingml/2006/main">
              <a:ext uri="{FF2B5EF4-FFF2-40B4-BE49-F238E27FC236}">
                <a16:creationId xmlns:a16="http://schemas.microsoft.com/office/drawing/2014/main" id="{C4752AC9-AC79-405D-9C8A-EA339FD36A6B}"/>
              </a:ext>
            </a:extLst>
          </p:cNvPr>
          <p:cNvSpPr>
            <a:spLocks xmlns:a="http://schemas.openxmlformats.org/drawingml/2006/main" noGrp="1"/>
          </p:cNvSpPr>
          <p:nvPr/>
        </p:nvSpPr>
        <p:spPr>
          <a:xfrm xmlns:a="http://schemas.openxmlformats.org/drawingml/2006/main">
            <a:off x="771525" y="42957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8D8C8"/>
                </a:solidFill>
                <a:latin typeface="Lato"/>
                <a:ea typeface="Lato"/>
                <a:cs typeface="Lato"/>
              </a:defRPr>
            </a:pPr>
            <a:r>
              <a:rPr sz="975" b="1">
                <a:solidFill>
                  <a:srgbClr val="78D8C8"/>
                </a:solidFill>
                <a:latin typeface="Lato"/>
                <a:ea typeface="Lato"/>
                <a:cs typeface="Lato"/>
              </a:rPr>
              <a:t>02</a:t>
            </a:r>
          </a:p>
        </p:txBody>
      </p:sp>
      <p:sp>
        <p:nvSpPr>
          <p:cNvPr id="7" name="">
            <a:extLst xmlns:a="http://schemas.openxmlformats.org/drawingml/2006/main">
              <a:ext uri="{FF2B5EF4-FFF2-40B4-BE49-F238E27FC236}">
                <a16:creationId xmlns:a16="http://schemas.microsoft.com/office/drawing/2014/main" id="{DF10633F-DFD3-4B64-AE94-C1DD3FF96A67}"/>
              </a:ext>
            </a:extLst>
          </p:cNvPr>
          <p:cNvSpPr>
            <a:spLocks xmlns:a="http://schemas.openxmlformats.org/drawingml/2006/main" noGrp="1"/>
          </p:cNvSpPr>
          <p:nvPr/>
        </p:nvSpPr>
        <p:spPr>
          <a:xfrm xmlns:a="http://schemas.openxmlformats.org/drawingml/2006/main">
            <a:off x="1400175" y="4248150"/>
            <a:ext cx="819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800" b="1">
                <a:solidFill>
                  <a:srgbClr val="FFFFFF"/>
                </a:solidFill>
                <a:latin typeface="Lato"/>
                <a:ea typeface="Lato"/>
                <a:cs typeface="Lato"/>
              </a:defRPr>
            </a:pPr>
            <a:r>
              <a:rPr sz="1800" b="1">
                <a:solidFill>
                  <a:srgbClr val="FFFFFF"/>
                </a:solidFill>
                <a:latin typeface="Lato"/>
                <a:ea typeface="Lato"/>
                <a:cs typeface="Lato"/>
              </a:rPr>
              <a:t>The scenario, periods and baseline</a:t>
            </a:r>
          </a:p>
        </p:txBody>
      </p:sp>
      <p:sp>
        <p:nvSpPr>
          <p:cNvPr id="8" name="">
            <a:extLst xmlns:a="http://schemas.openxmlformats.org/drawingml/2006/main">
              <a:ext uri="{FF2B5EF4-FFF2-40B4-BE49-F238E27FC236}">
                <a16:creationId xmlns:a16="http://schemas.microsoft.com/office/drawing/2014/main" id="{65BBDB01-7494-4E5A-818D-ACFE3C96E176}"/>
              </a:ext>
            </a:extLst>
          </p:cNvPr>
          <p:cNvSpPr>
            <a:spLocks xmlns:a="http://schemas.openxmlformats.org/drawingml/2006/main" noGrp="1"/>
          </p:cNvSpPr>
          <p:nvPr/>
        </p:nvSpPr>
        <p:spPr>
          <a:xfrm xmlns:a="http://schemas.openxmlformats.org/drawingml/2006/main">
            <a:off x="771525" y="496252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F2B632"/>
                </a:solidFill>
                <a:latin typeface="Lato"/>
                <a:ea typeface="Lato"/>
                <a:cs typeface="Lato"/>
              </a:defRPr>
            </a:pPr>
            <a:r>
              <a:rPr sz="975" b="1">
                <a:solidFill>
                  <a:srgbClr val="F2B632"/>
                </a:solidFill>
                <a:latin typeface="Lato"/>
                <a:ea typeface="Lato"/>
                <a:cs typeface="Lato"/>
              </a:rPr>
              <a:t>03</a:t>
            </a:r>
          </a:p>
        </p:txBody>
      </p:sp>
      <p:sp>
        <p:nvSpPr>
          <p:cNvPr id="9" name="">
            <a:extLst xmlns:a="http://schemas.openxmlformats.org/drawingml/2006/main">
              <a:ext uri="{FF2B5EF4-FFF2-40B4-BE49-F238E27FC236}">
                <a16:creationId xmlns:a16="http://schemas.microsoft.com/office/drawing/2014/main" id="{E7C27DEF-8AE9-41CB-8BA4-6D5E724616DB}"/>
              </a:ext>
            </a:extLst>
          </p:cNvPr>
          <p:cNvSpPr>
            <a:spLocks xmlns:a="http://schemas.openxmlformats.org/drawingml/2006/main" noGrp="1"/>
          </p:cNvSpPr>
          <p:nvPr/>
        </p:nvSpPr>
        <p:spPr>
          <a:xfrm xmlns:a="http://schemas.openxmlformats.org/drawingml/2006/main">
            <a:off x="1400175" y="4914900"/>
            <a:ext cx="819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800" b="1">
                <a:solidFill>
                  <a:srgbClr val="FFFFFF"/>
                </a:solidFill>
                <a:latin typeface="Lato"/>
                <a:ea typeface="Lato"/>
                <a:cs typeface="Lato"/>
              </a:defRPr>
            </a:pPr>
            <a:r>
              <a:rPr sz="1800" b="1">
                <a:solidFill>
                  <a:srgbClr val="FFFFFF"/>
                </a:solidFill>
                <a:latin typeface="Lato"/>
                <a:ea typeface="Lato"/>
                <a:cs typeface="Lato"/>
              </a:rPr>
              <a:t>The signal, and what remains uncertain</a:t>
            </a:r>
          </a:p>
        </p:txBody>
      </p:sp>
      <p:sp>
        <p:nvSpPr>
          <p:cNvPr id="10" name="">
            <a:extLst xmlns:a="http://schemas.openxmlformats.org/drawingml/2006/main">
              <a:ext uri="{FF2B5EF4-FFF2-40B4-BE49-F238E27FC236}">
                <a16:creationId xmlns:a16="http://schemas.microsoft.com/office/drawing/2014/main" id="{DA8DA8B1-75A7-4667-9F8D-00AE5D13A0BB}"/>
              </a:ext>
            </a:extLst>
          </p:cNvPr>
          <p:cNvSpPr>
            <a:spLocks xmlns:a="http://schemas.openxmlformats.org/drawingml/2006/main" noGrp="1"/>
          </p:cNvSpPr>
          <p:nvPr/>
        </p:nvSpPr>
        <p:spPr>
          <a:xfrm xmlns:a="http://schemas.openxmlformats.org/drawingml/2006/main">
            <a:off x="742950" y="5895975"/>
            <a:ext cx="4762500" cy="9525"/>
          </a:xfrm>
          <a:prstGeom xmlns:a="http://schemas.openxmlformats.org/drawingml/2006/main" prst="rect">
            <a:avLst/>
          </a:prstGeom>
          <a:solidFill xmlns:a="http://schemas.openxmlformats.org/drawingml/2006/main">
            <a:srgbClr val="A8C0CD">
              <a:alpha val="55000"/>
            </a:srgbClr>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0352939-EC56-45DC-BACC-9EB474DF8A6B}"/>
              </a:ext>
            </a:extLst>
          </p:cNvPr>
          <p:cNvSpPr>
            <a:spLocks xmlns:a="http://schemas.openxmlformats.org/drawingml/2006/main" noGrp="1"/>
          </p:cNvSpPr>
          <p:nvPr/>
        </p:nvSpPr>
        <p:spPr>
          <a:xfrm xmlns:a="http://schemas.openxmlformats.org/drawingml/2006/main">
            <a:off x="742950" y="6076950"/>
            <a:ext cx="7810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050" b="0">
                <a:solidFill>
                  <a:srgbClr val="D7E5EC"/>
                </a:solidFill>
                <a:latin typeface="Lato"/>
                <a:ea typeface="Lato"/>
                <a:cs typeface="Lato"/>
              </a:defRPr>
            </a:pPr>
            <a:r>
              <a:rPr sz="1050" b="0">
                <a:solidFill>
                  <a:srgbClr val="D7E5EC"/>
                </a:solidFill>
                <a:latin typeface="Lato"/>
                <a:ea typeface="Lato"/>
                <a:cs typeface="Lato"/>
              </a:rPr>
              <a:t>Next: Module 3 · Climate data workflows with cavapy and CAVAanalytics</a:t>
            </a:r>
          </a:p>
        </p:txBody>
      </p:sp>
    </p:spTree>
    <p:extLst>
      <p:ext uri="{BB962C8B-B14F-4D97-AF65-F5344CB8AC3E}">
        <p14:creationId xmlns:p14="http://schemas.microsoft.com/office/powerpoint/2010/main" val="10725764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2026-09-22T12:16:05.5480000Z</dcterms:created>
  <dcterms:modified xsi:type="dcterms:W3CDTF">2026-09-22T12:16:05.5480000Z</dcterms:modified>
</coreProperties>
</file>