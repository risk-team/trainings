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a8e3c17a27484d" /><Relationship Type="http://schemas.openxmlformats.org/officeDocument/2006/relationships/extended-properties" Target="/docProps/app.xml" Id="Ra676f66c45fc4446" /><Relationship Type="http://schemas.openxmlformats.org/officeDocument/2006/relationships/officeDocument" Target="/ppt/presentation.xml" Id="R8a874998da8649bb" /></Relationships>
</file>

<file path=ppt/presentation.xml><?xml version="1.0" encoding="utf-8"?>
<p:presentation xmlns:p="http://schemas.openxmlformats.org/presentationml/2006/main">
  <p:sldMasterIdLst>
    <p:sldMasterId xmlns:r="http://schemas.openxmlformats.org/officeDocument/2006/relationships" id="2147483648" r:id="R75d73aeddd734bc3"/>
  </p:sldMasterIdLst>
  <p:notesMasterIdLst>
    <p:notesMasterId xmlns:r="http://schemas.openxmlformats.org/officeDocument/2006/relationships" r:id="R1813836a9e1c443d"/>
  </p:notesMasterIdLst>
  <p:sldIdLst>
    <p:sldId xmlns:r="http://schemas.openxmlformats.org/officeDocument/2006/relationships" id="256" r:id="Rc843712802fe48ae"/>
    <p:sldId xmlns:r="http://schemas.openxmlformats.org/officeDocument/2006/relationships" id="257" r:id="Rf4049e46339246ba"/>
    <p:sldId xmlns:r="http://schemas.openxmlformats.org/officeDocument/2006/relationships" id="258" r:id="R4c193d65f6cd4cdf"/>
    <p:sldId xmlns:r="http://schemas.openxmlformats.org/officeDocument/2006/relationships" id="259" r:id="Rfb77d630c5bb4012"/>
    <p:sldId xmlns:r="http://schemas.openxmlformats.org/officeDocument/2006/relationships" id="260" r:id="R60d7aff6b94b4fa9"/>
    <p:sldId xmlns:r="http://schemas.openxmlformats.org/officeDocument/2006/relationships" id="261" r:id="Rec54e298a5754f9e"/>
    <p:sldId xmlns:r="http://schemas.openxmlformats.org/officeDocument/2006/relationships" id="262" r:id="R153397d6ff414b8c"/>
    <p:sldId xmlns:r="http://schemas.openxmlformats.org/officeDocument/2006/relationships" id="263" r:id="R3a6dae3c433e4b94"/>
    <p:sldId xmlns:r="http://schemas.openxmlformats.org/officeDocument/2006/relationships" id="264" r:id="Rc1a984833d9441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bff5ea37384fc2" /><Relationship Type="http://schemas.openxmlformats.org/officeDocument/2006/relationships/slideMaster" Target="/ppt/slideMasters/slideMaster1.xml" Id="R75d73aeddd734bc3" /><Relationship Type="http://schemas.openxmlformats.org/officeDocument/2006/relationships/notesMaster" Target="/ppt/notesMasters/notesMaster1.xml" Id="R1813836a9e1c443d" /><Relationship Type="http://schemas.openxmlformats.org/officeDocument/2006/relationships/presProps" Target="/ppt/presProps.xml" Id="R96fec65ab9c744b0" /><Relationship Type="http://schemas.openxmlformats.org/officeDocument/2006/relationships/tableStyles" Target="/ppt/tableStyles.xml" Id="R60dd4e8788794d91" /><Relationship Type="http://schemas.openxmlformats.org/officeDocument/2006/relationships/slide" Target="/ppt/slides/slide1.xml" Id="Rc843712802fe48ae" /><Relationship Type="http://schemas.openxmlformats.org/officeDocument/2006/relationships/slide" Target="/ppt/slides/slide2.xml" Id="Rf4049e46339246ba" /><Relationship Type="http://schemas.openxmlformats.org/officeDocument/2006/relationships/slide" Target="/ppt/slides/slide3.xml" Id="R4c193d65f6cd4cdf" /><Relationship Type="http://schemas.openxmlformats.org/officeDocument/2006/relationships/slide" Target="/ppt/slides/slide4.xml" Id="Rfb77d630c5bb4012" /><Relationship Type="http://schemas.openxmlformats.org/officeDocument/2006/relationships/slide" Target="/ppt/slides/slide5.xml" Id="R60d7aff6b94b4fa9" /><Relationship Type="http://schemas.openxmlformats.org/officeDocument/2006/relationships/slide" Target="/ppt/slides/slide6.xml" Id="Rec54e298a5754f9e" /><Relationship Type="http://schemas.openxmlformats.org/officeDocument/2006/relationships/slide" Target="/ppt/slides/slide7.xml" Id="R153397d6ff414b8c" /><Relationship Type="http://schemas.openxmlformats.org/officeDocument/2006/relationships/slide" Target="/ppt/slides/slide8.xml" Id="R3a6dae3c433e4b94" /><Relationship Type="http://schemas.openxmlformats.org/officeDocument/2006/relationships/slide" Target="/ppt/slides/slide9.xml" Id="Rc1a984833d9441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d38ef3e71d42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f06c1d9ed54e3a" /><Relationship Type="http://schemas.openxmlformats.org/officeDocument/2006/relationships/notesMaster" Target="/ppt/notesMasters/notesMaster1.xml" Id="R2422fcfebd7948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d7743b1159b4155" /><Relationship Type="http://schemas.openxmlformats.org/officeDocument/2006/relationships/notesMaster" Target="/ppt/notesMasters/notesMaster1.xml" Id="R31b69d217c3248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035f58e984452a" /><Relationship Type="http://schemas.openxmlformats.org/officeDocument/2006/relationships/notesMaster" Target="/ppt/notesMasters/notesMaster1.xml" Id="R3d3f021abfc64ae5"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d09aad5879425e" /><Relationship Type="http://schemas.openxmlformats.org/officeDocument/2006/relationships/notesMaster" Target="/ppt/notesMasters/notesMaster1.xml" Id="Rb54f54e690fb4ab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39ecb721af4e16" /><Relationship Type="http://schemas.openxmlformats.org/officeDocument/2006/relationships/notesMaster" Target="/ppt/notesMasters/notesMaster1.xml" Id="R206286b0bdd540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e108144ae04bc0" /><Relationship Type="http://schemas.openxmlformats.org/officeDocument/2006/relationships/notesMaster" Target="/ppt/notesMasters/notesMaster1.xml" Id="R80c5bbddd24b4d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9ca456c6b4457e" /><Relationship Type="http://schemas.openxmlformats.org/officeDocument/2006/relationships/notesMaster" Target="/ppt/notesMasters/notesMaster1.xml" Id="R84077a5a569246f4"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96cf6b2300494f" /><Relationship Type="http://schemas.openxmlformats.org/officeDocument/2006/relationships/notesMaster" Target="/ppt/notesMasters/notesMaster1.xml" Id="Rad0c2c21b0bf4fa6" /></Relationships>
</file>

<file path=ppt/notesSlides/_rels/notesSlide9.xml.rels>&#65279;<?xml version="1.0" encoding="utf-8"?><Relationships xmlns="http://schemas.openxmlformats.org/package/2006/relationships"><Relationship Type="http://schemas.openxmlformats.org/officeDocument/2006/relationships/slide" Target="/ppt/slides/slide9.xml" Id="Rb6595a87e36847f9" /><Relationship Type="http://schemas.openxmlformats.org/officeDocument/2006/relationships/notesMaster" Target="/ppt/notesMasters/notesMaster1.xml" Id="R220fff7204a24e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 Module 3 moves from the Platform to reproducible code. The first 30 minutes cover installation and kernel setup. The CAVAanalytics notebook follows, then Sam introduces cavapy with a separate notebook. Source: CAVA Training Series concept note supplied by the user; local package documentation for CAVAanalytics and cavapy.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 The durations total 180 minutes. The setup block should finish with every participant able to open JupyterLab and see both R and Python kernels. Riccardo leads setup and CAVAanalytics. Sam leads cavapy. Source: CAVA Training Series concept note supplied by the user, with the user-requested 30-minute installation block.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 CAVAanalytics is the R layer for analysis, indicators, ensemble interpretation, plots and raster export. cavapy is the Python companion for efficient retrieval and xarray-based processing. Both stream spatial subsets from the CAVA THREDDS/OPeNDAP infrastructure. Sources: https://un-fao.github.io/CAVAanalytics/ and https://github.com/un-fao/cavapy; local READMEs inspected 29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Explain that CAVAanalytics depends on rJava and compiled spatial packages such as terra and sf. Conda-forge supplies compatible binaries and Java, reducing platform-specific compilation problems. cavapy requires Python 3.11 or newer. Mamba can replace conda command-for-command if available. Sources: local CAVAanalytics README and DESCRIPTION; local cavapy README and pyproject.toml.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 minutes. Ask participants to run the command in a terminal. The environment combines Python 3.11, R 4.4, rJava, the spatial stack, package installer pak, JupyterLab and both kernels. A newer compatible R version can be used if the configured conda-forge channel does not provide R 4.4. Do not proceed until activation succeeds. Sources: local package installation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 Run the R and Python installation commands after activating the environment. CAVAanalytics uses pak to resolve its GitHub and climate4R dependencies. cavapy installs from PyPI. Installation and the training data calls require internet access. Sources: local CAVAanalytics README and local cavapy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Register both kernels from the activated environment, then launch JupyterLab. Participants should select R (CAVA) for the CAVAanalytics notebook and Python (CAVA) for Sam's cavapy notebook. If a kernel does not appear, close JupyterLab, re-activate the cava environment, repeat the relevant install command and reopen JupyterLab.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 Every participant should run the import checks in the correct kernels. rJava verifies the Java bridge required by CAVAanalytics. Remote data access can fail independently of the local installation if the THREDDS service is unavailable; consult https://github.com/un-fao/CAVAanalytics/issues and the cavapy issue page for current notices.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 Open the supplied CAVAanalytics notebook with the R (CAVA) kernel. The exercise covers the package's main public functions: load_data, observations, model_biases, projections, climate_change_signal, plotting and extract_raster, plus threshold and consecutive-day indicators. The loading cell depends on network and server response, so a saved RDS cache is useful for delivery. Source: local CAVAanalytics pkgdown articles and function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4d8010438145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f8d499bffe416f" /><Relationship Type="http://schemas.openxmlformats.org/officeDocument/2006/relationships/slideLayout" Target="/ppt/slideLayouts/slideLayout1.xml" Id="Rd4a926e53369426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a926e5336942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1ad691e95354cba" /><Relationship Type="http://schemas.openxmlformats.org/officeDocument/2006/relationships/image" Target="/ppt/media/image.png" Id="Rcd07e1aeb7d94de4" /><Relationship Type="http://schemas.openxmlformats.org/officeDocument/2006/relationships/notesSlide" Target="/ppt/notesSlides/notesSlide1.xml" Id="R9b1c7a5ed24241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4182adb2154468e" /><Relationship Type="http://schemas.openxmlformats.org/officeDocument/2006/relationships/notesSlide" Target="/ppt/notesSlides/notesSlide2.xml" Id="R4a0238e1d79042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7bc80f824d34304" /><Relationship Type="http://schemas.openxmlformats.org/officeDocument/2006/relationships/image" Target="/ppt/media/image2.png" Id="R2845f0681e5e4df9" /><Relationship Type="http://schemas.openxmlformats.org/officeDocument/2006/relationships/image" Target="/ppt/media/image3.png" Id="Re8360fbc49504943" /><Relationship Type="http://schemas.openxmlformats.org/officeDocument/2006/relationships/image" Target="/ppt/media/image.svg" Id="R63e66c9026644925" /><Relationship Type="http://schemas.openxmlformats.org/officeDocument/2006/relationships/notesSlide" Target="/ppt/notesSlides/notesSlide3.xml" Id="Rfe5b63bc9cac43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16353d302004cb3" /><Relationship Type="http://schemas.openxmlformats.org/officeDocument/2006/relationships/notesSlide" Target="/ppt/notesSlides/notesSlide4.xml" Id="Rc2e091663ac64e0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a47d2eed69b436b" /><Relationship Type="http://schemas.openxmlformats.org/officeDocument/2006/relationships/notesSlide" Target="/ppt/notesSlides/notesSlide5.xml" Id="Rdf4776850c3443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c26a36ad5d74b79" /><Relationship Type="http://schemas.openxmlformats.org/officeDocument/2006/relationships/notesSlide" Target="/ppt/notesSlides/notesSlide6.xml" Id="R2a72f1804d2e49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d0c1ad7cdb14da1" /><Relationship Type="http://schemas.openxmlformats.org/officeDocument/2006/relationships/notesSlide" Target="/ppt/notesSlides/notesSlide7.xml" Id="R5beac4ad9edd40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f03de4134b34ceb" /><Relationship Type="http://schemas.openxmlformats.org/officeDocument/2006/relationships/notesSlide" Target="/ppt/notesSlides/notesSlide8.xml" Id="Ra7757662176e4ab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d2faec3cd4042bd" /><Relationship Type="http://schemas.openxmlformats.org/officeDocument/2006/relationships/notesSlide" Target="/ppt/notesSlides/notesSlide9.xml" Id="R33ab8d00eaea406f" /></Relationships>
</file>

<file path=ppt/slides/slide1.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306226B-24EB-4F14-A19C-E5E2BCC93EA7}"/>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20B21F-0A66-4DC9-8A12-A61A53D5F979}"/>
              </a:ext>
            </a:extLst>
          </p:cNvPr>
          <p:cNvSpPr>
            <a:spLocks xmlns:a="http://schemas.openxmlformats.org/drawingml/2006/main" noGrp="1"/>
          </p:cNvSpPr>
          <p:nvPr/>
        </p:nvSpPr>
        <p:spPr>
          <a:xfrm xmlns:a="http://schemas.openxmlformats.org/drawingml/2006/main">
            <a:off x="723900" y="666750"/>
            <a:ext cx="1066800" cy="38100"/>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5291423-B780-4DCD-B9BA-1BE4D9709E40}"/>
              </a:ext>
            </a:extLst>
          </p:cNvPr>
          <p:cNvSpPr>
            <a:spLocks xmlns:a="http://schemas.openxmlformats.org/drawingml/2006/main" noGrp="1"/>
          </p:cNvSpPr>
          <p:nvPr/>
        </p:nvSpPr>
        <p:spPr>
          <a:xfrm xmlns:a="http://schemas.openxmlformats.org/drawingml/2006/main">
            <a:off x="723900" y="10382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1">
                <a:solidFill>
                  <a:srgbClr val="78D8C8"/>
                </a:solidFill>
                <a:latin typeface="Lato"/>
                <a:ea typeface="Lato"/>
                <a:cs typeface="Lato"/>
              </a:defRPr>
            </a:pPr>
            <a:r>
              <a:rPr sz="1050" b="1">
                <a:solidFill>
                  <a:srgbClr val="78D8C8"/>
                </a:solidFill>
                <a:latin typeface="Lato"/>
                <a:ea typeface="Lato"/>
                <a:cs typeface="Lato"/>
              </a:rPr>
              <a:t>CAVA TRAINING SERIES</a:t>
            </a:r>
          </a:p>
        </p:txBody>
      </p:sp>
      <p:sp>
        <p:nvSpPr>
          <p:cNvPr id="4" name="">
            <a:extLst xmlns:a="http://schemas.openxmlformats.org/drawingml/2006/main">
              <a:ext uri="{FF2B5EF4-FFF2-40B4-BE49-F238E27FC236}">
                <a16:creationId xmlns:a16="http://schemas.microsoft.com/office/drawing/2014/main" id="{4A80CA5E-E698-4BA1-9B14-DCFE28203A7E}"/>
              </a:ext>
            </a:extLst>
          </p:cNvPr>
          <p:cNvSpPr>
            <a:spLocks xmlns:a="http://schemas.openxmlformats.org/drawingml/2006/main" noGrp="1"/>
          </p:cNvSpPr>
          <p:nvPr/>
        </p:nvSpPr>
        <p:spPr>
          <a:xfrm xmlns:a="http://schemas.openxmlformats.org/drawingml/2006/main">
            <a:off x="723900" y="1733550"/>
            <a:ext cx="642937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600" b="1">
                <a:solidFill>
                  <a:srgbClr val="FFFFFF"/>
                </a:solidFill>
                <a:latin typeface="Lato"/>
                <a:ea typeface="Lato"/>
                <a:cs typeface="Lato"/>
              </a:defRPr>
            </a:pPr>
            <a:r>
              <a:rPr sz="3600" b="1">
                <a:solidFill>
                  <a:srgbClr val="FFFFFF"/>
                </a:solidFill>
                <a:latin typeface="Lato"/>
                <a:ea typeface="Lato"/>
                <a:cs typeface="Lato"/>
              </a:rPr>
              <a:t>Climate data workflows</a:t>
            </a:r>
          </a:p>
          <a:p xmlns:a="http://schemas.openxmlformats.org/drawingml/2006/main">
            <a:pPr algn="l">
              <a:lnSpc>
                <a:spcPct val="92000"/>
              </a:lnSpc>
              <a:buNone/>
              <a:defRPr sz="3600" b="1">
                <a:solidFill>
                  <a:srgbClr val="FFFFFF"/>
                </a:solidFill>
                <a:latin typeface="Lato"/>
                <a:ea typeface="Lato"/>
                <a:cs typeface="Lato"/>
              </a:defRPr>
            </a:pPr>
            <a:r>
              <a:rPr sz="3600" b="1">
                <a:solidFill>
                  <a:srgbClr val="FFFFFF"/>
                </a:solidFill>
                <a:latin typeface="Lato"/>
                <a:ea typeface="Lato"/>
                <a:cs typeface="Lato"/>
              </a:rPr>
              <a:t>with CAVAanalytics</a:t>
            </a:r>
          </a:p>
          <a:p xmlns:a="http://schemas.openxmlformats.org/drawingml/2006/main">
            <a:pPr algn="l">
              <a:lnSpc>
                <a:spcPct val="92000"/>
              </a:lnSpc>
              <a:buNone/>
              <a:defRPr sz="3600" b="1">
                <a:solidFill>
                  <a:srgbClr val="FFFFFF"/>
                </a:solidFill>
                <a:latin typeface="Lato"/>
                <a:ea typeface="Lato"/>
                <a:cs typeface="Lato"/>
              </a:defRPr>
            </a:pPr>
            <a:r>
              <a:rPr sz="3600" b="1">
                <a:solidFill>
                  <a:srgbClr val="FFFFFF"/>
                </a:solidFill>
                <a:latin typeface="Lato"/>
                <a:ea typeface="Lato"/>
                <a:cs typeface="Lato"/>
              </a:rPr>
              <a:t>and cavapy</a:t>
            </a:r>
          </a:p>
        </p:txBody>
      </p:sp>
      <p:sp>
        <p:nvSpPr>
          <p:cNvPr id="5" name="">
            <a:extLst xmlns:a="http://schemas.openxmlformats.org/drawingml/2006/main">
              <a:ext uri="{FF2B5EF4-FFF2-40B4-BE49-F238E27FC236}">
                <a16:creationId xmlns:a16="http://schemas.microsoft.com/office/drawing/2014/main" id="{BC3F7230-785B-480B-BC73-B307EBD83D3C}"/>
              </a:ext>
            </a:extLst>
          </p:cNvPr>
          <p:cNvSpPr>
            <a:spLocks xmlns:a="http://schemas.openxmlformats.org/drawingml/2006/main" noGrp="1"/>
          </p:cNvSpPr>
          <p:nvPr/>
        </p:nvSpPr>
        <p:spPr>
          <a:xfrm xmlns:a="http://schemas.openxmlformats.org/drawingml/2006/main">
            <a:off x="733425" y="44386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a:solidFill>
                  <a:srgbClr val="F2B632"/>
                </a:solidFill>
                <a:latin typeface="Lato"/>
                <a:ea typeface="Lato"/>
                <a:cs typeface="Lato"/>
              </a:defRPr>
            </a:pPr>
            <a:r>
              <a:rPr sz="1350" b="1">
                <a:solidFill>
                  <a:srgbClr val="F2B632"/>
                </a:solidFill>
                <a:latin typeface="Lato"/>
                <a:ea typeface="Lato"/>
                <a:cs typeface="Lato"/>
              </a:rPr>
              <a:t>MODULE 3</a:t>
            </a:r>
          </a:p>
        </p:txBody>
      </p:sp>
      <p:sp>
        <p:nvSpPr>
          <p:cNvPr id="6" name="">
            <a:extLst xmlns:a="http://schemas.openxmlformats.org/drawingml/2006/main">
              <a:ext uri="{FF2B5EF4-FFF2-40B4-BE49-F238E27FC236}">
                <a16:creationId xmlns:a16="http://schemas.microsoft.com/office/drawing/2014/main" id="{78CB37D4-CAD2-44FF-B686-7B2AB79A993C}"/>
              </a:ext>
            </a:extLst>
          </p:cNvPr>
          <p:cNvSpPr>
            <a:spLocks xmlns:a="http://schemas.openxmlformats.org/drawingml/2006/main" noGrp="1"/>
          </p:cNvSpPr>
          <p:nvPr/>
        </p:nvSpPr>
        <p:spPr>
          <a:xfrm xmlns:a="http://schemas.openxmlformats.org/drawingml/2006/main">
            <a:off x="733425" y="4914900"/>
            <a:ext cx="257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FFFFFF"/>
                </a:solidFill>
                <a:latin typeface="Lato"/>
                <a:ea typeface="Lato"/>
                <a:cs typeface="Lato"/>
              </a:defRPr>
            </a:pPr>
            <a:r>
              <a:rPr sz="1200" b="1">
                <a:solidFill>
                  <a:srgbClr val="FFFFFF"/>
                </a:solidFill>
                <a:latin typeface="Lato"/>
                <a:ea typeface="Lato"/>
                <a:cs typeface="Lato"/>
              </a:rPr>
              <a:t>30 September 2026</a:t>
            </a:r>
          </a:p>
        </p:txBody>
      </p:sp>
      <p:sp>
        <p:nvSpPr>
          <p:cNvPr id="7" name="">
            <a:extLst xmlns:a="http://schemas.openxmlformats.org/drawingml/2006/main">
              <a:ext uri="{FF2B5EF4-FFF2-40B4-BE49-F238E27FC236}">
                <a16:creationId xmlns:a16="http://schemas.microsoft.com/office/drawing/2014/main" id="{74569D84-A21E-427B-B508-05C51078FED9}"/>
              </a:ext>
            </a:extLst>
          </p:cNvPr>
          <p:cNvSpPr>
            <a:spLocks xmlns:a="http://schemas.openxmlformats.org/drawingml/2006/main" noGrp="1"/>
          </p:cNvSpPr>
          <p:nvPr/>
        </p:nvSpPr>
        <p:spPr>
          <a:xfrm xmlns:a="http://schemas.openxmlformats.org/drawingml/2006/main">
            <a:off x="733425" y="5238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0">
                <a:solidFill>
                  <a:srgbClr val="D7E5EC"/>
                </a:solidFill>
                <a:latin typeface="Lato"/>
                <a:ea typeface="Lato"/>
                <a:cs typeface="Lato"/>
              </a:defRPr>
            </a:pPr>
            <a:r>
              <a:rPr sz="1050" b="0">
                <a:solidFill>
                  <a:srgbClr val="D7E5EC"/>
                </a:solidFill>
                <a:latin typeface="Lato"/>
                <a:ea typeface="Lato"/>
                <a:cs typeface="Lato"/>
              </a:rPr>
              <a:t>09:00–12:00  ·  Hybrid</a:t>
            </a:r>
          </a:p>
        </p:txBody>
      </p:sp>
      <p:sp>
        <p:nvSpPr>
          <p:cNvPr id="8" name="">
            <a:extLst xmlns:a="http://schemas.openxmlformats.org/drawingml/2006/main">
              <a:ext uri="{FF2B5EF4-FFF2-40B4-BE49-F238E27FC236}">
                <a16:creationId xmlns:a16="http://schemas.microsoft.com/office/drawing/2014/main" id="{097B0326-7BFC-4F76-8A2B-0458B6D5E73E}"/>
              </a:ext>
            </a:extLst>
          </p:cNvPr>
          <p:cNvSpPr>
            <a:spLocks xmlns:a="http://schemas.openxmlformats.org/drawingml/2006/main" noGrp="1"/>
          </p:cNvSpPr>
          <p:nvPr/>
        </p:nvSpPr>
        <p:spPr>
          <a:xfrm xmlns:a="http://schemas.openxmlformats.org/drawingml/2006/main">
            <a:off x="733425" y="6010275"/>
            <a:ext cx="4953000" cy="9525"/>
          </a:xfrm>
          <a:prstGeom xmlns:a="http://schemas.openxmlformats.org/drawingml/2006/main" prst="rect">
            <a:avLst/>
          </a:prstGeom>
          <a:solidFill xmlns:a="http://schemas.openxmlformats.org/drawingml/2006/main">
            <a:srgbClr val="A8C0CD">
              <a:alpha val="55000"/>
            </a:srgbClr>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FDD258F-0764-4913-BB0C-E25E6FB37349}"/>
              </a:ext>
            </a:extLst>
          </p:cNvPr>
          <p:cNvSpPr>
            <a:spLocks xmlns:a="http://schemas.openxmlformats.org/drawingml/2006/main" noGrp="1"/>
          </p:cNvSpPr>
          <p:nvPr/>
        </p:nvSpPr>
        <p:spPr>
          <a:xfrm xmlns:a="http://schemas.openxmlformats.org/drawingml/2006/main">
            <a:off x="733425" y="6162675"/>
            <a:ext cx="5143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00" b="0">
                <a:solidFill>
                  <a:srgbClr val="D7E5EC"/>
                </a:solidFill>
                <a:latin typeface="Lato"/>
                <a:ea typeface="Lato"/>
                <a:cs typeface="Lato"/>
              </a:defRPr>
            </a:pPr>
            <a:r>
              <a:rPr sz="900" b="0">
                <a:solidFill>
                  <a:srgbClr val="D7E5EC"/>
                </a:solidFill>
                <a:latin typeface="Lato"/>
                <a:ea typeface="Lato"/>
                <a:cs typeface="Lato"/>
              </a:rPr>
              <a:t>Set up once, then work through reproducible notebooks</a:t>
            </a:r>
          </a:p>
        </p:txBody>
      </p:sp>
      <p:sp>
        <p:nvSpPr>
          <p:cNvPr id="10" name="">
            <a:extLst xmlns:a="http://schemas.openxmlformats.org/drawingml/2006/main">
              <a:ext uri="{FF2B5EF4-FFF2-40B4-BE49-F238E27FC236}">
                <a16:creationId xmlns:a16="http://schemas.microsoft.com/office/drawing/2014/main" id="{B033E5B0-3ED4-4488-8C8A-EDB8B18EDD66}"/>
              </a:ext>
            </a:extLst>
          </p:cNvPr>
          <p:cNvSpPr>
            <a:spLocks xmlns:a="http://schemas.openxmlformats.org/drawingml/2006/main" noGrp="1"/>
          </p:cNvSpPr>
          <p:nvPr/>
        </p:nvSpPr>
        <p:spPr>
          <a:xfrm xmlns:a="http://schemas.openxmlformats.org/drawingml/2006/main">
            <a:off x="7620000" y="1095375"/>
            <a:ext cx="3381375" cy="3381375"/>
          </a:xfrm>
          <a:prstGeom xmlns:a="http://schemas.openxmlformats.org/drawingml/2006/main" prst="ellipse">
            <a:avLst/>
          </a:prstGeom>
          <a:solidFill xmlns:a="http://schemas.openxmlformats.org/drawingml/2006/main">
            <a:srgbClr val="FFFFFF"/>
          </a:solidFill>
          <a:ln xmlns:a="http://schemas.openxmlformats.org/drawingml/2006/main" w="9525">
            <a:solidFill>
              <a:srgbClr val="DCE5E2"/>
            </a:solidFill>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cd07e1aeb7d94de4"/>
          <a:stretch xmlns:a="http://schemas.openxmlformats.org/drawingml/2006/main"/>
        </p:blipFill>
        <p:spPr>
          <a:xfrm xmlns:a="http://schemas.openxmlformats.org/drawingml/2006/main">
            <a:off x="7886700" y="1352550"/>
            <a:ext cx="2857500" cy="28575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AA3D831-14B1-4781-83BE-788ED25DC286}"/>
              </a:ext>
            </a:extLst>
          </p:cNvPr>
          <p:cNvSpPr>
            <a:spLocks xmlns:a="http://schemas.openxmlformats.org/drawingml/2006/main" noGrp="1"/>
          </p:cNvSpPr>
          <p:nvPr/>
        </p:nvSpPr>
        <p:spPr>
          <a:xfrm xmlns:a="http://schemas.openxmlformats.org/drawingml/2006/main">
            <a:off x="7839075" y="4733925"/>
            <a:ext cx="1285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4425" b="1">
                <a:solidFill>
                  <a:srgbClr val="78D8C8"/>
                </a:solidFill>
                <a:latin typeface="Lato"/>
                <a:ea typeface="Lato"/>
                <a:cs typeface="Lato"/>
              </a:defRPr>
            </a:pPr>
            <a:r>
              <a:rPr sz="4425" b="1">
                <a:solidFill>
                  <a:srgbClr val="78D8C8"/>
                </a:solidFill>
                <a:latin typeface="Lato"/>
                <a:ea typeface="Lato"/>
                <a:cs typeface="Lato"/>
              </a:rPr>
              <a:t>R</a:t>
            </a:r>
          </a:p>
        </p:txBody>
      </p:sp>
      <p:sp>
        <p:nvSpPr>
          <p:cNvPr id="13" name="">
            <a:extLst xmlns:a="http://schemas.openxmlformats.org/drawingml/2006/main">
              <a:ext uri="{FF2B5EF4-FFF2-40B4-BE49-F238E27FC236}">
                <a16:creationId xmlns:a16="http://schemas.microsoft.com/office/drawing/2014/main" id="{BA1FE998-B566-47DD-9E9E-91F439522AFC}"/>
              </a:ext>
            </a:extLst>
          </p:cNvPr>
          <p:cNvSpPr>
            <a:spLocks xmlns:a="http://schemas.openxmlformats.org/drawingml/2006/main" noGrp="1"/>
          </p:cNvSpPr>
          <p:nvPr/>
        </p:nvSpPr>
        <p:spPr>
          <a:xfrm xmlns:a="http://schemas.openxmlformats.org/drawingml/2006/main">
            <a:off x="9077325" y="4819650"/>
            <a:ext cx="666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2850" b="1">
                <a:solidFill>
                  <a:srgbClr val="F2B632"/>
                </a:solidFill>
                <a:latin typeface="Lato"/>
                <a:ea typeface="Lato"/>
                <a:cs typeface="Lato"/>
              </a:defRPr>
            </a:pPr>
            <a:r>
              <a:rPr sz="2850" b="1">
                <a:solidFill>
                  <a:srgbClr val="F2B632"/>
                </a:solidFill>
                <a:latin typeface="Lato"/>
                <a:ea typeface="Lato"/>
                <a:cs typeface="Lato"/>
              </a:rPr>
              <a:t>+</a:t>
            </a:r>
          </a:p>
        </p:txBody>
      </p:sp>
      <p:sp>
        <p:nvSpPr>
          <p:cNvPr id="14" name="">
            <a:extLst xmlns:a="http://schemas.openxmlformats.org/drawingml/2006/main">
              <a:ext uri="{FF2B5EF4-FFF2-40B4-BE49-F238E27FC236}">
                <a16:creationId xmlns:a16="http://schemas.microsoft.com/office/drawing/2014/main" id="{C207D2FC-6ED2-4248-9E2D-0B49D0DF95D0}"/>
              </a:ext>
            </a:extLst>
          </p:cNvPr>
          <p:cNvSpPr>
            <a:spLocks xmlns:a="http://schemas.openxmlformats.org/drawingml/2006/main" noGrp="1"/>
          </p:cNvSpPr>
          <p:nvPr/>
        </p:nvSpPr>
        <p:spPr>
          <a:xfrm xmlns:a="http://schemas.openxmlformats.org/drawingml/2006/main">
            <a:off x="9696450" y="4733925"/>
            <a:ext cx="1447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3975" b="1">
                <a:solidFill>
                  <a:srgbClr val="78D8C8"/>
                </a:solidFill>
                <a:latin typeface="Lato"/>
                <a:ea typeface="Lato"/>
                <a:cs typeface="Lato"/>
              </a:defRPr>
            </a:pPr>
            <a:r>
              <a:rPr sz="3975" b="1">
                <a:solidFill>
                  <a:srgbClr val="78D8C8"/>
                </a:solidFill>
                <a:latin typeface="Lato"/>
                <a:ea typeface="Lato"/>
                <a:cs typeface="Lato"/>
              </a:rPr>
              <a:t>PY</a:t>
            </a:r>
          </a:p>
        </p:txBody>
      </p:sp>
    </p:spTree>
    <p:extLst>
      <p:ext uri="{BB962C8B-B14F-4D97-AF65-F5344CB8AC3E}">
        <p14:creationId xmlns:p14="http://schemas.microsoft.com/office/powerpoint/2010/main" val="112677673"/>
      </p:ext>
    </p:extLst>
  </p:cSld>
</p:sld>
</file>

<file path=ppt/slides/slide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64F6BA1A-5924-4E0B-AEF1-F645F483FCF9}"/>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a:solidFill>
                  <a:srgbClr val="12304E"/>
                </a:solidFill>
                <a:latin typeface="Lato"/>
                <a:ea typeface="Lato"/>
                <a:cs typeface="Lato"/>
              </a:defRPr>
            </a:pPr>
            <a:r>
              <a:rPr sz="2325" b="1">
                <a:solidFill>
                  <a:srgbClr val="12304E"/>
                </a:solidFill>
                <a:latin typeface="Lato"/>
                <a:ea typeface="Lato"/>
                <a:cs typeface="Lato"/>
              </a:rPr>
              <a:t>Today’s route</a:t>
            </a:r>
          </a:p>
        </p:txBody>
      </p:sp>
      <p:sp>
        <p:nvSpPr>
          <p:cNvPr id="2" name="">
            <a:extLst xmlns:a="http://schemas.openxmlformats.org/drawingml/2006/main">
              <a:ext uri="{FF2B5EF4-FFF2-40B4-BE49-F238E27FC236}">
                <a16:creationId xmlns:a16="http://schemas.microsoft.com/office/drawing/2014/main" id="{73E23A15-8148-43B0-B3AC-43EDC71988AC}"/>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0">
                <a:solidFill>
                  <a:srgbClr val="687984"/>
                </a:solidFill>
                <a:latin typeface="Lato"/>
                <a:ea typeface="Lato"/>
                <a:cs typeface="Lato"/>
              </a:defRPr>
            </a:pPr>
            <a:r>
              <a:rPr sz="1125" b="0">
                <a:solidFill>
                  <a:srgbClr val="687984"/>
                </a:solidFill>
                <a:latin typeface="Lato"/>
                <a:ea typeface="Lato"/>
                <a:cs typeface="Lato"/>
              </a:rPr>
              <a:t>Three hours, with the final hour available for deeper practice</a:t>
            </a:r>
          </a:p>
        </p:txBody>
      </p:sp>
      <p:sp>
        <p:nvSpPr>
          <p:cNvPr id="3" name="">
            <a:extLst xmlns:a="http://schemas.openxmlformats.org/drawingml/2006/main">
              <a:ext uri="{FF2B5EF4-FFF2-40B4-BE49-F238E27FC236}">
                <a16:creationId xmlns:a16="http://schemas.microsoft.com/office/drawing/2014/main" id="{A6ECF510-71DD-401D-BB69-4E5821C93D2B}"/>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35A3FD9-70D9-451E-B461-1787970C1507}"/>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CC5AF34-B20C-47A8-8159-7B9EAF9605F5}"/>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439CC92-584D-491B-A633-5F00507CFF99}"/>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750" b="1">
                <a:solidFill>
                  <a:srgbClr val="687984"/>
                </a:solidFill>
                <a:latin typeface="Lato"/>
                <a:ea typeface="Lato"/>
                <a:cs typeface="Lato"/>
              </a:defRPr>
            </a:pPr>
            <a:r>
              <a:rPr sz="750" b="1">
                <a:solidFill>
                  <a:srgbClr val="687984"/>
                </a:solidFill>
                <a:latin typeface="Lato"/>
                <a:ea typeface="Lato"/>
                <a:cs typeface="Lato"/>
              </a:rPr>
              <a:t>CAVA MODULE 3</a:t>
            </a:r>
          </a:p>
        </p:txBody>
      </p:sp>
      <p:sp>
        <p:nvSpPr>
          <p:cNvPr id="7" name="">
            <a:extLst xmlns:a="http://schemas.openxmlformats.org/drawingml/2006/main">
              <a:ext uri="{FF2B5EF4-FFF2-40B4-BE49-F238E27FC236}">
                <a16:creationId xmlns:a16="http://schemas.microsoft.com/office/drawing/2014/main" id="{B8112367-482B-4600-966B-0A6A0E42D425}"/>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750" b="0">
                <a:solidFill>
                  <a:srgbClr val="687984"/>
                </a:solidFill>
                <a:latin typeface="Lato"/>
                <a:ea typeface="Lato"/>
                <a:cs typeface="Lato"/>
              </a:defRPr>
            </a:pPr>
            <a:r>
              <a:rPr sz="750" b="0">
                <a:solidFill>
                  <a:srgbClr val="687984"/>
                </a:solidFill>
                <a:latin typeface="Lato"/>
                <a:ea typeface="Lato"/>
                <a:cs typeface="Lato"/>
              </a:rPr>
              <a:t>02</a:t>
            </a:r>
          </a:p>
        </p:txBody>
      </p:sp>
      <p:sp>
        <p:nvSpPr>
          <p:cNvPr id="8" name="">
            <a:extLst xmlns:a="http://schemas.openxmlformats.org/drawingml/2006/main">
              <a:ext uri="{FF2B5EF4-FFF2-40B4-BE49-F238E27FC236}">
                <a16:creationId xmlns:a16="http://schemas.microsoft.com/office/drawing/2014/main" id="{49735F46-B6B6-400C-BC0E-F252C81948E6}"/>
              </a:ext>
            </a:extLst>
          </p:cNvPr>
          <p:cNvSpPr>
            <a:spLocks xmlns:a="http://schemas.openxmlformats.org/drawingml/2006/main" noGrp="1"/>
          </p:cNvSpPr>
          <p:nvPr/>
        </p:nvSpPr>
        <p:spPr>
          <a:xfrm xmlns:a="http://schemas.openxmlformats.org/drawingml/2006/main">
            <a:off x="685800" y="1924050"/>
            <a:ext cx="781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175" b="1">
                <a:solidFill>
                  <a:srgbClr val="00A88F"/>
                </a:solidFill>
                <a:latin typeface="Lato"/>
                <a:ea typeface="Lato"/>
                <a:cs typeface="Lato"/>
              </a:defRPr>
            </a:pPr>
            <a:r>
              <a:rPr sz="2175" b="1">
                <a:solidFill>
                  <a:srgbClr val="00A88F"/>
                </a:solidFill>
                <a:latin typeface="Lato"/>
                <a:ea typeface="Lato"/>
                <a:cs typeface="Lato"/>
              </a:rPr>
              <a:t>30</a:t>
            </a:r>
          </a:p>
        </p:txBody>
      </p:sp>
      <p:sp>
        <p:nvSpPr>
          <p:cNvPr id="9" name="">
            <a:extLst xmlns:a="http://schemas.openxmlformats.org/drawingml/2006/main">
              <a:ext uri="{FF2B5EF4-FFF2-40B4-BE49-F238E27FC236}">
                <a16:creationId xmlns:a16="http://schemas.microsoft.com/office/drawing/2014/main" id="{4296DAAD-584C-40BA-9753-E094901CC77F}"/>
              </a:ext>
            </a:extLst>
          </p:cNvPr>
          <p:cNvSpPr>
            <a:spLocks xmlns:a="http://schemas.openxmlformats.org/drawingml/2006/main" noGrp="1"/>
          </p:cNvSpPr>
          <p:nvPr/>
        </p:nvSpPr>
        <p:spPr>
          <a:xfrm xmlns:a="http://schemas.openxmlformats.org/drawingml/2006/main">
            <a:off x="1266825" y="20478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87984"/>
                </a:solidFill>
                <a:latin typeface="Lato"/>
                <a:ea typeface="Lato"/>
                <a:cs typeface="Lato"/>
              </a:defRPr>
            </a:pPr>
            <a:r>
              <a:rPr sz="825" b="0">
                <a:solidFill>
                  <a:srgbClr val="687984"/>
                </a:solidFill>
                <a:latin typeface="Lato"/>
                <a:ea typeface="Lato"/>
                <a:cs typeface="Lato"/>
              </a:rPr>
              <a:t>min</a:t>
            </a:r>
          </a:p>
        </p:txBody>
      </p:sp>
      <p:sp>
        <p:nvSpPr>
          <p:cNvPr id="10" name="">
            <a:extLst xmlns:a="http://schemas.openxmlformats.org/drawingml/2006/main">
              <a:ext uri="{FF2B5EF4-FFF2-40B4-BE49-F238E27FC236}">
                <a16:creationId xmlns:a16="http://schemas.microsoft.com/office/drawing/2014/main" id="{2AA39B78-6FDD-4420-861C-1A6C464A90DB}"/>
              </a:ext>
            </a:extLst>
          </p:cNvPr>
          <p:cNvSpPr>
            <a:spLocks xmlns:a="http://schemas.openxmlformats.org/drawingml/2006/main" noGrp="1"/>
          </p:cNvSpPr>
          <p:nvPr/>
        </p:nvSpPr>
        <p:spPr>
          <a:xfrm xmlns:a="http://schemas.openxmlformats.org/drawingml/2006/main">
            <a:off x="1952625" y="1924050"/>
            <a:ext cx="3857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a:solidFill>
                  <a:srgbClr val="12304E"/>
                </a:solidFill>
                <a:latin typeface="Lato"/>
                <a:ea typeface="Lato"/>
                <a:cs typeface="Lato"/>
              </a:defRPr>
            </a:pPr>
            <a:r>
              <a:rPr sz="1725" b="1">
                <a:solidFill>
                  <a:srgbClr val="12304E"/>
                </a:solidFill>
                <a:latin typeface="Lato"/>
                <a:ea typeface="Lato"/>
                <a:cs typeface="Lato"/>
              </a:rPr>
              <a:t>Environment setup</a:t>
            </a:r>
          </a:p>
        </p:txBody>
      </p:sp>
      <p:sp>
        <p:nvSpPr>
          <p:cNvPr id="11" name="">
            <a:extLst xmlns:a="http://schemas.openxmlformats.org/drawingml/2006/main">
              <a:ext uri="{FF2B5EF4-FFF2-40B4-BE49-F238E27FC236}">
                <a16:creationId xmlns:a16="http://schemas.microsoft.com/office/drawing/2014/main" id="{42E2BE86-A228-4CCD-9BC3-03DD17FE10AA}"/>
              </a:ext>
            </a:extLst>
          </p:cNvPr>
          <p:cNvSpPr>
            <a:spLocks xmlns:a="http://schemas.openxmlformats.org/drawingml/2006/main" noGrp="1"/>
          </p:cNvSpPr>
          <p:nvPr/>
        </p:nvSpPr>
        <p:spPr>
          <a:xfrm xmlns:a="http://schemas.openxmlformats.org/drawingml/2006/main">
            <a:off x="6238875" y="1924050"/>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0">
                <a:solidFill>
                  <a:srgbClr val="687984"/>
                </a:solidFill>
                <a:latin typeface="Lato"/>
                <a:ea typeface="Lato"/>
                <a:cs typeface="Lato"/>
              </a:defRPr>
            </a:pPr>
            <a:r>
              <a:rPr sz="1275" b="0">
                <a:solidFill>
                  <a:srgbClr val="687984"/>
                </a:solidFill>
                <a:latin typeface="Lato"/>
                <a:ea typeface="Lato"/>
                <a:cs typeface="Lato"/>
              </a:rPr>
              <a:t>Create the Conda environment, install both packages and open Jupyter</a:t>
            </a:r>
          </a:p>
        </p:txBody>
      </p:sp>
      <p:sp>
        <p:nvSpPr>
          <p:cNvPr id="12" name="">
            <a:extLst xmlns:a="http://schemas.openxmlformats.org/drawingml/2006/main">
              <a:ext uri="{FF2B5EF4-FFF2-40B4-BE49-F238E27FC236}">
                <a16:creationId xmlns:a16="http://schemas.microsoft.com/office/drawing/2014/main" id="{5A70DB93-B6FB-4199-8A58-609202422192}"/>
              </a:ext>
            </a:extLst>
          </p:cNvPr>
          <p:cNvSpPr>
            <a:spLocks xmlns:a="http://schemas.openxmlformats.org/drawingml/2006/main" noGrp="1"/>
          </p:cNvSpPr>
          <p:nvPr/>
        </p:nvSpPr>
        <p:spPr>
          <a:xfrm xmlns:a="http://schemas.openxmlformats.org/drawingml/2006/main">
            <a:off x="666750" y="2628900"/>
            <a:ext cx="108394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8363D14-E88C-4AE2-9C3B-31853A4495A2}"/>
              </a:ext>
            </a:extLst>
          </p:cNvPr>
          <p:cNvSpPr>
            <a:spLocks xmlns:a="http://schemas.openxmlformats.org/drawingml/2006/main" noGrp="1"/>
          </p:cNvSpPr>
          <p:nvPr/>
        </p:nvSpPr>
        <p:spPr>
          <a:xfrm xmlns:a="http://schemas.openxmlformats.org/drawingml/2006/main">
            <a:off x="685800" y="2895600"/>
            <a:ext cx="781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175" b="1">
                <a:solidFill>
                  <a:srgbClr val="00A88F"/>
                </a:solidFill>
                <a:latin typeface="Lato"/>
                <a:ea typeface="Lato"/>
                <a:cs typeface="Lato"/>
              </a:defRPr>
            </a:pPr>
            <a:r>
              <a:rPr sz="2175" b="1">
                <a:solidFill>
                  <a:srgbClr val="00A88F"/>
                </a:solidFill>
                <a:latin typeface="Lato"/>
                <a:ea typeface="Lato"/>
                <a:cs typeface="Lato"/>
              </a:rPr>
              <a:t>75</a:t>
            </a:r>
          </a:p>
        </p:txBody>
      </p:sp>
      <p:sp>
        <p:nvSpPr>
          <p:cNvPr id="14" name="">
            <a:extLst xmlns:a="http://schemas.openxmlformats.org/drawingml/2006/main">
              <a:ext uri="{FF2B5EF4-FFF2-40B4-BE49-F238E27FC236}">
                <a16:creationId xmlns:a16="http://schemas.microsoft.com/office/drawing/2014/main" id="{C4E0E2A5-394B-458C-92A9-2D112F16ECF4}"/>
              </a:ext>
            </a:extLst>
          </p:cNvPr>
          <p:cNvSpPr>
            <a:spLocks xmlns:a="http://schemas.openxmlformats.org/drawingml/2006/main" noGrp="1"/>
          </p:cNvSpPr>
          <p:nvPr/>
        </p:nvSpPr>
        <p:spPr>
          <a:xfrm xmlns:a="http://schemas.openxmlformats.org/drawingml/2006/main">
            <a:off x="1266825" y="30194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87984"/>
                </a:solidFill>
                <a:latin typeface="Lato"/>
                <a:ea typeface="Lato"/>
                <a:cs typeface="Lato"/>
              </a:defRPr>
            </a:pPr>
            <a:r>
              <a:rPr sz="825" b="0">
                <a:solidFill>
                  <a:srgbClr val="687984"/>
                </a:solidFill>
                <a:latin typeface="Lato"/>
                <a:ea typeface="Lato"/>
                <a:cs typeface="Lato"/>
              </a:rPr>
              <a:t>min</a:t>
            </a:r>
          </a:p>
        </p:txBody>
      </p:sp>
      <p:sp>
        <p:nvSpPr>
          <p:cNvPr id="15" name="">
            <a:extLst xmlns:a="http://schemas.openxmlformats.org/drawingml/2006/main">
              <a:ext uri="{FF2B5EF4-FFF2-40B4-BE49-F238E27FC236}">
                <a16:creationId xmlns:a16="http://schemas.microsoft.com/office/drawing/2014/main" id="{DD6B2C0F-2AB3-4ED6-9C97-03895FFF7E09}"/>
              </a:ext>
            </a:extLst>
          </p:cNvPr>
          <p:cNvSpPr>
            <a:spLocks xmlns:a="http://schemas.openxmlformats.org/drawingml/2006/main" noGrp="1"/>
          </p:cNvSpPr>
          <p:nvPr/>
        </p:nvSpPr>
        <p:spPr>
          <a:xfrm xmlns:a="http://schemas.openxmlformats.org/drawingml/2006/main">
            <a:off x="1952625" y="2895600"/>
            <a:ext cx="3857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a:solidFill>
                  <a:srgbClr val="12304E"/>
                </a:solidFill>
                <a:latin typeface="Lato"/>
                <a:ea typeface="Lato"/>
                <a:cs typeface="Lato"/>
              </a:defRPr>
            </a:pPr>
            <a:r>
              <a:rPr sz="1725" b="1">
                <a:solidFill>
                  <a:srgbClr val="12304E"/>
                </a:solidFill>
                <a:latin typeface="Lato"/>
                <a:ea typeface="Lato"/>
                <a:cs typeface="Lato"/>
              </a:rPr>
              <a:t>CAVAanalytics notebook</a:t>
            </a:r>
          </a:p>
        </p:txBody>
      </p:sp>
      <p:sp>
        <p:nvSpPr>
          <p:cNvPr id="16" name="">
            <a:extLst xmlns:a="http://schemas.openxmlformats.org/drawingml/2006/main">
              <a:ext uri="{FF2B5EF4-FFF2-40B4-BE49-F238E27FC236}">
                <a16:creationId xmlns:a16="http://schemas.microsoft.com/office/drawing/2014/main" id="{4A460C47-72BA-420F-B5E2-0D2B10049453}"/>
              </a:ext>
            </a:extLst>
          </p:cNvPr>
          <p:cNvSpPr>
            <a:spLocks xmlns:a="http://schemas.openxmlformats.org/drawingml/2006/main" noGrp="1"/>
          </p:cNvSpPr>
          <p:nvPr/>
        </p:nvSpPr>
        <p:spPr>
          <a:xfrm xmlns:a="http://schemas.openxmlformats.org/drawingml/2006/main">
            <a:off x="6238875" y="2895600"/>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0">
                <a:solidFill>
                  <a:srgbClr val="687984"/>
                </a:solidFill>
                <a:latin typeface="Lato"/>
                <a:ea typeface="Lato"/>
                <a:cs typeface="Lato"/>
              </a:defRPr>
            </a:pPr>
            <a:r>
              <a:rPr sz="1275" b="0">
                <a:solidFill>
                  <a:srgbClr val="687984"/>
                </a:solidFill>
                <a:latin typeface="Lato"/>
                <a:ea typeface="Lato"/>
                <a:cs typeface="Lato"/>
              </a:rPr>
              <a:t>Load data, calculate indicators and interpret model ensembles</a:t>
            </a:r>
          </a:p>
        </p:txBody>
      </p:sp>
      <p:sp>
        <p:nvSpPr>
          <p:cNvPr id="17" name="">
            <a:extLst xmlns:a="http://schemas.openxmlformats.org/drawingml/2006/main">
              <a:ext uri="{FF2B5EF4-FFF2-40B4-BE49-F238E27FC236}">
                <a16:creationId xmlns:a16="http://schemas.microsoft.com/office/drawing/2014/main" id="{1267F42A-FF4D-4149-A0D8-8FABE88820C9}"/>
              </a:ext>
            </a:extLst>
          </p:cNvPr>
          <p:cNvSpPr>
            <a:spLocks xmlns:a="http://schemas.openxmlformats.org/drawingml/2006/main" noGrp="1"/>
          </p:cNvSpPr>
          <p:nvPr/>
        </p:nvSpPr>
        <p:spPr>
          <a:xfrm xmlns:a="http://schemas.openxmlformats.org/drawingml/2006/main">
            <a:off x="666750" y="3600450"/>
            <a:ext cx="108394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ACCB69C-A2DC-401F-9FC8-22E7F6E3BA37}"/>
              </a:ext>
            </a:extLst>
          </p:cNvPr>
          <p:cNvSpPr>
            <a:spLocks xmlns:a="http://schemas.openxmlformats.org/drawingml/2006/main" noGrp="1"/>
          </p:cNvSpPr>
          <p:nvPr/>
        </p:nvSpPr>
        <p:spPr>
          <a:xfrm xmlns:a="http://schemas.openxmlformats.org/drawingml/2006/main">
            <a:off x="685800" y="3867150"/>
            <a:ext cx="781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175" b="1">
                <a:solidFill>
                  <a:srgbClr val="F2B632"/>
                </a:solidFill>
                <a:latin typeface="Lato"/>
                <a:ea typeface="Lato"/>
                <a:cs typeface="Lato"/>
              </a:defRPr>
            </a:pPr>
            <a:r>
              <a:rPr sz="2175" b="1">
                <a:solidFill>
                  <a:srgbClr val="F2B632"/>
                </a:solidFill>
                <a:latin typeface="Lato"/>
                <a:ea typeface="Lato"/>
                <a:cs typeface="Lato"/>
              </a:rPr>
              <a:t>60</a:t>
            </a:r>
          </a:p>
        </p:txBody>
      </p:sp>
      <p:sp>
        <p:nvSpPr>
          <p:cNvPr id="19" name="">
            <a:extLst xmlns:a="http://schemas.openxmlformats.org/drawingml/2006/main">
              <a:ext uri="{FF2B5EF4-FFF2-40B4-BE49-F238E27FC236}">
                <a16:creationId xmlns:a16="http://schemas.microsoft.com/office/drawing/2014/main" id="{24C72677-9496-4912-9C26-D97457794152}"/>
              </a:ext>
            </a:extLst>
          </p:cNvPr>
          <p:cNvSpPr>
            <a:spLocks xmlns:a="http://schemas.openxmlformats.org/drawingml/2006/main" noGrp="1"/>
          </p:cNvSpPr>
          <p:nvPr/>
        </p:nvSpPr>
        <p:spPr>
          <a:xfrm xmlns:a="http://schemas.openxmlformats.org/drawingml/2006/main">
            <a:off x="1266825" y="39909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87984"/>
                </a:solidFill>
                <a:latin typeface="Lato"/>
                <a:ea typeface="Lato"/>
                <a:cs typeface="Lato"/>
              </a:defRPr>
            </a:pPr>
            <a:r>
              <a:rPr sz="825" b="0">
                <a:solidFill>
                  <a:srgbClr val="687984"/>
                </a:solidFill>
                <a:latin typeface="Lato"/>
                <a:ea typeface="Lato"/>
                <a:cs typeface="Lato"/>
              </a:rPr>
              <a:t>min</a:t>
            </a:r>
          </a:p>
        </p:txBody>
      </p:sp>
      <p:sp>
        <p:nvSpPr>
          <p:cNvPr id="20" name="">
            <a:extLst xmlns:a="http://schemas.openxmlformats.org/drawingml/2006/main">
              <a:ext uri="{FF2B5EF4-FFF2-40B4-BE49-F238E27FC236}">
                <a16:creationId xmlns:a16="http://schemas.microsoft.com/office/drawing/2014/main" id="{D3D7D4FD-617E-4850-8929-6AB01FCB7FC6}"/>
              </a:ext>
            </a:extLst>
          </p:cNvPr>
          <p:cNvSpPr>
            <a:spLocks xmlns:a="http://schemas.openxmlformats.org/drawingml/2006/main" noGrp="1"/>
          </p:cNvSpPr>
          <p:nvPr/>
        </p:nvSpPr>
        <p:spPr>
          <a:xfrm xmlns:a="http://schemas.openxmlformats.org/drawingml/2006/main">
            <a:off x="1952625" y="3867150"/>
            <a:ext cx="3857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a:solidFill>
                  <a:srgbClr val="12304E"/>
                </a:solidFill>
                <a:latin typeface="Lato"/>
                <a:ea typeface="Lato"/>
                <a:cs typeface="Lato"/>
              </a:defRPr>
            </a:pPr>
            <a:r>
              <a:rPr sz="1725" b="1">
                <a:solidFill>
                  <a:srgbClr val="12304E"/>
                </a:solidFill>
                <a:latin typeface="Lato"/>
                <a:ea typeface="Lato"/>
                <a:cs typeface="Lato"/>
              </a:rPr>
              <a:t>cavapy notebook with Sam</a:t>
            </a:r>
          </a:p>
        </p:txBody>
      </p:sp>
      <p:sp>
        <p:nvSpPr>
          <p:cNvPr id="21" name="">
            <a:extLst xmlns:a="http://schemas.openxmlformats.org/drawingml/2006/main">
              <a:ext uri="{FF2B5EF4-FFF2-40B4-BE49-F238E27FC236}">
                <a16:creationId xmlns:a16="http://schemas.microsoft.com/office/drawing/2014/main" id="{BBAB3488-79A1-4805-ADBF-3D75B4B7F736}"/>
              </a:ext>
            </a:extLst>
          </p:cNvPr>
          <p:cNvSpPr>
            <a:spLocks xmlns:a="http://schemas.openxmlformats.org/drawingml/2006/main" noGrp="1"/>
          </p:cNvSpPr>
          <p:nvPr/>
        </p:nvSpPr>
        <p:spPr>
          <a:xfrm xmlns:a="http://schemas.openxmlformats.org/drawingml/2006/main">
            <a:off x="6238875" y="3867150"/>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0">
                <a:solidFill>
                  <a:srgbClr val="687984"/>
                </a:solidFill>
                <a:latin typeface="Lato"/>
                <a:ea typeface="Lato"/>
                <a:cs typeface="Lato"/>
              </a:defRPr>
            </a:pPr>
            <a:r>
              <a:rPr sz="1275" b="0">
                <a:solidFill>
                  <a:srgbClr val="687984"/>
                </a:solidFill>
                <a:latin typeface="Lato"/>
                <a:ea typeface="Lato"/>
                <a:cs typeface="Lato"/>
              </a:rPr>
              <a:t>Retrieve and prepare climate data through Python workflows</a:t>
            </a:r>
          </a:p>
        </p:txBody>
      </p:sp>
      <p:sp>
        <p:nvSpPr>
          <p:cNvPr id="22" name="">
            <a:extLst xmlns:a="http://schemas.openxmlformats.org/drawingml/2006/main">
              <a:ext uri="{FF2B5EF4-FFF2-40B4-BE49-F238E27FC236}">
                <a16:creationId xmlns:a16="http://schemas.microsoft.com/office/drawing/2014/main" id="{98A3EA69-FD8D-4663-95BD-6DD335EF3EB9}"/>
              </a:ext>
            </a:extLst>
          </p:cNvPr>
          <p:cNvSpPr>
            <a:spLocks xmlns:a="http://schemas.openxmlformats.org/drawingml/2006/main" noGrp="1"/>
          </p:cNvSpPr>
          <p:nvPr/>
        </p:nvSpPr>
        <p:spPr>
          <a:xfrm xmlns:a="http://schemas.openxmlformats.org/drawingml/2006/main">
            <a:off x="666750" y="4572000"/>
            <a:ext cx="108394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FE33A28-3D74-4311-A316-847DB1C8CA44}"/>
              </a:ext>
            </a:extLst>
          </p:cNvPr>
          <p:cNvSpPr>
            <a:spLocks xmlns:a="http://schemas.openxmlformats.org/drawingml/2006/main" noGrp="1"/>
          </p:cNvSpPr>
          <p:nvPr/>
        </p:nvSpPr>
        <p:spPr>
          <a:xfrm xmlns:a="http://schemas.openxmlformats.org/drawingml/2006/main">
            <a:off x="685800" y="4838700"/>
            <a:ext cx="781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175" b="1">
                <a:solidFill>
                  <a:srgbClr val="00A88F"/>
                </a:solidFill>
                <a:latin typeface="Lato"/>
                <a:ea typeface="Lato"/>
                <a:cs typeface="Lato"/>
              </a:defRPr>
            </a:pPr>
            <a:r>
              <a:rPr sz="2175" b="1">
                <a:solidFill>
                  <a:srgbClr val="00A88F"/>
                </a:solidFill>
                <a:latin typeface="Lato"/>
                <a:ea typeface="Lato"/>
                <a:cs typeface="Lato"/>
              </a:rPr>
              <a:t>15</a:t>
            </a:r>
          </a:p>
        </p:txBody>
      </p:sp>
      <p:sp>
        <p:nvSpPr>
          <p:cNvPr id="24" name="">
            <a:extLst xmlns:a="http://schemas.openxmlformats.org/drawingml/2006/main">
              <a:ext uri="{FF2B5EF4-FFF2-40B4-BE49-F238E27FC236}">
                <a16:creationId xmlns:a16="http://schemas.microsoft.com/office/drawing/2014/main" id="{9BF1FCE2-E61F-4116-9D9F-31566FEE3D8A}"/>
              </a:ext>
            </a:extLst>
          </p:cNvPr>
          <p:cNvSpPr>
            <a:spLocks xmlns:a="http://schemas.openxmlformats.org/drawingml/2006/main" noGrp="1"/>
          </p:cNvSpPr>
          <p:nvPr/>
        </p:nvSpPr>
        <p:spPr>
          <a:xfrm xmlns:a="http://schemas.openxmlformats.org/drawingml/2006/main">
            <a:off x="1266825" y="49625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825" b="0">
                <a:solidFill>
                  <a:srgbClr val="687984"/>
                </a:solidFill>
                <a:latin typeface="Lato"/>
                <a:ea typeface="Lato"/>
                <a:cs typeface="Lato"/>
              </a:defRPr>
            </a:pPr>
            <a:r>
              <a:rPr sz="825" b="0">
                <a:solidFill>
                  <a:srgbClr val="687984"/>
                </a:solidFill>
                <a:latin typeface="Lato"/>
                <a:ea typeface="Lato"/>
                <a:cs typeface="Lato"/>
              </a:rPr>
              <a:t>min</a:t>
            </a:r>
          </a:p>
        </p:txBody>
      </p:sp>
      <p:sp>
        <p:nvSpPr>
          <p:cNvPr id="25" name="">
            <a:extLst xmlns:a="http://schemas.openxmlformats.org/drawingml/2006/main">
              <a:ext uri="{FF2B5EF4-FFF2-40B4-BE49-F238E27FC236}">
                <a16:creationId xmlns:a16="http://schemas.microsoft.com/office/drawing/2014/main" id="{98055B01-CA78-47BA-BC7C-BF71A98D7033}"/>
              </a:ext>
            </a:extLst>
          </p:cNvPr>
          <p:cNvSpPr>
            <a:spLocks xmlns:a="http://schemas.openxmlformats.org/drawingml/2006/main" noGrp="1"/>
          </p:cNvSpPr>
          <p:nvPr/>
        </p:nvSpPr>
        <p:spPr>
          <a:xfrm xmlns:a="http://schemas.openxmlformats.org/drawingml/2006/main">
            <a:off x="1952625" y="4838700"/>
            <a:ext cx="3857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a:solidFill>
                  <a:srgbClr val="12304E"/>
                </a:solidFill>
                <a:latin typeface="Lato"/>
                <a:ea typeface="Lato"/>
                <a:cs typeface="Lato"/>
              </a:defRPr>
            </a:pPr>
            <a:r>
              <a:rPr sz="1725" b="1">
                <a:solidFill>
                  <a:srgbClr val="12304E"/>
                </a:solidFill>
                <a:latin typeface="Lato"/>
                <a:ea typeface="Lato"/>
                <a:cs typeface="Lato"/>
              </a:rPr>
              <a:t>Questions and next steps</a:t>
            </a:r>
          </a:p>
        </p:txBody>
      </p:sp>
      <p:sp>
        <p:nvSpPr>
          <p:cNvPr id="26" name="">
            <a:extLst xmlns:a="http://schemas.openxmlformats.org/drawingml/2006/main">
              <a:ext uri="{FF2B5EF4-FFF2-40B4-BE49-F238E27FC236}">
                <a16:creationId xmlns:a16="http://schemas.microsoft.com/office/drawing/2014/main" id="{DC1CD2B3-6C18-48A7-813D-55DBD858D35E}"/>
              </a:ext>
            </a:extLst>
          </p:cNvPr>
          <p:cNvSpPr>
            <a:spLocks xmlns:a="http://schemas.openxmlformats.org/drawingml/2006/main" noGrp="1"/>
          </p:cNvSpPr>
          <p:nvPr/>
        </p:nvSpPr>
        <p:spPr>
          <a:xfrm xmlns:a="http://schemas.openxmlformats.org/drawingml/2006/main">
            <a:off x="6238875" y="4838700"/>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0">
                <a:solidFill>
                  <a:srgbClr val="687984"/>
                </a:solidFill>
                <a:latin typeface="Lato"/>
                <a:ea typeface="Lato"/>
                <a:cs typeface="Lato"/>
              </a:defRPr>
            </a:pPr>
            <a:r>
              <a:rPr sz="1275" b="0">
                <a:solidFill>
                  <a:srgbClr val="687984"/>
                </a:solidFill>
                <a:latin typeface="Lato"/>
                <a:ea typeface="Lato"/>
                <a:cs typeface="Lato"/>
              </a:rPr>
              <a:t>Connect the outputs to Module 4 and impact modelling</a:t>
            </a:r>
          </a:p>
        </p:txBody>
      </p:sp>
      <p:sp>
        <p:nvSpPr>
          <p:cNvPr id="27" name="">
            <a:extLst xmlns:a="http://schemas.openxmlformats.org/drawingml/2006/main">
              <a:ext uri="{FF2B5EF4-FFF2-40B4-BE49-F238E27FC236}">
                <a16:creationId xmlns:a16="http://schemas.microsoft.com/office/drawing/2014/main" id="{40250C94-C9CD-4FFD-BE67-0EDE74356E2C}"/>
              </a:ext>
            </a:extLst>
          </p:cNvPr>
          <p:cNvSpPr>
            <a:spLocks xmlns:a="http://schemas.openxmlformats.org/drawingml/2006/main" noGrp="1"/>
          </p:cNvSpPr>
          <p:nvPr/>
        </p:nvSpPr>
        <p:spPr>
          <a:xfrm xmlns:a="http://schemas.openxmlformats.org/drawingml/2006/main">
            <a:off x="666750" y="5543550"/>
            <a:ext cx="108394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Tree>
    <p:extLst>
      <p:ext uri="{BB962C8B-B14F-4D97-AF65-F5344CB8AC3E}">
        <p14:creationId xmlns:p14="http://schemas.microsoft.com/office/powerpoint/2010/main" val="2122804283"/>
      </p:ext>
    </p:extLst>
  </p:cSld>
</p:sld>
</file>

<file path=ppt/slides/slide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2052FEF-1C76-458E-AAEE-05F295FD3DFB}"/>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a:solidFill>
                  <a:srgbClr val="12304E"/>
                </a:solidFill>
                <a:latin typeface="Lato"/>
                <a:ea typeface="Lato"/>
                <a:cs typeface="Lato"/>
              </a:defRPr>
            </a:pPr>
            <a:r>
              <a:rPr sz="2325" b="1">
                <a:solidFill>
                  <a:srgbClr val="12304E"/>
                </a:solidFill>
                <a:latin typeface="Lato"/>
                <a:ea typeface="Lato"/>
                <a:cs typeface="Lato"/>
              </a:rPr>
              <a:t>Two packages, one CAVA data backbone</a:t>
            </a:r>
          </a:p>
        </p:txBody>
      </p:sp>
      <p:sp>
        <p:nvSpPr>
          <p:cNvPr id="2" name="">
            <a:extLst xmlns:a="http://schemas.openxmlformats.org/drawingml/2006/main">
              <a:ext uri="{FF2B5EF4-FFF2-40B4-BE49-F238E27FC236}">
                <a16:creationId xmlns:a16="http://schemas.microsoft.com/office/drawing/2014/main" id="{92B0190E-E624-4BC9-9519-2380E46229E1}"/>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0">
                <a:solidFill>
                  <a:srgbClr val="687984"/>
                </a:solidFill>
                <a:latin typeface="Lato"/>
                <a:ea typeface="Lato"/>
                <a:cs typeface="Lato"/>
              </a:defRPr>
            </a:pPr>
            <a:r>
              <a:rPr sz="1125" b="0">
                <a:solidFill>
                  <a:srgbClr val="687984"/>
                </a:solidFill>
                <a:latin typeface="Lato"/>
                <a:ea typeface="Lato"/>
                <a:cs typeface="Lato"/>
              </a:rPr>
              <a:t>Choose the working style that fits the task</a:t>
            </a:r>
          </a:p>
        </p:txBody>
      </p:sp>
      <p:sp>
        <p:nvSpPr>
          <p:cNvPr id="3" name="">
            <a:extLst xmlns:a="http://schemas.openxmlformats.org/drawingml/2006/main">
              <a:ext uri="{FF2B5EF4-FFF2-40B4-BE49-F238E27FC236}">
                <a16:creationId xmlns:a16="http://schemas.microsoft.com/office/drawing/2014/main" id="{A50D0304-9272-4C48-B7A7-ECD09044ECA3}"/>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830DA70-D0CC-4F99-8AE0-0125285E639F}"/>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0EB1BFE-49F4-43FE-9B64-6BF72964BCFF}"/>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8C9F54B-2D50-49BA-A275-B3CE171A7FA5}"/>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750" b="1">
                <a:solidFill>
                  <a:srgbClr val="687984"/>
                </a:solidFill>
                <a:latin typeface="Lato"/>
                <a:ea typeface="Lato"/>
                <a:cs typeface="Lato"/>
              </a:defRPr>
            </a:pPr>
            <a:r>
              <a:rPr sz="750" b="1">
                <a:solidFill>
                  <a:srgbClr val="687984"/>
                </a:solidFill>
                <a:latin typeface="Lato"/>
                <a:ea typeface="Lato"/>
                <a:cs typeface="Lato"/>
              </a:rPr>
              <a:t>CAVA MODULE 3</a:t>
            </a:r>
          </a:p>
        </p:txBody>
      </p:sp>
      <p:sp>
        <p:nvSpPr>
          <p:cNvPr id="7" name="">
            <a:extLst xmlns:a="http://schemas.openxmlformats.org/drawingml/2006/main">
              <a:ext uri="{FF2B5EF4-FFF2-40B4-BE49-F238E27FC236}">
                <a16:creationId xmlns:a16="http://schemas.microsoft.com/office/drawing/2014/main" id="{2F78E6A7-DB40-4613-938F-9FD21BFCE0F0}"/>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750" b="0">
                <a:solidFill>
                  <a:srgbClr val="687984"/>
                </a:solidFill>
                <a:latin typeface="Lato"/>
                <a:ea typeface="Lato"/>
                <a:cs typeface="Lato"/>
              </a:defRPr>
            </a:pPr>
            <a:r>
              <a:rPr sz="750" b="0">
                <a:solidFill>
                  <a:srgbClr val="687984"/>
                </a:solidFill>
                <a:latin typeface="Lato"/>
                <a:ea typeface="Lato"/>
                <a:cs typeface="Lato"/>
              </a:rPr>
              <a:t>03</a:t>
            </a:r>
          </a:p>
        </p:txBody>
      </p:sp>
      <p:sp>
        <p:nvSpPr>
          <p:cNvPr id="8" name="">
            <a:extLst xmlns:a="http://schemas.openxmlformats.org/drawingml/2006/main">
              <a:ext uri="{FF2B5EF4-FFF2-40B4-BE49-F238E27FC236}">
                <a16:creationId xmlns:a16="http://schemas.microsoft.com/office/drawing/2014/main" id="{A796AEAF-CF3B-487D-A074-AC3E37BCDBDC}"/>
              </a:ext>
            </a:extLst>
          </p:cNvPr>
          <p:cNvSpPr>
            <a:spLocks xmlns:a="http://schemas.openxmlformats.org/drawingml/2006/main" noGrp="1"/>
          </p:cNvSpPr>
          <p:nvPr/>
        </p:nvSpPr>
        <p:spPr>
          <a:xfrm xmlns:a="http://schemas.openxmlformats.org/drawingml/2006/main">
            <a:off x="657225" y="1924050"/>
            <a:ext cx="5010150" cy="339090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2845f0681e5e4df9"/>
          <a:stretch xmlns:a="http://schemas.openxmlformats.org/drawingml/2006/main"/>
        </p:blipFill>
        <p:spPr>
          <a:xfrm xmlns:a="http://schemas.openxmlformats.org/drawingml/2006/main">
            <a:off x="971550" y="2076450"/>
            <a:ext cx="1352550" cy="13525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A45AF99-3107-4D13-8A69-A325E98F8946}"/>
              </a:ext>
            </a:extLst>
          </p:cNvPr>
          <p:cNvSpPr>
            <a:spLocks xmlns:a="http://schemas.openxmlformats.org/drawingml/2006/main" noGrp="1"/>
          </p:cNvSpPr>
          <p:nvPr/>
        </p:nvSpPr>
        <p:spPr>
          <a:xfrm xmlns:a="http://schemas.openxmlformats.org/drawingml/2006/main">
            <a:off x="2552700" y="2228850"/>
            <a:ext cx="2619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250" b="1">
                <a:solidFill>
                  <a:srgbClr val="12304E"/>
                </a:solidFill>
                <a:latin typeface="Lato"/>
                <a:ea typeface="Lato"/>
                <a:cs typeface="Lato"/>
              </a:defRPr>
            </a:pPr>
            <a:r>
              <a:rPr sz="2250" b="1">
                <a:solidFill>
                  <a:srgbClr val="12304E"/>
                </a:solidFill>
                <a:latin typeface="Lato"/>
                <a:ea typeface="Lato"/>
                <a:cs typeface="Lato"/>
              </a:rPr>
              <a:t>CAVAanalytics</a:t>
            </a:r>
          </a:p>
        </p:txBody>
      </p:sp>
      <p:sp>
        <p:nvSpPr>
          <p:cNvPr id="11" name="">
            <a:extLst xmlns:a="http://schemas.openxmlformats.org/drawingml/2006/main">
              <a:ext uri="{FF2B5EF4-FFF2-40B4-BE49-F238E27FC236}">
                <a16:creationId xmlns:a16="http://schemas.microsoft.com/office/drawing/2014/main" id="{A77D7982-B4E5-45FE-AE76-428E4B21C20C}"/>
              </a:ext>
            </a:extLst>
          </p:cNvPr>
          <p:cNvSpPr>
            <a:spLocks xmlns:a="http://schemas.openxmlformats.org/drawingml/2006/main" noGrp="1"/>
          </p:cNvSpPr>
          <p:nvPr/>
        </p:nvSpPr>
        <p:spPr>
          <a:xfrm xmlns:a="http://schemas.openxmlformats.org/drawingml/2006/main">
            <a:off x="2552700" y="271462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1">
                <a:solidFill>
                  <a:srgbClr val="008D7A"/>
                </a:solidFill>
                <a:latin typeface="Lato"/>
                <a:ea typeface="Lato"/>
                <a:cs typeface="Lato"/>
              </a:defRPr>
            </a:pPr>
            <a:r>
              <a:rPr sz="1275" b="1">
                <a:solidFill>
                  <a:srgbClr val="008D7A"/>
                </a:solidFill>
                <a:latin typeface="Lato"/>
                <a:ea typeface="Lato"/>
                <a:cs typeface="Lato"/>
              </a:rPr>
              <a:t>R analysis workflow</a:t>
            </a:r>
          </a:p>
        </p:txBody>
      </p:sp>
      <p:sp>
        <p:nvSpPr>
          <p:cNvPr id="12" name="">
            <a:extLst xmlns:a="http://schemas.openxmlformats.org/drawingml/2006/main">
              <a:ext uri="{FF2B5EF4-FFF2-40B4-BE49-F238E27FC236}">
                <a16:creationId xmlns:a16="http://schemas.microsoft.com/office/drawing/2014/main" id="{ECD8E907-6283-4C6D-8547-40438029083F}"/>
              </a:ext>
            </a:extLst>
          </p:cNvPr>
          <p:cNvSpPr>
            <a:spLocks xmlns:a="http://schemas.openxmlformats.org/drawingml/2006/main" noGrp="1"/>
          </p:cNvSpPr>
          <p:nvPr/>
        </p:nvSpPr>
        <p:spPr>
          <a:xfrm xmlns:a="http://schemas.openxmlformats.org/drawingml/2006/main">
            <a:off x="1000125" y="3705225"/>
            <a:ext cx="4238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425" b="0">
                <a:solidFill>
                  <a:srgbClr val="17324D"/>
                </a:solidFill>
                <a:latin typeface="Lato"/>
                <a:ea typeface="Lato"/>
                <a:cs typeface="Lato"/>
              </a:defRPr>
            </a:pPr>
            <a:r>
              <a:rPr sz="1425" b="0">
                <a:solidFill>
                  <a:srgbClr val="17324D"/>
                </a:solidFill>
                <a:latin typeface="Lato"/>
                <a:ea typeface="Lato"/>
                <a:cs typeface="Lato"/>
              </a:rPr>
              <a:t>Country-scale multi-model analysis</a:t>
            </a:r>
          </a:p>
          <a:p xmlns:a="http://schemas.openxmlformats.org/drawingml/2006/main">
            <a:pPr algn="l">
              <a:lnSpc>
                <a:spcPct val="115000"/>
              </a:lnSpc>
              <a:buNone/>
              <a:defRPr sz="1425" b="0">
                <a:solidFill>
                  <a:srgbClr val="17324D"/>
                </a:solidFill>
                <a:latin typeface="Lato"/>
                <a:ea typeface="Lato"/>
                <a:cs typeface="Lato"/>
              </a:defRPr>
            </a:pPr>
            <a:r>
              <a:rPr sz="1425" b="0">
                <a:solidFill>
                  <a:srgbClr val="17324D"/>
                </a:solidFill>
                <a:latin typeface="Lato"/>
                <a:ea typeface="Lato"/>
                <a:cs typeface="Lato"/>
              </a:rPr>
              <a:t>Climate indicators and model agreement</a:t>
            </a:r>
          </a:p>
          <a:p xmlns:a="http://schemas.openxmlformats.org/drawingml/2006/main">
            <a:pPr algn="l">
              <a:lnSpc>
                <a:spcPct val="115000"/>
              </a:lnSpc>
              <a:buNone/>
              <a:defRPr sz="1425" b="0">
                <a:solidFill>
                  <a:srgbClr val="17324D"/>
                </a:solidFill>
                <a:latin typeface="Lato"/>
                <a:ea typeface="Lato"/>
                <a:cs typeface="Lato"/>
              </a:defRPr>
            </a:pPr>
            <a:r>
              <a:rPr sz="1425" b="0">
                <a:solidFill>
                  <a:srgbClr val="17324D"/>
                </a:solidFill>
                <a:latin typeface="Lato"/>
                <a:ea typeface="Lato"/>
                <a:cs typeface="Lato"/>
              </a:rPr>
              <a:t>Publication-ready maps and raster export</a:t>
            </a:r>
          </a:p>
        </p:txBody>
      </p:sp>
      <p:sp>
        <p:nvSpPr>
          <p:cNvPr id="13" name="">
            <a:extLst xmlns:a="http://schemas.openxmlformats.org/drawingml/2006/main">
              <a:ext uri="{FF2B5EF4-FFF2-40B4-BE49-F238E27FC236}">
                <a16:creationId xmlns:a16="http://schemas.microsoft.com/office/drawing/2014/main" id="{B13273CE-50CA-46D3-9897-0AECC90A5574}"/>
              </a:ext>
            </a:extLst>
          </p:cNvPr>
          <p:cNvSpPr>
            <a:spLocks xmlns:a="http://schemas.openxmlformats.org/drawingml/2006/main" noGrp="1"/>
          </p:cNvSpPr>
          <p:nvPr/>
        </p:nvSpPr>
        <p:spPr>
          <a:xfrm xmlns:a="http://schemas.openxmlformats.org/drawingml/2006/main">
            <a:off x="6524625" y="1924050"/>
            <a:ext cx="5010150" cy="3390900"/>
          </a:xfrm>
          <a:prstGeom xmlns:a="http://schemas.openxmlformats.org/drawingml/2006/main" prst="rect">
            <a:avLst/>
          </a:prstGeom>
          <a:solidFill xmlns:a="http://schemas.openxmlformats.org/drawingml/2006/main">
            <a:srgbClr val="FFFFFF"/>
          </a:solidFill>
          <a:ln xmlns:a="http://schemas.openxmlformats.org/drawingml/2006/main" w="9525">
            <a:solidFill>
              <a:srgbClr val="DCE5E2"/>
            </a:solidFill>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e8360fbc49504943">
            <a:extLst>
              <a:ext uri="{96DAC541-7B7A-43D3-8B79-37D633B846F1}">
                <asvg:svgBlip xmlns:asvg="http://schemas.microsoft.com/office/drawing/2016/SVG/main" r:embed="R63e66c9026644925"/>
              </a:ext>
            </a:extLst>
          </a:blip>
          <a:stretch xmlns:a="http://schemas.openxmlformats.org/drawingml/2006/main"/>
        </p:blipFill>
        <p:spPr>
          <a:xfrm xmlns:a="http://schemas.openxmlformats.org/drawingml/2006/main">
            <a:off x="7000875" y="2114550"/>
            <a:ext cx="4048125" cy="8763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CE8935D9-219E-4E59-B6E8-49A291492EBB}"/>
              </a:ext>
            </a:extLst>
          </p:cNvPr>
          <p:cNvSpPr>
            <a:spLocks xmlns:a="http://schemas.openxmlformats.org/drawingml/2006/main" noGrp="1"/>
          </p:cNvSpPr>
          <p:nvPr/>
        </p:nvSpPr>
        <p:spPr>
          <a:xfrm xmlns:a="http://schemas.openxmlformats.org/drawingml/2006/main">
            <a:off x="6972300" y="316230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1">
                <a:solidFill>
                  <a:srgbClr val="008D7A"/>
                </a:solidFill>
                <a:latin typeface="Lato"/>
                <a:ea typeface="Lato"/>
                <a:cs typeface="Lato"/>
              </a:defRPr>
            </a:pPr>
            <a:r>
              <a:rPr sz="1275" b="1">
                <a:solidFill>
                  <a:srgbClr val="008D7A"/>
                </a:solidFill>
                <a:latin typeface="Lato"/>
                <a:ea typeface="Lato"/>
                <a:cs typeface="Lato"/>
              </a:rPr>
              <a:t>Python data workflow</a:t>
            </a:r>
          </a:p>
        </p:txBody>
      </p:sp>
      <p:sp>
        <p:nvSpPr>
          <p:cNvPr id="16" name="">
            <a:extLst xmlns:a="http://schemas.openxmlformats.org/drawingml/2006/main">
              <a:ext uri="{FF2B5EF4-FFF2-40B4-BE49-F238E27FC236}">
                <a16:creationId xmlns:a16="http://schemas.microsoft.com/office/drawing/2014/main" id="{17624262-6074-4863-935F-267469F62839}"/>
              </a:ext>
            </a:extLst>
          </p:cNvPr>
          <p:cNvSpPr>
            <a:spLocks xmlns:a="http://schemas.openxmlformats.org/drawingml/2006/main" noGrp="1"/>
          </p:cNvSpPr>
          <p:nvPr/>
        </p:nvSpPr>
        <p:spPr>
          <a:xfrm xmlns:a="http://schemas.openxmlformats.org/drawingml/2006/main">
            <a:off x="6972300" y="3705225"/>
            <a:ext cx="4095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425" b="0">
                <a:solidFill>
                  <a:srgbClr val="17324D"/>
                </a:solidFill>
                <a:latin typeface="Lato"/>
                <a:ea typeface="Lato"/>
                <a:cs typeface="Lato"/>
              </a:defRPr>
            </a:pPr>
            <a:r>
              <a:rPr sz="1425" b="0">
                <a:solidFill>
                  <a:srgbClr val="17324D"/>
                </a:solidFill>
                <a:latin typeface="Lato"/>
                <a:ea typeface="Lato"/>
                <a:cs typeface="Lato"/>
              </a:rPr>
              <a:t>Efficient climate-data retrieval</a:t>
            </a:r>
          </a:p>
          <a:p xmlns:a="http://schemas.openxmlformats.org/drawingml/2006/main">
            <a:pPr algn="l">
              <a:lnSpc>
                <a:spcPct val="115000"/>
              </a:lnSpc>
              <a:buNone/>
              <a:defRPr sz="1425" b="0">
                <a:solidFill>
                  <a:srgbClr val="17324D"/>
                </a:solidFill>
                <a:latin typeface="Lato"/>
                <a:ea typeface="Lato"/>
                <a:cs typeface="Lato"/>
              </a:defRPr>
            </a:pPr>
            <a:r>
              <a:rPr sz="1425" b="0">
                <a:solidFill>
                  <a:srgbClr val="17324D"/>
                </a:solidFill>
                <a:latin typeface="Lato"/>
                <a:ea typeface="Lato"/>
                <a:cs typeface="Lato"/>
              </a:rPr>
              <a:t>xarray objects for downstream processing</a:t>
            </a:r>
          </a:p>
          <a:p xmlns:a="http://schemas.openxmlformats.org/drawingml/2006/main">
            <a:pPr algn="l">
              <a:lnSpc>
                <a:spcPct val="115000"/>
              </a:lnSpc>
              <a:buNone/>
              <a:defRPr sz="1425" b="0">
                <a:solidFill>
                  <a:srgbClr val="17324D"/>
                </a:solidFill>
                <a:latin typeface="Lato"/>
                <a:ea typeface="Lato"/>
                <a:cs typeface="Lato"/>
              </a:defRPr>
            </a:pPr>
            <a:r>
              <a:rPr sz="1425" b="0">
                <a:solidFill>
                  <a:srgbClr val="17324D"/>
                </a:solidFill>
                <a:latin typeface="Lato"/>
                <a:ea typeface="Lato"/>
                <a:cs typeface="Lato"/>
              </a:rPr>
              <a:t>Parallel and programmatic workflows</a:t>
            </a:r>
          </a:p>
        </p:txBody>
      </p:sp>
      <p:sp>
        <p:nvSpPr>
          <p:cNvPr id="17" name="">
            <a:extLst xmlns:a="http://schemas.openxmlformats.org/drawingml/2006/main">
              <a:ext uri="{FF2B5EF4-FFF2-40B4-BE49-F238E27FC236}">
                <a16:creationId xmlns:a16="http://schemas.microsoft.com/office/drawing/2014/main" id="{64B16C99-2691-4E63-A85B-F62AAF905FCD}"/>
              </a:ext>
            </a:extLst>
          </p:cNvPr>
          <p:cNvSpPr>
            <a:spLocks xmlns:a="http://schemas.openxmlformats.org/drawingml/2006/main" noGrp="1"/>
          </p:cNvSpPr>
          <p:nvPr/>
        </p:nvSpPr>
        <p:spPr>
          <a:xfrm xmlns:a="http://schemas.openxmlformats.org/drawingml/2006/main">
            <a:off x="971550" y="5610225"/>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275" b="1">
                <a:solidFill>
                  <a:srgbClr val="12304E"/>
                </a:solidFill>
                <a:latin typeface="Lato"/>
                <a:ea typeface="Lato"/>
                <a:cs typeface="Lato"/>
              </a:defRPr>
            </a:pPr>
            <a:r>
              <a:rPr sz="1275" b="1">
                <a:solidFill>
                  <a:srgbClr val="12304E"/>
                </a:solidFill>
                <a:latin typeface="Lato"/>
                <a:ea typeface="Lato"/>
                <a:cs typeface="Lato"/>
              </a:rPr>
              <a:t>Both packages access harmonized CAVA climate datasets through the same remote infrastructure.</a:t>
            </a:r>
          </a:p>
        </p:txBody>
      </p:sp>
    </p:spTree>
    <p:extLst>
      <p:ext uri="{BB962C8B-B14F-4D97-AF65-F5344CB8AC3E}">
        <p14:creationId xmlns:p14="http://schemas.microsoft.com/office/powerpoint/2010/main" val="257425902"/>
      </p:ext>
    </p:extLst>
  </p:cSld>
</p:sld>
</file>

<file path=ppt/slides/slide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49D5B9B-BECA-4981-A097-563EBB1854CD}"/>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a:solidFill>
                  <a:srgbClr val="12304E"/>
                </a:solidFill>
                <a:latin typeface="Lato"/>
                <a:ea typeface="Lato"/>
                <a:cs typeface="Lato"/>
              </a:defRPr>
            </a:pPr>
            <a:r>
              <a:rPr sz="2325" b="1">
                <a:solidFill>
                  <a:srgbClr val="12304E"/>
                </a:solidFill>
                <a:latin typeface="Lato"/>
                <a:ea typeface="Lato"/>
                <a:cs typeface="Lato"/>
              </a:rPr>
              <a:t>One Conda environment for the session</a:t>
            </a:r>
          </a:p>
        </p:txBody>
      </p:sp>
      <p:sp>
        <p:nvSpPr>
          <p:cNvPr id="2" name="">
            <a:extLst xmlns:a="http://schemas.openxmlformats.org/drawingml/2006/main">
              <a:ext uri="{FF2B5EF4-FFF2-40B4-BE49-F238E27FC236}">
                <a16:creationId xmlns:a16="http://schemas.microsoft.com/office/drawing/2014/main" id="{2D5F8D54-7D74-4DA1-8956-22D98E3AAD2F}"/>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0">
                <a:solidFill>
                  <a:srgbClr val="687984"/>
                </a:solidFill>
                <a:latin typeface="Lato"/>
                <a:ea typeface="Lato"/>
                <a:cs typeface="Lato"/>
              </a:defRPr>
            </a:pPr>
            <a:r>
              <a:rPr sz="1125" b="0">
                <a:solidFill>
                  <a:srgbClr val="687984"/>
                </a:solidFill>
                <a:latin typeface="Lato"/>
                <a:ea typeface="Lato"/>
                <a:cs typeface="Lato"/>
              </a:rPr>
              <a:t>The environment keeps R, Python, Java and spatial libraries compatible</a:t>
            </a:r>
          </a:p>
        </p:txBody>
      </p:sp>
      <p:sp>
        <p:nvSpPr>
          <p:cNvPr id="3" name="">
            <a:extLst xmlns:a="http://schemas.openxmlformats.org/drawingml/2006/main">
              <a:ext uri="{FF2B5EF4-FFF2-40B4-BE49-F238E27FC236}">
                <a16:creationId xmlns:a16="http://schemas.microsoft.com/office/drawing/2014/main" id="{891E2BFE-1C1F-4E2D-BFC7-EB5573B33D92}"/>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F00829E-67E2-4421-AE69-8B6A693565DE}"/>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FEEFDCD-B623-4BAF-B727-33BB7F59B592}"/>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2400BA9-D986-4D05-BEB1-F5C82B5D5ED2}"/>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750" b="1">
                <a:solidFill>
                  <a:srgbClr val="687984"/>
                </a:solidFill>
                <a:latin typeface="Lato"/>
                <a:ea typeface="Lato"/>
                <a:cs typeface="Lato"/>
              </a:defRPr>
            </a:pPr>
            <a:r>
              <a:rPr sz="750" b="1">
                <a:solidFill>
                  <a:srgbClr val="687984"/>
                </a:solidFill>
                <a:latin typeface="Lato"/>
                <a:ea typeface="Lato"/>
                <a:cs typeface="Lato"/>
              </a:rPr>
              <a:t>CAVA MODULE 3</a:t>
            </a:r>
          </a:p>
        </p:txBody>
      </p:sp>
      <p:sp>
        <p:nvSpPr>
          <p:cNvPr id="7" name="">
            <a:extLst xmlns:a="http://schemas.openxmlformats.org/drawingml/2006/main">
              <a:ext uri="{FF2B5EF4-FFF2-40B4-BE49-F238E27FC236}">
                <a16:creationId xmlns:a16="http://schemas.microsoft.com/office/drawing/2014/main" id="{CB045A6A-41A7-4AA1-800D-5BDE2AD6428D}"/>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750" b="0">
                <a:solidFill>
                  <a:srgbClr val="687984"/>
                </a:solidFill>
                <a:latin typeface="Lato"/>
                <a:ea typeface="Lato"/>
                <a:cs typeface="Lato"/>
              </a:defRPr>
            </a:pPr>
            <a:r>
              <a:rPr sz="750" b="0">
                <a:solidFill>
                  <a:srgbClr val="687984"/>
                </a:solidFill>
                <a:latin typeface="Lato"/>
                <a:ea typeface="Lato"/>
                <a:cs typeface="Lato"/>
              </a:rPr>
              <a:t>04</a:t>
            </a:r>
          </a:p>
        </p:txBody>
      </p:sp>
      <p:sp>
        <p:nvSpPr>
          <p:cNvPr id="8" name="">
            <a:extLst xmlns:a="http://schemas.openxmlformats.org/drawingml/2006/main">
              <a:ext uri="{FF2B5EF4-FFF2-40B4-BE49-F238E27FC236}">
                <a16:creationId xmlns:a16="http://schemas.microsoft.com/office/drawing/2014/main" id="{B5E7D564-EA65-4C02-B502-109F958CBE12}"/>
              </a:ext>
            </a:extLst>
          </p:cNvPr>
          <p:cNvSpPr>
            <a:spLocks xmlns:a="http://schemas.openxmlformats.org/drawingml/2006/main" noGrp="1"/>
          </p:cNvSpPr>
          <p:nvPr/>
        </p:nvSpPr>
        <p:spPr>
          <a:xfrm xmlns:a="http://schemas.openxmlformats.org/drawingml/2006/main">
            <a:off x="809625" y="2095500"/>
            <a:ext cx="2047875" cy="1104900"/>
          </a:xfrm>
          <a:prstGeom xmlns:a="http://schemas.openxmlformats.org/drawingml/2006/main" prst="rect">
            <a:avLst/>
          </a:prstGeom>
          <a:solidFill xmlns:a="http://schemas.openxmlformats.org/drawingml/2006/main">
            <a:srgbClr val="12304E"/>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4125" b="1">
                <a:solidFill>
                  <a:srgbClr val="FFFFFF"/>
                </a:solidFill>
                <a:latin typeface="Lato"/>
                <a:ea typeface="Lato"/>
                <a:cs typeface="Lato"/>
              </a:defRPr>
            </a:pPr>
            <a:r>
              <a:rPr sz="4125" b="1">
                <a:solidFill>
                  <a:srgbClr val="FFFFFF"/>
                </a:solidFill>
                <a:latin typeface="Lato"/>
                <a:ea typeface="Lato"/>
                <a:cs typeface="Lato"/>
              </a:rPr>
              <a:t>CAVA</a:t>
            </a:r>
          </a:p>
        </p:txBody>
      </p:sp>
      <p:sp>
        <p:nvSpPr>
          <p:cNvPr id="9" name="">
            <a:extLst xmlns:a="http://schemas.openxmlformats.org/drawingml/2006/main">
              <a:ext uri="{FF2B5EF4-FFF2-40B4-BE49-F238E27FC236}">
                <a16:creationId xmlns:a16="http://schemas.microsoft.com/office/drawing/2014/main" id="{E193E863-666C-41CA-B455-57D212FE360E}"/>
              </a:ext>
            </a:extLst>
          </p:cNvPr>
          <p:cNvSpPr>
            <a:spLocks xmlns:a="http://schemas.openxmlformats.org/drawingml/2006/main" noGrp="1"/>
          </p:cNvSpPr>
          <p:nvPr/>
        </p:nvSpPr>
        <p:spPr>
          <a:xfrm xmlns:a="http://schemas.openxmlformats.org/drawingml/2006/main">
            <a:off x="2857500" y="2638425"/>
            <a:ext cx="809625" cy="38100"/>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6A7A0FE-F91C-466C-8402-70A489EA72B2}"/>
              </a:ext>
            </a:extLst>
          </p:cNvPr>
          <p:cNvSpPr>
            <a:spLocks xmlns:a="http://schemas.openxmlformats.org/drawingml/2006/main" noGrp="1"/>
          </p:cNvSpPr>
          <p:nvPr/>
        </p:nvSpPr>
        <p:spPr>
          <a:xfrm xmlns:a="http://schemas.openxmlformats.org/drawingml/2006/main">
            <a:off x="3857625" y="1885950"/>
            <a:ext cx="2114550" cy="1885950"/>
          </a:xfrm>
          <a:prstGeom xmlns:a="http://schemas.openxmlformats.org/drawingml/2006/main" prst="rect">
            <a:avLst/>
          </a:prstGeom>
          <a:solidFill xmlns:a="http://schemas.openxmlformats.org/drawingml/2006/main">
            <a:srgbClr val="E7F4EF"/>
          </a:solidFill>
          <a:ln xmlns:a="http://schemas.openxmlformats.org/drawingml/2006/main" w="9525">
            <a:solidFill>
              <a:srgbClr val="9FCFC6"/>
            </a:solidFill>
          </a:ln>
        </p:spPr>
      </p:sp>
      <p:sp>
        <p:nvSpPr>
          <p:cNvPr id="11" name="">
            <a:extLst xmlns:a="http://schemas.openxmlformats.org/drawingml/2006/main">
              <a:ext uri="{FF2B5EF4-FFF2-40B4-BE49-F238E27FC236}">
                <a16:creationId xmlns:a16="http://schemas.microsoft.com/office/drawing/2014/main" id="{0F5B18A8-E21B-4E30-B4B4-FC21244EA216}"/>
              </a:ext>
            </a:extLst>
          </p:cNvPr>
          <p:cNvSpPr>
            <a:spLocks xmlns:a="http://schemas.openxmlformats.org/drawingml/2006/main" noGrp="1"/>
          </p:cNvSpPr>
          <p:nvPr/>
        </p:nvSpPr>
        <p:spPr>
          <a:xfrm xmlns:a="http://schemas.openxmlformats.org/drawingml/2006/main">
            <a:off x="4029075" y="212407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100" b="1">
                <a:solidFill>
                  <a:srgbClr val="008D7A"/>
                </a:solidFill>
                <a:latin typeface="Lato"/>
                <a:ea typeface="Lato"/>
                <a:cs typeface="Lato"/>
              </a:defRPr>
            </a:pPr>
            <a:r>
              <a:rPr sz="2100" b="1">
                <a:solidFill>
                  <a:srgbClr val="008D7A"/>
                </a:solidFill>
                <a:latin typeface="Lato"/>
                <a:ea typeface="Lato"/>
                <a:cs typeface="Lato"/>
              </a:rPr>
              <a:t>R</a:t>
            </a:r>
          </a:p>
        </p:txBody>
      </p:sp>
      <p:sp>
        <p:nvSpPr>
          <p:cNvPr id="12" name="">
            <a:extLst xmlns:a="http://schemas.openxmlformats.org/drawingml/2006/main">
              <a:ext uri="{FF2B5EF4-FFF2-40B4-BE49-F238E27FC236}">
                <a16:creationId xmlns:a16="http://schemas.microsoft.com/office/drawing/2014/main" id="{D3AB98BD-3FF7-4DCF-B8A2-947FB9CAFB71}"/>
              </a:ext>
            </a:extLst>
          </p:cNvPr>
          <p:cNvSpPr>
            <a:spLocks xmlns:a="http://schemas.openxmlformats.org/drawingml/2006/main" noGrp="1"/>
          </p:cNvSpPr>
          <p:nvPr/>
        </p:nvSpPr>
        <p:spPr>
          <a:xfrm xmlns:a="http://schemas.openxmlformats.org/drawingml/2006/main">
            <a:off x="4029075" y="2752725"/>
            <a:ext cx="17335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500" b="1">
                <a:solidFill>
                  <a:srgbClr val="12304E"/>
                </a:solidFill>
                <a:latin typeface="Lato"/>
                <a:ea typeface="Lato"/>
                <a:cs typeface="Lato"/>
              </a:defRPr>
            </a:pPr>
            <a:r>
              <a:rPr sz="1500" b="1">
                <a:solidFill>
                  <a:srgbClr val="12304E"/>
                </a:solidFill>
                <a:latin typeface="Lato"/>
                <a:ea typeface="Lato"/>
                <a:cs typeface="Lato"/>
              </a:rPr>
              <a:t>CAVAanalytics</a:t>
            </a:r>
          </a:p>
          <a:p xmlns:a="http://schemas.openxmlformats.org/drawingml/2006/main">
            <a:pPr algn="l">
              <a:lnSpc>
                <a:spcPct val="115000"/>
              </a:lnSpc>
              <a:buNone/>
              <a:defRPr sz="1500" b="1">
                <a:solidFill>
                  <a:srgbClr val="12304E"/>
                </a:solidFill>
                <a:latin typeface="Lato"/>
                <a:ea typeface="Lato"/>
                <a:cs typeface="Lato"/>
              </a:defRPr>
            </a:pPr>
            <a:r>
              <a:rPr sz="1500" b="1">
                <a:solidFill>
                  <a:srgbClr val="12304E"/>
                </a:solidFill>
                <a:latin typeface="Lato"/>
                <a:ea typeface="Lato"/>
                <a:cs typeface="Lato"/>
              </a:rPr>
              <a:t>rJava, terra, sf</a:t>
            </a:r>
          </a:p>
        </p:txBody>
      </p:sp>
      <p:sp>
        <p:nvSpPr>
          <p:cNvPr id="13" name="">
            <a:extLst xmlns:a="http://schemas.openxmlformats.org/drawingml/2006/main">
              <a:ext uri="{FF2B5EF4-FFF2-40B4-BE49-F238E27FC236}">
                <a16:creationId xmlns:a16="http://schemas.microsoft.com/office/drawing/2014/main" id="{0E5B123C-B2B7-4414-BE9E-8D53186654D4}"/>
              </a:ext>
            </a:extLst>
          </p:cNvPr>
          <p:cNvSpPr>
            <a:spLocks xmlns:a="http://schemas.openxmlformats.org/drawingml/2006/main" noGrp="1"/>
          </p:cNvSpPr>
          <p:nvPr/>
        </p:nvSpPr>
        <p:spPr>
          <a:xfrm xmlns:a="http://schemas.openxmlformats.org/drawingml/2006/main">
            <a:off x="6315075" y="1885950"/>
            <a:ext cx="2114550" cy="1885950"/>
          </a:xfrm>
          <a:prstGeom xmlns:a="http://schemas.openxmlformats.org/drawingml/2006/main" prst="rect">
            <a:avLst/>
          </a:prstGeom>
          <a:solidFill xmlns:a="http://schemas.openxmlformats.org/drawingml/2006/main">
            <a:srgbClr val="FFF3D1"/>
          </a:solidFill>
          <a:ln xmlns:a="http://schemas.openxmlformats.org/drawingml/2006/main" w="9525">
            <a:solidFill>
              <a:srgbClr val="E6C76B"/>
            </a:solidFill>
          </a:ln>
        </p:spPr>
      </p:sp>
      <p:sp>
        <p:nvSpPr>
          <p:cNvPr id="14" name="">
            <a:extLst xmlns:a="http://schemas.openxmlformats.org/drawingml/2006/main">
              <a:ext uri="{FF2B5EF4-FFF2-40B4-BE49-F238E27FC236}">
                <a16:creationId xmlns:a16="http://schemas.microsoft.com/office/drawing/2014/main" id="{E688FEDF-C908-42BB-BFC8-A7D370368A4A}"/>
              </a:ext>
            </a:extLst>
          </p:cNvPr>
          <p:cNvSpPr>
            <a:spLocks xmlns:a="http://schemas.openxmlformats.org/drawingml/2006/main" noGrp="1"/>
          </p:cNvSpPr>
          <p:nvPr/>
        </p:nvSpPr>
        <p:spPr>
          <a:xfrm xmlns:a="http://schemas.openxmlformats.org/drawingml/2006/main">
            <a:off x="6486525" y="212407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100" b="1">
                <a:solidFill>
                  <a:srgbClr val="F2B632"/>
                </a:solidFill>
                <a:latin typeface="Lato"/>
                <a:ea typeface="Lato"/>
                <a:cs typeface="Lato"/>
              </a:defRPr>
            </a:pPr>
            <a:r>
              <a:rPr sz="2100" b="1">
                <a:solidFill>
                  <a:srgbClr val="F2B632"/>
                </a:solidFill>
                <a:latin typeface="Lato"/>
                <a:ea typeface="Lato"/>
                <a:cs typeface="Lato"/>
              </a:rPr>
              <a:t>PY</a:t>
            </a:r>
          </a:p>
        </p:txBody>
      </p:sp>
      <p:sp>
        <p:nvSpPr>
          <p:cNvPr id="15" name="">
            <a:extLst xmlns:a="http://schemas.openxmlformats.org/drawingml/2006/main">
              <a:ext uri="{FF2B5EF4-FFF2-40B4-BE49-F238E27FC236}">
                <a16:creationId xmlns:a16="http://schemas.microsoft.com/office/drawing/2014/main" id="{32632D2E-E8E8-4B84-8D54-A71FB03FBA0B}"/>
              </a:ext>
            </a:extLst>
          </p:cNvPr>
          <p:cNvSpPr>
            <a:spLocks xmlns:a="http://schemas.openxmlformats.org/drawingml/2006/main" noGrp="1"/>
          </p:cNvSpPr>
          <p:nvPr/>
        </p:nvSpPr>
        <p:spPr>
          <a:xfrm xmlns:a="http://schemas.openxmlformats.org/drawingml/2006/main">
            <a:off x="6486525" y="2752725"/>
            <a:ext cx="17335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500" b="1">
                <a:solidFill>
                  <a:srgbClr val="12304E"/>
                </a:solidFill>
                <a:latin typeface="Lato"/>
                <a:ea typeface="Lato"/>
                <a:cs typeface="Lato"/>
              </a:defRPr>
            </a:pPr>
            <a:r>
              <a:rPr sz="1500" b="1">
                <a:solidFill>
                  <a:srgbClr val="12304E"/>
                </a:solidFill>
                <a:latin typeface="Lato"/>
                <a:ea typeface="Lato"/>
                <a:cs typeface="Lato"/>
              </a:rPr>
              <a:t>cavapy</a:t>
            </a:r>
          </a:p>
          <a:p xmlns:a="http://schemas.openxmlformats.org/drawingml/2006/main">
            <a:pPr algn="l">
              <a:lnSpc>
                <a:spcPct val="115000"/>
              </a:lnSpc>
              <a:buNone/>
              <a:defRPr sz="1500" b="1">
                <a:solidFill>
                  <a:srgbClr val="12304E"/>
                </a:solidFill>
                <a:latin typeface="Lato"/>
                <a:ea typeface="Lato"/>
                <a:cs typeface="Lato"/>
              </a:defRPr>
            </a:pPr>
            <a:r>
              <a:rPr sz="1500" b="1">
                <a:solidFill>
                  <a:srgbClr val="12304E"/>
                </a:solidFill>
                <a:latin typeface="Lato"/>
                <a:ea typeface="Lato"/>
                <a:cs typeface="Lato"/>
              </a:rPr>
              <a:t>xarray, dask</a:t>
            </a:r>
          </a:p>
        </p:txBody>
      </p:sp>
      <p:sp>
        <p:nvSpPr>
          <p:cNvPr id="16" name="">
            <a:extLst xmlns:a="http://schemas.openxmlformats.org/drawingml/2006/main">
              <a:ext uri="{FF2B5EF4-FFF2-40B4-BE49-F238E27FC236}">
                <a16:creationId xmlns:a16="http://schemas.microsoft.com/office/drawing/2014/main" id="{83E39F32-730D-4385-93D6-47434348BFF2}"/>
              </a:ext>
            </a:extLst>
          </p:cNvPr>
          <p:cNvSpPr>
            <a:spLocks xmlns:a="http://schemas.openxmlformats.org/drawingml/2006/main" noGrp="1"/>
          </p:cNvSpPr>
          <p:nvPr/>
        </p:nvSpPr>
        <p:spPr>
          <a:xfrm xmlns:a="http://schemas.openxmlformats.org/drawingml/2006/main">
            <a:off x="8772525" y="1885950"/>
            <a:ext cx="2114550" cy="1885950"/>
          </a:xfrm>
          <a:prstGeom xmlns:a="http://schemas.openxmlformats.org/drawingml/2006/main" prst="rect">
            <a:avLst/>
          </a:prstGeom>
          <a:solidFill xmlns:a="http://schemas.openxmlformats.org/drawingml/2006/main">
            <a:srgbClr val="E7F4EF"/>
          </a:solidFill>
          <a:ln xmlns:a="http://schemas.openxmlformats.org/drawingml/2006/main" w="9525">
            <a:solidFill>
              <a:srgbClr val="9FCFC6"/>
            </a:solidFill>
          </a:ln>
        </p:spPr>
      </p:sp>
      <p:sp>
        <p:nvSpPr>
          <p:cNvPr id="17" name="">
            <a:extLst xmlns:a="http://schemas.openxmlformats.org/drawingml/2006/main">
              <a:ext uri="{FF2B5EF4-FFF2-40B4-BE49-F238E27FC236}">
                <a16:creationId xmlns:a16="http://schemas.microsoft.com/office/drawing/2014/main" id="{5346061B-AE76-4BD9-846C-5436BAA0E52A}"/>
              </a:ext>
            </a:extLst>
          </p:cNvPr>
          <p:cNvSpPr>
            <a:spLocks xmlns:a="http://schemas.openxmlformats.org/drawingml/2006/main" noGrp="1"/>
          </p:cNvSpPr>
          <p:nvPr/>
        </p:nvSpPr>
        <p:spPr>
          <a:xfrm xmlns:a="http://schemas.openxmlformats.org/drawingml/2006/main">
            <a:off x="8943975" y="212407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100" b="1">
                <a:solidFill>
                  <a:srgbClr val="008D7A"/>
                </a:solidFill>
                <a:latin typeface="Lato"/>
                <a:ea typeface="Lato"/>
                <a:cs typeface="Lato"/>
              </a:defRPr>
            </a:pPr>
            <a:r>
              <a:rPr sz="2100" b="1">
                <a:solidFill>
                  <a:srgbClr val="008D7A"/>
                </a:solidFill>
                <a:latin typeface="Lato"/>
                <a:ea typeface="Lato"/>
                <a:cs typeface="Lato"/>
              </a:rPr>
              <a:t>NB</a:t>
            </a:r>
          </a:p>
        </p:txBody>
      </p:sp>
      <p:sp>
        <p:nvSpPr>
          <p:cNvPr id="18" name="">
            <a:extLst xmlns:a="http://schemas.openxmlformats.org/drawingml/2006/main">
              <a:ext uri="{FF2B5EF4-FFF2-40B4-BE49-F238E27FC236}">
                <a16:creationId xmlns:a16="http://schemas.microsoft.com/office/drawing/2014/main" id="{B544808A-0840-48AB-AEF2-58E6BD6F942D}"/>
              </a:ext>
            </a:extLst>
          </p:cNvPr>
          <p:cNvSpPr>
            <a:spLocks xmlns:a="http://schemas.openxmlformats.org/drawingml/2006/main" noGrp="1"/>
          </p:cNvSpPr>
          <p:nvPr/>
        </p:nvSpPr>
        <p:spPr>
          <a:xfrm xmlns:a="http://schemas.openxmlformats.org/drawingml/2006/main">
            <a:off x="8943975" y="2752725"/>
            <a:ext cx="17335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826"/>
          </a:bodyPr>
          <a:lstStyle xmlns:a="http://schemas.openxmlformats.org/drawingml/2006/main"/>
          <a:p xmlns:a="http://schemas.openxmlformats.org/drawingml/2006/main">
            <a:pPr algn="l">
              <a:lnSpc>
                <a:spcPct val="115000"/>
              </a:lnSpc>
              <a:buNone/>
              <a:defRPr sz="1500" b="1">
                <a:solidFill>
                  <a:srgbClr val="12304E"/>
                </a:solidFill>
                <a:latin typeface="Lato"/>
                <a:ea typeface="Lato"/>
                <a:cs typeface="Lato"/>
              </a:defRPr>
            </a:pPr>
            <a:r>
              <a:rPr sz="1500" b="1">
                <a:solidFill>
                  <a:srgbClr val="12304E"/>
                </a:solidFill>
                <a:latin typeface="Lato"/>
                <a:ea typeface="Lato"/>
                <a:cs typeface="Lato"/>
              </a:rPr>
              <a:t>JupyterLab</a:t>
            </a:r>
          </a:p>
          <a:p xmlns:a="http://schemas.openxmlformats.org/drawingml/2006/main">
            <a:pPr algn="l">
              <a:lnSpc>
                <a:spcPct val="115000"/>
              </a:lnSpc>
              <a:buNone/>
              <a:defRPr sz="1500" b="1">
                <a:solidFill>
                  <a:srgbClr val="12304E"/>
                </a:solidFill>
                <a:latin typeface="Lato"/>
                <a:ea typeface="Lato"/>
                <a:cs typeface="Lato"/>
              </a:defRPr>
            </a:pPr>
            <a:r>
              <a:rPr sz="1500" b="1">
                <a:solidFill>
                  <a:srgbClr val="12304E"/>
                </a:solidFill>
                <a:latin typeface="Lato"/>
                <a:ea typeface="Lato"/>
                <a:cs typeface="Lato"/>
              </a:rPr>
              <a:t>R and Python kernels</a:t>
            </a:r>
          </a:p>
        </p:txBody>
      </p:sp>
      <p:sp>
        <p:nvSpPr>
          <p:cNvPr id="19" name="">
            <a:extLst xmlns:a="http://schemas.openxmlformats.org/drawingml/2006/main">
              <a:ext uri="{FF2B5EF4-FFF2-40B4-BE49-F238E27FC236}">
                <a16:creationId xmlns:a16="http://schemas.microsoft.com/office/drawing/2014/main" id="{DCDE024F-2674-49EB-AA7F-9AF19D4F29B9}"/>
              </a:ext>
            </a:extLst>
          </p:cNvPr>
          <p:cNvSpPr>
            <a:spLocks xmlns:a="http://schemas.openxmlformats.org/drawingml/2006/main" noGrp="1"/>
          </p:cNvSpPr>
          <p:nvPr/>
        </p:nvSpPr>
        <p:spPr>
          <a:xfrm xmlns:a="http://schemas.openxmlformats.org/drawingml/2006/main">
            <a:off x="819150" y="4371975"/>
            <a:ext cx="190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00" b="1">
                <a:solidFill>
                  <a:srgbClr val="12304E"/>
                </a:solidFill>
                <a:latin typeface="Lato"/>
                <a:ea typeface="Lato"/>
                <a:cs typeface="Lato"/>
              </a:defRPr>
            </a:pPr>
            <a:r>
              <a:rPr sz="1800" b="1">
                <a:solidFill>
                  <a:srgbClr val="12304E"/>
                </a:solidFill>
                <a:latin typeface="Lato"/>
                <a:ea typeface="Lato"/>
                <a:cs typeface="Lato"/>
              </a:rPr>
              <a:t>Why Conda</a:t>
            </a:r>
          </a:p>
        </p:txBody>
      </p:sp>
      <p:sp>
        <p:nvSpPr>
          <p:cNvPr id="20" name="">
            <a:extLst xmlns:a="http://schemas.openxmlformats.org/drawingml/2006/main">
              <a:ext uri="{FF2B5EF4-FFF2-40B4-BE49-F238E27FC236}">
                <a16:creationId xmlns:a16="http://schemas.microsoft.com/office/drawing/2014/main" id="{1AB0B253-A16C-4B58-B572-C3555C4A183F}"/>
              </a:ext>
            </a:extLst>
          </p:cNvPr>
          <p:cNvSpPr>
            <a:spLocks xmlns:a="http://schemas.openxmlformats.org/drawingml/2006/main" noGrp="1"/>
          </p:cNvSpPr>
          <p:nvPr/>
        </p:nvSpPr>
        <p:spPr>
          <a:xfrm xmlns:a="http://schemas.openxmlformats.org/drawingml/2006/main">
            <a:off x="2876550" y="4333875"/>
            <a:ext cx="8048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7324D"/>
                </a:solidFill>
                <a:latin typeface="Lato"/>
                <a:ea typeface="Lato"/>
                <a:cs typeface="Lato"/>
              </a:defRPr>
            </a:pPr>
            <a:r>
              <a:rPr sz="1425" b="0">
                <a:solidFill>
                  <a:srgbClr val="17324D"/>
                </a:solidFill>
                <a:latin typeface="Lato"/>
                <a:ea typeface="Lato"/>
                <a:cs typeface="Lato"/>
              </a:rPr>
              <a:t>It installs compiled spatial libraries and Java with the versions expected by the R package. It also gives every participant the same named environment.</a:t>
            </a:r>
          </a:p>
        </p:txBody>
      </p:sp>
      <p:sp>
        <p:nvSpPr>
          <p:cNvPr id="21" name="">
            <a:extLst xmlns:a="http://schemas.openxmlformats.org/drawingml/2006/main">
              <a:ext uri="{FF2B5EF4-FFF2-40B4-BE49-F238E27FC236}">
                <a16:creationId xmlns:a16="http://schemas.microsoft.com/office/drawing/2014/main" id="{E94F5675-3AB0-47EC-A85C-C3CF1EF964E3}"/>
              </a:ext>
            </a:extLst>
          </p:cNvPr>
          <p:cNvSpPr>
            <a:spLocks xmlns:a="http://schemas.openxmlformats.org/drawingml/2006/main" noGrp="1"/>
          </p:cNvSpPr>
          <p:nvPr/>
        </p:nvSpPr>
        <p:spPr>
          <a:xfrm xmlns:a="http://schemas.openxmlformats.org/drawingml/2006/main">
            <a:off x="2876550" y="5334000"/>
            <a:ext cx="785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008D7A"/>
                </a:solidFill>
                <a:latin typeface="Lato"/>
                <a:ea typeface="Lato"/>
                <a:cs typeface="Lato"/>
              </a:defRPr>
            </a:pPr>
            <a:r>
              <a:rPr sz="1200" b="1">
                <a:solidFill>
                  <a:srgbClr val="008D7A"/>
                </a:solidFill>
                <a:latin typeface="Lato"/>
                <a:ea typeface="Lato"/>
                <a:cs typeface="Lato"/>
              </a:rPr>
              <a:t>Use Miniforge or another Conda installation configured for conda-forge.</a:t>
            </a:r>
          </a:p>
        </p:txBody>
      </p:sp>
    </p:spTree>
    <p:extLst>
      <p:ext uri="{BB962C8B-B14F-4D97-AF65-F5344CB8AC3E}">
        <p14:creationId xmlns:p14="http://schemas.microsoft.com/office/powerpoint/2010/main" val="1668977188"/>
      </p:ext>
    </p:extLst>
  </p:cSld>
</p:sld>
</file>

<file path=ppt/slides/slide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37DC835-8016-4B90-9949-0AE87ACC2342}"/>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a:solidFill>
                  <a:srgbClr val="12304E"/>
                </a:solidFill>
                <a:latin typeface="Lato"/>
                <a:ea typeface="Lato"/>
                <a:cs typeface="Lato"/>
              </a:defRPr>
            </a:pPr>
            <a:r>
              <a:rPr sz="2325" b="1">
                <a:solidFill>
                  <a:srgbClr val="12304E"/>
                </a:solidFill>
                <a:latin typeface="Lato"/>
                <a:ea typeface="Lato"/>
                <a:cs typeface="Lato"/>
              </a:rPr>
              <a:t>Create and activate the environment</a:t>
            </a:r>
          </a:p>
        </p:txBody>
      </p:sp>
      <p:sp>
        <p:nvSpPr>
          <p:cNvPr id="2" name="">
            <a:extLst xmlns:a="http://schemas.openxmlformats.org/drawingml/2006/main">
              <a:ext uri="{FF2B5EF4-FFF2-40B4-BE49-F238E27FC236}">
                <a16:creationId xmlns:a16="http://schemas.microsoft.com/office/drawing/2014/main" id="{6CF1904D-FF84-490B-AF99-7620ADDFE3D8}"/>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0">
                <a:solidFill>
                  <a:srgbClr val="687984"/>
                </a:solidFill>
                <a:latin typeface="Lato"/>
                <a:ea typeface="Lato"/>
                <a:cs typeface="Lato"/>
              </a:defRPr>
            </a:pPr>
            <a:r>
              <a:rPr sz="1125" b="0">
                <a:solidFill>
                  <a:srgbClr val="687984"/>
                </a:solidFill>
                <a:latin typeface="Lato"/>
                <a:ea typeface="Lato"/>
                <a:cs typeface="Lato"/>
              </a:rPr>
              <a:t>Run these commands in a terminal</a:t>
            </a:r>
          </a:p>
        </p:txBody>
      </p:sp>
      <p:sp>
        <p:nvSpPr>
          <p:cNvPr id="3" name="">
            <a:extLst xmlns:a="http://schemas.openxmlformats.org/drawingml/2006/main">
              <a:ext uri="{FF2B5EF4-FFF2-40B4-BE49-F238E27FC236}">
                <a16:creationId xmlns:a16="http://schemas.microsoft.com/office/drawing/2014/main" id="{4B4B8C65-648B-4EDD-B736-68D37C3A7FAE}"/>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07CFF35-9658-45A4-8907-7B0BE9CA1A39}"/>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A098531-7E3D-4839-995F-B07B0C3BC871}"/>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ACC1749-E9D4-443C-840C-086C7FC3A18B}"/>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750" b="1">
                <a:solidFill>
                  <a:srgbClr val="687984"/>
                </a:solidFill>
                <a:latin typeface="Lato"/>
                <a:ea typeface="Lato"/>
                <a:cs typeface="Lato"/>
              </a:defRPr>
            </a:pPr>
            <a:r>
              <a:rPr sz="750" b="1">
                <a:solidFill>
                  <a:srgbClr val="687984"/>
                </a:solidFill>
                <a:latin typeface="Lato"/>
                <a:ea typeface="Lato"/>
                <a:cs typeface="Lato"/>
              </a:rPr>
              <a:t>CAVA MODULE 3</a:t>
            </a:r>
          </a:p>
        </p:txBody>
      </p:sp>
      <p:sp>
        <p:nvSpPr>
          <p:cNvPr id="7" name="">
            <a:extLst xmlns:a="http://schemas.openxmlformats.org/drawingml/2006/main">
              <a:ext uri="{FF2B5EF4-FFF2-40B4-BE49-F238E27FC236}">
                <a16:creationId xmlns:a16="http://schemas.microsoft.com/office/drawing/2014/main" id="{2ABB4858-0C28-42C4-A012-141B9278E0F3}"/>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750" b="0">
                <a:solidFill>
                  <a:srgbClr val="687984"/>
                </a:solidFill>
                <a:latin typeface="Lato"/>
                <a:ea typeface="Lato"/>
                <a:cs typeface="Lato"/>
              </a:defRPr>
            </a:pPr>
            <a:r>
              <a:rPr sz="750" b="0">
                <a:solidFill>
                  <a:srgbClr val="687984"/>
                </a:solidFill>
                <a:latin typeface="Lato"/>
                <a:ea typeface="Lato"/>
                <a:cs typeface="Lato"/>
              </a:rPr>
              <a:t>05</a:t>
            </a:r>
          </a:p>
        </p:txBody>
      </p:sp>
      <p:sp>
        <p:nvSpPr>
          <p:cNvPr id="8" name="">
            <a:extLst xmlns:a="http://schemas.openxmlformats.org/drawingml/2006/main">
              <a:ext uri="{FF2B5EF4-FFF2-40B4-BE49-F238E27FC236}">
                <a16:creationId xmlns:a16="http://schemas.microsoft.com/office/drawing/2014/main" id="{A579233B-CCE6-4EC7-9DF5-360F16F03138}"/>
              </a:ext>
            </a:extLst>
          </p:cNvPr>
          <p:cNvSpPr>
            <a:spLocks xmlns:a="http://schemas.openxmlformats.org/drawingml/2006/main" noGrp="1"/>
          </p:cNvSpPr>
          <p:nvPr/>
        </p:nvSpPr>
        <p:spPr>
          <a:xfrm xmlns:a="http://schemas.openxmlformats.org/drawingml/2006/main">
            <a:off x="685800" y="1952625"/>
            <a:ext cx="533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1">
                <a:solidFill>
                  <a:srgbClr val="00A88F"/>
                </a:solidFill>
                <a:latin typeface="Lato"/>
                <a:ea typeface="Lato"/>
                <a:cs typeface="Lato"/>
              </a:defRPr>
            </a:pPr>
            <a:r>
              <a:rPr sz="1500" b="1">
                <a:solidFill>
                  <a:srgbClr val="00A88F"/>
                </a:solidFill>
                <a:latin typeface="Lato"/>
                <a:ea typeface="Lato"/>
                <a:cs typeface="Lato"/>
              </a:rPr>
              <a:t>01</a:t>
            </a:r>
          </a:p>
        </p:txBody>
      </p:sp>
      <p:sp>
        <p:nvSpPr>
          <p:cNvPr id="9" name="">
            <a:extLst xmlns:a="http://schemas.openxmlformats.org/drawingml/2006/main">
              <a:ext uri="{FF2B5EF4-FFF2-40B4-BE49-F238E27FC236}">
                <a16:creationId xmlns:a16="http://schemas.microsoft.com/office/drawing/2014/main" id="{34C6A599-190F-4B21-8627-94938BDE90C8}"/>
              </a:ext>
            </a:extLst>
          </p:cNvPr>
          <p:cNvSpPr>
            <a:spLocks xmlns:a="http://schemas.openxmlformats.org/drawingml/2006/main" noGrp="1"/>
          </p:cNvSpPr>
          <p:nvPr/>
        </p:nvSpPr>
        <p:spPr>
          <a:xfrm xmlns:a="http://schemas.openxmlformats.org/drawingml/2006/main">
            <a:off x="1371600" y="1924050"/>
            <a:ext cx="1676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75" b="1">
                <a:solidFill>
                  <a:srgbClr val="12304E"/>
                </a:solidFill>
                <a:latin typeface="Lato"/>
                <a:ea typeface="Lato"/>
                <a:cs typeface="Lato"/>
              </a:defRPr>
            </a:pPr>
            <a:r>
              <a:rPr sz="1875" b="1">
                <a:solidFill>
                  <a:srgbClr val="12304E"/>
                </a:solidFill>
                <a:latin typeface="Lato"/>
                <a:ea typeface="Lato"/>
                <a:cs typeface="Lato"/>
              </a:rPr>
              <a:t>Create</a:t>
            </a:r>
          </a:p>
        </p:txBody>
      </p:sp>
      <p:sp>
        <p:nvSpPr>
          <p:cNvPr id="10" name="">
            <a:extLst xmlns:a="http://schemas.openxmlformats.org/drawingml/2006/main">
              <a:ext uri="{FF2B5EF4-FFF2-40B4-BE49-F238E27FC236}">
                <a16:creationId xmlns:a16="http://schemas.microsoft.com/office/drawing/2014/main" id="{940AA8D2-CB23-46E3-92B0-B9B5D8ABB239}"/>
              </a:ext>
            </a:extLst>
          </p:cNvPr>
          <p:cNvSpPr>
            <a:spLocks xmlns:a="http://schemas.openxmlformats.org/drawingml/2006/main" noGrp="1"/>
          </p:cNvSpPr>
          <p:nvPr/>
        </p:nvSpPr>
        <p:spPr>
          <a:xfrm xmlns:a="http://schemas.openxmlformats.org/drawingml/2006/main">
            <a:off x="685800" y="2428875"/>
            <a:ext cx="10839450" cy="1695450"/>
          </a:xfrm>
          <a:prstGeom xmlns:a="http://schemas.openxmlformats.org/drawingml/2006/main" prst="rect">
            <a:avLst/>
          </a:prstGeom>
          <a:solidFill xmlns:a="http://schemas.openxmlformats.org/drawingml/2006/main">
            <a:srgbClr val="12304E"/>
          </a:solidFill>
          <a:ln xmlns:a="http://schemas.openxmlformats.org/drawingml/2006/main" w="9525">
            <a:solidFill>
              <a:srgbClr val="183A59"/>
            </a:solidFill>
          </a:ln>
        </p:spPr>
      </p:sp>
      <p:sp>
        <p:nvSpPr>
          <p:cNvPr id="11" name="">
            <a:extLst xmlns:a="http://schemas.openxmlformats.org/drawingml/2006/main">
              <a:ext uri="{FF2B5EF4-FFF2-40B4-BE49-F238E27FC236}">
                <a16:creationId xmlns:a16="http://schemas.microsoft.com/office/drawing/2014/main" id="{B0542876-51A3-4B9F-AEA1-343B98D90980}"/>
              </a:ext>
            </a:extLst>
          </p:cNvPr>
          <p:cNvSpPr>
            <a:spLocks xmlns:a="http://schemas.openxmlformats.org/drawingml/2006/main" noGrp="1"/>
          </p:cNvSpPr>
          <p:nvPr/>
        </p:nvSpPr>
        <p:spPr>
          <a:xfrm xmlns:a="http://schemas.openxmlformats.org/drawingml/2006/main">
            <a:off x="895350" y="2600325"/>
            <a:ext cx="104203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FFFFFF"/>
                </a:solidFill>
                <a:latin typeface="Lato"/>
                <a:ea typeface="Lato"/>
                <a:cs typeface="Lato"/>
              </a:defRPr>
            </a:pPr>
            <a:r>
              <a:rPr sz="1425" b="0">
                <a:solidFill>
                  <a:srgbClr val="FFFFFF"/>
                </a:solidFill>
                <a:latin typeface="Lato"/>
                <a:ea typeface="Lato"/>
                <a:cs typeface="Lato"/>
              </a:rPr>
              <a:t>conda create -n cava -c conda-forge \</a:t>
            </a:r>
          </a:p>
          <a:p xmlns:a="http://schemas.openxmlformats.org/drawingml/2006/main">
            <a:pPr algn="l">
              <a:lnSpc>
                <a:spcPct val="110000"/>
              </a:lnSpc>
              <a:buNone/>
              <a:defRPr sz="1425" b="0">
                <a:solidFill>
                  <a:srgbClr val="FFFFFF"/>
                </a:solidFill>
                <a:latin typeface="Lato"/>
                <a:ea typeface="Lato"/>
                <a:cs typeface="Lato"/>
              </a:defRPr>
            </a:pPr>
            <a:r>
              <a:rPr sz="1425" b="0">
                <a:solidFill>
                  <a:srgbClr val="FFFFFF"/>
                </a:solidFill>
                <a:latin typeface="Lato"/>
                <a:ea typeface="Lato"/>
                <a:cs typeface="Lato"/>
              </a:rPr>
              <a:t>  python=3.11 r-base=4.4 \</a:t>
            </a:r>
          </a:p>
          <a:p xmlns:a="http://schemas.openxmlformats.org/drawingml/2006/main">
            <a:pPr algn="l">
              <a:lnSpc>
                <a:spcPct val="110000"/>
              </a:lnSpc>
              <a:buNone/>
              <a:defRPr sz="1425" b="0">
                <a:solidFill>
                  <a:srgbClr val="FFFFFF"/>
                </a:solidFill>
                <a:latin typeface="Lato"/>
                <a:ea typeface="Lato"/>
                <a:cs typeface="Lato"/>
              </a:defRPr>
            </a:pPr>
            <a:r>
              <a:rPr sz="1425" b="0">
                <a:solidFill>
                  <a:srgbClr val="FFFFFF"/>
                </a:solidFill>
                <a:latin typeface="Lato"/>
                <a:ea typeface="Lato"/>
                <a:cs typeface="Lato"/>
              </a:rPr>
              <a:t>  r-rjava r-terra r-sf r-pak r-irkernel \</a:t>
            </a:r>
          </a:p>
          <a:p xmlns:a="http://schemas.openxmlformats.org/drawingml/2006/main">
            <a:pPr algn="l">
              <a:lnSpc>
                <a:spcPct val="110000"/>
              </a:lnSpc>
              <a:buNone/>
              <a:defRPr sz="1425" b="0">
                <a:solidFill>
                  <a:srgbClr val="FFFFFF"/>
                </a:solidFill>
                <a:latin typeface="Lato"/>
                <a:ea typeface="Lato"/>
                <a:cs typeface="Lato"/>
              </a:defRPr>
            </a:pPr>
            <a:r>
              <a:rPr sz="1425" b="0">
                <a:solidFill>
                  <a:srgbClr val="FFFFFF"/>
                </a:solidFill>
                <a:latin typeface="Lato"/>
                <a:ea typeface="Lato"/>
                <a:cs typeface="Lato"/>
              </a:rPr>
              <a:t>  jupyterlab ipykernel</a:t>
            </a:r>
          </a:p>
        </p:txBody>
      </p:sp>
      <p:sp>
        <p:nvSpPr>
          <p:cNvPr id="12" name="">
            <a:extLst xmlns:a="http://schemas.openxmlformats.org/drawingml/2006/main">
              <a:ext uri="{FF2B5EF4-FFF2-40B4-BE49-F238E27FC236}">
                <a16:creationId xmlns:a16="http://schemas.microsoft.com/office/drawing/2014/main" id="{E4D3B0D7-EFB2-430F-896F-7D068E9CFE04}"/>
              </a:ext>
            </a:extLst>
          </p:cNvPr>
          <p:cNvSpPr>
            <a:spLocks xmlns:a="http://schemas.openxmlformats.org/drawingml/2006/main" noGrp="1"/>
          </p:cNvSpPr>
          <p:nvPr/>
        </p:nvSpPr>
        <p:spPr>
          <a:xfrm xmlns:a="http://schemas.openxmlformats.org/drawingml/2006/main">
            <a:off x="685800" y="4467225"/>
            <a:ext cx="533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1">
                <a:solidFill>
                  <a:srgbClr val="F2B632"/>
                </a:solidFill>
                <a:latin typeface="Lato"/>
                <a:ea typeface="Lato"/>
                <a:cs typeface="Lato"/>
              </a:defRPr>
            </a:pPr>
            <a:r>
              <a:rPr sz="1500" b="1">
                <a:solidFill>
                  <a:srgbClr val="F2B632"/>
                </a:solidFill>
                <a:latin typeface="Lato"/>
                <a:ea typeface="Lato"/>
                <a:cs typeface="Lato"/>
              </a:rPr>
              <a:t>02</a:t>
            </a:r>
          </a:p>
        </p:txBody>
      </p:sp>
      <p:sp>
        <p:nvSpPr>
          <p:cNvPr id="13" name="">
            <a:extLst xmlns:a="http://schemas.openxmlformats.org/drawingml/2006/main">
              <a:ext uri="{FF2B5EF4-FFF2-40B4-BE49-F238E27FC236}">
                <a16:creationId xmlns:a16="http://schemas.microsoft.com/office/drawing/2014/main" id="{BACDED21-07E7-446B-8D1F-F6DF9B621293}"/>
              </a:ext>
            </a:extLst>
          </p:cNvPr>
          <p:cNvSpPr>
            <a:spLocks xmlns:a="http://schemas.openxmlformats.org/drawingml/2006/main" noGrp="1"/>
          </p:cNvSpPr>
          <p:nvPr/>
        </p:nvSpPr>
        <p:spPr>
          <a:xfrm xmlns:a="http://schemas.openxmlformats.org/drawingml/2006/main">
            <a:off x="1371600" y="4438650"/>
            <a:ext cx="1676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75" b="1">
                <a:solidFill>
                  <a:srgbClr val="12304E"/>
                </a:solidFill>
                <a:latin typeface="Lato"/>
                <a:ea typeface="Lato"/>
                <a:cs typeface="Lato"/>
              </a:defRPr>
            </a:pPr>
            <a:r>
              <a:rPr sz="1875" b="1">
                <a:solidFill>
                  <a:srgbClr val="12304E"/>
                </a:solidFill>
                <a:latin typeface="Lato"/>
                <a:ea typeface="Lato"/>
                <a:cs typeface="Lato"/>
              </a:rPr>
              <a:t>Activate</a:t>
            </a:r>
          </a:p>
        </p:txBody>
      </p:sp>
      <p:sp>
        <p:nvSpPr>
          <p:cNvPr id="14" name="">
            <a:extLst xmlns:a="http://schemas.openxmlformats.org/drawingml/2006/main">
              <a:ext uri="{FF2B5EF4-FFF2-40B4-BE49-F238E27FC236}">
                <a16:creationId xmlns:a16="http://schemas.microsoft.com/office/drawing/2014/main" id="{666D065A-A612-4EAB-B3F4-61593A89BC4D}"/>
              </a:ext>
            </a:extLst>
          </p:cNvPr>
          <p:cNvSpPr>
            <a:spLocks xmlns:a="http://schemas.openxmlformats.org/drawingml/2006/main" noGrp="1"/>
          </p:cNvSpPr>
          <p:nvPr/>
        </p:nvSpPr>
        <p:spPr>
          <a:xfrm xmlns:a="http://schemas.openxmlformats.org/drawingml/2006/main">
            <a:off x="685800" y="4933950"/>
            <a:ext cx="10839450" cy="742950"/>
          </a:xfrm>
          <a:prstGeom xmlns:a="http://schemas.openxmlformats.org/drawingml/2006/main" prst="rect">
            <a:avLst/>
          </a:prstGeom>
          <a:solidFill xmlns:a="http://schemas.openxmlformats.org/drawingml/2006/main">
            <a:srgbClr val="183A59"/>
          </a:solidFill>
          <a:ln xmlns:a="http://schemas.openxmlformats.org/drawingml/2006/main" w="9525">
            <a:solidFill>
              <a:srgbClr val="183A59"/>
            </a:solidFill>
          </a:ln>
        </p:spPr>
      </p:sp>
      <p:sp>
        <p:nvSpPr>
          <p:cNvPr id="15" name="">
            <a:extLst xmlns:a="http://schemas.openxmlformats.org/drawingml/2006/main">
              <a:ext uri="{FF2B5EF4-FFF2-40B4-BE49-F238E27FC236}">
                <a16:creationId xmlns:a16="http://schemas.microsoft.com/office/drawing/2014/main" id="{070F4326-A0B7-4900-8845-9D91A062D482}"/>
              </a:ext>
            </a:extLst>
          </p:cNvPr>
          <p:cNvSpPr>
            <a:spLocks xmlns:a="http://schemas.openxmlformats.org/drawingml/2006/main" noGrp="1"/>
          </p:cNvSpPr>
          <p:nvPr/>
        </p:nvSpPr>
        <p:spPr>
          <a:xfrm xmlns:a="http://schemas.openxmlformats.org/drawingml/2006/main">
            <a:off x="895350" y="5105400"/>
            <a:ext cx="10420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0">
                <a:solidFill>
                  <a:srgbClr val="FFFFFF"/>
                </a:solidFill>
                <a:latin typeface="Lato"/>
                <a:ea typeface="Lato"/>
                <a:cs typeface="Lato"/>
              </a:defRPr>
            </a:pPr>
            <a:r>
              <a:rPr sz="1575" b="0">
                <a:solidFill>
                  <a:srgbClr val="FFFFFF"/>
                </a:solidFill>
                <a:latin typeface="Lato"/>
                <a:ea typeface="Lato"/>
                <a:cs typeface="Lato"/>
              </a:rPr>
              <a:t>conda activate cava</a:t>
            </a:r>
          </a:p>
        </p:txBody>
      </p:sp>
      <p:sp>
        <p:nvSpPr>
          <p:cNvPr id="16" name="">
            <a:extLst xmlns:a="http://schemas.openxmlformats.org/drawingml/2006/main">
              <a:ext uri="{FF2B5EF4-FFF2-40B4-BE49-F238E27FC236}">
                <a16:creationId xmlns:a16="http://schemas.microsoft.com/office/drawing/2014/main" id="{6AE65D86-09D7-4B77-8285-A7A2D9BF9760}"/>
              </a:ext>
            </a:extLst>
          </p:cNvPr>
          <p:cNvSpPr>
            <a:spLocks xmlns:a="http://schemas.openxmlformats.org/drawingml/2006/main" noGrp="1"/>
          </p:cNvSpPr>
          <p:nvPr/>
        </p:nvSpPr>
        <p:spPr>
          <a:xfrm xmlns:a="http://schemas.openxmlformats.org/drawingml/2006/main">
            <a:off x="685800" y="5857875"/>
            <a:ext cx="847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0">
                <a:solidFill>
                  <a:srgbClr val="687984"/>
                </a:solidFill>
                <a:latin typeface="Lato"/>
                <a:ea typeface="Lato"/>
                <a:cs typeface="Lato"/>
              </a:defRPr>
            </a:pPr>
            <a:r>
              <a:rPr sz="1050" b="0">
                <a:solidFill>
                  <a:srgbClr val="687984"/>
                </a:solidFill>
                <a:latin typeface="Lato"/>
                <a:ea typeface="Lato"/>
                <a:cs typeface="Lato"/>
              </a:rPr>
              <a:t>If Mamba is installed, replace conda with mamba for a faster solve.</a:t>
            </a:r>
          </a:p>
        </p:txBody>
      </p:sp>
    </p:spTree>
    <p:extLst>
      <p:ext uri="{BB962C8B-B14F-4D97-AF65-F5344CB8AC3E}">
        <p14:creationId xmlns:p14="http://schemas.microsoft.com/office/powerpoint/2010/main" val="509477604"/>
      </p:ext>
    </p:extLst>
  </p:cSld>
</p:sld>
</file>

<file path=ppt/slides/slide6.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AD5CBA9-20AD-4183-A767-48068C0F1249}"/>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a:solidFill>
                  <a:srgbClr val="12304E"/>
                </a:solidFill>
                <a:latin typeface="Lato"/>
                <a:ea typeface="Lato"/>
                <a:cs typeface="Lato"/>
              </a:defRPr>
            </a:pPr>
            <a:r>
              <a:rPr sz="2325" b="1">
                <a:solidFill>
                  <a:srgbClr val="12304E"/>
                </a:solidFill>
                <a:latin typeface="Lato"/>
                <a:ea typeface="Lato"/>
                <a:cs typeface="Lato"/>
              </a:rPr>
              <a:t>Install CAVAanalytics and cavapy</a:t>
            </a:r>
          </a:p>
        </p:txBody>
      </p:sp>
      <p:sp>
        <p:nvSpPr>
          <p:cNvPr id="2" name="">
            <a:extLst xmlns:a="http://schemas.openxmlformats.org/drawingml/2006/main">
              <a:ext uri="{FF2B5EF4-FFF2-40B4-BE49-F238E27FC236}">
                <a16:creationId xmlns:a16="http://schemas.microsoft.com/office/drawing/2014/main" id="{2917D813-A36B-47D6-9F3D-D2257CC99694}"/>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0">
                <a:solidFill>
                  <a:srgbClr val="687984"/>
                </a:solidFill>
                <a:latin typeface="Lato"/>
                <a:ea typeface="Lato"/>
                <a:cs typeface="Lato"/>
              </a:defRPr>
            </a:pPr>
            <a:r>
              <a:rPr sz="1125" b="0">
                <a:solidFill>
                  <a:srgbClr val="687984"/>
                </a:solidFill>
                <a:latin typeface="Lato"/>
                <a:ea typeface="Lato"/>
                <a:cs typeface="Lato"/>
              </a:rPr>
              <a:t>Keep the cava environment active</a:t>
            </a:r>
          </a:p>
        </p:txBody>
      </p:sp>
      <p:sp>
        <p:nvSpPr>
          <p:cNvPr id="3" name="">
            <a:extLst xmlns:a="http://schemas.openxmlformats.org/drawingml/2006/main">
              <a:ext uri="{FF2B5EF4-FFF2-40B4-BE49-F238E27FC236}">
                <a16:creationId xmlns:a16="http://schemas.microsoft.com/office/drawing/2014/main" id="{72FABCA6-4E71-487B-9B73-07ABD9A5B69F}"/>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ED5ABE6-3C35-4F91-A785-F2F7F2047A2C}"/>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F601E2D-B577-4A42-B170-F36F008BAC54}"/>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554B3EC-0501-40AF-AB1F-9DD3523D7FBA}"/>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750" b="1">
                <a:solidFill>
                  <a:srgbClr val="687984"/>
                </a:solidFill>
                <a:latin typeface="Lato"/>
                <a:ea typeface="Lato"/>
                <a:cs typeface="Lato"/>
              </a:defRPr>
            </a:pPr>
            <a:r>
              <a:rPr sz="750" b="1">
                <a:solidFill>
                  <a:srgbClr val="687984"/>
                </a:solidFill>
                <a:latin typeface="Lato"/>
                <a:ea typeface="Lato"/>
                <a:cs typeface="Lato"/>
              </a:rPr>
              <a:t>CAVA MODULE 3</a:t>
            </a:r>
          </a:p>
        </p:txBody>
      </p:sp>
      <p:sp>
        <p:nvSpPr>
          <p:cNvPr id="7" name="">
            <a:extLst xmlns:a="http://schemas.openxmlformats.org/drawingml/2006/main">
              <a:ext uri="{FF2B5EF4-FFF2-40B4-BE49-F238E27FC236}">
                <a16:creationId xmlns:a16="http://schemas.microsoft.com/office/drawing/2014/main" id="{EBA71EA8-0CDB-4381-8794-967483F0A6F8}"/>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750" b="0">
                <a:solidFill>
                  <a:srgbClr val="687984"/>
                </a:solidFill>
                <a:latin typeface="Lato"/>
                <a:ea typeface="Lato"/>
                <a:cs typeface="Lato"/>
              </a:defRPr>
            </a:pPr>
            <a:r>
              <a:rPr sz="750" b="0">
                <a:solidFill>
                  <a:srgbClr val="687984"/>
                </a:solidFill>
                <a:latin typeface="Lato"/>
                <a:ea typeface="Lato"/>
                <a:cs typeface="Lato"/>
              </a:rPr>
              <a:t>06</a:t>
            </a:r>
          </a:p>
        </p:txBody>
      </p:sp>
      <p:sp>
        <p:nvSpPr>
          <p:cNvPr id="8" name="">
            <a:extLst xmlns:a="http://schemas.openxmlformats.org/drawingml/2006/main">
              <a:ext uri="{FF2B5EF4-FFF2-40B4-BE49-F238E27FC236}">
                <a16:creationId xmlns:a16="http://schemas.microsoft.com/office/drawing/2014/main" id="{12E91F45-D51C-4729-9C8A-1D977A598C52}"/>
              </a:ext>
            </a:extLst>
          </p:cNvPr>
          <p:cNvSpPr>
            <a:spLocks xmlns:a="http://schemas.openxmlformats.org/drawingml/2006/main" noGrp="1"/>
          </p:cNvSpPr>
          <p:nvPr/>
        </p:nvSpPr>
        <p:spPr>
          <a:xfrm xmlns:a="http://schemas.openxmlformats.org/drawingml/2006/main">
            <a:off x="685800" y="19240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100" b="1">
                <a:solidFill>
                  <a:srgbClr val="12304E"/>
                </a:solidFill>
                <a:latin typeface="Lato"/>
                <a:ea typeface="Lato"/>
                <a:cs typeface="Lato"/>
              </a:defRPr>
            </a:pPr>
            <a:r>
              <a:rPr sz="2100" b="1">
                <a:solidFill>
                  <a:srgbClr val="12304E"/>
                </a:solidFill>
                <a:latin typeface="Lato"/>
                <a:ea typeface="Lato"/>
                <a:cs typeface="Lato"/>
              </a:rPr>
              <a:t>CAVAanalytics</a:t>
            </a:r>
          </a:p>
        </p:txBody>
      </p:sp>
      <p:sp>
        <p:nvSpPr>
          <p:cNvPr id="9" name="">
            <a:extLst xmlns:a="http://schemas.openxmlformats.org/drawingml/2006/main">
              <a:ext uri="{FF2B5EF4-FFF2-40B4-BE49-F238E27FC236}">
                <a16:creationId xmlns:a16="http://schemas.microsoft.com/office/drawing/2014/main" id="{0E99C4E7-B6E3-4E74-B72D-EB55BE345616}"/>
              </a:ext>
            </a:extLst>
          </p:cNvPr>
          <p:cNvSpPr>
            <a:spLocks xmlns:a="http://schemas.openxmlformats.org/drawingml/2006/main" noGrp="1"/>
          </p:cNvSpPr>
          <p:nvPr/>
        </p:nvSpPr>
        <p:spPr>
          <a:xfrm xmlns:a="http://schemas.openxmlformats.org/drawingml/2006/main">
            <a:off x="685800" y="2352675"/>
            <a:ext cx="4953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a:solidFill>
                  <a:srgbClr val="687984"/>
                </a:solidFill>
                <a:latin typeface="Lato"/>
                <a:ea typeface="Lato"/>
                <a:cs typeface="Lato"/>
              </a:defRPr>
            </a:pPr>
            <a:r>
              <a:rPr sz="1200" b="0">
                <a:solidFill>
                  <a:srgbClr val="687984"/>
                </a:solidFill>
                <a:latin typeface="Lato"/>
                <a:ea typeface="Lato"/>
                <a:cs typeface="Lato"/>
              </a:rPr>
              <a:t>Install the R package from GitHub with pak</a:t>
            </a:r>
          </a:p>
        </p:txBody>
      </p:sp>
      <p:sp>
        <p:nvSpPr>
          <p:cNvPr id="10" name="">
            <a:extLst xmlns:a="http://schemas.openxmlformats.org/drawingml/2006/main">
              <a:ext uri="{FF2B5EF4-FFF2-40B4-BE49-F238E27FC236}">
                <a16:creationId xmlns:a16="http://schemas.microsoft.com/office/drawing/2014/main" id="{A0B706F0-3317-4D52-9835-26E00427C650}"/>
              </a:ext>
            </a:extLst>
          </p:cNvPr>
          <p:cNvSpPr>
            <a:spLocks xmlns:a="http://schemas.openxmlformats.org/drawingml/2006/main" noGrp="1"/>
          </p:cNvSpPr>
          <p:nvPr/>
        </p:nvSpPr>
        <p:spPr>
          <a:xfrm xmlns:a="http://schemas.openxmlformats.org/drawingml/2006/main">
            <a:off x="685800" y="2800350"/>
            <a:ext cx="5029200" cy="1257300"/>
          </a:xfrm>
          <a:prstGeom xmlns:a="http://schemas.openxmlformats.org/drawingml/2006/main" prst="rect">
            <a:avLst/>
          </a:prstGeom>
          <a:solidFill xmlns:a="http://schemas.openxmlformats.org/drawingml/2006/main">
            <a:srgbClr val="12304E"/>
          </a:solidFill>
          <a:ln xmlns:a="http://schemas.openxmlformats.org/drawingml/2006/main" w="9525">
            <a:solidFill>
              <a:srgbClr val="183A59"/>
            </a:solidFill>
          </a:ln>
        </p:spPr>
      </p:sp>
      <p:sp>
        <p:nvSpPr>
          <p:cNvPr id="11" name="">
            <a:extLst xmlns:a="http://schemas.openxmlformats.org/drawingml/2006/main">
              <a:ext uri="{FF2B5EF4-FFF2-40B4-BE49-F238E27FC236}">
                <a16:creationId xmlns:a16="http://schemas.microsoft.com/office/drawing/2014/main" id="{EE1F516E-0254-4273-A878-EEAA82BF578F}"/>
              </a:ext>
            </a:extLst>
          </p:cNvPr>
          <p:cNvSpPr>
            <a:spLocks xmlns:a="http://schemas.openxmlformats.org/drawingml/2006/main" noGrp="1"/>
          </p:cNvSpPr>
          <p:nvPr/>
        </p:nvSpPr>
        <p:spPr>
          <a:xfrm xmlns:a="http://schemas.openxmlformats.org/drawingml/2006/main">
            <a:off x="895350" y="2971800"/>
            <a:ext cx="46101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a:solidFill>
                  <a:srgbClr val="FFFFFF"/>
                </a:solidFill>
                <a:latin typeface="Lato"/>
                <a:ea typeface="Lato"/>
                <a:cs typeface="Lato"/>
              </a:defRPr>
            </a:pPr>
            <a:r>
              <a:rPr sz="1275" b="0">
                <a:solidFill>
                  <a:srgbClr val="FFFFFF"/>
                </a:solidFill>
                <a:latin typeface="Lato"/>
                <a:ea typeface="Lato"/>
                <a:cs typeface="Lato"/>
              </a:rPr>
              <a:t>R -q -e 'pak::pak("un-fao/CAVAanalytics")'</a:t>
            </a:r>
          </a:p>
        </p:txBody>
      </p:sp>
      <p:sp>
        <p:nvSpPr>
          <p:cNvPr id="12" name="">
            <a:extLst xmlns:a="http://schemas.openxmlformats.org/drawingml/2006/main">
              <a:ext uri="{FF2B5EF4-FFF2-40B4-BE49-F238E27FC236}">
                <a16:creationId xmlns:a16="http://schemas.microsoft.com/office/drawing/2014/main" id="{C90C648C-F9E8-4BA9-95DE-A4D5F0A18837}"/>
              </a:ext>
            </a:extLst>
          </p:cNvPr>
          <p:cNvSpPr>
            <a:spLocks xmlns:a="http://schemas.openxmlformats.org/drawingml/2006/main" noGrp="1"/>
          </p:cNvSpPr>
          <p:nvPr/>
        </p:nvSpPr>
        <p:spPr>
          <a:xfrm xmlns:a="http://schemas.openxmlformats.org/drawingml/2006/main">
            <a:off x="6086475" y="1905000"/>
            <a:ext cx="9525" cy="316230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677D9EA-873D-4805-9F15-9380F653F771}"/>
              </a:ext>
            </a:extLst>
          </p:cNvPr>
          <p:cNvSpPr>
            <a:spLocks xmlns:a="http://schemas.openxmlformats.org/drawingml/2006/main" noGrp="1"/>
          </p:cNvSpPr>
          <p:nvPr/>
        </p:nvSpPr>
        <p:spPr>
          <a:xfrm xmlns:a="http://schemas.openxmlformats.org/drawingml/2006/main">
            <a:off x="6477000" y="192405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100" b="1">
                <a:solidFill>
                  <a:srgbClr val="12304E"/>
                </a:solidFill>
                <a:latin typeface="Lato"/>
                <a:ea typeface="Lato"/>
                <a:cs typeface="Lato"/>
              </a:defRPr>
            </a:pPr>
            <a:r>
              <a:rPr sz="2100" b="1">
                <a:solidFill>
                  <a:srgbClr val="12304E"/>
                </a:solidFill>
                <a:latin typeface="Lato"/>
                <a:ea typeface="Lato"/>
                <a:cs typeface="Lato"/>
              </a:rPr>
              <a:t>cavapy</a:t>
            </a:r>
          </a:p>
        </p:txBody>
      </p:sp>
      <p:sp>
        <p:nvSpPr>
          <p:cNvPr id="14" name="">
            <a:extLst xmlns:a="http://schemas.openxmlformats.org/drawingml/2006/main">
              <a:ext uri="{FF2B5EF4-FFF2-40B4-BE49-F238E27FC236}">
                <a16:creationId xmlns:a16="http://schemas.microsoft.com/office/drawing/2014/main" id="{A8E525BB-7CE8-4837-9521-A9DD3D0DB1FE}"/>
              </a:ext>
            </a:extLst>
          </p:cNvPr>
          <p:cNvSpPr>
            <a:spLocks xmlns:a="http://schemas.openxmlformats.org/drawingml/2006/main" noGrp="1"/>
          </p:cNvSpPr>
          <p:nvPr/>
        </p:nvSpPr>
        <p:spPr>
          <a:xfrm xmlns:a="http://schemas.openxmlformats.org/drawingml/2006/main">
            <a:off x="6477000" y="2352675"/>
            <a:ext cx="4572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a:solidFill>
                  <a:srgbClr val="687984"/>
                </a:solidFill>
                <a:latin typeface="Lato"/>
                <a:ea typeface="Lato"/>
                <a:cs typeface="Lato"/>
              </a:defRPr>
            </a:pPr>
            <a:r>
              <a:rPr sz="1200" b="0">
                <a:solidFill>
                  <a:srgbClr val="687984"/>
                </a:solidFill>
                <a:latin typeface="Lato"/>
                <a:ea typeface="Lato"/>
                <a:cs typeface="Lato"/>
              </a:rPr>
              <a:t>Install the Python package from PyPI</a:t>
            </a:r>
          </a:p>
        </p:txBody>
      </p:sp>
      <p:sp>
        <p:nvSpPr>
          <p:cNvPr id="15" name="">
            <a:extLst xmlns:a="http://schemas.openxmlformats.org/drawingml/2006/main">
              <a:ext uri="{FF2B5EF4-FFF2-40B4-BE49-F238E27FC236}">
                <a16:creationId xmlns:a16="http://schemas.microsoft.com/office/drawing/2014/main" id="{4EB12F5B-729D-4B8D-AC40-F4B391497554}"/>
              </a:ext>
            </a:extLst>
          </p:cNvPr>
          <p:cNvSpPr>
            <a:spLocks xmlns:a="http://schemas.openxmlformats.org/drawingml/2006/main" noGrp="1"/>
          </p:cNvSpPr>
          <p:nvPr/>
        </p:nvSpPr>
        <p:spPr>
          <a:xfrm xmlns:a="http://schemas.openxmlformats.org/drawingml/2006/main">
            <a:off x="6477000" y="2800350"/>
            <a:ext cx="5029200" cy="1257300"/>
          </a:xfrm>
          <a:prstGeom xmlns:a="http://schemas.openxmlformats.org/drawingml/2006/main" prst="rect">
            <a:avLst/>
          </a:prstGeom>
          <a:solidFill xmlns:a="http://schemas.openxmlformats.org/drawingml/2006/main">
            <a:srgbClr val="183A59"/>
          </a:solidFill>
          <a:ln xmlns:a="http://schemas.openxmlformats.org/drawingml/2006/main" w="9525">
            <a:solidFill>
              <a:srgbClr val="183A59"/>
            </a:solidFill>
          </a:ln>
        </p:spPr>
      </p:sp>
      <p:sp>
        <p:nvSpPr>
          <p:cNvPr id="16" name="">
            <a:extLst xmlns:a="http://schemas.openxmlformats.org/drawingml/2006/main">
              <a:ext uri="{FF2B5EF4-FFF2-40B4-BE49-F238E27FC236}">
                <a16:creationId xmlns:a16="http://schemas.microsoft.com/office/drawing/2014/main" id="{D9326769-6946-4DC8-9F9A-51FA2A2AA2F9}"/>
              </a:ext>
            </a:extLst>
          </p:cNvPr>
          <p:cNvSpPr>
            <a:spLocks xmlns:a="http://schemas.openxmlformats.org/drawingml/2006/main" noGrp="1"/>
          </p:cNvSpPr>
          <p:nvPr/>
        </p:nvSpPr>
        <p:spPr>
          <a:xfrm xmlns:a="http://schemas.openxmlformats.org/drawingml/2006/main">
            <a:off x="6686550" y="2971800"/>
            <a:ext cx="46101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FFFFFF"/>
                </a:solidFill>
                <a:latin typeface="Lato"/>
                <a:ea typeface="Lato"/>
                <a:cs typeface="Lato"/>
              </a:defRPr>
            </a:pPr>
            <a:r>
              <a:rPr sz="1350" b="0">
                <a:solidFill>
                  <a:srgbClr val="FFFFFF"/>
                </a:solidFill>
                <a:latin typeface="Lato"/>
                <a:ea typeface="Lato"/>
                <a:cs typeface="Lato"/>
              </a:rPr>
              <a:t>python -m pip install cavapy</a:t>
            </a:r>
          </a:p>
        </p:txBody>
      </p:sp>
      <p:sp>
        <p:nvSpPr>
          <p:cNvPr id="17" name="">
            <a:extLst xmlns:a="http://schemas.openxmlformats.org/drawingml/2006/main">
              <a:ext uri="{FF2B5EF4-FFF2-40B4-BE49-F238E27FC236}">
                <a16:creationId xmlns:a16="http://schemas.microsoft.com/office/drawing/2014/main" id="{FB3CF067-9C46-47D2-A9D1-E497893712C8}"/>
              </a:ext>
            </a:extLst>
          </p:cNvPr>
          <p:cNvSpPr>
            <a:spLocks xmlns:a="http://schemas.openxmlformats.org/drawingml/2006/main" noGrp="1"/>
          </p:cNvSpPr>
          <p:nvPr/>
        </p:nvSpPr>
        <p:spPr>
          <a:xfrm xmlns:a="http://schemas.openxmlformats.org/drawingml/2006/main">
            <a:off x="685800" y="4524375"/>
            <a:ext cx="10820400" cy="781050"/>
          </a:xfrm>
          <a:prstGeom xmlns:a="http://schemas.openxmlformats.org/drawingml/2006/main" prst="rect">
            <a:avLst/>
          </a:prstGeom>
          <a:solidFill xmlns:a="http://schemas.openxmlformats.org/drawingml/2006/main">
            <a:srgbClr val="FFF3D1"/>
          </a:solidFill>
          <a:ln xmlns:a="http://schemas.openxmlformats.org/drawingml/2006/main" w="9525">
            <a:solidFill>
              <a:srgbClr val="E6C76B"/>
            </a:solidFill>
          </a:ln>
        </p:spPr>
      </p:sp>
      <p:sp>
        <p:nvSpPr>
          <p:cNvPr id="18" name="">
            <a:extLst xmlns:a="http://schemas.openxmlformats.org/drawingml/2006/main">
              <a:ext uri="{FF2B5EF4-FFF2-40B4-BE49-F238E27FC236}">
                <a16:creationId xmlns:a16="http://schemas.microsoft.com/office/drawing/2014/main" id="{8FAA4E0D-13C5-4C10-B749-ABE02C4A1D96}"/>
              </a:ext>
            </a:extLst>
          </p:cNvPr>
          <p:cNvSpPr>
            <a:spLocks xmlns:a="http://schemas.openxmlformats.org/drawingml/2006/main" noGrp="1"/>
          </p:cNvSpPr>
          <p:nvPr/>
        </p:nvSpPr>
        <p:spPr>
          <a:xfrm xmlns:a="http://schemas.openxmlformats.org/drawingml/2006/main">
            <a:off x="942975" y="475297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425" b="1">
                <a:solidFill>
                  <a:srgbClr val="12304E"/>
                </a:solidFill>
                <a:latin typeface="Lato"/>
                <a:ea typeface="Lato"/>
                <a:cs typeface="Lato"/>
              </a:defRPr>
            </a:pPr>
            <a:r>
              <a:rPr sz="1425" b="1">
                <a:solidFill>
                  <a:srgbClr val="12304E"/>
                </a:solidFill>
                <a:latin typeface="Lato"/>
                <a:ea typeface="Lato"/>
                <a:cs typeface="Lato"/>
              </a:rPr>
              <a:t>Internet access is required for installation and for the live remote-data examples.</a:t>
            </a:r>
          </a:p>
        </p:txBody>
      </p:sp>
      <p:sp>
        <p:nvSpPr>
          <p:cNvPr id="19" name="">
            <a:extLst xmlns:a="http://schemas.openxmlformats.org/drawingml/2006/main">
              <a:ext uri="{FF2B5EF4-FFF2-40B4-BE49-F238E27FC236}">
                <a16:creationId xmlns:a16="http://schemas.microsoft.com/office/drawing/2014/main" id="{F529F0C4-07CB-4238-B29B-F6AA10D8F443}"/>
              </a:ext>
            </a:extLst>
          </p:cNvPr>
          <p:cNvSpPr>
            <a:spLocks xmlns:a="http://schemas.openxmlformats.org/drawingml/2006/main" noGrp="1"/>
          </p:cNvSpPr>
          <p:nvPr/>
        </p:nvSpPr>
        <p:spPr>
          <a:xfrm xmlns:a="http://schemas.openxmlformats.org/drawingml/2006/main">
            <a:off x="685800" y="5591175"/>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125" b="0">
                <a:solidFill>
                  <a:srgbClr val="687984"/>
                </a:solidFill>
                <a:latin typeface="Lato"/>
                <a:ea typeface="Lato"/>
                <a:cs typeface="Lato"/>
              </a:defRPr>
            </a:pPr>
            <a:r>
              <a:rPr sz="1125" b="0">
                <a:solidFill>
                  <a:srgbClr val="687984"/>
                </a:solidFill>
                <a:latin typeface="Lato"/>
                <a:ea typeface="Lato"/>
                <a:cs typeface="Lato"/>
              </a:rPr>
              <a:t>The package install may take several minutes on the first run.</a:t>
            </a:r>
          </a:p>
        </p:txBody>
      </p:sp>
    </p:spTree>
    <p:extLst>
      <p:ext uri="{BB962C8B-B14F-4D97-AF65-F5344CB8AC3E}">
        <p14:creationId xmlns:p14="http://schemas.microsoft.com/office/powerpoint/2010/main" val="1771936552"/>
      </p:ext>
    </p:extLst>
  </p:cSld>
</p:sld>
</file>

<file path=ppt/slides/slide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57C794C-CB3D-492B-BC9F-4B6CEAFB3E13}"/>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a:solidFill>
                  <a:srgbClr val="12304E"/>
                </a:solidFill>
                <a:latin typeface="Lato"/>
                <a:ea typeface="Lato"/>
                <a:cs typeface="Lato"/>
              </a:defRPr>
            </a:pPr>
            <a:r>
              <a:rPr sz="2325" b="1">
                <a:solidFill>
                  <a:srgbClr val="12304E"/>
                </a:solidFill>
                <a:latin typeface="Lato"/>
                <a:ea typeface="Lato"/>
                <a:cs typeface="Lato"/>
              </a:rPr>
              <a:t>Register the notebook kernels</a:t>
            </a:r>
          </a:p>
        </p:txBody>
      </p:sp>
      <p:sp>
        <p:nvSpPr>
          <p:cNvPr id="2" name="">
            <a:extLst xmlns:a="http://schemas.openxmlformats.org/drawingml/2006/main">
              <a:ext uri="{FF2B5EF4-FFF2-40B4-BE49-F238E27FC236}">
                <a16:creationId xmlns:a16="http://schemas.microsoft.com/office/drawing/2014/main" id="{FE3D6ACD-C6CF-4E96-AAD4-E255FE67870B}"/>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0">
                <a:solidFill>
                  <a:srgbClr val="687984"/>
                </a:solidFill>
                <a:latin typeface="Lato"/>
                <a:ea typeface="Lato"/>
                <a:cs typeface="Lato"/>
              </a:defRPr>
            </a:pPr>
            <a:r>
              <a:rPr sz="1125" b="0">
                <a:solidFill>
                  <a:srgbClr val="687984"/>
                </a:solidFill>
                <a:latin typeface="Lato"/>
                <a:ea typeface="Lato"/>
                <a:cs typeface="Lato"/>
              </a:rPr>
              <a:t>Jupyter needs a named kernel for each language</a:t>
            </a:r>
          </a:p>
        </p:txBody>
      </p:sp>
      <p:sp>
        <p:nvSpPr>
          <p:cNvPr id="3" name="">
            <a:extLst xmlns:a="http://schemas.openxmlformats.org/drawingml/2006/main">
              <a:ext uri="{FF2B5EF4-FFF2-40B4-BE49-F238E27FC236}">
                <a16:creationId xmlns:a16="http://schemas.microsoft.com/office/drawing/2014/main" id="{517265A9-4314-416A-9F7A-BABB7068EEA9}"/>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2CADD07-0517-4149-94A9-9C47D5D9091C}"/>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B40A8E7-4332-4CEE-B4D1-193FEA9A05BA}"/>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7A4BF05-CAF0-43C3-BCC8-C088BEED508F}"/>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750" b="1">
                <a:solidFill>
                  <a:srgbClr val="687984"/>
                </a:solidFill>
                <a:latin typeface="Lato"/>
                <a:ea typeface="Lato"/>
                <a:cs typeface="Lato"/>
              </a:defRPr>
            </a:pPr>
            <a:r>
              <a:rPr sz="750" b="1">
                <a:solidFill>
                  <a:srgbClr val="687984"/>
                </a:solidFill>
                <a:latin typeface="Lato"/>
                <a:ea typeface="Lato"/>
                <a:cs typeface="Lato"/>
              </a:rPr>
              <a:t>CAVA MODULE 3</a:t>
            </a:r>
          </a:p>
        </p:txBody>
      </p:sp>
      <p:sp>
        <p:nvSpPr>
          <p:cNvPr id="7" name="">
            <a:extLst xmlns:a="http://schemas.openxmlformats.org/drawingml/2006/main">
              <a:ext uri="{FF2B5EF4-FFF2-40B4-BE49-F238E27FC236}">
                <a16:creationId xmlns:a16="http://schemas.microsoft.com/office/drawing/2014/main" id="{97E05ED4-A397-4952-9EB3-01C4E31050D0}"/>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750" b="0">
                <a:solidFill>
                  <a:srgbClr val="687984"/>
                </a:solidFill>
                <a:latin typeface="Lato"/>
                <a:ea typeface="Lato"/>
                <a:cs typeface="Lato"/>
              </a:defRPr>
            </a:pPr>
            <a:r>
              <a:rPr sz="750" b="0">
                <a:solidFill>
                  <a:srgbClr val="687984"/>
                </a:solidFill>
                <a:latin typeface="Lato"/>
                <a:ea typeface="Lato"/>
                <a:cs typeface="Lato"/>
              </a:rPr>
              <a:t>07</a:t>
            </a:r>
          </a:p>
        </p:txBody>
      </p:sp>
      <p:sp>
        <p:nvSpPr>
          <p:cNvPr id="8" name="">
            <a:extLst xmlns:a="http://schemas.openxmlformats.org/drawingml/2006/main">
              <a:ext uri="{FF2B5EF4-FFF2-40B4-BE49-F238E27FC236}">
                <a16:creationId xmlns:a16="http://schemas.microsoft.com/office/drawing/2014/main" id="{AAF21BD8-AA07-405A-837A-1AA4BB1C2591}"/>
              </a:ext>
            </a:extLst>
          </p:cNvPr>
          <p:cNvSpPr>
            <a:spLocks xmlns:a="http://schemas.openxmlformats.org/drawingml/2006/main" noGrp="1"/>
          </p:cNvSpPr>
          <p:nvPr/>
        </p:nvSpPr>
        <p:spPr>
          <a:xfrm xmlns:a="http://schemas.openxmlformats.org/drawingml/2006/main">
            <a:off x="685800" y="192405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75" b="1">
                <a:solidFill>
                  <a:srgbClr val="12304E"/>
                </a:solidFill>
                <a:latin typeface="Lato"/>
                <a:ea typeface="Lato"/>
                <a:cs typeface="Lato"/>
              </a:defRPr>
            </a:pPr>
            <a:r>
              <a:rPr sz="1875" b="1">
                <a:solidFill>
                  <a:srgbClr val="12304E"/>
                </a:solidFill>
                <a:latin typeface="Lato"/>
                <a:ea typeface="Lato"/>
                <a:cs typeface="Lato"/>
              </a:rPr>
              <a:t>R kernel</a:t>
            </a:r>
          </a:p>
        </p:txBody>
      </p:sp>
      <p:sp>
        <p:nvSpPr>
          <p:cNvPr id="9" name="">
            <a:extLst xmlns:a="http://schemas.openxmlformats.org/drawingml/2006/main">
              <a:ext uri="{FF2B5EF4-FFF2-40B4-BE49-F238E27FC236}">
                <a16:creationId xmlns:a16="http://schemas.microsoft.com/office/drawing/2014/main" id="{2D65E013-152A-45CF-802C-9B62A12AEE25}"/>
              </a:ext>
            </a:extLst>
          </p:cNvPr>
          <p:cNvSpPr>
            <a:spLocks xmlns:a="http://schemas.openxmlformats.org/drawingml/2006/main" noGrp="1"/>
          </p:cNvSpPr>
          <p:nvPr/>
        </p:nvSpPr>
        <p:spPr>
          <a:xfrm xmlns:a="http://schemas.openxmlformats.org/drawingml/2006/main">
            <a:off x="685800" y="2400300"/>
            <a:ext cx="5029200" cy="1752600"/>
          </a:xfrm>
          <a:prstGeom xmlns:a="http://schemas.openxmlformats.org/drawingml/2006/main" prst="rect">
            <a:avLst/>
          </a:prstGeom>
          <a:solidFill xmlns:a="http://schemas.openxmlformats.org/drawingml/2006/main">
            <a:srgbClr val="12304E"/>
          </a:solidFill>
          <a:ln xmlns:a="http://schemas.openxmlformats.org/drawingml/2006/main" w="9525">
            <a:solidFill>
              <a:srgbClr val="183A59"/>
            </a:solidFill>
          </a:ln>
        </p:spPr>
      </p:sp>
      <p:sp>
        <p:nvSpPr>
          <p:cNvPr id="10" name="">
            <a:extLst xmlns:a="http://schemas.openxmlformats.org/drawingml/2006/main">
              <a:ext uri="{FF2B5EF4-FFF2-40B4-BE49-F238E27FC236}">
                <a16:creationId xmlns:a16="http://schemas.microsoft.com/office/drawing/2014/main" id="{29E1A701-CDD8-4BFB-863E-578AB0A11FEE}"/>
              </a:ext>
            </a:extLst>
          </p:cNvPr>
          <p:cNvSpPr>
            <a:spLocks xmlns:a="http://schemas.openxmlformats.org/drawingml/2006/main" noGrp="1"/>
          </p:cNvSpPr>
          <p:nvPr/>
        </p:nvSpPr>
        <p:spPr>
          <a:xfrm xmlns:a="http://schemas.openxmlformats.org/drawingml/2006/main">
            <a:off x="895350" y="2571750"/>
            <a:ext cx="46101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a:solidFill>
                  <a:srgbClr val="FFFFFF"/>
                </a:solidFill>
                <a:latin typeface="Lato"/>
                <a:ea typeface="Lato"/>
                <a:cs typeface="Lato"/>
              </a:defRPr>
            </a:pPr>
            <a:r>
              <a:rPr sz="1275" b="0">
                <a:solidFill>
                  <a:srgbClr val="FFFFFF"/>
                </a:solidFill>
                <a:latin typeface="Lato"/>
                <a:ea typeface="Lato"/>
                <a:cs typeface="Lato"/>
              </a:rPr>
              <a:t>R -q -e 'IRkernel::installspec(</a:t>
            </a:r>
          </a:p>
          <a:p xmlns:a="http://schemas.openxmlformats.org/drawingml/2006/main">
            <a:pPr algn="l">
              <a:lnSpc>
                <a:spcPct val="110000"/>
              </a:lnSpc>
              <a:buNone/>
              <a:defRPr sz="1275" b="0">
                <a:solidFill>
                  <a:srgbClr val="FFFFFF"/>
                </a:solidFill>
                <a:latin typeface="Lato"/>
                <a:ea typeface="Lato"/>
                <a:cs typeface="Lato"/>
              </a:defRPr>
            </a:pPr>
            <a:r>
              <a:rPr sz="1275" b="0">
                <a:solidFill>
                  <a:srgbClr val="FFFFFF"/>
                </a:solidFill>
                <a:latin typeface="Lato"/>
                <a:ea typeface="Lato"/>
                <a:cs typeface="Lato"/>
              </a:rPr>
              <a:t>  name="cava-r",</a:t>
            </a:r>
          </a:p>
          <a:p xmlns:a="http://schemas.openxmlformats.org/drawingml/2006/main">
            <a:pPr algn="l">
              <a:lnSpc>
                <a:spcPct val="110000"/>
              </a:lnSpc>
              <a:buNone/>
              <a:defRPr sz="1275" b="0">
                <a:solidFill>
                  <a:srgbClr val="FFFFFF"/>
                </a:solidFill>
                <a:latin typeface="Lato"/>
                <a:ea typeface="Lato"/>
                <a:cs typeface="Lato"/>
              </a:defRPr>
            </a:pPr>
            <a:r>
              <a:rPr sz="1275" b="0">
                <a:solidFill>
                  <a:srgbClr val="FFFFFF"/>
                </a:solidFill>
                <a:latin typeface="Lato"/>
                <a:ea typeface="Lato"/>
                <a:cs typeface="Lato"/>
              </a:rPr>
              <a:t>  displayname="R (CAVA)"</a:t>
            </a:r>
          </a:p>
          <a:p xmlns:a="http://schemas.openxmlformats.org/drawingml/2006/main">
            <a:pPr algn="l">
              <a:lnSpc>
                <a:spcPct val="110000"/>
              </a:lnSpc>
              <a:buNone/>
              <a:defRPr sz="1275" b="0">
                <a:solidFill>
                  <a:srgbClr val="FFFFFF"/>
                </a:solidFill>
                <a:latin typeface="Lato"/>
                <a:ea typeface="Lato"/>
                <a:cs typeface="Lato"/>
              </a:defRPr>
            </a:pPr>
            <a:r>
              <a:rPr sz="1275" b="0">
                <a:solidFill>
                  <a:srgbClr val="FFFFFF"/>
                </a:solidFill>
                <a:latin typeface="Lato"/>
                <a:ea typeface="Lato"/>
                <a:cs typeface="Lato"/>
              </a:rPr>
              <a:t>)'</a:t>
            </a:r>
          </a:p>
        </p:txBody>
      </p:sp>
      <p:sp>
        <p:nvSpPr>
          <p:cNvPr id="11" name="">
            <a:extLst xmlns:a="http://schemas.openxmlformats.org/drawingml/2006/main">
              <a:ext uri="{FF2B5EF4-FFF2-40B4-BE49-F238E27FC236}">
                <a16:creationId xmlns:a16="http://schemas.microsoft.com/office/drawing/2014/main" id="{87D51B34-60EC-4CBF-9B8F-837986E1C8AA}"/>
              </a:ext>
            </a:extLst>
          </p:cNvPr>
          <p:cNvSpPr>
            <a:spLocks xmlns:a="http://schemas.openxmlformats.org/drawingml/2006/main" noGrp="1"/>
          </p:cNvSpPr>
          <p:nvPr/>
        </p:nvSpPr>
        <p:spPr>
          <a:xfrm xmlns:a="http://schemas.openxmlformats.org/drawingml/2006/main">
            <a:off x="6477000" y="192405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75" b="1">
                <a:solidFill>
                  <a:srgbClr val="12304E"/>
                </a:solidFill>
                <a:latin typeface="Lato"/>
                <a:ea typeface="Lato"/>
                <a:cs typeface="Lato"/>
              </a:defRPr>
            </a:pPr>
            <a:r>
              <a:rPr sz="1875" b="1">
                <a:solidFill>
                  <a:srgbClr val="12304E"/>
                </a:solidFill>
                <a:latin typeface="Lato"/>
                <a:ea typeface="Lato"/>
                <a:cs typeface="Lato"/>
              </a:rPr>
              <a:t>Python kernel</a:t>
            </a:r>
          </a:p>
        </p:txBody>
      </p:sp>
      <p:sp>
        <p:nvSpPr>
          <p:cNvPr id="12" name="">
            <a:extLst xmlns:a="http://schemas.openxmlformats.org/drawingml/2006/main">
              <a:ext uri="{FF2B5EF4-FFF2-40B4-BE49-F238E27FC236}">
                <a16:creationId xmlns:a16="http://schemas.microsoft.com/office/drawing/2014/main" id="{EFC4866C-EC62-4FF4-B82F-A3D1A2505074}"/>
              </a:ext>
            </a:extLst>
          </p:cNvPr>
          <p:cNvSpPr>
            <a:spLocks xmlns:a="http://schemas.openxmlformats.org/drawingml/2006/main" noGrp="1"/>
          </p:cNvSpPr>
          <p:nvPr/>
        </p:nvSpPr>
        <p:spPr>
          <a:xfrm xmlns:a="http://schemas.openxmlformats.org/drawingml/2006/main">
            <a:off x="6477000" y="2400300"/>
            <a:ext cx="5029200" cy="1752600"/>
          </a:xfrm>
          <a:prstGeom xmlns:a="http://schemas.openxmlformats.org/drawingml/2006/main" prst="rect">
            <a:avLst/>
          </a:prstGeom>
          <a:solidFill xmlns:a="http://schemas.openxmlformats.org/drawingml/2006/main">
            <a:srgbClr val="183A59"/>
          </a:solidFill>
          <a:ln xmlns:a="http://schemas.openxmlformats.org/drawingml/2006/main" w="9525">
            <a:solidFill>
              <a:srgbClr val="183A59"/>
            </a:solidFill>
          </a:ln>
        </p:spPr>
      </p:sp>
      <p:sp>
        <p:nvSpPr>
          <p:cNvPr id="13" name="">
            <a:extLst xmlns:a="http://schemas.openxmlformats.org/drawingml/2006/main">
              <a:ext uri="{FF2B5EF4-FFF2-40B4-BE49-F238E27FC236}">
                <a16:creationId xmlns:a16="http://schemas.microsoft.com/office/drawing/2014/main" id="{43C13630-D9DE-493A-9759-73EE87E3EC38}"/>
              </a:ext>
            </a:extLst>
          </p:cNvPr>
          <p:cNvSpPr>
            <a:spLocks xmlns:a="http://schemas.openxmlformats.org/drawingml/2006/main" noGrp="1"/>
          </p:cNvSpPr>
          <p:nvPr/>
        </p:nvSpPr>
        <p:spPr>
          <a:xfrm xmlns:a="http://schemas.openxmlformats.org/drawingml/2006/main">
            <a:off x="6686550" y="2571750"/>
            <a:ext cx="46101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a:solidFill>
                  <a:srgbClr val="FFFFFF"/>
                </a:solidFill>
                <a:latin typeface="Lato"/>
                <a:ea typeface="Lato"/>
                <a:cs typeface="Lato"/>
              </a:defRPr>
            </a:pPr>
            <a:r>
              <a:rPr sz="1275" b="0">
                <a:solidFill>
                  <a:srgbClr val="FFFFFF"/>
                </a:solidFill>
                <a:latin typeface="Lato"/>
                <a:ea typeface="Lato"/>
                <a:cs typeface="Lato"/>
              </a:rPr>
              <a:t>python -m ipykernel install --user \</a:t>
            </a:r>
          </a:p>
          <a:p xmlns:a="http://schemas.openxmlformats.org/drawingml/2006/main">
            <a:pPr algn="l">
              <a:lnSpc>
                <a:spcPct val="110000"/>
              </a:lnSpc>
              <a:buNone/>
              <a:defRPr sz="1275" b="0">
                <a:solidFill>
                  <a:srgbClr val="FFFFFF"/>
                </a:solidFill>
                <a:latin typeface="Lato"/>
                <a:ea typeface="Lato"/>
                <a:cs typeface="Lato"/>
              </a:defRPr>
            </a:pPr>
            <a:r>
              <a:rPr sz="1275" b="0">
                <a:solidFill>
                  <a:srgbClr val="FFFFFF"/>
                </a:solidFill>
                <a:latin typeface="Lato"/>
                <a:ea typeface="Lato"/>
                <a:cs typeface="Lato"/>
              </a:rPr>
              <a:t>  --name cava-python \</a:t>
            </a:r>
          </a:p>
          <a:p xmlns:a="http://schemas.openxmlformats.org/drawingml/2006/main">
            <a:pPr algn="l">
              <a:lnSpc>
                <a:spcPct val="110000"/>
              </a:lnSpc>
              <a:buNone/>
              <a:defRPr sz="1275" b="0">
                <a:solidFill>
                  <a:srgbClr val="FFFFFF"/>
                </a:solidFill>
                <a:latin typeface="Lato"/>
                <a:ea typeface="Lato"/>
                <a:cs typeface="Lato"/>
              </a:defRPr>
            </a:pPr>
            <a:r>
              <a:rPr sz="1275" b="0">
                <a:solidFill>
                  <a:srgbClr val="FFFFFF"/>
                </a:solidFill>
                <a:latin typeface="Lato"/>
                <a:ea typeface="Lato"/>
                <a:cs typeface="Lato"/>
              </a:rPr>
              <a:t>  --display-name "Python (CAVA)"</a:t>
            </a:r>
          </a:p>
        </p:txBody>
      </p:sp>
      <p:sp>
        <p:nvSpPr>
          <p:cNvPr id="14" name="">
            <a:extLst xmlns:a="http://schemas.openxmlformats.org/drawingml/2006/main">
              <a:ext uri="{FF2B5EF4-FFF2-40B4-BE49-F238E27FC236}">
                <a16:creationId xmlns:a16="http://schemas.microsoft.com/office/drawing/2014/main" id="{0F32A51F-C300-468E-8811-2FBD3A396F7F}"/>
              </a:ext>
            </a:extLst>
          </p:cNvPr>
          <p:cNvSpPr>
            <a:spLocks xmlns:a="http://schemas.openxmlformats.org/drawingml/2006/main" noGrp="1"/>
          </p:cNvSpPr>
          <p:nvPr/>
        </p:nvSpPr>
        <p:spPr>
          <a:xfrm xmlns:a="http://schemas.openxmlformats.org/drawingml/2006/main">
            <a:off x="685800" y="461010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00" b="1">
                <a:solidFill>
                  <a:srgbClr val="12304E"/>
                </a:solidFill>
                <a:latin typeface="Lato"/>
                <a:ea typeface="Lato"/>
                <a:cs typeface="Lato"/>
              </a:defRPr>
            </a:pPr>
            <a:r>
              <a:rPr sz="1800" b="1">
                <a:solidFill>
                  <a:srgbClr val="12304E"/>
                </a:solidFill>
                <a:latin typeface="Lato"/>
                <a:ea typeface="Lato"/>
                <a:cs typeface="Lato"/>
              </a:rPr>
              <a:t>Open JupyterLab</a:t>
            </a:r>
          </a:p>
        </p:txBody>
      </p:sp>
      <p:sp>
        <p:nvSpPr>
          <p:cNvPr id="15" name="">
            <a:extLst xmlns:a="http://schemas.openxmlformats.org/drawingml/2006/main">
              <a:ext uri="{FF2B5EF4-FFF2-40B4-BE49-F238E27FC236}">
                <a16:creationId xmlns:a16="http://schemas.microsoft.com/office/drawing/2014/main" id="{038AC12C-71E2-4EB5-A35B-3C4BF36380E9}"/>
              </a:ext>
            </a:extLst>
          </p:cNvPr>
          <p:cNvSpPr>
            <a:spLocks xmlns:a="http://schemas.openxmlformats.org/drawingml/2006/main" noGrp="1"/>
          </p:cNvSpPr>
          <p:nvPr/>
        </p:nvSpPr>
        <p:spPr>
          <a:xfrm xmlns:a="http://schemas.openxmlformats.org/drawingml/2006/main">
            <a:off x="3095625" y="4514850"/>
            <a:ext cx="8410575" cy="762000"/>
          </a:xfrm>
          <a:prstGeom xmlns:a="http://schemas.openxmlformats.org/drawingml/2006/main" prst="rect">
            <a:avLst/>
          </a:prstGeom>
          <a:solidFill xmlns:a="http://schemas.openxmlformats.org/drawingml/2006/main">
            <a:srgbClr val="008D7A"/>
          </a:solidFill>
          <a:ln xmlns:a="http://schemas.openxmlformats.org/drawingml/2006/main" w="9525">
            <a:solidFill>
              <a:srgbClr val="008D7A"/>
            </a:solidFill>
          </a:ln>
        </p:spPr>
      </p:sp>
      <p:sp>
        <p:nvSpPr>
          <p:cNvPr id="16" name="">
            <a:extLst xmlns:a="http://schemas.openxmlformats.org/drawingml/2006/main">
              <a:ext uri="{FF2B5EF4-FFF2-40B4-BE49-F238E27FC236}">
                <a16:creationId xmlns:a16="http://schemas.microsoft.com/office/drawing/2014/main" id="{BB37632D-2E35-4C9E-9479-0DCA3BE7D20A}"/>
              </a:ext>
            </a:extLst>
          </p:cNvPr>
          <p:cNvSpPr>
            <a:spLocks xmlns:a="http://schemas.openxmlformats.org/drawingml/2006/main" noGrp="1"/>
          </p:cNvSpPr>
          <p:nvPr/>
        </p:nvSpPr>
        <p:spPr>
          <a:xfrm xmlns:a="http://schemas.openxmlformats.org/drawingml/2006/main">
            <a:off x="3305175" y="4686300"/>
            <a:ext cx="7991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650" b="0">
                <a:solidFill>
                  <a:srgbClr val="FFFFFF"/>
                </a:solidFill>
                <a:latin typeface="Lato"/>
                <a:ea typeface="Lato"/>
                <a:cs typeface="Lato"/>
              </a:defRPr>
            </a:pPr>
            <a:r>
              <a:rPr sz="1650" b="0">
                <a:solidFill>
                  <a:srgbClr val="FFFFFF"/>
                </a:solidFill>
                <a:latin typeface="Lato"/>
                <a:ea typeface="Lato"/>
                <a:cs typeface="Lato"/>
              </a:rPr>
              <a:t>jupyter lab</a:t>
            </a:r>
          </a:p>
        </p:txBody>
      </p:sp>
      <p:sp>
        <p:nvSpPr>
          <p:cNvPr id="17" name="">
            <a:extLst xmlns:a="http://schemas.openxmlformats.org/drawingml/2006/main">
              <a:ext uri="{FF2B5EF4-FFF2-40B4-BE49-F238E27FC236}">
                <a16:creationId xmlns:a16="http://schemas.microsoft.com/office/drawing/2014/main" id="{023246DC-9602-46E4-8528-69FFA76EB384}"/>
              </a:ext>
            </a:extLst>
          </p:cNvPr>
          <p:cNvSpPr>
            <a:spLocks xmlns:a="http://schemas.openxmlformats.org/drawingml/2006/main" noGrp="1"/>
          </p:cNvSpPr>
          <p:nvPr/>
        </p:nvSpPr>
        <p:spPr>
          <a:xfrm xmlns:a="http://schemas.openxmlformats.org/drawingml/2006/main">
            <a:off x="685800" y="55816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275" b="1">
                <a:solidFill>
                  <a:srgbClr val="008D7A"/>
                </a:solidFill>
                <a:latin typeface="Lato"/>
                <a:ea typeface="Lato"/>
                <a:cs typeface="Lato"/>
              </a:defRPr>
            </a:pPr>
            <a:r>
              <a:rPr sz="1275" b="1">
                <a:solidFill>
                  <a:srgbClr val="008D7A"/>
                </a:solidFill>
                <a:latin typeface="Lato"/>
                <a:ea typeface="Lato"/>
                <a:cs typeface="Lato"/>
              </a:rPr>
              <a:t>In the launcher, confirm that R (CAVA) and Python (CAVA) both appear.</a:t>
            </a:r>
          </a:p>
        </p:txBody>
      </p:sp>
    </p:spTree>
    <p:extLst>
      <p:ext uri="{BB962C8B-B14F-4D97-AF65-F5344CB8AC3E}">
        <p14:creationId xmlns:p14="http://schemas.microsoft.com/office/powerpoint/2010/main" val="873877127"/>
      </p:ext>
    </p:extLst>
  </p:cSld>
</p:sld>
</file>

<file path=ppt/slides/slide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B6E8A08-51D2-42A9-AFB1-E77EABB3B091}"/>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a:solidFill>
                  <a:srgbClr val="12304E"/>
                </a:solidFill>
                <a:latin typeface="Lato"/>
                <a:ea typeface="Lato"/>
                <a:cs typeface="Lato"/>
              </a:defRPr>
            </a:pPr>
            <a:r>
              <a:rPr sz="2325" b="1">
                <a:solidFill>
                  <a:srgbClr val="12304E"/>
                </a:solidFill>
                <a:latin typeface="Lato"/>
                <a:ea typeface="Lato"/>
                <a:cs typeface="Lato"/>
              </a:rPr>
              <a:t>Installation check</a:t>
            </a:r>
          </a:p>
        </p:txBody>
      </p:sp>
      <p:sp>
        <p:nvSpPr>
          <p:cNvPr id="2" name="">
            <a:extLst xmlns:a="http://schemas.openxmlformats.org/drawingml/2006/main">
              <a:ext uri="{FF2B5EF4-FFF2-40B4-BE49-F238E27FC236}">
                <a16:creationId xmlns:a16="http://schemas.microsoft.com/office/drawing/2014/main" id="{35DE8BDB-407D-4EEE-BCCD-0BE610C2E1BD}"/>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125" b="0">
                <a:solidFill>
                  <a:srgbClr val="687984"/>
                </a:solidFill>
                <a:latin typeface="Lato"/>
                <a:ea typeface="Lato"/>
                <a:cs typeface="Lato"/>
              </a:defRPr>
            </a:pPr>
            <a:r>
              <a:rPr sz="1125" b="0">
                <a:solidFill>
                  <a:srgbClr val="687984"/>
                </a:solidFill>
                <a:latin typeface="Lato"/>
                <a:ea typeface="Lato"/>
                <a:cs typeface="Lato"/>
              </a:rPr>
              <a:t>Run one check in each kernel before starting the exercises</a:t>
            </a:r>
          </a:p>
        </p:txBody>
      </p:sp>
      <p:sp>
        <p:nvSpPr>
          <p:cNvPr id="3" name="">
            <a:extLst xmlns:a="http://schemas.openxmlformats.org/drawingml/2006/main">
              <a:ext uri="{FF2B5EF4-FFF2-40B4-BE49-F238E27FC236}">
                <a16:creationId xmlns:a16="http://schemas.microsoft.com/office/drawing/2014/main" id="{95EDDEDA-13E4-4034-A4DA-3099233598D9}"/>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8C1EE62-21CD-44E8-9435-282AD911FC08}"/>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AD94C81-3B40-4B7D-A405-C15B111FB459}"/>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3D4532A-77BB-49BD-8702-F6C6DA861C30}"/>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750" b="1">
                <a:solidFill>
                  <a:srgbClr val="687984"/>
                </a:solidFill>
                <a:latin typeface="Lato"/>
                <a:ea typeface="Lato"/>
                <a:cs typeface="Lato"/>
              </a:defRPr>
            </a:pPr>
            <a:r>
              <a:rPr sz="750" b="1">
                <a:solidFill>
                  <a:srgbClr val="687984"/>
                </a:solidFill>
                <a:latin typeface="Lato"/>
                <a:ea typeface="Lato"/>
                <a:cs typeface="Lato"/>
              </a:rPr>
              <a:t>CAVA MODULE 3</a:t>
            </a:r>
          </a:p>
        </p:txBody>
      </p:sp>
      <p:sp>
        <p:nvSpPr>
          <p:cNvPr id="7" name="">
            <a:extLst xmlns:a="http://schemas.openxmlformats.org/drawingml/2006/main">
              <a:ext uri="{FF2B5EF4-FFF2-40B4-BE49-F238E27FC236}">
                <a16:creationId xmlns:a16="http://schemas.microsoft.com/office/drawing/2014/main" id="{273839E5-2FF3-49F2-88E4-5762B08655A0}"/>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750" b="0">
                <a:solidFill>
                  <a:srgbClr val="687984"/>
                </a:solidFill>
                <a:latin typeface="Lato"/>
                <a:ea typeface="Lato"/>
                <a:cs typeface="Lato"/>
              </a:defRPr>
            </a:pPr>
            <a:r>
              <a:rPr sz="750" b="0">
                <a:solidFill>
                  <a:srgbClr val="687984"/>
                </a:solidFill>
                <a:latin typeface="Lato"/>
                <a:ea typeface="Lato"/>
                <a:cs typeface="Lato"/>
              </a:rPr>
              <a:t>08</a:t>
            </a:r>
          </a:p>
        </p:txBody>
      </p:sp>
      <p:sp>
        <p:nvSpPr>
          <p:cNvPr id="8" name="">
            <a:extLst xmlns:a="http://schemas.openxmlformats.org/drawingml/2006/main">
              <a:ext uri="{FF2B5EF4-FFF2-40B4-BE49-F238E27FC236}">
                <a16:creationId xmlns:a16="http://schemas.microsoft.com/office/drawing/2014/main" id="{7DC6F01E-C1DC-4905-9440-23CCED8B00AA}"/>
              </a:ext>
            </a:extLst>
          </p:cNvPr>
          <p:cNvSpPr>
            <a:spLocks xmlns:a="http://schemas.openxmlformats.org/drawingml/2006/main" noGrp="1"/>
          </p:cNvSpPr>
          <p:nvPr/>
        </p:nvSpPr>
        <p:spPr>
          <a:xfrm xmlns:a="http://schemas.openxmlformats.org/drawingml/2006/main">
            <a:off x="685800" y="19240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00" b="1">
                <a:solidFill>
                  <a:srgbClr val="12304E"/>
                </a:solidFill>
                <a:latin typeface="Lato"/>
                <a:ea typeface="Lato"/>
                <a:cs typeface="Lato"/>
              </a:defRPr>
            </a:pPr>
            <a:r>
              <a:rPr sz="1800" b="1">
                <a:solidFill>
                  <a:srgbClr val="12304E"/>
                </a:solidFill>
                <a:latin typeface="Lato"/>
                <a:ea typeface="Lato"/>
                <a:cs typeface="Lato"/>
              </a:rPr>
              <a:t>R (CAVA)</a:t>
            </a:r>
          </a:p>
        </p:txBody>
      </p:sp>
      <p:sp>
        <p:nvSpPr>
          <p:cNvPr id="9" name="">
            <a:extLst xmlns:a="http://schemas.openxmlformats.org/drawingml/2006/main">
              <a:ext uri="{FF2B5EF4-FFF2-40B4-BE49-F238E27FC236}">
                <a16:creationId xmlns:a16="http://schemas.microsoft.com/office/drawing/2014/main" id="{3D0A8A41-0B3B-4D5A-92A9-4986133A6E49}"/>
              </a:ext>
            </a:extLst>
          </p:cNvPr>
          <p:cNvSpPr>
            <a:spLocks xmlns:a="http://schemas.openxmlformats.org/drawingml/2006/main" noGrp="1"/>
          </p:cNvSpPr>
          <p:nvPr/>
        </p:nvSpPr>
        <p:spPr>
          <a:xfrm xmlns:a="http://schemas.openxmlformats.org/drawingml/2006/main">
            <a:off x="685800" y="2390775"/>
            <a:ext cx="5029200" cy="1438275"/>
          </a:xfrm>
          <a:prstGeom xmlns:a="http://schemas.openxmlformats.org/drawingml/2006/main" prst="rect">
            <a:avLst/>
          </a:prstGeom>
          <a:solidFill xmlns:a="http://schemas.openxmlformats.org/drawingml/2006/main">
            <a:srgbClr val="12304E"/>
          </a:solidFill>
          <a:ln xmlns:a="http://schemas.openxmlformats.org/drawingml/2006/main" w="9525">
            <a:solidFill>
              <a:srgbClr val="183A59"/>
            </a:solidFill>
          </a:ln>
        </p:spPr>
      </p:sp>
      <p:sp>
        <p:nvSpPr>
          <p:cNvPr id="10" name="">
            <a:extLst xmlns:a="http://schemas.openxmlformats.org/drawingml/2006/main">
              <a:ext uri="{FF2B5EF4-FFF2-40B4-BE49-F238E27FC236}">
                <a16:creationId xmlns:a16="http://schemas.microsoft.com/office/drawing/2014/main" id="{4FC3E6A7-F068-4F94-B325-B59FD8278EB9}"/>
              </a:ext>
            </a:extLst>
          </p:cNvPr>
          <p:cNvSpPr>
            <a:spLocks xmlns:a="http://schemas.openxmlformats.org/drawingml/2006/main" noGrp="1"/>
          </p:cNvSpPr>
          <p:nvPr/>
        </p:nvSpPr>
        <p:spPr>
          <a:xfrm xmlns:a="http://schemas.openxmlformats.org/drawingml/2006/main">
            <a:off x="895350" y="2562225"/>
            <a:ext cx="46101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FFFFFF"/>
                </a:solidFill>
                <a:latin typeface="Lato"/>
                <a:ea typeface="Lato"/>
                <a:cs typeface="Lato"/>
              </a:defRPr>
            </a:pPr>
            <a:r>
              <a:rPr sz="1350" b="0">
                <a:solidFill>
                  <a:srgbClr val="FFFFFF"/>
                </a:solidFill>
                <a:latin typeface="Lato"/>
                <a:ea typeface="Lato"/>
                <a:cs typeface="Lato"/>
              </a:rPr>
              <a:t>library(CAVAanalytics)</a:t>
            </a:r>
          </a:p>
          <a:p xmlns:a="http://schemas.openxmlformats.org/drawingml/2006/main">
            <a:pPr algn="l">
              <a:lnSpc>
                <a:spcPct val="110000"/>
              </a:lnSpc>
              <a:buNone/>
              <a:defRPr sz="1350" b="0">
                <a:solidFill>
                  <a:srgbClr val="FFFFFF"/>
                </a:solidFill>
                <a:latin typeface="Lato"/>
                <a:ea typeface="Lato"/>
                <a:cs typeface="Lato"/>
              </a:defRPr>
            </a:pPr>
            <a:r>
              <a:rPr sz="1350" b="0">
                <a:solidFill>
                  <a:srgbClr val="FFFFFF"/>
                </a:solidFill>
                <a:latin typeface="Lato"/>
                <a:ea typeface="Lato"/>
                <a:cs typeface="Lato"/>
              </a:rPr>
              <a:t>library(rJava)</a:t>
            </a:r>
          </a:p>
          <a:p xmlns:a="http://schemas.openxmlformats.org/drawingml/2006/main">
            <a:pPr algn="l">
              <a:lnSpc>
                <a:spcPct val="110000"/>
              </a:lnSpc>
              <a:buNone/>
              <a:defRPr sz="1350" b="0">
                <a:solidFill>
                  <a:srgbClr val="FFFFFF"/>
                </a:solidFill>
                <a:latin typeface="Lato"/>
                <a:ea typeface="Lato"/>
                <a:cs typeface="Lato"/>
              </a:defRPr>
            </a:pPr>
            <a:r>
              <a:rPr sz="1350" b="0">
                <a:solidFill>
                  <a:srgbClr val="FFFFFF"/>
                </a:solidFill>
                <a:latin typeface="Lato"/>
                <a:ea typeface="Lato"/>
                <a:cs typeface="Lato"/>
              </a:rPr>
              <a:t>packageVersion("CAVAanalytics")</a:t>
            </a:r>
          </a:p>
        </p:txBody>
      </p:sp>
      <p:sp>
        <p:nvSpPr>
          <p:cNvPr id="11" name="">
            <a:extLst xmlns:a="http://schemas.openxmlformats.org/drawingml/2006/main">
              <a:ext uri="{FF2B5EF4-FFF2-40B4-BE49-F238E27FC236}">
                <a16:creationId xmlns:a16="http://schemas.microsoft.com/office/drawing/2014/main" id="{2D967DD1-0631-45D0-AC5F-B834D18F2941}"/>
              </a:ext>
            </a:extLst>
          </p:cNvPr>
          <p:cNvSpPr>
            <a:spLocks xmlns:a="http://schemas.openxmlformats.org/drawingml/2006/main" noGrp="1"/>
          </p:cNvSpPr>
          <p:nvPr/>
        </p:nvSpPr>
        <p:spPr>
          <a:xfrm xmlns:a="http://schemas.openxmlformats.org/drawingml/2006/main">
            <a:off x="6477000" y="19240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00" b="1">
                <a:solidFill>
                  <a:srgbClr val="12304E"/>
                </a:solidFill>
                <a:latin typeface="Lato"/>
                <a:ea typeface="Lato"/>
                <a:cs typeface="Lato"/>
              </a:defRPr>
            </a:pPr>
            <a:r>
              <a:rPr sz="1800" b="1">
                <a:solidFill>
                  <a:srgbClr val="12304E"/>
                </a:solidFill>
                <a:latin typeface="Lato"/>
                <a:ea typeface="Lato"/>
                <a:cs typeface="Lato"/>
              </a:rPr>
              <a:t>Python (CAVA)</a:t>
            </a:r>
          </a:p>
        </p:txBody>
      </p:sp>
      <p:sp>
        <p:nvSpPr>
          <p:cNvPr id="12" name="">
            <a:extLst xmlns:a="http://schemas.openxmlformats.org/drawingml/2006/main">
              <a:ext uri="{FF2B5EF4-FFF2-40B4-BE49-F238E27FC236}">
                <a16:creationId xmlns:a16="http://schemas.microsoft.com/office/drawing/2014/main" id="{5977FED6-996E-49BE-BC5A-FC970504FA09}"/>
              </a:ext>
            </a:extLst>
          </p:cNvPr>
          <p:cNvSpPr>
            <a:spLocks xmlns:a="http://schemas.openxmlformats.org/drawingml/2006/main" noGrp="1"/>
          </p:cNvSpPr>
          <p:nvPr/>
        </p:nvSpPr>
        <p:spPr>
          <a:xfrm xmlns:a="http://schemas.openxmlformats.org/drawingml/2006/main">
            <a:off x="6477000" y="2390775"/>
            <a:ext cx="5029200" cy="1438275"/>
          </a:xfrm>
          <a:prstGeom xmlns:a="http://schemas.openxmlformats.org/drawingml/2006/main" prst="rect">
            <a:avLst/>
          </a:prstGeom>
          <a:solidFill xmlns:a="http://schemas.openxmlformats.org/drawingml/2006/main">
            <a:srgbClr val="183A59"/>
          </a:solidFill>
          <a:ln xmlns:a="http://schemas.openxmlformats.org/drawingml/2006/main" w="9525">
            <a:solidFill>
              <a:srgbClr val="183A59"/>
            </a:solidFill>
          </a:ln>
        </p:spPr>
      </p:sp>
      <p:sp>
        <p:nvSpPr>
          <p:cNvPr id="13" name="">
            <a:extLst xmlns:a="http://schemas.openxmlformats.org/drawingml/2006/main">
              <a:ext uri="{FF2B5EF4-FFF2-40B4-BE49-F238E27FC236}">
                <a16:creationId xmlns:a16="http://schemas.microsoft.com/office/drawing/2014/main" id="{CD3AF150-B67F-45F3-BA08-9D56E388D1C8}"/>
              </a:ext>
            </a:extLst>
          </p:cNvPr>
          <p:cNvSpPr>
            <a:spLocks xmlns:a="http://schemas.openxmlformats.org/drawingml/2006/main" noGrp="1"/>
          </p:cNvSpPr>
          <p:nvPr/>
        </p:nvSpPr>
        <p:spPr>
          <a:xfrm xmlns:a="http://schemas.openxmlformats.org/drawingml/2006/main">
            <a:off x="6686550" y="2562225"/>
            <a:ext cx="46101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FFFFFF"/>
                </a:solidFill>
                <a:latin typeface="Lato"/>
                <a:ea typeface="Lato"/>
                <a:cs typeface="Lato"/>
              </a:defRPr>
            </a:pPr>
            <a:r>
              <a:rPr sz="1350" b="0">
                <a:solidFill>
                  <a:srgbClr val="FFFFFF"/>
                </a:solidFill>
                <a:latin typeface="Lato"/>
                <a:ea typeface="Lato"/>
                <a:cs typeface="Lato"/>
              </a:rPr>
              <a:t>import cavapy</a:t>
            </a:r>
          </a:p>
          <a:p xmlns:a="http://schemas.openxmlformats.org/drawingml/2006/main">
            <a:pPr algn="l">
              <a:lnSpc>
                <a:spcPct val="110000"/>
              </a:lnSpc>
              <a:buNone/>
              <a:defRPr sz="1350" b="0">
                <a:solidFill>
                  <a:srgbClr val="FFFFFF"/>
                </a:solidFill>
                <a:latin typeface="Lato"/>
                <a:ea typeface="Lato"/>
                <a:cs typeface="Lato"/>
              </a:defRPr>
            </a:pPr>
            <a:r>
              <a:rPr sz="1350" b="0">
                <a:solidFill>
                  <a:srgbClr val="FFFFFF"/>
                </a:solidFill>
                <a:latin typeface="Lato"/>
                <a:ea typeface="Lato"/>
                <a:cs typeface="Lato"/>
              </a:rPr>
              <a:t>print(cavapy.__version__)</a:t>
            </a:r>
          </a:p>
        </p:txBody>
      </p:sp>
      <p:sp>
        <p:nvSpPr>
          <p:cNvPr id="14" name="">
            <a:extLst xmlns:a="http://schemas.openxmlformats.org/drawingml/2006/main">
              <a:ext uri="{FF2B5EF4-FFF2-40B4-BE49-F238E27FC236}">
                <a16:creationId xmlns:a16="http://schemas.microsoft.com/office/drawing/2014/main" id="{4961044E-1C89-4611-8268-1D8D207071E2}"/>
              </a:ext>
            </a:extLst>
          </p:cNvPr>
          <p:cNvSpPr>
            <a:spLocks xmlns:a="http://schemas.openxmlformats.org/drawingml/2006/main" noGrp="1"/>
          </p:cNvSpPr>
          <p:nvPr/>
        </p:nvSpPr>
        <p:spPr>
          <a:xfrm xmlns:a="http://schemas.openxmlformats.org/drawingml/2006/main">
            <a:off x="685800" y="429577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a:solidFill>
                  <a:srgbClr val="00A88F"/>
                </a:solidFill>
                <a:latin typeface="Lato"/>
                <a:ea typeface="Lato"/>
                <a:cs typeface="Lato"/>
              </a:defRPr>
            </a:pPr>
            <a:r>
              <a:rPr sz="1350" b="1">
                <a:solidFill>
                  <a:srgbClr val="00A88F"/>
                </a:solidFill>
                <a:latin typeface="Lato"/>
                <a:ea typeface="Lato"/>
                <a:cs typeface="Lato"/>
              </a:rPr>
              <a:t>01</a:t>
            </a:r>
          </a:p>
        </p:txBody>
      </p:sp>
      <p:sp>
        <p:nvSpPr>
          <p:cNvPr id="15" name="">
            <a:extLst xmlns:a="http://schemas.openxmlformats.org/drawingml/2006/main">
              <a:ext uri="{FF2B5EF4-FFF2-40B4-BE49-F238E27FC236}">
                <a16:creationId xmlns:a16="http://schemas.microsoft.com/office/drawing/2014/main" id="{37B5C5F5-1AA1-4EDC-AC43-7EFAD824A0B2}"/>
              </a:ext>
            </a:extLst>
          </p:cNvPr>
          <p:cNvSpPr>
            <a:spLocks xmlns:a="http://schemas.openxmlformats.org/drawingml/2006/main" noGrp="1"/>
          </p:cNvSpPr>
          <p:nvPr/>
        </p:nvSpPr>
        <p:spPr>
          <a:xfrm xmlns:a="http://schemas.openxmlformats.org/drawingml/2006/main">
            <a:off x="1428750" y="4248150"/>
            <a:ext cx="3857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a:solidFill>
                  <a:srgbClr val="12304E"/>
                </a:solidFill>
                <a:latin typeface="Lato"/>
                <a:ea typeface="Lato"/>
                <a:cs typeface="Lato"/>
              </a:defRPr>
            </a:pPr>
            <a:r>
              <a:rPr sz="1725" b="1">
                <a:solidFill>
                  <a:srgbClr val="12304E"/>
                </a:solidFill>
                <a:latin typeface="Lato"/>
                <a:ea typeface="Lato"/>
                <a:cs typeface="Lato"/>
              </a:rPr>
              <a:t>Kernel missing</a:t>
            </a:r>
          </a:p>
        </p:txBody>
      </p:sp>
      <p:sp>
        <p:nvSpPr>
          <p:cNvPr id="16" name="">
            <a:extLst xmlns:a="http://schemas.openxmlformats.org/drawingml/2006/main">
              <a:ext uri="{FF2B5EF4-FFF2-40B4-BE49-F238E27FC236}">
                <a16:creationId xmlns:a16="http://schemas.microsoft.com/office/drawing/2014/main" id="{5D6DA7D9-BDAC-4E49-A1A6-7D5D786CEDE0}"/>
              </a:ext>
            </a:extLst>
          </p:cNvPr>
          <p:cNvSpPr>
            <a:spLocks xmlns:a="http://schemas.openxmlformats.org/drawingml/2006/main" noGrp="1"/>
          </p:cNvSpPr>
          <p:nvPr/>
        </p:nvSpPr>
        <p:spPr>
          <a:xfrm xmlns:a="http://schemas.openxmlformats.org/drawingml/2006/main">
            <a:off x="5619750" y="4276725"/>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0">
                <a:solidFill>
                  <a:srgbClr val="687984"/>
                </a:solidFill>
                <a:latin typeface="Lato"/>
                <a:ea typeface="Lato"/>
                <a:cs typeface="Lato"/>
              </a:defRPr>
            </a:pPr>
            <a:r>
              <a:rPr sz="1275" b="0">
                <a:solidFill>
                  <a:srgbClr val="687984"/>
                </a:solidFill>
                <a:latin typeface="Lato"/>
                <a:ea typeface="Lato"/>
                <a:cs typeface="Lato"/>
              </a:rPr>
              <a:t>Restart JupyterLab from the activated environment</a:t>
            </a:r>
          </a:p>
        </p:txBody>
      </p:sp>
      <p:sp>
        <p:nvSpPr>
          <p:cNvPr id="17" name="">
            <a:extLst xmlns:a="http://schemas.openxmlformats.org/drawingml/2006/main">
              <a:ext uri="{FF2B5EF4-FFF2-40B4-BE49-F238E27FC236}">
                <a16:creationId xmlns:a16="http://schemas.microsoft.com/office/drawing/2014/main" id="{1798E4C7-44EB-437E-BEF8-D393225906DF}"/>
              </a:ext>
            </a:extLst>
          </p:cNvPr>
          <p:cNvSpPr>
            <a:spLocks xmlns:a="http://schemas.openxmlformats.org/drawingml/2006/main" noGrp="1"/>
          </p:cNvSpPr>
          <p:nvPr/>
        </p:nvSpPr>
        <p:spPr>
          <a:xfrm xmlns:a="http://schemas.openxmlformats.org/drawingml/2006/main">
            <a:off x="666750" y="4829175"/>
            <a:ext cx="108394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06021F9-C9CE-4EA1-96F4-2E0BD3FD116E}"/>
              </a:ext>
            </a:extLst>
          </p:cNvPr>
          <p:cNvSpPr>
            <a:spLocks xmlns:a="http://schemas.openxmlformats.org/drawingml/2006/main" noGrp="1"/>
          </p:cNvSpPr>
          <p:nvPr/>
        </p:nvSpPr>
        <p:spPr>
          <a:xfrm xmlns:a="http://schemas.openxmlformats.org/drawingml/2006/main">
            <a:off x="685800" y="486727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a:solidFill>
                  <a:srgbClr val="F2B632"/>
                </a:solidFill>
                <a:latin typeface="Lato"/>
                <a:ea typeface="Lato"/>
                <a:cs typeface="Lato"/>
              </a:defRPr>
            </a:pPr>
            <a:r>
              <a:rPr sz="1350" b="1">
                <a:solidFill>
                  <a:srgbClr val="F2B632"/>
                </a:solidFill>
                <a:latin typeface="Lato"/>
                <a:ea typeface="Lato"/>
                <a:cs typeface="Lato"/>
              </a:rPr>
              <a:t>02</a:t>
            </a:r>
          </a:p>
        </p:txBody>
      </p:sp>
      <p:sp>
        <p:nvSpPr>
          <p:cNvPr id="19" name="">
            <a:extLst xmlns:a="http://schemas.openxmlformats.org/drawingml/2006/main">
              <a:ext uri="{FF2B5EF4-FFF2-40B4-BE49-F238E27FC236}">
                <a16:creationId xmlns:a16="http://schemas.microsoft.com/office/drawing/2014/main" id="{38534AEE-8223-4FEC-8D37-C59617CB51E9}"/>
              </a:ext>
            </a:extLst>
          </p:cNvPr>
          <p:cNvSpPr>
            <a:spLocks xmlns:a="http://schemas.openxmlformats.org/drawingml/2006/main" noGrp="1"/>
          </p:cNvSpPr>
          <p:nvPr/>
        </p:nvSpPr>
        <p:spPr>
          <a:xfrm xmlns:a="http://schemas.openxmlformats.org/drawingml/2006/main">
            <a:off x="1428750" y="4819650"/>
            <a:ext cx="3857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a:solidFill>
                  <a:srgbClr val="12304E"/>
                </a:solidFill>
                <a:latin typeface="Lato"/>
                <a:ea typeface="Lato"/>
                <a:cs typeface="Lato"/>
              </a:defRPr>
            </a:pPr>
            <a:r>
              <a:rPr sz="1725" b="1">
                <a:solidFill>
                  <a:srgbClr val="12304E"/>
                </a:solidFill>
                <a:latin typeface="Lato"/>
                <a:ea typeface="Lato"/>
                <a:cs typeface="Lato"/>
              </a:rPr>
              <a:t>rJava fails</a:t>
            </a:r>
          </a:p>
        </p:txBody>
      </p:sp>
      <p:sp>
        <p:nvSpPr>
          <p:cNvPr id="20" name="">
            <a:extLst xmlns:a="http://schemas.openxmlformats.org/drawingml/2006/main">
              <a:ext uri="{FF2B5EF4-FFF2-40B4-BE49-F238E27FC236}">
                <a16:creationId xmlns:a16="http://schemas.microsoft.com/office/drawing/2014/main" id="{F0CECF85-D68A-467C-83CF-1A55BB859CA0}"/>
              </a:ext>
            </a:extLst>
          </p:cNvPr>
          <p:cNvSpPr>
            <a:spLocks xmlns:a="http://schemas.openxmlformats.org/drawingml/2006/main" noGrp="1"/>
          </p:cNvSpPr>
          <p:nvPr/>
        </p:nvSpPr>
        <p:spPr>
          <a:xfrm xmlns:a="http://schemas.openxmlformats.org/drawingml/2006/main">
            <a:off x="5619750" y="4848225"/>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0">
                <a:solidFill>
                  <a:srgbClr val="687984"/>
                </a:solidFill>
                <a:latin typeface="Lato"/>
                <a:ea typeface="Lato"/>
                <a:cs typeface="Lato"/>
              </a:defRPr>
            </a:pPr>
            <a:r>
              <a:rPr sz="1275" b="0">
                <a:solidFill>
                  <a:srgbClr val="687984"/>
                </a:solidFill>
                <a:latin typeface="Lato"/>
                <a:ea typeface="Lato"/>
                <a:cs typeface="Lato"/>
              </a:rPr>
              <a:t>Confirm that r-rjava came from conda-forge</a:t>
            </a:r>
          </a:p>
        </p:txBody>
      </p:sp>
      <p:sp>
        <p:nvSpPr>
          <p:cNvPr id="21" name="">
            <a:extLst xmlns:a="http://schemas.openxmlformats.org/drawingml/2006/main">
              <a:ext uri="{FF2B5EF4-FFF2-40B4-BE49-F238E27FC236}">
                <a16:creationId xmlns:a16="http://schemas.microsoft.com/office/drawing/2014/main" id="{BE960497-CC6E-43C6-B41D-6D24AF2B026D}"/>
              </a:ext>
            </a:extLst>
          </p:cNvPr>
          <p:cNvSpPr>
            <a:spLocks xmlns:a="http://schemas.openxmlformats.org/drawingml/2006/main" noGrp="1"/>
          </p:cNvSpPr>
          <p:nvPr/>
        </p:nvSpPr>
        <p:spPr>
          <a:xfrm xmlns:a="http://schemas.openxmlformats.org/drawingml/2006/main">
            <a:off x="666750" y="5400675"/>
            <a:ext cx="108394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B65F982-F6BA-4C2A-ABC2-96CB578EE69B}"/>
              </a:ext>
            </a:extLst>
          </p:cNvPr>
          <p:cNvSpPr>
            <a:spLocks xmlns:a="http://schemas.openxmlformats.org/drawingml/2006/main" noGrp="1"/>
          </p:cNvSpPr>
          <p:nvPr/>
        </p:nvSpPr>
        <p:spPr>
          <a:xfrm xmlns:a="http://schemas.openxmlformats.org/drawingml/2006/main">
            <a:off x="685800" y="5438775"/>
            <a:ext cx="55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a:solidFill>
                  <a:srgbClr val="00A88F"/>
                </a:solidFill>
                <a:latin typeface="Lato"/>
                <a:ea typeface="Lato"/>
                <a:cs typeface="Lato"/>
              </a:defRPr>
            </a:pPr>
            <a:r>
              <a:rPr sz="1350" b="1">
                <a:solidFill>
                  <a:srgbClr val="00A88F"/>
                </a:solidFill>
                <a:latin typeface="Lato"/>
                <a:ea typeface="Lato"/>
                <a:cs typeface="Lato"/>
              </a:rPr>
              <a:t>03</a:t>
            </a:r>
          </a:p>
        </p:txBody>
      </p:sp>
      <p:sp>
        <p:nvSpPr>
          <p:cNvPr id="23" name="">
            <a:extLst xmlns:a="http://schemas.openxmlformats.org/drawingml/2006/main">
              <a:ext uri="{FF2B5EF4-FFF2-40B4-BE49-F238E27FC236}">
                <a16:creationId xmlns:a16="http://schemas.microsoft.com/office/drawing/2014/main" id="{3A2AADCB-BD15-4FF3-A61D-6A4021B0D62E}"/>
              </a:ext>
            </a:extLst>
          </p:cNvPr>
          <p:cNvSpPr>
            <a:spLocks xmlns:a="http://schemas.openxmlformats.org/drawingml/2006/main" noGrp="1"/>
          </p:cNvSpPr>
          <p:nvPr/>
        </p:nvSpPr>
        <p:spPr>
          <a:xfrm xmlns:a="http://schemas.openxmlformats.org/drawingml/2006/main">
            <a:off x="1428750" y="5391150"/>
            <a:ext cx="3857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a:solidFill>
                  <a:srgbClr val="12304E"/>
                </a:solidFill>
                <a:latin typeface="Lato"/>
                <a:ea typeface="Lato"/>
                <a:cs typeface="Lato"/>
              </a:defRPr>
            </a:pPr>
            <a:r>
              <a:rPr sz="1725" b="1">
                <a:solidFill>
                  <a:srgbClr val="12304E"/>
                </a:solidFill>
                <a:latin typeface="Lato"/>
                <a:ea typeface="Lato"/>
                <a:cs typeface="Lato"/>
              </a:rPr>
              <a:t>Remote data fails</a:t>
            </a:r>
          </a:p>
        </p:txBody>
      </p:sp>
      <p:sp>
        <p:nvSpPr>
          <p:cNvPr id="24" name="">
            <a:extLst xmlns:a="http://schemas.openxmlformats.org/drawingml/2006/main">
              <a:ext uri="{FF2B5EF4-FFF2-40B4-BE49-F238E27FC236}">
                <a16:creationId xmlns:a16="http://schemas.microsoft.com/office/drawing/2014/main" id="{0103903C-6E06-4F88-83C1-B2B8A0306A0E}"/>
              </a:ext>
            </a:extLst>
          </p:cNvPr>
          <p:cNvSpPr>
            <a:spLocks xmlns:a="http://schemas.openxmlformats.org/drawingml/2006/main" noGrp="1"/>
          </p:cNvSpPr>
          <p:nvPr/>
        </p:nvSpPr>
        <p:spPr>
          <a:xfrm xmlns:a="http://schemas.openxmlformats.org/drawingml/2006/main">
            <a:off x="5619750" y="5419725"/>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0">
                <a:solidFill>
                  <a:srgbClr val="687984"/>
                </a:solidFill>
                <a:latin typeface="Lato"/>
                <a:ea typeface="Lato"/>
                <a:cs typeface="Lato"/>
              </a:defRPr>
            </a:pPr>
            <a:r>
              <a:rPr sz="1275" b="0">
                <a:solidFill>
                  <a:srgbClr val="687984"/>
                </a:solidFill>
                <a:latin typeface="Lato"/>
                <a:ea typeface="Lato"/>
                <a:cs typeface="Lato"/>
              </a:rPr>
              <a:t>Check internet access and the package issue page</a:t>
            </a:r>
          </a:p>
        </p:txBody>
      </p:sp>
      <p:sp>
        <p:nvSpPr>
          <p:cNvPr id="25" name="">
            <a:extLst xmlns:a="http://schemas.openxmlformats.org/drawingml/2006/main">
              <a:ext uri="{FF2B5EF4-FFF2-40B4-BE49-F238E27FC236}">
                <a16:creationId xmlns:a16="http://schemas.microsoft.com/office/drawing/2014/main" id="{472469F6-2449-4EFC-BA78-100D9AFFD6D6}"/>
              </a:ext>
            </a:extLst>
          </p:cNvPr>
          <p:cNvSpPr>
            <a:spLocks xmlns:a="http://schemas.openxmlformats.org/drawingml/2006/main" noGrp="1"/>
          </p:cNvSpPr>
          <p:nvPr/>
        </p:nvSpPr>
        <p:spPr>
          <a:xfrm xmlns:a="http://schemas.openxmlformats.org/drawingml/2006/main">
            <a:off x="666750" y="5972175"/>
            <a:ext cx="108394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Tree>
    <p:extLst>
      <p:ext uri="{BB962C8B-B14F-4D97-AF65-F5344CB8AC3E}">
        <p14:creationId xmlns:p14="http://schemas.microsoft.com/office/powerpoint/2010/main" val="613987057"/>
      </p:ext>
    </p:extLst>
  </p:cSld>
</p:sld>
</file>

<file path=ppt/slides/slide9.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DBFCF2E-E8AE-43A3-AEF6-42373A7F7948}"/>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EAF3D0-1064-4F7D-A87F-DC0B70D73F69}"/>
              </a:ext>
            </a:extLst>
          </p:cNvPr>
          <p:cNvSpPr>
            <a:spLocks xmlns:a="http://schemas.openxmlformats.org/drawingml/2006/main" noGrp="1"/>
          </p:cNvSpPr>
          <p:nvPr/>
        </p:nvSpPr>
        <p:spPr>
          <a:xfrm xmlns:a="http://schemas.openxmlformats.org/drawingml/2006/main">
            <a:off x="733425" y="647700"/>
            <a:ext cx="1028700" cy="38100"/>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0436CC9-7DD5-474B-9C00-1887D7C31993}"/>
              </a:ext>
            </a:extLst>
          </p:cNvPr>
          <p:cNvSpPr>
            <a:spLocks xmlns:a="http://schemas.openxmlformats.org/drawingml/2006/main" noGrp="1"/>
          </p:cNvSpPr>
          <p:nvPr/>
        </p:nvSpPr>
        <p:spPr>
          <a:xfrm xmlns:a="http://schemas.openxmlformats.org/drawingml/2006/main">
            <a:off x="733425" y="10287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78D8C8"/>
                </a:solidFill>
                <a:latin typeface="Lato"/>
                <a:ea typeface="Lato"/>
                <a:cs typeface="Lato"/>
              </a:defRPr>
            </a:pPr>
            <a:r>
              <a:rPr sz="975" b="1">
                <a:solidFill>
                  <a:srgbClr val="78D8C8"/>
                </a:solidFill>
                <a:latin typeface="Lato"/>
                <a:ea typeface="Lato"/>
                <a:cs typeface="Lato"/>
              </a:rPr>
              <a:t>NEXT</a:t>
            </a:r>
          </a:p>
        </p:txBody>
      </p:sp>
      <p:sp>
        <p:nvSpPr>
          <p:cNvPr id="4" name="">
            <a:extLst xmlns:a="http://schemas.openxmlformats.org/drawingml/2006/main">
              <a:ext uri="{FF2B5EF4-FFF2-40B4-BE49-F238E27FC236}">
                <a16:creationId xmlns:a16="http://schemas.microsoft.com/office/drawing/2014/main" id="{21798080-607B-443F-B6F6-A3DAE3FEB8C1}"/>
              </a:ext>
            </a:extLst>
          </p:cNvPr>
          <p:cNvSpPr>
            <a:spLocks xmlns:a="http://schemas.openxmlformats.org/drawingml/2006/main" noGrp="1"/>
          </p:cNvSpPr>
          <p:nvPr/>
        </p:nvSpPr>
        <p:spPr>
          <a:xfrm xmlns:a="http://schemas.openxmlformats.org/drawingml/2006/main">
            <a:off x="733425" y="1600200"/>
            <a:ext cx="73342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675" b="1">
                <a:solidFill>
                  <a:srgbClr val="FFFFFF"/>
                </a:solidFill>
                <a:latin typeface="Lato"/>
                <a:ea typeface="Lato"/>
                <a:cs typeface="Lato"/>
              </a:defRPr>
            </a:pPr>
            <a:r>
              <a:rPr sz="3675" b="1">
                <a:solidFill>
                  <a:srgbClr val="FFFFFF"/>
                </a:solidFill>
                <a:latin typeface="Lato"/>
                <a:ea typeface="Lato"/>
                <a:cs typeface="Lato"/>
              </a:rPr>
              <a:t>CAVAanalytics</a:t>
            </a:r>
          </a:p>
          <a:p xmlns:a="http://schemas.openxmlformats.org/drawingml/2006/main">
            <a:pPr algn="l">
              <a:lnSpc>
                <a:spcPct val="95000"/>
              </a:lnSpc>
              <a:buNone/>
              <a:defRPr sz="3675" b="1">
                <a:solidFill>
                  <a:srgbClr val="FFFFFF"/>
                </a:solidFill>
                <a:latin typeface="Lato"/>
                <a:ea typeface="Lato"/>
                <a:cs typeface="Lato"/>
              </a:defRPr>
            </a:pPr>
            <a:r>
              <a:rPr sz="3675" b="1">
                <a:solidFill>
                  <a:srgbClr val="FFFFFF"/>
                </a:solidFill>
                <a:latin typeface="Lato"/>
                <a:ea typeface="Lato"/>
                <a:cs typeface="Lato"/>
              </a:rPr>
              <a:t>notebook workflow</a:t>
            </a:r>
          </a:p>
        </p:txBody>
      </p:sp>
      <p:sp>
        <p:nvSpPr>
          <p:cNvPr id="5" name="">
            <a:extLst xmlns:a="http://schemas.openxmlformats.org/drawingml/2006/main">
              <a:ext uri="{FF2B5EF4-FFF2-40B4-BE49-F238E27FC236}">
                <a16:creationId xmlns:a16="http://schemas.microsoft.com/office/drawing/2014/main" id="{FB7B38F2-09BA-43BD-9EFA-75028691ABB5}"/>
              </a:ext>
            </a:extLst>
          </p:cNvPr>
          <p:cNvSpPr>
            <a:spLocks xmlns:a="http://schemas.openxmlformats.org/drawingml/2006/main" noGrp="1"/>
          </p:cNvSpPr>
          <p:nvPr/>
        </p:nvSpPr>
        <p:spPr>
          <a:xfrm xmlns:a="http://schemas.openxmlformats.org/drawingml/2006/main">
            <a:off x="781050" y="34004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78D8C8"/>
                </a:solidFill>
                <a:latin typeface="Lato"/>
                <a:ea typeface="Lato"/>
                <a:cs typeface="Lato"/>
              </a:defRPr>
            </a:pPr>
            <a:r>
              <a:rPr sz="975" b="1">
                <a:solidFill>
                  <a:srgbClr val="78D8C8"/>
                </a:solidFill>
                <a:latin typeface="Lato"/>
                <a:ea typeface="Lato"/>
                <a:cs typeface="Lato"/>
              </a:rPr>
              <a:t>01</a:t>
            </a:r>
          </a:p>
        </p:txBody>
      </p:sp>
      <p:sp>
        <p:nvSpPr>
          <p:cNvPr id="6" name="">
            <a:extLst xmlns:a="http://schemas.openxmlformats.org/drawingml/2006/main">
              <a:ext uri="{FF2B5EF4-FFF2-40B4-BE49-F238E27FC236}">
                <a16:creationId xmlns:a16="http://schemas.microsoft.com/office/drawing/2014/main" id="{7AA340E2-FA7F-4382-A60A-9EBCEDAFE856}"/>
              </a:ext>
            </a:extLst>
          </p:cNvPr>
          <p:cNvSpPr>
            <a:spLocks xmlns:a="http://schemas.openxmlformats.org/drawingml/2006/main" noGrp="1"/>
          </p:cNvSpPr>
          <p:nvPr/>
        </p:nvSpPr>
        <p:spPr>
          <a:xfrm xmlns:a="http://schemas.openxmlformats.org/drawingml/2006/main">
            <a:off x="1400175" y="3352800"/>
            <a:ext cx="933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FFFFFF"/>
                </a:solidFill>
                <a:latin typeface="Lato"/>
                <a:ea typeface="Lato"/>
                <a:cs typeface="Lato"/>
              </a:defRPr>
            </a:pPr>
            <a:r>
              <a:rPr sz="1650" b="1">
                <a:solidFill>
                  <a:srgbClr val="FFFFFF"/>
                </a:solidFill>
                <a:latin typeface="Lato"/>
                <a:ea typeface="Lato"/>
                <a:cs typeface="Lato"/>
              </a:rPr>
              <a:t>Load and inspect a country-scale multi-model dataset</a:t>
            </a:r>
          </a:p>
        </p:txBody>
      </p:sp>
      <p:sp>
        <p:nvSpPr>
          <p:cNvPr id="7" name="">
            <a:extLst xmlns:a="http://schemas.openxmlformats.org/drawingml/2006/main">
              <a:ext uri="{FF2B5EF4-FFF2-40B4-BE49-F238E27FC236}">
                <a16:creationId xmlns:a16="http://schemas.microsoft.com/office/drawing/2014/main" id="{F46037A0-0CDD-49A4-A7B1-E732DF03278E}"/>
              </a:ext>
            </a:extLst>
          </p:cNvPr>
          <p:cNvSpPr>
            <a:spLocks xmlns:a="http://schemas.openxmlformats.org/drawingml/2006/main" noGrp="1"/>
          </p:cNvSpPr>
          <p:nvPr/>
        </p:nvSpPr>
        <p:spPr>
          <a:xfrm xmlns:a="http://schemas.openxmlformats.org/drawingml/2006/main">
            <a:off x="781050" y="39814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78D8C8"/>
                </a:solidFill>
                <a:latin typeface="Lato"/>
                <a:ea typeface="Lato"/>
                <a:cs typeface="Lato"/>
              </a:defRPr>
            </a:pPr>
            <a:r>
              <a:rPr sz="975" b="1">
                <a:solidFill>
                  <a:srgbClr val="78D8C8"/>
                </a:solidFill>
                <a:latin typeface="Lato"/>
                <a:ea typeface="Lato"/>
                <a:cs typeface="Lato"/>
              </a:rPr>
              <a:t>02</a:t>
            </a:r>
          </a:p>
        </p:txBody>
      </p:sp>
      <p:sp>
        <p:nvSpPr>
          <p:cNvPr id="8" name="">
            <a:extLst xmlns:a="http://schemas.openxmlformats.org/drawingml/2006/main">
              <a:ext uri="{FF2B5EF4-FFF2-40B4-BE49-F238E27FC236}">
                <a16:creationId xmlns:a16="http://schemas.microsoft.com/office/drawing/2014/main" id="{F7B79BA0-8210-4236-BECC-6D61271B708B}"/>
              </a:ext>
            </a:extLst>
          </p:cNvPr>
          <p:cNvSpPr>
            <a:spLocks xmlns:a="http://schemas.openxmlformats.org/drawingml/2006/main" noGrp="1"/>
          </p:cNvSpPr>
          <p:nvPr/>
        </p:nvSpPr>
        <p:spPr>
          <a:xfrm xmlns:a="http://schemas.openxmlformats.org/drawingml/2006/main">
            <a:off x="1400175" y="3933825"/>
            <a:ext cx="933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FFFFFF"/>
                </a:solidFill>
                <a:latin typeface="Lato"/>
                <a:ea typeface="Lato"/>
                <a:cs typeface="Lato"/>
              </a:defRPr>
            </a:pPr>
            <a:r>
              <a:rPr sz="1650" b="1">
                <a:solidFill>
                  <a:srgbClr val="FFFFFF"/>
                </a:solidFill>
                <a:latin typeface="Lato"/>
                <a:ea typeface="Lato"/>
                <a:cs typeface="Lato"/>
              </a:rPr>
              <a:t>Analyse observations, biases and future projections</a:t>
            </a:r>
          </a:p>
        </p:txBody>
      </p:sp>
      <p:sp>
        <p:nvSpPr>
          <p:cNvPr id="9" name="">
            <a:extLst xmlns:a="http://schemas.openxmlformats.org/drawingml/2006/main">
              <a:ext uri="{FF2B5EF4-FFF2-40B4-BE49-F238E27FC236}">
                <a16:creationId xmlns:a16="http://schemas.microsoft.com/office/drawing/2014/main" id="{76FCC79B-2996-46F1-A9B9-DE23BB8292C3}"/>
              </a:ext>
            </a:extLst>
          </p:cNvPr>
          <p:cNvSpPr>
            <a:spLocks xmlns:a="http://schemas.openxmlformats.org/drawingml/2006/main" noGrp="1"/>
          </p:cNvSpPr>
          <p:nvPr/>
        </p:nvSpPr>
        <p:spPr>
          <a:xfrm xmlns:a="http://schemas.openxmlformats.org/drawingml/2006/main">
            <a:off x="781050" y="45624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78D8C8"/>
                </a:solidFill>
                <a:latin typeface="Lato"/>
                <a:ea typeface="Lato"/>
                <a:cs typeface="Lato"/>
              </a:defRPr>
            </a:pPr>
            <a:r>
              <a:rPr sz="975" b="1">
                <a:solidFill>
                  <a:srgbClr val="78D8C8"/>
                </a:solidFill>
                <a:latin typeface="Lato"/>
                <a:ea typeface="Lato"/>
                <a:cs typeface="Lato"/>
              </a:rPr>
              <a:t>03</a:t>
            </a:r>
          </a:p>
        </p:txBody>
      </p:sp>
      <p:sp>
        <p:nvSpPr>
          <p:cNvPr id="10" name="">
            <a:extLst xmlns:a="http://schemas.openxmlformats.org/drawingml/2006/main">
              <a:ext uri="{FF2B5EF4-FFF2-40B4-BE49-F238E27FC236}">
                <a16:creationId xmlns:a16="http://schemas.microsoft.com/office/drawing/2014/main" id="{67BD8420-4CB9-4124-8E38-AB5794E7B157}"/>
              </a:ext>
            </a:extLst>
          </p:cNvPr>
          <p:cNvSpPr>
            <a:spLocks xmlns:a="http://schemas.openxmlformats.org/drawingml/2006/main" noGrp="1"/>
          </p:cNvSpPr>
          <p:nvPr/>
        </p:nvSpPr>
        <p:spPr>
          <a:xfrm xmlns:a="http://schemas.openxmlformats.org/drawingml/2006/main">
            <a:off x="1400175" y="4514850"/>
            <a:ext cx="933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FFFFFF"/>
                </a:solidFill>
                <a:latin typeface="Lato"/>
                <a:ea typeface="Lato"/>
                <a:cs typeface="Lato"/>
              </a:defRPr>
            </a:pPr>
            <a:r>
              <a:rPr sz="1650" b="1">
                <a:solidFill>
                  <a:srgbClr val="FFFFFF"/>
                </a:solidFill>
                <a:latin typeface="Lato"/>
                <a:ea typeface="Lato"/>
                <a:cs typeface="Lato"/>
              </a:rPr>
              <a:t>Build threshold and consecutive-day indicators</a:t>
            </a:r>
          </a:p>
        </p:txBody>
      </p:sp>
      <p:sp>
        <p:nvSpPr>
          <p:cNvPr id="11" name="">
            <a:extLst xmlns:a="http://schemas.openxmlformats.org/drawingml/2006/main">
              <a:ext uri="{FF2B5EF4-FFF2-40B4-BE49-F238E27FC236}">
                <a16:creationId xmlns:a16="http://schemas.microsoft.com/office/drawing/2014/main" id="{6BF0F043-FF45-4A21-A0C4-71F98FD4FA5F}"/>
              </a:ext>
            </a:extLst>
          </p:cNvPr>
          <p:cNvSpPr>
            <a:spLocks xmlns:a="http://schemas.openxmlformats.org/drawingml/2006/main" noGrp="1"/>
          </p:cNvSpPr>
          <p:nvPr/>
        </p:nvSpPr>
        <p:spPr>
          <a:xfrm xmlns:a="http://schemas.openxmlformats.org/drawingml/2006/main">
            <a:off x="781050" y="51435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975" b="1">
                <a:solidFill>
                  <a:srgbClr val="F2B632"/>
                </a:solidFill>
                <a:latin typeface="Lato"/>
                <a:ea typeface="Lato"/>
                <a:cs typeface="Lato"/>
              </a:defRPr>
            </a:pPr>
            <a:r>
              <a:rPr sz="975" b="1">
                <a:solidFill>
                  <a:srgbClr val="F2B632"/>
                </a:solidFill>
                <a:latin typeface="Lato"/>
                <a:ea typeface="Lato"/>
                <a:cs typeface="Lato"/>
              </a:rPr>
              <a:t>04</a:t>
            </a:r>
          </a:p>
        </p:txBody>
      </p:sp>
      <p:sp>
        <p:nvSpPr>
          <p:cNvPr id="12" name="">
            <a:extLst xmlns:a="http://schemas.openxmlformats.org/drawingml/2006/main">
              <a:ext uri="{FF2B5EF4-FFF2-40B4-BE49-F238E27FC236}">
                <a16:creationId xmlns:a16="http://schemas.microsoft.com/office/drawing/2014/main" id="{8E8D26D5-3968-4FDF-946A-2886A01FEAB2}"/>
              </a:ext>
            </a:extLst>
          </p:cNvPr>
          <p:cNvSpPr>
            <a:spLocks xmlns:a="http://schemas.openxmlformats.org/drawingml/2006/main" noGrp="1"/>
          </p:cNvSpPr>
          <p:nvPr/>
        </p:nvSpPr>
        <p:spPr>
          <a:xfrm xmlns:a="http://schemas.openxmlformats.org/drawingml/2006/main">
            <a:off x="1400175" y="5095875"/>
            <a:ext cx="933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a:solidFill>
                  <a:srgbClr val="FFFFFF"/>
                </a:solidFill>
                <a:latin typeface="Lato"/>
                <a:ea typeface="Lato"/>
                <a:cs typeface="Lato"/>
              </a:defRPr>
            </a:pPr>
            <a:r>
              <a:rPr sz="1650" b="1">
                <a:solidFill>
                  <a:srgbClr val="FFFFFF"/>
                </a:solidFill>
                <a:latin typeface="Lato"/>
                <a:ea typeface="Lato"/>
                <a:cs typeface="Lato"/>
              </a:rPr>
              <a:t>Map climate change, model agreement and export rasters</a:t>
            </a:r>
          </a:p>
        </p:txBody>
      </p:sp>
      <p:sp>
        <p:nvSpPr>
          <p:cNvPr id="13" name="">
            <a:extLst xmlns:a="http://schemas.openxmlformats.org/drawingml/2006/main">
              <a:ext uri="{FF2B5EF4-FFF2-40B4-BE49-F238E27FC236}">
                <a16:creationId xmlns:a16="http://schemas.microsoft.com/office/drawing/2014/main" id="{999579EA-0724-4149-A633-D383E9626638}"/>
              </a:ext>
            </a:extLst>
          </p:cNvPr>
          <p:cNvSpPr>
            <a:spLocks xmlns:a="http://schemas.openxmlformats.org/drawingml/2006/main" noGrp="1"/>
          </p:cNvSpPr>
          <p:nvPr/>
        </p:nvSpPr>
        <p:spPr>
          <a:xfrm xmlns:a="http://schemas.openxmlformats.org/drawingml/2006/main">
            <a:off x="781050" y="5981700"/>
            <a:ext cx="962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a:solidFill>
                  <a:srgbClr val="D7E5EC"/>
                </a:solidFill>
                <a:latin typeface="Lato"/>
                <a:ea typeface="Lato"/>
                <a:cs typeface="Lato"/>
              </a:defRPr>
            </a:pPr>
            <a:r>
              <a:rPr sz="1200" b="0">
                <a:solidFill>
                  <a:srgbClr val="D7E5EC"/>
                </a:solidFill>
                <a:latin typeface="Lato"/>
                <a:ea typeface="Lato"/>
                <a:cs typeface="Lato"/>
              </a:rPr>
              <a:t>Use the R (CAVA) kernel. The data-loading cell is the slowest step.</a:t>
            </a:r>
          </a:p>
        </p:txBody>
      </p:sp>
    </p:spTree>
    <p:extLst>
      <p:ext uri="{BB962C8B-B14F-4D97-AF65-F5344CB8AC3E}">
        <p14:creationId xmlns:p14="http://schemas.microsoft.com/office/powerpoint/2010/main" val="12522316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2026-09-29T11:19:58.3510000Z</dcterms:created>
  <dcterms:modified xsi:type="dcterms:W3CDTF">2026-09-29T11:19:58.3510000Z</dcterms:modified>
</coreProperties>
</file>