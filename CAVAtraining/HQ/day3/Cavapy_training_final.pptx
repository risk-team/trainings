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75" r:id="rId3"/>
    <p:sldId id="276" r:id="rId4"/>
    <p:sldId id="277" r:id="rId5"/>
    <p:sldId id="278" r:id="rId6"/>
    <p:sldId id="26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A0D4A-A603-4A65-863B-0F545C81C015}"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9D28DC-F05D-4189-B11E-A9FA33EBF377}" type="slidenum">
              <a:rPr lang="en-GB" smtClean="0"/>
              <a:t>‹#›</a:t>
            </a:fld>
            <a:endParaRPr lang="en-GB"/>
          </a:p>
        </p:txBody>
      </p:sp>
    </p:spTree>
    <p:extLst>
      <p:ext uri="{BB962C8B-B14F-4D97-AF65-F5344CB8AC3E}">
        <p14:creationId xmlns:p14="http://schemas.microsoft.com/office/powerpoint/2010/main" val="239236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 minutes. Introduce Module 3. The first 30 minutes cover installation and troubleshooting. Riccardo then leads the CAVAanalytics notebook and Sam leads cavapy.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0837B-4F0F-0FCA-B5B5-4E716FDC8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B5BB0-FE3E-0865-1CD0-5903D24E8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B3D8B-7C47-8E72-E7C6-D0EC08524B69}"/>
              </a:ext>
            </a:extLst>
          </p:cNvPr>
          <p:cNvSpPr>
            <a:spLocks noGrp="1"/>
          </p:cNvSpPr>
          <p:nvPr>
            <p:ph type="body" idx="1"/>
          </p:nvPr>
        </p:nvSpPr>
        <p:spPr/>
        <p:txBody>
          <a:bodyPr/>
          <a:lstStyle/>
          <a:p>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p>
        </p:txBody>
      </p:sp>
      <p:sp>
        <p:nvSpPr>
          <p:cNvPr id="4" name="Slide Number Placeholder 3">
            <a:extLst>
              <a:ext uri="{FF2B5EF4-FFF2-40B4-BE49-F238E27FC236}">
                <a16:creationId xmlns:a16="http://schemas.microsoft.com/office/drawing/2014/main" id="{8B08B25C-8043-BF08-E4D3-000B938DAE9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86361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6085-B642-4064-D372-C7F24A152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94BFB-9BD3-9182-0091-6C36312DB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94553-A593-8D47-7C0B-B2D93FDE0549}"/>
              </a:ext>
            </a:extLst>
          </p:cNvPr>
          <p:cNvSpPr>
            <a:spLocks noGrp="1"/>
          </p:cNvSpPr>
          <p:nvPr>
            <p:ph type="body" idx="1"/>
          </p:nvPr>
        </p:nvSpPr>
        <p:spPr/>
        <p:txBody>
          <a:bodyPr/>
          <a:lstStyle/>
          <a:p>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p>
        </p:txBody>
      </p:sp>
      <p:sp>
        <p:nvSpPr>
          <p:cNvPr id="4" name="Slide Number Placeholder 3">
            <a:extLst>
              <a:ext uri="{FF2B5EF4-FFF2-40B4-BE49-F238E27FC236}">
                <a16:creationId xmlns:a16="http://schemas.microsoft.com/office/drawing/2014/main" id="{B085ACAC-1874-419D-7628-31090EED2EA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77089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F87C9-A0BB-A4F5-517E-F80C0B15F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C1311-6D90-E21B-20DF-B070DA3BA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E1CBEF-8981-FA33-58E4-F8D1D84A4D65}"/>
              </a:ext>
            </a:extLst>
          </p:cNvPr>
          <p:cNvSpPr>
            <a:spLocks noGrp="1"/>
          </p:cNvSpPr>
          <p:nvPr>
            <p:ph type="body" idx="1"/>
          </p:nvPr>
        </p:nvSpPr>
        <p:spPr/>
        <p:txBody>
          <a:bodyPr/>
          <a:lstStyle/>
          <a:p>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p>
        </p:txBody>
      </p:sp>
      <p:sp>
        <p:nvSpPr>
          <p:cNvPr id="4" name="Slide Number Placeholder 3">
            <a:extLst>
              <a:ext uri="{FF2B5EF4-FFF2-40B4-BE49-F238E27FC236}">
                <a16:creationId xmlns:a16="http://schemas.microsoft.com/office/drawing/2014/main" id="{1C05BE9A-AD0B-EE07-F7A0-9F94536F53A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86598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Open the supplied CAVAanalytics notebook and select R (CAVA). The remote data-loading cell is the slowest step and requires internet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3824-23A6-3865-A946-53B0C8CC7E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914DAB1-0049-45AA-DDD5-428A0FB440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D0C2B93-163A-D7F1-F8AE-00408345C373}"/>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EB6187AD-78BB-51DD-1CD0-999D593886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C277E5-3D40-847A-6C6E-27D0B401DFC9}"/>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3038009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EC10-C9A7-CAB2-BFE4-936B8681B7D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F844B67-CD68-CDA1-77F2-BC435179A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150E3C-E0C5-E74F-DCB2-59CB38C11D00}"/>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03F476FE-2E22-AC8C-851A-4E531CEECEC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43C899-2C5B-9826-6259-3EF3EE4D6C1B}"/>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1795250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49982-49A6-DDC5-8D58-8C532A4AE9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7866098-FAA1-7527-B16A-347FD61BF7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67DEC1-FFD3-C605-D62D-A4A395AA4489}"/>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E87B6A1B-827B-844F-82D1-29D097A9F9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EFB75D-BFEB-A258-AB01-EDCAE3140A1F}"/>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1046147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23678-8EF0-63D7-3D1E-026B2E74E8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7A19B6-055A-88EA-CC75-BD8A7C59D4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349FD6B-27E1-2351-BF7A-7131708C7E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068E9CA-1CAB-4296-6B7A-DE281699550F}"/>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6" name="Footer Placeholder 5">
            <a:extLst>
              <a:ext uri="{FF2B5EF4-FFF2-40B4-BE49-F238E27FC236}">
                <a16:creationId xmlns:a16="http://schemas.microsoft.com/office/drawing/2014/main" id="{60398309-89C5-73B9-F7A7-8727DFA81FE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1D350B-56F5-08D6-FC8F-3429CF7AEF19}"/>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203582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EA12-7E7E-7E32-C63E-39BA5970B51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513983-BCF7-164C-3BF2-1D36238E0D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C366D6-E4BA-9CD5-8C67-AD972A15DD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B3DD91-7F5A-D6B8-CA79-1F2D3B94C1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A23A9A-2828-4C6F-6B15-0CCB94316E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43DEF6A-5553-956B-AD3C-1E7276617778}"/>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8" name="Footer Placeholder 7">
            <a:extLst>
              <a:ext uri="{FF2B5EF4-FFF2-40B4-BE49-F238E27FC236}">
                <a16:creationId xmlns:a16="http://schemas.microsoft.com/office/drawing/2014/main" id="{CB2D1E12-D8B8-2F2E-04A4-1576F5D5EB4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EE72150-ABEC-E49A-E692-51DADD1B5177}"/>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675657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B7CD-A3EA-2488-D9E7-9E926E770B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314035C-FC5F-FAD9-4490-1E4A20AD5FDA}"/>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4" name="Footer Placeholder 3">
            <a:extLst>
              <a:ext uri="{FF2B5EF4-FFF2-40B4-BE49-F238E27FC236}">
                <a16:creationId xmlns:a16="http://schemas.microsoft.com/office/drawing/2014/main" id="{E6560390-46B9-C956-27B5-B78D1A365BD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B0B036F-E6A9-1A3E-A0E7-2793C8D76697}"/>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214647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4CB23F-81DB-3F13-EC88-773A4AD92441}"/>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3" name="Footer Placeholder 2">
            <a:extLst>
              <a:ext uri="{FF2B5EF4-FFF2-40B4-BE49-F238E27FC236}">
                <a16:creationId xmlns:a16="http://schemas.microsoft.com/office/drawing/2014/main" id="{E6C7BB7A-5F00-FE00-BC42-20D32BC5EEF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1E3679-4B05-5383-FDF5-1698B7107346}"/>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3562336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FC59-EBD0-4AA0-256D-C31A6F592F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60E92E6-A773-5FF6-E8D5-5D3CC8D8C2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E3281C2-AC67-6DCD-F8FD-AC1285EE8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E5FD88-9371-1DE1-4E76-7C449DF61C3A}"/>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6" name="Footer Placeholder 5">
            <a:extLst>
              <a:ext uri="{FF2B5EF4-FFF2-40B4-BE49-F238E27FC236}">
                <a16:creationId xmlns:a16="http://schemas.microsoft.com/office/drawing/2014/main" id="{AA383ABD-5F8E-EF7F-E727-0161C45B92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D4324A-B085-B611-8477-3A9ACDBC5F91}"/>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8610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7F87B-B0CB-7A6D-4E06-CA368AC837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2860913-8EA9-4601-27FF-1FF020C323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7EF65B-BD17-3E1E-54DF-A61633747F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D50CF3-A1D9-8887-F209-D217AF978C2D}"/>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6" name="Footer Placeholder 5">
            <a:extLst>
              <a:ext uri="{FF2B5EF4-FFF2-40B4-BE49-F238E27FC236}">
                <a16:creationId xmlns:a16="http://schemas.microsoft.com/office/drawing/2014/main" id="{8023D673-3A6A-7B50-BF6A-CAB8B0748E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7567D8-2B6C-9243-D20F-FD0049944196}"/>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354107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7DCE-3E56-3317-499D-47A25F31A36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AD83986-BB73-1FB7-F6C3-95DA90E43A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CE26833-CC93-2DF2-F679-6466892C0434}"/>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05D1863F-DEDF-3017-2ADA-656D57FA8F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200865-4E1A-68B1-BA8D-8F226CC49720}"/>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765953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286593-44A6-5E84-A4F7-E6DC89E24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2BA104-D9E1-92E1-761D-88E62EF538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7ED22-F8CA-3365-C7E2-1AE2F664C03A}"/>
              </a:ext>
            </a:extLst>
          </p:cNvPr>
          <p:cNvSpPr>
            <a:spLocks noGrp="1"/>
          </p:cNvSpPr>
          <p:nvPr>
            <p:ph type="dt" sz="half" idx="10"/>
          </p:nvPr>
        </p:nvSpPr>
        <p:spPr/>
        <p:txBody>
          <a:body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4796CA19-B7E4-98AF-B0CC-C18E2C2691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260F7B-C2CA-B7B0-044F-FE8F726794A2}"/>
              </a:ext>
            </a:extLst>
          </p:cNvPr>
          <p:cNvSpPr>
            <a:spLocks noGrp="1"/>
          </p:cNvSpPr>
          <p:nvPr>
            <p:ph type="sldNum" sz="quarter" idx="12"/>
          </p:nvPr>
        </p:nvSpPr>
        <p:spPr/>
        <p:txBody>
          <a:bodyPr/>
          <a:lstStyle/>
          <a:p>
            <a:fld id="{5B390A79-6EA6-4973-AED5-13B696593CD6}" type="slidenum">
              <a:rPr lang="en-GB" smtClean="0"/>
              <a:t>‹#›</a:t>
            </a:fld>
            <a:endParaRPr lang="en-GB"/>
          </a:p>
        </p:txBody>
      </p:sp>
    </p:spTree>
    <p:extLst>
      <p:ext uri="{BB962C8B-B14F-4D97-AF65-F5344CB8AC3E}">
        <p14:creationId xmlns:p14="http://schemas.microsoft.com/office/powerpoint/2010/main" val="1917142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70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FC7752-AB70-C141-9A4B-C5DAA89AB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3C8935-4A55-CC34-6F3D-5DC56D4E6B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9F8CE3-2B58-11E8-462A-D990BEAD85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287C44-59E1-4CC0-A24D-5A301DDB3466}" type="datetimeFigureOut">
              <a:rPr lang="en-GB" smtClean="0"/>
              <a:t>29/09/2026</a:t>
            </a:fld>
            <a:endParaRPr lang="en-GB"/>
          </a:p>
        </p:txBody>
      </p:sp>
      <p:sp>
        <p:nvSpPr>
          <p:cNvPr id="5" name="Footer Placeholder 4">
            <a:extLst>
              <a:ext uri="{FF2B5EF4-FFF2-40B4-BE49-F238E27FC236}">
                <a16:creationId xmlns:a16="http://schemas.microsoft.com/office/drawing/2014/main" id="{78278526-9A03-FD84-907E-9CDB48300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6BC65D1-C49F-FF03-1320-7532E44FBC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390A79-6EA6-4973-AED5-13B696593CD6}" type="slidenum">
              <a:rPr lang="en-GB" smtClean="0"/>
              <a:t>‹#›</a:t>
            </a:fld>
            <a:endParaRPr lang="en-GB"/>
          </a:p>
        </p:txBody>
      </p:sp>
    </p:spTree>
    <p:extLst>
      <p:ext uri="{BB962C8B-B14F-4D97-AF65-F5344CB8AC3E}">
        <p14:creationId xmlns:p14="http://schemas.microsoft.com/office/powerpoint/2010/main" val="2852255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oogle Shape;16;p3"/>
          <p:cNvPicPr>
            <a:picLocks noChangeAspect="1"/>
          </p:cNvPicPr>
          <p:nvPr/>
        </p:nvPicPr>
        <p:blipFill rotWithShape="1">
          <a:blip r:embed="rId3">
            <a:alphaModFix/>
          </a:blip>
          <a:srcRect/>
          <a:stretch/>
        </p:blipFill>
        <p:spPr>
          <a:xfrm>
            <a:off x="0" y="0"/>
            <a:ext cx="12192000" cy="6858000"/>
          </a:xfrm>
          <a:prstGeom prst="rect">
            <a:avLst/>
          </a:prstGeom>
          <a:ln>
            <a:noFill/>
          </a:ln>
        </p:spPr>
      </p:pic>
      <p:sp>
        <p:nvSpPr>
          <p:cNvPr id="17" name="Google Shape;17;p3">
            <a:extLst>
              <a:ext uri="{FF2B5EF4-FFF2-40B4-BE49-F238E27FC236}">
                <a16:creationId xmlns:a16="http://schemas.microsoft.com/office/drawing/2014/main" id="{7FCDDD46-2335-4E07-97D6-26E040055F5E}"/>
              </a:ext>
            </a:extLst>
          </p:cNvPr>
          <p:cNvSpPr>
            <a:spLocks noGrp="1"/>
          </p:cNvSpPr>
          <p:nvPr/>
        </p:nvSpPr>
        <p:spPr>
          <a:xfrm>
            <a:off x="0" y="0"/>
            <a:ext cx="12192000" cy="6858000"/>
          </a:xfrm>
          <a:prstGeom prst="rect">
            <a:avLst/>
          </a:prstGeom>
          <a:gradFill>
            <a:gsLst>
              <a:gs pos="0">
                <a:srgbClr val="12304E">
                  <a:alpha val="98824"/>
                </a:srgbClr>
              </a:gs>
              <a:gs pos="34000">
                <a:srgbClr val="12304E">
                  <a:alpha val="96078"/>
                </a:srgbClr>
              </a:gs>
              <a:gs pos="55000">
                <a:srgbClr val="12304E">
                  <a:alpha val="74118"/>
                </a:srgbClr>
              </a:gs>
              <a:gs pos="82000">
                <a:srgbClr val="12304E">
                  <a:alpha val="18039"/>
                </a:srgbClr>
              </a:gs>
              <a:gs pos="100000">
                <a:srgbClr val="12304E">
                  <a:alpha val="0"/>
                </a:srgbClr>
              </a:gs>
            </a:gsLst>
            <a:lin ang="0" scaled="0"/>
          </a:gra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8" name="Google Shape;18;p3">
            <a:extLst>
              <a:ext uri="{FF2B5EF4-FFF2-40B4-BE49-F238E27FC236}">
                <a16:creationId xmlns:a16="http://schemas.microsoft.com/office/drawing/2014/main" id="{CF170A13-ECF8-4931-BBF5-48D40EBEA8FE}"/>
              </a:ext>
            </a:extLst>
          </p:cNvPr>
          <p:cNvSpPr>
            <a:spLocks noGrp="1"/>
          </p:cNvSpPr>
          <p:nvPr/>
        </p:nvSpPr>
        <p:spPr>
          <a:xfrm>
            <a:off x="0" y="0"/>
            <a:ext cx="85725" cy="6858000"/>
          </a:xfrm>
          <a:prstGeom prst="rect">
            <a:avLst/>
          </a:prstGeom>
          <a:solidFill>
            <a:srgbClr val="00A88F"/>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9" name="Google Shape;19;p3">
            <a:extLst>
              <a:ext uri="{FF2B5EF4-FFF2-40B4-BE49-F238E27FC236}">
                <a16:creationId xmlns:a16="http://schemas.microsoft.com/office/drawing/2014/main" id="{56692F58-DB44-4A1D-AA4B-333E2E58B81C}"/>
              </a:ext>
            </a:extLst>
          </p:cNvPr>
          <p:cNvSpPr>
            <a:spLocks noGrp="1"/>
          </p:cNvSpPr>
          <p:nvPr/>
        </p:nvSpPr>
        <p:spPr>
          <a:xfrm>
            <a:off x="723900" y="666750"/>
            <a:ext cx="1066800" cy="38100"/>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20;p3">
            <a:extLst>
              <a:ext uri="{FF2B5EF4-FFF2-40B4-BE49-F238E27FC236}">
                <a16:creationId xmlns:a16="http://schemas.microsoft.com/office/drawing/2014/main" id="{DED21CFA-CA5D-49D9-869C-719FFCF79902}"/>
              </a:ext>
            </a:extLst>
          </p:cNvPr>
          <p:cNvSpPr>
            <a:spLocks noGrp="1"/>
          </p:cNvSpPr>
          <p:nvPr/>
        </p:nvSpPr>
        <p:spPr>
          <a:xfrm>
            <a:off x="723900" y="1038225"/>
            <a:ext cx="4000500" cy="2667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78D8C8"/>
              </a:buClr>
              <a:buSzPts val="1050"/>
              <a:buFont typeface="Lato"/>
              <a:buNone/>
            </a:pPr>
            <a:r>
              <a:rPr sz="1050" b="1">
                <a:solidFill>
                  <a:srgbClr val="78D8C8"/>
                </a:solidFill>
                <a:latin typeface="Lato"/>
                <a:ea typeface="Lato"/>
                <a:cs typeface="Lato"/>
              </a:rPr>
              <a:t>CAVA TRAINING SERIES</a:t>
            </a:r>
            <a:endParaRPr/>
          </a:p>
        </p:txBody>
      </p:sp>
      <p:sp>
        <p:nvSpPr>
          <p:cNvPr id="21" name="Google Shape;21;p3">
            <a:extLst>
              <a:ext uri="{FF2B5EF4-FFF2-40B4-BE49-F238E27FC236}">
                <a16:creationId xmlns:a16="http://schemas.microsoft.com/office/drawing/2014/main" id="{DC3FF458-2A6A-4792-B2CF-1AED7A9D8933}"/>
              </a:ext>
            </a:extLst>
          </p:cNvPr>
          <p:cNvSpPr>
            <a:spLocks noGrp="1"/>
          </p:cNvSpPr>
          <p:nvPr/>
        </p:nvSpPr>
        <p:spPr>
          <a:xfrm>
            <a:off x="723900" y="1905000"/>
            <a:ext cx="5429250" cy="1924050"/>
          </a:xfrm>
          <a:prstGeom prst="rect">
            <a:avLst/>
          </a:prstGeom>
          <a:noFill/>
          <a:ln>
            <a:noFill/>
          </a:ln>
        </p:spPr>
        <p:txBody>
          <a:bodyPr spcFirstLastPara="1" wrap="square" lIns="0" tIns="0" rIns="0" bIns="0" anchor="t">
            <a:noAutofit/>
          </a:bodyPr>
          <a:lstStyle/>
          <a:p>
            <a:pPr marL="0" marR="0" lvl="0" indent="0" algn="l">
              <a:lnSpc>
                <a:spcPct val="91000"/>
              </a:lnSpc>
              <a:spcBef>
                <a:spcPts val="0"/>
              </a:spcBef>
              <a:spcAft>
                <a:spcPts val="0"/>
              </a:spcAft>
              <a:buClr>
                <a:srgbClr val="FFFFFF"/>
              </a:buClr>
              <a:buSzPts val="3975"/>
              <a:buFont typeface="Lato"/>
              <a:buNone/>
            </a:pPr>
            <a:r>
              <a:rPr sz="3975" b="1" dirty="0">
                <a:solidFill>
                  <a:srgbClr val="FFFFFF"/>
                </a:solidFill>
                <a:latin typeface="Lato"/>
                <a:ea typeface="Lato"/>
                <a:cs typeface="Lato"/>
              </a:rPr>
              <a:t>Climate data </a:t>
            </a:r>
            <a:r>
              <a:rPr lang="en-GB" sz="3975" b="1" dirty="0">
                <a:solidFill>
                  <a:srgbClr val="FFFFFF"/>
                </a:solidFill>
                <a:latin typeface="Lato"/>
                <a:ea typeface="Lato"/>
                <a:cs typeface="Lato"/>
              </a:rPr>
              <a:t>workflows</a:t>
            </a:r>
            <a:endParaRPr dirty="0"/>
          </a:p>
          <a:p>
            <a:pPr marL="0" marR="0" lvl="0" indent="0" algn="l">
              <a:lnSpc>
                <a:spcPct val="91000"/>
              </a:lnSpc>
              <a:spcBef>
                <a:spcPts val="0"/>
              </a:spcBef>
              <a:spcAft>
                <a:spcPts val="0"/>
              </a:spcAft>
              <a:buClr>
                <a:srgbClr val="FFFFFF"/>
              </a:buClr>
              <a:buSzPts val="3975"/>
              <a:buFont typeface="Lato"/>
              <a:buNone/>
            </a:pPr>
            <a:r>
              <a:rPr sz="3975" b="1" dirty="0">
                <a:solidFill>
                  <a:srgbClr val="FFFFFF"/>
                </a:solidFill>
                <a:latin typeface="Lato"/>
                <a:ea typeface="Lato"/>
                <a:cs typeface="Lato"/>
              </a:rPr>
              <a:t>with </a:t>
            </a:r>
            <a:r>
              <a:rPr sz="3975" b="1" dirty="0" err="1">
                <a:solidFill>
                  <a:srgbClr val="FFFFFF"/>
                </a:solidFill>
                <a:latin typeface="Lato"/>
                <a:ea typeface="Lato"/>
                <a:cs typeface="Lato"/>
              </a:rPr>
              <a:t>CAVAanalytics</a:t>
            </a:r>
            <a:endParaRPr dirty="0"/>
          </a:p>
          <a:p>
            <a:pPr marL="0" marR="0" lvl="0" indent="0" algn="l">
              <a:lnSpc>
                <a:spcPct val="91000"/>
              </a:lnSpc>
              <a:spcBef>
                <a:spcPts val="0"/>
              </a:spcBef>
              <a:spcAft>
                <a:spcPts val="0"/>
              </a:spcAft>
              <a:buClr>
                <a:srgbClr val="FFFFFF"/>
              </a:buClr>
              <a:buSzPts val="3975"/>
              <a:buFont typeface="Lato"/>
              <a:buNone/>
            </a:pPr>
            <a:r>
              <a:rPr sz="3975" b="1" dirty="0">
                <a:solidFill>
                  <a:srgbClr val="FFFFFF"/>
                </a:solidFill>
                <a:latin typeface="Lato"/>
                <a:ea typeface="Lato"/>
                <a:cs typeface="Lato"/>
              </a:rPr>
              <a:t>and </a:t>
            </a:r>
            <a:r>
              <a:rPr sz="3975" b="1" dirty="0" err="1">
                <a:solidFill>
                  <a:srgbClr val="FFFFFF"/>
                </a:solidFill>
                <a:latin typeface="Lato"/>
                <a:ea typeface="Lato"/>
                <a:cs typeface="Lato"/>
              </a:rPr>
              <a:t>cavapy</a:t>
            </a:r>
            <a:endParaRPr dirty="0"/>
          </a:p>
        </p:txBody>
      </p:sp>
      <p:sp>
        <p:nvSpPr>
          <p:cNvPr id="22" name="Google Shape;22;p3">
            <a:extLst>
              <a:ext uri="{FF2B5EF4-FFF2-40B4-BE49-F238E27FC236}">
                <a16:creationId xmlns:a16="http://schemas.microsoft.com/office/drawing/2014/main" id="{B45863F2-71AF-42C4-9055-E7E96A67113F}"/>
              </a:ext>
            </a:extLst>
          </p:cNvPr>
          <p:cNvSpPr>
            <a:spLocks noGrp="1"/>
          </p:cNvSpPr>
          <p:nvPr/>
        </p:nvSpPr>
        <p:spPr>
          <a:xfrm>
            <a:off x="733425" y="4457700"/>
            <a:ext cx="1905000" cy="2667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F2B632"/>
              </a:buClr>
              <a:buSzPts val="1350"/>
              <a:buFont typeface="Lato"/>
              <a:buNone/>
            </a:pPr>
            <a:r>
              <a:rPr sz="1350" b="1">
                <a:solidFill>
                  <a:srgbClr val="F2B632"/>
                </a:solidFill>
                <a:latin typeface="Lato"/>
                <a:ea typeface="Lato"/>
                <a:cs typeface="Lato"/>
              </a:rPr>
              <a:t>MODULE 3</a:t>
            </a:r>
            <a:endParaRPr/>
          </a:p>
        </p:txBody>
      </p:sp>
      <p:sp>
        <p:nvSpPr>
          <p:cNvPr id="23" name="Google Shape;23;p3">
            <a:extLst>
              <a:ext uri="{FF2B5EF4-FFF2-40B4-BE49-F238E27FC236}">
                <a16:creationId xmlns:a16="http://schemas.microsoft.com/office/drawing/2014/main" id="{0808A797-560A-4795-A418-19DE364FF0B2}"/>
              </a:ext>
            </a:extLst>
          </p:cNvPr>
          <p:cNvSpPr>
            <a:spLocks noGrp="1"/>
          </p:cNvSpPr>
          <p:nvPr/>
        </p:nvSpPr>
        <p:spPr>
          <a:xfrm>
            <a:off x="733425" y="4953000"/>
            <a:ext cx="2476500" cy="2571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FFFFFF"/>
              </a:buClr>
              <a:buSzPts val="1200"/>
              <a:buFont typeface="Lato"/>
              <a:buNone/>
            </a:pPr>
            <a:r>
              <a:rPr sz="1200" b="1">
                <a:solidFill>
                  <a:srgbClr val="FFFFFF"/>
                </a:solidFill>
                <a:latin typeface="Lato"/>
                <a:ea typeface="Lato"/>
                <a:cs typeface="Lato"/>
              </a:rPr>
              <a:t>30 September 2026</a:t>
            </a:r>
            <a:endParaRPr/>
          </a:p>
        </p:txBody>
      </p:sp>
      <p:sp>
        <p:nvSpPr>
          <p:cNvPr id="24" name="Google Shape;24;p3">
            <a:extLst>
              <a:ext uri="{FF2B5EF4-FFF2-40B4-BE49-F238E27FC236}">
                <a16:creationId xmlns:a16="http://schemas.microsoft.com/office/drawing/2014/main" id="{2A7B5D62-23E4-41FE-A70F-CE15A259CB1B}"/>
              </a:ext>
            </a:extLst>
          </p:cNvPr>
          <p:cNvSpPr>
            <a:spLocks noGrp="1"/>
          </p:cNvSpPr>
          <p:nvPr/>
        </p:nvSpPr>
        <p:spPr>
          <a:xfrm>
            <a:off x="733425" y="5276850"/>
            <a:ext cx="2714625" cy="2286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D7E5EC"/>
              </a:buClr>
              <a:buSzPts val="1050"/>
              <a:buFont typeface="Lato"/>
              <a:buNone/>
            </a:pPr>
            <a:r>
              <a:rPr sz="1050" b="0">
                <a:solidFill>
                  <a:srgbClr val="D7E5EC"/>
                </a:solidFill>
                <a:latin typeface="Lato"/>
                <a:ea typeface="Lato"/>
                <a:cs typeface="Lato"/>
              </a:rPr>
              <a:t>09:00–12:00  ·  Hybrid</a:t>
            </a:r>
            <a:endParaRPr/>
          </a:p>
        </p:txBody>
      </p:sp>
      <p:sp>
        <p:nvSpPr>
          <p:cNvPr id="25" name="Google Shape;25;p3">
            <a:extLst>
              <a:ext uri="{FF2B5EF4-FFF2-40B4-BE49-F238E27FC236}">
                <a16:creationId xmlns:a16="http://schemas.microsoft.com/office/drawing/2014/main" id="{E986F370-E54C-402C-8D3C-F77D3ACBAE9F}"/>
              </a:ext>
            </a:extLst>
          </p:cNvPr>
          <p:cNvSpPr>
            <a:spLocks noGrp="1"/>
          </p:cNvSpPr>
          <p:nvPr/>
        </p:nvSpPr>
        <p:spPr>
          <a:xfrm>
            <a:off x="733425" y="6010275"/>
            <a:ext cx="4381500" cy="9525"/>
          </a:xfrm>
          <a:prstGeom prst="rect">
            <a:avLst/>
          </a:prstGeom>
          <a:solidFill>
            <a:srgbClr val="A8C0CD">
              <a:alpha val="54902"/>
            </a:srgbClr>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6" name="Google Shape;26;p3">
            <a:extLst>
              <a:ext uri="{FF2B5EF4-FFF2-40B4-BE49-F238E27FC236}">
                <a16:creationId xmlns:a16="http://schemas.microsoft.com/office/drawing/2014/main" id="{7B79923E-B497-4C5E-9D7F-9725AC431BB9}"/>
              </a:ext>
            </a:extLst>
          </p:cNvPr>
          <p:cNvSpPr>
            <a:spLocks noGrp="1"/>
          </p:cNvSpPr>
          <p:nvPr/>
        </p:nvSpPr>
        <p:spPr>
          <a:xfrm>
            <a:off x="733425" y="6162675"/>
            <a:ext cx="4572000" cy="2190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D7E5EC"/>
              </a:buClr>
              <a:buSzPts val="900"/>
              <a:buFont typeface="Lato"/>
              <a:buNone/>
            </a:pPr>
            <a:r>
              <a:rPr sz="900" b="0">
                <a:solidFill>
                  <a:srgbClr val="D7E5EC"/>
                </a:solidFill>
                <a:latin typeface="Lato"/>
                <a:ea typeface="Lato"/>
                <a:cs typeface="Lato"/>
              </a:rPr>
              <a:t>Installation and reproducible climate analysis</a:t>
            </a:r>
            <a:endParaRPr/>
          </a:p>
        </p:txBody>
      </p:sp>
    </p:spTree>
    <p:extLst>
      <p:ext uri="{BB962C8B-B14F-4D97-AF65-F5344CB8AC3E}">
        <p14:creationId xmlns:p14="http://schemas.microsoft.com/office/powerpoint/2010/main" val="183141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Google Shape;237;p12">
            <a:extLst>
              <a:ext uri="{FF2B5EF4-FFF2-40B4-BE49-F238E27FC236}">
                <a16:creationId xmlns:a16="http://schemas.microsoft.com/office/drawing/2014/main" id="{3395841B-4098-49E2-88E6-556B3616B65C}"/>
              </a:ext>
            </a:extLst>
          </p:cNvPr>
          <p:cNvSpPr>
            <a:spLocks noGrp="1"/>
          </p:cNvSpPr>
          <p:nvPr/>
        </p:nvSpPr>
        <p:spPr>
          <a:xfrm>
            <a:off x="628650" y="438150"/>
            <a:ext cx="10896600" cy="4857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12304E"/>
              </a:buClr>
              <a:buSzPts val="2325"/>
              <a:buFont typeface="Lato"/>
              <a:buNone/>
            </a:pPr>
            <a:r>
              <a:rPr lang="en-GB" sz="2325" b="1" dirty="0" err="1">
                <a:solidFill>
                  <a:srgbClr val="12304E"/>
                </a:solidFill>
                <a:latin typeface="Lato"/>
                <a:ea typeface="Lato"/>
                <a:cs typeface="Lato"/>
              </a:rPr>
              <a:t>Cavapy</a:t>
            </a:r>
            <a:r>
              <a:rPr lang="en-GB" sz="2325" b="1" dirty="0">
                <a:solidFill>
                  <a:srgbClr val="12304E"/>
                </a:solidFill>
                <a:latin typeface="Lato"/>
                <a:ea typeface="Lato"/>
                <a:cs typeface="Lato"/>
              </a:rPr>
              <a:t> workflow</a:t>
            </a:r>
            <a:endParaRPr dirty="0"/>
          </a:p>
        </p:txBody>
      </p:sp>
      <p:sp>
        <p:nvSpPr>
          <p:cNvPr id="238" name="Google Shape;238;p12">
            <a:extLst>
              <a:ext uri="{FF2B5EF4-FFF2-40B4-BE49-F238E27FC236}">
                <a16:creationId xmlns:a16="http://schemas.microsoft.com/office/drawing/2014/main" id="{C2542CC5-14C8-4327-A23E-873226573F2A}"/>
              </a:ext>
            </a:extLst>
          </p:cNvPr>
          <p:cNvSpPr>
            <a:spLocks noGrp="1"/>
          </p:cNvSpPr>
          <p:nvPr/>
        </p:nvSpPr>
        <p:spPr>
          <a:xfrm>
            <a:off x="647700" y="971550"/>
            <a:ext cx="10477500" cy="28575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1125"/>
              <a:buFont typeface="Lato"/>
              <a:buNone/>
            </a:pPr>
            <a:r>
              <a:rPr lang="en-GB" sz="1125" b="0" dirty="0">
                <a:solidFill>
                  <a:srgbClr val="687984"/>
                </a:solidFill>
                <a:latin typeface="Lato"/>
                <a:ea typeface="Lato"/>
                <a:cs typeface="Lato"/>
              </a:rPr>
              <a:t>Steps used in </a:t>
            </a:r>
            <a:r>
              <a:rPr lang="en-GB" sz="1125" b="0" dirty="0" err="1">
                <a:solidFill>
                  <a:srgbClr val="687984"/>
                </a:solidFill>
                <a:latin typeface="Lato"/>
                <a:ea typeface="Lato"/>
                <a:cs typeface="Lato"/>
              </a:rPr>
              <a:t>cavapy</a:t>
            </a:r>
            <a:r>
              <a:rPr lang="en-GB" sz="1125" b="0" dirty="0">
                <a:solidFill>
                  <a:srgbClr val="687984"/>
                </a:solidFill>
                <a:latin typeface="Lato"/>
                <a:ea typeface="Lato"/>
                <a:cs typeface="Lato"/>
              </a:rPr>
              <a:t> </a:t>
            </a:r>
            <a:r>
              <a:rPr lang="en-GB" sz="1125" b="0" dirty="0" err="1">
                <a:solidFill>
                  <a:srgbClr val="687984"/>
                </a:solidFill>
                <a:latin typeface="Lato"/>
                <a:ea typeface="Lato"/>
                <a:cs typeface="Lato"/>
              </a:rPr>
              <a:t>get_climate_data</a:t>
            </a:r>
            <a:r>
              <a:rPr lang="en-GB" sz="1125" b="0" dirty="0">
                <a:solidFill>
                  <a:srgbClr val="687984"/>
                </a:solidFill>
                <a:latin typeface="Lato"/>
                <a:ea typeface="Lato"/>
                <a:cs typeface="Lato"/>
              </a:rPr>
              <a:t>() function</a:t>
            </a:r>
            <a:endParaRPr dirty="0"/>
          </a:p>
        </p:txBody>
      </p:sp>
      <p:sp>
        <p:nvSpPr>
          <p:cNvPr id="239" name="Google Shape;239;p12">
            <a:extLst>
              <a:ext uri="{FF2B5EF4-FFF2-40B4-BE49-F238E27FC236}">
                <a16:creationId xmlns:a16="http://schemas.microsoft.com/office/drawing/2014/main" id="{33D0C418-E943-4F79-A5F1-728E7DFFF1F4}"/>
              </a:ext>
            </a:extLst>
          </p:cNvPr>
          <p:cNvSpPr>
            <a:spLocks noGrp="1"/>
          </p:cNvSpPr>
          <p:nvPr/>
        </p:nvSpPr>
        <p:spPr>
          <a:xfrm>
            <a:off x="647700" y="1390650"/>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0" name="Google Shape;240;p12">
            <a:extLst>
              <a:ext uri="{FF2B5EF4-FFF2-40B4-BE49-F238E27FC236}">
                <a16:creationId xmlns:a16="http://schemas.microsoft.com/office/drawing/2014/main" id="{C1E34BB2-D820-4205-8CC0-00B594881CED}"/>
              </a:ext>
            </a:extLst>
          </p:cNvPr>
          <p:cNvSpPr>
            <a:spLocks noGrp="1"/>
          </p:cNvSpPr>
          <p:nvPr/>
        </p:nvSpPr>
        <p:spPr>
          <a:xfrm>
            <a:off x="657225" y="1495425"/>
            <a:ext cx="990600" cy="28575"/>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1" name="Google Shape;241;p12">
            <a:extLst>
              <a:ext uri="{FF2B5EF4-FFF2-40B4-BE49-F238E27FC236}">
                <a16:creationId xmlns:a16="http://schemas.microsoft.com/office/drawing/2014/main" id="{1425208F-E611-45D2-84B8-4BA527555550}"/>
              </a:ext>
            </a:extLst>
          </p:cNvPr>
          <p:cNvSpPr>
            <a:spLocks noGrp="1"/>
          </p:cNvSpPr>
          <p:nvPr/>
        </p:nvSpPr>
        <p:spPr>
          <a:xfrm>
            <a:off x="647700" y="6238875"/>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2" name="Google Shape;242;p12">
            <a:extLst>
              <a:ext uri="{FF2B5EF4-FFF2-40B4-BE49-F238E27FC236}">
                <a16:creationId xmlns:a16="http://schemas.microsoft.com/office/drawing/2014/main" id="{511A1CA7-A1AA-41B8-9442-357D9FD82DA7}"/>
              </a:ext>
            </a:extLst>
          </p:cNvPr>
          <p:cNvSpPr>
            <a:spLocks noGrp="1"/>
          </p:cNvSpPr>
          <p:nvPr/>
        </p:nvSpPr>
        <p:spPr>
          <a:xfrm>
            <a:off x="657225" y="6353175"/>
            <a:ext cx="2381250" cy="16192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a:ext uri="{FF2B5EF4-FFF2-40B4-BE49-F238E27FC236}">
                <a16:creationId xmlns:a16="http://schemas.microsoft.com/office/drawing/2014/main" id="{82F403DC-7030-45D6-8742-29704254DBC2}"/>
              </a:ext>
            </a:extLst>
          </p:cNvPr>
          <p:cNvSpPr>
            <a:spLocks noGrp="1"/>
          </p:cNvSpPr>
          <p:nvPr/>
        </p:nvSpPr>
        <p:spPr>
          <a:xfrm>
            <a:off x="11049000" y="6343650"/>
            <a:ext cx="457200" cy="161925"/>
          </a:xfrm>
          <a:prstGeom prst="rect">
            <a:avLst/>
          </a:prstGeom>
          <a:noFill/>
          <a:ln>
            <a:noFill/>
          </a:ln>
        </p:spPr>
        <p:txBody>
          <a:bodyPr spcFirstLastPara="1" wrap="square" lIns="0" tIns="0" rIns="0" bIns="0" anchor="t">
            <a:noAutofit/>
          </a:bodyPr>
          <a:lstStyle/>
          <a:p>
            <a:pPr marL="0" marR="0" lvl="0" indent="0" algn="r">
              <a:lnSpc>
                <a:spcPct val="102000"/>
              </a:lnSpc>
              <a:spcBef>
                <a:spcPts val="0"/>
              </a:spcBef>
              <a:spcAft>
                <a:spcPts val="0"/>
              </a:spcAft>
              <a:buClr>
                <a:srgbClr val="687984"/>
              </a:buClr>
              <a:buSzPts val="750"/>
              <a:buFont typeface="Lato"/>
              <a:buNone/>
            </a:pPr>
            <a:r>
              <a:rPr sz="750" b="0" dirty="0">
                <a:solidFill>
                  <a:srgbClr val="687984"/>
                </a:solidFill>
                <a:latin typeface="Lato"/>
                <a:ea typeface="Lato"/>
                <a:cs typeface="Lato"/>
              </a:rPr>
              <a:t>0</a:t>
            </a:r>
            <a:r>
              <a:rPr lang="en-GB" sz="750" dirty="0">
                <a:solidFill>
                  <a:srgbClr val="687984"/>
                </a:solidFill>
                <a:latin typeface="Lato"/>
                <a:ea typeface="Lato"/>
                <a:cs typeface="Lato"/>
              </a:rPr>
              <a:t>1</a:t>
            </a:r>
            <a:endParaRPr dirty="0"/>
          </a:p>
        </p:txBody>
      </p:sp>
      <p:sp>
        <p:nvSpPr>
          <p:cNvPr id="2" name="TextBox 1">
            <a:extLst>
              <a:ext uri="{FF2B5EF4-FFF2-40B4-BE49-F238E27FC236}">
                <a16:creationId xmlns:a16="http://schemas.microsoft.com/office/drawing/2014/main" id="{ECBE3E35-994F-2DB8-6091-335F45E503D9}"/>
              </a:ext>
            </a:extLst>
          </p:cNvPr>
          <p:cNvSpPr txBox="1"/>
          <p:nvPr/>
        </p:nvSpPr>
        <p:spPr>
          <a:xfrm>
            <a:off x="824619" y="1687308"/>
            <a:ext cx="2846832" cy="1231106"/>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Inventory lookup</a:t>
            </a:r>
          </a:p>
          <a:p>
            <a:endParaRPr lang="en-GB" i="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Identifies URLs from live THREDDS inventory</a:t>
            </a:r>
          </a:p>
        </p:txBody>
      </p:sp>
      <p:sp>
        <p:nvSpPr>
          <p:cNvPr id="3" name="TextBox 2">
            <a:extLst>
              <a:ext uri="{FF2B5EF4-FFF2-40B4-BE49-F238E27FC236}">
                <a16:creationId xmlns:a16="http://schemas.microsoft.com/office/drawing/2014/main" id="{E181EB81-A68A-CC84-83AC-03588F60B57E}"/>
              </a:ext>
            </a:extLst>
          </p:cNvPr>
          <p:cNvSpPr txBox="1"/>
          <p:nvPr/>
        </p:nvSpPr>
        <p:spPr>
          <a:xfrm>
            <a:off x="4434077" y="1673846"/>
            <a:ext cx="2555748" cy="1508105"/>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Spatial </a:t>
            </a:r>
            <a:r>
              <a:rPr lang="en-GB" sz="2000" b="1" dirty="0" err="1">
                <a:solidFill>
                  <a:schemeClr val="tx2"/>
                </a:solidFill>
                <a:latin typeface="Lato" panose="020F0502020204030203" pitchFamily="34" charset="0"/>
                <a:ea typeface="Lato" panose="020F0502020204030203" pitchFamily="34" charset="0"/>
                <a:cs typeface="Lato" panose="020F0502020204030203" pitchFamily="34" charset="0"/>
              </a:rPr>
              <a:t>subsetting</a:t>
            </a:r>
            <a:endParaRPr lang="en-GB" sz="2000" b="1" dirty="0">
              <a:solidFill>
                <a:schemeClr val="tx2"/>
              </a:solidFill>
              <a:latin typeface="Lato" panose="020F0502020204030203" pitchFamily="34" charset="0"/>
              <a:ea typeface="Lato" panose="020F0502020204030203" pitchFamily="34" charset="0"/>
              <a:cs typeface="Lato" panose="020F0502020204030203" pitchFamily="34" charset="0"/>
            </a:endParaRPr>
          </a:p>
          <a:p>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Download grid cells inside designated country or bounding box</a:t>
            </a:r>
          </a:p>
        </p:txBody>
      </p:sp>
      <p:pic>
        <p:nvPicPr>
          <p:cNvPr id="4" name="Picture 3">
            <a:extLst>
              <a:ext uri="{FF2B5EF4-FFF2-40B4-BE49-F238E27FC236}">
                <a16:creationId xmlns:a16="http://schemas.microsoft.com/office/drawing/2014/main" id="{58B811CC-8C76-2843-FB13-950140D87569}"/>
              </a:ext>
            </a:extLst>
          </p:cNvPr>
          <p:cNvPicPr>
            <a:picLocks noChangeAspect="1"/>
          </p:cNvPicPr>
          <p:nvPr/>
        </p:nvPicPr>
        <p:blipFill>
          <a:blip r:embed="rId3"/>
          <a:stretch>
            <a:fillRect/>
          </a:stretch>
        </p:blipFill>
        <p:spPr>
          <a:xfrm>
            <a:off x="824619" y="3426808"/>
            <a:ext cx="3025005" cy="1325564"/>
          </a:xfrm>
          <a:prstGeom prst="rect">
            <a:avLst/>
          </a:prstGeom>
        </p:spPr>
      </p:pic>
      <p:sp>
        <p:nvSpPr>
          <p:cNvPr id="5" name="TextBox 4">
            <a:extLst>
              <a:ext uri="{FF2B5EF4-FFF2-40B4-BE49-F238E27FC236}">
                <a16:creationId xmlns:a16="http://schemas.microsoft.com/office/drawing/2014/main" id="{4470362A-2A58-8F78-CA9F-814BEC823A5E}"/>
              </a:ext>
            </a:extLst>
          </p:cNvPr>
          <p:cNvSpPr txBox="1"/>
          <p:nvPr/>
        </p:nvSpPr>
        <p:spPr>
          <a:xfrm>
            <a:off x="7991343" y="1673846"/>
            <a:ext cx="3060192" cy="1231106"/>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Domain validation</a:t>
            </a:r>
          </a:p>
          <a:p>
            <a:endParaRPr lang="en-GB" i="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Corrected domain suggested if invalid domain provided</a:t>
            </a:r>
          </a:p>
        </p:txBody>
      </p:sp>
      <p:pic>
        <p:nvPicPr>
          <p:cNvPr id="6" name="Picture 5" descr="CORDEX-CORE domains">
            <a:extLst>
              <a:ext uri="{FF2B5EF4-FFF2-40B4-BE49-F238E27FC236}">
                <a16:creationId xmlns:a16="http://schemas.microsoft.com/office/drawing/2014/main" id="{02B0817A-E5E5-5905-909D-053AC88E982C}"/>
              </a:ext>
            </a:extLst>
          </p:cNvPr>
          <p:cNvPicPr>
            <a:picLocks noChangeAspect="1"/>
          </p:cNvPicPr>
          <p:nvPr/>
        </p:nvPicPr>
        <p:blipFill>
          <a:blip r:embed="rId4"/>
          <a:stretch>
            <a:fillRect/>
          </a:stretch>
        </p:blipFill>
        <p:spPr>
          <a:xfrm>
            <a:off x="7675497" y="3401431"/>
            <a:ext cx="3691884" cy="1820655"/>
          </a:xfrm>
          <a:prstGeom prst="rect">
            <a:avLst/>
          </a:prstGeom>
        </p:spPr>
      </p:pic>
      <p:cxnSp>
        <p:nvCxnSpPr>
          <p:cNvPr id="7" name="Straight Arrow Connector 6">
            <a:extLst>
              <a:ext uri="{FF2B5EF4-FFF2-40B4-BE49-F238E27FC236}">
                <a16:creationId xmlns:a16="http://schemas.microsoft.com/office/drawing/2014/main" id="{9A0652EF-6F2C-D6B0-BB89-6DA9FB541E0E}"/>
              </a:ext>
            </a:extLst>
          </p:cNvPr>
          <p:cNvCxnSpPr>
            <a:cxnSpLocks/>
          </p:cNvCxnSpPr>
          <p:nvPr/>
        </p:nvCxnSpPr>
        <p:spPr>
          <a:xfrm flipH="1" flipV="1">
            <a:off x="9780522" y="4755900"/>
            <a:ext cx="64008" cy="7223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B6C031C-7C67-94F5-1A4C-0D10E66C8079}"/>
              </a:ext>
            </a:extLst>
          </p:cNvPr>
          <p:cNvSpPr txBox="1"/>
          <p:nvPr/>
        </p:nvSpPr>
        <p:spPr>
          <a:xfrm>
            <a:off x="9408666" y="5478276"/>
            <a:ext cx="871728" cy="523220"/>
          </a:xfrm>
          <a:prstGeom prst="rect">
            <a:avLst/>
          </a:prstGeom>
          <a:noFill/>
        </p:spPr>
        <p:txBody>
          <a:bodyPr wrap="square" rtlCol="0">
            <a:spAutoFit/>
          </a:bodyPr>
          <a:lstStyle/>
          <a:p>
            <a:r>
              <a:rPr lang="en-GB" sz="1400" b="1" strike="sngStrike" dirty="0">
                <a:solidFill>
                  <a:schemeClr val="tx2"/>
                </a:solidFill>
                <a:latin typeface="Lato" panose="020F0502020204030203" pitchFamily="34" charset="0"/>
                <a:ea typeface="Lato" panose="020F0502020204030203" pitchFamily="34" charset="0"/>
                <a:cs typeface="Lato" panose="020F0502020204030203" pitchFamily="34" charset="0"/>
              </a:rPr>
              <a:t>CAM-22</a:t>
            </a:r>
          </a:p>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AFR-22</a:t>
            </a:r>
          </a:p>
        </p:txBody>
      </p:sp>
      <p:pic>
        <p:nvPicPr>
          <p:cNvPr id="9" name="Graphic 8" descr="Checkmark outline">
            <a:extLst>
              <a:ext uri="{FF2B5EF4-FFF2-40B4-BE49-F238E27FC236}">
                <a16:creationId xmlns:a16="http://schemas.microsoft.com/office/drawing/2014/main" id="{CB21A5A5-A5E0-6CC5-5565-B623ED6D64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34091" y="5669599"/>
            <a:ext cx="305166" cy="305166"/>
          </a:xfrm>
          <a:prstGeom prst="rect">
            <a:avLst/>
          </a:prstGeom>
        </p:spPr>
      </p:pic>
      <p:pic>
        <p:nvPicPr>
          <p:cNvPr id="10" name="Picture 9" descr="Spatial temperature map">
            <a:extLst>
              <a:ext uri="{FF2B5EF4-FFF2-40B4-BE49-F238E27FC236}">
                <a16:creationId xmlns:a16="http://schemas.microsoft.com/office/drawing/2014/main" id="{B43FDDC3-A2DE-9E00-D719-03B2D82FEE26}"/>
              </a:ext>
            </a:extLst>
          </p:cNvPr>
          <p:cNvPicPr>
            <a:picLocks noChangeAspect="1"/>
          </p:cNvPicPr>
          <p:nvPr/>
        </p:nvPicPr>
        <p:blipFill>
          <a:blip r:embed="rId6"/>
          <a:srcRect l="24554" t="11126" r="33304"/>
          <a:stretch>
            <a:fillRect/>
          </a:stretch>
        </p:blipFill>
        <p:spPr>
          <a:xfrm>
            <a:off x="4922184" y="3281578"/>
            <a:ext cx="1496219" cy="2481047"/>
          </a:xfrm>
          <a:prstGeom prst="rect">
            <a:avLst/>
          </a:prstGeom>
        </p:spPr>
      </p:pic>
      <p:sp>
        <p:nvSpPr>
          <p:cNvPr id="11" name="TextBox 10">
            <a:extLst>
              <a:ext uri="{FF2B5EF4-FFF2-40B4-BE49-F238E27FC236}">
                <a16:creationId xmlns:a16="http://schemas.microsoft.com/office/drawing/2014/main" id="{33650D9A-5845-8F77-59F4-78FBD4833476}"/>
              </a:ext>
            </a:extLst>
          </p:cNvPr>
          <p:cNvSpPr txBox="1"/>
          <p:nvPr/>
        </p:nvSpPr>
        <p:spPr>
          <a:xfrm>
            <a:off x="5096682" y="5718958"/>
            <a:ext cx="1579535" cy="307777"/>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Country = “Togo”</a:t>
            </a:r>
          </a:p>
        </p:txBody>
      </p:sp>
    </p:spTree>
    <p:extLst>
      <p:ext uri="{BB962C8B-B14F-4D97-AF65-F5344CB8AC3E}">
        <p14:creationId xmlns:p14="http://schemas.microsoft.com/office/powerpoint/2010/main" val="1432831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2CCC0-7FF5-2723-18B1-2B2E669F3D2D}"/>
            </a:ext>
          </a:extLst>
        </p:cNvPr>
        <p:cNvGrpSpPr/>
        <p:nvPr/>
      </p:nvGrpSpPr>
      <p:grpSpPr>
        <a:xfrm>
          <a:off x="0" y="0"/>
          <a:ext cx="0" cy="0"/>
          <a:chOff x="0" y="0"/>
          <a:chExt cx="0" cy="0"/>
        </a:xfrm>
      </p:grpSpPr>
      <p:sp>
        <p:nvSpPr>
          <p:cNvPr id="237" name="Google Shape;237;p12">
            <a:extLst>
              <a:ext uri="{FF2B5EF4-FFF2-40B4-BE49-F238E27FC236}">
                <a16:creationId xmlns:a16="http://schemas.microsoft.com/office/drawing/2014/main" id="{8E246CAA-DD68-7C59-7885-8B5D7EAF5413}"/>
              </a:ext>
            </a:extLst>
          </p:cNvPr>
          <p:cNvSpPr>
            <a:spLocks noGrp="1"/>
          </p:cNvSpPr>
          <p:nvPr/>
        </p:nvSpPr>
        <p:spPr>
          <a:xfrm>
            <a:off x="628650" y="438150"/>
            <a:ext cx="10896600" cy="4857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12304E"/>
              </a:buClr>
              <a:buSzPts val="2325"/>
              <a:buFont typeface="Lato"/>
              <a:buNone/>
            </a:pPr>
            <a:r>
              <a:rPr lang="en-GB" sz="2325" b="1" dirty="0" err="1">
                <a:solidFill>
                  <a:srgbClr val="12304E"/>
                </a:solidFill>
                <a:latin typeface="Lato"/>
                <a:ea typeface="Lato"/>
                <a:cs typeface="Lato"/>
              </a:rPr>
              <a:t>Cavapy</a:t>
            </a:r>
            <a:r>
              <a:rPr lang="en-GB" sz="2325" b="1" dirty="0">
                <a:solidFill>
                  <a:srgbClr val="12304E"/>
                </a:solidFill>
                <a:latin typeface="Lato"/>
                <a:ea typeface="Lato"/>
                <a:cs typeface="Lato"/>
              </a:rPr>
              <a:t> workflow</a:t>
            </a:r>
            <a:endParaRPr dirty="0"/>
          </a:p>
        </p:txBody>
      </p:sp>
      <p:sp>
        <p:nvSpPr>
          <p:cNvPr id="238" name="Google Shape;238;p12">
            <a:extLst>
              <a:ext uri="{FF2B5EF4-FFF2-40B4-BE49-F238E27FC236}">
                <a16:creationId xmlns:a16="http://schemas.microsoft.com/office/drawing/2014/main" id="{B81E759B-E573-C0CA-A022-6CEF27CCDDC0}"/>
              </a:ext>
            </a:extLst>
          </p:cNvPr>
          <p:cNvSpPr>
            <a:spLocks noGrp="1"/>
          </p:cNvSpPr>
          <p:nvPr/>
        </p:nvSpPr>
        <p:spPr>
          <a:xfrm>
            <a:off x="647700" y="971550"/>
            <a:ext cx="10477500" cy="28575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1125"/>
              <a:buFont typeface="Lato"/>
              <a:buNone/>
            </a:pPr>
            <a:r>
              <a:rPr lang="en-GB" sz="1125" b="0" dirty="0">
                <a:solidFill>
                  <a:srgbClr val="687984"/>
                </a:solidFill>
                <a:latin typeface="Lato"/>
                <a:ea typeface="Lato"/>
                <a:cs typeface="Lato"/>
              </a:rPr>
              <a:t>Steps used in </a:t>
            </a:r>
            <a:r>
              <a:rPr lang="en-GB" sz="1125" b="0" dirty="0" err="1">
                <a:solidFill>
                  <a:srgbClr val="687984"/>
                </a:solidFill>
                <a:latin typeface="Lato"/>
                <a:ea typeface="Lato"/>
                <a:cs typeface="Lato"/>
              </a:rPr>
              <a:t>cavapy</a:t>
            </a:r>
            <a:r>
              <a:rPr lang="en-GB" sz="1125" b="0" dirty="0">
                <a:solidFill>
                  <a:srgbClr val="687984"/>
                </a:solidFill>
                <a:latin typeface="Lato"/>
                <a:ea typeface="Lato"/>
                <a:cs typeface="Lato"/>
              </a:rPr>
              <a:t> </a:t>
            </a:r>
            <a:r>
              <a:rPr lang="en-GB" sz="1125" b="0" dirty="0" err="1">
                <a:solidFill>
                  <a:srgbClr val="687984"/>
                </a:solidFill>
                <a:latin typeface="Lato"/>
                <a:ea typeface="Lato"/>
                <a:cs typeface="Lato"/>
              </a:rPr>
              <a:t>get_climate_data</a:t>
            </a:r>
            <a:r>
              <a:rPr lang="en-GB" sz="1125" b="0" dirty="0">
                <a:solidFill>
                  <a:srgbClr val="687984"/>
                </a:solidFill>
                <a:latin typeface="Lato"/>
                <a:ea typeface="Lato"/>
                <a:cs typeface="Lato"/>
              </a:rPr>
              <a:t>() function</a:t>
            </a:r>
            <a:endParaRPr dirty="0"/>
          </a:p>
        </p:txBody>
      </p:sp>
      <p:sp>
        <p:nvSpPr>
          <p:cNvPr id="239" name="Google Shape;239;p12">
            <a:extLst>
              <a:ext uri="{FF2B5EF4-FFF2-40B4-BE49-F238E27FC236}">
                <a16:creationId xmlns:a16="http://schemas.microsoft.com/office/drawing/2014/main" id="{F366010D-4B1A-C8C0-D38C-F0FCB36F1CCD}"/>
              </a:ext>
            </a:extLst>
          </p:cNvPr>
          <p:cNvSpPr>
            <a:spLocks noGrp="1"/>
          </p:cNvSpPr>
          <p:nvPr/>
        </p:nvSpPr>
        <p:spPr>
          <a:xfrm>
            <a:off x="647700" y="1390650"/>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0" name="Google Shape;240;p12">
            <a:extLst>
              <a:ext uri="{FF2B5EF4-FFF2-40B4-BE49-F238E27FC236}">
                <a16:creationId xmlns:a16="http://schemas.microsoft.com/office/drawing/2014/main" id="{CA1E9279-0788-7BEB-0F81-B926CC0F76A1}"/>
              </a:ext>
            </a:extLst>
          </p:cNvPr>
          <p:cNvSpPr>
            <a:spLocks noGrp="1"/>
          </p:cNvSpPr>
          <p:nvPr/>
        </p:nvSpPr>
        <p:spPr>
          <a:xfrm>
            <a:off x="657225" y="1495425"/>
            <a:ext cx="990600" cy="28575"/>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1" name="Google Shape;241;p12">
            <a:extLst>
              <a:ext uri="{FF2B5EF4-FFF2-40B4-BE49-F238E27FC236}">
                <a16:creationId xmlns:a16="http://schemas.microsoft.com/office/drawing/2014/main" id="{B64CAB46-73E9-8AD0-5134-948D8C17CB70}"/>
              </a:ext>
            </a:extLst>
          </p:cNvPr>
          <p:cNvSpPr>
            <a:spLocks noGrp="1"/>
          </p:cNvSpPr>
          <p:nvPr/>
        </p:nvSpPr>
        <p:spPr>
          <a:xfrm>
            <a:off x="647700" y="6238875"/>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2" name="Google Shape;242;p12">
            <a:extLst>
              <a:ext uri="{FF2B5EF4-FFF2-40B4-BE49-F238E27FC236}">
                <a16:creationId xmlns:a16="http://schemas.microsoft.com/office/drawing/2014/main" id="{4C770562-94D1-3582-4009-D4B0F727E14B}"/>
              </a:ext>
            </a:extLst>
          </p:cNvPr>
          <p:cNvSpPr>
            <a:spLocks noGrp="1"/>
          </p:cNvSpPr>
          <p:nvPr/>
        </p:nvSpPr>
        <p:spPr>
          <a:xfrm>
            <a:off x="657225" y="6353175"/>
            <a:ext cx="2381250" cy="16192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a:ext uri="{FF2B5EF4-FFF2-40B4-BE49-F238E27FC236}">
                <a16:creationId xmlns:a16="http://schemas.microsoft.com/office/drawing/2014/main" id="{CA559912-BC43-8A53-7943-4AA9819671D8}"/>
              </a:ext>
            </a:extLst>
          </p:cNvPr>
          <p:cNvSpPr>
            <a:spLocks noGrp="1"/>
          </p:cNvSpPr>
          <p:nvPr/>
        </p:nvSpPr>
        <p:spPr>
          <a:xfrm>
            <a:off x="11049000" y="6343650"/>
            <a:ext cx="457200" cy="161925"/>
          </a:xfrm>
          <a:prstGeom prst="rect">
            <a:avLst/>
          </a:prstGeom>
          <a:noFill/>
          <a:ln>
            <a:noFill/>
          </a:ln>
        </p:spPr>
        <p:txBody>
          <a:bodyPr spcFirstLastPara="1" wrap="square" lIns="0" tIns="0" rIns="0" bIns="0" anchor="t">
            <a:noAutofit/>
          </a:bodyPr>
          <a:lstStyle/>
          <a:p>
            <a:pPr marL="0" marR="0" lvl="0" indent="0" algn="r">
              <a:lnSpc>
                <a:spcPct val="102000"/>
              </a:lnSpc>
              <a:spcBef>
                <a:spcPts val="0"/>
              </a:spcBef>
              <a:spcAft>
                <a:spcPts val="0"/>
              </a:spcAft>
              <a:buClr>
                <a:srgbClr val="687984"/>
              </a:buClr>
              <a:buSzPts val="750"/>
              <a:buFont typeface="Lato"/>
              <a:buNone/>
            </a:pPr>
            <a:r>
              <a:rPr sz="750" b="0" dirty="0">
                <a:solidFill>
                  <a:srgbClr val="687984"/>
                </a:solidFill>
                <a:latin typeface="Lato"/>
                <a:ea typeface="Lato"/>
                <a:cs typeface="Lato"/>
              </a:rPr>
              <a:t>0</a:t>
            </a:r>
            <a:r>
              <a:rPr lang="en-GB" sz="750" b="0" dirty="0">
                <a:solidFill>
                  <a:srgbClr val="687984"/>
                </a:solidFill>
                <a:latin typeface="Lato"/>
                <a:ea typeface="Lato"/>
                <a:cs typeface="Lato"/>
              </a:rPr>
              <a:t>2</a:t>
            </a:r>
            <a:endParaRPr dirty="0"/>
          </a:p>
        </p:txBody>
      </p:sp>
      <p:sp>
        <p:nvSpPr>
          <p:cNvPr id="12" name="TextBox 11">
            <a:extLst>
              <a:ext uri="{FF2B5EF4-FFF2-40B4-BE49-F238E27FC236}">
                <a16:creationId xmlns:a16="http://schemas.microsoft.com/office/drawing/2014/main" id="{0B3DEBC4-A9DF-5AFF-47E9-544E04ACBFCC}"/>
              </a:ext>
            </a:extLst>
          </p:cNvPr>
          <p:cNvSpPr txBox="1"/>
          <p:nvPr/>
        </p:nvSpPr>
        <p:spPr>
          <a:xfrm>
            <a:off x="3295024" y="1681885"/>
            <a:ext cx="2203704" cy="1231106"/>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Fault tolerance</a:t>
            </a:r>
          </a:p>
          <a:p>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Data fetching retries up to three times</a:t>
            </a:r>
          </a:p>
        </p:txBody>
      </p:sp>
      <p:sp>
        <p:nvSpPr>
          <p:cNvPr id="13" name="TextBox 12">
            <a:extLst>
              <a:ext uri="{FF2B5EF4-FFF2-40B4-BE49-F238E27FC236}">
                <a16:creationId xmlns:a16="http://schemas.microsoft.com/office/drawing/2014/main" id="{C38D6CA1-F6DA-C0A4-5B82-64659A899B82}"/>
              </a:ext>
            </a:extLst>
          </p:cNvPr>
          <p:cNvSpPr txBox="1"/>
          <p:nvPr/>
        </p:nvSpPr>
        <p:spPr>
          <a:xfrm>
            <a:off x="612648" y="1681885"/>
            <a:ext cx="2420112" cy="1231106"/>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Parallelisation</a:t>
            </a:r>
          </a:p>
          <a:p>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Variables are fetched in parallel</a:t>
            </a:r>
          </a:p>
        </p:txBody>
      </p:sp>
      <p:sp>
        <p:nvSpPr>
          <p:cNvPr id="14" name="TextBox 13">
            <a:extLst>
              <a:ext uri="{FF2B5EF4-FFF2-40B4-BE49-F238E27FC236}">
                <a16:creationId xmlns:a16="http://schemas.microsoft.com/office/drawing/2014/main" id="{D5AF2F73-CF37-3396-5FEB-D7CE08B0A62A}"/>
              </a:ext>
            </a:extLst>
          </p:cNvPr>
          <p:cNvSpPr txBox="1"/>
          <p:nvPr/>
        </p:nvSpPr>
        <p:spPr>
          <a:xfrm>
            <a:off x="5896220" y="1681885"/>
            <a:ext cx="2578401" cy="1508105"/>
          </a:xfrm>
          <a:prstGeom prst="rect">
            <a:avLst/>
          </a:prstGeom>
          <a:noFill/>
        </p:spPr>
        <p:txBody>
          <a:bodyPr wrap="square" rtlCol="0">
            <a:spAutoFit/>
          </a:bodyPr>
          <a:lstStyle/>
          <a:p>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Bias correction</a:t>
            </a:r>
          </a:p>
          <a:p>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i="1" dirty="0">
                <a:solidFill>
                  <a:schemeClr val="tx2"/>
                </a:solidFill>
                <a:latin typeface="Lato" panose="020F0502020204030203" pitchFamily="34" charset="0"/>
                <a:ea typeface="Lato" panose="020F0502020204030203" pitchFamily="34" charset="0"/>
                <a:cs typeface="Lato" panose="020F0502020204030203" pitchFamily="34" charset="0"/>
              </a:rPr>
              <a:t>EQM ERA5 bias correction or pre-bias corrected data available</a:t>
            </a:r>
          </a:p>
        </p:txBody>
      </p:sp>
      <p:sp>
        <p:nvSpPr>
          <p:cNvPr id="15" name="TextBox 14">
            <a:extLst>
              <a:ext uri="{FF2B5EF4-FFF2-40B4-BE49-F238E27FC236}">
                <a16:creationId xmlns:a16="http://schemas.microsoft.com/office/drawing/2014/main" id="{B78DBB7C-52FB-B530-1BCD-6E18FAC74232}"/>
              </a:ext>
            </a:extLst>
          </p:cNvPr>
          <p:cNvSpPr txBox="1"/>
          <p:nvPr/>
        </p:nvSpPr>
        <p:spPr>
          <a:xfrm>
            <a:off x="720801" y="3874956"/>
            <a:ext cx="1084072" cy="1754326"/>
          </a:xfrm>
          <a:prstGeom prst="rect">
            <a:avLst/>
          </a:prstGeom>
          <a:noFill/>
          <a:ln>
            <a:solidFill>
              <a:schemeClr val="tx1"/>
            </a:solidFill>
          </a:ln>
        </p:spPr>
        <p:txBody>
          <a:bodyPr wrap="square" rtlCol="0">
            <a:spAutoFit/>
          </a:bodyPr>
          <a:lstStyle/>
          <a:p>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Pr</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Tasmax</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b="1" dirty="0">
                <a:solidFill>
                  <a:schemeClr val="tx2"/>
                </a:solidFill>
                <a:latin typeface="Lato" panose="020F0502020204030203" pitchFamily="34" charset="0"/>
                <a:ea typeface="Lato" panose="020F0502020204030203" pitchFamily="34" charset="0"/>
                <a:cs typeface="Lato" panose="020F0502020204030203" pitchFamily="34" charset="0"/>
              </a:rPr>
              <a:t>Tasmin</a:t>
            </a:r>
          </a:p>
          <a:p>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Rsds</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SfcWind</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en-GB" b="1" dirty="0">
                <a:solidFill>
                  <a:schemeClr val="tx2"/>
                </a:solidFill>
                <a:latin typeface="Lato" panose="020F0502020204030203" pitchFamily="34" charset="0"/>
                <a:ea typeface="Lato" panose="020F0502020204030203" pitchFamily="34" charset="0"/>
                <a:cs typeface="Lato" panose="020F0502020204030203" pitchFamily="34" charset="0"/>
              </a:rPr>
              <a:t>Hurs</a:t>
            </a:r>
          </a:p>
        </p:txBody>
      </p:sp>
      <p:sp>
        <p:nvSpPr>
          <p:cNvPr id="16" name="TextBox 15">
            <a:extLst>
              <a:ext uri="{FF2B5EF4-FFF2-40B4-BE49-F238E27FC236}">
                <a16:creationId xmlns:a16="http://schemas.microsoft.com/office/drawing/2014/main" id="{94374D83-BC31-3954-3D19-51E270D43FF4}"/>
              </a:ext>
            </a:extLst>
          </p:cNvPr>
          <p:cNvSpPr txBox="1"/>
          <p:nvPr/>
        </p:nvSpPr>
        <p:spPr>
          <a:xfrm>
            <a:off x="2133041" y="3439110"/>
            <a:ext cx="1084072" cy="369332"/>
          </a:xfrm>
          <a:prstGeom prst="rect">
            <a:avLst/>
          </a:prstGeom>
          <a:noFill/>
          <a:ln>
            <a:solidFill>
              <a:schemeClr val="tx1"/>
            </a:solidFill>
          </a:ln>
        </p:spPr>
        <p:txBody>
          <a:bodyPr wrap="square" rtlCol="0">
            <a:spAutoFit/>
          </a:bodyPr>
          <a:lstStyle/>
          <a:p>
            <a:pPr algn="ctr"/>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Pr</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3F45B818-9577-3523-ED6C-554D3912A5EF}"/>
              </a:ext>
            </a:extLst>
          </p:cNvPr>
          <p:cNvSpPr txBox="1"/>
          <p:nvPr/>
        </p:nvSpPr>
        <p:spPr>
          <a:xfrm>
            <a:off x="2133041" y="3893267"/>
            <a:ext cx="1084072" cy="369332"/>
          </a:xfrm>
          <a:prstGeom prst="rect">
            <a:avLst/>
          </a:prstGeom>
          <a:noFill/>
          <a:ln>
            <a:solidFill>
              <a:schemeClr val="tx1"/>
            </a:solidFill>
          </a:ln>
        </p:spPr>
        <p:txBody>
          <a:bodyPr wrap="square" rtlCol="0">
            <a:spAutoFit/>
          </a:bodyPr>
          <a:lstStyle/>
          <a:p>
            <a:pPr algn="ctr"/>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Tasmax</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8" name="TextBox 17">
            <a:extLst>
              <a:ext uri="{FF2B5EF4-FFF2-40B4-BE49-F238E27FC236}">
                <a16:creationId xmlns:a16="http://schemas.microsoft.com/office/drawing/2014/main" id="{C355196F-DC1C-16D4-C8F8-909D5319B540}"/>
              </a:ext>
            </a:extLst>
          </p:cNvPr>
          <p:cNvSpPr txBox="1"/>
          <p:nvPr/>
        </p:nvSpPr>
        <p:spPr>
          <a:xfrm>
            <a:off x="2133041" y="4334562"/>
            <a:ext cx="1084072" cy="369332"/>
          </a:xfrm>
          <a:prstGeom prst="rect">
            <a:avLst/>
          </a:prstGeom>
          <a:noFill/>
          <a:ln>
            <a:solidFill>
              <a:schemeClr val="tx1"/>
            </a:solidFill>
          </a:ln>
        </p:spPr>
        <p:txBody>
          <a:bodyPr wrap="square" rtlCol="0">
            <a:spAutoFit/>
          </a:bodyPr>
          <a:lstStyle/>
          <a:p>
            <a:pPr algn="ctr"/>
            <a:r>
              <a:rPr lang="en-GB" b="1" dirty="0">
                <a:solidFill>
                  <a:schemeClr val="tx2"/>
                </a:solidFill>
                <a:latin typeface="Lato" panose="020F0502020204030203" pitchFamily="34" charset="0"/>
                <a:ea typeface="Lato" panose="020F0502020204030203" pitchFamily="34" charset="0"/>
                <a:cs typeface="Lato" panose="020F0502020204030203" pitchFamily="34" charset="0"/>
              </a:rPr>
              <a:t>Tasmin</a:t>
            </a:r>
          </a:p>
        </p:txBody>
      </p:sp>
      <p:sp>
        <p:nvSpPr>
          <p:cNvPr id="19" name="TextBox 18">
            <a:extLst>
              <a:ext uri="{FF2B5EF4-FFF2-40B4-BE49-F238E27FC236}">
                <a16:creationId xmlns:a16="http://schemas.microsoft.com/office/drawing/2014/main" id="{4CBA57AC-20B6-38A1-3E43-42F6FB57FD9E}"/>
              </a:ext>
            </a:extLst>
          </p:cNvPr>
          <p:cNvSpPr txBox="1"/>
          <p:nvPr/>
        </p:nvSpPr>
        <p:spPr>
          <a:xfrm>
            <a:off x="2133041" y="4818655"/>
            <a:ext cx="1084072" cy="369332"/>
          </a:xfrm>
          <a:prstGeom prst="rect">
            <a:avLst/>
          </a:prstGeom>
          <a:noFill/>
          <a:ln>
            <a:solidFill>
              <a:schemeClr val="tx1"/>
            </a:solidFill>
          </a:ln>
        </p:spPr>
        <p:txBody>
          <a:bodyPr wrap="square" rtlCol="0">
            <a:spAutoFit/>
          </a:bodyPr>
          <a:lstStyle/>
          <a:p>
            <a:pPr algn="ctr"/>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Rsds</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20" name="TextBox 19">
            <a:extLst>
              <a:ext uri="{FF2B5EF4-FFF2-40B4-BE49-F238E27FC236}">
                <a16:creationId xmlns:a16="http://schemas.microsoft.com/office/drawing/2014/main" id="{360A5960-BFD5-12F8-3000-6DE36CC46BE6}"/>
              </a:ext>
            </a:extLst>
          </p:cNvPr>
          <p:cNvSpPr txBox="1"/>
          <p:nvPr/>
        </p:nvSpPr>
        <p:spPr>
          <a:xfrm>
            <a:off x="2133041" y="5259950"/>
            <a:ext cx="1084072" cy="369332"/>
          </a:xfrm>
          <a:prstGeom prst="rect">
            <a:avLst/>
          </a:prstGeom>
          <a:noFill/>
          <a:ln>
            <a:solidFill>
              <a:schemeClr val="tx1"/>
            </a:solidFill>
          </a:ln>
        </p:spPr>
        <p:txBody>
          <a:bodyPr wrap="square" rtlCol="0">
            <a:spAutoFit/>
          </a:bodyPr>
          <a:lstStyle/>
          <a:p>
            <a:pPr algn="ctr"/>
            <a:r>
              <a:rPr lang="en-GB" b="1" dirty="0" err="1">
                <a:solidFill>
                  <a:schemeClr val="tx2"/>
                </a:solidFill>
                <a:latin typeface="Lato" panose="020F0502020204030203" pitchFamily="34" charset="0"/>
                <a:ea typeface="Lato" panose="020F0502020204030203" pitchFamily="34" charset="0"/>
                <a:cs typeface="Lato" panose="020F0502020204030203" pitchFamily="34" charset="0"/>
              </a:rPr>
              <a:t>SfcWind</a:t>
            </a:r>
            <a:endParaRPr lang="en-GB"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21" name="TextBox 20">
            <a:extLst>
              <a:ext uri="{FF2B5EF4-FFF2-40B4-BE49-F238E27FC236}">
                <a16:creationId xmlns:a16="http://schemas.microsoft.com/office/drawing/2014/main" id="{DFA6C026-06FB-6A1C-F702-20461CB69647}"/>
              </a:ext>
            </a:extLst>
          </p:cNvPr>
          <p:cNvSpPr txBox="1"/>
          <p:nvPr/>
        </p:nvSpPr>
        <p:spPr>
          <a:xfrm>
            <a:off x="2127961" y="5706843"/>
            <a:ext cx="1084072" cy="369332"/>
          </a:xfrm>
          <a:prstGeom prst="rect">
            <a:avLst/>
          </a:prstGeom>
          <a:noFill/>
          <a:ln>
            <a:solidFill>
              <a:schemeClr val="tx1"/>
            </a:solidFill>
          </a:ln>
        </p:spPr>
        <p:txBody>
          <a:bodyPr wrap="square" rtlCol="0">
            <a:spAutoFit/>
          </a:bodyPr>
          <a:lstStyle/>
          <a:p>
            <a:pPr algn="ctr"/>
            <a:r>
              <a:rPr lang="en-GB" b="1" dirty="0">
                <a:solidFill>
                  <a:schemeClr val="tx2"/>
                </a:solidFill>
                <a:latin typeface="Lato" panose="020F0502020204030203" pitchFamily="34" charset="0"/>
                <a:ea typeface="Lato" panose="020F0502020204030203" pitchFamily="34" charset="0"/>
                <a:cs typeface="Lato" panose="020F0502020204030203" pitchFamily="34" charset="0"/>
              </a:rPr>
              <a:t>Hurs</a:t>
            </a:r>
          </a:p>
        </p:txBody>
      </p:sp>
      <p:cxnSp>
        <p:nvCxnSpPr>
          <p:cNvPr id="22" name="Straight Connector 21">
            <a:extLst>
              <a:ext uri="{FF2B5EF4-FFF2-40B4-BE49-F238E27FC236}">
                <a16:creationId xmlns:a16="http://schemas.microsoft.com/office/drawing/2014/main" id="{02D5BE2D-03C4-4750-B317-835491E21B00}"/>
              </a:ext>
            </a:extLst>
          </p:cNvPr>
          <p:cNvCxnSpPr>
            <a:endCxn id="16" idx="1"/>
          </p:cNvCxnSpPr>
          <p:nvPr/>
        </p:nvCxnSpPr>
        <p:spPr>
          <a:xfrm flipV="1">
            <a:off x="1804873" y="3623776"/>
            <a:ext cx="328168" cy="26949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A5DD1FA-099D-5C9F-BC9E-AF10752D026C}"/>
              </a:ext>
            </a:extLst>
          </p:cNvPr>
          <p:cNvCxnSpPr>
            <a:cxnSpLocks/>
            <a:endCxn id="17" idx="1"/>
          </p:cNvCxnSpPr>
          <p:nvPr/>
        </p:nvCxnSpPr>
        <p:spPr>
          <a:xfrm flipV="1">
            <a:off x="1804873" y="4077933"/>
            <a:ext cx="328168" cy="143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39BA552-AD83-0B03-1F38-657D9020A923}"/>
              </a:ext>
            </a:extLst>
          </p:cNvPr>
          <p:cNvCxnSpPr>
            <a:cxnSpLocks/>
            <a:endCxn id="18" idx="1"/>
          </p:cNvCxnSpPr>
          <p:nvPr/>
        </p:nvCxnSpPr>
        <p:spPr>
          <a:xfrm flipV="1">
            <a:off x="1804873" y="4519228"/>
            <a:ext cx="328168" cy="35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C785E3F-CAD8-238D-54E5-C1656B0154AF}"/>
              </a:ext>
            </a:extLst>
          </p:cNvPr>
          <p:cNvCxnSpPr>
            <a:cxnSpLocks/>
            <a:endCxn id="19" idx="1"/>
          </p:cNvCxnSpPr>
          <p:nvPr/>
        </p:nvCxnSpPr>
        <p:spPr>
          <a:xfrm>
            <a:off x="1804873" y="4911204"/>
            <a:ext cx="328168" cy="92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86723AD-9352-AFAE-A3FA-8C332D7D5104}"/>
              </a:ext>
            </a:extLst>
          </p:cNvPr>
          <p:cNvCxnSpPr>
            <a:cxnSpLocks/>
            <a:endCxn id="20" idx="1"/>
          </p:cNvCxnSpPr>
          <p:nvPr/>
        </p:nvCxnSpPr>
        <p:spPr>
          <a:xfrm>
            <a:off x="1804873" y="5315299"/>
            <a:ext cx="328168" cy="1293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7D8DBEB-52F8-8C38-6712-364924BCC410}"/>
              </a:ext>
            </a:extLst>
          </p:cNvPr>
          <p:cNvCxnSpPr>
            <a:cxnSpLocks/>
            <a:endCxn id="21" idx="1"/>
          </p:cNvCxnSpPr>
          <p:nvPr/>
        </p:nvCxnSpPr>
        <p:spPr>
          <a:xfrm>
            <a:off x="1804873" y="5619972"/>
            <a:ext cx="323088" cy="271537"/>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E492287E-9368-8393-53E1-35FFB7EAC14E}"/>
              </a:ext>
            </a:extLst>
          </p:cNvPr>
          <p:cNvSpPr txBox="1"/>
          <p:nvPr/>
        </p:nvSpPr>
        <p:spPr>
          <a:xfrm>
            <a:off x="8845233" y="1677375"/>
            <a:ext cx="3025005" cy="1508105"/>
          </a:xfrm>
          <a:prstGeom prst="rect">
            <a:avLst/>
          </a:prstGeom>
          <a:noFill/>
        </p:spPr>
        <p:txBody>
          <a:bodyPr wrap="square" rtlCol="0">
            <a:spAutoFit/>
          </a:bodyPr>
          <a:lstStyle/>
          <a:p>
            <a:r>
              <a:rPr lang="en-GB" sz="2000" b="1" u="sng" dirty="0">
                <a:solidFill>
                  <a:schemeClr val="tx2"/>
                </a:solidFill>
                <a:latin typeface="Lato" panose="020F0502020204030203" pitchFamily="34" charset="0"/>
                <a:ea typeface="Lato" panose="020F0502020204030203" pitchFamily="34" charset="0"/>
                <a:cs typeface="Lato" panose="020F0502020204030203" pitchFamily="34" charset="0"/>
              </a:rPr>
              <a:t>Data processing</a:t>
            </a:r>
            <a:endParaRPr lang="en-GB" sz="2000" u="sng" dirty="0">
              <a:solidFill>
                <a:schemeClr val="tx2"/>
              </a:solidFill>
              <a:latin typeface="Lato" panose="020F0502020204030203" pitchFamily="34" charset="0"/>
              <a:ea typeface="Lato" panose="020F0502020204030203" pitchFamily="34" charset="0"/>
              <a:cs typeface="Lato" panose="020F0502020204030203" pitchFamily="34" charset="0"/>
            </a:endParaRPr>
          </a:p>
          <a:p>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GB" i="1" dirty="0">
                <a:solidFill>
                  <a:schemeClr val="tx2"/>
                </a:solidFill>
                <a:latin typeface="Lato" panose="020F0502020204030203" pitchFamily="34" charset="0"/>
                <a:ea typeface="Lato" panose="020F0502020204030203" pitchFamily="34" charset="0"/>
                <a:cs typeface="Lato" panose="020F0502020204030203" pitchFamily="34" charset="0"/>
              </a:rPr>
              <a:t>Unit conversion</a:t>
            </a:r>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GB" i="1" dirty="0" err="1">
                <a:solidFill>
                  <a:schemeClr val="tx2"/>
                </a:solidFill>
                <a:latin typeface="Lato" panose="020F0502020204030203" pitchFamily="34" charset="0"/>
                <a:ea typeface="Lato" panose="020F0502020204030203" pitchFamily="34" charset="0"/>
                <a:cs typeface="Lato" panose="020F0502020204030203" pitchFamily="34" charset="0"/>
              </a:rPr>
              <a:t>Regridding</a:t>
            </a:r>
            <a:endParaRPr lang="en-GB" dirty="0">
              <a:solidFill>
                <a:schemeClr val="tx2"/>
              </a:solidFill>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GB" i="1" dirty="0">
                <a:solidFill>
                  <a:schemeClr val="tx2"/>
                </a:solidFill>
                <a:latin typeface="Lato" panose="020F0502020204030203" pitchFamily="34" charset="0"/>
                <a:ea typeface="Lato" panose="020F0502020204030203" pitchFamily="34" charset="0"/>
                <a:cs typeface="Lato" panose="020F0502020204030203" pitchFamily="34" charset="0"/>
              </a:rPr>
              <a:t>Calendar harmonisation</a:t>
            </a:r>
          </a:p>
        </p:txBody>
      </p:sp>
      <p:grpSp>
        <p:nvGrpSpPr>
          <p:cNvPr id="29" name="Group 28">
            <a:extLst>
              <a:ext uri="{FF2B5EF4-FFF2-40B4-BE49-F238E27FC236}">
                <a16:creationId xmlns:a16="http://schemas.microsoft.com/office/drawing/2014/main" id="{FA268A9F-7469-BD86-C07B-FC47C208F3C1}"/>
              </a:ext>
            </a:extLst>
          </p:cNvPr>
          <p:cNvGrpSpPr/>
          <p:nvPr/>
        </p:nvGrpSpPr>
        <p:grpSpPr>
          <a:xfrm>
            <a:off x="8880758" y="3829485"/>
            <a:ext cx="3155188" cy="312121"/>
            <a:chOff x="8437927" y="2580218"/>
            <a:chExt cx="3155188" cy="312121"/>
          </a:xfrm>
        </p:grpSpPr>
        <p:sp>
          <p:nvSpPr>
            <p:cNvPr id="30" name="TextBox 29">
              <a:extLst>
                <a:ext uri="{FF2B5EF4-FFF2-40B4-BE49-F238E27FC236}">
                  <a16:creationId xmlns:a16="http://schemas.microsoft.com/office/drawing/2014/main" id="{D25830B6-AACB-6A52-89DE-DA0A2B6FE51C}"/>
                </a:ext>
              </a:extLst>
            </p:cNvPr>
            <p:cNvSpPr txBox="1"/>
            <p:nvPr/>
          </p:nvSpPr>
          <p:spPr>
            <a:xfrm>
              <a:off x="8437927" y="2584562"/>
              <a:ext cx="1259840" cy="307777"/>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Kelvin (K) </a:t>
              </a:r>
            </a:p>
          </p:txBody>
        </p:sp>
        <p:sp>
          <p:nvSpPr>
            <p:cNvPr id="31" name="TextBox 30">
              <a:extLst>
                <a:ext uri="{FF2B5EF4-FFF2-40B4-BE49-F238E27FC236}">
                  <a16:creationId xmlns:a16="http://schemas.microsoft.com/office/drawing/2014/main" id="{A6342034-D6CD-1736-F21B-8F9F022BC476}"/>
                </a:ext>
              </a:extLst>
            </p:cNvPr>
            <p:cNvSpPr txBox="1"/>
            <p:nvPr/>
          </p:nvSpPr>
          <p:spPr>
            <a:xfrm>
              <a:off x="10092483" y="2580218"/>
              <a:ext cx="1500632" cy="307777"/>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Celsius (°C) </a:t>
              </a:r>
            </a:p>
          </p:txBody>
        </p:sp>
        <p:cxnSp>
          <p:nvCxnSpPr>
            <p:cNvPr id="32" name="Straight Arrow Connector 31">
              <a:extLst>
                <a:ext uri="{FF2B5EF4-FFF2-40B4-BE49-F238E27FC236}">
                  <a16:creationId xmlns:a16="http://schemas.microsoft.com/office/drawing/2014/main" id="{67E129BB-0DC7-D08D-44D9-55EC2E80960F}"/>
                </a:ext>
              </a:extLst>
            </p:cNvPr>
            <p:cNvCxnSpPr>
              <a:cxnSpLocks/>
            </p:cNvCxnSpPr>
            <p:nvPr/>
          </p:nvCxnSpPr>
          <p:spPr>
            <a:xfrm>
              <a:off x="9653322" y="2720409"/>
              <a:ext cx="3224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D19FD387-FA92-5F44-A003-6291CC667CD5}"/>
              </a:ext>
            </a:extLst>
          </p:cNvPr>
          <p:cNvGrpSpPr/>
          <p:nvPr/>
        </p:nvGrpSpPr>
        <p:grpSpPr>
          <a:xfrm>
            <a:off x="8733302" y="4320200"/>
            <a:ext cx="2985445" cy="523220"/>
            <a:chOff x="8509444" y="3901419"/>
            <a:chExt cx="2985445" cy="523220"/>
          </a:xfrm>
        </p:grpSpPr>
        <p:sp>
          <p:nvSpPr>
            <p:cNvPr id="34" name="TextBox 33">
              <a:extLst>
                <a:ext uri="{FF2B5EF4-FFF2-40B4-BE49-F238E27FC236}">
                  <a16:creationId xmlns:a16="http://schemas.microsoft.com/office/drawing/2014/main" id="{A2DFE1DC-9009-D247-E2D4-A9BEAC96F655}"/>
                </a:ext>
              </a:extLst>
            </p:cNvPr>
            <p:cNvSpPr txBox="1"/>
            <p:nvPr/>
          </p:nvSpPr>
          <p:spPr>
            <a:xfrm>
              <a:off x="8509444" y="3901419"/>
              <a:ext cx="1526406" cy="523220"/>
            </a:xfrm>
            <a:prstGeom prst="rect">
              <a:avLst/>
            </a:prstGeom>
            <a:noFill/>
          </p:spPr>
          <p:txBody>
            <a:bodyPr wrap="square" rtlCol="0">
              <a:spAutoFit/>
            </a:bodyPr>
            <a:lstStyle/>
            <a:p>
              <a:pPr algn="ct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Rotated polar coords</a:t>
              </a:r>
            </a:p>
          </p:txBody>
        </p:sp>
        <p:sp>
          <p:nvSpPr>
            <p:cNvPr id="35" name="TextBox 34">
              <a:extLst>
                <a:ext uri="{FF2B5EF4-FFF2-40B4-BE49-F238E27FC236}">
                  <a16:creationId xmlns:a16="http://schemas.microsoft.com/office/drawing/2014/main" id="{5D611908-5F0E-90B6-9FD1-3C6AD00B4EDC}"/>
                </a:ext>
              </a:extLst>
            </p:cNvPr>
            <p:cNvSpPr txBox="1"/>
            <p:nvPr/>
          </p:nvSpPr>
          <p:spPr>
            <a:xfrm>
              <a:off x="10059923" y="3956128"/>
              <a:ext cx="1434966" cy="307777"/>
            </a:xfrm>
            <a:prstGeom prst="rect">
              <a:avLst/>
            </a:prstGeom>
            <a:noFill/>
          </p:spPr>
          <p:txBody>
            <a:bodyPr wrap="square" rtlCol="0">
              <a:spAutoFit/>
            </a:bodyPr>
            <a:lstStyle/>
            <a:p>
              <a:pPr algn="ct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Lat &amp; Lon</a:t>
              </a:r>
            </a:p>
          </p:txBody>
        </p:sp>
        <p:cxnSp>
          <p:nvCxnSpPr>
            <p:cNvPr id="36" name="Straight Arrow Connector 35">
              <a:extLst>
                <a:ext uri="{FF2B5EF4-FFF2-40B4-BE49-F238E27FC236}">
                  <a16:creationId xmlns:a16="http://schemas.microsoft.com/office/drawing/2014/main" id="{E1C22F6E-6D44-76B1-56C9-4C25FAF6FEC7}"/>
                </a:ext>
              </a:extLst>
            </p:cNvPr>
            <p:cNvCxnSpPr>
              <a:cxnSpLocks/>
            </p:cNvCxnSpPr>
            <p:nvPr/>
          </p:nvCxnSpPr>
          <p:spPr>
            <a:xfrm>
              <a:off x="9948163" y="4123419"/>
              <a:ext cx="3224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8FBAE9CE-DDB4-DEAF-3A1A-86409556A61D}"/>
              </a:ext>
            </a:extLst>
          </p:cNvPr>
          <p:cNvGrpSpPr/>
          <p:nvPr/>
        </p:nvGrpSpPr>
        <p:grpSpPr>
          <a:xfrm>
            <a:off x="8582774" y="4888629"/>
            <a:ext cx="3185451" cy="607653"/>
            <a:chOff x="8364095" y="5468044"/>
            <a:chExt cx="3185451" cy="607653"/>
          </a:xfrm>
        </p:grpSpPr>
        <p:sp>
          <p:nvSpPr>
            <p:cNvPr id="38" name="TextBox 37">
              <a:extLst>
                <a:ext uri="{FF2B5EF4-FFF2-40B4-BE49-F238E27FC236}">
                  <a16:creationId xmlns:a16="http://schemas.microsoft.com/office/drawing/2014/main" id="{D377C165-1CD1-71EC-66B6-B5E7FFD9BB1E}"/>
                </a:ext>
              </a:extLst>
            </p:cNvPr>
            <p:cNvSpPr txBox="1"/>
            <p:nvPr/>
          </p:nvSpPr>
          <p:spPr>
            <a:xfrm>
              <a:off x="8364095" y="5552477"/>
              <a:ext cx="1434966" cy="523220"/>
            </a:xfrm>
            <a:prstGeom prst="rect">
              <a:avLst/>
            </a:prstGeom>
            <a:noFill/>
          </p:spPr>
          <p:txBody>
            <a:bodyPr wrap="square" rtlCol="0">
              <a:spAutoFit/>
            </a:bodyPr>
            <a:lstStyle/>
            <a:p>
              <a:pPr algn="ct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360-day calendar</a:t>
              </a:r>
            </a:p>
          </p:txBody>
        </p:sp>
        <p:sp>
          <p:nvSpPr>
            <p:cNvPr id="39" name="TextBox 38">
              <a:extLst>
                <a:ext uri="{FF2B5EF4-FFF2-40B4-BE49-F238E27FC236}">
                  <a16:creationId xmlns:a16="http://schemas.microsoft.com/office/drawing/2014/main" id="{6FA826CD-ED91-29C6-6730-B963777CE9CF}"/>
                </a:ext>
              </a:extLst>
            </p:cNvPr>
            <p:cNvSpPr txBox="1"/>
            <p:nvPr/>
          </p:nvSpPr>
          <p:spPr>
            <a:xfrm>
              <a:off x="10114580" y="5468044"/>
              <a:ext cx="1434966" cy="523220"/>
            </a:xfrm>
            <a:prstGeom prst="rect">
              <a:avLst/>
            </a:prstGeom>
            <a:noFill/>
          </p:spPr>
          <p:txBody>
            <a:bodyPr wrap="square" rtlCol="0">
              <a:spAutoFit/>
            </a:bodyPr>
            <a:lstStyle/>
            <a:p>
              <a:pPr algn="ct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365-day calendar + </a:t>
              </a:r>
              <a:r>
                <a:rPr lang="en-GB" sz="1400" b="1" dirty="0" err="1">
                  <a:solidFill>
                    <a:schemeClr val="tx2"/>
                  </a:solidFill>
                  <a:latin typeface="Lato" panose="020F0502020204030203" pitchFamily="34" charset="0"/>
                  <a:ea typeface="Lato" panose="020F0502020204030203" pitchFamily="34" charset="0"/>
                  <a:cs typeface="Lato" panose="020F0502020204030203" pitchFamily="34" charset="0"/>
                </a:rPr>
                <a:t>NaN</a:t>
              </a:r>
              <a:endParaRPr lang="en-GB" sz="1400"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cxnSp>
          <p:nvCxnSpPr>
            <p:cNvPr id="40" name="Straight Arrow Connector 39">
              <a:extLst>
                <a:ext uri="{FF2B5EF4-FFF2-40B4-BE49-F238E27FC236}">
                  <a16:creationId xmlns:a16="http://schemas.microsoft.com/office/drawing/2014/main" id="{101B60EC-5692-0F84-D4F7-738390FDC8A1}"/>
                </a:ext>
              </a:extLst>
            </p:cNvPr>
            <p:cNvCxnSpPr>
              <a:cxnSpLocks/>
            </p:cNvCxnSpPr>
            <p:nvPr/>
          </p:nvCxnSpPr>
          <p:spPr>
            <a:xfrm>
              <a:off x="9681158" y="5783825"/>
              <a:ext cx="3224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41" name="Straight Connector 40">
            <a:extLst>
              <a:ext uri="{FF2B5EF4-FFF2-40B4-BE49-F238E27FC236}">
                <a16:creationId xmlns:a16="http://schemas.microsoft.com/office/drawing/2014/main" id="{B36872F1-131D-E6F5-D867-0BEF6D6E7364}"/>
              </a:ext>
            </a:extLst>
          </p:cNvPr>
          <p:cNvCxnSpPr>
            <a:stCxn id="16" idx="3"/>
          </p:cNvCxnSpPr>
          <p:nvPr/>
        </p:nvCxnSpPr>
        <p:spPr>
          <a:xfrm>
            <a:off x="3217113" y="3623776"/>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95AAD5A-942D-90D9-68F2-065D141F69E8}"/>
              </a:ext>
            </a:extLst>
          </p:cNvPr>
          <p:cNvCxnSpPr>
            <a:cxnSpLocks/>
          </p:cNvCxnSpPr>
          <p:nvPr/>
        </p:nvCxnSpPr>
        <p:spPr>
          <a:xfrm flipV="1">
            <a:off x="3593033" y="3552656"/>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19ED485-13EA-9165-D4F1-0A2DF1E2C974}"/>
              </a:ext>
            </a:extLst>
          </p:cNvPr>
          <p:cNvCxnSpPr/>
          <p:nvPr/>
        </p:nvCxnSpPr>
        <p:spPr>
          <a:xfrm>
            <a:off x="3205365" y="4077933"/>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B614B26-7D73-BE15-E244-D7DECDC77046}"/>
              </a:ext>
            </a:extLst>
          </p:cNvPr>
          <p:cNvCxnSpPr>
            <a:cxnSpLocks/>
          </p:cNvCxnSpPr>
          <p:nvPr/>
        </p:nvCxnSpPr>
        <p:spPr>
          <a:xfrm flipV="1">
            <a:off x="3581285" y="4006813"/>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8123D71-83C8-BBBF-B5AB-66318CD35E74}"/>
              </a:ext>
            </a:extLst>
          </p:cNvPr>
          <p:cNvCxnSpPr/>
          <p:nvPr/>
        </p:nvCxnSpPr>
        <p:spPr>
          <a:xfrm>
            <a:off x="3217113" y="4533161"/>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D8E1ED4-762E-6364-C842-D6DEB0230288}"/>
              </a:ext>
            </a:extLst>
          </p:cNvPr>
          <p:cNvCxnSpPr>
            <a:cxnSpLocks/>
          </p:cNvCxnSpPr>
          <p:nvPr/>
        </p:nvCxnSpPr>
        <p:spPr>
          <a:xfrm flipV="1">
            <a:off x="3593033" y="4462041"/>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A7417B0-74D3-A42F-25E5-C4887698E6DC}"/>
              </a:ext>
            </a:extLst>
          </p:cNvPr>
          <p:cNvCxnSpPr/>
          <p:nvPr/>
        </p:nvCxnSpPr>
        <p:spPr>
          <a:xfrm>
            <a:off x="3218700" y="5013481"/>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528AC1E-B1B7-E4A2-DE8E-C6C1324C3320}"/>
              </a:ext>
            </a:extLst>
          </p:cNvPr>
          <p:cNvCxnSpPr>
            <a:cxnSpLocks/>
          </p:cNvCxnSpPr>
          <p:nvPr/>
        </p:nvCxnSpPr>
        <p:spPr>
          <a:xfrm flipV="1">
            <a:off x="3594620" y="4942361"/>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356F77C-8338-4695-5521-144BC3744E81}"/>
              </a:ext>
            </a:extLst>
          </p:cNvPr>
          <p:cNvCxnSpPr/>
          <p:nvPr/>
        </p:nvCxnSpPr>
        <p:spPr>
          <a:xfrm>
            <a:off x="3218700" y="5454776"/>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BCEDC69-CFB2-015B-563D-04FA2F46F343}"/>
              </a:ext>
            </a:extLst>
          </p:cNvPr>
          <p:cNvCxnSpPr>
            <a:cxnSpLocks/>
          </p:cNvCxnSpPr>
          <p:nvPr/>
        </p:nvCxnSpPr>
        <p:spPr>
          <a:xfrm flipV="1">
            <a:off x="3594620" y="5383656"/>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D1D410A-E770-2A51-9BD2-0D10DA6D9C0A}"/>
              </a:ext>
            </a:extLst>
          </p:cNvPr>
          <p:cNvCxnSpPr/>
          <p:nvPr/>
        </p:nvCxnSpPr>
        <p:spPr>
          <a:xfrm>
            <a:off x="3218700" y="5906270"/>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7F7C3CC5-1861-B088-FC86-DE7AF6F019E9}"/>
              </a:ext>
            </a:extLst>
          </p:cNvPr>
          <p:cNvCxnSpPr>
            <a:cxnSpLocks/>
          </p:cNvCxnSpPr>
          <p:nvPr/>
        </p:nvCxnSpPr>
        <p:spPr>
          <a:xfrm flipV="1">
            <a:off x="3594620" y="5835150"/>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AEE63FE-6A14-CE2C-0A4B-769C2CDC067B}"/>
              </a:ext>
            </a:extLst>
          </p:cNvPr>
          <p:cNvCxnSpPr/>
          <p:nvPr/>
        </p:nvCxnSpPr>
        <p:spPr>
          <a:xfrm>
            <a:off x="4080713" y="3623776"/>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670EF06-1615-B1E2-491D-142964CFEE38}"/>
              </a:ext>
            </a:extLst>
          </p:cNvPr>
          <p:cNvCxnSpPr>
            <a:cxnSpLocks/>
          </p:cNvCxnSpPr>
          <p:nvPr/>
        </p:nvCxnSpPr>
        <p:spPr>
          <a:xfrm flipV="1">
            <a:off x="4456633" y="3552656"/>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3C932025-C80A-F963-3449-95A8D9C08687}"/>
              </a:ext>
            </a:extLst>
          </p:cNvPr>
          <p:cNvCxnSpPr/>
          <p:nvPr/>
        </p:nvCxnSpPr>
        <p:spPr>
          <a:xfrm>
            <a:off x="4068965" y="4077933"/>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52E0BF2-8206-9DD5-5996-8ACB541A2679}"/>
              </a:ext>
            </a:extLst>
          </p:cNvPr>
          <p:cNvCxnSpPr>
            <a:cxnSpLocks/>
          </p:cNvCxnSpPr>
          <p:nvPr/>
        </p:nvCxnSpPr>
        <p:spPr>
          <a:xfrm flipV="1">
            <a:off x="4444885" y="4006813"/>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4320754-0C8D-5340-4EB4-D2EF48FF733E}"/>
              </a:ext>
            </a:extLst>
          </p:cNvPr>
          <p:cNvCxnSpPr/>
          <p:nvPr/>
        </p:nvCxnSpPr>
        <p:spPr>
          <a:xfrm>
            <a:off x="4080713" y="4533161"/>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245ABBE-9ED1-952A-8C2F-751BF1B7678B}"/>
              </a:ext>
            </a:extLst>
          </p:cNvPr>
          <p:cNvCxnSpPr>
            <a:cxnSpLocks/>
          </p:cNvCxnSpPr>
          <p:nvPr/>
        </p:nvCxnSpPr>
        <p:spPr>
          <a:xfrm flipV="1">
            <a:off x="4456633" y="4462041"/>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838A4019-C991-9B13-51EE-A66A38E112FF}"/>
              </a:ext>
            </a:extLst>
          </p:cNvPr>
          <p:cNvCxnSpPr/>
          <p:nvPr/>
        </p:nvCxnSpPr>
        <p:spPr>
          <a:xfrm>
            <a:off x="4082300" y="5013481"/>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BF3CAC75-F6F6-512C-C35D-31E4165FCAB6}"/>
              </a:ext>
            </a:extLst>
          </p:cNvPr>
          <p:cNvCxnSpPr>
            <a:cxnSpLocks/>
          </p:cNvCxnSpPr>
          <p:nvPr/>
        </p:nvCxnSpPr>
        <p:spPr>
          <a:xfrm flipV="1">
            <a:off x="4458220" y="4942361"/>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DEBC64A-03C0-59A3-16BC-1C0D4AA227D7}"/>
              </a:ext>
            </a:extLst>
          </p:cNvPr>
          <p:cNvCxnSpPr/>
          <p:nvPr/>
        </p:nvCxnSpPr>
        <p:spPr>
          <a:xfrm>
            <a:off x="4082300" y="5454776"/>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67446011-13DA-8028-5875-0C6223FC0E59}"/>
              </a:ext>
            </a:extLst>
          </p:cNvPr>
          <p:cNvCxnSpPr>
            <a:cxnSpLocks/>
          </p:cNvCxnSpPr>
          <p:nvPr/>
        </p:nvCxnSpPr>
        <p:spPr>
          <a:xfrm flipV="1">
            <a:off x="4458220" y="5383656"/>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F67F423-07F6-43F4-6856-C5C7196C32E2}"/>
              </a:ext>
            </a:extLst>
          </p:cNvPr>
          <p:cNvCxnSpPr/>
          <p:nvPr/>
        </p:nvCxnSpPr>
        <p:spPr>
          <a:xfrm>
            <a:off x="4082300" y="5906270"/>
            <a:ext cx="3829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CF0A65F2-88C0-FF2E-752C-F0FD71CDEBB3}"/>
              </a:ext>
            </a:extLst>
          </p:cNvPr>
          <p:cNvCxnSpPr>
            <a:cxnSpLocks/>
          </p:cNvCxnSpPr>
          <p:nvPr/>
        </p:nvCxnSpPr>
        <p:spPr>
          <a:xfrm flipV="1">
            <a:off x="4458220" y="5835150"/>
            <a:ext cx="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3" name="Straight Arrow Connector 192">
            <a:extLst>
              <a:ext uri="{FF2B5EF4-FFF2-40B4-BE49-F238E27FC236}">
                <a16:creationId xmlns:a16="http://schemas.microsoft.com/office/drawing/2014/main" id="{F489E088-9379-5B40-E05F-F7E11F23C8EA}"/>
              </a:ext>
            </a:extLst>
          </p:cNvPr>
          <p:cNvCxnSpPr/>
          <p:nvPr/>
        </p:nvCxnSpPr>
        <p:spPr>
          <a:xfrm>
            <a:off x="4944313" y="3623776"/>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4" name="Straight Arrow Connector 193">
            <a:extLst>
              <a:ext uri="{FF2B5EF4-FFF2-40B4-BE49-F238E27FC236}">
                <a16:creationId xmlns:a16="http://schemas.microsoft.com/office/drawing/2014/main" id="{69A55954-3B4C-2166-0215-C502F476CE34}"/>
              </a:ext>
            </a:extLst>
          </p:cNvPr>
          <p:cNvCxnSpPr/>
          <p:nvPr/>
        </p:nvCxnSpPr>
        <p:spPr>
          <a:xfrm>
            <a:off x="4944313" y="4077933"/>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5" name="Straight Arrow Connector 194">
            <a:extLst>
              <a:ext uri="{FF2B5EF4-FFF2-40B4-BE49-F238E27FC236}">
                <a16:creationId xmlns:a16="http://schemas.microsoft.com/office/drawing/2014/main" id="{32015A4E-CFDB-2333-4420-EDE77FE10610}"/>
              </a:ext>
            </a:extLst>
          </p:cNvPr>
          <p:cNvCxnSpPr/>
          <p:nvPr/>
        </p:nvCxnSpPr>
        <p:spPr>
          <a:xfrm>
            <a:off x="4934153" y="4560297"/>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6" name="Straight Arrow Connector 195">
            <a:extLst>
              <a:ext uri="{FF2B5EF4-FFF2-40B4-BE49-F238E27FC236}">
                <a16:creationId xmlns:a16="http://schemas.microsoft.com/office/drawing/2014/main" id="{BBEA4F36-87E9-F272-1F37-9A347A0ACBEB}"/>
              </a:ext>
            </a:extLst>
          </p:cNvPr>
          <p:cNvCxnSpPr/>
          <p:nvPr/>
        </p:nvCxnSpPr>
        <p:spPr>
          <a:xfrm>
            <a:off x="4944313" y="5003321"/>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7" name="Straight Arrow Connector 196">
            <a:extLst>
              <a:ext uri="{FF2B5EF4-FFF2-40B4-BE49-F238E27FC236}">
                <a16:creationId xmlns:a16="http://schemas.microsoft.com/office/drawing/2014/main" id="{3292ED6D-2C85-7F50-32C9-29633E221EBE}"/>
              </a:ext>
            </a:extLst>
          </p:cNvPr>
          <p:cNvCxnSpPr/>
          <p:nvPr/>
        </p:nvCxnSpPr>
        <p:spPr>
          <a:xfrm>
            <a:off x="4944313" y="5454776"/>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8" name="Straight Arrow Connector 197">
            <a:extLst>
              <a:ext uri="{FF2B5EF4-FFF2-40B4-BE49-F238E27FC236}">
                <a16:creationId xmlns:a16="http://schemas.microsoft.com/office/drawing/2014/main" id="{3AEFD7A1-8520-D673-7579-E85D37AFA09D}"/>
              </a:ext>
            </a:extLst>
          </p:cNvPr>
          <p:cNvCxnSpPr/>
          <p:nvPr/>
        </p:nvCxnSpPr>
        <p:spPr>
          <a:xfrm>
            <a:off x="4934153" y="5906270"/>
            <a:ext cx="46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9" name="Picture 6" descr="Fig. 2">
            <a:extLst>
              <a:ext uri="{FF2B5EF4-FFF2-40B4-BE49-F238E27FC236}">
                <a16:creationId xmlns:a16="http://schemas.microsoft.com/office/drawing/2014/main" id="{EE337EB9-6D55-07F3-5484-028BD7FA9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362" y="3936802"/>
            <a:ext cx="2311041" cy="1630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1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101B-4A91-51BA-8548-EDC546A083C1}"/>
            </a:ext>
          </a:extLst>
        </p:cNvPr>
        <p:cNvGrpSpPr/>
        <p:nvPr/>
      </p:nvGrpSpPr>
      <p:grpSpPr>
        <a:xfrm>
          <a:off x="0" y="0"/>
          <a:ext cx="0" cy="0"/>
          <a:chOff x="0" y="0"/>
          <a:chExt cx="0" cy="0"/>
        </a:xfrm>
      </p:grpSpPr>
      <p:sp>
        <p:nvSpPr>
          <p:cNvPr id="237" name="Google Shape;237;p12">
            <a:extLst>
              <a:ext uri="{FF2B5EF4-FFF2-40B4-BE49-F238E27FC236}">
                <a16:creationId xmlns:a16="http://schemas.microsoft.com/office/drawing/2014/main" id="{02C87196-5B94-74CB-94E2-1456E39ED057}"/>
              </a:ext>
            </a:extLst>
          </p:cNvPr>
          <p:cNvSpPr>
            <a:spLocks noGrp="1"/>
          </p:cNvSpPr>
          <p:nvPr/>
        </p:nvSpPr>
        <p:spPr>
          <a:xfrm>
            <a:off x="628650" y="438150"/>
            <a:ext cx="10896600" cy="4857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12304E"/>
              </a:buClr>
              <a:buSzPts val="2325"/>
              <a:buFont typeface="Lato"/>
              <a:buNone/>
            </a:pPr>
            <a:r>
              <a:rPr lang="en-GB" sz="2325" b="1" dirty="0" err="1">
                <a:solidFill>
                  <a:srgbClr val="12304E"/>
                </a:solidFill>
                <a:latin typeface="Lato"/>
                <a:ea typeface="Lato"/>
                <a:cs typeface="Lato"/>
              </a:rPr>
              <a:t>Cavapy</a:t>
            </a:r>
            <a:r>
              <a:rPr lang="en-GB" sz="2325" b="1" dirty="0">
                <a:solidFill>
                  <a:srgbClr val="12304E"/>
                </a:solidFill>
                <a:latin typeface="Lato"/>
                <a:ea typeface="Lato"/>
                <a:cs typeface="Lato"/>
              </a:rPr>
              <a:t> commands</a:t>
            </a:r>
            <a:endParaRPr dirty="0"/>
          </a:p>
        </p:txBody>
      </p:sp>
      <p:sp>
        <p:nvSpPr>
          <p:cNvPr id="238" name="Google Shape;238;p12">
            <a:extLst>
              <a:ext uri="{FF2B5EF4-FFF2-40B4-BE49-F238E27FC236}">
                <a16:creationId xmlns:a16="http://schemas.microsoft.com/office/drawing/2014/main" id="{7123499E-AAA0-BDA7-70C9-FE2EF7E229D9}"/>
              </a:ext>
            </a:extLst>
          </p:cNvPr>
          <p:cNvSpPr>
            <a:spLocks noGrp="1"/>
          </p:cNvSpPr>
          <p:nvPr/>
        </p:nvSpPr>
        <p:spPr>
          <a:xfrm>
            <a:off x="647700" y="971550"/>
            <a:ext cx="10477500" cy="28575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1125"/>
              <a:buFont typeface="Lato"/>
              <a:buNone/>
            </a:pPr>
            <a:r>
              <a:rPr lang="en-GB" sz="1125" b="0" dirty="0">
                <a:solidFill>
                  <a:srgbClr val="687984"/>
                </a:solidFill>
                <a:latin typeface="Lato"/>
                <a:ea typeface="Lato"/>
                <a:cs typeface="Lato"/>
              </a:rPr>
              <a:t>Example code used in climate data loading</a:t>
            </a:r>
            <a:endParaRPr dirty="0"/>
          </a:p>
        </p:txBody>
      </p:sp>
      <p:sp>
        <p:nvSpPr>
          <p:cNvPr id="239" name="Google Shape;239;p12">
            <a:extLst>
              <a:ext uri="{FF2B5EF4-FFF2-40B4-BE49-F238E27FC236}">
                <a16:creationId xmlns:a16="http://schemas.microsoft.com/office/drawing/2014/main" id="{39479D40-BB43-AFBF-DFC6-6D635AC03A58}"/>
              </a:ext>
            </a:extLst>
          </p:cNvPr>
          <p:cNvSpPr>
            <a:spLocks noGrp="1"/>
          </p:cNvSpPr>
          <p:nvPr/>
        </p:nvSpPr>
        <p:spPr>
          <a:xfrm>
            <a:off x="647700" y="1390650"/>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0" name="Google Shape;240;p12">
            <a:extLst>
              <a:ext uri="{FF2B5EF4-FFF2-40B4-BE49-F238E27FC236}">
                <a16:creationId xmlns:a16="http://schemas.microsoft.com/office/drawing/2014/main" id="{E9163347-67B9-A1EB-9C3C-09211349A59E}"/>
              </a:ext>
            </a:extLst>
          </p:cNvPr>
          <p:cNvSpPr>
            <a:spLocks noGrp="1"/>
          </p:cNvSpPr>
          <p:nvPr/>
        </p:nvSpPr>
        <p:spPr>
          <a:xfrm>
            <a:off x="657225" y="1495425"/>
            <a:ext cx="990600" cy="28575"/>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1" name="Google Shape;241;p12">
            <a:extLst>
              <a:ext uri="{FF2B5EF4-FFF2-40B4-BE49-F238E27FC236}">
                <a16:creationId xmlns:a16="http://schemas.microsoft.com/office/drawing/2014/main" id="{EA8AB5F0-FBCD-6FFD-D9DC-78E7895E30F1}"/>
              </a:ext>
            </a:extLst>
          </p:cNvPr>
          <p:cNvSpPr>
            <a:spLocks noGrp="1"/>
          </p:cNvSpPr>
          <p:nvPr/>
        </p:nvSpPr>
        <p:spPr>
          <a:xfrm>
            <a:off x="647700" y="6238875"/>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2" name="Google Shape;242;p12">
            <a:extLst>
              <a:ext uri="{FF2B5EF4-FFF2-40B4-BE49-F238E27FC236}">
                <a16:creationId xmlns:a16="http://schemas.microsoft.com/office/drawing/2014/main" id="{A57E03A4-ED22-F56E-DCC6-CAB0F48040D5}"/>
              </a:ext>
            </a:extLst>
          </p:cNvPr>
          <p:cNvSpPr>
            <a:spLocks noGrp="1"/>
          </p:cNvSpPr>
          <p:nvPr/>
        </p:nvSpPr>
        <p:spPr>
          <a:xfrm>
            <a:off x="657225" y="6353175"/>
            <a:ext cx="2381250" cy="16192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a:ext uri="{FF2B5EF4-FFF2-40B4-BE49-F238E27FC236}">
                <a16:creationId xmlns:a16="http://schemas.microsoft.com/office/drawing/2014/main" id="{1E9FA3AD-CAF2-8BA9-4419-04C8C1D7DA63}"/>
              </a:ext>
            </a:extLst>
          </p:cNvPr>
          <p:cNvSpPr>
            <a:spLocks noGrp="1"/>
          </p:cNvSpPr>
          <p:nvPr/>
        </p:nvSpPr>
        <p:spPr>
          <a:xfrm>
            <a:off x="11049000" y="6343650"/>
            <a:ext cx="457200" cy="161925"/>
          </a:xfrm>
          <a:prstGeom prst="rect">
            <a:avLst/>
          </a:prstGeom>
          <a:noFill/>
          <a:ln>
            <a:noFill/>
          </a:ln>
        </p:spPr>
        <p:txBody>
          <a:bodyPr spcFirstLastPara="1" wrap="square" lIns="0" tIns="0" rIns="0" bIns="0" anchor="t">
            <a:noAutofit/>
          </a:bodyPr>
          <a:lstStyle/>
          <a:p>
            <a:pPr marL="0" marR="0" lvl="0" indent="0" algn="r">
              <a:lnSpc>
                <a:spcPct val="102000"/>
              </a:lnSpc>
              <a:spcBef>
                <a:spcPts val="0"/>
              </a:spcBef>
              <a:spcAft>
                <a:spcPts val="0"/>
              </a:spcAft>
              <a:buClr>
                <a:srgbClr val="687984"/>
              </a:buClr>
              <a:buSzPts val="750"/>
              <a:buFont typeface="Lato"/>
              <a:buNone/>
            </a:pPr>
            <a:r>
              <a:rPr sz="750" b="0" dirty="0">
                <a:solidFill>
                  <a:srgbClr val="687984"/>
                </a:solidFill>
                <a:latin typeface="Lato"/>
                <a:ea typeface="Lato"/>
                <a:cs typeface="Lato"/>
              </a:rPr>
              <a:t>0</a:t>
            </a:r>
            <a:r>
              <a:rPr lang="en-GB" sz="750" dirty="0">
                <a:solidFill>
                  <a:srgbClr val="687984"/>
                </a:solidFill>
                <a:latin typeface="Lato"/>
                <a:ea typeface="Lato"/>
                <a:cs typeface="Lato"/>
              </a:rPr>
              <a:t>3</a:t>
            </a:r>
            <a:endParaRPr dirty="0"/>
          </a:p>
        </p:txBody>
      </p:sp>
      <p:pic>
        <p:nvPicPr>
          <p:cNvPr id="2" name="Picture 1">
            <a:extLst>
              <a:ext uri="{FF2B5EF4-FFF2-40B4-BE49-F238E27FC236}">
                <a16:creationId xmlns:a16="http://schemas.microsoft.com/office/drawing/2014/main" id="{69273E3F-E075-327A-86C1-20E99F9B2099}"/>
              </a:ext>
            </a:extLst>
          </p:cNvPr>
          <p:cNvPicPr>
            <a:picLocks noChangeAspect="1"/>
          </p:cNvPicPr>
          <p:nvPr/>
        </p:nvPicPr>
        <p:blipFill>
          <a:blip r:embed="rId3"/>
          <a:stretch>
            <a:fillRect/>
          </a:stretch>
        </p:blipFill>
        <p:spPr>
          <a:xfrm>
            <a:off x="815630" y="2209507"/>
            <a:ext cx="3830252" cy="2800268"/>
          </a:xfrm>
          <a:prstGeom prst="rect">
            <a:avLst/>
          </a:prstGeom>
        </p:spPr>
      </p:pic>
      <p:sp>
        <p:nvSpPr>
          <p:cNvPr id="3" name="TextBox 2">
            <a:extLst>
              <a:ext uri="{FF2B5EF4-FFF2-40B4-BE49-F238E27FC236}">
                <a16:creationId xmlns:a16="http://schemas.microsoft.com/office/drawing/2014/main" id="{017ED43E-F0D6-FE1E-0CFA-27C65A28412B}"/>
              </a:ext>
            </a:extLst>
          </p:cNvPr>
          <p:cNvSpPr txBox="1"/>
          <p:nvPr/>
        </p:nvSpPr>
        <p:spPr>
          <a:xfrm>
            <a:off x="764796" y="5181796"/>
            <a:ext cx="3694176" cy="646331"/>
          </a:xfrm>
          <a:prstGeom prst="rect">
            <a:avLst/>
          </a:prstGeom>
          <a:noFill/>
        </p:spPr>
        <p:txBody>
          <a:bodyPr wrap="square" rtlCol="0">
            <a:spAutoFit/>
          </a:bodyPr>
          <a:lstStyle/>
          <a:p>
            <a:r>
              <a:rPr lang="en-GB" dirty="0">
                <a:solidFill>
                  <a:schemeClr val="tx2"/>
                </a:solidFill>
                <a:latin typeface="Lato" panose="020F0502020204030203" pitchFamily="34" charset="0"/>
                <a:ea typeface="Lato" panose="020F0502020204030203" pitchFamily="34" charset="0"/>
                <a:cs typeface="Lato" panose="020F0502020204030203" pitchFamily="34" charset="0"/>
              </a:rPr>
              <a:t>Returns an “</a:t>
            </a:r>
            <a:r>
              <a:rPr lang="en-GB" dirty="0" err="1">
                <a:solidFill>
                  <a:schemeClr val="tx2"/>
                </a:solidFill>
                <a:latin typeface="Lato" panose="020F0502020204030203" pitchFamily="34" charset="0"/>
                <a:ea typeface="Lato" panose="020F0502020204030203" pitchFamily="34" charset="0"/>
                <a:cs typeface="Lato" panose="020F0502020204030203" pitchFamily="34" charset="0"/>
              </a:rPr>
              <a:t>xarray</a:t>
            </a:r>
            <a:r>
              <a:rPr lang="en-GB" dirty="0">
                <a:solidFill>
                  <a:schemeClr val="tx2"/>
                </a:solidFill>
                <a:latin typeface="Lato" panose="020F0502020204030203" pitchFamily="34" charset="0"/>
                <a:ea typeface="Lato" panose="020F0502020204030203" pitchFamily="34" charset="0"/>
                <a:cs typeface="Lato" panose="020F0502020204030203" pitchFamily="34" charset="0"/>
              </a:rPr>
              <a:t>” dataset with daily precipitation projections</a:t>
            </a:r>
          </a:p>
        </p:txBody>
      </p:sp>
      <p:cxnSp>
        <p:nvCxnSpPr>
          <p:cNvPr id="4" name="Straight Arrow Connector 3">
            <a:extLst>
              <a:ext uri="{FF2B5EF4-FFF2-40B4-BE49-F238E27FC236}">
                <a16:creationId xmlns:a16="http://schemas.microsoft.com/office/drawing/2014/main" id="{E20C5845-0612-7B82-860B-AD166BFB5156}"/>
              </a:ext>
            </a:extLst>
          </p:cNvPr>
          <p:cNvCxnSpPr/>
          <p:nvPr/>
        </p:nvCxnSpPr>
        <p:spPr>
          <a:xfrm flipH="1">
            <a:off x="3801586" y="2431512"/>
            <a:ext cx="987552" cy="2468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75267BA-03AD-05FD-F75A-F1CEABCF3A78}"/>
              </a:ext>
            </a:extLst>
          </p:cNvPr>
          <p:cNvSpPr txBox="1"/>
          <p:nvPr/>
        </p:nvSpPr>
        <p:spPr>
          <a:xfrm>
            <a:off x="4838990" y="2260831"/>
            <a:ext cx="1420368" cy="307777"/>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Area covered</a:t>
            </a:r>
          </a:p>
        </p:txBody>
      </p:sp>
      <p:cxnSp>
        <p:nvCxnSpPr>
          <p:cNvPr id="6" name="Straight Arrow Connector 5">
            <a:extLst>
              <a:ext uri="{FF2B5EF4-FFF2-40B4-BE49-F238E27FC236}">
                <a16:creationId xmlns:a16="http://schemas.microsoft.com/office/drawing/2014/main" id="{0BA894DF-9E00-F6E5-2AEC-BB19E833BEEE}"/>
              </a:ext>
            </a:extLst>
          </p:cNvPr>
          <p:cNvCxnSpPr>
            <a:cxnSpLocks/>
          </p:cNvCxnSpPr>
          <p:nvPr/>
        </p:nvCxnSpPr>
        <p:spPr>
          <a:xfrm flipH="1">
            <a:off x="2691030" y="3731296"/>
            <a:ext cx="2078940" cy="2277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46F2ADCB-4100-B529-F2AE-5571354886E3}"/>
              </a:ext>
            </a:extLst>
          </p:cNvPr>
          <p:cNvCxnSpPr>
            <a:cxnSpLocks/>
          </p:cNvCxnSpPr>
          <p:nvPr/>
        </p:nvCxnSpPr>
        <p:spPr>
          <a:xfrm flipH="1">
            <a:off x="2545606" y="3731296"/>
            <a:ext cx="222436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37B2634-8ED7-06A6-5E15-1B9A825E7926}"/>
              </a:ext>
            </a:extLst>
          </p:cNvPr>
          <p:cNvSpPr txBox="1"/>
          <p:nvPr/>
        </p:nvSpPr>
        <p:spPr>
          <a:xfrm>
            <a:off x="4838990" y="3435854"/>
            <a:ext cx="1234440" cy="523220"/>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GCM-RCM combination</a:t>
            </a:r>
          </a:p>
        </p:txBody>
      </p:sp>
      <p:sp>
        <p:nvSpPr>
          <p:cNvPr id="9" name="TextBox 8">
            <a:extLst>
              <a:ext uri="{FF2B5EF4-FFF2-40B4-BE49-F238E27FC236}">
                <a16:creationId xmlns:a16="http://schemas.microsoft.com/office/drawing/2014/main" id="{D5DF0EE4-C40F-0A24-3C54-7F7AD6091870}"/>
              </a:ext>
            </a:extLst>
          </p:cNvPr>
          <p:cNvSpPr txBox="1"/>
          <p:nvPr/>
        </p:nvSpPr>
        <p:spPr>
          <a:xfrm>
            <a:off x="4840954" y="4341531"/>
            <a:ext cx="1234440" cy="738664"/>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Pre-bias corrected with ERA5</a:t>
            </a:r>
          </a:p>
        </p:txBody>
      </p:sp>
      <p:cxnSp>
        <p:nvCxnSpPr>
          <p:cNvPr id="10" name="Straight Arrow Connector 9">
            <a:extLst>
              <a:ext uri="{FF2B5EF4-FFF2-40B4-BE49-F238E27FC236}">
                <a16:creationId xmlns:a16="http://schemas.microsoft.com/office/drawing/2014/main" id="{E1EFEB39-A718-7E52-B1F8-D1684D87D812}"/>
              </a:ext>
            </a:extLst>
          </p:cNvPr>
          <p:cNvCxnSpPr>
            <a:cxnSpLocks/>
          </p:cNvCxnSpPr>
          <p:nvPr/>
        </p:nvCxnSpPr>
        <p:spPr>
          <a:xfrm flipH="1" flipV="1">
            <a:off x="4112482" y="4507935"/>
            <a:ext cx="692980" cy="154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99551A2-F5B2-ECAF-745A-466009C062CD}"/>
              </a:ext>
            </a:extLst>
          </p:cNvPr>
          <p:cNvSpPr txBox="1"/>
          <p:nvPr/>
        </p:nvSpPr>
        <p:spPr>
          <a:xfrm>
            <a:off x="1500448" y="1687098"/>
            <a:ext cx="2301138" cy="400110"/>
          </a:xfrm>
          <a:prstGeom prst="rect">
            <a:avLst/>
          </a:prstGeom>
          <a:noFill/>
        </p:spPr>
        <p:txBody>
          <a:bodyPr wrap="square">
            <a:spAutoFit/>
          </a:bodyPr>
          <a:lstStyle/>
          <a:p>
            <a:pPr indent="0" algn="l" latinLnBrk="0">
              <a:buNone/>
            </a:pPr>
            <a:r>
              <a:rPr lang="en-GB" sz="2000" b="1" i="0" u="sng" dirty="0" err="1">
                <a:solidFill>
                  <a:schemeClr val="tx2"/>
                </a:solidFill>
                <a:effectLst/>
                <a:latin typeface="Lato" panose="020F0502020204030203" pitchFamily="34" charset="0"/>
                <a:ea typeface="Lato" panose="020F0502020204030203" pitchFamily="34" charset="0"/>
                <a:cs typeface="Lato" panose="020F0502020204030203" pitchFamily="34" charset="0"/>
              </a:rPr>
              <a:t>Get_climate_data</a:t>
            </a:r>
            <a:r>
              <a:rPr lang="en-GB" sz="2000" b="1" i="0" u="sng" dirty="0">
                <a:solidFill>
                  <a:schemeClr val="tx2"/>
                </a:solidFill>
                <a:effectLst/>
                <a:latin typeface="Lato" panose="020F0502020204030203" pitchFamily="34" charset="0"/>
                <a:ea typeface="Lato" panose="020F0502020204030203" pitchFamily="34" charset="0"/>
                <a:cs typeface="Lato" panose="020F0502020204030203" pitchFamily="34" charset="0"/>
              </a:rPr>
              <a:t>()</a:t>
            </a:r>
            <a:endParaRPr lang="en-GB" sz="2000" b="0" i="0" u="sng" dirty="0">
              <a:solidFill>
                <a:schemeClr val="tx2"/>
              </a:solidFill>
              <a:effectLst/>
              <a:latin typeface="Lato" panose="020F0502020204030203" pitchFamily="34" charset="0"/>
              <a:ea typeface="Lato" panose="020F0502020204030203" pitchFamily="34" charset="0"/>
              <a:cs typeface="Lato" panose="020F0502020204030203" pitchFamily="34" charset="0"/>
            </a:endParaRPr>
          </a:p>
        </p:txBody>
      </p:sp>
      <p:cxnSp>
        <p:nvCxnSpPr>
          <p:cNvPr id="200" name="Straight Arrow Connector 199">
            <a:extLst>
              <a:ext uri="{FF2B5EF4-FFF2-40B4-BE49-F238E27FC236}">
                <a16:creationId xmlns:a16="http://schemas.microsoft.com/office/drawing/2014/main" id="{6552EE31-535D-17FF-23B4-4B0E30636861}"/>
              </a:ext>
            </a:extLst>
          </p:cNvPr>
          <p:cNvCxnSpPr>
            <a:cxnSpLocks/>
          </p:cNvCxnSpPr>
          <p:nvPr/>
        </p:nvCxnSpPr>
        <p:spPr>
          <a:xfrm flipH="1">
            <a:off x="3905218" y="2962711"/>
            <a:ext cx="933772" cy="243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1" name="TextBox 200">
            <a:extLst>
              <a:ext uri="{FF2B5EF4-FFF2-40B4-BE49-F238E27FC236}">
                <a16:creationId xmlns:a16="http://schemas.microsoft.com/office/drawing/2014/main" id="{1EEB2307-8F81-8EE4-6749-11F02E62D498}"/>
              </a:ext>
            </a:extLst>
          </p:cNvPr>
          <p:cNvSpPr txBox="1"/>
          <p:nvPr/>
        </p:nvSpPr>
        <p:spPr>
          <a:xfrm>
            <a:off x="4838990" y="2824211"/>
            <a:ext cx="1234440" cy="307777"/>
          </a:xfrm>
          <a:prstGeom prst="rect">
            <a:avLst/>
          </a:prstGeom>
          <a:noFill/>
        </p:spPr>
        <p:txBody>
          <a:bodyPr wrap="square" rtlCol="0">
            <a:spAutoFit/>
          </a:bodyPr>
          <a:lstStyle/>
          <a:p>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Domain</a:t>
            </a:r>
          </a:p>
        </p:txBody>
      </p:sp>
      <p:sp>
        <p:nvSpPr>
          <p:cNvPr id="202" name="TextBox 201">
            <a:extLst>
              <a:ext uri="{FF2B5EF4-FFF2-40B4-BE49-F238E27FC236}">
                <a16:creationId xmlns:a16="http://schemas.microsoft.com/office/drawing/2014/main" id="{08297746-6E6A-6904-C47B-B43A5C798FCF}"/>
              </a:ext>
            </a:extLst>
          </p:cNvPr>
          <p:cNvSpPr txBox="1"/>
          <p:nvPr/>
        </p:nvSpPr>
        <p:spPr>
          <a:xfrm>
            <a:off x="7717581" y="1675662"/>
            <a:ext cx="2230052" cy="400110"/>
          </a:xfrm>
          <a:prstGeom prst="rect">
            <a:avLst/>
          </a:prstGeom>
          <a:noFill/>
        </p:spPr>
        <p:txBody>
          <a:bodyPr wrap="square">
            <a:spAutoFit/>
          </a:bodyPr>
          <a:lstStyle/>
          <a:p>
            <a:pPr indent="0" algn="l" latinLnBrk="0">
              <a:buNone/>
            </a:pPr>
            <a:r>
              <a:rPr lang="en-GB" sz="2000" b="1" i="0" u="sng" dirty="0">
                <a:effectLst/>
                <a:latin typeface="Monaspace Neon"/>
              </a:rPr>
              <a:t>Plotting functions</a:t>
            </a:r>
            <a:endParaRPr lang="en-GB" sz="2000" b="0" i="0" u="sng" dirty="0">
              <a:effectLst/>
              <a:latin typeface="Monaspace Neon"/>
            </a:endParaRPr>
          </a:p>
        </p:txBody>
      </p:sp>
      <p:pic>
        <p:nvPicPr>
          <p:cNvPr id="203" name="Picture 202">
            <a:extLst>
              <a:ext uri="{FF2B5EF4-FFF2-40B4-BE49-F238E27FC236}">
                <a16:creationId xmlns:a16="http://schemas.microsoft.com/office/drawing/2014/main" id="{72C5249C-CB25-4F22-17A6-46B690147BAE}"/>
              </a:ext>
            </a:extLst>
          </p:cNvPr>
          <p:cNvPicPr>
            <a:picLocks noChangeAspect="1"/>
          </p:cNvPicPr>
          <p:nvPr/>
        </p:nvPicPr>
        <p:blipFill>
          <a:blip r:embed="rId4"/>
          <a:stretch>
            <a:fillRect/>
          </a:stretch>
        </p:blipFill>
        <p:spPr>
          <a:xfrm>
            <a:off x="6732884" y="2209507"/>
            <a:ext cx="3759777" cy="1325563"/>
          </a:xfrm>
          <a:prstGeom prst="rect">
            <a:avLst/>
          </a:prstGeom>
        </p:spPr>
      </p:pic>
      <p:pic>
        <p:nvPicPr>
          <p:cNvPr id="204" name="Picture 203">
            <a:extLst>
              <a:ext uri="{FF2B5EF4-FFF2-40B4-BE49-F238E27FC236}">
                <a16:creationId xmlns:a16="http://schemas.microsoft.com/office/drawing/2014/main" id="{D9B53081-ACC5-C5FB-76EA-9A80FCB7DF49}"/>
              </a:ext>
            </a:extLst>
          </p:cNvPr>
          <p:cNvPicPr>
            <a:picLocks noChangeAspect="1"/>
          </p:cNvPicPr>
          <p:nvPr/>
        </p:nvPicPr>
        <p:blipFill>
          <a:blip r:embed="rId5"/>
          <a:stretch>
            <a:fillRect/>
          </a:stretch>
        </p:blipFill>
        <p:spPr>
          <a:xfrm>
            <a:off x="6739061" y="3769902"/>
            <a:ext cx="4736742" cy="1730732"/>
          </a:xfrm>
          <a:prstGeom prst="rect">
            <a:avLst/>
          </a:prstGeom>
        </p:spPr>
      </p:pic>
    </p:spTree>
    <p:extLst>
      <p:ext uri="{BB962C8B-B14F-4D97-AF65-F5344CB8AC3E}">
        <p14:creationId xmlns:p14="http://schemas.microsoft.com/office/powerpoint/2010/main" val="137637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4EF75-63D7-4BC3-4E8E-1F49E5B8EBA0}"/>
            </a:ext>
          </a:extLst>
        </p:cNvPr>
        <p:cNvGrpSpPr/>
        <p:nvPr/>
      </p:nvGrpSpPr>
      <p:grpSpPr>
        <a:xfrm>
          <a:off x="0" y="0"/>
          <a:ext cx="0" cy="0"/>
          <a:chOff x="0" y="0"/>
          <a:chExt cx="0" cy="0"/>
        </a:xfrm>
      </p:grpSpPr>
      <p:sp>
        <p:nvSpPr>
          <p:cNvPr id="237" name="Google Shape;237;p12">
            <a:extLst>
              <a:ext uri="{FF2B5EF4-FFF2-40B4-BE49-F238E27FC236}">
                <a16:creationId xmlns:a16="http://schemas.microsoft.com/office/drawing/2014/main" id="{42A60213-5F85-5227-F70B-19EC4E9B3070}"/>
              </a:ext>
            </a:extLst>
          </p:cNvPr>
          <p:cNvSpPr>
            <a:spLocks noGrp="1"/>
          </p:cNvSpPr>
          <p:nvPr/>
        </p:nvSpPr>
        <p:spPr>
          <a:xfrm>
            <a:off x="628650" y="438150"/>
            <a:ext cx="10896600" cy="48577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12304E"/>
              </a:buClr>
              <a:buSzPts val="2325"/>
              <a:buFont typeface="Lato"/>
              <a:buNone/>
            </a:pPr>
            <a:r>
              <a:rPr lang="en-GB" sz="2325" b="1" dirty="0">
                <a:solidFill>
                  <a:srgbClr val="12304E"/>
                </a:solidFill>
                <a:latin typeface="Lato"/>
                <a:ea typeface="Lato"/>
                <a:cs typeface="Lato"/>
              </a:rPr>
              <a:t>Application examples</a:t>
            </a:r>
            <a:endParaRPr dirty="0"/>
          </a:p>
        </p:txBody>
      </p:sp>
      <p:sp>
        <p:nvSpPr>
          <p:cNvPr id="238" name="Google Shape;238;p12">
            <a:extLst>
              <a:ext uri="{FF2B5EF4-FFF2-40B4-BE49-F238E27FC236}">
                <a16:creationId xmlns:a16="http://schemas.microsoft.com/office/drawing/2014/main" id="{5EEDFCCA-59EC-3209-1262-95DA6C25A1FC}"/>
              </a:ext>
            </a:extLst>
          </p:cNvPr>
          <p:cNvSpPr>
            <a:spLocks noGrp="1"/>
          </p:cNvSpPr>
          <p:nvPr/>
        </p:nvSpPr>
        <p:spPr>
          <a:xfrm>
            <a:off x="647700" y="971550"/>
            <a:ext cx="10477500" cy="28575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1125"/>
              <a:buFont typeface="Lato"/>
              <a:buNone/>
            </a:pPr>
            <a:r>
              <a:rPr lang="en-GB" sz="1125" b="0" dirty="0">
                <a:solidFill>
                  <a:srgbClr val="687984"/>
                </a:solidFill>
                <a:latin typeface="Lato"/>
                <a:ea typeface="Lato"/>
                <a:cs typeface="Lato"/>
              </a:rPr>
              <a:t>Example cases where </a:t>
            </a:r>
            <a:r>
              <a:rPr lang="en-GB" sz="1125" b="0" dirty="0" err="1">
                <a:solidFill>
                  <a:srgbClr val="687984"/>
                </a:solidFill>
                <a:latin typeface="Lato"/>
                <a:ea typeface="Lato"/>
                <a:cs typeface="Lato"/>
              </a:rPr>
              <a:t>cavapy</a:t>
            </a:r>
            <a:r>
              <a:rPr lang="en-GB" sz="1125" b="0" dirty="0">
                <a:solidFill>
                  <a:srgbClr val="687984"/>
                </a:solidFill>
                <a:latin typeface="Lato"/>
                <a:ea typeface="Lato"/>
                <a:cs typeface="Lato"/>
              </a:rPr>
              <a:t> outputs can be used for downstream analyses</a:t>
            </a:r>
            <a:endParaRPr dirty="0"/>
          </a:p>
        </p:txBody>
      </p:sp>
      <p:sp>
        <p:nvSpPr>
          <p:cNvPr id="239" name="Google Shape;239;p12">
            <a:extLst>
              <a:ext uri="{FF2B5EF4-FFF2-40B4-BE49-F238E27FC236}">
                <a16:creationId xmlns:a16="http://schemas.microsoft.com/office/drawing/2014/main" id="{B14864D9-DFC0-B950-F7E1-A7E676635938}"/>
              </a:ext>
            </a:extLst>
          </p:cNvPr>
          <p:cNvSpPr>
            <a:spLocks noGrp="1"/>
          </p:cNvSpPr>
          <p:nvPr/>
        </p:nvSpPr>
        <p:spPr>
          <a:xfrm>
            <a:off x="647700" y="1390650"/>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0" name="Google Shape;240;p12">
            <a:extLst>
              <a:ext uri="{FF2B5EF4-FFF2-40B4-BE49-F238E27FC236}">
                <a16:creationId xmlns:a16="http://schemas.microsoft.com/office/drawing/2014/main" id="{22E1F801-4E8C-BACC-0A15-53E969E19565}"/>
              </a:ext>
            </a:extLst>
          </p:cNvPr>
          <p:cNvSpPr>
            <a:spLocks noGrp="1"/>
          </p:cNvSpPr>
          <p:nvPr/>
        </p:nvSpPr>
        <p:spPr>
          <a:xfrm>
            <a:off x="657225" y="1495425"/>
            <a:ext cx="990600" cy="28575"/>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1" name="Google Shape;241;p12">
            <a:extLst>
              <a:ext uri="{FF2B5EF4-FFF2-40B4-BE49-F238E27FC236}">
                <a16:creationId xmlns:a16="http://schemas.microsoft.com/office/drawing/2014/main" id="{4BCF211E-E8D4-8F16-892C-4DB3E07E5A62}"/>
              </a:ext>
            </a:extLst>
          </p:cNvPr>
          <p:cNvSpPr>
            <a:spLocks noGrp="1"/>
          </p:cNvSpPr>
          <p:nvPr/>
        </p:nvSpPr>
        <p:spPr>
          <a:xfrm>
            <a:off x="647700" y="6238875"/>
            <a:ext cx="10896600" cy="9525"/>
          </a:xfrm>
          <a:prstGeom prst="rect">
            <a:avLst/>
          </a:prstGeom>
          <a:solidFill>
            <a:srgbClr val="DCE5E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2" name="Google Shape;242;p12">
            <a:extLst>
              <a:ext uri="{FF2B5EF4-FFF2-40B4-BE49-F238E27FC236}">
                <a16:creationId xmlns:a16="http://schemas.microsoft.com/office/drawing/2014/main" id="{E8E2C401-02D2-2304-955C-16EAE844ED43}"/>
              </a:ext>
            </a:extLst>
          </p:cNvPr>
          <p:cNvSpPr>
            <a:spLocks noGrp="1"/>
          </p:cNvSpPr>
          <p:nvPr/>
        </p:nvSpPr>
        <p:spPr>
          <a:xfrm>
            <a:off x="657225" y="6353175"/>
            <a:ext cx="2381250" cy="16192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a:ext uri="{FF2B5EF4-FFF2-40B4-BE49-F238E27FC236}">
                <a16:creationId xmlns:a16="http://schemas.microsoft.com/office/drawing/2014/main" id="{3BF49DA6-219E-0195-1564-C702602FF29E}"/>
              </a:ext>
            </a:extLst>
          </p:cNvPr>
          <p:cNvSpPr>
            <a:spLocks noGrp="1"/>
          </p:cNvSpPr>
          <p:nvPr/>
        </p:nvSpPr>
        <p:spPr>
          <a:xfrm>
            <a:off x="11049000" y="6343650"/>
            <a:ext cx="457200" cy="161925"/>
          </a:xfrm>
          <a:prstGeom prst="rect">
            <a:avLst/>
          </a:prstGeom>
          <a:noFill/>
          <a:ln>
            <a:noFill/>
          </a:ln>
        </p:spPr>
        <p:txBody>
          <a:bodyPr spcFirstLastPara="1" wrap="square" lIns="0" tIns="0" rIns="0" bIns="0" anchor="t">
            <a:noAutofit/>
          </a:bodyPr>
          <a:lstStyle/>
          <a:p>
            <a:pPr marL="0" marR="0" lvl="0" indent="0" algn="r">
              <a:lnSpc>
                <a:spcPct val="102000"/>
              </a:lnSpc>
              <a:spcBef>
                <a:spcPts val="0"/>
              </a:spcBef>
              <a:spcAft>
                <a:spcPts val="0"/>
              </a:spcAft>
              <a:buClr>
                <a:srgbClr val="687984"/>
              </a:buClr>
              <a:buSzPts val="750"/>
              <a:buFont typeface="Lato"/>
              <a:buNone/>
            </a:pPr>
            <a:r>
              <a:rPr sz="750" b="0" dirty="0">
                <a:solidFill>
                  <a:srgbClr val="687984"/>
                </a:solidFill>
                <a:latin typeface="Lato"/>
                <a:ea typeface="Lato"/>
                <a:cs typeface="Lato"/>
              </a:rPr>
              <a:t>0</a:t>
            </a:r>
            <a:r>
              <a:rPr lang="en-GB" sz="750" dirty="0">
                <a:solidFill>
                  <a:srgbClr val="687984"/>
                </a:solidFill>
                <a:latin typeface="Lato"/>
                <a:ea typeface="Lato"/>
                <a:cs typeface="Lato"/>
              </a:rPr>
              <a:t>4</a:t>
            </a:r>
            <a:endParaRPr dirty="0"/>
          </a:p>
        </p:txBody>
      </p:sp>
      <p:pic>
        <p:nvPicPr>
          <p:cNvPr id="13" name="Picture 12">
            <a:extLst>
              <a:ext uri="{FF2B5EF4-FFF2-40B4-BE49-F238E27FC236}">
                <a16:creationId xmlns:a16="http://schemas.microsoft.com/office/drawing/2014/main" id="{9846D1A9-5956-ACA0-032F-CEBD26A692E7}"/>
              </a:ext>
            </a:extLst>
          </p:cNvPr>
          <p:cNvPicPr>
            <a:picLocks noChangeAspect="1"/>
          </p:cNvPicPr>
          <p:nvPr/>
        </p:nvPicPr>
        <p:blipFill>
          <a:blip r:embed="rId3">
            <a:extLst>
              <a:ext uri="{28A0092B-C50C-407E-A947-70E740481C1C}">
                <a14:useLocalDpi xmlns:a14="http://schemas.microsoft.com/office/drawing/2010/main" val="0"/>
              </a:ext>
            </a:extLst>
          </a:blip>
          <a:srcRect l="30792" r="26583"/>
          <a:stretch>
            <a:fillRect/>
          </a:stretch>
        </p:blipFill>
        <p:spPr>
          <a:xfrm>
            <a:off x="1130115" y="3022910"/>
            <a:ext cx="1636777" cy="2399970"/>
          </a:xfrm>
          <a:prstGeom prst="rect">
            <a:avLst/>
          </a:prstGeom>
        </p:spPr>
      </p:pic>
      <p:pic>
        <p:nvPicPr>
          <p:cNvPr id="15" name="Picture 14">
            <a:extLst>
              <a:ext uri="{FF2B5EF4-FFF2-40B4-BE49-F238E27FC236}">
                <a16:creationId xmlns:a16="http://schemas.microsoft.com/office/drawing/2014/main" id="{8BECE2D4-17D8-7090-11E0-27B84ED139A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174"/>
          <a:stretch>
            <a:fillRect/>
          </a:stretch>
        </p:blipFill>
        <p:spPr>
          <a:xfrm>
            <a:off x="3323348" y="3030609"/>
            <a:ext cx="2559227" cy="2247545"/>
          </a:xfrm>
          <a:prstGeom prst="rect">
            <a:avLst/>
          </a:prstGeom>
        </p:spPr>
      </p:pic>
      <p:sp>
        <p:nvSpPr>
          <p:cNvPr id="17" name="TextBox 16">
            <a:extLst>
              <a:ext uri="{FF2B5EF4-FFF2-40B4-BE49-F238E27FC236}">
                <a16:creationId xmlns:a16="http://schemas.microsoft.com/office/drawing/2014/main" id="{93DF8115-E71A-9E49-D5A1-68991793B001}"/>
              </a:ext>
            </a:extLst>
          </p:cNvPr>
          <p:cNvSpPr txBox="1"/>
          <p:nvPr/>
        </p:nvSpPr>
        <p:spPr>
          <a:xfrm>
            <a:off x="1169572" y="1739920"/>
            <a:ext cx="4439412" cy="400110"/>
          </a:xfrm>
          <a:prstGeom prst="rect">
            <a:avLst/>
          </a:prstGeom>
          <a:noFill/>
        </p:spPr>
        <p:txBody>
          <a:bodyPr wrap="square">
            <a:spAutoFit/>
          </a:bodyPr>
          <a:lstStyle/>
          <a:p>
            <a:pPr marL="0" indent="0">
              <a:buNone/>
            </a:pPr>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Creation of climate data composites</a:t>
            </a:r>
          </a:p>
        </p:txBody>
      </p:sp>
      <p:sp>
        <p:nvSpPr>
          <p:cNvPr id="19" name="TextBox 18">
            <a:extLst>
              <a:ext uri="{FF2B5EF4-FFF2-40B4-BE49-F238E27FC236}">
                <a16:creationId xmlns:a16="http://schemas.microsoft.com/office/drawing/2014/main" id="{C439404E-A915-8EBA-BFDF-13089BA75D0F}"/>
              </a:ext>
            </a:extLst>
          </p:cNvPr>
          <p:cNvSpPr txBox="1"/>
          <p:nvPr/>
        </p:nvSpPr>
        <p:spPr>
          <a:xfrm>
            <a:off x="7402899" y="1688664"/>
            <a:ext cx="2263140" cy="400110"/>
          </a:xfrm>
          <a:prstGeom prst="rect">
            <a:avLst/>
          </a:prstGeom>
          <a:noFill/>
        </p:spPr>
        <p:txBody>
          <a:bodyPr wrap="square">
            <a:spAutoFit/>
          </a:bodyPr>
          <a:lstStyle/>
          <a:p>
            <a:pPr marL="0" indent="0">
              <a:buNone/>
            </a:pPr>
            <a:r>
              <a:rPr lang="en-GB" sz="2000" b="1" dirty="0">
                <a:solidFill>
                  <a:schemeClr val="tx2"/>
                </a:solidFill>
                <a:latin typeface="Lato" panose="020F0502020204030203" pitchFamily="34" charset="0"/>
                <a:ea typeface="Lato" panose="020F0502020204030203" pitchFamily="34" charset="0"/>
                <a:cs typeface="Lato" panose="020F0502020204030203" pitchFamily="34" charset="0"/>
              </a:rPr>
              <a:t>Impact modelling</a:t>
            </a:r>
          </a:p>
        </p:txBody>
      </p:sp>
      <p:pic>
        <p:nvPicPr>
          <p:cNvPr id="21" name="Picture 20">
            <a:extLst>
              <a:ext uri="{FF2B5EF4-FFF2-40B4-BE49-F238E27FC236}">
                <a16:creationId xmlns:a16="http://schemas.microsoft.com/office/drawing/2014/main" id="{45B6308E-5005-1B9D-9D09-50A7CC1C5C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73338" y="2405878"/>
            <a:ext cx="1875092" cy="1875092"/>
          </a:xfrm>
          <a:prstGeom prst="rect">
            <a:avLst/>
          </a:prstGeom>
        </p:spPr>
      </p:pic>
      <p:pic>
        <p:nvPicPr>
          <p:cNvPr id="23" name="Picture 22">
            <a:extLst>
              <a:ext uri="{FF2B5EF4-FFF2-40B4-BE49-F238E27FC236}">
                <a16:creationId xmlns:a16="http://schemas.microsoft.com/office/drawing/2014/main" id="{78B94D58-180F-106C-1DB5-3BFB29F5791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6406" r="25593"/>
          <a:stretch>
            <a:fillRect/>
          </a:stretch>
        </p:blipFill>
        <p:spPr bwMode="auto">
          <a:xfrm>
            <a:off x="9192487" y="2575926"/>
            <a:ext cx="1114403" cy="1857338"/>
          </a:xfrm>
          <a:prstGeom prst="rect">
            <a:avLst/>
          </a:prstGeom>
          <a:ln>
            <a:noFill/>
          </a:ln>
          <a:extLst>
            <a:ext uri="{53640926-AAD7-44D8-BBD7-CCE9431645EC}">
              <a14:shadowObscured xmlns:a14="http://schemas.microsoft.com/office/drawing/2010/main"/>
            </a:ext>
          </a:extLst>
        </p:spPr>
      </p:pic>
      <p:pic>
        <p:nvPicPr>
          <p:cNvPr id="25" name="Picture 24">
            <a:extLst>
              <a:ext uri="{FF2B5EF4-FFF2-40B4-BE49-F238E27FC236}">
                <a16:creationId xmlns:a16="http://schemas.microsoft.com/office/drawing/2014/main" id="{020640B7-B77D-754D-A153-0FC84EE21E7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73338" y="4572239"/>
            <a:ext cx="3522263" cy="1392895"/>
          </a:xfrm>
          <a:prstGeom prst="rect">
            <a:avLst/>
          </a:prstGeom>
        </p:spPr>
      </p:pic>
      <p:sp>
        <p:nvSpPr>
          <p:cNvPr id="27" name="TextBox 26">
            <a:extLst>
              <a:ext uri="{FF2B5EF4-FFF2-40B4-BE49-F238E27FC236}">
                <a16:creationId xmlns:a16="http://schemas.microsoft.com/office/drawing/2014/main" id="{0DFC9F77-BDCC-82C9-A5DC-9E14D206E00F}"/>
              </a:ext>
            </a:extLst>
          </p:cNvPr>
          <p:cNvSpPr txBox="1"/>
          <p:nvPr/>
        </p:nvSpPr>
        <p:spPr>
          <a:xfrm>
            <a:off x="1095455" y="2402614"/>
            <a:ext cx="1722186" cy="523220"/>
          </a:xfrm>
          <a:prstGeom prst="rect">
            <a:avLst/>
          </a:prstGeom>
          <a:noFill/>
        </p:spPr>
        <p:txBody>
          <a:bodyPr wrap="square">
            <a:spAutoFit/>
          </a:bodyPr>
          <a:lstStyle/>
          <a:p>
            <a:pPr marL="0" indent="0" algn="ctr">
              <a:buNone/>
            </a:pP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Reference evapotranspiration</a:t>
            </a:r>
          </a:p>
        </p:txBody>
      </p:sp>
      <p:sp>
        <p:nvSpPr>
          <p:cNvPr id="29" name="TextBox 28">
            <a:extLst>
              <a:ext uri="{FF2B5EF4-FFF2-40B4-BE49-F238E27FC236}">
                <a16:creationId xmlns:a16="http://schemas.microsoft.com/office/drawing/2014/main" id="{83E08E8C-3C2B-0AB7-F28F-0B74F5B60F37}"/>
              </a:ext>
            </a:extLst>
          </p:cNvPr>
          <p:cNvSpPr txBox="1"/>
          <p:nvPr/>
        </p:nvSpPr>
        <p:spPr>
          <a:xfrm>
            <a:off x="3637616" y="2402614"/>
            <a:ext cx="1636777" cy="523220"/>
          </a:xfrm>
          <a:prstGeom prst="rect">
            <a:avLst/>
          </a:prstGeom>
          <a:noFill/>
        </p:spPr>
        <p:txBody>
          <a:bodyPr wrap="square">
            <a:spAutoFit/>
          </a:bodyPr>
          <a:lstStyle/>
          <a:p>
            <a:pPr marL="0" indent="0" algn="ctr">
              <a:buNone/>
            </a:pP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Temperature-humidity index</a:t>
            </a:r>
          </a:p>
        </p:txBody>
      </p:sp>
      <p:sp>
        <p:nvSpPr>
          <p:cNvPr id="31" name="TextBox 30">
            <a:extLst>
              <a:ext uri="{FF2B5EF4-FFF2-40B4-BE49-F238E27FC236}">
                <a16:creationId xmlns:a16="http://schemas.microsoft.com/office/drawing/2014/main" id="{AF583B90-8A9C-06EF-616F-E65B6E2159FA}"/>
              </a:ext>
            </a:extLst>
          </p:cNvPr>
          <p:cNvSpPr txBox="1"/>
          <p:nvPr/>
        </p:nvSpPr>
        <p:spPr>
          <a:xfrm>
            <a:off x="6892495" y="2299236"/>
            <a:ext cx="1636777" cy="307777"/>
          </a:xfrm>
          <a:prstGeom prst="rect">
            <a:avLst/>
          </a:prstGeom>
          <a:noFill/>
        </p:spPr>
        <p:txBody>
          <a:bodyPr wrap="square">
            <a:spAutoFit/>
          </a:bodyPr>
          <a:lstStyle/>
          <a:p>
            <a:pPr marL="0" indent="0" algn="ctr">
              <a:buNone/>
            </a:pP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Milk yield loss</a:t>
            </a:r>
          </a:p>
        </p:txBody>
      </p:sp>
      <p:sp>
        <p:nvSpPr>
          <p:cNvPr id="33" name="TextBox 32">
            <a:extLst>
              <a:ext uri="{FF2B5EF4-FFF2-40B4-BE49-F238E27FC236}">
                <a16:creationId xmlns:a16="http://schemas.microsoft.com/office/drawing/2014/main" id="{F2869A7E-8838-5074-134D-C4F1A21C82AF}"/>
              </a:ext>
            </a:extLst>
          </p:cNvPr>
          <p:cNvSpPr txBox="1"/>
          <p:nvPr/>
        </p:nvSpPr>
        <p:spPr>
          <a:xfrm>
            <a:off x="8818779" y="2289356"/>
            <a:ext cx="1861820" cy="307777"/>
          </a:xfrm>
          <a:prstGeom prst="rect">
            <a:avLst/>
          </a:prstGeom>
          <a:noFill/>
        </p:spPr>
        <p:txBody>
          <a:bodyPr wrap="square">
            <a:spAutoFit/>
          </a:bodyPr>
          <a:lstStyle/>
          <a:p>
            <a:pPr marL="0" indent="0" algn="ctr">
              <a:buNone/>
            </a:pP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Climate suitability</a:t>
            </a:r>
          </a:p>
        </p:txBody>
      </p:sp>
      <p:sp>
        <p:nvSpPr>
          <p:cNvPr id="35" name="TextBox 34">
            <a:extLst>
              <a:ext uri="{FF2B5EF4-FFF2-40B4-BE49-F238E27FC236}">
                <a16:creationId xmlns:a16="http://schemas.microsoft.com/office/drawing/2014/main" id="{4A2C72BE-8241-11CF-E938-63FFCA4FE92C}"/>
              </a:ext>
            </a:extLst>
          </p:cNvPr>
          <p:cNvSpPr txBox="1"/>
          <p:nvPr/>
        </p:nvSpPr>
        <p:spPr>
          <a:xfrm>
            <a:off x="6629510" y="4264462"/>
            <a:ext cx="1636777" cy="307777"/>
          </a:xfrm>
          <a:prstGeom prst="rect">
            <a:avLst/>
          </a:prstGeom>
          <a:noFill/>
        </p:spPr>
        <p:txBody>
          <a:bodyPr wrap="square">
            <a:spAutoFit/>
          </a:bodyPr>
          <a:lstStyle/>
          <a:p>
            <a:pPr marL="0" indent="0" algn="ctr">
              <a:buNone/>
            </a:pPr>
            <a:r>
              <a:rPr lang="en-GB" sz="1400" b="1" dirty="0">
                <a:solidFill>
                  <a:schemeClr val="tx2"/>
                </a:solidFill>
                <a:latin typeface="Lato" panose="020F0502020204030203" pitchFamily="34" charset="0"/>
                <a:ea typeface="Lato" panose="020F0502020204030203" pitchFamily="34" charset="0"/>
                <a:cs typeface="Lato" panose="020F0502020204030203" pitchFamily="34" charset="0"/>
              </a:rPr>
              <a:t>Crop modelling</a:t>
            </a:r>
          </a:p>
        </p:txBody>
      </p:sp>
    </p:spTree>
    <p:extLst>
      <p:ext uri="{BB962C8B-B14F-4D97-AF65-F5344CB8AC3E}">
        <p14:creationId xmlns:p14="http://schemas.microsoft.com/office/powerpoint/2010/main" val="3514869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21" name="Google Shape;221;p11">
            <a:extLst>
              <a:ext uri="{FF2B5EF4-FFF2-40B4-BE49-F238E27FC236}">
                <a16:creationId xmlns:a16="http://schemas.microsoft.com/office/drawing/2014/main" id="{4380D6B0-0E10-4122-85F1-4EEBE2308283}"/>
              </a:ext>
            </a:extLst>
          </p:cNvPr>
          <p:cNvSpPr>
            <a:spLocks noGrp="1"/>
          </p:cNvSpPr>
          <p:nvPr/>
        </p:nvSpPr>
        <p:spPr>
          <a:xfrm>
            <a:off x="0" y="0"/>
            <a:ext cx="85725" cy="6858000"/>
          </a:xfrm>
          <a:prstGeom prst="rect">
            <a:avLst/>
          </a:prstGeom>
          <a:solidFill>
            <a:srgbClr val="00A88F"/>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22" name="Google Shape;222;p11">
            <a:extLst>
              <a:ext uri="{FF2B5EF4-FFF2-40B4-BE49-F238E27FC236}">
                <a16:creationId xmlns:a16="http://schemas.microsoft.com/office/drawing/2014/main" id="{26164730-DA04-4E9E-B9D1-20FAF6C92E8D}"/>
              </a:ext>
            </a:extLst>
          </p:cNvPr>
          <p:cNvSpPr>
            <a:spLocks noGrp="1"/>
          </p:cNvSpPr>
          <p:nvPr/>
        </p:nvSpPr>
        <p:spPr>
          <a:xfrm>
            <a:off x="733425" y="647700"/>
            <a:ext cx="1028700" cy="38100"/>
          </a:xfrm>
          <a:prstGeom prst="rect">
            <a:avLst/>
          </a:prstGeom>
          <a:solidFill>
            <a:srgbClr val="F2B63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23" name="Google Shape;223;p11">
            <a:extLst>
              <a:ext uri="{FF2B5EF4-FFF2-40B4-BE49-F238E27FC236}">
                <a16:creationId xmlns:a16="http://schemas.microsoft.com/office/drawing/2014/main" id="{7C23FAC3-4FC2-4E03-9962-0DAFB673C7CF}"/>
              </a:ext>
            </a:extLst>
          </p:cNvPr>
          <p:cNvSpPr>
            <a:spLocks noGrp="1"/>
          </p:cNvSpPr>
          <p:nvPr/>
        </p:nvSpPr>
        <p:spPr>
          <a:xfrm>
            <a:off x="733425" y="1038225"/>
            <a:ext cx="2095500" cy="2286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NEXT</a:t>
            </a:r>
            <a:endParaRPr/>
          </a:p>
        </p:txBody>
      </p:sp>
      <p:sp>
        <p:nvSpPr>
          <p:cNvPr id="224" name="Google Shape;224;p11">
            <a:extLst>
              <a:ext uri="{FF2B5EF4-FFF2-40B4-BE49-F238E27FC236}">
                <a16:creationId xmlns:a16="http://schemas.microsoft.com/office/drawing/2014/main" id="{A94FA7FA-28D7-4DB7-8E17-AFCB3EBB70D7}"/>
              </a:ext>
            </a:extLst>
          </p:cNvPr>
          <p:cNvSpPr>
            <a:spLocks noGrp="1"/>
          </p:cNvSpPr>
          <p:nvPr/>
        </p:nvSpPr>
        <p:spPr>
          <a:xfrm>
            <a:off x="733425" y="1704975"/>
            <a:ext cx="9429750" cy="1323975"/>
          </a:xfrm>
          <a:prstGeom prst="rect">
            <a:avLst/>
          </a:prstGeom>
          <a:noFill/>
          <a:ln>
            <a:noFill/>
          </a:ln>
        </p:spPr>
        <p:txBody>
          <a:bodyPr spcFirstLastPara="1" wrap="square" lIns="0" tIns="0" rIns="0" bIns="0" anchor="t">
            <a:noAutofit/>
          </a:bodyPr>
          <a:lstStyle/>
          <a:p>
            <a:pPr marL="0" marR="0" lvl="0" indent="0" algn="l">
              <a:lnSpc>
                <a:spcPct val="95000"/>
              </a:lnSpc>
              <a:spcBef>
                <a:spcPts val="0"/>
              </a:spcBef>
              <a:spcAft>
                <a:spcPts val="0"/>
              </a:spcAft>
              <a:buClr>
                <a:srgbClr val="FFFFFF"/>
              </a:buClr>
              <a:buSzPts val="3675"/>
              <a:buFont typeface="Lato"/>
              <a:buNone/>
            </a:pPr>
            <a:r>
              <a:rPr sz="3675" b="1" dirty="0">
                <a:solidFill>
                  <a:srgbClr val="FFFFFF"/>
                </a:solidFill>
                <a:latin typeface="Lato"/>
                <a:ea typeface="Lato"/>
                <a:cs typeface="Lato"/>
              </a:rPr>
              <a:t>Open the </a:t>
            </a:r>
            <a:r>
              <a:rPr lang="en-GB" sz="3675" b="1" dirty="0" err="1">
                <a:solidFill>
                  <a:srgbClr val="FFFFFF"/>
                </a:solidFill>
                <a:latin typeface="Lato"/>
                <a:ea typeface="Lato"/>
                <a:cs typeface="Lato"/>
              </a:rPr>
              <a:t>cavapy</a:t>
            </a:r>
            <a:r>
              <a:rPr sz="3675" b="1" dirty="0">
                <a:solidFill>
                  <a:srgbClr val="FFFFFF"/>
                </a:solidFill>
                <a:latin typeface="Lato"/>
                <a:ea typeface="Lato"/>
                <a:cs typeface="Lato"/>
              </a:rPr>
              <a:t> notebook</a:t>
            </a:r>
            <a:endParaRPr dirty="0"/>
          </a:p>
        </p:txBody>
      </p:sp>
      <p:sp>
        <p:nvSpPr>
          <p:cNvPr id="225" name="Google Shape;225;p11">
            <a:extLst>
              <a:ext uri="{FF2B5EF4-FFF2-40B4-BE49-F238E27FC236}">
                <a16:creationId xmlns:a16="http://schemas.microsoft.com/office/drawing/2014/main" id="{7E42A2A1-144C-49D7-99FB-3AF215048153}"/>
              </a:ext>
            </a:extLst>
          </p:cNvPr>
          <p:cNvSpPr>
            <a:spLocks noGrp="1"/>
          </p:cNvSpPr>
          <p:nvPr/>
        </p:nvSpPr>
        <p:spPr>
          <a:xfrm>
            <a:off x="752475" y="3075347"/>
            <a:ext cx="571500" cy="2667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01</a:t>
            </a:r>
            <a:endParaRPr/>
          </a:p>
        </p:txBody>
      </p:sp>
      <p:sp>
        <p:nvSpPr>
          <p:cNvPr id="226" name="Google Shape;226;p11">
            <a:extLst>
              <a:ext uri="{FF2B5EF4-FFF2-40B4-BE49-F238E27FC236}">
                <a16:creationId xmlns:a16="http://schemas.microsoft.com/office/drawing/2014/main" id="{0B21C6B0-968B-468D-A8D3-D33730A9D8A4}"/>
              </a:ext>
            </a:extLst>
          </p:cNvPr>
          <p:cNvSpPr>
            <a:spLocks noGrp="1"/>
          </p:cNvSpPr>
          <p:nvPr/>
        </p:nvSpPr>
        <p:spPr>
          <a:xfrm>
            <a:off x="1352550" y="3027722"/>
            <a:ext cx="8810625" cy="352425"/>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FFFFFF"/>
              </a:buClr>
              <a:buSzPts val="1725"/>
              <a:buFont typeface="Lato"/>
              <a:buNone/>
            </a:pPr>
            <a:r>
              <a:rPr sz="1725" b="1" dirty="0">
                <a:solidFill>
                  <a:srgbClr val="FFFFFF"/>
                </a:solidFill>
                <a:latin typeface="Lato"/>
                <a:ea typeface="Lato"/>
                <a:cs typeface="Lato"/>
              </a:rPr>
              <a:t>Load and inspect a country-scale multi-model dataset</a:t>
            </a:r>
            <a:endParaRPr dirty="0"/>
          </a:p>
        </p:txBody>
      </p:sp>
      <p:sp>
        <p:nvSpPr>
          <p:cNvPr id="231" name="Google Shape;231;p11">
            <a:extLst>
              <a:ext uri="{FF2B5EF4-FFF2-40B4-BE49-F238E27FC236}">
                <a16:creationId xmlns:a16="http://schemas.microsoft.com/office/drawing/2014/main" id="{9BE1AD0C-1B85-417C-84C0-ADABE4A6C359}"/>
              </a:ext>
            </a:extLst>
          </p:cNvPr>
          <p:cNvSpPr>
            <a:spLocks noGrp="1"/>
          </p:cNvSpPr>
          <p:nvPr/>
        </p:nvSpPr>
        <p:spPr>
          <a:xfrm>
            <a:off x="704850" y="3562351"/>
            <a:ext cx="9620250" cy="266700"/>
          </a:xfrm>
          <a:prstGeom prst="rect">
            <a:avLst/>
          </a:prstGeom>
          <a:noFill/>
          <a:ln>
            <a:noFill/>
          </a:ln>
        </p:spPr>
        <p:txBody>
          <a:bodyPr spcFirstLastPara="1" wrap="square" lIns="0" tIns="0" rIns="0" bIns="0" anchor="t">
            <a:noAutofit/>
          </a:bodyPr>
          <a:lstStyle/>
          <a:p>
            <a:pPr marL="0" marR="0" lvl="0" indent="0" algn="l">
              <a:lnSpc>
                <a:spcPct val="102000"/>
              </a:lnSpc>
              <a:spcBef>
                <a:spcPts val="0"/>
              </a:spcBef>
              <a:spcAft>
                <a:spcPts val="0"/>
              </a:spcAft>
              <a:buClr>
                <a:srgbClr val="D7E5EC"/>
              </a:buClr>
              <a:buSzPts val="1275"/>
              <a:buFont typeface="Lato"/>
              <a:buNone/>
            </a:pPr>
            <a:r>
              <a:rPr sz="1275" b="0" dirty="0">
                <a:solidFill>
                  <a:srgbClr val="D7E5EC"/>
                </a:solidFill>
                <a:latin typeface="Lato"/>
                <a:ea typeface="Lato"/>
                <a:cs typeface="Lato"/>
              </a:rPr>
              <a:t>Select </a:t>
            </a:r>
            <a:r>
              <a:rPr lang="en-GB" sz="1275" b="0" dirty="0">
                <a:solidFill>
                  <a:srgbClr val="D7E5EC"/>
                </a:solidFill>
                <a:latin typeface="Lato"/>
                <a:ea typeface="Lato"/>
                <a:cs typeface="Lato"/>
              </a:rPr>
              <a:t>Python</a:t>
            </a:r>
            <a:r>
              <a:rPr sz="1275" b="0" dirty="0">
                <a:solidFill>
                  <a:srgbClr val="D7E5EC"/>
                </a:solidFill>
                <a:latin typeface="Lato"/>
                <a:ea typeface="Lato"/>
                <a:cs typeface="Lato"/>
              </a:rPr>
              <a:t> (CAVA) as the notebook kernel.</a:t>
            </a:r>
            <a:endParaRPr dirty="0"/>
          </a:p>
        </p:txBody>
      </p:sp>
    </p:spTree>
    <p:extLst>
      <p:ext uri="{BB962C8B-B14F-4D97-AF65-F5344CB8AC3E}">
        <p14:creationId xmlns:p14="http://schemas.microsoft.com/office/powerpoint/2010/main" val="942397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2136</TotalTime>
  <Words>480</Words>
  <Application>Microsoft Office PowerPoint</Application>
  <PresentationFormat>Widescreen</PresentationFormat>
  <Paragraphs>93</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Lato</vt:lpstr>
      <vt:lpstr>Monaspace Neon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Greenrod, Samuel (OCBD)</dc:creator>
  <cp:lastModifiedBy>Greenrod, Samuel (OCBD)</cp:lastModifiedBy>
  <cp:revision>3</cp:revision>
  <dcterms:created xsi:type="dcterms:W3CDTF">2026-09-23T13:55:22Z</dcterms:created>
  <dcterms:modified xsi:type="dcterms:W3CDTF">2026-09-29T16:08:42Z</dcterms:modified>
</cp:coreProperties>
</file>