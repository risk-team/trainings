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f017d81cc04a38" /><Relationship Type="http://schemas.openxmlformats.org/officeDocument/2006/relationships/extended-properties" Target="/docProps/app.xml" Id="Rda1f1d38e1e54ce5" /><Relationship Type="http://schemas.openxmlformats.org/officeDocument/2006/relationships/officeDocument" Target="/ppt/presentation.xml" Id="R082c57a0dc134ae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88458134ff94ba2"/>
  </p:sldMasterIdLst>
  <p:notesMasterIdLst>
    <p:notesMasterId xmlns:r="http://schemas.openxmlformats.org/officeDocument/2006/relationships" r:id="R24566f41907147c3"/>
  </p:notesMasterIdLst>
  <p:sldIdLst>
    <p:sldId xmlns:r="http://schemas.openxmlformats.org/officeDocument/2006/relationships" id="256" r:id="R39e2971260474a7e"/>
    <p:sldId xmlns:r="http://schemas.openxmlformats.org/officeDocument/2006/relationships" id="257" r:id="R3a54955cd0814f6c"/>
    <p:sldId xmlns:r="http://schemas.openxmlformats.org/officeDocument/2006/relationships" id="258" r:id="Rdba0d9a5c6be4e0b"/>
    <p:sldId xmlns:r="http://schemas.openxmlformats.org/officeDocument/2006/relationships" id="259" r:id="Ra45e47233b4349bd"/>
    <p:sldId xmlns:r="http://schemas.openxmlformats.org/officeDocument/2006/relationships" id="260" r:id="R5f7f8eabfef9498a"/>
    <p:sldId xmlns:r="http://schemas.openxmlformats.org/officeDocument/2006/relationships" id="261" r:id="Rfa9b17017a124cee"/>
    <p:sldId xmlns:r="http://schemas.openxmlformats.org/officeDocument/2006/relationships" id="262" r:id="R3f92fb0a643b4d19"/>
    <p:sldId xmlns:r="http://schemas.openxmlformats.org/officeDocument/2006/relationships" id="263" r:id="Rbeb5fb2ec65f45d7"/>
    <p:sldId xmlns:r="http://schemas.openxmlformats.org/officeDocument/2006/relationships" id="264" r:id="Rd70397791924433b"/>
  </p:sldIdLst>
  <p:sldSz cx="12192000" cy="6858000"/>
  <p:notesSz cx="6858000" cy="9144000"/>
  <p:embeddedFontLst>
    <p:embeddedFont>
      <p:font typeface="Lato"/>
      <p:regular xmlns:r="http://schemas.openxmlformats.org/officeDocument/2006/relationships" r:id="R24ea11b74f02481d"/>
      <p:bold xmlns:r="http://schemas.openxmlformats.org/officeDocument/2006/relationships" r:id="Re951a64ec2af47b4"/>
      <p:italic xmlns:r="http://schemas.openxmlformats.org/officeDocument/2006/relationships" r:id="R0a18d33b79db4e0d"/>
      <p:boldItalic xmlns:r="http://schemas.openxmlformats.org/officeDocument/2006/relationships" r:id="Re47546ca89ce409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a15c4044e14725" /><Relationship Type="http://schemas.openxmlformats.org/officeDocument/2006/relationships/slideMaster" Target="/ppt/slideMasters/slideMaster1.xml" Id="R188458134ff94ba2" /><Relationship Type="http://schemas.openxmlformats.org/officeDocument/2006/relationships/notesMaster" Target="/ppt/notesMasters/notesMaster1.xml" Id="R24566f41907147c3" /><Relationship Type="http://schemas.openxmlformats.org/officeDocument/2006/relationships/presProps" Target="/ppt/presProps.xml" Id="Rea085c69419d45ab" /><Relationship Type="http://schemas.openxmlformats.org/officeDocument/2006/relationships/tableStyles" Target="/ppt/tableStyles.xml" Id="R36cdaad1b2c64960" /><Relationship Type="http://schemas.openxmlformats.org/officeDocument/2006/relationships/font" Target="/ppt/fonts/font.dat" Id="R24ea11b74f02481d" /><Relationship Type="http://schemas.openxmlformats.org/officeDocument/2006/relationships/font" Target="/ppt/fonts/font2.dat" Id="Re951a64ec2af47b4" /><Relationship Type="http://schemas.openxmlformats.org/officeDocument/2006/relationships/font" Target="/ppt/fonts/font3.dat" Id="R0a18d33b79db4e0d" /><Relationship Type="http://schemas.openxmlformats.org/officeDocument/2006/relationships/font" Target="/ppt/fonts/font4.dat" Id="Re47546ca89ce4097" /><Relationship Type="http://schemas.openxmlformats.org/officeDocument/2006/relationships/slide" Target="/ppt/slides/slide1.xml" Id="R39e2971260474a7e" /><Relationship Type="http://schemas.openxmlformats.org/officeDocument/2006/relationships/slide" Target="/ppt/slides/slide2.xml" Id="R3a54955cd0814f6c" /><Relationship Type="http://schemas.openxmlformats.org/officeDocument/2006/relationships/slide" Target="/ppt/slides/slide3.xml" Id="Rdba0d9a5c6be4e0b" /><Relationship Type="http://schemas.openxmlformats.org/officeDocument/2006/relationships/slide" Target="/ppt/slides/slide4.xml" Id="Ra45e47233b4349bd" /><Relationship Type="http://schemas.openxmlformats.org/officeDocument/2006/relationships/slide" Target="/ppt/slides/slide5.xml" Id="R5f7f8eabfef9498a" /><Relationship Type="http://schemas.openxmlformats.org/officeDocument/2006/relationships/slide" Target="/ppt/slides/slide6.xml" Id="Rfa9b17017a124cee" /><Relationship Type="http://schemas.openxmlformats.org/officeDocument/2006/relationships/slide" Target="/ppt/slides/slide7.xml" Id="R3f92fb0a643b4d19" /><Relationship Type="http://schemas.openxmlformats.org/officeDocument/2006/relationships/slide" Target="/ppt/slides/slide8.xml" Id="Rbeb5fb2ec65f45d7" /><Relationship Type="http://schemas.openxmlformats.org/officeDocument/2006/relationships/slide" Target="/ppt/slides/slide9.xml" Id="Rd7039779192443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ddbd5c173d4a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535a2ea7ed4f9e" /><Relationship Type="http://schemas.openxmlformats.org/officeDocument/2006/relationships/notesMaster" Target="/ppt/notesMasters/notesMaster1.xml" Id="Rf003b6a28e454f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55631d37c340fb" /><Relationship Type="http://schemas.openxmlformats.org/officeDocument/2006/relationships/notesMaster" Target="/ppt/notesMasters/notesMaster1.xml" Id="R72e075fa99284e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38f98b4bc24eaa" /><Relationship Type="http://schemas.openxmlformats.org/officeDocument/2006/relationships/notesMaster" Target="/ppt/notesMasters/notesMaster1.xml" Id="R03c1bf24718d4b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437bcf6d5848dd" /><Relationship Type="http://schemas.openxmlformats.org/officeDocument/2006/relationships/notesMaster" Target="/ppt/notesMasters/notesMaster1.xml" Id="Rffa42722d6ed4c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d9039ce2674167" /><Relationship Type="http://schemas.openxmlformats.org/officeDocument/2006/relationships/notesMaster" Target="/ppt/notesMasters/notesMaster1.xml" Id="R8bfd2a905a8e4d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fe11041e264686" /><Relationship Type="http://schemas.openxmlformats.org/officeDocument/2006/relationships/notesMaster" Target="/ppt/notesMasters/notesMaster1.xml" Id="Re3e878ef7ba74c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0b1ac20cbd4f0f" /><Relationship Type="http://schemas.openxmlformats.org/officeDocument/2006/relationships/notesMaster" Target="/ppt/notesMasters/notesMaster1.xml" Id="R14343f0dd57a42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2b157e1b844e19" /><Relationship Type="http://schemas.openxmlformats.org/officeDocument/2006/relationships/notesMaster" Target="/ppt/notesMasters/notesMaster1.xml" Id="Rfa5e8f4b18a04e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d90387010643b6" /><Relationship Type="http://schemas.openxmlformats.org/officeDocument/2006/relationships/notesMaster" Target="/ppt/notesMasters/notesMaster1.xml" Id="R1624372b18c74f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2 minutes. Introduce Module 3 as the technical part of the CAVA series. The first 30 minutes cover a shared Conda environment. Riccardo then leads the CAVAanalytics notebook and Sam leads cavapy. Source: CAVA Training Series concept note supplied by the user.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3 minutes. The agenda totals 180 minutes: 30 minutes for installation, 75 minutes for CAVAanalytics, a 5-minute break, 60 minutes for cavapy, 5 minutes linking to Module 4 and 5 minutes for questions. Riccardo leads setup and CAVAanalytics. Sam leads cavapy.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5 minutes. CAVAanalytics is the R analysis layer for indicators, ensemble interpretation, visualization and raster export. cavapy is the Python companion for efficient retrieval and xarray-based processing. Sources: local CAVAanalytics and cavapy package documentation.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4 minutes. Explain why Conda helps: CAVAanalytics depends on Java and compiled spatial libraries, while cavapy requires Python 3.11 or newer. Conda-forge supplies compatible binaries. Mamba can replace conda command-for-command when available.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3 minutes. Introduce the four installation steps. Participants should finish with JupyterLab open and both kernels visible. The following two slides contain commands to run in a terminal.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12 minutes. Run the Conda command, activate the environment, then install CAVAanalytics and cavapy. CAVAanalytics uses pak to resolve its GitHub and climate4R dependencies. cavapy installs from PyPI. Sources: local package installation documentation.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6 minutes. Register both named kernels, start JupyterLab and confirm that R (CAVA) and Python (CAVA) appear in the launcher. If a kernel is missing, close JupyterLab, reactivate the cava environment and repeat the relevant registration command.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5 minutes. Every participant should load CAVAanalytics and rJava in the R kernel and import cavapy in the Python kernel. Remote-data failure can occur independently of local installation if the THREDDS service is unavailable.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Timing: 2 minutes. Open the supplied CAVAanalytics notebook with the R (CAVA) kernel. The notebook covers load_data, observations, model_biases, projections, climate_change_signal, plotting and extract_raster, including threshold and consecutive-day indicators.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185ba2b76c47b5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9f740513ca4f1f" /><Relationship Type="http://schemas.openxmlformats.org/officeDocument/2006/relationships/slideLayout" Target="/ppt/slideLayouts/slideLayout1.xml" Id="R193abaada1e84e8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3abaada1e84e8e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67d4b091a4f7c" /><Relationship Type="http://schemas.openxmlformats.org/officeDocument/2006/relationships/image" Target="/ppt/media/image.jpeg" Id="Rf1c2f27fa84e4222" /><Relationship Type="http://schemas.openxmlformats.org/officeDocument/2006/relationships/notesSlide" Target="/ppt/notesSlides/notesSlide1.xml" Id="R5101b1c8798040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75c7772a84779" /><Relationship Type="http://schemas.openxmlformats.org/officeDocument/2006/relationships/notesSlide" Target="/ppt/notesSlides/notesSlide2.xml" Id="R3404100c625c42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0c0dea7054090" /><Relationship Type="http://schemas.openxmlformats.org/officeDocument/2006/relationships/notesSlide" Target="/ppt/notesSlides/notesSlide3.xml" Id="R28a8d0e4381c4d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a9629f6cf4a11" /><Relationship Type="http://schemas.openxmlformats.org/officeDocument/2006/relationships/notesSlide" Target="/ppt/notesSlides/notesSlide4.xml" Id="R8d65efa2def746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eb3f71f1d4471" /><Relationship Type="http://schemas.openxmlformats.org/officeDocument/2006/relationships/notesSlide" Target="/ppt/notesSlides/notesSlide5.xml" Id="R4597527ff29b40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0d6f5737e4f0c" /><Relationship Type="http://schemas.openxmlformats.org/officeDocument/2006/relationships/notesSlide" Target="/ppt/notesSlides/notesSlide6.xml" Id="R4b2eebe7524a41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b1629e6d74fa4" /><Relationship Type="http://schemas.openxmlformats.org/officeDocument/2006/relationships/notesSlide" Target="/ppt/notesSlides/notesSlide7.xml" Id="Rebdcdc9e322f49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1b17d86694897" /><Relationship Type="http://schemas.openxmlformats.org/officeDocument/2006/relationships/notesSlide" Target="/ppt/notesSlides/notesSlide8.xml" Id="Rcdce4752c4224c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340619cd843b3" /><Relationship Type="http://schemas.openxmlformats.org/officeDocument/2006/relationships/notesSlide" Target="/ppt/notesSlides/notesSlide9.xml" Id="Rfdbab3c95cb742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Google Shape;16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c2f27fa84e42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28B587C7-D201-4917-BAE2-5BE110C7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12304E">
                  <a:alpha val="98824"/>
                </a:srgbClr>
              </a:gs>
              <a:gs pos="34000">
                <a:srgbClr val="12304E">
                  <a:alpha val="96078"/>
                </a:srgbClr>
              </a:gs>
              <a:gs pos="55000">
                <a:srgbClr val="12304E">
                  <a:alpha val="74118"/>
                </a:srgbClr>
              </a:gs>
              <a:gs pos="82000">
                <a:srgbClr val="12304E">
                  <a:alpha val="18039"/>
                </a:srgbClr>
              </a:gs>
              <a:gs pos="100000">
                <a:srgbClr val="12304E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01811517-22C1-46F1-B623-C95A69E9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01645B6D-D9AA-41A0-80EA-2156D092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15B27C8A-21F9-4369-B0DB-11CCACB0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382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78D8C8"/>
              </a:buClr>
              <a:buSzPts val="1050"/>
              <a:buFont typeface="Lato"/>
              <a:buNone/>
            </a:pPr>
            <a:r>
              <a:rPr sz="1050" b="1">
                <a:solidFill>
                  <a:srgbClr val="78D8C8"/>
                </a:solidFill>
                <a:latin typeface="Lato"/>
                <a:ea typeface="Lato"/>
                <a:cs typeface="Lato"/>
              </a:rPr>
              <a:t>CAVA TRAINING SERIES</a:t>
            </a:r>
            <a:endParaRPr/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885FF0CB-1463-4EDE-8D38-2E0335F7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5429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Climate data workflows</a:t>
            </a:r>
            <a:endParaRPr/>
          </a:p>
          <a:p xmlns:a="http://schemas.openxmlformats.org/drawingml/2006/main"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with CAVAanalytics</a:t>
            </a:r>
            <a:endParaRPr/>
          </a:p>
          <a:p xmlns:a="http://schemas.openxmlformats.org/drawingml/2006/main"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and cavapy</a:t>
            </a:r>
            <a:endParaRPr/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7C824548-77B5-4FCE-9C04-D550F3FD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57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350"/>
              <a:buFont typeface="Lato"/>
              <a:buNone/>
            </a:pPr>
            <a:r>
              <a:rPr sz="135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MODULE 3</a:t>
            </a:r>
            <a:endParaRPr/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FBAEAC79-CEC7-47D0-B70E-332F927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530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Lato"/>
              <a:buNone/>
            </a:pPr>
            <a:r>
              <a:rPr sz="12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30 September 2026</a:t>
            </a:r>
            <a:endParaRPr/>
          </a:p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0DEAF807-F094-447B-A56D-30C9D261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76850"/>
            <a:ext cx="2714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7E5EC"/>
              </a:buClr>
              <a:buSzPts val="1050"/>
              <a:buFont typeface="Lato"/>
              <a:buNone/>
            </a:pPr>
            <a:r>
              <a:rPr sz="1050" b="0">
                <a:solidFill>
                  <a:srgbClr val="D7E5EC"/>
                </a:solidFill>
                <a:latin typeface="Lato"/>
                <a:ea typeface="Lato"/>
                <a:cs typeface="Lato"/>
              </a:rPr>
              <a:t>09:00–12:00  ·  Hybrid</a:t>
            </a:r>
            <a:endParaRPr/>
          </a:p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A8E00CA3-675D-4DC3-9880-48F15BE9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10275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C0CD">
              <a:alpha val="54902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0B641A53-F7E9-426F-8138-8D2F1A2B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162675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7E5EC"/>
              </a:buClr>
              <a:buSzPts val="900"/>
              <a:buFont typeface="Lato"/>
              <a:buNone/>
            </a:pPr>
            <a:r>
              <a:rPr sz="900" b="0">
                <a:solidFill>
                  <a:srgbClr val="D7E5EC"/>
                </a:solidFill>
                <a:latin typeface="Lato"/>
                <a:ea typeface="Lato"/>
                <a:cs typeface="Lato"/>
              </a:rPr>
              <a:t>Reproducible climate analysis in R and Python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71310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CB4C64D4-CD56-4C5F-81C5-0A4596AF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Today’s route</a:t>
            </a:r>
            <a:endParaRPr/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CF63699D-D4DC-4095-84BF-F5F805BC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Installation first, followed by practical notebooks in R and Python</a:t>
            </a:r>
            <a:endParaRPr/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BADD03AC-3CD5-46E0-9157-7DE22D33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E00FC5EC-6F5F-4CFC-8D1C-B2EBFE7D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ED6C640F-2E6D-467D-9561-A709E588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643BCA08-5555-424F-A005-877AC99B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D3090171-9E3B-4B0F-A2BA-930EB885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0F9D212E-7B8E-4D89-8729-E8E71E31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98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EEA2B862-E68E-4671-8DFA-1FBF4CE1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950"/>
              <a:buFont typeface="Lato"/>
              <a:buNone/>
            </a:pPr>
            <a:r>
              <a:rPr sz="195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30</a:t>
            </a:r>
            <a:endParaRPr/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1FB9B39D-C13B-47BF-91B7-D1951AA8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002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03B96CCB-AB8E-4E2C-8F80-EDF6CEE1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8859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Environment setup</a:t>
            </a:r>
            <a:endParaRPr/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D92624E-2D48-43B2-B2AF-CF102A9C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9335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Create the Conda environment and open JupyterLab</a:t>
            </a:r>
            <a:endParaRPr/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B6B22E0A-A2BD-4DD2-B2E4-B19BF6EF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E174A350-9D30-4E55-A92F-C470DA74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950"/>
              <a:buFont typeface="Lato"/>
              <a:buNone/>
            </a:pPr>
            <a:r>
              <a:rPr sz="195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75</a:t>
            </a:r>
            <a:endParaRPr/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A77DC0E3-F17E-42BA-9215-C287754F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6860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47" name="Google Shape;47;p4">
            <a:extLst xmlns:a="http://schemas.openxmlformats.org/drawingml/2006/main">
              <a:ext uri="{FF2B5EF4-FFF2-40B4-BE49-F238E27FC236}">
                <a16:creationId xmlns:a16="http://schemas.microsoft.com/office/drawing/2014/main" id="{2B13172E-EB47-437E-A0CB-4A4091E8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717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CAVAanalytics notebook</a:t>
            </a:r>
            <a:endParaRPr/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038B89B7-C65B-4CF2-AD08-E23B74F9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193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Analyse observations, projections and climate indicators</a:t>
            </a:r>
            <a:endParaRPr/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99A718D4-B024-4B01-BE70-01ABDFD9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>
            <a:extLst xmlns:a="http://schemas.openxmlformats.org/drawingml/2006/main">
              <a:ext uri="{FF2B5EF4-FFF2-40B4-BE49-F238E27FC236}">
                <a16:creationId xmlns:a16="http://schemas.microsoft.com/office/drawing/2014/main" id="{1A2CA535-EC4A-48EE-AA0F-327CEB33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950"/>
              <a:buFont typeface="Lato"/>
              <a:buNone/>
            </a:pPr>
            <a:r>
              <a:rPr sz="195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05</a:t>
            </a:r>
            <a:endParaRPr/>
          </a:p>
        </p:txBody>
      </p:sp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CD4ED4EE-784D-464D-9BCD-366D51EA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3718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8F0C8BC2-154B-44F9-86F7-A1B8EC1E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575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Break</a:t>
            </a:r>
            <a:endParaRPr/>
          </a:p>
        </p:txBody>
      </p:sp>
      <p:sp>
        <p:nvSpPr>
          <p:cNvPr id="53" name="Google Shape;53;p4">
            <a:extLst xmlns:a="http://schemas.openxmlformats.org/drawingml/2006/main">
              <a:ext uri="{FF2B5EF4-FFF2-40B4-BE49-F238E27FC236}">
                <a16:creationId xmlns:a16="http://schemas.microsoft.com/office/drawing/2014/main" id="{930A96A4-08A1-4CED-9A9E-E57FB753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3051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Pause before the Python workflow</a:t>
            </a:r>
            <a:endParaRPr/>
          </a:p>
        </p:txBody>
      </p:sp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2AF8A3B4-7534-42B7-8461-2BFFF0F7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>
            <a:extLst xmlns:a="http://schemas.openxmlformats.org/drawingml/2006/main">
              <a:ext uri="{FF2B5EF4-FFF2-40B4-BE49-F238E27FC236}">
                <a16:creationId xmlns:a16="http://schemas.microsoft.com/office/drawing/2014/main" id="{27D8B5CD-EF98-400B-B18E-7CA99D71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950"/>
              <a:buFont typeface="Lato"/>
              <a:buNone/>
            </a:pPr>
            <a:r>
              <a:rPr sz="195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60</a:t>
            </a:r>
            <a:endParaRPr/>
          </a:p>
        </p:txBody>
      </p:sp>
      <p:sp>
        <p:nvSpPr>
          <p:cNvPr id="56" name="Google Shape;56;p4">
            <a:extLst xmlns:a="http://schemas.openxmlformats.org/drawingml/2006/main">
              <a:ext uri="{FF2B5EF4-FFF2-40B4-BE49-F238E27FC236}">
                <a16:creationId xmlns:a16="http://schemas.microsoft.com/office/drawing/2014/main" id="{BCA9CCD7-2B5F-44B7-8E38-A6A219F0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0576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8B4D80D0-FDC4-41DA-A524-F8648EA7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9433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cavapy notebook with Sam</a:t>
            </a:r>
            <a:endParaRPr/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538887DF-D223-43F0-ACA8-565C4597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9909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Retrieve and prepare climate data in Python</a:t>
            </a:r>
            <a:endParaRPr/>
          </a:p>
        </p:txBody>
      </p:sp>
      <p:sp>
        <p:nvSpPr>
          <p:cNvPr id="59" name="Google Shape;59;p4">
            <a:extLst xmlns:a="http://schemas.openxmlformats.org/drawingml/2006/main">
              <a:ext uri="{FF2B5EF4-FFF2-40B4-BE49-F238E27FC236}">
                <a16:creationId xmlns:a16="http://schemas.microsoft.com/office/drawing/2014/main" id="{7017886D-B8B8-4412-B65B-2BC69BC5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530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>
            <a:extLst xmlns:a="http://schemas.openxmlformats.org/drawingml/2006/main">
              <a:ext uri="{FF2B5EF4-FFF2-40B4-BE49-F238E27FC236}">
                <a16:creationId xmlns:a16="http://schemas.microsoft.com/office/drawing/2014/main" id="{DAC63DCC-702E-45EE-9CA8-C83F05CC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950"/>
              <a:buFont typeface="Lato"/>
              <a:buNone/>
            </a:pPr>
            <a:r>
              <a:rPr sz="195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05</a:t>
            </a:r>
            <a:endParaRPr/>
          </a:p>
        </p:txBody>
      </p:sp>
      <p:sp>
        <p:nvSpPr>
          <p:cNvPr id="61" name="Google Shape;61;p4">
            <a:extLst xmlns:a="http://schemas.openxmlformats.org/drawingml/2006/main">
              <a:ext uri="{FF2B5EF4-FFF2-40B4-BE49-F238E27FC236}">
                <a16:creationId xmlns:a16="http://schemas.microsoft.com/office/drawing/2014/main" id="{7246032D-EAEA-4941-9D13-B89EDB4E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7434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62" name="Google Shape;62;p4">
            <a:extLst xmlns:a="http://schemas.openxmlformats.org/drawingml/2006/main">
              <a:ext uri="{FF2B5EF4-FFF2-40B4-BE49-F238E27FC236}">
                <a16:creationId xmlns:a16="http://schemas.microsoft.com/office/drawing/2014/main" id="{318FCA99-53CF-4FE4-8D5C-46B3E6EC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291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Link to Module 4</a:t>
            </a:r>
            <a:endParaRPr/>
          </a:p>
        </p:txBody>
      </p:sp>
      <p:sp>
        <p:nvSpPr>
          <p:cNvPr id="63" name="Google Shape;63;p4">
            <a:extLst xmlns:a="http://schemas.openxmlformats.org/drawingml/2006/main">
              <a:ext uri="{FF2B5EF4-FFF2-40B4-BE49-F238E27FC236}">
                <a16:creationId xmlns:a16="http://schemas.microsoft.com/office/drawing/2014/main" id="{319097D8-EAC7-47B0-967E-480A96EF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6767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Prepare climate inputs for impact modelling</a:t>
            </a:r>
            <a:endParaRPr/>
          </a:p>
        </p:txBody>
      </p:sp>
      <p:sp>
        <p:nvSpPr>
          <p:cNvPr id="64" name="Google Shape;64;p4">
            <a:extLst xmlns:a="http://schemas.openxmlformats.org/drawingml/2006/main">
              <a:ext uri="{FF2B5EF4-FFF2-40B4-BE49-F238E27FC236}">
                <a16:creationId xmlns:a16="http://schemas.microsoft.com/office/drawing/2014/main" id="{5BF144D4-CEA3-4FD2-A6C8-C5C91CED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38825"/>
            <a:ext cx="1087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">
            <a:extLst xmlns:a="http://schemas.openxmlformats.org/drawingml/2006/main">
              <a:ext uri="{FF2B5EF4-FFF2-40B4-BE49-F238E27FC236}">
                <a16:creationId xmlns:a16="http://schemas.microsoft.com/office/drawing/2014/main" id="{F8031F14-0A39-49E3-BBD6-3FBAC82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950"/>
              <a:buFont typeface="Lato"/>
              <a:buNone/>
            </a:pPr>
            <a:r>
              <a:rPr sz="195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05</a:t>
            </a:r>
            <a:endParaRPr/>
          </a:p>
        </p:txBody>
      </p:sp>
      <p:sp>
        <p:nvSpPr>
          <p:cNvPr id="66" name="Google Shape;66;p4">
            <a:extLst xmlns:a="http://schemas.openxmlformats.org/drawingml/2006/main">
              <a:ext uri="{FF2B5EF4-FFF2-40B4-BE49-F238E27FC236}">
                <a16:creationId xmlns:a16="http://schemas.microsoft.com/office/drawing/2014/main" id="{DE386EEF-861B-4552-9B20-12CBEF28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5429250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825"/>
              <a:buFont typeface="Lato"/>
              <a:buNone/>
            </a:pPr>
            <a:r>
              <a:rPr sz="8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min</a:t>
            </a:r>
            <a:endParaRPr/>
          </a:p>
        </p:txBody>
      </p:sp>
      <p:sp>
        <p:nvSpPr>
          <p:cNvPr id="67" name="Google Shape;67;p4">
            <a:extLst xmlns:a="http://schemas.openxmlformats.org/drawingml/2006/main">
              <a:ext uri="{FF2B5EF4-FFF2-40B4-BE49-F238E27FC236}">
                <a16:creationId xmlns:a16="http://schemas.microsoft.com/office/drawing/2014/main" id="{A65B894B-7147-405F-A6B4-5E85761C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14950"/>
            <a:ext cx="442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575"/>
              <a:buFont typeface="Lato"/>
              <a:buNone/>
            </a:pPr>
            <a:r>
              <a:rPr sz="15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Questions and next steps</a:t>
            </a:r>
            <a:endParaRPr/>
          </a:p>
        </p:txBody>
      </p:sp>
      <p:sp>
        <p:nvSpPr>
          <p:cNvPr id="68" name="Google Shape;68;p4">
            <a:extLst xmlns:a="http://schemas.openxmlformats.org/drawingml/2006/main">
              <a:ext uri="{FF2B5EF4-FFF2-40B4-BE49-F238E27FC236}">
                <a16:creationId xmlns:a16="http://schemas.microsoft.com/office/drawing/2014/main" id="{9320BC03-64D8-4A41-84F7-8E32E837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362575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>
                <a:solidFill>
                  <a:srgbClr val="687984"/>
                </a:solidFill>
                <a:latin typeface="Lato"/>
                <a:ea typeface="Lato"/>
                <a:cs typeface="Lato"/>
              </a:rPr>
              <a:t>Confirm the workflow and available support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143018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7" name="Google Shape;237;p12">
            <a:extLst xmlns:a="http://schemas.openxmlformats.org/drawingml/2006/main">
              <a:ext uri="{FF2B5EF4-FFF2-40B4-BE49-F238E27FC236}">
                <a16:creationId xmlns:a16="http://schemas.microsoft.com/office/drawing/2014/main" id="{0AA5D71A-10FB-4AB4-8FBC-A3EFC87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CAVAanalytics and cavapy</a:t>
            </a:r>
            <a:endParaRPr/>
          </a:p>
        </p:txBody>
      </p:sp>
      <p:sp>
        <p:nvSpPr>
          <p:cNvPr id="238" name="Google Shape;238;p12">
            <a:extLst xmlns:a="http://schemas.openxmlformats.org/drawingml/2006/main">
              <a:ext uri="{FF2B5EF4-FFF2-40B4-BE49-F238E27FC236}">
                <a16:creationId xmlns:a16="http://schemas.microsoft.com/office/drawing/2014/main" id="{0B388AA1-BD43-45E0-A42D-D94D08C1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Two coding interfaces connected to the same CAVA data backbone</a:t>
            </a:r>
            <a:endParaRPr/>
          </a:p>
        </p:txBody>
      </p:sp>
      <p:sp>
        <p:nvSpPr>
          <p:cNvPr id="239" name="Google Shape;239;p12">
            <a:extLst xmlns:a="http://schemas.openxmlformats.org/drawingml/2006/main">
              <a:ext uri="{FF2B5EF4-FFF2-40B4-BE49-F238E27FC236}">
                <a16:creationId xmlns:a16="http://schemas.microsoft.com/office/drawing/2014/main" id="{011E4086-F534-4290-98D9-3BBBEA7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2">
            <a:extLst xmlns:a="http://schemas.openxmlformats.org/drawingml/2006/main">
              <a:ext uri="{FF2B5EF4-FFF2-40B4-BE49-F238E27FC236}">
                <a16:creationId xmlns:a16="http://schemas.microsoft.com/office/drawing/2014/main" id="{FEF7AA9C-A6EC-4E88-928B-2CDCC2CF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2">
            <a:extLst xmlns:a="http://schemas.openxmlformats.org/drawingml/2006/main">
              <a:ext uri="{FF2B5EF4-FFF2-40B4-BE49-F238E27FC236}">
                <a16:creationId xmlns:a16="http://schemas.microsoft.com/office/drawing/2014/main" id="{AB051E87-906C-4049-8800-45AC5A99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2">
            <a:extLst xmlns:a="http://schemas.openxmlformats.org/drawingml/2006/main">
              <a:ext uri="{FF2B5EF4-FFF2-40B4-BE49-F238E27FC236}">
                <a16:creationId xmlns:a16="http://schemas.microsoft.com/office/drawing/2014/main" id="{59316DB7-77F5-4D9A-B666-EE388C26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 xmlns:a="http://schemas.openxmlformats.org/drawingml/2006/main">
              <a:ext uri="{FF2B5EF4-FFF2-40B4-BE49-F238E27FC236}">
                <a16:creationId xmlns:a16="http://schemas.microsoft.com/office/drawing/2014/main" id="{397262E0-0889-4745-BA4C-DC7F9AE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44" name="Google Shape;244;p12">
            <a:extLst xmlns:a="http://schemas.openxmlformats.org/drawingml/2006/main">
              <a:ext uri="{FF2B5EF4-FFF2-40B4-BE49-F238E27FC236}">
                <a16:creationId xmlns:a16="http://schemas.microsoft.com/office/drawing/2014/main" id="{30603EEE-4903-4616-B763-7A6CDFBB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8575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2">
            <a:extLst xmlns:a="http://schemas.openxmlformats.org/drawingml/2006/main">
              <a:ext uri="{FF2B5EF4-FFF2-40B4-BE49-F238E27FC236}">
                <a16:creationId xmlns:a16="http://schemas.microsoft.com/office/drawing/2014/main" id="{FBDA824F-E746-4F31-A0C1-64BE7A45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461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246" name="Google Shape;246;p12">
            <a:extLst xmlns:a="http://schemas.openxmlformats.org/drawingml/2006/main">
              <a:ext uri="{FF2B5EF4-FFF2-40B4-BE49-F238E27FC236}">
                <a16:creationId xmlns:a16="http://schemas.microsoft.com/office/drawing/2014/main" id="{71E47573-2B50-46AE-A026-F2294CB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438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CAVAanalytics</a:t>
            </a:r>
            <a:endParaRPr/>
          </a:p>
        </p:txBody>
      </p:sp>
      <p:sp>
        <p:nvSpPr>
          <p:cNvPr id="247" name="Google Shape;247;p12">
            <a:extLst xmlns:a="http://schemas.openxmlformats.org/drawingml/2006/main">
              <a:ext uri="{FF2B5EF4-FFF2-40B4-BE49-F238E27FC236}">
                <a16:creationId xmlns:a16="http://schemas.microsoft.com/office/drawing/2014/main" id="{271D4B55-85C2-4FE6-B938-E283638C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4286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Country-scale ensemble analysis, climate indicators, model agreement, maps and raster export</a:t>
            </a:r>
            <a:endParaRPr/>
          </a:p>
        </p:txBody>
      </p:sp>
      <p:sp>
        <p:nvSpPr>
          <p:cNvPr id="248" name="Google Shape;248;p12">
            <a:extLst xmlns:a="http://schemas.openxmlformats.org/drawingml/2006/main">
              <a:ext uri="{FF2B5EF4-FFF2-40B4-BE49-F238E27FC236}">
                <a16:creationId xmlns:a16="http://schemas.microsoft.com/office/drawing/2014/main" id="{83E5D325-55BF-4A58-A8AC-B4CA7BB7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019300"/>
            <a:ext cx="9525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>
            <a:extLst xmlns:a="http://schemas.openxmlformats.org/drawingml/2006/main">
              <a:ext uri="{FF2B5EF4-FFF2-40B4-BE49-F238E27FC236}">
                <a16:creationId xmlns:a16="http://schemas.microsoft.com/office/drawing/2014/main" id="{53D991A9-5C6A-4CE1-A792-30216B5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124075"/>
            <a:ext cx="4324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</a:t>
            </a:r>
            <a:endParaRPr/>
          </a:p>
        </p:txBody>
      </p:sp>
      <p:sp>
        <p:nvSpPr>
          <p:cNvPr id="250" name="Google Shape;250;p12">
            <a:extLst xmlns:a="http://schemas.openxmlformats.org/drawingml/2006/main">
              <a:ext uri="{FF2B5EF4-FFF2-40B4-BE49-F238E27FC236}">
                <a16:creationId xmlns:a16="http://schemas.microsoft.com/office/drawing/2014/main" id="{FC6FA130-62CC-4C91-BA5C-AB81FC9C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38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cavapy</a:t>
            </a:r>
            <a:endParaRPr/>
          </a:p>
        </p:txBody>
      </p:sp>
      <p:sp>
        <p:nvSpPr>
          <p:cNvPr id="251" name="Google Shape;251;p12">
            <a:extLst xmlns:a="http://schemas.openxmlformats.org/drawingml/2006/main">
              <a:ext uri="{FF2B5EF4-FFF2-40B4-BE49-F238E27FC236}">
                <a16:creationId xmlns:a16="http://schemas.microsoft.com/office/drawing/2014/main" id="{A83A1686-5049-45D2-ACD8-D1D09D37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419475"/>
            <a:ext cx="4333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Efficient data retrieval, xarray objects and Python workflows for downstream analysis</a:t>
            </a:r>
            <a:endParaRPr/>
          </a:p>
        </p:txBody>
      </p:sp>
      <p:sp>
        <p:nvSpPr>
          <p:cNvPr id="252" name="Google Shape;252;p12">
            <a:extLst xmlns:a="http://schemas.openxmlformats.org/drawingml/2006/main">
              <a:ext uri="{FF2B5EF4-FFF2-40B4-BE49-F238E27FC236}">
                <a16:creationId xmlns:a16="http://schemas.microsoft.com/office/drawing/2014/main" id="{FC9EBD3D-3BCD-4720-8834-6A3C1617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Both packages access harmonized CAVA climate datasets through remote services.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724898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5">
            <a:extLst xmlns:a="http://schemas.openxmlformats.org/drawingml/2006/main">
              <a:ext uri="{FF2B5EF4-FFF2-40B4-BE49-F238E27FC236}">
                <a16:creationId xmlns:a16="http://schemas.microsoft.com/office/drawing/2014/main" id="{AD92306F-D318-4C5C-A7A1-D94B48BD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One Conda environment for the session</a:t>
            </a:r>
            <a:endParaRPr/>
          </a:p>
        </p:txBody>
      </p:sp>
      <p:sp>
        <p:nvSpPr>
          <p:cNvPr id="75" name="Google Shape;75;p5">
            <a:extLst xmlns:a="http://schemas.openxmlformats.org/drawingml/2006/main">
              <a:ext uri="{FF2B5EF4-FFF2-40B4-BE49-F238E27FC236}">
                <a16:creationId xmlns:a16="http://schemas.microsoft.com/office/drawing/2014/main" id="{187C9B32-C0A7-4428-AE45-75B9C09E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Keep R, Python, Java and spatial libraries compatible</a:t>
            </a:r>
            <a:endParaRPr/>
          </a:p>
        </p:txBody>
      </p:sp>
      <p:sp>
        <p:nvSpPr>
          <p:cNvPr id="76" name="Google Shape;76;p5">
            <a:extLst xmlns:a="http://schemas.openxmlformats.org/drawingml/2006/main">
              <a:ext uri="{FF2B5EF4-FFF2-40B4-BE49-F238E27FC236}">
                <a16:creationId xmlns:a16="http://schemas.microsoft.com/office/drawing/2014/main" id="{E918B790-677F-43AE-8375-67B8C015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>
            <a:extLst xmlns:a="http://schemas.openxmlformats.org/drawingml/2006/main">
              <a:ext uri="{FF2B5EF4-FFF2-40B4-BE49-F238E27FC236}">
                <a16:creationId xmlns:a16="http://schemas.microsoft.com/office/drawing/2014/main" id="{8EFCF6FD-17B6-4FF6-ADF1-232F70BC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>
            <a:extLst xmlns:a="http://schemas.openxmlformats.org/drawingml/2006/main">
              <a:ext uri="{FF2B5EF4-FFF2-40B4-BE49-F238E27FC236}">
                <a16:creationId xmlns:a16="http://schemas.microsoft.com/office/drawing/2014/main" id="{572910AB-47F7-4E41-A3F4-35D4DF64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">
            <a:extLst xmlns:a="http://schemas.openxmlformats.org/drawingml/2006/main">
              <a:ext uri="{FF2B5EF4-FFF2-40B4-BE49-F238E27FC236}">
                <a16:creationId xmlns:a16="http://schemas.microsoft.com/office/drawing/2014/main" id="{D9E051E6-8493-40C9-A683-DD81D6A3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80" name="Google Shape;80;p5">
            <a:extLst xmlns:a="http://schemas.openxmlformats.org/drawingml/2006/main">
              <a:ext uri="{FF2B5EF4-FFF2-40B4-BE49-F238E27FC236}">
                <a16:creationId xmlns:a16="http://schemas.microsoft.com/office/drawing/2014/main" id="{8C1BFD55-884C-47E2-91BF-4C3CFF1F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81" name="Google Shape;81;p5">
            <a:extLst xmlns:a="http://schemas.openxmlformats.org/drawingml/2006/main">
              <a:ext uri="{FF2B5EF4-FFF2-40B4-BE49-F238E27FC236}">
                <a16:creationId xmlns:a16="http://schemas.microsoft.com/office/drawing/2014/main" id="{CE692094-E180-40A5-AB23-3966E58D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19275"/>
            <a:ext cx="10048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550"/>
              <a:buFont typeface="Lato"/>
              <a:buNone/>
            </a:pPr>
            <a:r>
              <a:rPr sz="255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One named environment gives every participant the same working setup</a:t>
            </a:r>
            <a:endParaRPr/>
          </a:p>
        </p:txBody>
      </p:sp>
      <p:sp>
        <p:nvSpPr>
          <p:cNvPr id="82" name="Google Shape;82;p5">
            <a:extLst xmlns:a="http://schemas.openxmlformats.org/drawingml/2006/main">
              <a:ext uri="{FF2B5EF4-FFF2-40B4-BE49-F238E27FC236}">
                <a16:creationId xmlns:a16="http://schemas.microsoft.com/office/drawing/2014/main" id="{495800F9-E51B-4A68-8ECF-0E463278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76550"/>
            <a:ext cx="1066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>
            <a:extLst xmlns:a="http://schemas.openxmlformats.org/drawingml/2006/main">
              <a:ext uri="{FF2B5EF4-FFF2-40B4-BE49-F238E27FC236}">
                <a16:creationId xmlns:a16="http://schemas.microsoft.com/office/drawing/2014/main" id="{F115E9FD-5C15-46DE-BB97-B98C7752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87" y="32575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100"/>
              <a:buFont typeface="Lato"/>
              <a:buNone/>
            </a:pPr>
            <a:r>
              <a:rPr sz="21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84" name="Google Shape;84;p5">
            <a:extLst xmlns:a="http://schemas.openxmlformats.org/drawingml/2006/main">
              <a:ext uri="{FF2B5EF4-FFF2-40B4-BE49-F238E27FC236}">
                <a16:creationId xmlns:a16="http://schemas.microsoft.com/office/drawing/2014/main" id="{8CF64A94-4737-4FC5-800B-78F10B3B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87" y="3819525"/>
            <a:ext cx="19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650"/>
              <a:buFont typeface="Lato"/>
              <a:buNone/>
            </a:pPr>
            <a:r>
              <a:rPr sz="165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Conda</a:t>
            </a:r>
            <a:endParaRPr/>
          </a:p>
        </p:txBody>
      </p:sp>
      <p:sp>
        <p:nvSpPr>
          <p:cNvPr id="85" name="Google Shape;85;p5">
            <a:extLst xmlns:a="http://schemas.openxmlformats.org/drawingml/2006/main">
              <a:ext uri="{FF2B5EF4-FFF2-40B4-BE49-F238E27FC236}">
                <a16:creationId xmlns:a16="http://schemas.microsoft.com/office/drawing/2014/main" id="{82B0AD86-A3B4-46D5-BA73-F7D45337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87" y="4257675"/>
            <a:ext cx="1886100" cy="8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275"/>
              <a:buFont typeface="Lato"/>
              <a:buNone/>
            </a:pPr>
            <a:r>
              <a:rPr sz="127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Create and activate the cava environment</a:t>
            </a:r>
            <a:endParaRPr/>
          </a:p>
        </p:txBody>
      </p:sp>
      <p:sp>
        <p:nvSpPr>
          <p:cNvPr id="86" name="Google Shape;86;p5">
            <a:extLst xmlns:a="http://schemas.openxmlformats.org/drawingml/2006/main">
              <a:ext uri="{FF2B5EF4-FFF2-40B4-BE49-F238E27FC236}">
                <a16:creationId xmlns:a16="http://schemas.microsoft.com/office/drawing/2014/main" id="{9806E71F-286B-43AA-B1DF-B390D4E7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87" y="32575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100"/>
              <a:buFont typeface="Lato"/>
              <a:buNone/>
            </a:pPr>
            <a:r>
              <a:rPr sz="21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87" name="Google Shape;87;p5">
            <a:extLst xmlns:a="http://schemas.openxmlformats.org/drawingml/2006/main">
              <a:ext uri="{FF2B5EF4-FFF2-40B4-BE49-F238E27FC236}">
                <a16:creationId xmlns:a16="http://schemas.microsoft.com/office/drawing/2014/main" id="{B8ABE0FA-F47D-4C4D-88FF-DB12DB8F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87" y="3819525"/>
            <a:ext cx="19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650"/>
              <a:buFont typeface="Lato"/>
              <a:buNone/>
            </a:pPr>
            <a:r>
              <a:rPr sz="165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88" name="Google Shape;88;p5">
            <a:extLst xmlns:a="http://schemas.openxmlformats.org/drawingml/2006/main">
              <a:ext uri="{FF2B5EF4-FFF2-40B4-BE49-F238E27FC236}">
                <a16:creationId xmlns:a16="http://schemas.microsoft.com/office/drawing/2014/main" id="{257E8928-FDE4-490E-9CC7-2D6AF085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87" y="4257675"/>
            <a:ext cx="1886100" cy="8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275"/>
              <a:buFont typeface="Lato"/>
              <a:buNone/>
            </a:pPr>
            <a:r>
              <a:rPr sz="127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CAVAanalytics, rJava, terra and sf</a:t>
            </a:r>
            <a:endParaRPr/>
          </a:p>
        </p:txBody>
      </p:sp>
      <p:sp>
        <p:nvSpPr>
          <p:cNvPr id="89" name="Google Shape;89;p5">
            <a:extLst xmlns:a="http://schemas.openxmlformats.org/drawingml/2006/main">
              <a:ext uri="{FF2B5EF4-FFF2-40B4-BE49-F238E27FC236}">
                <a16:creationId xmlns:a16="http://schemas.microsoft.com/office/drawing/2014/main" id="{2232D238-A5C5-476A-B858-C526AAB2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387" y="32575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100"/>
              <a:buFont typeface="Lato"/>
              <a:buNone/>
            </a:pPr>
            <a:r>
              <a:rPr sz="21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90" name="Google Shape;90;p5">
            <a:extLst xmlns:a="http://schemas.openxmlformats.org/drawingml/2006/main">
              <a:ext uri="{FF2B5EF4-FFF2-40B4-BE49-F238E27FC236}">
                <a16:creationId xmlns:a16="http://schemas.microsoft.com/office/drawing/2014/main" id="{859CE6DC-BEA8-4DED-98FF-AC6C5485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387" y="3819525"/>
            <a:ext cx="19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650"/>
              <a:buFont typeface="Lato"/>
              <a:buNone/>
            </a:pPr>
            <a:r>
              <a:rPr sz="165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Python</a:t>
            </a:r>
            <a:endParaRPr/>
          </a:p>
        </p:txBody>
      </p:sp>
      <p:sp>
        <p:nvSpPr>
          <p:cNvPr id="91" name="Google Shape;91;p5">
            <a:extLst xmlns:a="http://schemas.openxmlformats.org/drawingml/2006/main">
              <a:ext uri="{FF2B5EF4-FFF2-40B4-BE49-F238E27FC236}">
                <a16:creationId xmlns:a16="http://schemas.microsoft.com/office/drawing/2014/main" id="{35D1AE3F-7BC7-4168-A8D6-3637744E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387" y="4257675"/>
            <a:ext cx="1886100" cy="8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275"/>
              <a:buFont typeface="Lato"/>
              <a:buNone/>
            </a:pPr>
            <a:r>
              <a:rPr sz="127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cavapy, xarray and dask</a:t>
            </a:r>
            <a:endParaRPr/>
          </a:p>
        </p:txBody>
      </p:sp>
      <p:sp>
        <p:nvSpPr>
          <p:cNvPr id="92" name="Google Shape;92;p5">
            <a:extLst xmlns:a="http://schemas.openxmlformats.org/drawingml/2006/main">
              <a:ext uri="{FF2B5EF4-FFF2-40B4-BE49-F238E27FC236}">
                <a16:creationId xmlns:a16="http://schemas.microsoft.com/office/drawing/2014/main" id="{C8056616-145C-4F27-AFE7-278095BF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187" y="32575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100"/>
              <a:buFont typeface="Lato"/>
              <a:buNone/>
            </a:pPr>
            <a:r>
              <a:rPr sz="21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93" name="Google Shape;93;p5">
            <a:extLst xmlns:a="http://schemas.openxmlformats.org/drawingml/2006/main">
              <a:ext uri="{FF2B5EF4-FFF2-40B4-BE49-F238E27FC236}">
                <a16:creationId xmlns:a16="http://schemas.microsoft.com/office/drawing/2014/main" id="{6FC3BA7B-E67B-4661-A266-C48D0698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187" y="3819525"/>
            <a:ext cx="19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650"/>
              <a:buFont typeface="Lato"/>
              <a:buNone/>
            </a:pPr>
            <a:r>
              <a:rPr sz="165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Jupyter</a:t>
            </a:r>
            <a:endParaRPr/>
          </a:p>
        </p:txBody>
      </p:sp>
      <p:sp>
        <p:nvSpPr>
          <p:cNvPr id="94" name="Google Shape;94;p5">
            <a:extLst xmlns:a="http://schemas.openxmlformats.org/drawingml/2006/main">
              <a:ext uri="{FF2B5EF4-FFF2-40B4-BE49-F238E27FC236}">
                <a16:creationId xmlns:a16="http://schemas.microsoft.com/office/drawing/2014/main" id="{6B99DB2E-C7E1-4DF3-8278-89095D8F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187" y="4257675"/>
            <a:ext cx="1886100" cy="8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275"/>
              <a:buFont typeface="Lato"/>
              <a:buNone/>
            </a:pPr>
            <a:r>
              <a:rPr sz="127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 and Python kernels in one launcher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6665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">
            <a:extLst xmlns:a="http://schemas.openxmlformats.org/drawingml/2006/main">
              <a:ext uri="{FF2B5EF4-FFF2-40B4-BE49-F238E27FC236}">
                <a16:creationId xmlns:a16="http://schemas.microsoft.com/office/drawing/2014/main" id="{E290A058-D329-4CA2-B54F-B542A9CA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Installation workflow</a:t>
            </a:r>
            <a:endParaRPr/>
          </a:p>
        </p:txBody>
      </p:sp>
      <p:sp>
        <p:nvSpPr>
          <p:cNvPr id="194" name="Google Shape;194;p10">
            <a:extLst xmlns:a="http://schemas.openxmlformats.org/drawingml/2006/main">
              <a:ext uri="{FF2B5EF4-FFF2-40B4-BE49-F238E27FC236}">
                <a16:creationId xmlns:a16="http://schemas.microsoft.com/office/drawing/2014/main" id="{F4A8109F-4545-4A7A-AB9A-A2635F8B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Complete each step before opening the practical notebooks</a:t>
            </a:r>
            <a:endParaRPr/>
          </a:p>
        </p:txBody>
      </p:sp>
      <p:sp>
        <p:nvSpPr>
          <p:cNvPr id="195" name="Google Shape;195;p10">
            <a:extLst xmlns:a="http://schemas.openxmlformats.org/drawingml/2006/main">
              <a:ext uri="{FF2B5EF4-FFF2-40B4-BE49-F238E27FC236}">
                <a16:creationId xmlns:a16="http://schemas.microsoft.com/office/drawing/2014/main" id="{56EFC2D8-3412-44A0-8D26-3EC48EA0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>
            <a:extLst xmlns:a="http://schemas.openxmlformats.org/drawingml/2006/main">
              <a:ext uri="{FF2B5EF4-FFF2-40B4-BE49-F238E27FC236}">
                <a16:creationId xmlns:a16="http://schemas.microsoft.com/office/drawing/2014/main" id="{6B2B7577-0AEE-4BE7-B7D0-37CFDB8A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>
            <a:extLst xmlns:a="http://schemas.openxmlformats.org/drawingml/2006/main">
              <a:ext uri="{FF2B5EF4-FFF2-40B4-BE49-F238E27FC236}">
                <a16:creationId xmlns:a16="http://schemas.microsoft.com/office/drawing/2014/main" id="{D09F4553-20BD-439A-A53F-D102B575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">
            <a:extLst xmlns:a="http://schemas.openxmlformats.org/drawingml/2006/main">
              <a:ext uri="{FF2B5EF4-FFF2-40B4-BE49-F238E27FC236}">
                <a16:creationId xmlns:a16="http://schemas.microsoft.com/office/drawing/2014/main" id="{B0F9179F-CE9E-44AB-BA65-1C461254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 xmlns:a="http://schemas.openxmlformats.org/drawingml/2006/main">
              <a:ext uri="{FF2B5EF4-FFF2-40B4-BE49-F238E27FC236}">
                <a16:creationId xmlns:a16="http://schemas.microsoft.com/office/drawing/2014/main" id="{6DEB9C60-87CB-4848-BEDE-BF24A3BE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05</a:t>
            </a:r>
            <a:endParaRPr/>
          </a:p>
        </p:txBody>
      </p:sp>
      <p:sp>
        <p:nvSpPr>
          <p:cNvPr id="200" name="Google Shape;200;p10">
            <a:extLst xmlns:a="http://schemas.openxmlformats.org/drawingml/2006/main">
              <a:ext uri="{FF2B5EF4-FFF2-40B4-BE49-F238E27FC236}">
                <a16:creationId xmlns:a16="http://schemas.microsoft.com/office/drawing/2014/main" id="{383A2B3F-636E-4CBF-B061-B1909497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 xmlns:a="http://schemas.openxmlformats.org/drawingml/2006/main">
              <a:ext uri="{FF2B5EF4-FFF2-40B4-BE49-F238E27FC236}">
                <a16:creationId xmlns:a16="http://schemas.microsoft.com/office/drawing/2014/main" id="{891322F0-C572-4E44-8F30-734507C9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18954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Create environment</a:t>
            </a:r>
            <a:endParaRPr/>
          </a:p>
        </p:txBody>
      </p:sp>
      <p:sp>
        <p:nvSpPr>
          <p:cNvPr id="202" name="Google Shape;202;p10">
            <a:extLst xmlns:a="http://schemas.openxmlformats.org/drawingml/2006/main">
              <a:ext uri="{FF2B5EF4-FFF2-40B4-BE49-F238E27FC236}">
                <a16:creationId xmlns:a16="http://schemas.microsoft.com/office/drawing/2014/main" id="{114D962B-1108-4D53-9EEA-BF784D4D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335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Install R, Python, Java, spatial libraries and JupyterLab with Conda</a:t>
            </a:r>
            <a:endParaRPr/>
          </a:p>
        </p:txBody>
      </p:sp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B2F2D6AF-028B-4658-A858-B857980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431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9CEFE814-9A31-4495-A63D-6FC0EDD7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03A3DC21-B53A-4E4E-A40C-11050B02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479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 packages</a:t>
            </a:r>
            <a:endParaRPr/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02D2DACA-BF74-4117-B7DF-458B4FD5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860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Install CAVAanalytics with pak and cavapy with pip</a:t>
            </a:r>
            <a:endParaRPr/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62357F97-71C8-4A70-B37C-5CF8E34F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05DE0AA2-198B-441F-BA5D-D5BBC8EE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1C33E32E-5129-4E01-8E22-DE7F3C83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004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Register kernels</a:t>
            </a:r>
            <a:endParaRPr/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D72E8BE6-87C2-4A71-91CD-16CF699C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Add named R (CAVA) and Python (CAVA) kernels</a:t>
            </a:r>
            <a:endParaRPr/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E061E1C3-0B96-4059-B180-418F3EA3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481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0DA86810-3716-4844-A04A-1B3B2D82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500"/>
              <a:buFont typeface="Lato"/>
              <a:buNone/>
            </a:pPr>
            <a:r>
              <a:rPr sz="150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27D857E4-4E24-4B0A-9F3C-8F4A2E7F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529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Verify imports</a:t>
            </a:r>
            <a:endParaRPr/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15BB4FC8-FF7C-463F-AFB0-DDF80FED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910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>
                <a:solidFill>
                  <a:srgbClr val="17324D"/>
                </a:solidFill>
                <a:latin typeface="Lato"/>
                <a:ea typeface="Lato"/>
                <a:cs typeface="Lato"/>
              </a:rPr>
              <a:t>Load each package before starting the exercises</a:t>
            </a:r>
            <a:endParaRPr/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1B5BE1A5-2A0B-464A-AE4B-A7ACB317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006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346985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7" name="Google Shape;237;p12">
            <a:extLst xmlns:a="http://schemas.openxmlformats.org/drawingml/2006/main">
              <a:ext uri="{FF2B5EF4-FFF2-40B4-BE49-F238E27FC236}">
                <a16:creationId xmlns:a16="http://schemas.microsoft.com/office/drawing/2014/main" id="{0AA5D71A-10FB-4AB4-8FBC-A3EFC87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Create the environment and install the packages</a:t>
            </a:r>
            <a:endParaRPr/>
          </a:p>
        </p:txBody>
      </p:sp>
      <p:sp>
        <p:nvSpPr>
          <p:cNvPr id="238" name="Google Shape;238;p12">
            <a:extLst xmlns:a="http://schemas.openxmlformats.org/drawingml/2006/main">
              <a:ext uri="{FF2B5EF4-FFF2-40B4-BE49-F238E27FC236}">
                <a16:creationId xmlns:a16="http://schemas.microsoft.com/office/drawing/2014/main" id="{0B388AA1-BD43-45E0-A42D-D94D08C1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Run these commands in a terminal</a:t>
            </a:r>
            <a:endParaRPr/>
          </a:p>
        </p:txBody>
      </p:sp>
      <p:sp>
        <p:nvSpPr>
          <p:cNvPr id="239" name="Google Shape;239;p12">
            <a:extLst xmlns:a="http://schemas.openxmlformats.org/drawingml/2006/main">
              <a:ext uri="{FF2B5EF4-FFF2-40B4-BE49-F238E27FC236}">
                <a16:creationId xmlns:a16="http://schemas.microsoft.com/office/drawing/2014/main" id="{011E4086-F534-4290-98D9-3BBBEA7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2">
            <a:extLst xmlns:a="http://schemas.openxmlformats.org/drawingml/2006/main">
              <a:ext uri="{FF2B5EF4-FFF2-40B4-BE49-F238E27FC236}">
                <a16:creationId xmlns:a16="http://schemas.microsoft.com/office/drawing/2014/main" id="{FEF7AA9C-A6EC-4E88-928B-2CDCC2CF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2">
            <a:extLst xmlns:a="http://schemas.openxmlformats.org/drawingml/2006/main">
              <a:ext uri="{FF2B5EF4-FFF2-40B4-BE49-F238E27FC236}">
                <a16:creationId xmlns:a16="http://schemas.microsoft.com/office/drawing/2014/main" id="{AB051E87-906C-4049-8800-45AC5A99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2">
            <a:extLst xmlns:a="http://schemas.openxmlformats.org/drawingml/2006/main">
              <a:ext uri="{FF2B5EF4-FFF2-40B4-BE49-F238E27FC236}">
                <a16:creationId xmlns:a16="http://schemas.microsoft.com/office/drawing/2014/main" id="{59316DB7-77F5-4D9A-B666-EE388C26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 xmlns:a="http://schemas.openxmlformats.org/drawingml/2006/main">
              <a:ext uri="{FF2B5EF4-FFF2-40B4-BE49-F238E27FC236}">
                <a16:creationId xmlns:a16="http://schemas.microsoft.com/office/drawing/2014/main" id="{397262E0-0889-4745-BA4C-DC7F9AE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06</a:t>
            </a:r>
            <a:endParaRPr/>
          </a:p>
        </p:txBody>
      </p:sp>
      <p:sp>
        <p:nvSpPr>
          <p:cNvPr id="244" name="Google Shape;244;p12">
            <a:extLst xmlns:a="http://schemas.openxmlformats.org/drawingml/2006/main">
              <a:ext uri="{FF2B5EF4-FFF2-40B4-BE49-F238E27FC236}">
                <a16:creationId xmlns:a16="http://schemas.microsoft.com/office/drawing/2014/main" id="{30603EEE-4903-4616-B763-7A6CDFBB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8575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2">
            <a:extLst xmlns:a="http://schemas.openxmlformats.org/drawingml/2006/main">
              <a:ext uri="{FF2B5EF4-FFF2-40B4-BE49-F238E27FC236}">
                <a16:creationId xmlns:a16="http://schemas.microsoft.com/office/drawing/2014/main" id="{FBDA824F-E746-4F31-A0C1-64BE7A45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461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 xmlns:a="http://schemas.openxmlformats.org/drawingml/2006/main">
              <a:ext uri="{FF2B5EF4-FFF2-40B4-BE49-F238E27FC236}">
                <a16:creationId xmlns:a16="http://schemas.microsoft.com/office/drawing/2014/main" id="{71E47573-2B50-46AE-A026-F2294CB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438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Conda environment</a:t>
            </a:r>
            <a:endParaRPr/>
          </a:p>
        </p:txBody>
      </p:sp>
      <p:sp>
        <p:nvSpPr>
          <p:cNvPr id="247" name="Google Shape;247;p12">
            <a:extLst xmlns:a="http://schemas.openxmlformats.org/drawingml/2006/main">
              <a:ext uri="{FF2B5EF4-FFF2-40B4-BE49-F238E27FC236}">
                <a16:creationId xmlns:a16="http://schemas.microsoft.com/office/drawing/2014/main" id="{271D4B55-85C2-4FE6-B938-E283638C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4286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conda create -n cava -c conda-forge python=3.11 r-base=4.4 r-rjava r-terra r-sf r-pak r-irkernel jupyterlab ipykernel</a:t>
            </a:r>
            <a:endParaRPr/>
          </a:p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/>
            </a:r>
            <a:endParaRPr/>
          </a:p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conda activate cava</a:t>
            </a:r>
            <a:endParaRPr/>
          </a:p>
        </p:txBody>
      </p:sp>
      <p:sp>
        <p:nvSpPr>
          <p:cNvPr id="248" name="Google Shape;248;p12">
            <a:extLst xmlns:a="http://schemas.openxmlformats.org/drawingml/2006/main">
              <a:ext uri="{FF2B5EF4-FFF2-40B4-BE49-F238E27FC236}">
                <a16:creationId xmlns:a16="http://schemas.microsoft.com/office/drawing/2014/main" id="{83E5D325-55BF-4A58-A8AC-B4CA7BB7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019300"/>
            <a:ext cx="9525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>
            <a:extLst xmlns:a="http://schemas.openxmlformats.org/drawingml/2006/main">
              <a:ext uri="{FF2B5EF4-FFF2-40B4-BE49-F238E27FC236}">
                <a16:creationId xmlns:a16="http://schemas.microsoft.com/office/drawing/2014/main" id="{53D991A9-5C6A-4CE1-A792-30216B5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124075"/>
            <a:ext cx="4324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 xmlns:a="http://schemas.openxmlformats.org/drawingml/2006/main">
              <a:ext uri="{FF2B5EF4-FFF2-40B4-BE49-F238E27FC236}">
                <a16:creationId xmlns:a16="http://schemas.microsoft.com/office/drawing/2014/main" id="{FC6FA130-62CC-4C91-BA5C-AB81FC9C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38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CAVA packages</a:t>
            </a:r>
            <a:endParaRPr/>
          </a:p>
        </p:txBody>
      </p:sp>
      <p:sp>
        <p:nvSpPr>
          <p:cNvPr id="251" name="Google Shape;251;p12">
            <a:extLst xmlns:a="http://schemas.openxmlformats.org/drawingml/2006/main">
              <a:ext uri="{FF2B5EF4-FFF2-40B4-BE49-F238E27FC236}">
                <a16:creationId xmlns:a16="http://schemas.microsoft.com/office/drawing/2014/main" id="{A83A1686-5049-45D2-ACD8-D1D09D37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419475"/>
            <a:ext cx="4333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R -q -e 'pak::pak("un-fao/CAVAanalytics")'</a:t>
            </a:r>
            <a:endParaRPr/>
          </a:p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/>
            </a:r>
            <a:endParaRPr/>
          </a:p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python -m pip install cavapy</a:t>
            </a:r>
            <a:endParaRPr/>
          </a:p>
        </p:txBody>
      </p:sp>
      <p:sp>
        <p:nvSpPr>
          <p:cNvPr id="252" name="Google Shape;252;p12">
            <a:extLst xmlns:a="http://schemas.openxmlformats.org/drawingml/2006/main">
              <a:ext uri="{FF2B5EF4-FFF2-40B4-BE49-F238E27FC236}">
                <a16:creationId xmlns:a16="http://schemas.microsoft.com/office/drawing/2014/main" id="{FC9EBD3D-3BCD-4720-8834-6A3C1617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Internet access is required. The first installation can take several minutes.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724898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7" name="Google Shape;237;p12">
            <a:extLst xmlns:a="http://schemas.openxmlformats.org/drawingml/2006/main">
              <a:ext uri="{FF2B5EF4-FFF2-40B4-BE49-F238E27FC236}">
                <a16:creationId xmlns:a16="http://schemas.microsoft.com/office/drawing/2014/main" id="{0AA5D71A-10FB-4AB4-8FBC-A3EFC87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Register the notebook kernels</a:t>
            </a:r>
            <a:endParaRPr/>
          </a:p>
        </p:txBody>
      </p:sp>
      <p:sp>
        <p:nvSpPr>
          <p:cNvPr id="238" name="Google Shape;238;p12">
            <a:extLst xmlns:a="http://schemas.openxmlformats.org/drawingml/2006/main">
              <a:ext uri="{FF2B5EF4-FFF2-40B4-BE49-F238E27FC236}">
                <a16:creationId xmlns:a16="http://schemas.microsoft.com/office/drawing/2014/main" id="{0B388AA1-BD43-45E0-A42D-D94D08C1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Keep the cava environment active</a:t>
            </a:r>
            <a:endParaRPr/>
          </a:p>
        </p:txBody>
      </p:sp>
      <p:sp>
        <p:nvSpPr>
          <p:cNvPr id="239" name="Google Shape;239;p12">
            <a:extLst xmlns:a="http://schemas.openxmlformats.org/drawingml/2006/main">
              <a:ext uri="{FF2B5EF4-FFF2-40B4-BE49-F238E27FC236}">
                <a16:creationId xmlns:a16="http://schemas.microsoft.com/office/drawing/2014/main" id="{011E4086-F534-4290-98D9-3BBBEA7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2">
            <a:extLst xmlns:a="http://schemas.openxmlformats.org/drawingml/2006/main">
              <a:ext uri="{FF2B5EF4-FFF2-40B4-BE49-F238E27FC236}">
                <a16:creationId xmlns:a16="http://schemas.microsoft.com/office/drawing/2014/main" id="{FEF7AA9C-A6EC-4E88-928B-2CDCC2CF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2">
            <a:extLst xmlns:a="http://schemas.openxmlformats.org/drawingml/2006/main">
              <a:ext uri="{FF2B5EF4-FFF2-40B4-BE49-F238E27FC236}">
                <a16:creationId xmlns:a16="http://schemas.microsoft.com/office/drawing/2014/main" id="{AB051E87-906C-4049-8800-45AC5A99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2">
            <a:extLst xmlns:a="http://schemas.openxmlformats.org/drawingml/2006/main">
              <a:ext uri="{FF2B5EF4-FFF2-40B4-BE49-F238E27FC236}">
                <a16:creationId xmlns:a16="http://schemas.microsoft.com/office/drawing/2014/main" id="{59316DB7-77F5-4D9A-B666-EE388C26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 xmlns:a="http://schemas.openxmlformats.org/drawingml/2006/main">
              <a:ext uri="{FF2B5EF4-FFF2-40B4-BE49-F238E27FC236}">
                <a16:creationId xmlns:a16="http://schemas.microsoft.com/office/drawing/2014/main" id="{397262E0-0889-4745-BA4C-DC7F9AE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07</a:t>
            </a:r>
            <a:endParaRPr/>
          </a:p>
        </p:txBody>
      </p:sp>
      <p:sp>
        <p:nvSpPr>
          <p:cNvPr id="244" name="Google Shape;244;p12">
            <a:extLst xmlns:a="http://schemas.openxmlformats.org/drawingml/2006/main">
              <a:ext uri="{FF2B5EF4-FFF2-40B4-BE49-F238E27FC236}">
                <a16:creationId xmlns:a16="http://schemas.microsoft.com/office/drawing/2014/main" id="{30603EEE-4903-4616-B763-7A6CDFBB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8575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2">
            <a:extLst xmlns:a="http://schemas.openxmlformats.org/drawingml/2006/main">
              <a:ext uri="{FF2B5EF4-FFF2-40B4-BE49-F238E27FC236}">
                <a16:creationId xmlns:a16="http://schemas.microsoft.com/office/drawing/2014/main" id="{FBDA824F-E746-4F31-A0C1-64BE7A45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461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246" name="Google Shape;246;p12">
            <a:extLst xmlns:a="http://schemas.openxmlformats.org/drawingml/2006/main">
              <a:ext uri="{FF2B5EF4-FFF2-40B4-BE49-F238E27FC236}">
                <a16:creationId xmlns:a16="http://schemas.microsoft.com/office/drawing/2014/main" id="{71E47573-2B50-46AE-A026-F2294CB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438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R (CAVA) kernel</a:t>
            </a:r>
            <a:endParaRPr/>
          </a:p>
        </p:txBody>
      </p:sp>
      <p:sp>
        <p:nvSpPr>
          <p:cNvPr id="247" name="Google Shape;247;p12">
            <a:extLst xmlns:a="http://schemas.openxmlformats.org/drawingml/2006/main">
              <a:ext uri="{FF2B5EF4-FFF2-40B4-BE49-F238E27FC236}">
                <a16:creationId xmlns:a16="http://schemas.microsoft.com/office/drawing/2014/main" id="{271D4B55-85C2-4FE6-B938-E283638C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4286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R -q -e 'IRkernel::installspec(name="cava-r", displayname="R (CAVA)")'</a:t>
            </a:r>
            <a:endParaRPr/>
          </a:p>
        </p:txBody>
      </p:sp>
      <p:sp>
        <p:nvSpPr>
          <p:cNvPr id="248" name="Google Shape;248;p12">
            <a:extLst xmlns:a="http://schemas.openxmlformats.org/drawingml/2006/main">
              <a:ext uri="{FF2B5EF4-FFF2-40B4-BE49-F238E27FC236}">
                <a16:creationId xmlns:a16="http://schemas.microsoft.com/office/drawing/2014/main" id="{83E5D325-55BF-4A58-A8AC-B4CA7BB7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019300"/>
            <a:ext cx="9525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>
            <a:extLst xmlns:a="http://schemas.openxmlformats.org/drawingml/2006/main">
              <a:ext uri="{FF2B5EF4-FFF2-40B4-BE49-F238E27FC236}">
                <a16:creationId xmlns:a16="http://schemas.microsoft.com/office/drawing/2014/main" id="{53D991A9-5C6A-4CE1-A792-30216B5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124075"/>
            <a:ext cx="4324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</a:t>
            </a:r>
            <a:endParaRPr/>
          </a:p>
        </p:txBody>
      </p:sp>
      <p:sp>
        <p:nvSpPr>
          <p:cNvPr id="250" name="Google Shape;250;p12">
            <a:extLst xmlns:a="http://schemas.openxmlformats.org/drawingml/2006/main">
              <a:ext uri="{FF2B5EF4-FFF2-40B4-BE49-F238E27FC236}">
                <a16:creationId xmlns:a16="http://schemas.microsoft.com/office/drawing/2014/main" id="{FC6FA130-62CC-4C91-BA5C-AB81FC9C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38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Python (CAVA) kernel</a:t>
            </a:r>
            <a:endParaRPr/>
          </a:p>
        </p:txBody>
      </p:sp>
      <p:sp>
        <p:nvSpPr>
          <p:cNvPr id="251" name="Google Shape;251;p12">
            <a:extLst xmlns:a="http://schemas.openxmlformats.org/drawingml/2006/main">
              <a:ext uri="{FF2B5EF4-FFF2-40B4-BE49-F238E27FC236}">
                <a16:creationId xmlns:a16="http://schemas.microsoft.com/office/drawing/2014/main" id="{A83A1686-5049-45D2-ACD8-D1D09D37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419475"/>
            <a:ext cx="4333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python -m ipykernel install --user --name cava-python --display-name "Python (CAVA)"</a:t>
            </a:r>
            <a:endParaRPr/>
          </a:p>
        </p:txBody>
      </p:sp>
      <p:sp>
        <p:nvSpPr>
          <p:cNvPr id="252" name="Google Shape;252;p12">
            <a:extLst xmlns:a="http://schemas.openxmlformats.org/drawingml/2006/main">
              <a:ext uri="{FF2B5EF4-FFF2-40B4-BE49-F238E27FC236}">
                <a16:creationId xmlns:a16="http://schemas.microsoft.com/office/drawing/2014/main" id="{FC9EBD3D-3BCD-4720-8834-6A3C1617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Start JupyterLab with:  jupyter lab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72489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">
            <a:extLst xmlns:a="http://schemas.openxmlformats.org/drawingml/2006/main">
              <a:ext uri="{FF2B5EF4-FFF2-40B4-BE49-F238E27FC236}">
                <a16:creationId xmlns:a16="http://schemas.microsoft.com/office/drawing/2014/main" id="{E290A058-D329-4CA2-B54F-B542A9CA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"/>
            <a:ext cx="1089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Installation check</a:t>
            </a:r>
            <a:endParaRPr/>
          </a:p>
        </p:txBody>
      </p:sp>
      <p:sp>
        <p:nvSpPr>
          <p:cNvPr id="194" name="Google Shape;194;p10">
            <a:extLst xmlns:a="http://schemas.openxmlformats.org/drawingml/2006/main">
              <a:ext uri="{FF2B5EF4-FFF2-40B4-BE49-F238E27FC236}">
                <a16:creationId xmlns:a16="http://schemas.microsoft.com/office/drawing/2014/main" id="{F4A8109F-4545-4A7A-AB9A-A2635F8B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Run one check in each kernel before starting the exercises</a:t>
            </a:r>
            <a:endParaRPr/>
          </a:p>
        </p:txBody>
      </p:sp>
      <p:sp>
        <p:nvSpPr>
          <p:cNvPr id="195" name="Google Shape;195;p10">
            <a:extLst xmlns:a="http://schemas.openxmlformats.org/drawingml/2006/main">
              <a:ext uri="{FF2B5EF4-FFF2-40B4-BE49-F238E27FC236}">
                <a16:creationId xmlns:a16="http://schemas.microsoft.com/office/drawing/2014/main" id="{56EFC2D8-3412-44A0-8D26-3EC48EA0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>
            <a:extLst xmlns:a="http://schemas.openxmlformats.org/drawingml/2006/main">
              <a:ext uri="{FF2B5EF4-FFF2-40B4-BE49-F238E27FC236}">
                <a16:creationId xmlns:a16="http://schemas.microsoft.com/office/drawing/2014/main" id="{6B2B7577-0AEE-4BE7-B7D0-37CFDB8A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542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>
            <a:extLst xmlns:a="http://schemas.openxmlformats.org/drawingml/2006/main">
              <a:ext uri="{FF2B5EF4-FFF2-40B4-BE49-F238E27FC236}">
                <a16:creationId xmlns:a16="http://schemas.microsoft.com/office/drawing/2014/main" id="{D09F4553-20BD-439A-A53F-D102B575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388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">
            <a:extLst xmlns:a="http://schemas.openxmlformats.org/drawingml/2006/main">
              <a:ext uri="{FF2B5EF4-FFF2-40B4-BE49-F238E27FC236}">
                <a16:creationId xmlns:a16="http://schemas.microsoft.com/office/drawing/2014/main" id="{B0F9179F-CE9E-44AB-BA65-1C461254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53175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 xmlns:a="http://schemas.openxmlformats.org/drawingml/2006/main">
              <a:ext uri="{FF2B5EF4-FFF2-40B4-BE49-F238E27FC236}">
                <a16:creationId xmlns:a16="http://schemas.microsoft.com/office/drawing/2014/main" id="{6DEB9C60-87CB-4848-BEDE-BF24A3BE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08</a:t>
            </a:r>
            <a:endParaRPr/>
          </a:p>
        </p:txBody>
      </p:sp>
      <p:sp>
        <p:nvSpPr>
          <p:cNvPr id="200" name="Google Shape;200;p10">
            <a:extLst xmlns:a="http://schemas.openxmlformats.org/drawingml/2006/main">
              <a:ext uri="{FF2B5EF4-FFF2-40B4-BE49-F238E27FC236}">
                <a16:creationId xmlns:a16="http://schemas.microsoft.com/office/drawing/2014/main" id="{383A2B3F-636E-4CBF-B061-B1909497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 xmlns:a="http://schemas.openxmlformats.org/drawingml/2006/main">
              <a:ext uri="{FF2B5EF4-FFF2-40B4-BE49-F238E27FC236}">
                <a16:creationId xmlns:a16="http://schemas.microsoft.com/office/drawing/2014/main" id="{891322F0-C572-4E44-8F30-734507C9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18954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 package</a:t>
            </a:r>
            <a:endParaRPr/>
          </a:p>
        </p:txBody>
      </p:sp>
      <p:sp>
        <p:nvSpPr>
          <p:cNvPr id="202" name="Google Shape;202;p10">
            <a:extLst xmlns:a="http://schemas.openxmlformats.org/drawingml/2006/main">
              <a:ext uri="{FF2B5EF4-FFF2-40B4-BE49-F238E27FC236}">
                <a16:creationId xmlns:a16="http://schemas.microsoft.com/office/drawing/2014/main" id="{114D962B-1108-4D53-9EEA-BF784D4D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335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library(CAVAanalytics); library(rJava)</a:t>
            </a:r>
            <a:endParaRPr/>
          </a:p>
        </p:txBody>
      </p:sp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B2F2D6AF-028B-4658-A858-B857980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431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9CEFE814-9A31-4495-A63D-6FC0EDD7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03A3DC21-B53A-4E4E-A40C-11050B02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479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Python package</a:t>
            </a:r>
            <a:endParaRPr/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02D2DACA-BF74-4117-B7DF-458B4FD5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860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import cavapy</a:t>
            </a:r>
            <a:endParaRPr/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62357F97-71C8-4A70-B37C-5CF8E34F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05DE0AA2-198B-441F-BA5D-D5BBC8EE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1C33E32E-5129-4E01-8E22-DE7F3C83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004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Jupyter kernels</a:t>
            </a:r>
            <a:endParaRPr/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D72E8BE6-87C2-4A71-91CD-16CF699C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Confirm that R (CAVA) and Python (CAVA) both appear</a:t>
            </a:r>
            <a:endParaRPr/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E061E1C3-0B96-4059-B180-418F3EA3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481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0DA86810-3716-4844-A04A-1B3B2D82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60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500"/>
              <a:buFont typeface="Lato"/>
              <a:buNone/>
            </a:pPr>
            <a:r>
              <a:rPr sz="150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27D857E4-4E24-4B0A-9F3C-8F4A2E7F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52975"/>
            <a:ext cx="233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Remote access</a:t>
            </a:r>
            <a:endParaRPr/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15BB4FC8-FF7C-463F-AFB0-DDF80FED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91075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>
                <a:solidFill>
                  <a:srgbClr val="17324D"/>
                </a:solidFill>
                <a:latin typeface="Lato"/>
                <a:ea typeface="Lato"/>
                <a:cs typeface="Lato"/>
              </a:rPr>
              <a:t>Check internet access and the package issue page if data loading fails</a:t>
            </a:r>
            <a:endParaRPr/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1B5BE1A5-2A0B-464A-AE4B-A7ACB317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00675"/>
            <a:ext cx="108299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346985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230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1" name="Google Shape;221;p11">
            <a:extLst xmlns:a="http://schemas.openxmlformats.org/drawingml/2006/main">
              <a:ext uri="{FF2B5EF4-FFF2-40B4-BE49-F238E27FC236}">
                <a16:creationId xmlns:a16="http://schemas.microsoft.com/office/drawing/2014/main" id="{B809BB79-3C17-4BEB-8D41-E40CBBAB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>
            <a:extLst xmlns:a="http://schemas.openxmlformats.org/drawingml/2006/main">
              <a:ext uri="{FF2B5EF4-FFF2-40B4-BE49-F238E27FC236}">
                <a16:creationId xmlns:a16="http://schemas.microsoft.com/office/drawing/2014/main" id="{386786E0-F4D4-4428-8EBC-A8B89FF5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7700"/>
            <a:ext cx="1028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>
            <a:extLst xmlns:a="http://schemas.openxmlformats.org/drawingml/2006/main">
              <a:ext uri="{FF2B5EF4-FFF2-40B4-BE49-F238E27FC236}">
                <a16:creationId xmlns:a16="http://schemas.microsoft.com/office/drawing/2014/main" id="{A7193556-9E80-47EA-9E85-F1EC8E31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0382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78D8C8"/>
              </a:buClr>
              <a:buSzPts val="975"/>
              <a:buFont typeface="Lato"/>
              <a:buNone/>
            </a:pPr>
            <a:r>
              <a:rPr sz="975" b="1">
                <a:solidFill>
                  <a:srgbClr val="78D8C8"/>
                </a:solidFill>
                <a:latin typeface="Lato"/>
                <a:ea typeface="Lato"/>
                <a:cs typeface="Lato"/>
              </a:rPr>
              <a:t>NEXT</a:t>
            </a:r>
            <a:endParaRPr/>
          </a:p>
        </p:txBody>
      </p:sp>
      <p:sp>
        <p:nvSpPr>
          <p:cNvPr id="224" name="Google Shape;224;p11">
            <a:extLst xmlns:a="http://schemas.openxmlformats.org/drawingml/2006/main">
              <a:ext uri="{FF2B5EF4-FFF2-40B4-BE49-F238E27FC236}">
                <a16:creationId xmlns:a16="http://schemas.microsoft.com/office/drawing/2014/main" id="{83D0FA3A-86C7-4B0F-8B32-62225087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04975"/>
            <a:ext cx="94297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75"/>
              <a:buFont typeface="Lato"/>
              <a:buNone/>
            </a:pPr>
            <a:r>
              <a:rPr sz="36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Open the CAVAanalytics notebook</a:t>
            </a:r>
            <a:endParaRPr/>
          </a:p>
        </p:txBody>
      </p:sp>
      <p:sp>
        <p:nvSpPr>
          <p:cNvPr id="225" name="Google Shape;225;p11">
            <a:extLst xmlns:a="http://schemas.openxmlformats.org/drawingml/2006/main">
              <a:ext uri="{FF2B5EF4-FFF2-40B4-BE49-F238E27FC236}">
                <a16:creationId xmlns:a16="http://schemas.microsoft.com/office/drawing/2014/main" id="{BDCE1D6A-EC47-4359-AEF6-541907E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78D8C8"/>
              </a:buClr>
              <a:buSzPts val="975"/>
              <a:buFont typeface="Lato"/>
              <a:buNone/>
            </a:pPr>
            <a:r>
              <a:rPr sz="975" b="1">
                <a:solidFill>
                  <a:srgbClr val="78D8C8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26" name="Google Shape;226;p11">
            <a:extLst xmlns:a="http://schemas.openxmlformats.org/drawingml/2006/main">
              <a:ext uri="{FF2B5EF4-FFF2-40B4-BE49-F238E27FC236}">
                <a16:creationId xmlns:a16="http://schemas.microsoft.com/office/drawing/2014/main" id="{C734746B-3879-4D9F-9B1C-61BFC82B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57600"/>
            <a:ext cx="881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25"/>
              <a:buFont typeface="Lato"/>
              <a:buNone/>
            </a:pPr>
            <a:r>
              <a:rPr sz="172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Load and inspect a country-scale multi-model dataset</a:t>
            </a:r>
            <a:endParaRPr/>
          </a:p>
        </p:txBody>
      </p:sp>
      <p:sp>
        <p:nvSpPr>
          <p:cNvPr id="227" name="Google Shape;227;p11">
            <a:extLst xmlns:a="http://schemas.openxmlformats.org/drawingml/2006/main">
              <a:ext uri="{FF2B5EF4-FFF2-40B4-BE49-F238E27FC236}">
                <a16:creationId xmlns:a16="http://schemas.microsoft.com/office/drawing/2014/main" id="{3235F995-81E8-46E9-B889-401AE143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78D8C8"/>
              </a:buClr>
              <a:buSzPts val="975"/>
              <a:buFont typeface="Lato"/>
              <a:buNone/>
            </a:pPr>
            <a:r>
              <a:rPr sz="975" b="1">
                <a:solidFill>
                  <a:srgbClr val="78D8C8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28" name="Google Shape;228;p11">
            <a:extLst xmlns:a="http://schemas.openxmlformats.org/drawingml/2006/main">
              <a:ext uri="{FF2B5EF4-FFF2-40B4-BE49-F238E27FC236}">
                <a16:creationId xmlns:a16="http://schemas.microsoft.com/office/drawing/2014/main" id="{E5FC09E2-A4FD-4B2F-BEA4-5EEBA7C7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05300"/>
            <a:ext cx="881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25"/>
              <a:buFont typeface="Lato"/>
              <a:buNone/>
            </a:pPr>
            <a:r>
              <a:rPr sz="172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Analyse observations, biases and future projections</a:t>
            </a:r>
            <a:endParaRPr/>
          </a:p>
        </p:txBody>
      </p:sp>
      <p:sp>
        <p:nvSpPr>
          <p:cNvPr id="229" name="Google Shape;229;p11">
            <a:extLst xmlns:a="http://schemas.openxmlformats.org/drawingml/2006/main">
              <a:ext uri="{FF2B5EF4-FFF2-40B4-BE49-F238E27FC236}">
                <a16:creationId xmlns:a16="http://schemas.microsoft.com/office/drawing/2014/main" id="{6559F292-04D5-4050-B526-3BFA4F4C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975"/>
              <a:buFont typeface="Lato"/>
              <a:buNone/>
            </a:pPr>
            <a:r>
              <a:rPr sz="975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30" name="Google Shape;230;p11">
            <a:extLst xmlns:a="http://schemas.openxmlformats.org/drawingml/2006/main">
              <a:ext uri="{FF2B5EF4-FFF2-40B4-BE49-F238E27FC236}">
                <a16:creationId xmlns:a16="http://schemas.microsoft.com/office/drawing/2014/main" id="{2DE88B5A-6509-4BED-9897-8E718474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881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25"/>
              <a:buFont typeface="Lato"/>
              <a:buNone/>
            </a:pPr>
            <a:r>
              <a:rPr sz="172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Calculate climate indicators, model agreement and raster outputs</a:t>
            </a:r>
            <a:endParaRPr/>
          </a:p>
        </p:txBody>
      </p:sp>
      <p:sp>
        <p:nvSpPr>
          <p:cNvPr id="231" name="Google Shape;231;p11">
            <a:extLst xmlns:a="http://schemas.openxmlformats.org/drawingml/2006/main">
              <a:ext uri="{FF2B5EF4-FFF2-40B4-BE49-F238E27FC236}">
                <a16:creationId xmlns:a16="http://schemas.microsoft.com/office/drawing/2014/main" id="{2C8D9589-8EBF-4821-ADB2-0F5FBA33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81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7E5EC"/>
              </a:buClr>
              <a:buSzPts val="1275"/>
              <a:buFont typeface="Lato"/>
              <a:buNone/>
            </a:pPr>
            <a:r>
              <a:rPr sz="1275" b="0">
                <a:solidFill>
                  <a:srgbClr val="D7E5EC"/>
                </a:solidFill>
                <a:latin typeface="Lato"/>
                <a:ea typeface="Lato"/>
                <a:cs typeface="Lato"/>
              </a:rPr>
              <a:t>Use the R (CAVA) kernel. The remote data-loading cell is the slowest step.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377361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2026-09-29T11:27:45.4010000Z</dcterms:created>
  <dcterms:modified xsi:type="dcterms:W3CDTF">2026-09-29T11:27:45.4010000Z</dcterms:modified>
</coreProperties>
</file>