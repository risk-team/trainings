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embeddedFontLst>
    <p:embeddedFont>
      <p:font typeface="Lato" panose="020F0502020204030203" pitchFamily="34" charset="0"/>
      <p:regular r:id="rId16"/>
      <p:bold r:id="rId17"/>
      <p:italic r:id="rId18"/>
      <p:boldItalic r:id="rId19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98"/>
  </p:normalViewPr>
  <p:slideViewPr>
    <p:cSldViewPr snapToGrid="0">
      <p:cViewPr varScale="1">
        <p:scale>
          <a:sx n="119" d="100"/>
          <a:sy n="119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A6E9A-5731-1AA6-37FE-4A945106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F9EAF-F7A0-7F9A-3B78-53B63F35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92729-59B9-6777-24C6-962D2799C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C67FD-0A9F-AF6A-414C-762CDC1C628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2409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16;p3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A05833F-09C3-4244-8002-E01FFBE74E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2304E">
                  <a:alpha val="98824"/>
                </a:srgbClr>
              </a:gs>
              <a:gs pos="34000">
                <a:srgbClr val="12304E">
                  <a:alpha val="96078"/>
                </a:srgbClr>
              </a:gs>
              <a:gs pos="55000">
                <a:srgbClr val="12304E">
                  <a:alpha val="74118"/>
                </a:srgbClr>
              </a:gs>
              <a:gs pos="82000">
                <a:srgbClr val="12304E">
                  <a:alpha val="18039"/>
                </a:srgbClr>
              </a:gs>
              <a:gs pos="100000">
                <a:srgbClr val="12304E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45E9B862-5598-4F0C-9103-C9F08E3028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A619EB24-C8F5-4C83-9875-775F29E30311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1066800" cy="381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6930022D-3668-467B-9AB6-8413F5544417}"/>
              </a:ext>
            </a:extLst>
          </p:cNvPr>
          <p:cNvSpPr>
            <a:spLocks noGrp="1"/>
          </p:cNvSpPr>
          <p:nvPr/>
        </p:nvSpPr>
        <p:spPr>
          <a:xfrm>
            <a:off x="723900" y="1038225"/>
            <a:ext cx="4000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78D8C8"/>
              </a:buClr>
              <a:buSzPts val="1050"/>
              <a:buFont typeface="Lato"/>
              <a:buNone/>
            </a:pPr>
            <a:r>
              <a:rPr sz="1050" b="1">
                <a:solidFill>
                  <a:srgbClr val="78D8C8"/>
                </a:solidFill>
                <a:latin typeface="Lato"/>
                <a:ea typeface="Lato"/>
                <a:cs typeface="Lato"/>
              </a:rPr>
              <a:t>CAVA TRAINING SERIES</a:t>
            </a:r>
            <a:endParaRPr/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B920CC54-1687-4031-9D72-D38CE82BBCA7}"/>
              </a:ext>
            </a:extLst>
          </p:cNvPr>
          <p:cNvSpPr>
            <a:spLocks noGrp="1"/>
          </p:cNvSpPr>
          <p:nvPr/>
        </p:nvSpPr>
        <p:spPr>
          <a:xfrm>
            <a:off x="723900" y="1905000"/>
            <a:ext cx="5429250" cy="1924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Climate data workflows</a:t>
            </a:r>
            <a:endParaRPr/>
          </a:p>
          <a:p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with CAVAanalytics</a:t>
            </a:r>
            <a:endParaRPr/>
          </a:p>
          <a:p>
            <a:pPr marL="0" marR="0" lvl="0" indent="0" algn="l">
              <a:lnSpc>
                <a:spcPct val="91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75"/>
              <a:buFont typeface="Lato"/>
              <a:buNone/>
            </a:pPr>
            <a:r>
              <a:rPr sz="39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and cavapy</a:t>
            </a:r>
            <a:endParaRPr/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9858003E-4C93-4CB8-AC09-CC82C05D9008}"/>
              </a:ext>
            </a:extLst>
          </p:cNvPr>
          <p:cNvSpPr>
            <a:spLocks noGrp="1"/>
          </p:cNvSpPr>
          <p:nvPr/>
        </p:nvSpPr>
        <p:spPr>
          <a:xfrm>
            <a:off x="733425" y="4457700"/>
            <a:ext cx="1905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350"/>
              <a:buFont typeface="Lato"/>
              <a:buNone/>
            </a:pPr>
            <a:r>
              <a:rPr sz="135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MODULE 3</a:t>
            </a:r>
            <a:endParaRPr/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A24ACE0B-C114-46F9-A0AC-2F95EA64C17B}"/>
              </a:ext>
            </a:extLst>
          </p:cNvPr>
          <p:cNvSpPr>
            <a:spLocks noGrp="1"/>
          </p:cNvSpPr>
          <p:nvPr/>
        </p:nvSpPr>
        <p:spPr>
          <a:xfrm>
            <a:off x="733425" y="4953000"/>
            <a:ext cx="2476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Lato"/>
              <a:buNone/>
            </a:pPr>
            <a:r>
              <a:rPr sz="12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30 September 2026</a:t>
            </a:r>
            <a:endParaRPr/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1EE4772A-E60C-413C-AF48-E34789CEF844}"/>
              </a:ext>
            </a:extLst>
          </p:cNvPr>
          <p:cNvSpPr>
            <a:spLocks noGrp="1"/>
          </p:cNvSpPr>
          <p:nvPr/>
        </p:nvSpPr>
        <p:spPr>
          <a:xfrm>
            <a:off x="733425" y="5276850"/>
            <a:ext cx="2714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7E5EC"/>
              </a:buClr>
              <a:buSzPts val="1050"/>
              <a:buFont typeface="Lato"/>
              <a:buNone/>
            </a:pPr>
            <a:r>
              <a:rPr sz="1050" b="0">
                <a:solidFill>
                  <a:srgbClr val="D7E5EC"/>
                </a:solidFill>
                <a:latin typeface="Lato"/>
                <a:ea typeface="Lato"/>
                <a:cs typeface="Lato"/>
              </a:rPr>
              <a:t>09:00–12:00  ·  Hybrid</a:t>
            </a: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A6F4A65F-A619-484D-831C-920E904E4D01}"/>
              </a:ext>
            </a:extLst>
          </p:cNvPr>
          <p:cNvSpPr>
            <a:spLocks noGrp="1"/>
          </p:cNvSpPr>
          <p:nvPr/>
        </p:nvSpPr>
        <p:spPr>
          <a:xfrm>
            <a:off x="733425" y="6010275"/>
            <a:ext cx="4381500" cy="9525"/>
          </a:xfrm>
          <a:prstGeom prst="rect">
            <a:avLst/>
          </a:prstGeom>
          <a:solidFill>
            <a:srgbClr val="A8C0CD">
              <a:alpha val="54902"/>
            </a:srgbClr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75B8AFF1-B628-4344-85F8-853EA41F6C23}"/>
              </a:ext>
            </a:extLst>
          </p:cNvPr>
          <p:cNvSpPr>
            <a:spLocks noGrp="1"/>
          </p:cNvSpPr>
          <p:nvPr/>
        </p:nvSpPr>
        <p:spPr>
          <a:xfrm>
            <a:off x="733425" y="6162675"/>
            <a:ext cx="45720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7E5EC"/>
              </a:buClr>
              <a:buSzPts val="900"/>
              <a:buFont typeface="Lato"/>
              <a:buNone/>
            </a:pPr>
            <a:r>
              <a:rPr sz="900" b="0">
                <a:solidFill>
                  <a:srgbClr val="D7E5EC"/>
                </a:solidFill>
                <a:latin typeface="Lato"/>
                <a:ea typeface="Lato"/>
                <a:cs typeface="Lato"/>
              </a:rPr>
              <a:t>Installation and reproducible climate analysis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573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>
            <a:extLst>
              <a:ext uri="{FF2B5EF4-FFF2-40B4-BE49-F238E27FC236}">
                <a16:creationId xmlns:a16="http://schemas.microsoft.com/office/drawing/2014/main" id="{13B9D487-E835-45F5-A167-16E62A5FBF0B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Today’s route</a:t>
            </a:r>
            <a:endParaRPr/>
          </a:p>
        </p:txBody>
      </p:sp>
      <p:sp>
        <p:nvSpPr>
          <p:cNvPr id="194" name="Google Shape;194;p10">
            <a:extLst>
              <a:ext uri="{FF2B5EF4-FFF2-40B4-BE49-F238E27FC236}">
                <a16:creationId xmlns:a16="http://schemas.microsoft.com/office/drawing/2014/main" id="{E5929843-6B2E-444A-B2EA-CB8BA8637497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09:00–11:00 core session, followed by optional hands-on support</a:t>
            </a:r>
            <a:endParaRPr/>
          </a:p>
        </p:txBody>
      </p:sp>
      <p:sp>
        <p:nvSpPr>
          <p:cNvPr id="195" name="Google Shape;195;p10">
            <a:extLst>
              <a:ext uri="{FF2B5EF4-FFF2-40B4-BE49-F238E27FC236}">
                <a16:creationId xmlns:a16="http://schemas.microsoft.com/office/drawing/2014/main" id="{863B4A09-EFC5-43FE-A3CD-594A07114B12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0">
            <a:extLst>
              <a:ext uri="{FF2B5EF4-FFF2-40B4-BE49-F238E27FC236}">
                <a16:creationId xmlns:a16="http://schemas.microsoft.com/office/drawing/2014/main" id="{EEE8D422-AEB2-44AB-B1DB-A9359080981A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0">
            <a:extLst>
              <a:ext uri="{FF2B5EF4-FFF2-40B4-BE49-F238E27FC236}">
                <a16:creationId xmlns:a16="http://schemas.microsoft.com/office/drawing/2014/main" id="{4785D0A1-C909-43EE-A2F5-37D880EE3952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0">
            <a:extLst>
              <a:ext uri="{FF2B5EF4-FFF2-40B4-BE49-F238E27FC236}">
                <a16:creationId xmlns:a16="http://schemas.microsoft.com/office/drawing/2014/main" id="{1636D51E-9FB7-4C1F-9DD8-615DCED3C045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>
              <a:ext uri="{FF2B5EF4-FFF2-40B4-BE49-F238E27FC236}">
                <a16:creationId xmlns:a16="http://schemas.microsoft.com/office/drawing/2014/main" id="{93A717B9-8223-4487-9116-B44B381A3E93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0" name="Google Shape;200;p10">
            <a:extLst>
              <a:ext uri="{FF2B5EF4-FFF2-40B4-BE49-F238E27FC236}">
                <a16:creationId xmlns:a16="http://schemas.microsoft.com/office/drawing/2014/main" id="{FDD9E18E-9BCF-4D7F-B095-76F219C31AEE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>
              <a:ext uri="{FF2B5EF4-FFF2-40B4-BE49-F238E27FC236}">
                <a16:creationId xmlns:a16="http://schemas.microsoft.com/office/drawing/2014/main" id="{CF88F16F-20FE-4500-923D-5A51943F5FB7}"/>
              </a:ext>
            </a:extLst>
          </p:cNvPr>
          <p:cNvSpPr>
            <a:spLocks noGrp="1"/>
          </p:cNvSpPr>
          <p:nvPr/>
        </p:nvSpPr>
        <p:spPr>
          <a:xfrm>
            <a:off x="1495425" y="1895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09:00</a:t>
            </a:r>
            <a:endParaRPr/>
          </a:p>
        </p:txBody>
      </p:sp>
      <p:sp>
        <p:nvSpPr>
          <p:cNvPr id="202" name="Google Shape;202;p10">
            <a:extLst>
              <a:ext uri="{FF2B5EF4-FFF2-40B4-BE49-F238E27FC236}">
                <a16:creationId xmlns:a16="http://schemas.microsoft.com/office/drawing/2014/main" id="{2EC45BC2-2E1D-40E6-8930-EAE8F984EA45}"/>
              </a:ext>
            </a:extLst>
          </p:cNvPr>
          <p:cNvSpPr>
            <a:spLocks noGrp="1"/>
          </p:cNvSpPr>
          <p:nvPr/>
        </p:nvSpPr>
        <p:spPr>
          <a:xfrm>
            <a:off x="4286250" y="1933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Package overview and setup (30 min): data access, Miniforge and kernels</a:t>
            </a:r>
            <a:endParaRPr/>
          </a:p>
        </p:txBody>
      </p:sp>
      <p:sp>
        <p:nvSpPr>
          <p:cNvPr id="203" name="Google Shape;203;p10">
            <a:extLst>
              <a:ext uri="{FF2B5EF4-FFF2-40B4-BE49-F238E27FC236}">
                <a16:creationId xmlns:a16="http://schemas.microsoft.com/office/drawing/2014/main" id="{E7ADA5CB-CA88-4FF9-B841-A74D8E4F16AA}"/>
              </a:ext>
            </a:extLst>
          </p:cNvPr>
          <p:cNvSpPr>
            <a:spLocks noGrp="1"/>
          </p:cNvSpPr>
          <p:nvPr/>
        </p:nvSpPr>
        <p:spPr>
          <a:xfrm>
            <a:off x="666750" y="2543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">
            <a:extLst>
              <a:ext uri="{FF2B5EF4-FFF2-40B4-BE49-F238E27FC236}">
                <a16:creationId xmlns:a16="http://schemas.microsoft.com/office/drawing/2014/main" id="{62B85DA9-587B-495B-88E0-4BE0639B4038}"/>
              </a:ext>
            </a:extLst>
          </p:cNvPr>
          <p:cNvSpPr>
            <a:spLocks noGrp="1"/>
          </p:cNvSpPr>
          <p:nvPr/>
        </p:nvSpPr>
        <p:spPr>
          <a:xfrm>
            <a:off x="704850" y="2876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86DF3F02-ACC0-41A0-B3FC-B484449D68FF}"/>
              </a:ext>
            </a:extLst>
          </p:cNvPr>
          <p:cNvSpPr>
            <a:spLocks noGrp="1"/>
          </p:cNvSpPr>
          <p:nvPr/>
        </p:nvSpPr>
        <p:spPr>
          <a:xfrm>
            <a:off x="1495425" y="2847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09:30</a:t>
            </a:r>
            <a:endParaRPr/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EF5C9AF6-8119-47BF-93FB-7A06FE4A66FF}"/>
              </a:ext>
            </a:extLst>
          </p:cNvPr>
          <p:cNvSpPr>
            <a:spLocks noGrp="1"/>
          </p:cNvSpPr>
          <p:nvPr/>
        </p:nvSpPr>
        <p:spPr>
          <a:xfrm>
            <a:off x="4286250" y="2886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CAVAanalytics notebook (60 min): practical climate analysis in R</a:t>
            </a:r>
            <a:endParaRPr/>
          </a:p>
        </p:txBody>
      </p:sp>
      <p:sp>
        <p:nvSpPr>
          <p:cNvPr id="207" name="Google Shape;207;p10">
            <a:extLst>
              <a:ext uri="{FF2B5EF4-FFF2-40B4-BE49-F238E27FC236}">
                <a16:creationId xmlns:a16="http://schemas.microsoft.com/office/drawing/2014/main" id="{B0A5C3CC-8B92-41BF-BD4F-BC3BEB3BF0E4}"/>
              </a:ext>
            </a:extLst>
          </p:cNvPr>
          <p:cNvSpPr>
            <a:spLocks noGrp="1"/>
          </p:cNvSpPr>
          <p:nvPr/>
        </p:nvSpPr>
        <p:spPr>
          <a:xfrm>
            <a:off x="666750" y="3495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89694CAD-DA23-4718-8F86-19657733793F}"/>
              </a:ext>
            </a:extLst>
          </p:cNvPr>
          <p:cNvSpPr>
            <a:spLocks noGrp="1"/>
          </p:cNvSpPr>
          <p:nvPr/>
        </p:nvSpPr>
        <p:spPr>
          <a:xfrm>
            <a:off x="704850" y="3829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09" name="Google Shape;209;p10">
            <a:extLst>
              <a:ext uri="{FF2B5EF4-FFF2-40B4-BE49-F238E27FC236}">
                <a16:creationId xmlns:a16="http://schemas.microsoft.com/office/drawing/2014/main" id="{7CA0DC78-74F7-4C54-A941-ABBF5BFC5470}"/>
              </a:ext>
            </a:extLst>
          </p:cNvPr>
          <p:cNvSpPr>
            <a:spLocks noGrp="1"/>
          </p:cNvSpPr>
          <p:nvPr/>
        </p:nvSpPr>
        <p:spPr>
          <a:xfrm>
            <a:off x="1495425" y="3800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10:30</a:t>
            </a:r>
            <a:endParaRPr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0BB19441-689D-4DB1-86F3-DEF7F8453CE0}"/>
              </a:ext>
            </a:extLst>
          </p:cNvPr>
          <p:cNvSpPr>
            <a:spLocks noGrp="1"/>
          </p:cNvSpPr>
          <p:nvPr/>
        </p:nvSpPr>
        <p:spPr>
          <a:xfrm>
            <a:off x="4286250" y="3838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cavapy notebook with Sam (30 min): climate data access in Python</a:t>
            </a:r>
            <a:endParaRPr/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0A5FF25B-1E36-45D4-B398-40565C3A1A61}"/>
              </a:ext>
            </a:extLst>
          </p:cNvPr>
          <p:cNvSpPr>
            <a:spLocks noGrp="1"/>
          </p:cNvSpPr>
          <p:nvPr/>
        </p:nvSpPr>
        <p:spPr>
          <a:xfrm>
            <a:off x="666750" y="4448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F8B31037-8D5A-430C-B5EF-4E5F3E64069A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500"/>
              <a:buFont typeface="Lato"/>
              <a:buNone/>
            </a:pPr>
            <a:r>
              <a:rPr sz="150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13" name="Google Shape;213;p10">
            <a:extLst>
              <a:ext uri="{FF2B5EF4-FFF2-40B4-BE49-F238E27FC236}">
                <a16:creationId xmlns:a16="http://schemas.microsoft.com/office/drawing/2014/main" id="{C9A4D0F5-106B-437A-9AEB-113261546F06}"/>
              </a:ext>
            </a:extLst>
          </p:cNvPr>
          <p:cNvSpPr>
            <a:spLocks noGrp="1"/>
          </p:cNvSpPr>
          <p:nvPr/>
        </p:nvSpPr>
        <p:spPr>
          <a:xfrm>
            <a:off x="1495425" y="4752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11:00</a:t>
            </a:r>
            <a:endParaRPr/>
          </a:p>
        </p:txBody>
      </p:sp>
      <p:sp>
        <p:nvSpPr>
          <p:cNvPr id="214" name="Google Shape;214;p10">
            <a:extLst>
              <a:ext uri="{FF2B5EF4-FFF2-40B4-BE49-F238E27FC236}">
                <a16:creationId xmlns:a16="http://schemas.microsoft.com/office/drawing/2014/main" id="{EF64E4FC-C0D4-43DC-B1C5-1FB455BAA96E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>
                <a:solidFill>
                  <a:srgbClr val="17324D"/>
                </a:solidFill>
                <a:latin typeface="Lato"/>
                <a:ea typeface="Lato"/>
                <a:cs typeface="Lato"/>
              </a:rPr>
              <a:t>Optional hands-on session (60 min): participant practice and questions</a:t>
            </a:r>
            <a:endParaRPr/>
          </a:p>
        </p:txBody>
      </p:sp>
      <p:sp>
        <p:nvSpPr>
          <p:cNvPr id="215" name="Google Shape;215;p10">
            <a:extLst>
              <a:ext uri="{FF2B5EF4-FFF2-40B4-BE49-F238E27FC236}">
                <a16:creationId xmlns:a16="http://schemas.microsoft.com/office/drawing/2014/main" id="{73B9A4DC-E6BC-4C05-903E-AC6C19F05100}"/>
              </a:ext>
            </a:extLst>
          </p:cNvPr>
          <p:cNvSpPr>
            <a:spLocks noGrp="1"/>
          </p:cNvSpPr>
          <p:nvPr/>
        </p:nvSpPr>
        <p:spPr>
          <a:xfrm>
            <a:off x="666750" y="5400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7873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CAVAanalytics and cavapy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Two languages and two complementary jobs within the same CAVA workflow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CAVAanalytics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Country-scale analysis in R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Indicators, model biases, climate change signals, ensemble maps and raster outputs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cavapy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Efficient access in Python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Parallel retrieval, spatial and temporal subsetting, and analysis-ready xarray outputs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739B1C3A-12DC-4B66-8FFB-02CFA768139A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Use CAVAanalytics for analysis and reporting, and cavapy for Python data workflows.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Shared climate data and remote access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Both packages request only the required subset from the CAVA data services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Available data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ERA5 reanalysis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CORDEX-CORE regional projections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CORDEX-CORE-BC pre-corrected projections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CAVAanalytics also supports W5E5 v2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ERA5 OPeNDAP example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https://hub.ipcc.ifca.es/thredds/dodsC/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fao/observations/ERA5/0.25/ERA5_025.ncml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A request can select a variable, period and geographic bounding box.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739B1C3A-12DC-4B66-8FFB-02CFA768139A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One remote dataset can support many focused requests without downloading the complete archive.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>
            <a:extLst>
              <a:ext uri="{FF2B5EF4-FFF2-40B4-BE49-F238E27FC236}">
                <a16:creationId xmlns:a16="http://schemas.microsoft.com/office/drawing/2014/main" id="{13B9D487-E835-45F5-A167-16E62A5FBF0B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Preparation before Modules 3 and 4</a:t>
            </a:r>
            <a:endParaRPr/>
          </a:p>
        </p:txBody>
      </p:sp>
      <p:sp>
        <p:nvSpPr>
          <p:cNvPr id="194" name="Google Shape;194;p10">
            <a:extLst>
              <a:ext uri="{FF2B5EF4-FFF2-40B4-BE49-F238E27FC236}">
                <a16:creationId xmlns:a16="http://schemas.microsoft.com/office/drawing/2014/main" id="{E5929843-6B2E-444A-B2EA-CB8BA8637497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Complete as much as possible before the session</a:t>
            </a:r>
            <a:endParaRPr/>
          </a:p>
        </p:txBody>
      </p:sp>
      <p:sp>
        <p:nvSpPr>
          <p:cNvPr id="195" name="Google Shape;195;p10">
            <a:extLst>
              <a:ext uri="{FF2B5EF4-FFF2-40B4-BE49-F238E27FC236}">
                <a16:creationId xmlns:a16="http://schemas.microsoft.com/office/drawing/2014/main" id="{863B4A09-EFC5-43FE-A3CD-594A07114B12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0">
            <a:extLst>
              <a:ext uri="{FF2B5EF4-FFF2-40B4-BE49-F238E27FC236}">
                <a16:creationId xmlns:a16="http://schemas.microsoft.com/office/drawing/2014/main" id="{EEE8D422-AEB2-44AB-B1DB-A9359080981A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0">
            <a:extLst>
              <a:ext uri="{FF2B5EF4-FFF2-40B4-BE49-F238E27FC236}">
                <a16:creationId xmlns:a16="http://schemas.microsoft.com/office/drawing/2014/main" id="{4785D0A1-C909-43EE-A2F5-37D880EE3952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0">
            <a:extLst>
              <a:ext uri="{FF2B5EF4-FFF2-40B4-BE49-F238E27FC236}">
                <a16:creationId xmlns:a16="http://schemas.microsoft.com/office/drawing/2014/main" id="{1636D51E-9FB7-4C1F-9DD8-615DCED3C045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>
              <a:ext uri="{FF2B5EF4-FFF2-40B4-BE49-F238E27FC236}">
                <a16:creationId xmlns:a16="http://schemas.microsoft.com/office/drawing/2014/main" id="{93A717B9-8223-4487-9116-B44B381A3E93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05</a:t>
            </a:r>
            <a:endParaRPr/>
          </a:p>
        </p:txBody>
      </p:sp>
      <p:sp>
        <p:nvSpPr>
          <p:cNvPr id="200" name="Google Shape;200;p10">
            <a:extLst>
              <a:ext uri="{FF2B5EF4-FFF2-40B4-BE49-F238E27FC236}">
                <a16:creationId xmlns:a16="http://schemas.microsoft.com/office/drawing/2014/main" id="{FDD9E18E-9BCF-4D7F-B095-76F219C31AEE}"/>
              </a:ext>
            </a:extLst>
          </p:cNvPr>
          <p:cNvSpPr>
            <a:spLocks noGrp="1"/>
          </p:cNvSpPr>
          <p:nvPr/>
        </p:nvSpPr>
        <p:spPr>
          <a:xfrm>
            <a:off x="704850" y="2365115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>
              <a:ext uri="{FF2B5EF4-FFF2-40B4-BE49-F238E27FC236}">
                <a16:creationId xmlns:a16="http://schemas.microsoft.com/office/drawing/2014/main" id="{CF88F16F-20FE-4500-923D-5A51943F5FB7}"/>
              </a:ext>
            </a:extLst>
          </p:cNvPr>
          <p:cNvSpPr>
            <a:spLocks noGrp="1"/>
          </p:cNvSpPr>
          <p:nvPr/>
        </p:nvSpPr>
        <p:spPr>
          <a:xfrm>
            <a:off x="1495425" y="2336540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Training materials</a:t>
            </a:r>
            <a:endParaRPr/>
          </a:p>
        </p:txBody>
      </p:sp>
      <p:sp>
        <p:nvSpPr>
          <p:cNvPr id="202" name="Google Shape;202;p10">
            <a:extLst>
              <a:ext uri="{FF2B5EF4-FFF2-40B4-BE49-F238E27FC236}">
                <a16:creationId xmlns:a16="http://schemas.microsoft.com/office/drawing/2014/main" id="{2EC45BC2-2E1D-40E6-8930-EAE8F984EA45}"/>
              </a:ext>
            </a:extLst>
          </p:cNvPr>
          <p:cNvSpPr>
            <a:spLocks noGrp="1"/>
          </p:cNvSpPr>
          <p:nvPr/>
        </p:nvSpPr>
        <p:spPr>
          <a:xfrm>
            <a:off x="4619737" y="2386296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https://</a:t>
            </a:r>
            <a:r>
              <a:rPr sz="1425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github.com</a:t>
            </a:r>
            <a:r>
              <a:rPr sz="1425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/Risk-Team/trainings/tree/main/</a:t>
            </a:r>
            <a:r>
              <a:rPr sz="1425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CAVAtraining</a:t>
            </a:r>
            <a:r>
              <a:rPr sz="1425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/HQ</a:t>
            </a:r>
            <a:endParaRPr dirty="0"/>
          </a:p>
        </p:txBody>
      </p:sp>
      <p:sp>
        <p:nvSpPr>
          <p:cNvPr id="203" name="Google Shape;203;p10">
            <a:extLst>
              <a:ext uri="{FF2B5EF4-FFF2-40B4-BE49-F238E27FC236}">
                <a16:creationId xmlns:a16="http://schemas.microsoft.com/office/drawing/2014/main" id="{E7ADA5CB-CA88-4FF9-B841-A74D8E4F16AA}"/>
              </a:ext>
            </a:extLst>
          </p:cNvPr>
          <p:cNvSpPr>
            <a:spLocks noGrp="1"/>
          </p:cNvSpPr>
          <p:nvPr/>
        </p:nvSpPr>
        <p:spPr>
          <a:xfrm>
            <a:off x="666750" y="2984240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">
            <a:extLst>
              <a:ext uri="{FF2B5EF4-FFF2-40B4-BE49-F238E27FC236}">
                <a16:creationId xmlns:a16="http://schemas.microsoft.com/office/drawing/2014/main" id="{62B85DA9-587B-495B-88E0-4BE0639B4038}"/>
              </a:ext>
            </a:extLst>
          </p:cNvPr>
          <p:cNvSpPr>
            <a:spLocks noGrp="1"/>
          </p:cNvSpPr>
          <p:nvPr/>
        </p:nvSpPr>
        <p:spPr>
          <a:xfrm>
            <a:off x="704850" y="3317615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86DF3F02-ACC0-41A0-B3FC-B484449D68FF}"/>
              </a:ext>
            </a:extLst>
          </p:cNvPr>
          <p:cNvSpPr>
            <a:spLocks noGrp="1"/>
          </p:cNvSpPr>
          <p:nvPr/>
        </p:nvSpPr>
        <p:spPr>
          <a:xfrm>
            <a:off x="1495425" y="3289040"/>
            <a:ext cx="27908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lang="it-IT" sz="2025" b="1" dirty="0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Installation </a:t>
            </a:r>
            <a:r>
              <a:rPr lang="it-IT" sz="2025" b="1" dirty="0" err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instructions</a:t>
            </a:r>
            <a:endParaRPr dirty="0"/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EF5C9AF6-8119-47BF-93FB-7A06FE4A66FF}"/>
              </a:ext>
            </a:extLst>
          </p:cNvPr>
          <p:cNvSpPr>
            <a:spLocks noGrp="1"/>
          </p:cNvSpPr>
          <p:nvPr/>
        </p:nvSpPr>
        <p:spPr>
          <a:xfrm>
            <a:off x="4619737" y="3361207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lang="it-IT" sz="1425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CAVAanalytics</a:t>
            </a:r>
            <a:r>
              <a:rPr lang="it-IT" sz="1425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 page</a:t>
            </a:r>
            <a:endParaRPr dirty="0"/>
          </a:p>
        </p:txBody>
      </p:sp>
      <p:sp>
        <p:nvSpPr>
          <p:cNvPr id="207" name="Google Shape;207;p10">
            <a:extLst>
              <a:ext uri="{FF2B5EF4-FFF2-40B4-BE49-F238E27FC236}">
                <a16:creationId xmlns:a16="http://schemas.microsoft.com/office/drawing/2014/main" id="{B0A5C3CC-8B92-41BF-BD4F-BC3BEB3BF0E4}"/>
              </a:ext>
            </a:extLst>
          </p:cNvPr>
          <p:cNvSpPr>
            <a:spLocks noGrp="1"/>
          </p:cNvSpPr>
          <p:nvPr/>
        </p:nvSpPr>
        <p:spPr>
          <a:xfrm>
            <a:off x="666750" y="3936740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7873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lang="it-IT" sz="2325" b="1" dirty="0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Installation</a:t>
            </a:r>
            <a:endParaRPr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lang="it-IT" sz="1125" b="0" dirty="0" err="1">
                <a:solidFill>
                  <a:srgbClr val="687984"/>
                </a:solidFill>
                <a:latin typeface="Lato"/>
                <a:ea typeface="Lato"/>
                <a:cs typeface="Lato"/>
              </a:rPr>
              <a:t>Differences</a:t>
            </a:r>
            <a:r>
              <a:rPr lang="it-IT" sz="1125" b="0" dirty="0">
                <a:solidFill>
                  <a:srgbClr val="687984"/>
                </a:solidFill>
                <a:latin typeface="Lato"/>
                <a:ea typeface="Lato"/>
                <a:cs typeface="Lato"/>
              </a:rPr>
              <a:t> </a:t>
            </a:r>
            <a:r>
              <a:rPr lang="it-IT" sz="1125" b="0" dirty="0" err="1">
                <a:solidFill>
                  <a:srgbClr val="687984"/>
                </a:solidFill>
                <a:latin typeface="Lato"/>
                <a:ea typeface="Lato"/>
                <a:cs typeface="Lato"/>
              </a:rPr>
              <a:t>between</a:t>
            </a:r>
            <a:r>
              <a:rPr lang="it-IT" sz="1125" b="0" dirty="0">
                <a:solidFill>
                  <a:srgbClr val="687984"/>
                </a:solidFill>
                <a:latin typeface="Lato"/>
                <a:ea typeface="Lato"/>
                <a:cs typeface="Lato"/>
              </a:rPr>
              <a:t> </a:t>
            </a:r>
            <a:r>
              <a:rPr lang="it-IT" sz="1125" b="0" dirty="0" err="1">
                <a:solidFill>
                  <a:srgbClr val="687984"/>
                </a:solidFill>
                <a:latin typeface="Lato"/>
                <a:ea typeface="Lato"/>
                <a:cs typeface="Lato"/>
              </a:rPr>
              <a:t>OSs</a:t>
            </a:r>
            <a:endParaRPr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06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lang="it-IT" sz="2100" b="1" dirty="0">
                <a:solidFill>
                  <a:srgbClr val="008D7A"/>
                </a:solidFill>
                <a:latin typeface="Lato"/>
                <a:ea typeface="Lato"/>
                <a:cs typeface="Lato"/>
              </a:rPr>
              <a:t>Windows</a:t>
            </a:r>
            <a:endParaRPr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lang="it-IT" dirty="0" err="1"/>
              <a:t>Install</a:t>
            </a:r>
            <a:r>
              <a:rPr lang="it-IT" dirty="0"/>
              <a:t> </a:t>
            </a:r>
            <a:r>
              <a:rPr lang="it-IT" dirty="0" err="1"/>
              <a:t>rtools</a:t>
            </a:r>
            <a:r>
              <a:rPr lang="it-IT" dirty="0"/>
              <a:t>, </a:t>
            </a:r>
            <a:r>
              <a:rPr lang="it-IT" dirty="0" err="1"/>
              <a:t>rJava</a:t>
            </a:r>
            <a:r>
              <a:rPr lang="it-IT" dirty="0"/>
              <a:t> </a:t>
            </a:r>
            <a:r>
              <a:rPr lang="it-IT" dirty="0" err="1"/>
              <a:t>then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should</a:t>
            </a:r>
            <a:r>
              <a:rPr lang="it-IT" dirty="0"/>
              <a:t> be ok</a:t>
            </a:r>
            <a:endParaRPr dirty="0"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914400" y="3881437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914400" y="4595812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lang="it-IT" sz="2100" b="1" dirty="0">
                <a:solidFill>
                  <a:srgbClr val="008D7A"/>
                </a:solidFill>
                <a:latin typeface="Lato"/>
                <a:ea typeface="Lato"/>
                <a:cs typeface="Lato"/>
              </a:rPr>
              <a:t>MacOS and Linux</a:t>
            </a:r>
            <a:endParaRPr dirty="0"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914400" y="5176837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lang="it-IT" sz="1500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Use </a:t>
            </a:r>
            <a:r>
              <a:rPr lang="it-IT" sz="1500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miniforge</a:t>
            </a:r>
            <a:r>
              <a:rPr lang="it-IT" sz="150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 (or anaconda </a:t>
            </a:r>
            <a:r>
              <a:rPr lang="it-IT" sz="150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etc</a:t>
            </a:r>
            <a:r>
              <a:rPr lang="it-IT" sz="150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)</a:t>
            </a:r>
            <a:endParaRPr dirty="0"/>
          </a:p>
        </p:txBody>
      </p:sp>
      <p:pic>
        <p:nvPicPr>
          <p:cNvPr id="1026" name="Picture 2" descr="Waiting Memes&#10;     · ProgrammerHumor.io">
            <a:extLst>
              <a:ext uri="{FF2B5EF4-FFF2-40B4-BE49-F238E27FC236}">
                <a16:creationId xmlns:a16="http://schemas.microsoft.com/office/drawing/2014/main" id="{D02EB20A-FF59-AA4B-EB8B-98864AE13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2" y="1619250"/>
            <a:ext cx="3344433" cy="4143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8815DD-D77A-10E6-1BD8-5B76D0CD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DA995107-6746-40FF-5EEC-E4B0270592CA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Miniforge and notebook editor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95EE4FA7-85C3-5CED-4CF5-75411ECDB8BF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Install these tools before creating the training environment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77F49360-337C-2D4E-ECB7-DEFEC6B4461C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2B0E3BB8-31A1-F8A8-F21B-FDC624CC0BF0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B0314C40-03D2-F72B-4E65-04FA3037527D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68A162D1-28D0-87FD-AFBA-EFE85F45949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38355546-05F5-DB20-72BB-437293E9210A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06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E8996976-7701-7219-71B0-E44F7B9D2158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19636D08-C886-87A0-9E81-E51449E6CE6C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8C1D636C-AB24-CC4B-F9AA-340FDC4AFE41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Miniforge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FB37982-E3AA-51D5-0ED9-E09ADD6A167D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Download: https://conda-forge.org/download/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Windows: use Miniforge Prompt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macOS or Linux: use a terminal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DDDE416C-235B-AFC4-FD58-C2A1ACC5ADB6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1AA4CD47-A74A-FFE0-EF9D-D93632322997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50DFC411-90F5-4A5B-84CE-C6EC81FC247B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VS Code or Cursor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12462E2C-5602-95A0-A5E7-0F1D866B6547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VS Code: https://code.visualstudio.com/download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Install the Python and Jupyter extensions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FBE83EF1-A485-DE1F-08C6-D5310992DFAD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No separate Python or R installation is required. JupyterLab is also available in a browser.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91060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The cava-training environment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Run these commands in Miniforge Prompt or a terminal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07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Create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mamba create -n cava-training -c conda-forge python=3.12 r-base=4.5.3 r-rjava r-terra r-sf r-irkernel jupyterlab ipykernel pip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Activate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Enter y if asked to confirm.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mamba activate cava-training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739B1C3A-12DC-4B66-8FFB-02CFA768139A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The environment installs the required versions of Python and R.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CAVAanalytics installation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Keep the cava-training environment active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08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Start R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mamba activate cava-training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Install and test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install.packages("pak", repos = "https://cloud.r-project.org")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pak::pak("un-fao/CAVAanalytics")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library(CAVAanalytics); library(rJava)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packageVersion("CAVAanalytics")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739B1C3A-12DC-4B66-8FFB-02CFA768139A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Exit with q() and select No if R asks to save the workspace.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>
            <a:extLst>
              <a:ext uri="{FF2B5EF4-FFF2-40B4-BE49-F238E27FC236}">
                <a16:creationId xmlns:a16="http://schemas.microsoft.com/office/drawing/2014/main" id="{13B9D487-E835-45F5-A167-16E62A5FBF0B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cavapy installation</a:t>
            </a:r>
            <a:endParaRPr/>
          </a:p>
        </p:txBody>
      </p:sp>
      <p:sp>
        <p:nvSpPr>
          <p:cNvPr id="194" name="Google Shape;194;p10">
            <a:extLst>
              <a:ext uri="{FF2B5EF4-FFF2-40B4-BE49-F238E27FC236}">
                <a16:creationId xmlns:a16="http://schemas.microsoft.com/office/drawing/2014/main" id="{E5929843-6B2E-444A-B2EA-CB8BA8637497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Run these commands in the terminal</a:t>
            </a:r>
            <a:endParaRPr/>
          </a:p>
        </p:txBody>
      </p:sp>
      <p:sp>
        <p:nvSpPr>
          <p:cNvPr id="195" name="Google Shape;195;p10">
            <a:extLst>
              <a:ext uri="{FF2B5EF4-FFF2-40B4-BE49-F238E27FC236}">
                <a16:creationId xmlns:a16="http://schemas.microsoft.com/office/drawing/2014/main" id="{863B4A09-EFC5-43FE-A3CD-594A07114B12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0">
            <a:extLst>
              <a:ext uri="{FF2B5EF4-FFF2-40B4-BE49-F238E27FC236}">
                <a16:creationId xmlns:a16="http://schemas.microsoft.com/office/drawing/2014/main" id="{EEE8D422-AEB2-44AB-B1DB-A9359080981A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0">
            <a:extLst>
              <a:ext uri="{FF2B5EF4-FFF2-40B4-BE49-F238E27FC236}">
                <a16:creationId xmlns:a16="http://schemas.microsoft.com/office/drawing/2014/main" id="{4785D0A1-C909-43EE-A2F5-37D880EE3952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0">
            <a:extLst>
              <a:ext uri="{FF2B5EF4-FFF2-40B4-BE49-F238E27FC236}">
                <a16:creationId xmlns:a16="http://schemas.microsoft.com/office/drawing/2014/main" id="{1636D51E-9FB7-4C1F-9DD8-615DCED3C045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>
              <a:ext uri="{FF2B5EF4-FFF2-40B4-BE49-F238E27FC236}">
                <a16:creationId xmlns:a16="http://schemas.microsoft.com/office/drawing/2014/main" id="{93A717B9-8223-4487-9116-B44B381A3E93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09</a:t>
            </a:r>
            <a:endParaRPr/>
          </a:p>
        </p:txBody>
      </p:sp>
      <p:sp>
        <p:nvSpPr>
          <p:cNvPr id="200" name="Google Shape;200;p10">
            <a:extLst>
              <a:ext uri="{FF2B5EF4-FFF2-40B4-BE49-F238E27FC236}">
                <a16:creationId xmlns:a16="http://schemas.microsoft.com/office/drawing/2014/main" id="{FDD9E18E-9BCF-4D7F-B095-76F219C31AEE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>
              <a:ext uri="{FF2B5EF4-FFF2-40B4-BE49-F238E27FC236}">
                <a16:creationId xmlns:a16="http://schemas.microsoft.com/office/drawing/2014/main" id="{CF88F16F-20FE-4500-923D-5A51943F5FB7}"/>
              </a:ext>
            </a:extLst>
          </p:cNvPr>
          <p:cNvSpPr>
            <a:spLocks noGrp="1"/>
          </p:cNvSpPr>
          <p:nvPr/>
        </p:nvSpPr>
        <p:spPr>
          <a:xfrm>
            <a:off x="1495425" y="1895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Activate</a:t>
            </a:r>
            <a:endParaRPr/>
          </a:p>
        </p:txBody>
      </p:sp>
      <p:sp>
        <p:nvSpPr>
          <p:cNvPr id="202" name="Google Shape;202;p10">
            <a:extLst>
              <a:ext uri="{FF2B5EF4-FFF2-40B4-BE49-F238E27FC236}">
                <a16:creationId xmlns:a16="http://schemas.microsoft.com/office/drawing/2014/main" id="{2EC45BC2-2E1D-40E6-8930-EAE8F984EA45}"/>
              </a:ext>
            </a:extLst>
          </p:cNvPr>
          <p:cNvSpPr>
            <a:spLocks noGrp="1"/>
          </p:cNvSpPr>
          <p:nvPr/>
        </p:nvSpPr>
        <p:spPr>
          <a:xfrm>
            <a:off x="4286250" y="1933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mamba activate cava-training</a:t>
            </a:r>
            <a:endParaRPr/>
          </a:p>
        </p:txBody>
      </p:sp>
      <p:sp>
        <p:nvSpPr>
          <p:cNvPr id="203" name="Google Shape;203;p10">
            <a:extLst>
              <a:ext uri="{FF2B5EF4-FFF2-40B4-BE49-F238E27FC236}">
                <a16:creationId xmlns:a16="http://schemas.microsoft.com/office/drawing/2014/main" id="{E7ADA5CB-CA88-4FF9-B841-A74D8E4F16AA}"/>
              </a:ext>
            </a:extLst>
          </p:cNvPr>
          <p:cNvSpPr>
            <a:spLocks noGrp="1"/>
          </p:cNvSpPr>
          <p:nvPr/>
        </p:nvSpPr>
        <p:spPr>
          <a:xfrm>
            <a:off x="666750" y="2543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">
            <a:extLst>
              <a:ext uri="{FF2B5EF4-FFF2-40B4-BE49-F238E27FC236}">
                <a16:creationId xmlns:a16="http://schemas.microsoft.com/office/drawing/2014/main" id="{62B85DA9-587B-495B-88E0-4BE0639B4038}"/>
              </a:ext>
            </a:extLst>
          </p:cNvPr>
          <p:cNvSpPr>
            <a:spLocks noGrp="1"/>
          </p:cNvSpPr>
          <p:nvPr/>
        </p:nvSpPr>
        <p:spPr>
          <a:xfrm>
            <a:off x="704850" y="2876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86DF3F02-ACC0-41A0-B3FC-B484449D68FF}"/>
              </a:ext>
            </a:extLst>
          </p:cNvPr>
          <p:cNvSpPr>
            <a:spLocks noGrp="1"/>
          </p:cNvSpPr>
          <p:nvPr/>
        </p:nvSpPr>
        <p:spPr>
          <a:xfrm>
            <a:off x="1495425" y="2847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</a:t>
            </a:r>
            <a:endParaRPr/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EF5C9AF6-8119-47BF-93FB-7A06FE4A66FF}"/>
              </a:ext>
            </a:extLst>
          </p:cNvPr>
          <p:cNvSpPr>
            <a:spLocks noGrp="1"/>
          </p:cNvSpPr>
          <p:nvPr/>
        </p:nvSpPr>
        <p:spPr>
          <a:xfrm>
            <a:off x="4286250" y="2886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pip install </a:t>
            </a:r>
            <a:r>
              <a:rPr sz="1425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cavapy</a:t>
            </a:r>
            <a:endParaRPr dirty="0"/>
          </a:p>
        </p:txBody>
      </p:sp>
      <p:sp>
        <p:nvSpPr>
          <p:cNvPr id="207" name="Google Shape;207;p10">
            <a:extLst>
              <a:ext uri="{FF2B5EF4-FFF2-40B4-BE49-F238E27FC236}">
                <a16:creationId xmlns:a16="http://schemas.microsoft.com/office/drawing/2014/main" id="{B0A5C3CC-8B92-41BF-BD4F-BC3BEB3BF0E4}"/>
              </a:ext>
            </a:extLst>
          </p:cNvPr>
          <p:cNvSpPr>
            <a:spLocks noGrp="1"/>
          </p:cNvSpPr>
          <p:nvPr/>
        </p:nvSpPr>
        <p:spPr>
          <a:xfrm>
            <a:off x="666750" y="3495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89694CAD-DA23-4718-8F86-19657733793F}"/>
              </a:ext>
            </a:extLst>
          </p:cNvPr>
          <p:cNvSpPr>
            <a:spLocks noGrp="1"/>
          </p:cNvSpPr>
          <p:nvPr/>
        </p:nvSpPr>
        <p:spPr>
          <a:xfrm>
            <a:off x="704850" y="3829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09" name="Google Shape;209;p10">
            <a:extLst>
              <a:ext uri="{FF2B5EF4-FFF2-40B4-BE49-F238E27FC236}">
                <a16:creationId xmlns:a16="http://schemas.microsoft.com/office/drawing/2014/main" id="{7CA0DC78-74F7-4C54-A941-ABBF5BFC5470}"/>
              </a:ext>
            </a:extLst>
          </p:cNvPr>
          <p:cNvSpPr>
            <a:spLocks noGrp="1"/>
          </p:cNvSpPr>
          <p:nvPr/>
        </p:nvSpPr>
        <p:spPr>
          <a:xfrm>
            <a:off x="1495425" y="3800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Test</a:t>
            </a:r>
            <a:endParaRPr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0BB19441-689D-4DB1-86F3-DEF7F8453CE0}"/>
              </a:ext>
            </a:extLst>
          </p:cNvPr>
          <p:cNvSpPr>
            <a:spLocks noGrp="1"/>
          </p:cNvSpPr>
          <p:nvPr/>
        </p:nvSpPr>
        <p:spPr>
          <a:xfrm>
            <a:off x="4286250" y="3838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python -c "import cavapy; print(cavapy.__version__)"</a:t>
            </a:r>
            <a:endParaRPr/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0A5FF25B-1E36-45D4-B398-40565C3A1A61}"/>
              </a:ext>
            </a:extLst>
          </p:cNvPr>
          <p:cNvSpPr>
            <a:spLocks noGrp="1"/>
          </p:cNvSpPr>
          <p:nvPr/>
        </p:nvSpPr>
        <p:spPr>
          <a:xfrm>
            <a:off x="666750" y="4448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F8B31037-8D5A-430C-B5EF-4E5F3E64069A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500"/>
              <a:buFont typeface="Lato"/>
              <a:buNone/>
            </a:pPr>
            <a:r>
              <a:rPr sz="150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13" name="Google Shape;213;p10">
            <a:extLst>
              <a:ext uri="{FF2B5EF4-FFF2-40B4-BE49-F238E27FC236}">
                <a16:creationId xmlns:a16="http://schemas.microsoft.com/office/drawing/2014/main" id="{C9A4D0F5-106B-437A-9AEB-113261546F06}"/>
              </a:ext>
            </a:extLst>
          </p:cNvPr>
          <p:cNvSpPr>
            <a:spLocks noGrp="1"/>
          </p:cNvSpPr>
          <p:nvPr/>
        </p:nvSpPr>
        <p:spPr>
          <a:xfrm>
            <a:off x="1495425" y="4752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Expected result</a:t>
            </a:r>
            <a:endParaRPr/>
          </a:p>
        </p:txBody>
      </p:sp>
      <p:sp>
        <p:nvSpPr>
          <p:cNvPr id="214" name="Google Shape;214;p10">
            <a:extLst>
              <a:ext uri="{FF2B5EF4-FFF2-40B4-BE49-F238E27FC236}">
                <a16:creationId xmlns:a16="http://schemas.microsoft.com/office/drawing/2014/main" id="{EF64E4FC-C0D4-43DC-B1C5-1FB455BAA96E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>
                <a:solidFill>
                  <a:srgbClr val="17324D"/>
                </a:solidFill>
                <a:latin typeface="Lato"/>
                <a:ea typeface="Lato"/>
                <a:cs typeface="Lato"/>
              </a:rPr>
              <a:t>The final command displays the installed cavapy version</a:t>
            </a:r>
            <a:endParaRPr/>
          </a:p>
        </p:txBody>
      </p:sp>
      <p:sp>
        <p:nvSpPr>
          <p:cNvPr id="215" name="Google Shape;215;p10">
            <a:extLst>
              <a:ext uri="{FF2B5EF4-FFF2-40B4-BE49-F238E27FC236}">
                <a16:creationId xmlns:a16="http://schemas.microsoft.com/office/drawing/2014/main" id="{73B9A4DC-E6BC-4C05-903E-AC6C19F05100}"/>
              </a:ext>
            </a:extLst>
          </p:cNvPr>
          <p:cNvSpPr>
            <a:spLocks noGrp="1"/>
          </p:cNvSpPr>
          <p:nvPr/>
        </p:nvSpPr>
        <p:spPr>
          <a:xfrm>
            <a:off x="666750" y="5400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7873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 kernel for VS Code or Cursor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Register the kernel after activating cava-training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10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Register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mamba activate cava-training</a:t>
            </a: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endParaRPr/>
          </a:p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Rscript -e "IRkernel::installspec(user = TRUE, name = 'ir-cava', displayname = 'R (CAVA)')"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Select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Open the R notebook in VS Code or Cursor and select R (CAVA) as the notebook kernel.</a:t>
            </a:r>
            <a:endParaRPr/>
          </a:p>
        </p:txBody>
      </p:sp>
      <p:sp>
        <p:nvSpPr>
          <p:cNvPr id="252" name="Google Shape;252;p12">
            <a:extLst>
              <a:ext uri="{FF2B5EF4-FFF2-40B4-BE49-F238E27FC236}">
                <a16:creationId xmlns:a16="http://schemas.microsoft.com/office/drawing/2014/main" id="{739B1C3A-12DC-4B66-8FFB-02CFA768139A}"/>
              </a:ext>
            </a:extLst>
          </p:cNvPr>
          <p:cNvSpPr>
            <a:spLocks noGrp="1"/>
          </p:cNvSpPr>
          <p:nvPr/>
        </p:nvSpPr>
        <p:spPr>
          <a:xfrm>
            <a:off x="914400" y="5495925"/>
            <a:ext cx="9810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sz="127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JupyterLab remains available as a browser-based alternative.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>
            <a:extLst>
              <a:ext uri="{FF2B5EF4-FFF2-40B4-BE49-F238E27FC236}">
                <a16:creationId xmlns:a16="http://schemas.microsoft.com/office/drawing/2014/main" id="{13B9D487-E835-45F5-A167-16E62A5FBF0B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Installation check</a:t>
            </a:r>
            <a:endParaRPr/>
          </a:p>
        </p:txBody>
      </p:sp>
      <p:sp>
        <p:nvSpPr>
          <p:cNvPr id="194" name="Google Shape;194;p10">
            <a:extLst>
              <a:ext uri="{FF2B5EF4-FFF2-40B4-BE49-F238E27FC236}">
                <a16:creationId xmlns:a16="http://schemas.microsoft.com/office/drawing/2014/main" id="{E5929843-6B2E-444A-B2EA-CB8BA8637497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Confirm the setup before starting the notebooks</a:t>
            </a:r>
            <a:endParaRPr/>
          </a:p>
        </p:txBody>
      </p:sp>
      <p:sp>
        <p:nvSpPr>
          <p:cNvPr id="195" name="Google Shape;195;p10">
            <a:extLst>
              <a:ext uri="{FF2B5EF4-FFF2-40B4-BE49-F238E27FC236}">
                <a16:creationId xmlns:a16="http://schemas.microsoft.com/office/drawing/2014/main" id="{863B4A09-EFC5-43FE-A3CD-594A07114B12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0">
            <a:extLst>
              <a:ext uri="{FF2B5EF4-FFF2-40B4-BE49-F238E27FC236}">
                <a16:creationId xmlns:a16="http://schemas.microsoft.com/office/drawing/2014/main" id="{EEE8D422-AEB2-44AB-B1DB-A9359080981A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0">
            <a:extLst>
              <a:ext uri="{FF2B5EF4-FFF2-40B4-BE49-F238E27FC236}">
                <a16:creationId xmlns:a16="http://schemas.microsoft.com/office/drawing/2014/main" id="{4785D0A1-C909-43EE-A2F5-37D880EE3952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0">
            <a:extLst>
              <a:ext uri="{FF2B5EF4-FFF2-40B4-BE49-F238E27FC236}">
                <a16:creationId xmlns:a16="http://schemas.microsoft.com/office/drawing/2014/main" id="{1636D51E-9FB7-4C1F-9DD8-615DCED3C045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199" name="Google Shape;199;p10">
            <a:extLst>
              <a:ext uri="{FF2B5EF4-FFF2-40B4-BE49-F238E27FC236}">
                <a16:creationId xmlns:a16="http://schemas.microsoft.com/office/drawing/2014/main" id="{93A717B9-8223-4487-9116-B44B381A3E93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11</a:t>
            </a:r>
            <a:endParaRPr/>
          </a:p>
        </p:txBody>
      </p:sp>
      <p:sp>
        <p:nvSpPr>
          <p:cNvPr id="200" name="Google Shape;200;p10">
            <a:extLst>
              <a:ext uri="{FF2B5EF4-FFF2-40B4-BE49-F238E27FC236}">
                <a16:creationId xmlns:a16="http://schemas.microsoft.com/office/drawing/2014/main" id="{FDD9E18E-9BCF-4D7F-B095-76F219C31AEE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01" name="Google Shape;201;p10">
            <a:extLst>
              <a:ext uri="{FF2B5EF4-FFF2-40B4-BE49-F238E27FC236}">
                <a16:creationId xmlns:a16="http://schemas.microsoft.com/office/drawing/2014/main" id="{CF88F16F-20FE-4500-923D-5A51943F5FB7}"/>
              </a:ext>
            </a:extLst>
          </p:cNvPr>
          <p:cNvSpPr>
            <a:spLocks noGrp="1"/>
          </p:cNvSpPr>
          <p:nvPr/>
        </p:nvSpPr>
        <p:spPr>
          <a:xfrm>
            <a:off x="1495425" y="1895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Miniforge</a:t>
            </a:r>
            <a:endParaRPr/>
          </a:p>
        </p:txBody>
      </p:sp>
      <p:sp>
        <p:nvSpPr>
          <p:cNvPr id="202" name="Google Shape;202;p10">
            <a:extLst>
              <a:ext uri="{FF2B5EF4-FFF2-40B4-BE49-F238E27FC236}">
                <a16:creationId xmlns:a16="http://schemas.microsoft.com/office/drawing/2014/main" id="{2EC45BC2-2E1D-40E6-8930-EAE8F984EA45}"/>
              </a:ext>
            </a:extLst>
          </p:cNvPr>
          <p:cNvSpPr>
            <a:spLocks noGrp="1"/>
          </p:cNvSpPr>
          <p:nvPr/>
        </p:nvSpPr>
        <p:spPr>
          <a:xfrm>
            <a:off x="4286250" y="1933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The mamba command works in Miniforge Prompt or the terminal</a:t>
            </a:r>
            <a:endParaRPr/>
          </a:p>
        </p:txBody>
      </p:sp>
      <p:sp>
        <p:nvSpPr>
          <p:cNvPr id="203" name="Google Shape;203;p10">
            <a:extLst>
              <a:ext uri="{FF2B5EF4-FFF2-40B4-BE49-F238E27FC236}">
                <a16:creationId xmlns:a16="http://schemas.microsoft.com/office/drawing/2014/main" id="{E7ADA5CB-CA88-4FF9-B841-A74D8E4F16AA}"/>
              </a:ext>
            </a:extLst>
          </p:cNvPr>
          <p:cNvSpPr>
            <a:spLocks noGrp="1"/>
          </p:cNvSpPr>
          <p:nvPr/>
        </p:nvSpPr>
        <p:spPr>
          <a:xfrm>
            <a:off x="666750" y="2543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">
            <a:extLst>
              <a:ext uri="{FF2B5EF4-FFF2-40B4-BE49-F238E27FC236}">
                <a16:creationId xmlns:a16="http://schemas.microsoft.com/office/drawing/2014/main" id="{62B85DA9-587B-495B-88E0-4BE0639B4038}"/>
              </a:ext>
            </a:extLst>
          </p:cNvPr>
          <p:cNvSpPr>
            <a:spLocks noGrp="1"/>
          </p:cNvSpPr>
          <p:nvPr/>
        </p:nvSpPr>
        <p:spPr>
          <a:xfrm>
            <a:off x="704850" y="2876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86DF3F02-ACC0-41A0-B3FC-B484449D68FF}"/>
              </a:ext>
            </a:extLst>
          </p:cNvPr>
          <p:cNvSpPr>
            <a:spLocks noGrp="1"/>
          </p:cNvSpPr>
          <p:nvPr/>
        </p:nvSpPr>
        <p:spPr>
          <a:xfrm>
            <a:off x="1495425" y="2847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R</a:t>
            </a:r>
            <a:endParaRPr/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EF5C9AF6-8119-47BF-93FB-7A06FE4A66FF}"/>
              </a:ext>
            </a:extLst>
          </p:cNvPr>
          <p:cNvSpPr>
            <a:spLocks noGrp="1"/>
          </p:cNvSpPr>
          <p:nvPr/>
        </p:nvSpPr>
        <p:spPr>
          <a:xfrm>
            <a:off x="4286250" y="2886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CAVAanalytics and rJava load without errors</a:t>
            </a:r>
            <a:endParaRPr/>
          </a:p>
        </p:txBody>
      </p:sp>
      <p:sp>
        <p:nvSpPr>
          <p:cNvPr id="207" name="Google Shape;207;p10">
            <a:extLst>
              <a:ext uri="{FF2B5EF4-FFF2-40B4-BE49-F238E27FC236}">
                <a16:creationId xmlns:a16="http://schemas.microsoft.com/office/drawing/2014/main" id="{B0A5C3CC-8B92-41BF-BD4F-BC3BEB3BF0E4}"/>
              </a:ext>
            </a:extLst>
          </p:cNvPr>
          <p:cNvSpPr>
            <a:spLocks noGrp="1"/>
          </p:cNvSpPr>
          <p:nvPr/>
        </p:nvSpPr>
        <p:spPr>
          <a:xfrm>
            <a:off x="666750" y="3495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89694CAD-DA23-4718-8F86-19657733793F}"/>
              </a:ext>
            </a:extLst>
          </p:cNvPr>
          <p:cNvSpPr>
            <a:spLocks noGrp="1"/>
          </p:cNvSpPr>
          <p:nvPr/>
        </p:nvSpPr>
        <p:spPr>
          <a:xfrm>
            <a:off x="704850" y="38290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500"/>
              <a:buFont typeface="Lato"/>
              <a:buNone/>
            </a:pPr>
            <a:r>
              <a:rPr sz="1500" b="1">
                <a:solidFill>
                  <a:srgbClr val="00A88F"/>
                </a:solidFill>
                <a:latin typeface="Lato"/>
                <a:ea typeface="Lato"/>
                <a:cs typeface="Lato"/>
              </a:rPr>
              <a:t>03</a:t>
            </a:r>
            <a:endParaRPr/>
          </a:p>
        </p:txBody>
      </p:sp>
      <p:sp>
        <p:nvSpPr>
          <p:cNvPr id="209" name="Google Shape;209;p10">
            <a:extLst>
              <a:ext uri="{FF2B5EF4-FFF2-40B4-BE49-F238E27FC236}">
                <a16:creationId xmlns:a16="http://schemas.microsoft.com/office/drawing/2014/main" id="{7CA0DC78-74F7-4C54-A941-ABBF5BFC5470}"/>
              </a:ext>
            </a:extLst>
          </p:cNvPr>
          <p:cNvSpPr>
            <a:spLocks noGrp="1"/>
          </p:cNvSpPr>
          <p:nvPr/>
        </p:nvSpPr>
        <p:spPr>
          <a:xfrm>
            <a:off x="1495425" y="38004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Python</a:t>
            </a:r>
            <a:endParaRPr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0BB19441-689D-4DB1-86F3-DEF7F8453CE0}"/>
              </a:ext>
            </a:extLst>
          </p:cNvPr>
          <p:cNvSpPr>
            <a:spLocks noGrp="1"/>
          </p:cNvSpPr>
          <p:nvPr/>
        </p:nvSpPr>
        <p:spPr>
          <a:xfrm>
            <a:off x="4286250" y="38385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 b="0">
                <a:solidFill>
                  <a:srgbClr val="17324D"/>
                </a:solidFill>
                <a:latin typeface="Lato"/>
                <a:ea typeface="Lato"/>
                <a:cs typeface="Lato"/>
              </a:rPr>
              <a:t>The cavapy test prints the installed version</a:t>
            </a:r>
            <a:endParaRPr/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0A5FF25B-1E36-45D4-B398-40565C3A1A61}"/>
              </a:ext>
            </a:extLst>
          </p:cNvPr>
          <p:cNvSpPr>
            <a:spLocks noGrp="1"/>
          </p:cNvSpPr>
          <p:nvPr/>
        </p:nvSpPr>
        <p:spPr>
          <a:xfrm>
            <a:off x="666750" y="44481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F8B31037-8D5A-430C-B5EF-4E5F3E64069A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6096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500"/>
              <a:buFont typeface="Lato"/>
              <a:buNone/>
            </a:pPr>
            <a:r>
              <a:rPr sz="1500" b="1">
                <a:solidFill>
                  <a:srgbClr val="F2B632"/>
                </a:solidFill>
                <a:latin typeface="Lato"/>
                <a:ea typeface="Lato"/>
                <a:cs typeface="Lato"/>
              </a:rPr>
              <a:t>04</a:t>
            </a:r>
            <a:endParaRPr/>
          </a:p>
        </p:txBody>
      </p:sp>
      <p:sp>
        <p:nvSpPr>
          <p:cNvPr id="213" name="Google Shape;213;p10">
            <a:extLst>
              <a:ext uri="{FF2B5EF4-FFF2-40B4-BE49-F238E27FC236}">
                <a16:creationId xmlns:a16="http://schemas.microsoft.com/office/drawing/2014/main" id="{C9A4D0F5-106B-437A-9AEB-113261546F06}"/>
              </a:ext>
            </a:extLst>
          </p:cNvPr>
          <p:cNvSpPr>
            <a:spLocks noGrp="1"/>
          </p:cNvSpPr>
          <p:nvPr/>
        </p:nvSpPr>
        <p:spPr>
          <a:xfrm>
            <a:off x="1495425" y="4752975"/>
            <a:ext cx="2333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025"/>
              <a:buFont typeface="Lato"/>
              <a:buNone/>
            </a:pPr>
            <a:r>
              <a:rPr sz="20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Support</a:t>
            </a:r>
            <a:endParaRPr/>
          </a:p>
        </p:txBody>
      </p:sp>
      <p:sp>
        <p:nvSpPr>
          <p:cNvPr id="214" name="Google Shape;214;p10">
            <a:extLst>
              <a:ext uri="{FF2B5EF4-FFF2-40B4-BE49-F238E27FC236}">
                <a16:creationId xmlns:a16="http://schemas.microsoft.com/office/drawing/2014/main" id="{EF64E4FC-C0D4-43DC-B1C5-1FB455BAA96E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6762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425"/>
              <a:buFont typeface="Lato"/>
              <a:buNone/>
            </a:pPr>
            <a:r>
              <a:rPr sz="1425">
                <a:solidFill>
                  <a:srgbClr val="17324D"/>
                </a:solidFill>
                <a:latin typeface="Lato"/>
                <a:ea typeface="Lato"/>
                <a:cs typeface="Lato"/>
              </a:rPr>
              <a:t>Keep the complete error message if any step fails</a:t>
            </a:r>
            <a:endParaRPr/>
          </a:p>
        </p:txBody>
      </p:sp>
      <p:sp>
        <p:nvSpPr>
          <p:cNvPr id="215" name="Google Shape;215;p10">
            <a:extLst>
              <a:ext uri="{FF2B5EF4-FFF2-40B4-BE49-F238E27FC236}">
                <a16:creationId xmlns:a16="http://schemas.microsoft.com/office/drawing/2014/main" id="{73B9A4DC-E6BC-4C05-903E-AC6C19F05100}"/>
              </a:ext>
            </a:extLst>
          </p:cNvPr>
          <p:cNvSpPr>
            <a:spLocks noGrp="1"/>
          </p:cNvSpPr>
          <p:nvPr/>
        </p:nvSpPr>
        <p:spPr>
          <a:xfrm>
            <a:off x="666750" y="5400675"/>
            <a:ext cx="10829925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7873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8789DD8-B0C2-4844-B226-FBE9AA0AB0A2}"/>
              </a:ext>
            </a:extLst>
          </p:cNvPr>
          <p:cNvSpPr>
            <a:spLocks noGrp="1"/>
          </p:cNvSpPr>
          <p:nvPr/>
        </p:nvSpPr>
        <p:spPr>
          <a:xfrm>
            <a:off x="628650" y="438150"/>
            <a:ext cx="108966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2325"/>
              <a:buFont typeface="Lato"/>
              <a:buNone/>
            </a:pPr>
            <a:r>
              <a:rPr sz="2325" b="1">
                <a:solidFill>
                  <a:srgbClr val="12304E"/>
                </a:solidFill>
                <a:latin typeface="Lato"/>
                <a:ea typeface="Lato"/>
                <a:cs typeface="Lato"/>
              </a:rPr>
              <a:t>pyAEZ installation</a:t>
            </a:r>
            <a:endParaRPr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5C065584-BFBD-42B3-83F5-33D07D9CB9EC}"/>
              </a:ext>
            </a:extLst>
          </p:cNvPr>
          <p:cNvSpPr>
            <a:spLocks noGrp="1"/>
          </p:cNvSpPr>
          <p:nvPr/>
        </p:nvSpPr>
        <p:spPr>
          <a:xfrm>
            <a:off x="647700" y="971550"/>
            <a:ext cx="10477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125"/>
              <a:buFont typeface="Lato"/>
              <a:buNone/>
            </a:pPr>
            <a:r>
              <a:rPr sz="1125" b="0">
                <a:solidFill>
                  <a:srgbClr val="687984"/>
                </a:solidFill>
                <a:latin typeface="Lato"/>
                <a:ea typeface="Lato"/>
                <a:cs typeface="Lato"/>
              </a:rPr>
              <a:t>Required for the Module 4 crop modelling workflow</a:t>
            </a:r>
            <a:endParaRPr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0E170C95-163E-4B74-AD07-E0F2D3E5BC3F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03DB4DA8-8815-42B4-BBB2-B5B0FE4CE544}"/>
              </a:ext>
            </a:extLst>
          </p:cNvPr>
          <p:cNvSpPr>
            <a:spLocks noGrp="1"/>
          </p:cNvSpPr>
          <p:nvPr/>
        </p:nvSpPr>
        <p:spPr>
          <a:xfrm>
            <a:off x="657225" y="1495425"/>
            <a:ext cx="990600" cy="28575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6BDAF98D-4BF8-4540-A1A0-33B90FF1FFF9}"/>
              </a:ext>
            </a:extLst>
          </p:cNvPr>
          <p:cNvSpPr>
            <a:spLocks noGrp="1"/>
          </p:cNvSpPr>
          <p:nvPr/>
        </p:nvSpPr>
        <p:spPr>
          <a:xfrm>
            <a:off x="647700" y="6238875"/>
            <a:ext cx="10896600" cy="9525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0CF0AD-6A36-40A1-8150-CDF78A61DA43}"/>
              </a:ext>
            </a:extLst>
          </p:cNvPr>
          <p:cNvSpPr>
            <a:spLocks noGrp="1"/>
          </p:cNvSpPr>
          <p:nvPr/>
        </p:nvSpPr>
        <p:spPr>
          <a:xfrm>
            <a:off x="657225" y="6353175"/>
            <a:ext cx="238125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1">
                <a:solidFill>
                  <a:srgbClr val="687984"/>
                </a:solidFill>
                <a:latin typeface="Lato"/>
                <a:ea typeface="Lato"/>
                <a:cs typeface="Lato"/>
              </a:rPr>
              <a:t>CAVA MODULE 3</a:t>
            </a:r>
            <a:endParaRPr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E0D972E0-A19E-4AE4-A587-CA1C9C421EEE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4572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750"/>
              <a:buFont typeface="Lato"/>
              <a:buNone/>
            </a:pPr>
            <a:r>
              <a:rPr sz="750" b="0">
                <a:solidFill>
                  <a:srgbClr val="687984"/>
                </a:solidFill>
                <a:latin typeface="Lato"/>
                <a:ea typeface="Lato"/>
                <a:cs typeface="Lato"/>
              </a:rPr>
              <a:t>12</a:t>
            </a:r>
            <a:endParaRPr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9C85E5DD-B5FB-4F86-B8B9-1E5AB887EFC6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28575" cy="32004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4C1F486A-8370-4E83-BEBC-3BFC5B610939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46101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01</a:t>
            </a:r>
            <a:endParaRPr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C3D15E4-E9A3-4659-9B92-6BC02C1F49A2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4381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Status</a:t>
            </a:r>
            <a:endParaRPr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8199B4CD-8557-458F-BEE9-CB6F724EF5C7}"/>
              </a:ext>
            </a:extLst>
          </p:cNvPr>
          <p:cNvSpPr>
            <a:spLocks noGrp="1"/>
          </p:cNvSpPr>
          <p:nvPr/>
        </p:nvSpPr>
        <p:spPr>
          <a:xfrm>
            <a:off x="895350" y="3419475"/>
            <a:ext cx="428625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>
                <a:solidFill>
                  <a:srgbClr val="17324D"/>
                </a:solidFill>
                <a:latin typeface="Lato"/>
                <a:ea typeface="Lato"/>
                <a:cs typeface="Lato"/>
              </a:rPr>
              <a:t>Installation instructions will be added when the Module 4 setup is confirmed.</a:t>
            </a:r>
            <a:endParaRPr/>
          </a:p>
        </p:txBody>
      </p:sp>
      <p:sp>
        <p:nvSpPr>
          <p:cNvPr id="248" name="Google Shape;248;p12">
            <a:extLst>
              <a:ext uri="{FF2B5EF4-FFF2-40B4-BE49-F238E27FC236}">
                <a16:creationId xmlns:a16="http://schemas.microsoft.com/office/drawing/2014/main" id="{2A695A60-60DE-4381-9078-579DDA95D049}"/>
              </a:ext>
            </a:extLst>
          </p:cNvPr>
          <p:cNvSpPr>
            <a:spLocks noGrp="1"/>
          </p:cNvSpPr>
          <p:nvPr/>
        </p:nvSpPr>
        <p:spPr>
          <a:xfrm>
            <a:off x="6048375" y="2019300"/>
            <a:ext cx="9525" cy="321945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">
            <a:extLst>
              <a:ext uri="{FF2B5EF4-FFF2-40B4-BE49-F238E27FC236}">
                <a16:creationId xmlns:a16="http://schemas.microsoft.com/office/drawing/2014/main" id="{68845E6B-194D-4AF8-A9FA-11B847ADB600}"/>
              </a:ext>
            </a:extLst>
          </p:cNvPr>
          <p:cNvSpPr>
            <a:spLocks noGrp="1"/>
          </p:cNvSpPr>
          <p:nvPr/>
        </p:nvSpPr>
        <p:spPr>
          <a:xfrm>
            <a:off x="6448425" y="2124075"/>
            <a:ext cx="43243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3300"/>
              <a:buFont typeface="Lato"/>
              <a:buNone/>
            </a:pPr>
            <a:r>
              <a:rPr sz="3300" b="1">
                <a:solidFill>
                  <a:srgbClr val="12304E"/>
                </a:solidFill>
                <a:latin typeface="Lato"/>
                <a:ea typeface="Lato"/>
                <a:cs typeface="Lato"/>
              </a:rPr>
              <a:t>02</a:t>
            </a:r>
            <a:endParaRPr/>
          </a:p>
        </p:txBody>
      </p:sp>
      <p:sp>
        <p:nvSpPr>
          <p:cNvPr id="250" name="Google Shape;250;p12">
            <a:extLst>
              <a:ext uri="{FF2B5EF4-FFF2-40B4-BE49-F238E27FC236}">
                <a16:creationId xmlns:a16="http://schemas.microsoft.com/office/drawing/2014/main" id="{7F9AAB76-89C7-4949-B1AC-2F125B7097CE}"/>
              </a:ext>
            </a:extLst>
          </p:cNvPr>
          <p:cNvSpPr>
            <a:spLocks noGrp="1"/>
          </p:cNvSpPr>
          <p:nvPr/>
        </p:nvSpPr>
        <p:spPr>
          <a:xfrm>
            <a:off x="6448425" y="2838450"/>
            <a:ext cx="476250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2100"/>
              <a:buFont typeface="Lato"/>
              <a:buNone/>
            </a:pPr>
            <a:r>
              <a:rPr sz="2100" b="1">
                <a:solidFill>
                  <a:srgbClr val="008D7A"/>
                </a:solidFill>
                <a:latin typeface="Lato"/>
                <a:ea typeface="Lato"/>
                <a:cs typeface="Lato"/>
              </a:rPr>
              <a:t>For now</a:t>
            </a:r>
            <a:endParaRPr/>
          </a:p>
        </p:txBody>
      </p:sp>
      <p:sp>
        <p:nvSpPr>
          <p:cNvPr id="251" name="Google Shape;251;p12">
            <a:extLst>
              <a:ext uri="{FF2B5EF4-FFF2-40B4-BE49-F238E27FC236}">
                <a16:creationId xmlns:a16="http://schemas.microsoft.com/office/drawing/2014/main" id="{6CE5B86B-B7EE-4046-B01B-0D7626CE3199}"/>
              </a:ext>
            </a:extLst>
          </p:cNvPr>
          <p:cNvSpPr>
            <a:spLocks noGrp="1"/>
          </p:cNvSpPr>
          <p:nvPr/>
        </p:nvSpPr>
        <p:spPr>
          <a:xfrm>
            <a:off x="6448425" y="3419475"/>
            <a:ext cx="4333875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500"/>
              <a:buFont typeface="Lato"/>
              <a:buNone/>
            </a:pPr>
            <a:r>
              <a:rPr sz="1500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Complete the </a:t>
            </a:r>
            <a:r>
              <a:rPr sz="1500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Miniforge</a:t>
            </a:r>
            <a:r>
              <a:rPr sz="1500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, editor</a:t>
            </a:r>
            <a:r>
              <a:rPr lang="it-IT" sz="150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 and </a:t>
            </a:r>
            <a:r>
              <a:rPr sz="1500" b="0" dirty="0" err="1">
                <a:solidFill>
                  <a:srgbClr val="17324D"/>
                </a:solidFill>
                <a:latin typeface="Lato"/>
                <a:ea typeface="Lato"/>
                <a:cs typeface="Lato"/>
              </a:rPr>
              <a:t>cavapy</a:t>
            </a:r>
            <a:r>
              <a:rPr sz="1500" b="0" dirty="0">
                <a:solidFill>
                  <a:srgbClr val="17324D"/>
                </a:solidFill>
                <a:latin typeface="Lato"/>
                <a:ea typeface="Lato"/>
                <a:cs typeface="Lato"/>
              </a:rPr>
              <a:t> steps.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31585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762</Words>
  <Application>Microsoft Macintosh PowerPoint</Application>
  <DocSecurity>0</DocSecurity>
  <PresentationFormat>Widescreen</PresentationFormat>
  <Paragraphs>177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Lato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Soldan, Riccardo (OCBSD)</cp:lastModifiedBy>
  <cp:revision>27</cp:revision>
  <dcterms:created xsi:type="dcterms:W3CDTF">2026-09-29T12:51:51Z</dcterms:created>
  <dcterms:modified xsi:type="dcterms:W3CDTF">2026-09-30T06:49:45Z</dcterms:modified>
</cp:coreProperties>
</file>