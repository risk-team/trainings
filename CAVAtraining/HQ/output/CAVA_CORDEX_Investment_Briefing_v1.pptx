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387b96fa884c76" /><Relationship Type="http://schemas.openxmlformats.org/officeDocument/2006/relationships/extended-properties" Target="/docProps/app.xml" Id="Rc98309d1ab5a40b1" /><Relationship Type="http://schemas.openxmlformats.org/officeDocument/2006/relationships/officeDocument" Target="/ppt/presentation.xml" Id="R549417af85904c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3dc00ce1334deb"/>
  </p:sldMasterIdLst>
  <p:notesMasterIdLst>
    <p:notesMasterId xmlns:r="http://schemas.openxmlformats.org/officeDocument/2006/relationships" r:id="Rb603c1ca319a4ce2"/>
  </p:notesMasterIdLst>
  <p:sldIdLst>
    <p:sldId xmlns:r="http://schemas.openxmlformats.org/officeDocument/2006/relationships" id="256" r:id="Rdfcca0fd1aaa4b95"/>
    <p:sldId xmlns:r="http://schemas.openxmlformats.org/officeDocument/2006/relationships" id="257" r:id="R128293d5ea9943b6"/>
    <p:sldId xmlns:r="http://schemas.openxmlformats.org/officeDocument/2006/relationships" id="258" r:id="Rf28b43c5e990498d"/>
    <p:sldId xmlns:r="http://schemas.openxmlformats.org/officeDocument/2006/relationships" id="259" r:id="Rbbd31e11041a49a2"/>
    <p:sldId xmlns:r="http://schemas.openxmlformats.org/officeDocument/2006/relationships" id="260" r:id="R01e8ab2f2cec4146"/>
    <p:sldId xmlns:r="http://schemas.openxmlformats.org/officeDocument/2006/relationships" id="261" r:id="R0bb5cb84c4554a9a"/>
    <p:sldId xmlns:r="http://schemas.openxmlformats.org/officeDocument/2006/relationships" id="262" r:id="R0ad14ac009ca4a90"/>
    <p:sldId xmlns:r="http://schemas.openxmlformats.org/officeDocument/2006/relationships" id="263" r:id="R8005c315d2744abc"/>
    <p:sldId xmlns:r="http://schemas.openxmlformats.org/officeDocument/2006/relationships" id="264" r:id="R65d8922364d44e92"/>
    <p:sldId xmlns:r="http://schemas.openxmlformats.org/officeDocument/2006/relationships" id="265" r:id="R30ab7bdc669b41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fac4480ea04daa" /><Relationship Type="http://schemas.openxmlformats.org/officeDocument/2006/relationships/slideMaster" Target="/ppt/slideMasters/slideMaster1.xml" Id="R4a3dc00ce1334deb" /><Relationship Type="http://schemas.openxmlformats.org/officeDocument/2006/relationships/notesMaster" Target="/ppt/notesMasters/notesMaster1.xml" Id="Rb603c1ca319a4ce2" /><Relationship Type="http://schemas.openxmlformats.org/officeDocument/2006/relationships/presProps" Target="/ppt/presProps.xml" Id="R85196df4427741ec" /><Relationship Type="http://schemas.openxmlformats.org/officeDocument/2006/relationships/tableStyles" Target="/ppt/tableStyles.xml" Id="Rca5bc63427e9424c" /><Relationship Type="http://schemas.openxmlformats.org/officeDocument/2006/relationships/slide" Target="/ppt/slides/slide1.xml" Id="Rdfcca0fd1aaa4b95" /><Relationship Type="http://schemas.openxmlformats.org/officeDocument/2006/relationships/slide" Target="/ppt/slides/slide2.xml" Id="R128293d5ea9943b6" /><Relationship Type="http://schemas.openxmlformats.org/officeDocument/2006/relationships/slide" Target="/ppt/slides/slide3.xml" Id="Rf28b43c5e990498d" /><Relationship Type="http://schemas.openxmlformats.org/officeDocument/2006/relationships/slide" Target="/ppt/slides/slide4.xml" Id="Rbbd31e11041a49a2" /><Relationship Type="http://schemas.openxmlformats.org/officeDocument/2006/relationships/slide" Target="/ppt/slides/slide5.xml" Id="R01e8ab2f2cec4146" /><Relationship Type="http://schemas.openxmlformats.org/officeDocument/2006/relationships/slide" Target="/ppt/slides/slide6.xml" Id="R0bb5cb84c4554a9a" /><Relationship Type="http://schemas.openxmlformats.org/officeDocument/2006/relationships/slide" Target="/ppt/slides/slide7.xml" Id="R0ad14ac009ca4a90" /><Relationship Type="http://schemas.openxmlformats.org/officeDocument/2006/relationships/slide" Target="/ppt/slides/slide8.xml" Id="R8005c315d2744abc" /><Relationship Type="http://schemas.openxmlformats.org/officeDocument/2006/relationships/slide" Target="/ppt/slides/slide9.xml" Id="R65d8922364d44e92" /><Relationship Type="http://schemas.openxmlformats.org/officeDocument/2006/relationships/slide" Target="/ppt/slides/slide10.xml" Id="R30ab7bdc669b41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2bac16eae64c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88864c86fa4b7d" /><Relationship Type="http://schemas.openxmlformats.org/officeDocument/2006/relationships/notesMaster" Target="/ppt/notesMasters/notesMaster1.xml" Id="R5b288e09e0b545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635ad32f734838" /><Relationship Type="http://schemas.openxmlformats.org/officeDocument/2006/relationships/notesMaster" Target="/ppt/notesMasters/notesMaster1.xml" Id="R0b04d08bfae247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5c9ae9a1974691" /><Relationship Type="http://schemas.openxmlformats.org/officeDocument/2006/relationships/notesMaster" Target="/ppt/notesMasters/notesMaster1.xml" Id="R9165eda7df0b47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35b80c68d24d12" /><Relationship Type="http://schemas.openxmlformats.org/officeDocument/2006/relationships/notesMaster" Target="/ppt/notesMasters/notesMaster1.xml" Id="R4eee520f5a8f43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84efaa5eae4174" /><Relationship Type="http://schemas.openxmlformats.org/officeDocument/2006/relationships/notesMaster" Target="/ppt/notesMasters/notesMaster1.xml" Id="R0e69ca8999414e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3e139aa1404e75" /><Relationship Type="http://schemas.openxmlformats.org/officeDocument/2006/relationships/notesMaster" Target="/ppt/notesMasters/notesMaster1.xml" Id="Rabea467858604a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02f8b3bbd340d0" /><Relationship Type="http://schemas.openxmlformats.org/officeDocument/2006/relationships/notesMaster" Target="/ppt/notesMasters/notesMaster1.xml" Id="Rc063bec1336d4d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ddbfa4c0c949bd" /><Relationship Type="http://schemas.openxmlformats.org/officeDocument/2006/relationships/notesMaster" Target="/ppt/notesMasters/notesMaster1.xml" Id="R611fd74b0f6e47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47ff0532f94bc8" /><Relationship Type="http://schemas.openxmlformats.org/officeDocument/2006/relationships/notesMaster" Target="/ppt/notesMasters/notesMaster1.xml" Id="R3f2b2bf1b21846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a6e9956ac34f1e" /><Relationship Type="http://schemas.openxmlformats.org/officeDocument/2006/relationships/notesMaster" Target="/ppt/notesMasters/notesMaster1.xml" Id="R28f4cca1f22a47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introduce the CAVA ecosystem to CORDEX leadership and frame a practical partnership around downstream use of regional climate information. Visual source: CAVA Platform public interface, https://cavaplatform.fao.org/. Keep the opening conversational: CAVA began as a response to repeated analytical friction inside FAO.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reflects FAO's internal experience supplied in the briefing request. Emphasize that the core problem was not the absence of climate data; it was the absence of a harmonized, repeatable workflow that project teams could trust and reuse.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separate evidence generation from the investment decision. CAVA does not decide which adaptation measure to finance; it makes the climate evidence supporting that choice more consistent, transparent and repeatable.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FAO describes CAVA as an open-source ecosystem combining a web platform with R and Python tools, harmonized climate information and reusable workflows. Country deployments can integrate national datasets and adapt workflows. Sources: https://www.fao.org/agroinformatics/news/news-detail/fao-digital-solutions-now-available-as-open-source--cava-and-ex-act/en ; https://cavaplatform.fao.org/about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CORDEX-CORE provides homogeneous regional climate information at roughly 25 km across major inhabited regions and supports analyses of extremes and global warming levels. CAVA/cavapy addresses recurring technical burdens such as distributed NetCDF access, rotated-pole grids, calendars, subsetting, ensemble handling and bias correction. Sources: https://cordex.org/experiment-guidelines/cordex-cmip5/cordex-core/cordex-core-simulations/ ; https://cordex.org/data-access/cordex-cmip5-data/cordex-cmip5-simulations/ ; https://github.com/un-fao/cavapy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CAVA brings climate, agroclimatic and agricultural-impact datasets into a consistent environment. Users can access the same backbone through the web platform, R and Python tools, or backend services. Country-level deployments can integrate national data and workflows. Sources: https://cavaplatform.fao.org/about ; https://www.fao.org/agroinformatics/news/news-detail/fao-digital-solutions-now-available-as-open-source--cava-and-ex-act/en ; https://github.com/un-fao/cavapy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cavapy can stream only the required spatial slice through OPeNDAP and return analysis-ready data, while handling common CORDEX complexities. The investment interpretation and adaptation decisions remain with the project team. Source: https://github.com/un-fao/cavapy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figures on this slide are intentional placeholders. Confirm the annual portfolio amount, the time period, whether values represent total project value or climate-finance share, and the number of projects/countries before circulating externally.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Insert examples that are approved for external discussion. Prefer projects where CORDEX information materially changed the climate rationale, geographic targeting, design standard or adaptation option. For publications, include a DOI or stable link in the final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collaboration rather than presenting a finished institutional proposal. The CORDEX CORE CMIP6 task force explicitly links standardized high-resolution projections with application and impact communities; CAVA can contribute investment-facing user feedback and country deployment experience. Sources: https://cordex.org/strategic-activities/taskforces/task-force-on-cordex-core-cmip6/ ; https://cavaplatform.fao.org/about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1a1225d61944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c54e162cf2496d" /><Relationship Type="http://schemas.openxmlformats.org/officeDocument/2006/relationships/slideLayout" Target="/ppt/slideLayouts/slideLayout1.xml" Id="Re38c48ee1fe34d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8c48ee1fe34d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2ca920f7a45a9" /><Relationship Type="http://schemas.openxmlformats.org/officeDocument/2006/relationships/image" Target="/ppt/media/image.png" Id="Rbe0e2805b8724e58" /><Relationship Type="http://schemas.openxmlformats.org/officeDocument/2006/relationships/notesSlide" Target="/ppt/notesSlides/notesSlide1.xml" Id="R4071a90f448247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e438b76124d53" /><Relationship Type="http://schemas.openxmlformats.org/officeDocument/2006/relationships/notesSlide" Target="/ppt/notesSlides/notesSlide2.xml" Id="R9ea932043e5a47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00ab1ff3b4f5f" /><Relationship Type="http://schemas.openxmlformats.org/officeDocument/2006/relationships/notesSlide" Target="/ppt/notesSlides/notesSlide3.xml" Id="R8ef542fc589846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a917865c14a6c" /><Relationship Type="http://schemas.openxmlformats.org/officeDocument/2006/relationships/notesSlide" Target="/ppt/notesSlides/notesSlide4.xml" Id="Rbecdf4b64b324f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e30c484624531" /><Relationship Type="http://schemas.openxmlformats.org/officeDocument/2006/relationships/notesSlide" Target="/ppt/notesSlides/notesSlide5.xml" Id="R5e41aeaf484044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ff284956a4d79" /><Relationship Type="http://schemas.openxmlformats.org/officeDocument/2006/relationships/notesSlide" Target="/ppt/notesSlides/notesSlide6.xml" Id="R135e40e85eed4c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1d83c085e4641" /><Relationship Type="http://schemas.openxmlformats.org/officeDocument/2006/relationships/notesSlide" Target="/ppt/notesSlides/notesSlide7.xml" Id="R5665d3ebf74d45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1565fc1034842" /><Relationship Type="http://schemas.openxmlformats.org/officeDocument/2006/relationships/notesSlide" Target="/ppt/notesSlides/notesSlide8.xml" Id="R2f926575884d4c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d30db6e814202" /><Relationship Type="http://schemas.openxmlformats.org/officeDocument/2006/relationships/notesSlide" Target="/ppt/notesSlides/notesSlide9.xml" Id="R91ed05431fa741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e74ed364b431b" /><Relationship Type="http://schemas.openxmlformats.org/officeDocument/2006/relationships/notesSlide" Target="/ppt/notesSlides/notesSlide10.xml" Id="Rc303446a32de4d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e2805b8724e58"/>
          <a:srcRect xmlns:a="http://schemas.openxmlformats.org/drawingml/2006/main" l="10642" t="0" r="10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5B1D3-77BD-4678-90AA-41029F04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05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8E349-2BF7-4679-96CF-A71372FF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157162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304E">
                  <a:alpha val="100000"/>
                </a:srgbClr>
              </a:gs>
              <a:gs pos="42000">
                <a:srgbClr val="12304E">
                  <a:alpha val="78000"/>
                </a:srgbClr>
              </a:gs>
              <a:gs pos="100000">
                <a:srgbClr val="12304E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C3499-64C9-420A-B3F9-8D042AE2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90349-CCA0-456C-B505-83AEB58E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8754C-35F0-43ED-B9A3-FFED7E69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 i="0">
                <a:solidFill>
                  <a:srgbClr val="78D8C8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78D8C8"/>
                </a:solidFill>
                <a:latin typeface="Lato"/>
                <a:ea typeface="Lato"/>
                <a:cs typeface="Lato"/>
              </a:rPr>
              <a:t>FAO BRIEFING FOR CORDEX LEADERSHIP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E1FF1-6F51-4388-B689-0BC0F2FC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4350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CAVA ×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4350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CORDEX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40E21-B93A-4065-8DF3-BE4A0FB6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7662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Regional climate evidence for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climate-resilient investment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D0F0E-71DD-4CBD-AA32-17ADA266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62475"/>
            <a:ext cx="4333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D7E5EC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D7E5EC"/>
                </a:solidFill>
                <a:latin typeface="Lato"/>
                <a:ea typeface="Lato"/>
                <a:cs typeface="Lato"/>
              </a:rPr>
              <a:t>How FAO turns coordinated regional projections into repeatable evidence for climate finance and adaptation planning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ABE52-F246-4FD8-A176-DE7CC764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245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0CD">
              <a:alpha val="55000"/>
            </a:srgbClr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E1B7C-0794-42B9-B12B-134B7500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96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 i="0">
                <a:solidFill>
                  <a:srgbClr val="D7E5EC"/>
                </a:solidFill>
                <a:latin typeface="Lato"/>
                <a:ea typeface="Lato"/>
                <a:cs typeface="Lato"/>
              </a:defRPr>
            </a:pPr>
            <a:r>
              <a:rPr sz="825" b="0" i="0">
                <a:solidFill>
                  <a:srgbClr val="D7E5EC"/>
                </a:solidFill>
                <a:latin typeface="Lato"/>
                <a:ea typeface="Lato"/>
                <a:cs typeface="Lato"/>
              </a:rPr>
              <a:t>Climate and Agriculture Risk Visualization and Assessment</a:t>
            </a:r>
          </a:p>
        </p:txBody>
      </p:sp>
    </p:spTree>
    <p:extLst>
      <p:ext uri="{BB962C8B-B14F-4D97-AF65-F5344CB8AC3E}">
        <p14:creationId xmlns:p14="http://schemas.microsoft.com/office/powerpoint/2010/main" val="350980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FA8EF9-B6EF-4692-9614-BC82F9EC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Why FAO needed a common climate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1B9C9-3933-4291-9BE9-1E2DF467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Project teams repeatedly rebuilt the same path from climate archives to decision-ready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2AED0-FE48-486E-ACE8-12A499E7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60CBA-22A8-4C7E-8D4E-88CBE8E2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1EACE-86D3-4777-9235-1C811549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01991-5C6E-4811-A910-C34F1770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DBE45-6E5D-4963-A193-60ABEC0A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90ED3-1F82-4822-A696-F4A0B2F3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The recurring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28099-EE25-4D75-B361-DE64B916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8F833-5015-4BB1-B45D-515D4F2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0027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7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Find and retrieve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2E410-E0D5-4A14-B911-2DBDD658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8127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Search catalogues and download large collections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02E5B-8242-4C17-BC27-09D1EAC3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D43DD-6906-4359-A8AE-A16AE72C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E569B-09E9-400D-AF7E-57CCA3DA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7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Prepare the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06E72-C20B-47E1-8386-323C7ABC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9570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Resolve grids, calendars, units and spatial subsets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23D8FE-2680-4AB7-BD9C-2B4DAC7E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382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36977-FA3C-4058-8C2E-F429E922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6A331-4912-4DF0-BD36-D89DD72D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2912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7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Rebuild the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5362C-B068-4BCF-A2FF-69BBC668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012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Recreate indicators, figures and documentation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D72D3-540B-4D1D-BA3B-A123527F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752600"/>
            <a:ext cx="95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7FBB0E-CB6A-4617-AC37-EAAA9B14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81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C95C54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C95C54"/>
                </a:solidFill>
                <a:latin typeface="Lato"/>
                <a:ea typeface="Lato"/>
                <a:cs typeface="Lato"/>
              </a:rPr>
              <a:t>WHAT THIS MEANT FOR INVESTMENT TEAMS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C60311-AB8C-44CB-A785-653AE0F9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17170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E9E6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C032B-63BA-438C-837D-F4BC1D84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1717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C5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63F0F-F803-4970-BF8E-9511C013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3622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Slow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EF3667-1FE0-418A-8E84-90358943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762250"/>
            <a:ext cx="48958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205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Climate rationales took too long to assemble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365A0F-B676-4682-A89E-A4FDAE7A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6230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117546-AE04-4539-BBE0-9FD8CFAB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623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CDA6EE-928B-4B83-BF67-F294BEE4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3528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Inconsistent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FD1F46-E1BD-4D6F-A91E-5727BF27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752850"/>
            <a:ext cx="48958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205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Methods varied from one project to the next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26BAB6-EFAC-4529-9D68-91381E7A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5290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E9E6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E2AA27-26C7-4721-B41E-45428D77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529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C5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065099-D15D-40F1-AB70-39ADC70F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3434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Technical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10A1D8-CA9B-4E97-95C8-76ED605D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743450"/>
            <a:ext cx="48958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205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Data preparation crowded out interpretation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8D9853-E50F-4E4D-BDFF-3A187A45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286375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0791A0-ABDB-409F-BC23-F1876C0A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4292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4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FAO needed shared infrastructure for GCF climate rationales and adaptation design.</a:t>
            </a:r>
          </a:p>
        </p:txBody>
      </p:sp>
    </p:spTree>
    <p:extLst>
      <p:ext uri="{BB962C8B-B14F-4D97-AF65-F5344CB8AC3E}">
        <p14:creationId xmlns:p14="http://schemas.microsoft.com/office/powerpoint/2010/main" val="13699639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31DE2C-569D-41D8-B1AE-0E778574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Climate evidence must serve an investment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4057D-A478-4E56-A3B3-240B2A2E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A useful climate rationale connects the model signal to risk, adaptation choices and financing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C2E98-1F05-428A-A98F-5D86E0B7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E5378-8204-4CAA-9DC5-31460F94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6D5A7-857C-46A4-83C8-84CFC010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9B7A5-C094-409C-B53C-1A14D3F5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E14B0-CED0-45B2-A61E-04178BEF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D6B45-3249-4659-97B5-5ADF60F5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28850"/>
            <a:ext cx="1790700" cy="18288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1D691-73D2-4FB5-86D6-83F695FB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003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137DB4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37DB4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38891-5BF7-4727-B6A4-B398A332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38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CLIMATE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648C1-D2C3-469E-A706-D920E440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3909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How could hazards change?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7B399-5112-41A1-B453-91BD846C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000375"/>
            <a:ext cx="371475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653B8-8810-469A-A1E0-CC7EFF91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28850"/>
            <a:ext cx="1790700" cy="18288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2C4EC-475F-4246-821E-B9819E31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003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C5AC3-F8F9-4916-9F45-E0443769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38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SYSTEM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09E15-067D-47AB-809A-8BC28057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909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What is exposed and vulnerable?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10147-B6C1-43F1-9AF2-23A19696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00375"/>
            <a:ext cx="371475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96DDF7-0E47-4B69-8E47-41833E28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228850"/>
            <a:ext cx="1790700" cy="18288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6ED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7E8822-09B0-4D5F-BAB0-92C9E887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4003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67C587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67C587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00D12-C39A-43D4-B68C-A4F94599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838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PEOPLE &amp; ASSETS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0476CF-8441-4671-995C-AEA38827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3909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Who and what may be affected?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9B7965-4BD8-48D7-80E2-0CFEC5B6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0375"/>
            <a:ext cx="371475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EAF914-3B75-4187-9FB8-AD365274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28850"/>
            <a:ext cx="1790700" cy="18288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80CADE-9B24-4B17-95BC-BEFC6AD2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003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334E18-26AB-430C-AE50-08A64AB9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38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ADAPTATION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3EAC43-30CC-4E58-8862-F89AA9E3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909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Which options reduce the risk?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CF8051-36C1-48C9-9EA6-537B2784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0375"/>
            <a:ext cx="371475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0F54D-E1F9-495C-A2BB-74340204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228850"/>
            <a:ext cx="1790700" cy="18288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304E"/>
          </a:solidFill>
          <a:ln xmlns:a="http://schemas.openxmlformats.org/drawingml/2006/main" w="9525">
            <a:solidFill>
              <a:srgbClr val="12304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7F7C65-4C29-4550-BFA7-9CC6AB24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4003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AA7682-1F86-4F04-82AF-42F61A0F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838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INVESTMENT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8F6A07-74E2-4D2D-9B28-BABFF069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3909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D7E5EC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D7E5EC"/>
                </a:solidFill>
                <a:latin typeface="Lato"/>
                <a:ea typeface="Lato"/>
                <a:cs typeface="Lato"/>
              </a:rPr>
              <a:t>Why finance action now?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E78369-C4F3-4D26-9162-D35F81C1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08966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A90382-C262-4FB7-BF37-E4B4EB43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7910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CAVA’S ROLE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63A00A-21FE-4062-BD65-D6A88086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057775"/>
            <a:ext cx="10172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Provide a traceable evidence backbone — from model choice and ensemble to indicators, maps and analytical outputs — so teams can focus on interpretation and option design.</a:t>
            </a:r>
          </a:p>
        </p:txBody>
      </p:sp>
    </p:spTree>
    <p:extLst>
      <p:ext uri="{BB962C8B-B14F-4D97-AF65-F5344CB8AC3E}">
        <p14:creationId xmlns:p14="http://schemas.microsoft.com/office/powerpoint/2010/main" val="765158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31C032-B05A-401F-A73F-42BE20FC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CAVA grew from an internal tool into a shared ecosystem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41108-CBA4-459B-848B-8DAB7600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The ambition expanded, but the design principle stayed the same: one repeatable analytical backbone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A3EC6-24EE-463A-B76B-E6BCB1C2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D113B-D688-4984-900A-2B4E5449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65D48-DDA3-4A25-BFC0-17B59833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38AE7-0F8C-4BF5-A10A-AF3A26DA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581C9-77EE-45FE-8A74-EA7440A8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C407B-93D7-4D18-B27A-85A6B131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3431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EA077-1B05-4D98-BD7C-BA34EBE3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9552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36BA2-DF94-42F9-A5D6-F610CBB8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6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Internal FAO tool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19E7E-13E3-4157-8F7A-0C75E38A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1876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Reduce repeated technical work inside the climate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CC465-03E5-44A3-991E-DB75444A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76575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7005C-BAC2-4D99-8624-148047F9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23431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195D5-3D70-4D60-9C00-B02F9DEB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29552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C8706-143C-4178-A69D-139551BD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57500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6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Shared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CB5065-0B1A-4408-9223-83CD5746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543300"/>
            <a:ext cx="1876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Standardize access, preparation and indicators across projects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33045-41F9-4101-8938-424B6DC5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76575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86799-DD89-463B-86DE-F7F195E6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3431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41FD6-A161-45AA-A2B5-589AACA7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9552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A6039-1E5A-4FEA-806A-A95B3535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6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Multiple entry 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B3590-F822-429E-A259-F91B6EBE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1876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Serve guided users, analysts and developers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6E3192-2427-49C7-9217-A815599A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76575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495ECF-4D21-4BB1-8F4F-8C9D5989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95500"/>
            <a:ext cx="23431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2304E"/>
          </a:solidFill>
          <a:ln xmlns:a="http://schemas.openxmlformats.org/drawingml/2006/main" w="9525">
            <a:solidFill>
              <a:srgbClr val="12304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42D9EA-4F64-4C74-BD74-AD4004F9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29552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D6FAD5-03EC-4407-8844-1B7578B9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57500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650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Open and adaptable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66EA11-DF01-4FC1-A450-6D82489C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543300"/>
            <a:ext cx="1876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D7E5EC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D7E5EC"/>
                </a:solidFill>
                <a:latin typeface="Lato"/>
                <a:ea typeface="Lato"/>
                <a:cs typeface="Lato"/>
              </a:rPr>
              <a:t>Enable reuse and country-level deployments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469952-3533-4F4F-AEA5-FE232FAF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914900"/>
            <a:ext cx="8534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FE155F-82E8-4708-8446-20E24374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95875"/>
            <a:ext cx="803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Today, CAVA combines a web platform, analytical SDKs and shared backend services.</a:t>
            </a:r>
          </a:p>
        </p:txBody>
      </p:sp>
    </p:spTree>
    <p:extLst>
      <p:ext uri="{BB962C8B-B14F-4D97-AF65-F5344CB8AC3E}">
        <p14:creationId xmlns:p14="http://schemas.microsoft.com/office/powerpoint/2010/main" val="9860222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7877B6-B1B2-4F2C-A35A-45BBF556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Why CORDEX is central to CAVA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F4EAA-C78B-4424-BB3F-09167B02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creates the most value where scientific richness and technical reuse costs are both high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F11A6-8C5F-4DC7-90E6-FD6FD45C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1E6AB-A62C-4232-8248-D64688A0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08267-24EB-41AE-A912-A538967C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92EAA-63F3-4826-9107-40FFEE13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D845B-8B1E-49D6-A2BB-51607D1C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52E1D-12BC-4BE4-B750-E60DCFBE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SCIENTIFIC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36AEF-3DD9-463B-A8A1-DDCB3368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52650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3600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~25 km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EE5DE-9DD0-4750-B65B-4FF214BE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95600"/>
            <a:ext cx="404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8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Coordinated regional climate information across major inhabited regions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A1224-40FA-4F3D-8786-39D69ACC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33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03539-08E7-4A3B-B087-01F8FFA6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671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Multi-model regional ensembles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6AD98-4B21-4929-BA1A-324FEA96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10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D77B7-D529-4E8F-83AF-B504BA05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34340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Information on extremes and warming levels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EDD69-FC29-4B19-ABDC-118E4DA0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86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3B6F9-8745-4346-B616-B05D8D10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196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Sustained community and computational investment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06BE72-D571-45E3-886B-A8507F14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52600"/>
            <a:ext cx="9525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36743-64BA-427D-9A89-59E0E7AF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TECHNICAL REUSE BARRIERS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111444-6193-465B-B456-B0A726B7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ARCHIVE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721C8-6736-480C-8518-58BF2B63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90750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Large NetCDF collections distributed across ESGF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88FC9A-B1B5-4BC5-B370-2FED83A4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GRIDS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D2562-7217-438C-97EA-F09E47B3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33700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Rotated or curvilinear coordinates require specialist handling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E7586-D765-4B28-A76E-06F49104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957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E9DAF-A5FF-4FB0-881A-C77B844C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76650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Calendars, units and long daily time series must be reconciled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263A23-068F-4995-BB41-6028CCDD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386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ENSEMBLES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EE5BE-7733-49A6-BE4B-D12D3F1D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19600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GCM, RCM, scenario and member choices must remain traceable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E17F4-03C8-41D9-95D0-0B25D54B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38750"/>
            <a:ext cx="5257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316E96-08F2-4424-9482-936C40E9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72100"/>
            <a:ext cx="478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8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Shared access infrastructure protects the value of a major community investment.</a:t>
            </a:r>
          </a:p>
        </p:txBody>
      </p:sp>
    </p:spTree>
    <p:extLst>
      <p:ext uri="{BB962C8B-B14F-4D97-AF65-F5344CB8AC3E}">
        <p14:creationId xmlns:p14="http://schemas.microsoft.com/office/powerpoint/2010/main" val="4859046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6F0910-53EE-4F46-931C-06A6C497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The CAVA ecosystem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3632C-DCD1-4C3A-A2F5-D01F7F1F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One backbone, several interfaces and products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E2764-964F-410A-A7F9-42C45792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DD628-6F6E-4EA2-AB47-5A5A0982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134AF-6D75-4C68-BF50-CD41E32A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48162-E43E-4A5A-A519-37DB8A86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870CE-BCD7-451F-9B20-3BB35FC6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315F8-A9C1-4B38-A7C8-888EBC5C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85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137DB4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137DB4"/>
                </a:solidFill>
                <a:latin typeface="Lato"/>
                <a:ea typeface="Lato"/>
                <a:cs typeface="Lato"/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5D948-E2F5-48BA-B9D0-CEAEBB77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43075"/>
            <a:ext cx="8991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512B1-2465-4AA0-8D06-1B76DFD8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526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ERA5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7C9D0-BDAA-4DA3-9711-C921AA9C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669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26681-6623-4940-93D5-4E023C0F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526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CORDEX-CORE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8A800-A2EE-48E4-9142-BAE03F9B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669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49F0E-19D8-4C9A-AE63-1FD17868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526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CORDEX-CORE-BC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78914-E97A-4C95-8B6A-41AA1D1C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669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545DA-2871-4925-AD97-B868B956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526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Impact datasets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08300-13FA-4F16-BBE5-CEEBDC11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2667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04DBD6-31F5-437C-BC6A-4E91A40E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85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SHARED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DE993-9D0C-4B01-B28D-BF5C21A5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57475"/>
            <a:ext cx="8991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304E"/>
          </a:solidFill>
          <a:ln xmlns:a="http://schemas.openxmlformats.org/drawingml/2006/main" w="9525">
            <a:solidFill>
              <a:srgbClr val="12304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C85B5C-5AE7-4752-BC42-C5889BC2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670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Catalogue &amp; inventory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8861E0-D568-4940-B4EB-9AFEE29A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813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38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F1628-7FAA-41F2-83E3-4972173B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670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Remote subsetting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0524D5-75FB-4767-92C2-C37A2784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813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38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861BA7-E056-4E4C-837D-CCC119CC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670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Harmonization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E77F6E-C72C-4AB2-B427-70730039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7813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38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75D82C-4A88-4A82-BC7A-FE8A4945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670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Indicators &amp; provenance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D78688-C0A8-4269-87C8-C1994EF8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2667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A5483E-C9A4-47BA-A713-FD876305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85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008D7A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8D7A"/>
                </a:solidFill>
                <a:latin typeface="Lato"/>
                <a:ea typeface="Lato"/>
                <a:cs typeface="Lato"/>
              </a:rPr>
              <a:t>ENTRY POINTS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4C09E9-73CA-4F47-A7B8-CFF8BA4E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71875"/>
            <a:ext cx="8991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BE9614-F16C-4138-9CF6-733681FC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814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CAVA Platform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BDFE39-F711-4F21-9E3A-225C2026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6957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43B81B-6148-43BA-A6D2-1B40C9AF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814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R SDK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313241-2906-44F4-A78D-D76F9E83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957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3936D3-8CD9-49C8-BF2B-87063BC3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814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Python SDK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200631-C23A-4D8B-84E6-8390AEE6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957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F7299C-47A1-413A-B482-4CC5689A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814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Backend APIs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D8F9CA-D735-4AD2-AE30-E807E6C7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86250"/>
            <a:ext cx="2667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857ACC-2841-4D38-BFA1-0F54DFFE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85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PRODUCTS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768038-71AE-405F-8A66-9D83165D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86275"/>
            <a:ext cx="8991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62976D-3E00-4F81-9524-B0D14EDE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95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Maps &amp; reports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EFB2FD-F74D-4014-B4BF-E01FAD38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6101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782216-3286-4812-8E40-7BED27E7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95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Reproducible analysis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0FE33B-522E-43C2-94C4-C73FE97F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101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FA6223-74B7-4876-AB7B-2DE95321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95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Downstream models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FA0F6B-F897-4F05-BACB-B305D28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6101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3601D9-5E3D-4524-8148-CEF7E630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95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Country systems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3F743F-CE34-4D12-B15C-B64FEAC7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95925"/>
            <a:ext cx="8991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C41395-B250-43A3-8E05-F940342D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591175"/>
            <a:ext cx="8553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Different users enter at different points; the datasets, processing rules and provenance remain consistent.</a:t>
            </a:r>
          </a:p>
        </p:txBody>
      </p:sp>
    </p:spTree>
    <p:extLst>
      <p:ext uri="{BB962C8B-B14F-4D97-AF65-F5344CB8AC3E}">
        <p14:creationId xmlns:p14="http://schemas.microsoft.com/office/powerpoint/2010/main" val="1313346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418A80-1C81-4075-8898-7F96C338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How CORDEX data becomes investment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BF1D1-A0BA-4364-BCB0-1317339B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A repeatable workflow keeps technical choices visible from the first question to the final climate rationale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20D64-8227-4390-BB1F-8B419484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C8A59-C0CD-4DE7-9062-E9F432BB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928B5-2C9B-4D9F-B9CF-380ED2CE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452BB-23E6-4F33-99F5-B88C6E15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72C9C-8310-4CAD-82C3-4BCE5B66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24E2D-C737-4A0A-A7C0-E5A35492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2D1EA-E093-4E50-809D-DEE1AC05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66334-76C5-4B0D-99B6-E0179865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478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0B3EF-06CF-48DD-B6A3-41C19E39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914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Investment geography and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26338-009D-4380-B9C7-F31E8F67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81250"/>
            <a:ext cx="2952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7FCF9-27E7-4955-A824-0DBA28D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859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3059A-A81A-4FB6-8318-EEC49C45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574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EFA58-E012-4EBA-84EC-ABA09BA3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478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9A85F-773A-40D9-82FE-87619C6F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4600"/>
            <a:ext cx="2914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Domain, scenarios and GCM–RCM ensemble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98A80-F92D-4F71-A519-36A0496F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2952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F06B5-931E-4EBE-90FD-1AD95EED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AA985-2653-464C-9758-C04BCFC8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EEFA60-D3CB-4B39-86CD-D713D110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478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Retrieve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BD683-DE40-4476-9CEF-7A3DDABE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14600"/>
            <a:ext cx="2914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Only the required spatial and temporal slice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01B2F8-67F6-487E-AA4D-50C69E0A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152775"/>
            <a:ext cx="266700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0E872-572E-43FB-BA96-8E95D517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8AC690-03CE-45EB-B26A-732999AC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4E1F33-8205-4BF8-95D2-6DC81E14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004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Process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5C84FD-1EDE-414C-92F5-C1192837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914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Harmonize and derive indicators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A1A86E-0343-4EE5-BBBA-56132E21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33850"/>
            <a:ext cx="2952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C670F1-21F6-42AD-8B77-58CCABAD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385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099106-5F88-4624-8173-2DA9E54A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100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84051A-52AC-45EC-9306-974751CE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004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Interpret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4209E7-083C-4998-9447-43CCED52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67200"/>
            <a:ext cx="2914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Assess risk and adaptation options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0D9352-7955-4001-95BA-754BD109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33850"/>
            <a:ext cx="2952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29B0A3-E85D-4F59-8E4F-487C2ABC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E23503-368B-43F9-B083-C7811FDE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00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327B8F-71D1-4BBB-84C8-0B084482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004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Document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4C9C47-41A6-4C5C-A5B9-4DE81720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67200"/>
            <a:ext cx="2914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Climate rationale and uncertainty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45BACB-A3BB-4C9A-B8DE-01935881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10763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E22B07-2E29-441D-974A-8E4A8EF5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14975"/>
            <a:ext cx="1030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Remote access reduces data movement; reproducible processing preserves the model, scenario and member choices.</a:t>
            </a:r>
          </a:p>
        </p:txBody>
      </p:sp>
    </p:spTree>
    <p:extLst>
      <p:ext uri="{BB962C8B-B14F-4D97-AF65-F5344CB8AC3E}">
        <p14:creationId xmlns:p14="http://schemas.microsoft.com/office/powerpoint/2010/main" val="6028996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FE23D3-549C-4D9F-8DEA-3B1F14EE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CORDEX evidence supports a growing investment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B37BA-7721-44FA-BD12-3BE96ED7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Replace the placeholders below with verified portfolio figures before external circulation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B9814-122F-455D-B3A0-E2D8C9FC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E09FE-B988-4ECC-BE91-045D217A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DF22B-0BE7-4DA6-B8F9-52677DE5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01558-16F0-44FA-8598-F299A982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D740B-D1F2-49F2-BA90-143C51CD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B4A32-B377-4D24-A181-458AA7AD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28800"/>
            <a:ext cx="5467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2304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2DF73-0E85-4CB4-AA36-BA253659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442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ANNUAL PORTFOLIO VALUE INFORMED BY CAVA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63D789-0B9B-46BF-9BDD-6C29EF61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4438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700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5700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$XX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AE000-F9A2-4659-9C1B-596DDD13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75" b="1" i="0">
                <a:solidFill>
                  <a:srgbClr val="D7E5EC"/>
                </a:solidFill>
                <a:latin typeface="Lato"/>
                <a:ea typeface="Lato"/>
                <a:cs typeface="Lato"/>
              </a:defRPr>
            </a:pPr>
            <a:r>
              <a:rPr sz="2175" b="1" i="0">
                <a:solidFill>
                  <a:srgbClr val="D7E5EC"/>
                </a:solidFill>
                <a:latin typeface="Lato"/>
                <a:ea typeface="Lato"/>
                <a:cs typeface="Lato"/>
              </a:rPr>
              <a:t>million / year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15F12-74BD-47FA-9225-4DA78E52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00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FFFFFF"/>
                </a:solidFill>
                <a:latin typeface="Lato"/>
                <a:ea typeface="Lato"/>
                <a:cs typeface="Lato"/>
              </a:rPr>
              <a:t>Climate finance and investment preparation using CORDEX-based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DED87-4177-4142-B7F5-947F0712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57375"/>
            <a:ext cx="463867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F5865-BE52-44B0-801E-55747355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2400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[XX]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FD1D4-8CCC-48E4-9797-5DE2F1DA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24075"/>
            <a:ext cx="2819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countries or regions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352912-CC17-40F3-ADC4-B399EE37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62275"/>
            <a:ext cx="463867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32AAA-ED38-4486-9870-78827775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52775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2400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[XX]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502EC-DF55-46FD-8EFF-36F0DC77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28975"/>
            <a:ext cx="2819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investment 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804017-82AC-4C97-8256-A9BED60F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67175"/>
            <a:ext cx="463867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72997-C369-4E43-951E-FAE1930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57675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2400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[XX]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4BE163-A40F-42AF-9EAA-6CAF8DB1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33875"/>
            <a:ext cx="2819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repeatable analytical workflows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DCC9D4-76D2-4B13-84F5-0A0AEF59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86375"/>
            <a:ext cx="46386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F2B63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28F60F-D062-47CD-AC2D-624AAD77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57825"/>
            <a:ext cx="419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CONFIRM FIGURES + COUNTING METHOD</a:t>
            </a:r>
          </a:p>
        </p:txBody>
      </p:sp>
    </p:spTree>
    <p:extLst>
      <p:ext uri="{BB962C8B-B14F-4D97-AF65-F5344CB8AC3E}">
        <p14:creationId xmlns:p14="http://schemas.microsoft.com/office/powerpoint/2010/main" val="17182448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B578DE-A4D0-4375-AA1B-3B1CEC9A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From model output to project and research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751E0-B1C9-4B31-BEF1-7B838BBF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Use two concrete investments and two publications to make the downstream value of CORDEX tangible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A6976-7D53-4699-9FD0-8ACD5146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1D244-D1E5-4FF4-AEB8-D5BE2CF1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A3634-71AB-4001-BCCE-4A02B798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CE449-E72B-4B27-8690-FD0B8F58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84965-B667-4092-8078-CF3F2B48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C4A0D-BD1D-43A5-B4FB-B02DA553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81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INVESTMENT EXAMPLES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82634-1805-4DB2-9806-650EA5A8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67056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95091-9BA3-40C3-BDC8-81B949DA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57150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8ABB8-0D5F-41CE-8401-CB1BEACC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Project example 01 — [country / programme]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941D6-4466-4591-A4F4-0482610B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626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Investment value: [€/$ XXm]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CORDEX use: [hazard, ensemble and indicator]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Decision supported: [adaptation option or design change]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9EE15-E17C-429F-872F-E0B1C2D5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67056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C4289-EF4E-4505-AA95-511F3B33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57150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7DB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B7FBE-08A1-48DD-A43F-D1E2AB7E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Project example 02 — [country / programme]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9F0F4-2D9C-46A7-88B6-A11789D9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626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Investment value: [€/$ XXm]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CORDEX use: [hazard, ensemble and indicator]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Decision supported: [adaptation option or design change]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06615-09D5-4FA7-BCD7-5CC8A5ED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7811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PUBLISHED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184EF-3051-4A0A-B2F0-26E71F15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114550"/>
            <a:ext cx="3333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F2B63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63FA1-F3DA-4A3C-A05E-6BA546D3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[Paper title]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174526-6BEA-4964-975D-206D6322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9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[Authors · journal · year]</a:t>
            </a:r>
          </a:p>
          <a:p xmlns:a="http://schemas.openxmlformats.org/drawingml/2006/main">
            <a:pPr algn="l">
              <a:lnSpc>
                <a:spcPct val="109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[One-line finding relevant to investment]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BB4E50-56B9-49EE-B973-B7735165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790950"/>
            <a:ext cx="3333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137DB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94BDDF-B9D6-4141-AA10-40B5593F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19550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[Paper title]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159E0A-ADF0-4D0F-A990-2E634F16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339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9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[Authors · journal · year]</a:t>
            </a:r>
          </a:p>
          <a:p xmlns:a="http://schemas.openxmlformats.org/drawingml/2006/main">
            <a:pPr algn="l">
              <a:lnSpc>
                <a:spcPct val="109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[One-line finding relevant to investment]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E4853-EA52-4A26-9E83-93E34E05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14975"/>
            <a:ext cx="50292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8E9E6"/>
          </a:solidFill>
          <a:ln xmlns:a="http://schemas.openxmlformats.org/drawingml/2006/main" w="9525">
            <a:solidFill>
              <a:srgbClr val="C95C5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DEF2E-5E1A-431A-83A9-2214573A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10225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00" b="1" i="0">
                <a:solidFill>
                  <a:srgbClr val="C95C54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C95C54"/>
                </a:solidFill>
                <a:latin typeface="Lato"/>
                <a:ea typeface="Lato"/>
                <a:cs typeface="Lato"/>
              </a:rPr>
              <a:t>REPLACE ALL PLACEHOLDERS BEFORE CIRCULATION</a:t>
            </a:r>
          </a:p>
        </p:txBody>
      </p:sp>
    </p:spTree>
    <p:extLst>
      <p:ext uri="{BB962C8B-B14F-4D97-AF65-F5344CB8AC3E}">
        <p14:creationId xmlns:p14="http://schemas.microsoft.com/office/powerpoint/2010/main" val="8580162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92E453-A50E-473B-BA24-0334E657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A practical partnership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76B8E-A78C-4437-B269-81A50F16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Connect CORDEX’s coordinated science with feedback from real investment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D7975-4D6E-4490-BF87-39449B35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8058D-E7C5-4351-B839-F3A9D67E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342BE-537F-44A5-BC0E-B8BB1BEC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F2745-3A3F-4D8E-BDDB-4DC85D5E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C1E41-3BC8-434E-8508-EF71865A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C611B-9C25-460E-AC09-38D349E4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A TWO-WAY VALUE CHAIN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5ECD3-3E64-4F18-8E65-F1418321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56197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60A95-2AB4-44E0-B14A-2FA91E07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137DB4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37DB4"/>
                </a:solidFill>
                <a:latin typeface="Lato"/>
                <a:ea typeface="Lato"/>
                <a:cs typeface="Lato"/>
              </a:rPr>
              <a:t>CORDEX → CAVA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BBB87-E937-4F20-9A8A-459948B9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764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Coordinated projections, metadata and scientific guidance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F2019-7F2B-4B1A-B382-6AAF675E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56197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5DF29-5A3A-4F26-B525-B2545C56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CAVA → CORDEX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29375-4AAE-4526-980A-74AB188C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813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Application feedback, user needs and evidence of downstream 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F2882-BA8F-426F-8DDC-1D973F6D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56197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0E40B-8A17-4E87-AE75-B784EC8A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TOGETHER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59367-6ABE-4DD4-BA51-E6F83277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862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Reproducible country services, clearer provenance and next-generation use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B7DCE-4D5E-4538-9F5F-08F97FA4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52600"/>
            <a:ext cx="95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CDA00-B932-42C7-96BF-B360BD06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811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QUESTIONS FOR DISCUSSION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6D0550-6F9E-4E37-A2EA-19247D66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57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3CF5E3-26B5-43A9-9197-E8B31EAF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19325"/>
            <a:ext cx="3276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Which CORDEX datasets and metadata should CAVA prioritize?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3C917-5EB4-4E0A-82FB-91166143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52750"/>
            <a:ext cx="3914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A9D4C-4D0A-4E72-8EBD-7B7F58DE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289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57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FB0821-B221-4FD5-A856-78593B06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09925"/>
            <a:ext cx="3276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How should CAVA communicate ensemble limits and provenance?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D1DBB8-3690-45FD-B0DF-69B15E19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3914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E47546-5F9D-4A02-A838-6A5BDC98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195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157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38F14B-1EDD-4A43-A551-C46982A7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00525"/>
            <a:ext cx="3276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Where could we test joint country-level products?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153C91-0C10-4FAD-B635-659D7F19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48275"/>
            <a:ext cx="39147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F0C842-B30D-444D-B541-447B09C8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81625"/>
            <a:ext cx="3457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1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Make CORDEX easier to use — without weakening the scientific choices.</a:t>
            </a:r>
          </a:p>
        </p:txBody>
      </p:sp>
    </p:spTree>
    <p:extLst>
      <p:ext uri="{BB962C8B-B14F-4D97-AF65-F5344CB8AC3E}">
        <p14:creationId xmlns:p14="http://schemas.microsoft.com/office/powerpoint/2010/main" val="1552278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2026-09-23T09:39:32.2940000Z</dcterms:created>
  <dcterms:modified xsi:type="dcterms:W3CDTF">2026-09-23T09:39:32.2940000Z</dcterms:modified>
</coreProperties>
</file>