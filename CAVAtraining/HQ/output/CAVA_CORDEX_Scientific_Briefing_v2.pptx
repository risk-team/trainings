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2ae8f33245414c" /><Relationship Type="http://schemas.openxmlformats.org/officeDocument/2006/relationships/extended-properties" Target="/docProps/app.xml" Id="R38ec28fcb1234103" /><Relationship Type="http://schemas.openxmlformats.org/officeDocument/2006/relationships/officeDocument" Target="/ppt/presentation.xml" Id="Rb936e80a67584f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3eba8a9d0742d9"/>
  </p:sldMasterIdLst>
  <p:notesMasterIdLst>
    <p:notesMasterId xmlns:r="http://schemas.openxmlformats.org/officeDocument/2006/relationships" r:id="R9d051046fae644f5"/>
  </p:notesMasterIdLst>
  <p:sldIdLst>
    <p:sldId xmlns:r="http://schemas.openxmlformats.org/officeDocument/2006/relationships" id="256" r:id="R0dc7b4d6ab5e403e"/>
    <p:sldId xmlns:r="http://schemas.openxmlformats.org/officeDocument/2006/relationships" id="257" r:id="Rdbbe2b17f64c48de"/>
    <p:sldId xmlns:r="http://schemas.openxmlformats.org/officeDocument/2006/relationships" id="258" r:id="R042d2d5951da4ddf"/>
    <p:sldId xmlns:r="http://schemas.openxmlformats.org/officeDocument/2006/relationships" id="259" r:id="Ra22c1954f3064227"/>
    <p:sldId xmlns:r="http://schemas.openxmlformats.org/officeDocument/2006/relationships" id="260" r:id="R8a03f07b7aa94f58"/>
    <p:sldId xmlns:r="http://schemas.openxmlformats.org/officeDocument/2006/relationships" id="261" r:id="R37143dfa5fc8420a"/>
    <p:sldId xmlns:r="http://schemas.openxmlformats.org/officeDocument/2006/relationships" id="262" r:id="Rc7bc5c58598f4304"/>
    <p:sldId xmlns:r="http://schemas.openxmlformats.org/officeDocument/2006/relationships" id="263" r:id="Ref88131878074b01"/>
    <p:sldId xmlns:r="http://schemas.openxmlformats.org/officeDocument/2006/relationships" id="264" r:id="Rdfb834395ae2422f"/>
    <p:sldId xmlns:r="http://schemas.openxmlformats.org/officeDocument/2006/relationships" id="265" r:id="R5725d9d40e4a48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333317e4694dee" /><Relationship Type="http://schemas.openxmlformats.org/officeDocument/2006/relationships/slideMaster" Target="/ppt/slideMasters/slideMaster1.xml" Id="R213eba8a9d0742d9" /><Relationship Type="http://schemas.openxmlformats.org/officeDocument/2006/relationships/notesMaster" Target="/ppt/notesMasters/notesMaster1.xml" Id="R9d051046fae644f5" /><Relationship Type="http://schemas.openxmlformats.org/officeDocument/2006/relationships/presProps" Target="/ppt/presProps.xml" Id="R91623885b4fe4442" /><Relationship Type="http://schemas.openxmlformats.org/officeDocument/2006/relationships/tableStyles" Target="/ppt/tableStyles.xml" Id="R6be11ea48ecc4769" /><Relationship Type="http://schemas.openxmlformats.org/officeDocument/2006/relationships/slide" Target="/ppt/slides/slide1.xml" Id="R0dc7b4d6ab5e403e" /><Relationship Type="http://schemas.openxmlformats.org/officeDocument/2006/relationships/slide" Target="/ppt/slides/slide2.xml" Id="Rdbbe2b17f64c48de" /><Relationship Type="http://schemas.openxmlformats.org/officeDocument/2006/relationships/slide" Target="/ppt/slides/slide3.xml" Id="R042d2d5951da4ddf" /><Relationship Type="http://schemas.openxmlformats.org/officeDocument/2006/relationships/slide" Target="/ppt/slides/slide4.xml" Id="Ra22c1954f3064227" /><Relationship Type="http://schemas.openxmlformats.org/officeDocument/2006/relationships/slide" Target="/ppt/slides/slide5.xml" Id="R8a03f07b7aa94f58" /><Relationship Type="http://schemas.openxmlformats.org/officeDocument/2006/relationships/slide" Target="/ppt/slides/slide6.xml" Id="R37143dfa5fc8420a" /><Relationship Type="http://schemas.openxmlformats.org/officeDocument/2006/relationships/slide" Target="/ppt/slides/slide7.xml" Id="Rc7bc5c58598f4304" /><Relationship Type="http://schemas.openxmlformats.org/officeDocument/2006/relationships/slide" Target="/ppt/slides/slide8.xml" Id="Ref88131878074b01" /><Relationship Type="http://schemas.openxmlformats.org/officeDocument/2006/relationships/slide" Target="/ppt/slides/slide9.xml" Id="Rdfb834395ae2422f" /><Relationship Type="http://schemas.openxmlformats.org/officeDocument/2006/relationships/slide" Target="/ppt/slides/slide10.xml" Id="R5725d9d40e4a48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b492e3841541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7d1677dcc44585" /><Relationship Type="http://schemas.openxmlformats.org/officeDocument/2006/relationships/notesMaster" Target="/ppt/notesMasters/notesMaster1.xml" Id="Ra6ae8fa1d31d4b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cb9dbfe0734401" /><Relationship Type="http://schemas.openxmlformats.org/officeDocument/2006/relationships/notesMaster" Target="/ppt/notesMasters/notesMaster1.xml" Id="Rac6f106988204c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d5ff05f60d4af7" /><Relationship Type="http://schemas.openxmlformats.org/officeDocument/2006/relationships/notesMaster" Target="/ppt/notesMasters/notesMaster1.xml" Id="Rc4b3a78e83af4c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6b5d2240cb4d1a" /><Relationship Type="http://schemas.openxmlformats.org/officeDocument/2006/relationships/notesMaster" Target="/ppt/notesMasters/notesMaster1.xml" Id="R88831177db0f46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b75347d44148ad" /><Relationship Type="http://schemas.openxmlformats.org/officeDocument/2006/relationships/notesMaster" Target="/ppt/notesMasters/notesMaster1.xml" Id="R9e6253d9d2fa47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e4035f4b534967" /><Relationship Type="http://schemas.openxmlformats.org/officeDocument/2006/relationships/notesMaster" Target="/ppt/notesMasters/notesMaster1.xml" Id="Rb5906b857c1142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2ba921eca14e93" /><Relationship Type="http://schemas.openxmlformats.org/officeDocument/2006/relationships/notesMaster" Target="/ppt/notesMasters/notesMaster1.xml" Id="Rf6d3b7db256142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786f978e904cd6" /><Relationship Type="http://schemas.openxmlformats.org/officeDocument/2006/relationships/notesMaster" Target="/ppt/notesMasters/notesMaster1.xml" Id="R4af83c06274c4a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c4db088e934433" /><Relationship Type="http://schemas.openxmlformats.org/officeDocument/2006/relationships/notesMaster" Target="/ppt/notesMasters/notesMaster1.xml" Id="Re921652eead941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7422607197488e" /><Relationship Type="http://schemas.openxmlformats.org/officeDocument/2006/relationships/notesMaster" Target="/ppt/notesMasters/notesMaster1.xml" Id="R182dc576a75d44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describe how CAVA accesses and processes CORDEX data for FAO investment analysis, including the methodological limits that require expert judgement. Visual source: CAVA Platform public interface, https://cavaplatform.fao.org/.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reflects FAO's internal experience supplied in the briefing request. Emphasize that the core problem was not the absence of climate data; it was the absence of a harmonized, repeatable workflow that project teams could trust and reuse.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separate evidence generation from the investment decision. CAVA does not decide which adaptation measure to finance; it makes the climate evidence supporting that choice more consistent, transparent and repeatable.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FAO describes CAVA as an open-source ecosystem combining a web platform with R and Python tools, harmonized climate information and reusable workflows. Country deployments can integrate national datasets and adapt workflows. Sources: https://www.fao.org/agroinformatics/news/news-detail/fao-digital-solutions-now-available-as-open-source--cava-and-ex-act/en ; https://cavaplatform.fao.org/about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CORDEX-CORE provides homogeneous regional climate information at roughly 25 km across major inhabited regions and supports analyses of extremes and global warming levels. CAVA/cavapy addresses recurring technical burdens such as distributed NetCDF access, rotated-pole grids, calendars, subsetting, ensemble handling and bias correction. Sources: https://cordex.org/experiment-guidelines/cordex-cmip5/cordex-core/cordex-core-simulations/ ; https://cordex.org/data-access/cordex-cmip5-data/cordex-cmip5-simulations/ ; https://github.com/un-fao/cavapy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CAVA brings climate, agroclimatic and agricultural-impact datasets into a consistent environment. Users can access the same backbone through the web platform, R and Python tools, or backend services. Country-level deployments can integrate national data and workflows. Sources: https://cavaplatform.fao.org/about ; https://www.fao.org/agroinformatics/news/news-detail/fao-digital-solutions-now-available-as-open-source--cava-and-ex-act/en ; https://github.com/un-fao/cavapy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cavapy can stream only the required spatial slice through OPeNDAP and return analysis-ready data, while handling common CORDEX complexities. The investment interpretation and adaptation decisions remain with the project team. Source: https://github.com/un-fao/cavapy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figures remain placeholders. Before circulation, define the portfolio denominator and the attribution rule. The strongest count includes only projects where CAVA/CORDEX evidence appears in project documentation or can be linked to a documented design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Insert examples approved for external discussion. Include enough methodological information for the CORDEX audience to understand which simulations were used and how uncertainty was treated. For publications, include a DOI or stable link.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technical questions rather than a partnership proposal. The CORDEX CORE CMIP6 task force links standardized high-resolution projections with application and impact communities; CAVA can contribute evidence from operational use. Sources: https://cordex.org/strategic-activities/taskforces/task-force-on-cordex-core-cmip6/ ; https://cavaplatform.fao.org/about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29a10ca1044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8e1abb734640ab" /><Relationship Type="http://schemas.openxmlformats.org/officeDocument/2006/relationships/slideLayout" Target="/ppt/slideLayouts/slideLayout1.xml" Id="Rbd40f62392e54c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40f62392e54c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b3f1056a34ed5" /><Relationship Type="http://schemas.openxmlformats.org/officeDocument/2006/relationships/image" Target="/ppt/media/image.png" Id="R0c5399ae49f546e5" /><Relationship Type="http://schemas.openxmlformats.org/officeDocument/2006/relationships/notesSlide" Target="/ppt/notesSlides/notesSlide1.xml" Id="Rb3c5ea67e5eb4f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c695b1a874440" /><Relationship Type="http://schemas.openxmlformats.org/officeDocument/2006/relationships/notesSlide" Target="/ppt/notesSlides/notesSlide2.xml" Id="R682dcde7097943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dfe17427c4175" /><Relationship Type="http://schemas.openxmlformats.org/officeDocument/2006/relationships/notesSlide" Target="/ppt/notesSlides/notesSlide3.xml" Id="R48159ab9f44442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857d7a30f4706" /><Relationship Type="http://schemas.openxmlformats.org/officeDocument/2006/relationships/notesSlide" Target="/ppt/notesSlides/notesSlide4.xml" Id="Rc9c7532988354e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127b26bd04af7" /><Relationship Type="http://schemas.openxmlformats.org/officeDocument/2006/relationships/notesSlide" Target="/ppt/notesSlides/notesSlide5.xml" Id="Rae9405c255e44e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e8ba198f34fb4" /><Relationship Type="http://schemas.openxmlformats.org/officeDocument/2006/relationships/notesSlide" Target="/ppt/notesSlides/notesSlide6.xml" Id="R340616df92824c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dfa899b564721" /><Relationship Type="http://schemas.openxmlformats.org/officeDocument/2006/relationships/notesSlide" Target="/ppt/notesSlides/notesSlide7.xml" Id="R79e10f454fa14c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b361184ea493c" /><Relationship Type="http://schemas.openxmlformats.org/officeDocument/2006/relationships/notesSlide" Target="/ppt/notesSlides/notesSlide8.xml" Id="Rdab5df041a1e4b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d430f6255419c" /><Relationship Type="http://schemas.openxmlformats.org/officeDocument/2006/relationships/notesSlide" Target="/ppt/notesSlides/notesSlide9.xml" Id="R2565d3c7d30c4a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a504c948d4195" /><Relationship Type="http://schemas.openxmlformats.org/officeDocument/2006/relationships/notesSlide" Target="/ppt/notesSlides/notesSlide10.xml" Id="R8737c13356644f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399ae49f546e5"/>
          <a:srcRect xmlns:a="http://schemas.openxmlformats.org/drawingml/2006/main" l="10642" t="0" r="10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7A1D9-D045-4CD9-9983-432918A1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05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83DA2-92BD-4112-B324-DA5EC4A7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57162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304E">
                  <a:alpha val="100000"/>
                </a:srgbClr>
              </a:gs>
              <a:gs pos="42000">
                <a:srgbClr val="12304E">
                  <a:alpha val="78000"/>
                </a:srgbClr>
              </a:gs>
              <a:gs pos="100000">
                <a:srgbClr val="12304E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F7F80-421F-491B-8B23-5C3C7778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6CE80-BE1C-4591-BEDD-B89179C4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58D54-99F6-44B3-8B33-B4A89FA3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1" i="0">
                <a:solidFill>
                  <a:srgbClr val="78D8C8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78D8C8"/>
                </a:solidFill>
                <a:latin typeface="Lato"/>
                <a:ea typeface="Lato"/>
                <a:cs typeface="Lato"/>
              </a:rPr>
              <a:t>TECHNICAL BRIEFING FOR CORDEX LEADERSHIP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6E833-776F-4624-AFFA-9DAC93F6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4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CAVA and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4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CORDEX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4C6DD-5FFD-4B40-8A21-63AC799B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766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Regional climate data in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FAO investment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F959C-BA16-4EFD-A2F7-4E8BFD85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24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D7E5EC"/>
                </a:solidFill>
                <a:latin typeface="Lato"/>
                <a:ea typeface="Lato"/>
                <a:cs typeface="Lato"/>
              </a:defRPr>
            </a:pPr>
            <a:r>
              <a:rPr sz="1275" b="0" i="0">
                <a:solidFill>
                  <a:srgbClr val="D7E5EC"/>
                </a:solidFill>
                <a:latin typeface="Lato"/>
                <a:ea typeface="Lato"/>
                <a:cs typeface="Lato"/>
              </a:rPr>
              <a:t>System architecture, analytical workflow and methodological considerations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F57BD-31FC-48DF-BA49-F6BE8A4A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245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0CD">
              <a:alpha val="55000"/>
            </a:srgbClr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48EA4-B516-4C34-A31A-60B6F5E4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96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D7E5EC"/>
                </a:solidFill>
                <a:latin typeface="Lato"/>
                <a:ea typeface="Lato"/>
                <a:cs typeface="Lato"/>
              </a:defRPr>
            </a:pPr>
            <a:r>
              <a:rPr sz="825" b="0" i="0">
                <a:solidFill>
                  <a:srgbClr val="D7E5EC"/>
                </a:solidFill>
                <a:latin typeface="Lato"/>
                <a:ea typeface="Lato"/>
                <a:cs typeface="Lato"/>
              </a:rPr>
              <a:t>Climate and Agriculture Risk Visualization and Assessment</a:t>
            </a:r>
          </a:p>
        </p:txBody>
      </p:sp>
    </p:spTree>
    <p:extLst>
      <p:ext uri="{BB962C8B-B14F-4D97-AF65-F5344CB8AC3E}">
        <p14:creationId xmlns:p14="http://schemas.microsoft.com/office/powerpoint/2010/main" val="1003402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1A1F29-3DD9-4C29-A925-FCDC0D44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Initial methodological problem in FAO project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2716A-1AEB-4864-88B4-7AB4ACF7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Climate analyses used heterogeneous access methods, preprocessing choices and indicator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7D978-3963-4419-982C-2ED951BF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64B11-5CE8-4060-ADCE-B298BC8F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085EF-BDA8-40A1-935C-D31F18DE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DB8DC-11D4-4C8D-95A4-5014F036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4645E-8CA1-4337-9010-736BEF7B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02618-1218-449A-87A0-C7FB9174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The recurring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391B9-0102-4153-885B-1EC31677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0D71A-C932-40E3-A018-3ECCD4B4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0027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Find and retrieve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6E404-647C-4C66-A2D7-643C1EE7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812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Search catalogues and download large collections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F264D-34E9-4F76-8060-4E956624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CC723-02E4-4E9E-8CF0-760C973E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67EBC-3FED-45CA-9F0A-02D598B7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Prepare the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5AAD1-FB08-4D18-A317-1DBA8DB8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Resolve grids, calendars, units and spatial subsets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AAD16-E158-4503-A7DF-4B6CA584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382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EBE17-6F32-4FDE-99F6-A3D22F0B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9C4AF-809E-4971-A5DE-DCD1626B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291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Rebuild the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A8832-0BCA-446A-86FD-90663932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012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Recreate indicators, figures and documentation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97E35-9591-43E1-AFA7-6924D287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752600"/>
            <a:ext cx="95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5A74D-EA0E-4460-84DB-483B2E10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81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C95C54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C95C54"/>
                </a:solidFill>
                <a:latin typeface="Lato"/>
                <a:ea typeface="Lato"/>
                <a:cs typeface="Lato"/>
              </a:rPr>
              <a:t>CONSEQUENCES FOR COMPARABILITY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D98C0D-64FB-451D-9D59-7B001AE5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717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9E6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A6760-DFF5-4D33-9A8D-C1F34DEB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717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C5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BF7E0-671E-4CFE-A88E-4368458E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3622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Reproducibility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AF960A-526B-48CE-8C03-0CA42164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762250"/>
            <a:ext cx="48958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205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Input datasets and transformations were not always recorded consistently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92ECD-9D2E-4CAC-9536-55C83AE6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623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E68596-B9A0-4F1B-9409-B4FDB921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623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600DCD-198B-480C-A0D7-E7FE8A39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3528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Comparability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34434C-01B1-446C-A6C3-7D4D703A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752850"/>
            <a:ext cx="48958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205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Indicators could differ across projects even when questions were similar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5A884-AB71-436E-9AB4-F529407C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529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9E6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C1716-F869-42BC-AD54-59B1B8E8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529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5C5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3A48B5-243F-4447-9ECF-90228E13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434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Interpretation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2C20D1-6678-49C5-B663-7408F843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743450"/>
            <a:ext cx="48958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205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Time spent on preparation reduced the time available for uncertainty analysis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874F2B-A6D5-4866-B0FF-D57FF2F3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86375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837D0E-D20E-4722-A43E-8F56F9E2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4292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4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The requirement was a documented and repeatable workflow for GCF climate rationales and adaptation analysis.</a:t>
            </a:r>
          </a:p>
        </p:txBody>
      </p:sp>
    </p:spTree>
    <p:extLst>
      <p:ext uri="{BB962C8B-B14F-4D97-AF65-F5344CB8AC3E}">
        <p14:creationId xmlns:p14="http://schemas.microsoft.com/office/powerpoint/2010/main" val="7916840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192F77-DE18-47E1-B956-E353332E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Role of climate information in an investment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D34CE-7CED-4962-9AA4-8898D4A3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Climate projections inform part of the evidence chain; they do not determine the investment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DF4CC-2384-4493-9E73-7685AFBC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10D68-0F4C-4AB8-A4FC-C80E797A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6D6F8-9081-4364-95F7-C1116CB3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9A0E7-8523-4DAC-ABFC-522FFED1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03A4F-2396-4C07-A295-4AD054C2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88CF5-5E2C-4180-A080-4A7BB7CF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683B3-B038-44AD-AD57-88F3B4C6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6C879-D7CE-4EF4-A2BF-AD504168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CLIMATE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8CE45-CD6C-4BEE-8574-79A68D9A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How could hazards change?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B89D2-3507-4676-8874-F4A51AC9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000375"/>
            <a:ext cx="37147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D0283-C6B6-486D-B9E3-EC7F465B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75D1B-02C6-4FBF-A77C-66C02315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48E5A-EF33-43BC-84EA-9CC02F5E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SYSTEM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7855F-8A91-4D5D-84B6-D0163E67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What is exposed and vulnerable?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B613E-03EA-45A9-A2D7-E8DA5D89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0375"/>
            <a:ext cx="37147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281D2-0D9A-4711-BB6E-0E7DB532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6ED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31A14-5175-4A8A-B27F-5478D04F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7C587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67C587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760E5-DB0E-400F-AB0B-48CAB0FE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PEOPLE &amp; ASSETS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AE2740-DAB1-419A-8724-776E3ADB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Who and what may be affected?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BDE1C7-C585-4915-AA9A-33D4954F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0375"/>
            <a:ext cx="37147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0E161E-82D0-4A31-95DA-A727BFDB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AF133-EB58-4D73-A43B-AF5C6166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B8B27-AE25-4367-A927-DF4A16A6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ADAPTATION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B5773-FC96-467A-A758-C8ADD526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Which options reduce the risk?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8AB067-11F8-4ED2-AB1B-91DDEBCF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0375"/>
            <a:ext cx="37147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DA6BB7-C141-4536-9AFD-0A56AF99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28850"/>
            <a:ext cx="1790700" cy="18288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304E"/>
          </a:solidFill>
          <a:ln xmlns:a="http://schemas.openxmlformats.org/drawingml/2006/main" w="9525">
            <a:solidFill>
              <a:srgbClr val="12304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9A2D3C-F325-4E02-BA41-36BDDEF3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4003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A24AC9-8C65-48F7-9B35-081BB8D3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38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INVESTMENT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CCD7EF-4603-40F5-AD21-F9DDBD0B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3909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D7E5EC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D7E5EC"/>
                </a:solidFill>
                <a:latin typeface="Lato"/>
                <a:ea typeface="Lato"/>
                <a:cs typeface="Lato"/>
              </a:rPr>
              <a:t>Why finance action now?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250316-93A1-4AD3-A456-AD3607E9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0896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EB1463-3C73-4E51-865F-12D3821E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7910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SCOPE OF CAVA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A3EF3B-7D9D-43B9-BB30-F360E46A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57775"/>
            <a:ext cx="10172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CAVA records data selection and processing from the model ensemble to derived indicators. Exposure, vulnerability, feasibility and financing require additional evidence.</a:t>
            </a:r>
          </a:p>
        </p:txBody>
      </p:sp>
    </p:spTree>
    <p:extLst>
      <p:ext uri="{BB962C8B-B14F-4D97-AF65-F5344CB8AC3E}">
        <p14:creationId xmlns:p14="http://schemas.microsoft.com/office/powerpoint/2010/main" val="9515986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968C2E-AF65-49D7-8752-4838A96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Development of CAVA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93DC4-B5D8-4050-B041-AF01EC92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The system expanded from internal scripts to shared services while retaining a common processing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9771E-FFBB-40BE-BF3A-CE0896AB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35C7B-427D-4334-9377-BB6330E8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319B5-AFB8-457A-970F-D98D3722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309F4-BCFB-4DFB-9923-33AC81E4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D478C-CCF4-4450-8DB6-9D2A0D99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F2B3B-4878-46BF-B972-5FEE2CDD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343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6B37D-FD48-4C97-8C0A-9A2BF051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D2441-922C-4D4F-BF97-6082E798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Internal FAO 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9107D-6B62-4AE6-94A1-7249ABD5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Reduce repeated technical work inside the climate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4DF2B-0DFD-4C86-8600-476769F2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76575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5FFA0-38BA-40CD-B4A1-C6A85DEC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2343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2F949-6B4D-4D7D-B64E-5B84C55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2955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64B41-2F81-4B3B-9247-BF04FA02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575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Shared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42DCD-2BDA-4129-BE84-951AE469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543300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Standardize access, preparation and indicators across projects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35F10-8BD2-4FA2-A879-25500204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76575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04A0A-9C3E-4207-82D8-F5FE3CBD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343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9E1EC-4CC0-4E99-8FE8-05E9C416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955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5F2B5-4146-447A-8836-2F31C1FB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Multiple entry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F0AC2-ADF9-4F5F-90F1-E71079EA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Serve guided users, analysts and developers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25F7F-04A3-4CD0-BD9F-3063065A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76575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4DA6D-038E-4EB8-9FB3-9E624835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95500"/>
            <a:ext cx="23431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2304E"/>
          </a:solidFill>
          <a:ln xmlns:a="http://schemas.openxmlformats.org/drawingml/2006/main" w="9525">
            <a:solidFill>
              <a:srgbClr val="12304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7CBB92-7B64-4D8F-93D9-453D83CF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2955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20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FE5EE-53DD-4F71-81E9-9F581002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575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Open implementation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207E22-0236-4E13-838B-D0D9AF89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543300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D7E5EC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D7E5EC"/>
                </a:solidFill>
                <a:latin typeface="Lato"/>
                <a:ea typeface="Lato"/>
                <a:cs typeface="Lato"/>
              </a:rPr>
              <a:t>Support external reuse and country-level deployments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A829D4-3F02-40E3-B2B4-86D07583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14900"/>
            <a:ext cx="853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1CD235-4E3A-4842-9F5A-A164A17A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95875"/>
            <a:ext cx="803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0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Current components include a web platform, R and Python packages, and shared backend services.</a:t>
            </a:r>
          </a:p>
        </p:txBody>
      </p:sp>
    </p:spTree>
    <p:extLst>
      <p:ext uri="{BB962C8B-B14F-4D97-AF65-F5344CB8AC3E}">
        <p14:creationId xmlns:p14="http://schemas.microsoft.com/office/powerpoint/2010/main" val="1248783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B4F66E-A217-446B-B8FE-685BCD19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CORDEX data characteristics relevant to CAVA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40038-A350-46A4-BB28-8CDA054D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Regional resolution and ensemble structure provide useful information but require explicit processing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BEF9C-CEE9-47A3-B720-C68B1169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9B98C-9146-4CF6-9D0C-941F48B7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85728-F282-4322-B80F-B7E78A6A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63F6F-D92F-40E7-A7EF-F9F0C212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36A93-EDD6-4F10-9F2D-2C3B4CA5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9BB87-9F21-4F18-BB8C-BCF65CB5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DATASET CHARACTERISTICS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D5269-7005-4C12-8D8E-A72A40D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5265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3600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~25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DCC8C-F32C-43E3-BBF7-1553E56B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95600"/>
            <a:ext cx="404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8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Coordinated regional climate information across major inhabited regions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C8901-3081-4E6E-85B5-F9B3CDE3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33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B210A-08D6-4F2D-9B70-28593300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671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Multi-model regional ensembles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4D301-76EF-4F6B-9803-C6627AB4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10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1E370-32F8-466B-9C67-5CF782FE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4340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Information on extremes and warming levels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37368-CBCE-480A-A4BB-572FB9CB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86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29D04-2BB1-474A-A6BA-133F0A98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196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Sustained community and computational investment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50A69-2D7B-40DF-B03E-6868BF93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52600"/>
            <a:ext cx="952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0960E-3B7A-444A-9542-B29A474F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TECHNICAL REUSE BARRIERS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BD840-F41D-4F91-A1E1-34C029AB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ARCHIVE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051E2-C6AA-4942-BA89-8E9CAD8C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Large NetCDF collections distributed across ESGF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87DF9D-95B9-4889-BFA6-174363F4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GRIDS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E92D3-BC61-4E83-9C07-923E8511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3370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Rotated or curvilinear coordinates require specialist handling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93F7B-CE02-48A8-8400-54DECC54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7CF14-61CB-48D1-A965-3FE89279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Calendars, units and long daily time series must be reconciled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719A4B-FAD8-49AD-A629-BB14AB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386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ENSEMBLES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1E75D7-F3B7-41CB-881C-F9AFA4E1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960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GCM, RCM, scenario and member choices must remain traceable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17E910-1C82-4A74-B602-DDB3B5C1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38750"/>
            <a:ext cx="5257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AB8A1-BCF0-464C-AED8-D12D88A7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72100"/>
            <a:ext cx="478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8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CAVA standardizes access and preprocessing while retaining the original model and scenario identifiers.</a:t>
            </a:r>
          </a:p>
        </p:txBody>
      </p:sp>
    </p:spTree>
    <p:extLst>
      <p:ext uri="{BB962C8B-B14F-4D97-AF65-F5344CB8AC3E}">
        <p14:creationId xmlns:p14="http://schemas.microsoft.com/office/powerpoint/2010/main" val="1174197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EF1269-66BB-42E5-9FE6-44CBAE71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CAVA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78F4E-F2C4-412A-9669-387FEDF8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Data access, processing services and user interfaces are separated but use common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95393-8D4B-4605-AFAF-3B0AB611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4EF63-9617-4365-860B-0AAB9213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3B991-EC95-41E5-8A06-25228352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51285-E820-470C-9C87-9C940D0E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A9408-67A5-4524-BD26-B3BE22B3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4328B-ED25-4E36-B8BC-064C65B1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8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63919-8B97-4EB2-A107-F1856566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43075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5EC99-6118-43D7-B620-0C32C4BB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526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ERA5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2ACFE-2507-4F92-9098-CA9A370C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669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CF9A4-132D-4B1B-8631-C8EC04E3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526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CORDEX-CORE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2E93F-1D8C-446F-B2E7-2D66ABC5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669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99663-B8B0-4555-8BEC-1CA3D554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CORDEX-CORE-BC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C49FF-DE98-4699-A6B9-A4083ECA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04DDE-14A7-4A07-AF00-0FD68468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526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Impact datasets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74579-7CA3-4870-B80C-D0555943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2667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2AEF4-3C29-43E4-9FAD-8BE2255D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8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SHARED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DF213-EFD9-49DA-A2E9-F5987686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57475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304E"/>
          </a:solidFill>
          <a:ln xmlns:a="http://schemas.openxmlformats.org/drawingml/2006/main" w="9525">
            <a:solidFill>
              <a:srgbClr val="12304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2943B-CC2C-41EC-95AD-D00BA5B3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670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Catalogue &amp; inventory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A9E7E-D153-4864-9481-1D748590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813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38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15972-474E-4E09-8E6B-03344759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670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Remote subsetting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BF8AC-5028-4377-8A7F-4C975C82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813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38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9B4097-16EA-49A6-A8DA-5E2E87C8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670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Harmonization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01F97-3BD8-4E66-AB55-2471143F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7813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38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60ADE-0225-44AA-AB3F-4D974D7D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670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Indicators &amp; provenance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BCD435-2FA9-401D-B9B0-125E53F9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2667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7A991-7632-4E56-AEEA-AD84665B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8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8D7A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8D7A"/>
                </a:solidFill>
                <a:latin typeface="Lato"/>
                <a:ea typeface="Lato"/>
                <a:cs typeface="Lato"/>
              </a:rPr>
              <a:t>ENTRY POINTS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19C9D9-F6C7-4C96-9C7D-82B5038E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CB034-2D3D-40ED-91C9-5C43EF74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814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CAVA 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7FAC8E-C9F7-4B99-936A-058D8B95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6957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1768C9-5C3E-4E43-B5A2-684C46ED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814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 SDK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C18972-1508-42FF-A96D-F61FBBC3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957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AC2E21-15FF-4B4B-88B4-62C543F7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814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Python SDK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68218D-3AD0-4651-808B-4649AC70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957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BB9E43-95DA-4F3D-8C71-9CABF401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814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Backend APIs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22CAC4-8E9A-481C-96E6-B81798DE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86250"/>
            <a:ext cx="2667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99B8B1-4A24-4AA6-B8AD-F95BB44E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8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PRODUCTS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80C83A-23AD-4105-96D9-7A72E40D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86275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8A9C72-2BEF-4288-98AD-601DD760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95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Maps &amp; reports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C7BE16-538A-45AB-AF2D-DB006677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101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ABFCB5-FC77-45AC-B0FB-1F204438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95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Reproducible analysis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437910-0E70-4641-96A6-8059D0C2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101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D80634-C656-4FD7-A300-F0AD7613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95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Downstream models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659B86-146A-4A64-ABD1-E9E838D8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610100"/>
            <a:ext cx="95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6DC2B9-CD0C-4B0A-B3C6-7FB0676B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95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Country systems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337F70-84D1-4AF8-9D91-6F07F25D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95925"/>
            <a:ext cx="8991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5BBC38-8D89-444F-874D-461C2167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591175"/>
            <a:ext cx="8553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Interfaces differ by user group; dataset identifiers, processing rules and provenance use the same backend.</a:t>
            </a:r>
          </a:p>
        </p:txBody>
      </p:sp>
    </p:spTree>
    <p:extLst>
      <p:ext uri="{BB962C8B-B14F-4D97-AF65-F5344CB8AC3E}">
        <p14:creationId xmlns:p14="http://schemas.microsoft.com/office/powerpoint/2010/main" val="13864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24EF75-E665-423C-BF8F-7E43C432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Analytical workflow for CORDEX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33223-BF11-4ACD-996C-44857B8D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The workflow separates data operations from interpretation and records the main uncertainty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D9037-F8A1-4FF8-B8EC-A4772575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07107-D335-4E8F-8E56-2064BBA1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97D99-4965-4EFF-855F-D4BE3C7F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5992C-1B4C-40ED-8E9A-5E477E64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0C493-3A00-4409-8E52-EED0A017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8E194-4355-4F40-888E-7795CE68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74176-708B-41E8-AC59-94B82DC7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33F7E-88B7-4E4D-AAF4-B107A158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478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04F21-C69C-41FD-9C65-E5C4A1F3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Investment geography and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B6D87-FCAF-4317-9AE3-937DE960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81250"/>
            <a:ext cx="2952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2908D-2473-4848-AEB7-34E5F98A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86078-3F58-4BF3-A052-740EDB0D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574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78971-A77D-4D42-BEDD-CFFBB75D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478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Ensemble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5370A-B24D-476A-AD9B-57C59E1A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Domain, scenarios, GCMs, RCMs and members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6BC1B-F1DB-4215-9E9F-75185A43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2952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044E2-CECD-4644-8BF0-EAE15553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FDF7F-1A70-4EDF-A4AA-AB1C2D0F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A0C7C-4EA6-4403-9BDF-914C3F1A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478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Data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55416-F5B7-4A81-A988-2897A8A0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Spatial and temporal subset with source identifiers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5905C-D61B-4A20-9839-DFDB2E7F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152775"/>
            <a:ext cx="26670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67DED-6267-46D2-8BFE-4744BBE6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5A61B2-8959-4F60-A937-B30E493A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EA3107-C4F3-42F5-BC64-B696D176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004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Preprocessing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9B0D9-F0C1-4311-A238-9E06DDCD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Grid, calendar, units and optional bias adjustment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C0DCD7-7564-4869-AD11-2235B5E2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33850"/>
            <a:ext cx="2952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9D68A7-34A3-4AC3-B2E2-0FEBE529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6B3BB9-C471-4FAB-AB78-91748AD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100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469EFC-D6C5-456D-8825-327AFF8A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004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Indicators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A68ACB-E8AA-4FAC-B789-7D3678B1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672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Baseline, future periods and aggregation choices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15A793-E755-4584-B401-BFAB0A54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33850"/>
            <a:ext cx="2952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218BCC-4456-4657-B753-640D31DB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13409E-8493-44AB-99D0-37517DD4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E08A70-CD03-48F6-843F-297271FE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00475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Interpretation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E8BC08-F28D-45EB-A8AD-766D91F6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67200"/>
            <a:ext cx="2914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Signal, spread, limitations and relevance to the decision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BD8F21-3E61-43CE-A379-D8860836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076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99BA6E-B2E4-4962-8CD2-8DF8C516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14975"/>
            <a:ext cx="1030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Outputs should report ensemble composition, reference period, transformations and uncertainty alongside the indicator.</a:t>
            </a:r>
          </a:p>
        </p:txBody>
      </p:sp>
    </p:spTree>
    <p:extLst>
      <p:ext uri="{BB962C8B-B14F-4D97-AF65-F5344CB8AC3E}">
        <p14:creationId xmlns:p14="http://schemas.microsoft.com/office/powerpoint/2010/main" val="17947046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15262D-6B0E-4FEE-927D-55C903D3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Current evidence base for investment applications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E8EB4-1725-41D2-8E11-DE75077A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Portfolio estimates require a defined denominator, time period and attribution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4374D-8252-487F-8B9C-A0373CFF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76172-E1C0-4865-AC6B-22F42C00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C5C52-768F-45BE-B72C-7BBA4BDD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5C8C5-5C08-4231-982C-96B22321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B5D03-B7BE-4192-A1FE-CEF7ABF2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0D5B3-20C7-49F9-992C-D67E5C94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PROVISIONAL PORTFOLIO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43814-AA5D-4049-BF0E-415AE3E8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52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Annual value of projects using CAVA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E0143-1F60-4B02-B869-73CE535F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87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$XX million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B8F3E-6F8C-4D30-9833-84DE8566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17170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Specify approval year and currency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33DAB-207D-4A7E-AF72-45DC913D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6E65D-2AD8-46F5-BA5E-E091CC58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43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Geographic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77FC2-4F0D-4A75-9D71-10D1E7A4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0515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5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1875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[XX] countries or regions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CA3E6-310B-4DA5-A47B-0FF4290B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6230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Distinguish national and multi-country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EC8B9-CE34-4B5F-89A7-F53F9A72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C7F0E-1CD4-4679-A3C3-255DD891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33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Investment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43B5C-F4EE-4652-A6C9-EE2EA7F7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9575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1875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[XX] projects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A119C-53F1-4DE7-BE49-CB33A997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15290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Define whether concept notes and approved projects both 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101C7-73B5-4075-A40B-C214EA25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951A1-15C1-4A4C-A6EA-9D9FB904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ATTRIBUTION CRITERIA TO 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D7FE3D-22D0-40B6-940A-554B5573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04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75" b="0" i="0">
                <a:solidFill>
                  <a:srgbClr val="12304E"/>
                </a:solidFill>
                <a:latin typeface="Lato"/>
                <a:ea typeface="Lato"/>
                <a:cs typeface="Lato"/>
              </a:rPr>
              <a:t>Minimum criterion: the CAVA/CORDEX analysis appears in the project climate rationale or directly informs an adaptation option. Record the dataset version, analytical period and responsible analysis team.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C0240-7DFA-410A-9B84-E84EAAA0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076450"/>
            <a:ext cx="381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026612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7C18C-8895-4888-8F9E-93203428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Case studies and peer-reviewed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A6E44-1F6E-4B8C-83B0-EF4856BB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Each example should report the data configuration, method, uncertainty treatment and decision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D7013-819F-406E-9970-D0853F66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69638-77E6-4D6D-AD93-65D10C5C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1CAD6-61A1-4747-BD0A-C291DA8F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54717-3BE8-4946-807B-CB10E0C0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9E298-437E-484A-BB16-F823E47E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83128-7612-4EB7-85CE-5DD73FF7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81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INVESTMENT CASE STUDIES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59E36-8F2C-48B7-9065-E7F3A84F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67056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06FB3-E6B9-443A-AF34-3B163353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5715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13349-DA20-4D3B-B6EB-E96D9BEA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Case study 01 — [country / programme]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22C43-027E-43FC-A0D0-40D23DA5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626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CORDEX configuration: [domain, GCM–RCM set, scenario]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Method: [indicator, baseline, future period, bias adjustment]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Use in project: [specific decision or analytical conclusion]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618A7-BCD4-4546-A0E5-FD0EFBA1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67056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B0E72-D900-40A0-9AF6-728AF6AB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5715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7DB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0933E-5BC3-4F36-99BE-40FDC9EB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Case study 02 — [country / programme]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739C2-46D2-4F61-95CA-5249DDB0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626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CORDEX configuration: [domain, GCM–RCM set, scenario]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Method: [indicator, baseline, future period, bias adjustment]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Use in project: [specific decision or analytical conclusion]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180CD-6B49-4538-985F-FEA2D15C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811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PEER-REVIEWED PUBLICATIONS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D9195-B604-4608-9E1E-DFF670E9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114550"/>
            <a:ext cx="3333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F2B63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F7558-8EA2-4680-857A-5F6DEA2E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[Paper title]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99FDC-F835-49BA-8CCC-E6870F5B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9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[Authors, journal, year, DOI]</a:t>
            </a:r>
          </a:p>
          <a:p xmlns:a="http://schemas.openxmlformats.org/drawingml/2006/main">
            <a:pPr algn="l">
              <a:lnSpc>
                <a:spcPct val="109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[Dataset and principal methodological result]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43D429-70A6-4948-A385-03341667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90950"/>
            <a:ext cx="33337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137DB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546B9-A45C-471E-A1CE-6F7B02A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19550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4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[Paper title]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47A5BD-2769-4732-8E5F-9F0FC40E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339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9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[Authors, journal, year, DOI]</a:t>
            </a:r>
          </a:p>
          <a:p xmlns:a="http://schemas.openxmlformats.org/drawingml/2006/main">
            <a:pPr algn="l">
              <a:lnSpc>
                <a:spcPct val="109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[Dataset and principal methodological result]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761BCB-0C80-46B3-9222-78A86265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14975"/>
            <a:ext cx="50292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8E9E6"/>
          </a:solidFill>
          <a:ln xmlns:a="http://schemas.openxmlformats.org/drawingml/2006/main" w="9525">
            <a:solidFill>
              <a:srgbClr val="C95C5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B60540-398F-4DBD-93B7-055E3F7B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022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00" b="1" i="0">
                <a:solidFill>
                  <a:srgbClr val="C95C54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C95C54"/>
                </a:solidFill>
                <a:latin typeface="Lato"/>
                <a:ea typeface="Lato"/>
                <a:cs typeface="Lato"/>
              </a:rPr>
              <a:t>REPLACE ALL PLACEHOLDERS BEFORE CIRCULATION</a:t>
            </a:r>
          </a:p>
        </p:txBody>
      </p:sp>
    </p:spTree>
    <p:extLst>
      <p:ext uri="{BB962C8B-B14F-4D97-AF65-F5344CB8AC3E}">
        <p14:creationId xmlns:p14="http://schemas.microsoft.com/office/powerpoint/2010/main" val="4617176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B34FDD-1024-45F3-879C-40623C94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Topics for scientific coordination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5AEA6-776A-4168-89F5-F1755698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Potential areas where CAVA implementation experience may inform CORDEX data use and guidance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7EBA6-DCF9-466F-B9B2-67CCA81E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093FF-2F9C-4768-8CB7-40DEAD8F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573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7E306-38D3-4886-B6F7-3AF6D52C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62CCD-730B-465E-ACF8-25629C1E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531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× CORDEX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4C8BA-76FB-4E1E-86C7-E69A80AB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B26C0-4424-4F75-8AE2-5D1C2823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EXCHANGE OF TECHNICAL INFORMATION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D166F-8A1A-4CFA-BDF3-C119BE6A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619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DCFBA-DFB9-4446-BD64-10494E32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CORDEX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F501A-44A6-4A5A-8F3A-7A1FF69F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764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Dataset availability, metadata conventions and interpretation guidance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D33BA-34D7-460B-ACF9-66B646DF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5619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830AC-A031-47D5-A78E-181EB8BE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CAVA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1EB08-094D-4C1D-951A-79976AE3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813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9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Observed access constraints and methodological questions from applied analyses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BFBB7-C9A3-4946-A6B5-259CDA03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5619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DCE5E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92B27-81A3-4D86-9E3D-8730C804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11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JOINT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74648-1081-438B-AB33-20D34456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862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9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Provenance standards, country implementation tests and documented use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62CA7-D2C4-4530-BFF0-58523B9A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5260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C7A24-B378-4D3B-B547-3E9EB896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811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QUESTIONS FOR DISCUSSION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A0D2C-14C1-4240-AE8A-8FE413BB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54621-8990-4C9D-9E5D-54F5B622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19325"/>
            <a:ext cx="3276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Which CORDEX ensembles and metadata fields should CAVA prioritize?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58E59-7B5F-40DD-B10B-E7DBE29A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3914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B8318-DF2A-4AF1-8F79-6AA9F2CF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289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00A88F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00A88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BD99F-FAF0-40A1-9844-C2B81465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9925"/>
            <a:ext cx="3276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What minimum information should accompany derived indicators?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099A6-F4DA-4C19-AC26-6F512CA7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914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B9FD4C-40E6-45BB-892A-7F2F99C1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195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F2B632"/>
                </a:solidFill>
                <a:latin typeface="Lato"/>
                <a:ea typeface="Lato"/>
                <a:cs typeface="Lato"/>
              </a:defRPr>
            </a:pPr>
            <a:r>
              <a:rPr sz="1575" b="1" i="0">
                <a:solidFill>
                  <a:srgbClr val="F2B632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7DE9A9-8DB6-4E9D-938A-916F6FA6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00525"/>
            <a:ext cx="3276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How should country products combine CORDEX and national observations?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549F0E-15A0-4801-9EF8-8F192007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48275"/>
            <a:ext cx="39147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E9D332-633F-41E8-AF8A-E5C3D7FA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81625"/>
            <a:ext cx="3457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Objective: maintain traceability from the CORDEX archive to each derived result used in project analysis.</a:t>
            </a:r>
          </a:p>
        </p:txBody>
      </p:sp>
    </p:spTree>
    <p:extLst>
      <p:ext uri="{BB962C8B-B14F-4D97-AF65-F5344CB8AC3E}">
        <p14:creationId xmlns:p14="http://schemas.microsoft.com/office/powerpoint/2010/main" val="1163846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2026-09-23T11:13:55.2810000Z</dcterms:created>
  <dcterms:modified xsi:type="dcterms:W3CDTF">2026-09-23T11:13:55.2810000Z</dcterms:modified>
</coreProperties>
</file>