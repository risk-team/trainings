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94db88aee44e44" /><Relationship Type="http://schemas.openxmlformats.org/officeDocument/2006/relationships/extended-properties" Target="/docProps/app.xml" Id="Rc91ad493bbad455a" /><Relationship Type="http://schemas.openxmlformats.org/officeDocument/2006/relationships/officeDocument" Target="/ppt/presentation.xml" Id="Rb89827c42ee74ead" /></Relationships>
</file>

<file path=ppt/presentation.xml><?xml version="1.0" encoding="utf-8"?>
<p:presentation xmlns:p="http://schemas.openxmlformats.org/presentationml/2006/main">
  <p:sldMasterIdLst>
    <p:sldMasterId xmlns:r="http://schemas.openxmlformats.org/officeDocument/2006/relationships" id="2147483648" r:id="Rb90addaa0638441d"/>
  </p:sldMasterIdLst>
  <p:notesMasterIdLst>
    <p:notesMasterId xmlns:r="http://schemas.openxmlformats.org/officeDocument/2006/relationships" r:id="Rc850d1397f914965"/>
  </p:notesMasterIdLst>
  <p:sldIdLst>
    <p:sldId xmlns:r="http://schemas.openxmlformats.org/officeDocument/2006/relationships" id="256" r:id="R3d12fa8630ce48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a7f87978554d84" /><Relationship Type="http://schemas.openxmlformats.org/officeDocument/2006/relationships/slideMaster" Target="/ppt/slideMasters/slideMaster1.xml" Id="Rb90addaa0638441d" /><Relationship Type="http://schemas.openxmlformats.org/officeDocument/2006/relationships/notesMaster" Target="/ppt/notesMasters/notesMaster1.xml" Id="Rc850d1397f914965" /><Relationship Type="http://schemas.openxmlformats.org/officeDocument/2006/relationships/presProps" Target="/ppt/presProps.xml" Id="R69ed7613d24141ea" /><Relationship Type="http://schemas.openxmlformats.org/officeDocument/2006/relationships/tableStyles" Target="/ppt/tableStyles.xml" Id="R081d043af2ba4467" /><Relationship Type="http://schemas.openxmlformats.org/officeDocument/2006/relationships/slide" Target="/ppt/slides/slide1.xml" Id="R3d12fa8630ce48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f1820f92bb48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7a959ba1a84483" /><Relationship Type="http://schemas.openxmlformats.org/officeDocument/2006/relationships/notesMaster" Target="/ppt/notesMasters/notesMaster1.xml" Id="R3a0140e0d5114a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 CAVA addresses the technical bottleneck between climate archives and analysis. Users often repeat discovery, retrieval, subsetting, grid and calendar handling, harmonization and documentation. CAVA provides shared access and processing through web tools, R and Python tools, and backend APIs. It preserves scientific decisions such as dataset, model, scenario and method. Sources: https://www.fao.org/agroinformatics/news/news-detail/fao-digital-solutions-now-available-as-open-source--cava-and-ex-act/en ;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17ec83334a4e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cec2157da04b38" /><Relationship Type="http://schemas.openxmlformats.org/officeDocument/2006/relationships/slideLayout" Target="/ppt/slideLayouts/slideLayout1.xml" Id="R8a2d470dcb574b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2d470dcb574b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2db3bd14ae4cfa" /><Relationship Type="http://schemas.openxmlformats.org/officeDocument/2006/relationships/notesSlide" Target="/ppt/notesSlides/notesSlide1.xml" Id="Re4c10845abc24bc8"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742E8E9F-F14B-43AE-8D47-0F06D0ACA10B}"/>
              </a:ext>
            </a:extLst>
          </p:cNvPr>
          <p:cNvSpPr>
            <a:spLocks xmlns:a="http://schemas.openxmlformats.org/drawingml/2006/main" noGrp="1"/>
          </p:cNvSpPr>
          <p:nvPr/>
        </p:nvSpPr>
        <p:spPr>
          <a:xfrm xmlns:a="http://schemas.openxmlformats.org/drawingml/2006/main">
            <a:off x="647700" y="381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12304E"/>
                </a:solidFill>
                <a:latin typeface="Lato"/>
                <a:ea typeface="Lato"/>
                <a:cs typeface="Lato"/>
              </a:defRPr>
            </a:pPr>
            <a:r>
              <a:rPr sz="2250" b="1" i="0">
                <a:solidFill>
                  <a:srgbClr val="12304E"/>
                </a:solidFill>
                <a:latin typeface="Lato"/>
                <a:ea typeface="Lato"/>
                <a:cs typeface="Lato"/>
              </a:rPr>
              <a:t>What problem does CAVA solve?</a:t>
            </a:r>
          </a:p>
        </p:txBody>
      </p:sp>
      <p:sp>
        <p:nvSpPr>
          <p:cNvPr id="2" name="">
            <a:extLst xmlns:a="http://schemas.openxmlformats.org/drawingml/2006/main">
              <a:ext uri="{FF2B5EF4-FFF2-40B4-BE49-F238E27FC236}">
                <a16:creationId xmlns:a16="http://schemas.microsoft.com/office/drawing/2014/main" id="{50D18A99-9F40-47C6-89AC-DB09CBBE6858}"/>
              </a:ext>
            </a:extLst>
          </p:cNvPr>
          <p:cNvSpPr>
            <a:spLocks xmlns:a="http://schemas.openxmlformats.org/drawingml/2006/main" noGrp="1"/>
          </p:cNvSpPr>
          <p:nvPr/>
        </p:nvSpPr>
        <p:spPr>
          <a:xfrm xmlns:a="http://schemas.openxmlformats.org/drawingml/2006/main">
            <a:off x="657225" y="9334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Climate archives contain valuable information, but users repeatedly perform specialist preparation before analysis can begin</a:t>
            </a:r>
          </a:p>
        </p:txBody>
      </p:sp>
      <p:sp>
        <p:nvSpPr>
          <p:cNvPr id="3" name="">
            <a:extLst xmlns:a="http://schemas.openxmlformats.org/drawingml/2006/main">
              <a:ext uri="{FF2B5EF4-FFF2-40B4-BE49-F238E27FC236}">
                <a16:creationId xmlns:a16="http://schemas.microsoft.com/office/drawing/2014/main" id="{0CD6CD05-1DC6-49F4-94C9-14A5DC11CA3D}"/>
              </a:ext>
            </a:extLst>
          </p:cNvPr>
          <p:cNvSpPr>
            <a:spLocks xmlns:a="http://schemas.openxmlformats.org/drawingml/2006/main" noGrp="1"/>
          </p:cNvSpPr>
          <p:nvPr/>
        </p:nvSpPr>
        <p:spPr>
          <a:xfrm xmlns:a="http://schemas.openxmlformats.org/drawingml/2006/main">
            <a:off x="647700" y="13049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7C69C3-C32A-47B1-A75A-475F4B9732B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3DA400-D74C-4D32-A224-7BAD6DF37DE4}"/>
              </a:ext>
            </a:extLst>
          </p:cNvPr>
          <p:cNvSpPr>
            <a:spLocks xmlns:a="http://schemas.openxmlformats.org/drawingml/2006/main" noGrp="1"/>
          </p:cNvSpPr>
          <p:nvPr/>
        </p:nvSpPr>
        <p:spPr>
          <a:xfrm xmlns:a="http://schemas.openxmlformats.org/drawingml/2006/main">
            <a:off x="647700" y="1695450"/>
            <a:ext cx="3524250" cy="3476625"/>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EBC5AAA-3146-4017-9774-A4B6368ADD01}"/>
              </a:ext>
            </a:extLst>
          </p:cNvPr>
          <p:cNvSpPr>
            <a:spLocks xmlns:a="http://schemas.openxmlformats.org/drawingml/2006/main" noGrp="1"/>
          </p:cNvSpPr>
          <p:nvPr/>
        </p:nvSpPr>
        <p:spPr>
          <a:xfrm xmlns:a="http://schemas.openxmlformats.org/drawingml/2006/main">
            <a:off x="876300" y="19050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A86F00"/>
                </a:solidFill>
                <a:latin typeface="Lato"/>
                <a:ea typeface="Lato"/>
                <a:cs typeface="Lato"/>
              </a:defRPr>
            </a:pPr>
            <a:r>
              <a:rPr sz="900" b="1" i="0">
                <a:solidFill>
                  <a:srgbClr val="A86F00"/>
                </a:solidFill>
                <a:latin typeface="Lato"/>
                <a:ea typeface="Lato"/>
                <a:cs typeface="Lato"/>
              </a:rPr>
              <a:t>THE BOTTLENECK</a:t>
            </a:r>
          </a:p>
        </p:txBody>
      </p:sp>
      <p:sp>
        <p:nvSpPr>
          <p:cNvPr id="7" name="">
            <a:extLst xmlns:a="http://schemas.openxmlformats.org/drawingml/2006/main">
              <a:ext uri="{FF2B5EF4-FFF2-40B4-BE49-F238E27FC236}">
                <a16:creationId xmlns:a16="http://schemas.microsoft.com/office/drawing/2014/main" id="{5D587723-4378-4346-A55D-8EFABCC99E63}"/>
              </a:ext>
            </a:extLst>
          </p:cNvPr>
          <p:cNvSpPr>
            <a:spLocks xmlns:a="http://schemas.openxmlformats.org/drawingml/2006/main" noGrp="1"/>
          </p:cNvSpPr>
          <p:nvPr/>
        </p:nvSpPr>
        <p:spPr>
          <a:xfrm xmlns:a="http://schemas.openxmlformats.org/drawingml/2006/main">
            <a:off x="876300" y="2209800"/>
            <a:ext cx="2876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152"/>
          </a:bodyPr>
          <a:lstStyle xmlns:a="http://schemas.openxmlformats.org/drawingml/2006/main"/>
          <a:p xmlns:a="http://schemas.openxmlformats.org/drawingml/2006/main">
            <a:pPr algn="l">
              <a:lnSpc>
                <a:spcPct val="102000"/>
              </a:lnSpc>
              <a:buNone/>
              <a:defRPr sz="1650" b="1" i="0">
                <a:solidFill>
                  <a:srgbClr val="12304E"/>
                </a:solidFill>
                <a:latin typeface="Lato"/>
                <a:ea typeface="Lato"/>
                <a:cs typeface="Lato"/>
              </a:defRPr>
            </a:pPr>
            <a:r>
              <a:rPr sz="1650" b="1" i="0">
                <a:solidFill>
                  <a:srgbClr val="12304E"/>
                </a:solidFill>
                <a:latin typeface="Lato"/>
                <a:ea typeface="Lato"/>
                <a:cs typeface="Lato"/>
              </a:rPr>
              <a:t>The same technical work starts again for each dataset and analysis</a:t>
            </a:r>
          </a:p>
        </p:txBody>
      </p:sp>
      <p:sp>
        <p:nvSpPr>
          <p:cNvPr id="8" name="">
            <a:extLst xmlns:a="http://schemas.openxmlformats.org/drawingml/2006/main">
              <a:ext uri="{FF2B5EF4-FFF2-40B4-BE49-F238E27FC236}">
                <a16:creationId xmlns:a16="http://schemas.microsoft.com/office/drawing/2014/main" id="{6DAF2BBA-58F4-44F9-BB98-B618FD4D54B8}"/>
              </a:ext>
            </a:extLst>
          </p:cNvPr>
          <p:cNvSpPr>
            <a:spLocks xmlns:a="http://schemas.openxmlformats.org/drawingml/2006/main" noGrp="1"/>
          </p:cNvSpPr>
          <p:nvPr/>
        </p:nvSpPr>
        <p:spPr>
          <a:xfrm xmlns:a="http://schemas.openxmlformats.org/drawingml/2006/main">
            <a:off x="876300" y="30289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A86F00"/>
                </a:solidFill>
                <a:latin typeface="Lato"/>
                <a:ea typeface="Lato"/>
                <a:cs typeface="Lato"/>
              </a:defRPr>
            </a:pPr>
            <a:r>
              <a:rPr sz="900" b="1" i="0">
                <a:solidFill>
                  <a:srgbClr val="A86F00"/>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29BD27A7-A1CD-4C7C-BA4C-F420C9FFC57B}"/>
              </a:ext>
            </a:extLst>
          </p:cNvPr>
          <p:cNvSpPr>
            <a:spLocks xmlns:a="http://schemas.openxmlformats.org/drawingml/2006/main" noGrp="1"/>
          </p:cNvSpPr>
          <p:nvPr/>
        </p:nvSpPr>
        <p:spPr>
          <a:xfrm xmlns:a="http://schemas.openxmlformats.org/drawingml/2006/main">
            <a:off x="1333500" y="300990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Find and retrieve the right files</a:t>
            </a:r>
          </a:p>
        </p:txBody>
      </p:sp>
      <p:sp>
        <p:nvSpPr>
          <p:cNvPr id="10" name="">
            <a:extLst xmlns:a="http://schemas.openxmlformats.org/drawingml/2006/main">
              <a:ext uri="{FF2B5EF4-FFF2-40B4-BE49-F238E27FC236}">
                <a16:creationId xmlns:a16="http://schemas.microsoft.com/office/drawing/2014/main" id="{C1CEB935-0FFB-4636-8DA6-29409901C347}"/>
              </a:ext>
            </a:extLst>
          </p:cNvPr>
          <p:cNvSpPr>
            <a:spLocks xmlns:a="http://schemas.openxmlformats.org/drawingml/2006/main" noGrp="1"/>
          </p:cNvSpPr>
          <p:nvPr/>
        </p:nvSpPr>
        <p:spPr>
          <a:xfrm xmlns:a="http://schemas.openxmlformats.org/drawingml/2006/main">
            <a:off x="1333500" y="3352800"/>
            <a:ext cx="2400300" cy="9525"/>
          </a:xfrm>
          <a:prstGeom xmlns:a="http://schemas.openxmlformats.org/drawingml/2006/main" prst="rect">
            <a:avLst/>
          </a:prstGeom>
          <a:solidFill xmlns:a="http://schemas.openxmlformats.org/drawingml/2006/main">
            <a:srgbClr val="E5D6A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BF2BB4E-8A30-4B1F-89B8-730BD9200C24}"/>
              </a:ext>
            </a:extLst>
          </p:cNvPr>
          <p:cNvSpPr>
            <a:spLocks xmlns:a="http://schemas.openxmlformats.org/drawingml/2006/main" noGrp="1"/>
          </p:cNvSpPr>
          <p:nvPr/>
        </p:nvSpPr>
        <p:spPr>
          <a:xfrm xmlns:a="http://schemas.openxmlformats.org/drawingml/2006/main">
            <a:off x="876300" y="350520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A86F00"/>
                </a:solidFill>
                <a:latin typeface="Lato"/>
                <a:ea typeface="Lato"/>
                <a:cs typeface="Lato"/>
              </a:defRPr>
            </a:pPr>
            <a:r>
              <a:rPr sz="900" b="1" i="0">
                <a:solidFill>
                  <a:srgbClr val="A86F00"/>
                </a:solidFill>
                <a:latin typeface="Lato"/>
                <a:ea typeface="Lato"/>
                <a:cs typeface="Lato"/>
              </a:rPr>
              <a:t>02</a:t>
            </a:r>
          </a:p>
        </p:txBody>
      </p:sp>
      <p:sp>
        <p:nvSpPr>
          <p:cNvPr id="12" name="">
            <a:extLst xmlns:a="http://schemas.openxmlformats.org/drawingml/2006/main">
              <a:ext uri="{FF2B5EF4-FFF2-40B4-BE49-F238E27FC236}">
                <a16:creationId xmlns:a16="http://schemas.microsoft.com/office/drawing/2014/main" id="{62BB611D-B79A-4601-934E-C16665469185}"/>
              </a:ext>
            </a:extLst>
          </p:cNvPr>
          <p:cNvSpPr>
            <a:spLocks xmlns:a="http://schemas.openxmlformats.org/drawingml/2006/main" noGrp="1"/>
          </p:cNvSpPr>
          <p:nvPr/>
        </p:nvSpPr>
        <p:spPr>
          <a:xfrm xmlns:a="http://schemas.openxmlformats.org/drawingml/2006/main">
            <a:off x="1333500" y="348615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9"/>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Decode grids, calendars and units</a:t>
            </a:r>
          </a:p>
        </p:txBody>
      </p:sp>
      <p:sp>
        <p:nvSpPr>
          <p:cNvPr id="13" name="">
            <a:extLst xmlns:a="http://schemas.openxmlformats.org/drawingml/2006/main">
              <a:ext uri="{FF2B5EF4-FFF2-40B4-BE49-F238E27FC236}">
                <a16:creationId xmlns:a16="http://schemas.microsoft.com/office/drawing/2014/main" id="{982B325A-070B-4004-8DCD-1342120DD302}"/>
              </a:ext>
            </a:extLst>
          </p:cNvPr>
          <p:cNvSpPr>
            <a:spLocks xmlns:a="http://schemas.openxmlformats.org/drawingml/2006/main" noGrp="1"/>
          </p:cNvSpPr>
          <p:nvPr/>
        </p:nvSpPr>
        <p:spPr>
          <a:xfrm xmlns:a="http://schemas.openxmlformats.org/drawingml/2006/main">
            <a:off x="1333500" y="3829050"/>
            <a:ext cx="2400300" cy="9525"/>
          </a:xfrm>
          <a:prstGeom xmlns:a="http://schemas.openxmlformats.org/drawingml/2006/main" prst="rect">
            <a:avLst/>
          </a:prstGeom>
          <a:solidFill xmlns:a="http://schemas.openxmlformats.org/drawingml/2006/main">
            <a:srgbClr val="E5D6A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CE1EEDD-D91B-45B3-A2A7-9CC63E79121B}"/>
              </a:ext>
            </a:extLst>
          </p:cNvPr>
          <p:cNvSpPr>
            <a:spLocks xmlns:a="http://schemas.openxmlformats.org/drawingml/2006/main" noGrp="1"/>
          </p:cNvSpPr>
          <p:nvPr/>
        </p:nvSpPr>
        <p:spPr>
          <a:xfrm xmlns:a="http://schemas.openxmlformats.org/drawingml/2006/main">
            <a:off x="876300" y="39814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A86F00"/>
                </a:solidFill>
                <a:latin typeface="Lato"/>
                <a:ea typeface="Lato"/>
                <a:cs typeface="Lato"/>
              </a:defRPr>
            </a:pPr>
            <a:r>
              <a:rPr sz="900" b="1" i="0">
                <a:solidFill>
                  <a:srgbClr val="A86F00"/>
                </a:solidFill>
                <a:latin typeface="Lato"/>
                <a:ea typeface="Lato"/>
                <a:cs typeface="Lato"/>
              </a:rPr>
              <a:t>03</a:t>
            </a:r>
          </a:p>
        </p:txBody>
      </p:sp>
      <p:sp>
        <p:nvSpPr>
          <p:cNvPr id="15" name="">
            <a:extLst xmlns:a="http://schemas.openxmlformats.org/drawingml/2006/main">
              <a:ext uri="{FF2B5EF4-FFF2-40B4-BE49-F238E27FC236}">
                <a16:creationId xmlns:a16="http://schemas.microsoft.com/office/drawing/2014/main" id="{38C660DA-E7FF-49C7-A3B1-D05BA72051B7}"/>
              </a:ext>
            </a:extLst>
          </p:cNvPr>
          <p:cNvSpPr>
            <a:spLocks xmlns:a="http://schemas.openxmlformats.org/drawingml/2006/main" noGrp="1"/>
          </p:cNvSpPr>
          <p:nvPr/>
        </p:nvSpPr>
        <p:spPr>
          <a:xfrm xmlns:a="http://schemas.openxmlformats.org/drawingml/2006/main">
            <a:off x="1333500" y="396240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Subset, reproject and harmonize</a:t>
            </a:r>
          </a:p>
        </p:txBody>
      </p:sp>
      <p:sp>
        <p:nvSpPr>
          <p:cNvPr id="16" name="">
            <a:extLst xmlns:a="http://schemas.openxmlformats.org/drawingml/2006/main">
              <a:ext uri="{FF2B5EF4-FFF2-40B4-BE49-F238E27FC236}">
                <a16:creationId xmlns:a16="http://schemas.microsoft.com/office/drawing/2014/main" id="{87B20A51-4EB9-44BB-B7D6-BB67561699AB}"/>
              </a:ext>
            </a:extLst>
          </p:cNvPr>
          <p:cNvSpPr>
            <a:spLocks xmlns:a="http://schemas.openxmlformats.org/drawingml/2006/main" noGrp="1"/>
          </p:cNvSpPr>
          <p:nvPr/>
        </p:nvSpPr>
        <p:spPr>
          <a:xfrm xmlns:a="http://schemas.openxmlformats.org/drawingml/2006/main">
            <a:off x="1333500" y="4305300"/>
            <a:ext cx="2400300" cy="9525"/>
          </a:xfrm>
          <a:prstGeom xmlns:a="http://schemas.openxmlformats.org/drawingml/2006/main" prst="rect">
            <a:avLst/>
          </a:prstGeom>
          <a:solidFill xmlns:a="http://schemas.openxmlformats.org/drawingml/2006/main">
            <a:srgbClr val="E5D6A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2B4E12C-CD4F-40B5-93FD-FBDA9DF55288}"/>
              </a:ext>
            </a:extLst>
          </p:cNvPr>
          <p:cNvSpPr>
            <a:spLocks xmlns:a="http://schemas.openxmlformats.org/drawingml/2006/main" noGrp="1"/>
          </p:cNvSpPr>
          <p:nvPr/>
        </p:nvSpPr>
        <p:spPr>
          <a:xfrm xmlns:a="http://schemas.openxmlformats.org/drawingml/2006/main">
            <a:off x="876300" y="445770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A86F00"/>
                </a:solidFill>
                <a:latin typeface="Lato"/>
                <a:ea typeface="Lato"/>
                <a:cs typeface="Lato"/>
              </a:defRPr>
            </a:pPr>
            <a:r>
              <a:rPr sz="900" b="1" i="0">
                <a:solidFill>
                  <a:srgbClr val="A86F00"/>
                </a:solidFill>
                <a:latin typeface="Lato"/>
                <a:ea typeface="Lato"/>
                <a:cs typeface="Lato"/>
              </a:rPr>
              <a:t>04</a:t>
            </a:r>
          </a:p>
        </p:txBody>
      </p:sp>
      <p:sp>
        <p:nvSpPr>
          <p:cNvPr id="18" name="">
            <a:extLst xmlns:a="http://schemas.openxmlformats.org/drawingml/2006/main">
              <a:ext uri="{FF2B5EF4-FFF2-40B4-BE49-F238E27FC236}">
                <a16:creationId xmlns:a16="http://schemas.microsoft.com/office/drawing/2014/main" id="{73450C98-A19D-4C2B-89ED-C385D81864A5}"/>
              </a:ext>
            </a:extLst>
          </p:cNvPr>
          <p:cNvSpPr>
            <a:spLocks xmlns:a="http://schemas.openxmlformats.org/drawingml/2006/main" noGrp="1"/>
          </p:cNvSpPr>
          <p:nvPr/>
        </p:nvSpPr>
        <p:spPr>
          <a:xfrm xmlns:a="http://schemas.openxmlformats.org/drawingml/2006/main">
            <a:off x="1333500" y="443865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1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Rebuild and document the workflow</a:t>
            </a:r>
          </a:p>
        </p:txBody>
      </p:sp>
      <p:sp>
        <p:nvSpPr>
          <p:cNvPr id="19" name="">
            <a:extLst xmlns:a="http://schemas.openxmlformats.org/drawingml/2006/main">
              <a:ext uri="{FF2B5EF4-FFF2-40B4-BE49-F238E27FC236}">
                <a16:creationId xmlns:a16="http://schemas.microsoft.com/office/drawing/2014/main" id="{371AF070-DD92-4CDD-A8DF-EE57EAAF5188}"/>
              </a:ext>
            </a:extLst>
          </p:cNvPr>
          <p:cNvSpPr>
            <a:spLocks xmlns:a="http://schemas.openxmlformats.org/drawingml/2006/main" noGrp="1"/>
          </p:cNvSpPr>
          <p:nvPr/>
        </p:nvSpPr>
        <p:spPr>
          <a:xfrm xmlns:a="http://schemas.openxmlformats.org/drawingml/2006/main">
            <a:off x="4438650" y="1695450"/>
            <a:ext cx="3276600" cy="347662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90FB688-DD04-4EE8-8094-DBD55AAD9C66}"/>
              </a:ext>
            </a:extLst>
          </p:cNvPr>
          <p:cNvSpPr>
            <a:spLocks xmlns:a="http://schemas.openxmlformats.org/drawingml/2006/main" noGrp="1"/>
          </p:cNvSpPr>
          <p:nvPr/>
        </p:nvSpPr>
        <p:spPr>
          <a:xfrm xmlns:a="http://schemas.openxmlformats.org/drawingml/2006/main">
            <a:off x="4810125" y="1990725"/>
            <a:ext cx="2533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550" b="1" i="0">
                <a:solidFill>
                  <a:srgbClr val="FFFFFF"/>
                </a:solidFill>
                <a:latin typeface="Lato"/>
                <a:ea typeface="Lato"/>
                <a:cs typeface="Lato"/>
              </a:defRPr>
            </a:pPr>
            <a:r>
              <a:rPr sz="2550" b="1" i="0">
                <a:solidFill>
                  <a:srgbClr val="FFFFFF"/>
                </a:solidFill>
                <a:latin typeface="Lato"/>
                <a:ea typeface="Lato"/>
                <a:cs typeface="Lato"/>
              </a:rPr>
              <a:t>CAVA</a:t>
            </a:r>
          </a:p>
        </p:txBody>
      </p:sp>
      <p:sp>
        <p:nvSpPr>
          <p:cNvPr id="21" name="">
            <a:extLst xmlns:a="http://schemas.openxmlformats.org/drawingml/2006/main">
              <a:ext uri="{FF2B5EF4-FFF2-40B4-BE49-F238E27FC236}">
                <a16:creationId xmlns:a16="http://schemas.microsoft.com/office/drawing/2014/main" id="{15E0B39B-52BA-4C0A-A5CB-1CF7C17BA785}"/>
              </a:ext>
            </a:extLst>
          </p:cNvPr>
          <p:cNvSpPr>
            <a:spLocks xmlns:a="http://schemas.openxmlformats.org/drawingml/2006/main" noGrp="1"/>
          </p:cNvSpPr>
          <p:nvPr/>
        </p:nvSpPr>
        <p:spPr>
          <a:xfrm xmlns:a="http://schemas.openxmlformats.org/drawingml/2006/main">
            <a:off x="4876800" y="25717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90"/>
          </a:bodyPr>
          <a:lstStyle xmlns:a="http://schemas.openxmlformats.org/drawingml/2006/main"/>
          <a:p xmlns:a="http://schemas.openxmlformats.org/drawingml/2006/main">
            <a:pPr algn="ctr">
              <a:lnSpc>
                <a:spcPct val="103000"/>
              </a:lnSpc>
              <a:buNone/>
              <a:defRPr sz="1350" b="0" i="0">
                <a:solidFill>
                  <a:srgbClr val="DDE8EF"/>
                </a:solidFill>
                <a:latin typeface="Lato"/>
                <a:ea typeface="Lato"/>
                <a:cs typeface="Lato"/>
              </a:defRPr>
            </a:pPr>
            <a:r>
              <a:rPr sz="1350" b="0" i="0">
                <a:solidFill>
                  <a:srgbClr val="DDE8EF"/>
                </a:solidFill>
                <a:latin typeface="Lato"/>
                <a:ea typeface="Lato"/>
                <a:cs typeface="Lato"/>
              </a:rPr>
              <a:t>A shared access and processing layer</a:t>
            </a:r>
          </a:p>
        </p:txBody>
      </p:sp>
      <p:sp>
        <p:nvSpPr>
          <p:cNvPr id="22" name="">
            <a:extLst xmlns:a="http://schemas.openxmlformats.org/drawingml/2006/main">
              <a:ext uri="{FF2B5EF4-FFF2-40B4-BE49-F238E27FC236}">
                <a16:creationId xmlns:a16="http://schemas.microsoft.com/office/drawing/2014/main" id="{6C635028-13A1-4DAB-9868-711E118BD3E9}"/>
              </a:ext>
            </a:extLst>
          </p:cNvPr>
          <p:cNvSpPr>
            <a:spLocks xmlns:a="http://schemas.openxmlformats.org/drawingml/2006/main" noGrp="1"/>
          </p:cNvSpPr>
          <p:nvPr/>
        </p:nvSpPr>
        <p:spPr>
          <a:xfrm xmlns:a="http://schemas.openxmlformats.org/drawingml/2006/main">
            <a:off x="4991100" y="3133725"/>
            <a:ext cx="2171700" cy="9525"/>
          </a:xfrm>
          <a:prstGeom xmlns:a="http://schemas.openxmlformats.org/drawingml/2006/main" prst="rect">
            <a:avLst/>
          </a:prstGeom>
          <a:solidFill xmlns:a="http://schemas.openxmlformats.org/drawingml/2006/main">
            <a:srgbClr val="5C748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A9F9437-94C9-407A-82E0-2A77A5181FAF}"/>
              </a:ext>
            </a:extLst>
          </p:cNvPr>
          <p:cNvSpPr>
            <a:spLocks xmlns:a="http://schemas.openxmlformats.org/drawingml/2006/main" noGrp="1"/>
          </p:cNvSpPr>
          <p:nvPr/>
        </p:nvSpPr>
        <p:spPr>
          <a:xfrm xmlns:a="http://schemas.openxmlformats.org/drawingml/2006/main">
            <a:off x="4762500" y="3371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ACCESS</a:t>
            </a:r>
          </a:p>
        </p:txBody>
      </p:sp>
      <p:sp>
        <p:nvSpPr>
          <p:cNvPr id="24" name="">
            <a:extLst xmlns:a="http://schemas.openxmlformats.org/drawingml/2006/main">
              <a:ext uri="{FF2B5EF4-FFF2-40B4-BE49-F238E27FC236}">
                <a16:creationId xmlns:a16="http://schemas.microsoft.com/office/drawing/2014/main" id="{96845C36-0281-47C5-BB8A-C979E821253D}"/>
              </a:ext>
            </a:extLst>
          </p:cNvPr>
          <p:cNvSpPr>
            <a:spLocks xmlns:a="http://schemas.openxmlformats.org/drawingml/2006/main" noGrp="1"/>
          </p:cNvSpPr>
          <p:nvPr/>
        </p:nvSpPr>
        <p:spPr>
          <a:xfrm xmlns:a="http://schemas.openxmlformats.org/drawingml/2006/main">
            <a:off x="5676900" y="335280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FFFFFF"/>
                </a:solidFill>
                <a:latin typeface="Lato"/>
                <a:ea typeface="Lato"/>
                <a:cs typeface="Lato"/>
              </a:defRPr>
            </a:pPr>
            <a:r>
              <a:rPr sz="1050" b="0" i="0">
                <a:solidFill>
                  <a:srgbClr val="FFFFFF"/>
                </a:solidFill>
                <a:latin typeface="Lato"/>
                <a:ea typeface="Lato"/>
                <a:cs typeface="Lato"/>
              </a:rPr>
              <a:t>Retrieve only the place, period and variables needed</a:t>
            </a:r>
          </a:p>
        </p:txBody>
      </p:sp>
      <p:sp>
        <p:nvSpPr>
          <p:cNvPr id="25" name="">
            <a:extLst xmlns:a="http://schemas.openxmlformats.org/drawingml/2006/main">
              <a:ext uri="{FF2B5EF4-FFF2-40B4-BE49-F238E27FC236}">
                <a16:creationId xmlns:a16="http://schemas.microsoft.com/office/drawing/2014/main" id="{C0EB9167-D37C-4D58-BE86-9C33BE2DAADF}"/>
              </a:ext>
            </a:extLst>
          </p:cNvPr>
          <p:cNvSpPr>
            <a:spLocks xmlns:a="http://schemas.openxmlformats.org/drawingml/2006/main" noGrp="1"/>
          </p:cNvSpPr>
          <p:nvPr/>
        </p:nvSpPr>
        <p:spPr>
          <a:xfrm xmlns:a="http://schemas.openxmlformats.org/drawingml/2006/main">
            <a:off x="4762500" y="39147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HARMONIZE</a:t>
            </a:r>
          </a:p>
        </p:txBody>
      </p:sp>
      <p:sp>
        <p:nvSpPr>
          <p:cNvPr id="26" name="">
            <a:extLst xmlns:a="http://schemas.openxmlformats.org/drawingml/2006/main">
              <a:ext uri="{FF2B5EF4-FFF2-40B4-BE49-F238E27FC236}">
                <a16:creationId xmlns:a16="http://schemas.microsoft.com/office/drawing/2014/main" id="{CBA5CBDE-1C7D-481A-B342-5316B2182310}"/>
              </a:ext>
            </a:extLst>
          </p:cNvPr>
          <p:cNvSpPr>
            <a:spLocks xmlns:a="http://schemas.openxmlformats.org/drawingml/2006/main" noGrp="1"/>
          </p:cNvSpPr>
          <p:nvPr/>
        </p:nvSpPr>
        <p:spPr>
          <a:xfrm xmlns:a="http://schemas.openxmlformats.org/drawingml/2006/main">
            <a:off x="5676900" y="389572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FFFFFF"/>
                </a:solidFill>
                <a:latin typeface="Lato"/>
                <a:ea typeface="Lato"/>
                <a:cs typeface="Lato"/>
              </a:defRPr>
            </a:pPr>
            <a:r>
              <a:rPr sz="1050" b="0" i="0">
                <a:solidFill>
                  <a:srgbClr val="FFFFFF"/>
                </a:solidFill>
                <a:latin typeface="Lato"/>
                <a:ea typeface="Lato"/>
                <a:cs typeface="Lato"/>
              </a:rPr>
              <a:t>Apply consistent handling of formats and conventions</a:t>
            </a:r>
          </a:p>
        </p:txBody>
      </p:sp>
      <p:sp>
        <p:nvSpPr>
          <p:cNvPr id="27" name="">
            <a:extLst xmlns:a="http://schemas.openxmlformats.org/drawingml/2006/main">
              <a:ext uri="{FF2B5EF4-FFF2-40B4-BE49-F238E27FC236}">
                <a16:creationId xmlns:a16="http://schemas.microsoft.com/office/drawing/2014/main" id="{D22FFD19-0178-454E-AD2C-D921D0F36103}"/>
              </a:ext>
            </a:extLst>
          </p:cNvPr>
          <p:cNvSpPr>
            <a:spLocks xmlns:a="http://schemas.openxmlformats.org/drawingml/2006/main" noGrp="1"/>
          </p:cNvSpPr>
          <p:nvPr/>
        </p:nvSpPr>
        <p:spPr>
          <a:xfrm xmlns:a="http://schemas.openxmlformats.org/drawingml/2006/main">
            <a:off x="4762500" y="44577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REUSE</a:t>
            </a:r>
          </a:p>
        </p:txBody>
      </p:sp>
      <p:sp>
        <p:nvSpPr>
          <p:cNvPr id="28" name="">
            <a:extLst xmlns:a="http://schemas.openxmlformats.org/drawingml/2006/main">
              <a:ext uri="{FF2B5EF4-FFF2-40B4-BE49-F238E27FC236}">
                <a16:creationId xmlns:a16="http://schemas.microsoft.com/office/drawing/2014/main" id="{AAB4FF16-5AAF-405B-BA7C-5743AD5F6DC6}"/>
              </a:ext>
            </a:extLst>
          </p:cNvPr>
          <p:cNvSpPr>
            <a:spLocks xmlns:a="http://schemas.openxmlformats.org/drawingml/2006/main" noGrp="1"/>
          </p:cNvSpPr>
          <p:nvPr/>
        </p:nvSpPr>
        <p:spPr>
          <a:xfrm xmlns:a="http://schemas.openxmlformats.org/drawingml/2006/main">
            <a:off x="5676900" y="44386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596"/>
          </a:bodyPr>
          <a:lstStyle xmlns:a="http://schemas.openxmlformats.org/drawingml/2006/main"/>
          <a:p xmlns:a="http://schemas.openxmlformats.org/drawingml/2006/main">
            <a:pPr algn="l">
              <a:lnSpc>
                <a:spcPct val="103000"/>
              </a:lnSpc>
              <a:buNone/>
              <a:defRPr sz="1050" b="0" i="0">
                <a:solidFill>
                  <a:srgbClr val="FFFFFF"/>
                </a:solidFill>
                <a:latin typeface="Lato"/>
                <a:ea typeface="Lato"/>
                <a:cs typeface="Lato"/>
              </a:defRPr>
            </a:pPr>
            <a:r>
              <a:rPr sz="1050" b="0" i="0">
                <a:solidFill>
                  <a:srgbClr val="FFFFFF"/>
                </a:solidFill>
                <a:latin typeface="Lato"/>
                <a:ea typeface="Lato"/>
                <a:cs typeface="Lato"/>
              </a:rPr>
              <a:t>Expose the same workflow through web tools, code and APIs</a:t>
            </a:r>
          </a:p>
        </p:txBody>
      </p:sp>
      <p:sp>
        <p:nvSpPr>
          <p:cNvPr id="29" name="">
            <a:extLst xmlns:a="http://schemas.openxmlformats.org/drawingml/2006/main">
              <a:ext uri="{FF2B5EF4-FFF2-40B4-BE49-F238E27FC236}">
                <a16:creationId xmlns:a16="http://schemas.microsoft.com/office/drawing/2014/main" id="{22FDCC07-9456-4977-B0F5-10F81F445637}"/>
              </a:ext>
            </a:extLst>
          </p:cNvPr>
          <p:cNvSpPr>
            <a:spLocks xmlns:a="http://schemas.openxmlformats.org/drawingml/2006/main" noGrp="1"/>
          </p:cNvSpPr>
          <p:nvPr/>
        </p:nvSpPr>
        <p:spPr>
          <a:xfrm xmlns:a="http://schemas.openxmlformats.org/drawingml/2006/main">
            <a:off x="7981950" y="1695450"/>
            <a:ext cx="3562350" cy="3476625"/>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7698307-A7E6-4931-AD29-50A482F9C3AA}"/>
              </a:ext>
            </a:extLst>
          </p:cNvPr>
          <p:cNvSpPr>
            <a:spLocks xmlns:a="http://schemas.openxmlformats.org/drawingml/2006/main" noGrp="1"/>
          </p:cNvSpPr>
          <p:nvPr/>
        </p:nvSpPr>
        <p:spPr>
          <a:xfrm xmlns:a="http://schemas.openxmlformats.org/drawingml/2006/main">
            <a:off x="8210550" y="19050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WHAT CHANGES</a:t>
            </a:r>
          </a:p>
        </p:txBody>
      </p:sp>
      <p:sp>
        <p:nvSpPr>
          <p:cNvPr id="31" name="">
            <a:extLst xmlns:a="http://schemas.openxmlformats.org/drawingml/2006/main">
              <a:ext uri="{FF2B5EF4-FFF2-40B4-BE49-F238E27FC236}">
                <a16:creationId xmlns:a16="http://schemas.microsoft.com/office/drawing/2014/main" id="{998DFB75-8254-4EEF-ACF0-A844956952D3}"/>
              </a:ext>
            </a:extLst>
          </p:cNvPr>
          <p:cNvSpPr>
            <a:spLocks xmlns:a="http://schemas.openxmlformats.org/drawingml/2006/main" noGrp="1"/>
          </p:cNvSpPr>
          <p:nvPr/>
        </p:nvSpPr>
        <p:spPr>
          <a:xfrm xmlns:a="http://schemas.openxmlformats.org/drawingml/2006/main">
            <a:off x="8210550" y="2209800"/>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357"/>
          </a:bodyPr>
          <a:lstStyle xmlns:a="http://schemas.openxmlformats.org/drawingml/2006/main"/>
          <a:p xmlns:a="http://schemas.openxmlformats.org/drawingml/2006/main">
            <a:pPr algn="l">
              <a:lnSpc>
                <a:spcPct val="102000"/>
              </a:lnSpc>
              <a:buNone/>
              <a:defRPr sz="1650" b="1" i="0">
                <a:solidFill>
                  <a:srgbClr val="12304E"/>
                </a:solidFill>
                <a:latin typeface="Lato"/>
                <a:ea typeface="Lato"/>
                <a:cs typeface="Lato"/>
              </a:defRPr>
            </a:pPr>
            <a:r>
              <a:rPr sz="1650" b="1" i="0">
                <a:solidFill>
                  <a:srgbClr val="12304E"/>
                </a:solidFill>
                <a:latin typeface="Lato"/>
                <a:ea typeface="Lato"/>
                <a:cs typeface="Lato"/>
              </a:rPr>
              <a:t>Climate data become easier to use without hiding the scientific choices</a:t>
            </a:r>
          </a:p>
        </p:txBody>
      </p:sp>
      <p:sp>
        <p:nvSpPr>
          <p:cNvPr id="32" name="">
            <a:extLst xmlns:a="http://schemas.openxmlformats.org/drawingml/2006/main">
              <a:ext uri="{FF2B5EF4-FFF2-40B4-BE49-F238E27FC236}">
                <a16:creationId xmlns:a16="http://schemas.microsoft.com/office/drawing/2014/main" id="{0B148B72-C5E0-4914-96D0-302C972D0774}"/>
              </a:ext>
            </a:extLst>
          </p:cNvPr>
          <p:cNvSpPr>
            <a:spLocks xmlns:a="http://schemas.openxmlformats.org/drawingml/2006/main" noGrp="1"/>
          </p:cNvSpPr>
          <p:nvPr/>
        </p:nvSpPr>
        <p:spPr>
          <a:xfrm xmlns:a="http://schemas.openxmlformats.org/drawingml/2006/main">
            <a:off x="8210550" y="31527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8D7A"/>
                </a:solidFill>
                <a:latin typeface="Lato"/>
                <a:ea typeface="Lato"/>
                <a:cs typeface="Lato"/>
              </a:defRPr>
            </a:pPr>
            <a:r>
              <a:rPr sz="825" b="1" i="0">
                <a:solidFill>
                  <a:srgbClr val="008D7A"/>
                </a:solidFill>
                <a:latin typeface="Lato"/>
                <a:ea typeface="Lato"/>
                <a:cs typeface="Lato"/>
              </a:rPr>
              <a:t>READY</a:t>
            </a:r>
          </a:p>
        </p:txBody>
      </p:sp>
      <p:sp>
        <p:nvSpPr>
          <p:cNvPr id="33" name="">
            <a:extLst xmlns:a="http://schemas.openxmlformats.org/drawingml/2006/main">
              <a:ext uri="{FF2B5EF4-FFF2-40B4-BE49-F238E27FC236}">
                <a16:creationId xmlns:a16="http://schemas.microsoft.com/office/drawing/2014/main" id="{284B03FC-9DC5-48CA-853E-06A92B641201}"/>
              </a:ext>
            </a:extLst>
          </p:cNvPr>
          <p:cNvSpPr>
            <a:spLocks xmlns:a="http://schemas.openxmlformats.org/drawingml/2006/main" noGrp="1"/>
          </p:cNvSpPr>
          <p:nvPr/>
        </p:nvSpPr>
        <p:spPr>
          <a:xfrm xmlns:a="http://schemas.openxmlformats.org/drawingml/2006/main">
            <a:off x="9163050" y="3124200"/>
            <a:ext cx="2019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00" b="1" i="0">
                <a:solidFill>
                  <a:srgbClr val="17324D"/>
                </a:solidFill>
                <a:latin typeface="Lato"/>
                <a:ea typeface="Lato"/>
                <a:cs typeface="Lato"/>
              </a:defRPr>
            </a:pPr>
            <a:r>
              <a:rPr sz="1200" b="1" i="0">
                <a:solidFill>
                  <a:srgbClr val="17324D"/>
                </a:solidFill>
                <a:latin typeface="Lato"/>
                <a:ea typeface="Lato"/>
                <a:cs typeface="Lato"/>
              </a:rPr>
              <a:t>Analysis-ready historical and future data</a:t>
            </a:r>
          </a:p>
        </p:txBody>
      </p:sp>
      <p:sp>
        <p:nvSpPr>
          <p:cNvPr id="34" name="">
            <a:extLst xmlns:a="http://schemas.openxmlformats.org/drawingml/2006/main">
              <a:ext uri="{FF2B5EF4-FFF2-40B4-BE49-F238E27FC236}">
                <a16:creationId xmlns:a16="http://schemas.microsoft.com/office/drawing/2014/main" id="{D84EA457-DD28-4A85-BB32-9ED7634B7EE4}"/>
              </a:ext>
            </a:extLst>
          </p:cNvPr>
          <p:cNvSpPr>
            <a:spLocks xmlns:a="http://schemas.openxmlformats.org/drawingml/2006/main" noGrp="1"/>
          </p:cNvSpPr>
          <p:nvPr/>
        </p:nvSpPr>
        <p:spPr>
          <a:xfrm xmlns:a="http://schemas.openxmlformats.org/drawingml/2006/main">
            <a:off x="9163050" y="3609975"/>
            <a:ext cx="2000250"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4A2E62B-1CBC-473F-8A9D-0FE7F0245B44}"/>
              </a:ext>
            </a:extLst>
          </p:cNvPr>
          <p:cNvSpPr>
            <a:spLocks xmlns:a="http://schemas.openxmlformats.org/drawingml/2006/main" noGrp="1"/>
          </p:cNvSpPr>
          <p:nvPr/>
        </p:nvSpPr>
        <p:spPr>
          <a:xfrm xmlns:a="http://schemas.openxmlformats.org/drawingml/2006/main">
            <a:off x="8210550" y="3800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8D7A"/>
                </a:solidFill>
                <a:latin typeface="Lato"/>
                <a:ea typeface="Lato"/>
                <a:cs typeface="Lato"/>
              </a:defRPr>
            </a:pPr>
            <a:r>
              <a:rPr sz="825" b="1" i="0">
                <a:solidFill>
                  <a:srgbClr val="008D7A"/>
                </a:solidFill>
                <a:latin typeface="Lato"/>
                <a:ea typeface="Lato"/>
                <a:cs typeface="Lato"/>
              </a:rPr>
              <a:t>CONSISTENT</a:t>
            </a:r>
          </a:p>
        </p:txBody>
      </p:sp>
      <p:sp>
        <p:nvSpPr>
          <p:cNvPr id="36" name="">
            <a:extLst xmlns:a="http://schemas.openxmlformats.org/drawingml/2006/main">
              <a:ext uri="{FF2B5EF4-FFF2-40B4-BE49-F238E27FC236}">
                <a16:creationId xmlns:a16="http://schemas.microsoft.com/office/drawing/2014/main" id="{AADD9B15-864D-4641-936E-8222EDC6080C}"/>
              </a:ext>
            </a:extLst>
          </p:cNvPr>
          <p:cNvSpPr>
            <a:spLocks xmlns:a="http://schemas.openxmlformats.org/drawingml/2006/main" noGrp="1"/>
          </p:cNvSpPr>
          <p:nvPr/>
        </p:nvSpPr>
        <p:spPr>
          <a:xfrm xmlns:a="http://schemas.openxmlformats.org/drawingml/2006/main">
            <a:off x="9163050" y="3771900"/>
            <a:ext cx="2019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00" b="1" i="0">
                <a:solidFill>
                  <a:srgbClr val="17324D"/>
                </a:solidFill>
                <a:latin typeface="Lato"/>
                <a:ea typeface="Lato"/>
                <a:cs typeface="Lato"/>
              </a:defRPr>
            </a:pPr>
            <a:r>
              <a:rPr sz="1200" b="1" i="0">
                <a:solidFill>
                  <a:srgbClr val="17324D"/>
                </a:solidFill>
                <a:latin typeface="Lato"/>
                <a:ea typeface="Lato"/>
                <a:cs typeface="Lato"/>
              </a:rPr>
              <a:t>Comparable indicators, maps and outputs</a:t>
            </a:r>
          </a:p>
        </p:txBody>
      </p:sp>
      <p:sp>
        <p:nvSpPr>
          <p:cNvPr id="37" name="">
            <a:extLst xmlns:a="http://schemas.openxmlformats.org/drawingml/2006/main">
              <a:ext uri="{FF2B5EF4-FFF2-40B4-BE49-F238E27FC236}">
                <a16:creationId xmlns:a16="http://schemas.microsoft.com/office/drawing/2014/main" id="{60B29B0C-8787-48A6-B5A6-EB8B4C7D4A5F}"/>
              </a:ext>
            </a:extLst>
          </p:cNvPr>
          <p:cNvSpPr>
            <a:spLocks xmlns:a="http://schemas.openxmlformats.org/drawingml/2006/main" noGrp="1"/>
          </p:cNvSpPr>
          <p:nvPr/>
        </p:nvSpPr>
        <p:spPr>
          <a:xfrm xmlns:a="http://schemas.openxmlformats.org/drawingml/2006/main">
            <a:off x="9163050" y="4257675"/>
            <a:ext cx="2000250"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1F0C89C-7723-4B5E-9065-323B39F125AB}"/>
              </a:ext>
            </a:extLst>
          </p:cNvPr>
          <p:cNvSpPr>
            <a:spLocks xmlns:a="http://schemas.openxmlformats.org/drawingml/2006/main" noGrp="1"/>
          </p:cNvSpPr>
          <p:nvPr/>
        </p:nvSpPr>
        <p:spPr>
          <a:xfrm xmlns:a="http://schemas.openxmlformats.org/drawingml/2006/main">
            <a:off x="8210550" y="44481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8D7A"/>
                </a:solidFill>
                <a:latin typeface="Lato"/>
                <a:ea typeface="Lato"/>
                <a:cs typeface="Lato"/>
              </a:defRPr>
            </a:pPr>
            <a:r>
              <a:rPr sz="825" b="1" i="0">
                <a:solidFill>
                  <a:srgbClr val="008D7A"/>
                </a:solidFill>
                <a:latin typeface="Lato"/>
                <a:ea typeface="Lato"/>
                <a:cs typeface="Lato"/>
              </a:rPr>
              <a:t>TRACEABLE</a:t>
            </a:r>
          </a:p>
        </p:txBody>
      </p:sp>
      <p:sp>
        <p:nvSpPr>
          <p:cNvPr id="39" name="">
            <a:extLst xmlns:a="http://schemas.openxmlformats.org/drawingml/2006/main">
              <a:ext uri="{FF2B5EF4-FFF2-40B4-BE49-F238E27FC236}">
                <a16:creationId xmlns:a16="http://schemas.microsoft.com/office/drawing/2014/main" id="{3461DB58-5CC3-4298-A73A-90A6A1EFB4DB}"/>
              </a:ext>
            </a:extLst>
          </p:cNvPr>
          <p:cNvSpPr>
            <a:spLocks xmlns:a="http://schemas.openxmlformats.org/drawingml/2006/main" noGrp="1"/>
          </p:cNvSpPr>
          <p:nvPr/>
        </p:nvSpPr>
        <p:spPr>
          <a:xfrm xmlns:a="http://schemas.openxmlformats.org/drawingml/2006/main">
            <a:off x="9163050" y="4419600"/>
            <a:ext cx="2019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00" b="1" i="0">
                <a:solidFill>
                  <a:srgbClr val="17324D"/>
                </a:solidFill>
                <a:latin typeface="Lato"/>
                <a:ea typeface="Lato"/>
                <a:cs typeface="Lato"/>
              </a:defRPr>
            </a:pPr>
            <a:r>
              <a:rPr sz="1200" b="1" i="0">
                <a:solidFill>
                  <a:srgbClr val="17324D"/>
                </a:solidFill>
                <a:latin typeface="Lato"/>
                <a:ea typeface="Lato"/>
                <a:cs typeface="Lato"/>
              </a:rPr>
              <a:t>Documented inputs for reproducible analysis</a:t>
            </a:r>
          </a:p>
        </p:txBody>
      </p:sp>
      <p:sp>
        <p:nvSpPr>
          <p:cNvPr id="40" name="">
            <a:extLst xmlns:a="http://schemas.openxmlformats.org/drawingml/2006/main">
              <a:ext uri="{FF2B5EF4-FFF2-40B4-BE49-F238E27FC236}">
                <a16:creationId xmlns:a16="http://schemas.microsoft.com/office/drawing/2014/main" id="{7BB1C6FF-2363-40D5-80F0-CBC2E1645060}"/>
              </a:ext>
            </a:extLst>
          </p:cNvPr>
          <p:cNvSpPr>
            <a:spLocks xmlns:a="http://schemas.openxmlformats.org/drawingml/2006/main" noGrp="1"/>
          </p:cNvSpPr>
          <p:nvPr/>
        </p:nvSpPr>
        <p:spPr>
          <a:xfrm xmlns:a="http://schemas.openxmlformats.org/drawingml/2006/main">
            <a:off x="4057650" y="3124200"/>
            <a:ext cx="495300" cy="609600"/>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A991F3D-2D04-445E-BE0F-25943689A53B}"/>
              </a:ext>
            </a:extLst>
          </p:cNvPr>
          <p:cNvSpPr>
            <a:spLocks xmlns:a="http://schemas.openxmlformats.org/drawingml/2006/main" noGrp="1"/>
          </p:cNvSpPr>
          <p:nvPr/>
        </p:nvSpPr>
        <p:spPr>
          <a:xfrm xmlns:a="http://schemas.openxmlformats.org/drawingml/2006/main">
            <a:off x="7600950" y="3124200"/>
            <a:ext cx="495300" cy="609600"/>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6B1DC5F-478C-4ECB-8337-039696F2E89B}"/>
              </a:ext>
            </a:extLst>
          </p:cNvPr>
          <p:cNvSpPr>
            <a:spLocks xmlns:a="http://schemas.openxmlformats.org/drawingml/2006/main" noGrp="1"/>
          </p:cNvSpPr>
          <p:nvPr/>
        </p:nvSpPr>
        <p:spPr>
          <a:xfrm xmlns:a="http://schemas.openxmlformats.org/drawingml/2006/main">
            <a:off x="647700" y="5438775"/>
            <a:ext cx="108966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43" name="">
            <a:extLst xmlns:a="http://schemas.openxmlformats.org/drawingml/2006/main">
              <a:ext uri="{FF2B5EF4-FFF2-40B4-BE49-F238E27FC236}">
                <a16:creationId xmlns:a16="http://schemas.microsoft.com/office/drawing/2014/main" id="{E9E72A90-CCC6-4A1E-A5A4-1B7C4DC3D008}"/>
              </a:ext>
            </a:extLst>
          </p:cNvPr>
          <p:cNvSpPr>
            <a:spLocks xmlns:a="http://schemas.openxmlformats.org/drawingml/2006/main" noGrp="1"/>
          </p:cNvSpPr>
          <p:nvPr/>
        </p:nvSpPr>
        <p:spPr>
          <a:xfrm xmlns:a="http://schemas.openxmlformats.org/drawingml/2006/main">
            <a:off x="647700" y="5438775"/>
            <a:ext cx="76200" cy="5619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9CD84C9-500E-47E4-B3E1-9B3697A572FA}"/>
              </a:ext>
            </a:extLst>
          </p:cNvPr>
          <p:cNvSpPr>
            <a:spLocks xmlns:a="http://schemas.openxmlformats.org/drawingml/2006/main" noGrp="1"/>
          </p:cNvSpPr>
          <p:nvPr/>
        </p:nvSpPr>
        <p:spPr>
          <a:xfrm xmlns:a="http://schemas.openxmlformats.org/drawingml/2006/main">
            <a:off x="933450" y="5591175"/>
            <a:ext cx="1032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12304E"/>
                </a:solidFill>
                <a:latin typeface="Lato"/>
                <a:ea typeface="Lato"/>
                <a:cs typeface="Lato"/>
              </a:defRPr>
            </a:pPr>
            <a:r>
              <a:rPr sz="1350" b="1" i="0">
                <a:solidFill>
                  <a:srgbClr val="12304E"/>
                </a:solidFill>
                <a:latin typeface="Lato"/>
                <a:ea typeface="Lato"/>
                <a:cs typeface="Lato"/>
              </a:rPr>
              <a:t>CAVA removes repeated technical preparation. Users still choose the data, model, scenario and method.</a:t>
            </a:r>
          </a:p>
        </p:txBody>
      </p:sp>
      <p:sp>
        <p:nvSpPr>
          <p:cNvPr id="45" name="">
            <a:extLst xmlns:a="http://schemas.openxmlformats.org/drawingml/2006/main">
              <a:ext uri="{FF2B5EF4-FFF2-40B4-BE49-F238E27FC236}">
                <a16:creationId xmlns:a16="http://schemas.microsoft.com/office/drawing/2014/main" id="{A7F77727-7C33-49C0-AE37-44A4BABA6661}"/>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DEEBA74-F79E-4369-A2EE-0F605E50BB1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47" name="">
            <a:extLst xmlns:a="http://schemas.openxmlformats.org/drawingml/2006/main">
              <a:ext uri="{FF2B5EF4-FFF2-40B4-BE49-F238E27FC236}">
                <a16:creationId xmlns:a16="http://schemas.microsoft.com/office/drawing/2014/main" id="{3C492349-A1F6-408F-937F-46A386ED285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687984"/>
                </a:solidFill>
                <a:latin typeface="Lato"/>
                <a:ea typeface="Lato"/>
                <a:cs typeface="Lato"/>
              </a:defRPr>
            </a:pPr>
            <a:r>
              <a:rPr sz="750" b="0" i="0">
                <a:solidFill>
                  <a:srgbClr val="687984"/>
                </a:solidFill>
                <a:latin typeface="Lato"/>
                <a:ea typeface="Lato"/>
                <a:cs typeface="Lato"/>
              </a:rPr>
              <a:t>20</a:t>
            </a:r>
          </a:p>
        </p:txBody>
      </p:sp>
    </p:spTree>
    <p:extLst>
      <p:ext uri="{BB962C8B-B14F-4D97-AF65-F5344CB8AC3E}">
        <p14:creationId xmlns:p14="http://schemas.microsoft.com/office/powerpoint/2010/main" val="48558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2026-09-23T08:42:16.2890000Z</dcterms:created>
  <dcterms:modified xsi:type="dcterms:W3CDTF">2026-09-23T08:42:16.2890000Z</dcterms:modified>
</coreProperties>
</file>