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4ede52d86a4fa9" /><Relationship Type="http://schemas.openxmlformats.org/officeDocument/2006/relationships/extended-properties" Target="/docProps/app.xml" Id="R85b6a9d5ec274c05" /><Relationship Type="http://schemas.openxmlformats.org/officeDocument/2006/relationships/officeDocument" Target="/ppt/presentation.xml" Id="R2786a16a3a284cf8" /></Relationships>
</file>

<file path=ppt/presentation.xml><?xml version="1.0" encoding="utf-8"?>
<p:presentation xmlns:p="http://schemas.openxmlformats.org/presentationml/2006/main">
  <p:sldMasterIdLst>
    <p:sldMasterId xmlns:r="http://schemas.openxmlformats.org/officeDocument/2006/relationships" id="2147483648" r:id="R9e19d4118be24c6a"/>
  </p:sldMasterIdLst>
  <p:notesMasterIdLst>
    <p:notesMasterId xmlns:r="http://schemas.openxmlformats.org/officeDocument/2006/relationships" r:id="Reef8522bf20844b2"/>
  </p:notesMasterIdLst>
  <p:sldIdLst>
    <p:sldId xmlns:r="http://schemas.openxmlformats.org/officeDocument/2006/relationships" id="256" r:id="Rd42f5d2716944230"/>
    <p:sldId xmlns:r="http://schemas.openxmlformats.org/officeDocument/2006/relationships" id="257" r:id="R63d9ec1235ac4efc"/>
    <p:sldId xmlns:r="http://schemas.openxmlformats.org/officeDocument/2006/relationships" id="258" r:id="R595f8e2de95f4d74"/>
    <p:sldId xmlns:r="http://schemas.openxmlformats.org/officeDocument/2006/relationships" id="259" r:id="R770cd3cc186540a7"/>
    <p:sldId xmlns:r="http://schemas.openxmlformats.org/officeDocument/2006/relationships" id="260" r:id="Rbff83f87e0bd4067"/>
    <p:sldId xmlns:r="http://schemas.openxmlformats.org/officeDocument/2006/relationships" id="261" r:id="R78732843f1c64df2"/>
    <p:sldId xmlns:r="http://schemas.openxmlformats.org/officeDocument/2006/relationships" id="262" r:id="Radff8e1625ff4959"/>
    <p:sldId xmlns:r="http://schemas.openxmlformats.org/officeDocument/2006/relationships" id="263" r:id="R17bd886310d5494f"/>
    <p:sldId xmlns:r="http://schemas.openxmlformats.org/officeDocument/2006/relationships" id="264" r:id="R232b114901d640c0"/>
    <p:sldId xmlns:r="http://schemas.openxmlformats.org/officeDocument/2006/relationships" id="265" r:id="R32a4eef4d046438f"/>
    <p:sldId xmlns:r="http://schemas.openxmlformats.org/officeDocument/2006/relationships" id="266" r:id="R6cb78e81af8c4e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795ee3bb1944cf" /><Relationship Type="http://schemas.openxmlformats.org/officeDocument/2006/relationships/slideMaster" Target="/ppt/slideMasters/slideMaster1.xml" Id="R9e19d4118be24c6a" /><Relationship Type="http://schemas.openxmlformats.org/officeDocument/2006/relationships/notesMaster" Target="/ppt/notesMasters/notesMaster1.xml" Id="Reef8522bf20844b2" /><Relationship Type="http://schemas.openxmlformats.org/officeDocument/2006/relationships/presProps" Target="/ppt/presProps.xml" Id="R99c9337af14c45dd" /><Relationship Type="http://schemas.openxmlformats.org/officeDocument/2006/relationships/tableStyles" Target="/ppt/tableStyles.xml" Id="R8dbf410ae0c541e7" /><Relationship Type="http://schemas.openxmlformats.org/officeDocument/2006/relationships/slide" Target="/ppt/slides/slide1.xml" Id="Rd42f5d2716944230" /><Relationship Type="http://schemas.openxmlformats.org/officeDocument/2006/relationships/slide" Target="/ppt/slides/slide2.xml" Id="R63d9ec1235ac4efc" /><Relationship Type="http://schemas.openxmlformats.org/officeDocument/2006/relationships/slide" Target="/ppt/slides/slide3.xml" Id="R595f8e2de95f4d74" /><Relationship Type="http://schemas.openxmlformats.org/officeDocument/2006/relationships/slide" Target="/ppt/slides/slide4.xml" Id="R770cd3cc186540a7" /><Relationship Type="http://schemas.openxmlformats.org/officeDocument/2006/relationships/slide" Target="/ppt/slides/slide5.xml" Id="Rbff83f87e0bd4067" /><Relationship Type="http://schemas.openxmlformats.org/officeDocument/2006/relationships/slide" Target="/ppt/slides/slide6.xml" Id="R78732843f1c64df2" /><Relationship Type="http://schemas.openxmlformats.org/officeDocument/2006/relationships/slide" Target="/ppt/slides/slide7.xml" Id="Radff8e1625ff4959" /><Relationship Type="http://schemas.openxmlformats.org/officeDocument/2006/relationships/slide" Target="/ppt/slides/slide8.xml" Id="R17bd886310d5494f" /><Relationship Type="http://schemas.openxmlformats.org/officeDocument/2006/relationships/slide" Target="/ppt/slides/slide9.xml" Id="R232b114901d640c0" /><Relationship Type="http://schemas.openxmlformats.org/officeDocument/2006/relationships/slide" Target="/ppt/slides/slide10.xml" Id="R32a4eef4d046438f" /><Relationship Type="http://schemas.openxmlformats.org/officeDocument/2006/relationships/slide" Target="/ppt/slides/slide11.xml" Id="R6cb78e81af8c4e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d32abea57d4d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ec9a0980a0d47ea" /><Relationship Type="http://schemas.openxmlformats.org/officeDocument/2006/relationships/notesMaster" Target="/ppt/notesMasters/notesMaster1.xml" Id="R7fab5afd76794d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da16ab0fb04b1e" /><Relationship Type="http://schemas.openxmlformats.org/officeDocument/2006/relationships/notesMaster" Target="/ppt/notesMasters/notesMaster1.xml" Id="R94d892df589049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1e40a068344369" /><Relationship Type="http://schemas.openxmlformats.org/officeDocument/2006/relationships/notesMaster" Target="/ppt/notesMasters/notesMaster1.xml" Id="R09d26eecb29748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bb6dd086394dea" /><Relationship Type="http://schemas.openxmlformats.org/officeDocument/2006/relationships/notesMaster" Target="/ppt/notesMasters/notesMaster1.xml" Id="Rc7591a0ccf6749d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40530e4d6164e9b" /><Relationship Type="http://schemas.openxmlformats.org/officeDocument/2006/relationships/notesMaster" Target="/ppt/notesMasters/notesMaster1.xml" Id="Rfff76a5be3ef4e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9d9abfd8fe45c0" /><Relationship Type="http://schemas.openxmlformats.org/officeDocument/2006/relationships/notesMaster" Target="/ppt/notesMasters/notesMaster1.xml" Id="Rb4fc298882aa42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88c570b7ed4c2b" /><Relationship Type="http://schemas.openxmlformats.org/officeDocument/2006/relationships/notesMaster" Target="/ppt/notesMasters/notesMaster1.xml" Id="R1fc9e309327741c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620cd54f5e4f34" /><Relationship Type="http://schemas.openxmlformats.org/officeDocument/2006/relationships/notesMaster" Target="/ppt/notesMasters/notesMaster1.xml" Id="R80249255643b45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aec18ab3d4548d5" /><Relationship Type="http://schemas.openxmlformats.org/officeDocument/2006/relationships/notesMaster" Target="/ppt/notesMasters/notesMaster1.xml" Id="R0c5c67a7dd9b4e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398a7416c7144ee" /><Relationship Type="http://schemas.openxmlformats.org/officeDocument/2006/relationships/notesMaster" Target="/ppt/notesMasters/notesMaster1.xml" Id="Ra9537e2b864543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f787f97bf404412" /><Relationship Type="http://schemas.openxmlformats.org/officeDocument/2006/relationships/notesMaster" Target="/ppt/notesMasters/notesMaster1.xml" Id="Rf6f700fa72c346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describe how CAVA accesses and processes CORDEX data for FAO investment analysis, including the methodological limits that require expert judgement. Visual source: CAVA Platform public interface, https://cavaplatform.fao.org/.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Institutional context supplied by the user. The approximately 80% figure refers here to the Climate Risk Team's climate-finance funding envelope, not FAO's total funding. Confirm the reporting period, denominator and whether the percentage combines GCF and GEF project preparation before external circulation.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reflects FAO's internal experience supplied in the briefing request. Emphasize that the core problem was not the absence of climate data; it was the absence of a harmonized, repeatable workflow that project teams could trust and reuse.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separate evidence generation from the investment decision. CAVA does not decide which adaptation measure to finance; it makes the climate evidence supporting that choice more consistent, transparent and repeatable.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FAO describes CAVA as an open-source ecosystem combining a web platform with R and Python tools, harmonized climate information and reusable workflows. Country deployments can integrate national datasets and adapt workflows. Sources: https://www.fao.org/agroinformatics/news/news-detail/fao-digital-solutions-now-available-as-open-source--cava-and-ex-act/en ; https://cavaplatform.fao.org/about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CORDEX-CORE provides homogeneous regional climate information at roughly 25 km across major inhabited regions and supports analyses of extremes and global warming levels. CAVA/cavapy addresses recurring technical burdens such as distributed NetCDF access, rotated-pole grids, calendars, subsetting, ensemble handling and bias correction. Sources: https://cordex.org/experiment-guidelines/cordex-cmip5/cordex-core/cordex-core-simulations/ ; https://cordex.org/data-access/cordex-cmip5-data/cordex-cmip5-simulations/ ; https://github.com/un-fao/cavapy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CAVA brings climate, agroclimatic and agricultural-impact datasets into a consistent environment. Users can access the same backbone through the web platform, R and Python tools, or backend services. Country-level deployments can integrate national data and workflows. Sources: https://cavaplatform.fao.org/about ; https://www.fao.org/agroinformatics/news/news-detail/fao-digital-solutions-now-available-as-open-source--cava-and-ex-act/en ; https://github.com/un-fao/cavapy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cavapy can stream only the required spatial slice through OPeNDAP and return analysis-ready data, while handling common CORDEX complexities. The investment interpretation and adaptation decisions remain with the project team. Source: https://github.com/un-fao/cavapy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figures remain placeholders. Before circulation, define the portfolio denominator and the attribution rule. The strongest count includes only projects where CAVA/CORDEX evidence appears in project documentation or can be linked to a documented design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Insert examples approved for external discussion. Include enough methodological information for the CORDEX audience to understand which simulations were used and how uncertainty was treated. For publications, include a DOI or stable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these as proposals for discussion. The choice between CORDEX-CMIP6 and CMIP7 should follow data availability, maturity, documentation and the timing of the next CAVA development phase. ERA6 integration likewise depends on operational availability. The proposed coordination is intentionally light: named contacts and one technical meeting per year.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c4c2b52b7a43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db834345564122" /><Relationship Type="http://schemas.openxmlformats.org/officeDocument/2006/relationships/slideLayout" Target="/ppt/slideLayouts/slideLayout1.xml" Id="Rf083730d1e2942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83730d1e2942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08370a3bea04967" /><Relationship Type="http://schemas.openxmlformats.org/officeDocument/2006/relationships/image" Target="/ppt/media/image.png" Id="Ra8242e10b5294cac" /><Relationship Type="http://schemas.openxmlformats.org/officeDocument/2006/relationships/notesSlide" Target="/ppt/notesSlides/notesSlide1.xml" Id="R9917d495a3274d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ba101e50f13423c" /><Relationship Type="http://schemas.openxmlformats.org/officeDocument/2006/relationships/notesSlide" Target="/ppt/notesSlides/notesSlide2.xml" Id="R1de3a89eb2d74bb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8466b4cdff44b9a" /><Relationship Type="http://schemas.openxmlformats.org/officeDocument/2006/relationships/notesSlide" Target="/ppt/notesSlides/notesSlide3.xml" Id="R3f7c15f1bced4fe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de7ff586bfc4e0b" /><Relationship Type="http://schemas.openxmlformats.org/officeDocument/2006/relationships/notesSlide" Target="/ppt/notesSlides/notesSlide4.xml" Id="R663e63f552714d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369eabbb0564aaa" /><Relationship Type="http://schemas.openxmlformats.org/officeDocument/2006/relationships/notesSlide" Target="/ppt/notesSlides/notesSlide5.xml" Id="R065544ae44c04f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e1382437c1a4607" /><Relationship Type="http://schemas.openxmlformats.org/officeDocument/2006/relationships/notesSlide" Target="/ppt/notesSlides/notesSlide6.xml" Id="R2fcd793424fe405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35d8b2487384c3c" /><Relationship Type="http://schemas.openxmlformats.org/officeDocument/2006/relationships/notesSlide" Target="/ppt/notesSlides/notesSlide7.xml" Id="R7b78a5bb1a0148c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f773ddaf4484aee" /><Relationship Type="http://schemas.openxmlformats.org/officeDocument/2006/relationships/notesSlide" Target="/ppt/notesSlides/notesSlide8.xml" Id="R7b410833548242e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cf4145fe9c84c7d" /><Relationship Type="http://schemas.openxmlformats.org/officeDocument/2006/relationships/notesSlide" Target="/ppt/notesSlides/notesSlide9.xml" Id="R3c20a08bb28347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647ff4a0f444677" /><Relationship Type="http://schemas.openxmlformats.org/officeDocument/2006/relationships/notesSlide" Target="/ppt/notesSlides/notesSlide10.xml" Id="R15e84aa7a17344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9572e23d56f466f" /><Relationship Type="http://schemas.openxmlformats.org/officeDocument/2006/relationships/notesSlide" Target="/ppt/notesSlides/notesSlide11.xml" Id="R79a5f66732ff47b0" /></Relationships>
</file>

<file path=ppt/slides/slide1.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8242e10b5294cac"/>
          <a:srcRect xmlns:a="http://schemas.openxmlformats.org/drawingml/2006/main" l="10642" t="0" r="10642" b="0"/>
          <a:stretch xmlns:a="http://schemas.openxmlformats.org/drawingml/2006/main">
            <a:fillRect l="0" t="0" r="0" b="0"/>
          </a:stretch>
        </p:blipFill>
        <p:spPr>
          <a:xfrm xmlns:a="http://schemas.openxmlformats.org/drawingml/2006/main">
            <a:off x="4762500" y="0"/>
            <a:ext cx="7429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E706A78-EDB7-46D9-8CA3-915C87DCB03E}"/>
              </a:ext>
            </a:extLst>
          </p:cNvPr>
          <p:cNvSpPr>
            <a:spLocks xmlns:a="http://schemas.openxmlformats.org/drawingml/2006/main" noGrp="1"/>
          </p:cNvSpPr>
          <p:nvPr/>
        </p:nvSpPr>
        <p:spPr>
          <a:xfrm xmlns:a="http://schemas.openxmlformats.org/drawingml/2006/main">
            <a:off x="0" y="0"/>
            <a:ext cx="6305550" cy="685800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495B9D0-338C-4042-B4B2-05B976853613}"/>
              </a:ext>
            </a:extLst>
          </p:cNvPr>
          <p:cNvSpPr>
            <a:spLocks xmlns:a="http://schemas.openxmlformats.org/drawingml/2006/main" noGrp="1"/>
          </p:cNvSpPr>
          <p:nvPr/>
        </p:nvSpPr>
        <p:spPr>
          <a:xfrm xmlns:a="http://schemas.openxmlformats.org/drawingml/2006/main">
            <a:off x="5810250" y="0"/>
            <a:ext cx="1571625" cy="6858000"/>
          </a:xfrm>
          <a:prstGeom xmlns:a="http://schemas.openxmlformats.org/drawingml/2006/main" prst="rect">
            <a:avLst/>
          </a:prstGeom>
          <a:gradFill xmlns:a="http://schemas.openxmlformats.org/drawingml/2006/main">
            <a:gsLst>
              <a:gs pos="0">
                <a:srgbClr val="12304E">
                  <a:alpha val="100000"/>
                </a:srgbClr>
              </a:gs>
              <a:gs pos="42000">
                <a:srgbClr val="12304E">
                  <a:alpha val="78000"/>
                </a:srgbClr>
              </a:gs>
              <a:gs pos="100000">
                <a:srgbClr val="12304E">
                  <a:alpha val="0"/>
                </a:srgbClr>
              </a:gs>
            </a:gsLst>
            <a:lin ang="540000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C505CEC-BE70-4019-9409-A665B3B25BE2}"/>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6D2BC50-20DA-44BC-A557-3515EA7140C3}"/>
              </a:ext>
            </a:extLst>
          </p:cNvPr>
          <p:cNvSpPr>
            <a:spLocks xmlns:a="http://schemas.openxmlformats.org/drawingml/2006/main" noGrp="1"/>
          </p:cNvSpPr>
          <p:nvPr/>
        </p:nvSpPr>
        <p:spPr>
          <a:xfrm xmlns:a="http://schemas.openxmlformats.org/drawingml/2006/main">
            <a:off x="723900" y="666750"/>
            <a:ext cx="1123950" cy="38100"/>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4660598-9F1F-48E3-BC8E-945F7C55360A}"/>
              </a:ext>
            </a:extLst>
          </p:cNvPr>
          <p:cNvSpPr>
            <a:spLocks xmlns:a="http://schemas.openxmlformats.org/drawingml/2006/main" noGrp="1"/>
          </p:cNvSpPr>
          <p:nvPr/>
        </p:nvSpPr>
        <p:spPr>
          <a:xfrm xmlns:a="http://schemas.openxmlformats.org/drawingml/2006/main">
            <a:off x="723900" y="1009650"/>
            <a:ext cx="461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975" b="1" i="0">
                <a:solidFill>
                  <a:srgbClr val="78D8C8"/>
                </a:solidFill>
                <a:latin typeface="Lato"/>
                <a:ea typeface="Lato"/>
                <a:cs typeface="Lato"/>
              </a:defRPr>
            </a:pPr>
            <a:r>
              <a:rPr sz="975" b="1" i="0">
                <a:solidFill>
                  <a:srgbClr val="78D8C8"/>
                </a:solidFill>
                <a:latin typeface="Lato"/>
                <a:ea typeface="Lato"/>
                <a:cs typeface="Lato"/>
              </a:rPr>
              <a:t>TECHNICAL BRIEFING FOR CORDEX LEADERSHIP</a:t>
            </a:r>
          </a:p>
        </p:txBody>
      </p:sp>
      <p:sp>
        <p:nvSpPr>
          <p:cNvPr id="7" name="">
            <a:extLst xmlns:a="http://schemas.openxmlformats.org/drawingml/2006/main">
              <a:ext uri="{FF2B5EF4-FFF2-40B4-BE49-F238E27FC236}">
                <a16:creationId xmlns:a16="http://schemas.microsoft.com/office/drawing/2014/main" id="{FE20635E-911D-4953-9C54-88B5824DC086}"/>
              </a:ext>
            </a:extLst>
          </p:cNvPr>
          <p:cNvSpPr>
            <a:spLocks xmlns:a="http://schemas.openxmlformats.org/drawingml/2006/main" noGrp="1"/>
          </p:cNvSpPr>
          <p:nvPr/>
        </p:nvSpPr>
        <p:spPr>
          <a:xfrm xmlns:a="http://schemas.openxmlformats.org/drawingml/2006/main">
            <a:off x="723900" y="175260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4125" b="1" i="0">
                <a:solidFill>
                  <a:srgbClr val="FFFFFF"/>
                </a:solidFill>
                <a:latin typeface="Lato"/>
                <a:ea typeface="Lato"/>
                <a:cs typeface="Lato"/>
              </a:defRPr>
            </a:pPr>
            <a:r>
              <a:rPr sz="4125" b="1" i="0">
                <a:solidFill>
                  <a:srgbClr val="FFFFFF"/>
                </a:solidFill>
                <a:latin typeface="Lato"/>
                <a:ea typeface="Lato"/>
                <a:cs typeface="Lato"/>
              </a:rPr>
              <a:t>CAVA and</a:t>
            </a:r>
          </a:p>
          <a:p xmlns:a="http://schemas.openxmlformats.org/drawingml/2006/main">
            <a:pPr algn="l">
              <a:lnSpc>
                <a:spcPct val="90000"/>
              </a:lnSpc>
              <a:buNone/>
              <a:defRPr sz="4125" b="1" i="0">
                <a:solidFill>
                  <a:srgbClr val="FFFFFF"/>
                </a:solidFill>
                <a:latin typeface="Lato"/>
                <a:ea typeface="Lato"/>
                <a:cs typeface="Lato"/>
              </a:defRPr>
            </a:pPr>
            <a:r>
              <a:rPr sz="4125" b="1" i="0">
                <a:solidFill>
                  <a:srgbClr val="FFFFFF"/>
                </a:solidFill>
                <a:latin typeface="Lato"/>
                <a:ea typeface="Lato"/>
                <a:cs typeface="Lato"/>
              </a:rPr>
              <a:t>CORDEX</a:t>
            </a:r>
          </a:p>
        </p:txBody>
      </p:sp>
      <p:sp>
        <p:nvSpPr>
          <p:cNvPr id="8" name="">
            <a:extLst xmlns:a="http://schemas.openxmlformats.org/drawingml/2006/main">
              <a:ext uri="{FF2B5EF4-FFF2-40B4-BE49-F238E27FC236}">
                <a16:creationId xmlns:a16="http://schemas.microsoft.com/office/drawing/2014/main" id="{3F43699C-6EE9-4BCE-B1F4-746A6872BD9B}"/>
              </a:ext>
            </a:extLst>
          </p:cNvPr>
          <p:cNvSpPr>
            <a:spLocks xmlns:a="http://schemas.openxmlformats.org/drawingml/2006/main" noGrp="1"/>
          </p:cNvSpPr>
          <p:nvPr/>
        </p:nvSpPr>
        <p:spPr>
          <a:xfrm xmlns:a="http://schemas.openxmlformats.org/drawingml/2006/main">
            <a:off x="733425" y="3476625"/>
            <a:ext cx="4762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025" b="1" i="0">
                <a:solidFill>
                  <a:srgbClr val="FFFFFF"/>
                </a:solidFill>
                <a:latin typeface="Lato"/>
                <a:ea typeface="Lato"/>
                <a:cs typeface="Lato"/>
              </a:defRPr>
            </a:pPr>
            <a:r>
              <a:rPr sz="2025" b="1" i="0">
                <a:solidFill>
                  <a:srgbClr val="FFFFFF"/>
                </a:solidFill>
                <a:latin typeface="Lato"/>
                <a:ea typeface="Lato"/>
                <a:cs typeface="Lato"/>
              </a:rPr>
              <a:t>Regional climate data in</a:t>
            </a:r>
          </a:p>
          <a:p xmlns:a="http://schemas.openxmlformats.org/drawingml/2006/main">
            <a:pPr algn="l">
              <a:lnSpc>
                <a:spcPct val="102000"/>
              </a:lnSpc>
              <a:buNone/>
              <a:defRPr sz="2025" b="1" i="0">
                <a:solidFill>
                  <a:srgbClr val="FFFFFF"/>
                </a:solidFill>
                <a:latin typeface="Lato"/>
                <a:ea typeface="Lato"/>
                <a:cs typeface="Lato"/>
              </a:defRPr>
            </a:pPr>
            <a:r>
              <a:rPr sz="2025" b="1" i="0">
                <a:solidFill>
                  <a:srgbClr val="FFFFFF"/>
                </a:solidFill>
                <a:latin typeface="Lato"/>
                <a:ea typeface="Lato"/>
                <a:cs typeface="Lato"/>
              </a:rPr>
              <a:t>FAO investment analysis</a:t>
            </a:r>
          </a:p>
        </p:txBody>
      </p:sp>
      <p:sp>
        <p:nvSpPr>
          <p:cNvPr id="9" name="">
            <a:extLst xmlns:a="http://schemas.openxmlformats.org/drawingml/2006/main">
              <a:ext uri="{FF2B5EF4-FFF2-40B4-BE49-F238E27FC236}">
                <a16:creationId xmlns:a16="http://schemas.microsoft.com/office/drawing/2014/main" id="{EE1048FF-285E-4A6D-8783-0EBCD3A35596}"/>
              </a:ext>
            </a:extLst>
          </p:cNvPr>
          <p:cNvSpPr>
            <a:spLocks xmlns:a="http://schemas.openxmlformats.org/drawingml/2006/main" noGrp="1"/>
          </p:cNvSpPr>
          <p:nvPr/>
        </p:nvSpPr>
        <p:spPr>
          <a:xfrm xmlns:a="http://schemas.openxmlformats.org/drawingml/2006/main">
            <a:off x="742950" y="4562475"/>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i="0">
                <a:solidFill>
                  <a:srgbClr val="D7E5EC"/>
                </a:solidFill>
                <a:latin typeface="Lato"/>
                <a:ea typeface="Lato"/>
                <a:cs typeface="Lato"/>
              </a:defRPr>
            </a:pPr>
            <a:r>
              <a:rPr sz="1275" b="0" i="0">
                <a:solidFill>
                  <a:srgbClr val="D7E5EC"/>
                </a:solidFill>
                <a:latin typeface="Lato"/>
                <a:ea typeface="Lato"/>
                <a:cs typeface="Lato"/>
              </a:rPr>
              <a:t>System architecture, analytical workflow and methodological considerations</a:t>
            </a:r>
          </a:p>
        </p:txBody>
      </p:sp>
      <p:sp>
        <p:nvSpPr>
          <p:cNvPr id="10" name="">
            <a:extLst xmlns:a="http://schemas.openxmlformats.org/drawingml/2006/main">
              <a:ext uri="{FF2B5EF4-FFF2-40B4-BE49-F238E27FC236}">
                <a16:creationId xmlns:a16="http://schemas.microsoft.com/office/drawing/2014/main" id="{8424C721-1841-4298-9994-7A437A82999E}"/>
              </a:ext>
            </a:extLst>
          </p:cNvPr>
          <p:cNvSpPr>
            <a:spLocks xmlns:a="http://schemas.openxmlformats.org/drawingml/2006/main" noGrp="1"/>
          </p:cNvSpPr>
          <p:nvPr/>
        </p:nvSpPr>
        <p:spPr>
          <a:xfrm xmlns:a="http://schemas.openxmlformats.org/drawingml/2006/main">
            <a:off x="733425" y="5924550"/>
            <a:ext cx="4191000" cy="9525"/>
          </a:xfrm>
          <a:prstGeom xmlns:a="http://schemas.openxmlformats.org/drawingml/2006/main" prst="rect">
            <a:avLst/>
          </a:prstGeom>
          <a:solidFill xmlns:a="http://schemas.openxmlformats.org/drawingml/2006/main">
            <a:srgbClr val="A8C0CD">
              <a:alpha val="55000"/>
            </a:srgbClr>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DB2CDE4-0A11-44E4-9A5F-19C95958E68C}"/>
              </a:ext>
            </a:extLst>
          </p:cNvPr>
          <p:cNvSpPr>
            <a:spLocks xmlns:a="http://schemas.openxmlformats.org/drawingml/2006/main" noGrp="1"/>
          </p:cNvSpPr>
          <p:nvPr/>
        </p:nvSpPr>
        <p:spPr>
          <a:xfrm xmlns:a="http://schemas.openxmlformats.org/drawingml/2006/main">
            <a:off x="733425" y="6096000"/>
            <a:ext cx="447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0" i="0">
                <a:solidFill>
                  <a:srgbClr val="D7E5EC"/>
                </a:solidFill>
                <a:latin typeface="Lato"/>
                <a:ea typeface="Lato"/>
                <a:cs typeface="Lato"/>
              </a:defRPr>
            </a:pPr>
            <a:r>
              <a:rPr sz="825" b="0" i="0">
                <a:solidFill>
                  <a:srgbClr val="D7E5EC"/>
                </a:solidFill>
                <a:latin typeface="Lato"/>
                <a:ea typeface="Lato"/>
                <a:cs typeface="Lato"/>
              </a:rPr>
              <a:t>Climate and Agriculture Risk Visualization and Assessment</a:t>
            </a:r>
          </a:p>
        </p:txBody>
      </p:sp>
    </p:spTree>
    <p:extLst>
      <p:ext uri="{BB962C8B-B14F-4D97-AF65-F5344CB8AC3E}">
        <p14:creationId xmlns:p14="http://schemas.microsoft.com/office/powerpoint/2010/main" val="434873468"/>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521A095-6C6C-4112-AE09-A5B6C3230EEE}"/>
              </a:ext>
            </a:extLst>
          </p:cNvPr>
          <p:cNvSpPr>
            <a:spLocks xmlns:a="http://schemas.openxmlformats.org/drawingml/2006/main" noGrp="1"/>
          </p:cNvSpPr>
          <p:nvPr/>
        </p:nvSpPr>
        <p:spPr>
          <a:xfrm xmlns:a="http://schemas.openxmlformats.org/drawingml/2006/main">
            <a:off x="628650" y="4000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i="0">
                <a:solidFill>
                  <a:srgbClr val="12304E"/>
                </a:solidFill>
                <a:latin typeface="Lato"/>
                <a:ea typeface="Lato"/>
                <a:cs typeface="Lato"/>
              </a:defRPr>
            </a:pPr>
            <a:r>
              <a:rPr sz="2325" b="1" i="0">
                <a:solidFill>
                  <a:srgbClr val="12304E"/>
                </a:solidFill>
                <a:latin typeface="Lato"/>
                <a:ea typeface="Lato"/>
                <a:cs typeface="Lato"/>
              </a:rPr>
              <a:t>Institutional setting for climate risk analysis</a:t>
            </a:r>
          </a:p>
        </p:txBody>
      </p:sp>
      <p:sp>
        <p:nvSpPr>
          <p:cNvPr id="2" name="">
            <a:extLst xmlns:a="http://schemas.openxmlformats.org/drawingml/2006/main">
              <a:ext uri="{FF2B5EF4-FFF2-40B4-BE49-F238E27FC236}">
                <a16:creationId xmlns:a16="http://schemas.microsoft.com/office/drawing/2014/main" id="{F034884F-0B2A-4000-A11B-4ACFC7A0E8FB}"/>
              </a:ext>
            </a:extLst>
          </p:cNvPr>
          <p:cNvSpPr>
            <a:spLocks xmlns:a="http://schemas.openxmlformats.org/drawingml/2006/main" noGrp="1"/>
          </p:cNvSpPr>
          <p:nvPr/>
        </p:nvSpPr>
        <p:spPr>
          <a:xfrm xmlns:a="http://schemas.openxmlformats.org/drawingml/2006/main">
            <a:off x="647700" y="9620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687984"/>
                </a:solidFill>
                <a:latin typeface="Lato"/>
                <a:ea typeface="Lato"/>
                <a:cs typeface="Lato"/>
              </a:defRPr>
            </a:pPr>
            <a:r>
              <a:rPr sz="1125" b="0" i="0">
                <a:solidFill>
                  <a:srgbClr val="687984"/>
                </a:solidFill>
                <a:latin typeface="Lato"/>
                <a:ea typeface="Lato"/>
                <a:cs typeface="Lato"/>
              </a:rPr>
              <a:t>FAO uses climate information in the preparation of adaptation investments and climate-resilient projects</a:t>
            </a:r>
          </a:p>
        </p:txBody>
      </p:sp>
      <p:sp>
        <p:nvSpPr>
          <p:cNvPr id="3" name="">
            <a:extLst xmlns:a="http://schemas.openxmlformats.org/drawingml/2006/main">
              <a:ext uri="{FF2B5EF4-FFF2-40B4-BE49-F238E27FC236}">
                <a16:creationId xmlns:a16="http://schemas.microsoft.com/office/drawing/2014/main" id="{C6742289-EA3B-4D60-964B-56F9DDF23D65}"/>
              </a:ext>
            </a:extLst>
          </p:cNvPr>
          <p:cNvSpPr>
            <a:spLocks xmlns:a="http://schemas.openxmlformats.org/drawingml/2006/main" noGrp="1"/>
          </p:cNvSpPr>
          <p:nvPr/>
        </p:nvSpPr>
        <p:spPr>
          <a:xfrm xmlns:a="http://schemas.openxmlformats.org/drawingml/2006/main">
            <a:off x="647700" y="13430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5E254DD-2CC9-46F5-9C76-3741AAED7CDC}"/>
              </a:ext>
            </a:extLst>
          </p:cNvPr>
          <p:cNvSpPr>
            <a:spLocks xmlns:a="http://schemas.openxmlformats.org/drawingml/2006/main" noGrp="1"/>
          </p:cNvSpPr>
          <p:nvPr/>
        </p:nvSpPr>
        <p:spPr>
          <a:xfrm xmlns:a="http://schemas.openxmlformats.org/drawingml/2006/main">
            <a:off x="657225" y="1457325"/>
            <a:ext cx="9906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5936F23-23CD-44EF-9202-595D683C089B}"/>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4A048D8-787D-4D3C-A78C-D3B0D4904F4C}"/>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50" b="1" i="0">
                <a:solidFill>
                  <a:srgbClr val="687984"/>
                </a:solidFill>
                <a:latin typeface="Lato"/>
                <a:ea typeface="Lato"/>
                <a:cs typeface="Lato"/>
              </a:defRPr>
            </a:pPr>
            <a:r>
              <a:rPr sz="750" b="1" i="0">
                <a:solidFill>
                  <a:srgbClr val="687984"/>
                </a:solidFill>
                <a:latin typeface="Lato"/>
                <a:ea typeface="Lato"/>
                <a:cs typeface="Lato"/>
              </a:rPr>
              <a:t>CAVA × CORDEX</a:t>
            </a:r>
          </a:p>
        </p:txBody>
      </p:sp>
      <p:sp>
        <p:nvSpPr>
          <p:cNvPr id="7" name="">
            <a:extLst xmlns:a="http://schemas.openxmlformats.org/drawingml/2006/main">
              <a:ext uri="{FF2B5EF4-FFF2-40B4-BE49-F238E27FC236}">
                <a16:creationId xmlns:a16="http://schemas.microsoft.com/office/drawing/2014/main" id="{B98A7A34-E69B-46C8-B0B5-7BAFC6B1BD76}"/>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750" b="0" i="0">
                <a:solidFill>
                  <a:srgbClr val="687984"/>
                </a:solidFill>
                <a:latin typeface="Lato"/>
                <a:ea typeface="Lato"/>
                <a:cs typeface="Lato"/>
              </a:defRPr>
            </a:pPr>
            <a:r>
              <a:rPr sz="750" b="0" i="0">
                <a:solidFill>
                  <a:srgbClr val="687984"/>
                </a:solidFill>
                <a:latin typeface="Lato"/>
                <a:ea typeface="Lato"/>
                <a:cs typeface="Lato"/>
              </a:rPr>
              <a:t>02</a:t>
            </a:r>
          </a:p>
        </p:txBody>
      </p:sp>
      <p:sp>
        <p:nvSpPr>
          <p:cNvPr id="8" name="">
            <a:extLst xmlns:a="http://schemas.openxmlformats.org/drawingml/2006/main">
              <a:ext uri="{FF2B5EF4-FFF2-40B4-BE49-F238E27FC236}">
                <a16:creationId xmlns:a16="http://schemas.microsoft.com/office/drawing/2014/main" id="{5DE5AD0C-3B2D-47B1-8901-C4D5928700AD}"/>
              </a:ext>
            </a:extLst>
          </p:cNvPr>
          <p:cNvSpPr>
            <a:spLocks xmlns:a="http://schemas.openxmlformats.org/drawingml/2006/main" noGrp="1"/>
          </p:cNvSpPr>
          <p:nvPr/>
        </p:nvSpPr>
        <p:spPr>
          <a:xfrm xmlns:a="http://schemas.openxmlformats.org/drawingml/2006/main">
            <a:off x="704850" y="17907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00A88F"/>
                </a:solidFill>
                <a:latin typeface="Lato"/>
                <a:ea typeface="Lato"/>
                <a:cs typeface="Lato"/>
              </a:defRPr>
            </a:pPr>
            <a:r>
              <a:rPr sz="825" b="1" i="0">
                <a:solidFill>
                  <a:srgbClr val="00A88F"/>
                </a:solidFill>
                <a:latin typeface="Lato"/>
                <a:ea typeface="Lato"/>
                <a:cs typeface="Lato"/>
              </a:rPr>
              <a:t>FAO CLIMATE RISK TEAM</a:t>
            </a:r>
          </a:p>
        </p:txBody>
      </p:sp>
      <p:sp>
        <p:nvSpPr>
          <p:cNvPr id="9" name="">
            <a:extLst xmlns:a="http://schemas.openxmlformats.org/drawingml/2006/main">
              <a:ext uri="{FF2B5EF4-FFF2-40B4-BE49-F238E27FC236}">
                <a16:creationId xmlns:a16="http://schemas.microsoft.com/office/drawing/2014/main" id="{57E166B2-7C96-404A-A9B6-890036F83867}"/>
              </a:ext>
            </a:extLst>
          </p:cNvPr>
          <p:cNvSpPr>
            <a:spLocks xmlns:a="http://schemas.openxmlformats.org/drawingml/2006/main" noGrp="1"/>
          </p:cNvSpPr>
          <p:nvPr/>
        </p:nvSpPr>
        <p:spPr>
          <a:xfrm xmlns:a="http://schemas.openxmlformats.org/drawingml/2006/main">
            <a:off x="704850" y="217170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65"/>
          </a:bodyPr>
          <a:lstStyle xmlns:a="http://schemas.openxmlformats.org/drawingml/2006/main"/>
          <a:p xmlns:a="http://schemas.openxmlformats.org/drawingml/2006/main">
            <a:pPr algn="l">
              <a:lnSpc>
                <a:spcPct val="104000"/>
              </a:lnSpc>
              <a:buNone/>
              <a:defRPr sz="2025" b="1" i="0">
                <a:solidFill>
                  <a:srgbClr val="12304E"/>
                </a:solidFill>
                <a:latin typeface="Lato"/>
                <a:ea typeface="Lato"/>
                <a:cs typeface="Lato"/>
              </a:defRPr>
            </a:pPr>
            <a:r>
              <a:rPr sz="2025" b="1" i="0">
                <a:solidFill>
                  <a:srgbClr val="12304E"/>
                </a:solidFill>
                <a:latin typeface="Lato"/>
                <a:ea typeface="Lato"/>
                <a:cs typeface="Lato"/>
              </a:rPr>
              <a:t>Climate analysis within project design</a:t>
            </a:r>
          </a:p>
        </p:txBody>
      </p:sp>
      <p:sp>
        <p:nvSpPr>
          <p:cNvPr id="10" name="">
            <a:extLst xmlns:a="http://schemas.openxmlformats.org/drawingml/2006/main">
              <a:ext uri="{FF2B5EF4-FFF2-40B4-BE49-F238E27FC236}">
                <a16:creationId xmlns:a16="http://schemas.microsoft.com/office/drawing/2014/main" id="{14A8E6A7-C61F-4F83-BA02-5E6056019C0F}"/>
              </a:ext>
            </a:extLst>
          </p:cNvPr>
          <p:cNvSpPr>
            <a:spLocks xmlns:a="http://schemas.openxmlformats.org/drawingml/2006/main" noGrp="1"/>
          </p:cNvSpPr>
          <p:nvPr/>
        </p:nvSpPr>
        <p:spPr>
          <a:xfrm xmlns:a="http://schemas.openxmlformats.org/drawingml/2006/main">
            <a:off x="704850" y="2743200"/>
            <a:ext cx="4476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995"/>
          </a:bodyPr>
          <a:lstStyle xmlns:a="http://schemas.openxmlformats.org/drawingml/2006/main"/>
          <a:p xmlns:a="http://schemas.openxmlformats.org/drawingml/2006/main">
            <a:pPr algn="l">
              <a:lnSpc>
                <a:spcPct val="110000"/>
              </a:lnSpc>
              <a:buNone/>
              <a:defRPr sz="1350" b="0" i="0">
                <a:solidFill>
                  <a:srgbClr val="687984"/>
                </a:solidFill>
                <a:latin typeface="Lato"/>
                <a:ea typeface="Lato"/>
                <a:cs typeface="Lato"/>
              </a:defRPr>
            </a:pPr>
            <a:r>
              <a:rPr sz="1350" b="0" i="0">
                <a:solidFill>
                  <a:srgbClr val="687984"/>
                </a:solidFill>
                <a:latin typeface="Lato"/>
                <a:ea typeface="Lato"/>
                <a:cs typeface="Lato"/>
              </a:rPr>
              <a:t>The team combines observed climate information and projections with sector knowledge to support project formulation.</a:t>
            </a:r>
          </a:p>
        </p:txBody>
      </p:sp>
      <p:sp>
        <p:nvSpPr>
          <p:cNvPr id="11" name="">
            <a:extLst xmlns:a="http://schemas.openxmlformats.org/drawingml/2006/main">
              <a:ext uri="{FF2B5EF4-FFF2-40B4-BE49-F238E27FC236}">
                <a16:creationId xmlns:a16="http://schemas.microsoft.com/office/drawing/2014/main" id="{9986CEFA-C73A-47A6-93B7-02B36184FFE1}"/>
              </a:ext>
            </a:extLst>
          </p:cNvPr>
          <p:cNvSpPr>
            <a:spLocks xmlns:a="http://schemas.openxmlformats.org/drawingml/2006/main" noGrp="1"/>
          </p:cNvSpPr>
          <p:nvPr/>
        </p:nvSpPr>
        <p:spPr>
          <a:xfrm xmlns:a="http://schemas.openxmlformats.org/drawingml/2006/main">
            <a:off x="723900" y="372427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1" i="0">
                <a:solidFill>
                  <a:srgbClr val="00A88F"/>
                </a:solidFill>
                <a:latin typeface="Lato"/>
                <a:ea typeface="Lato"/>
                <a:cs typeface="Lato"/>
              </a:defRPr>
            </a:pPr>
            <a:r>
              <a:rPr sz="1200" b="1" i="0">
                <a:solidFill>
                  <a:srgbClr val="00A88F"/>
                </a:solidFill>
                <a:latin typeface="Lato"/>
                <a:ea typeface="Lato"/>
                <a:cs typeface="Lato"/>
              </a:rPr>
              <a:t>01</a:t>
            </a:r>
          </a:p>
        </p:txBody>
      </p:sp>
      <p:sp>
        <p:nvSpPr>
          <p:cNvPr id="12" name="">
            <a:extLst xmlns:a="http://schemas.openxmlformats.org/drawingml/2006/main">
              <a:ext uri="{FF2B5EF4-FFF2-40B4-BE49-F238E27FC236}">
                <a16:creationId xmlns:a16="http://schemas.microsoft.com/office/drawing/2014/main" id="{8031CD19-15FE-4BA0-9D51-1381B5A4C5C9}"/>
              </a:ext>
            </a:extLst>
          </p:cNvPr>
          <p:cNvSpPr>
            <a:spLocks xmlns:a="http://schemas.openxmlformats.org/drawingml/2006/main" noGrp="1"/>
          </p:cNvSpPr>
          <p:nvPr/>
        </p:nvSpPr>
        <p:spPr>
          <a:xfrm xmlns:a="http://schemas.openxmlformats.org/drawingml/2006/main">
            <a:off x="1257300" y="3714750"/>
            <a:ext cx="142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1" i="0">
                <a:solidFill>
                  <a:srgbClr val="12304E"/>
                </a:solidFill>
                <a:latin typeface="Lato"/>
                <a:ea typeface="Lato"/>
                <a:cs typeface="Lato"/>
              </a:defRPr>
            </a:pPr>
            <a:r>
              <a:rPr sz="1200" b="1" i="0">
                <a:solidFill>
                  <a:srgbClr val="12304E"/>
                </a:solidFill>
                <a:latin typeface="Lato"/>
                <a:ea typeface="Lato"/>
                <a:cs typeface="Lato"/>
              </a:rPr>
              <a:t>Climate rationale</a:t>
            </a:r>
          </a:p>
        </p:txBody>
      </p:sp>
      <p:sp>
        <p:nvSpPr>
          <p:cNvPr id="13" name="">
            <a:extLst xmlns:a="http://schemas.openxmlformats.org/drawingml/2006/main">
              <a:ext uri="{FF2B5EF4-FFF2-40B4-BE49-F238E27FC236}">
                <a16:creationId xmlns:a16="http://schemas.microsoft.com/office/drawing/2014/main" id="{A1176F55-3E7F-4591-8400-6F840946B411}"/>
              </a:ext>
            </a:extLst>
          </p:cNvPr>
          <p:cNvSpPr>
            <a:spLocks xmlns:a="http://schemas.openxmlformats.org/drawingml/2006/main" noGrp="1"/>
          </p:cNvSpPr>
          <p:nvPr/>
        </p:nvSpPr>
        <p:spPr>
          <a:xfrm xmlns:a="http://schemas.openxmlformats.org/drawingml/2006/main">
            <a:off x="2771775" y="371475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87984"/>
                </a:solidFill>
                <a:latin typeface="Lato"/>
                <a:ea typeface="Lato"/>
                <a:cs typeface="Lato"/>
              </a:defRPr>
            </a:pPr>
            <a:r>
              <a:rPr sz="1050" b="0" i="0">
                <a:solidFill>
                  <a:srgbClr val="687984"/>
                </a:solidFill>
                <a:latin typeface="Lato"/>
                <a:ea typeface="Lato"/>
                <a:cs typeface="Lato"/>
              </a:rPr>
              <a:t>Describe relevant historical trends and plausible future changes</a:t>
            </a:r>
          </a:p>
        </p:txBody>
      </p:sp>
      <p:sp>
        <p:nvSpPr>
          <p:cNvPr id="14" name="">
            <a:extLst xmlns:a="http://schemas.openxmlformats.org/drawingml/2006/main">
              <a:ext uri="{FF2B5EF4-FFF2-40B4-BE49-F238E27FC236}">
                <a16:creationId xmlns:a16="http://schemas.microsoft.com/office/drawing/2014/main" id="{8E870541-F8E5-41C9-BEE6-6061ACD39791}"/>
              </a:ext>
            </a:extLst>
          </p:cNvPr>
          <p:cNvSpPr>
            <a:spLocks xmlns:a="http://schemas.openxmlformats.org/drawingml/2006/main" noGrp="1"/>
          </p:cNvSpPr>
          <p:nvPr/>
        </p:nvSpPr>
        <p:spPr>
          <a:xfrm xmlns:a="http://schemas.openxmlformats.org/drawingml/2006/main">
            <a:off x="723900" y="4343400"/>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1" i="0">
                <a:solidFill>
                  <a:srgbClr val="00A88F"/>
                </a:solidFill>
                <a:latin typeface="Lato"/>
                <a:ea typeface="Lato"/>
                <a:cs typeface="Lato"/>
              </a:defRPr>
            </a:pPr>
            <a:r>
              <a:rPr sz="1200" b="1" i="0">
                <a:solidFill>
                  <a:srgbClr val="00A88F"/>
                </a:solidFill>
                <a:latin typeface="Lato"/>
                <a:ea typeface="Lato"/>
                <a:cs typeface="Lato"/>
              </a:rPr>
              <a:t>02</a:t>
            </a:r>
          </a:p>
        </p:txBody>
      </p:sp>
      <p:sp>
        <p:nvSpPr>
          <p:cNvPr id="15" name="">
            <a:extLst xmlns:a="http://schemas.openxmlformats.org/drawingml/2006/main">
              <a:ext uri="{FF2B5EF4-FFF2-40B4-BE49-F238E27FC236}">
                <a16:creationId xmlns:a16="http://schemas.microsoft.com/office/drawing/2014/main" id="{2543BF30-8446-4AFC-9747-673084A37B21}"/>
              </a:ext>
            </a:extLst>
          </p:cNvPr>
          <p:cNvSpPr>
            <a:spLocks xmlns:a="http://schemas.openxmlformats.org/drawingml/2006/main" noGrp="1"/>
          </p:cNvSpPr>
          <p:nvPr/>
        </p:nvSpPr>
        <p:spPr>
          <a:xfrm xmlns:a="http://schemas.openxmlformats.org/drawingml/2006/main">
            <a:off x="1257300" y="4333875"/>
            <a:ext cx="142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1" i="0">
                <a:solidFill>
                  <a:srgbClr val="12304E"/>
                </a:solidFill>
                <a:latin typeface="Lato"/>
                <a:ea typeface="Lato"/>
                <a:cs typeface="Lato"/>
              </a:defRPr>
            </a:pPr>
            <a:r>
              <a:rPr sz="1200" b="1" i="0">
                <a:solidFill>
                  <a:srgbClr val="12304E"/>
                </a:solidFill>
                <a:latin typeface="Lato"/>
                <a:ea typeface="Lato"/>
                <a:cs typeface="Lato"/>
              </a:rPr>
              <a:t>Risk analysis</a:t>
            </a:r>
          </a:p>
        </p:txBody>
      </p:sp>
      <p:sp>
        <p:nvSpPr>
          <p:cNvPr id="16" name="">
            <a:extLst xmlns:a="http://schemas.openxmlformats.org/drawingml/2006/main">
              <a:ext uri="{FF2B5EF4-FFF2-40B4-BE49-F238E27FC236}">
                <a16:creationId xmlns:a16="http://schemas.microsoft.com/office/drawing/2014/main" id="{9F909C96-C72C-47CF-BE58-761A5CD82D54}"/>
              </a:ext>
            </a:extLst>
          </p:cNvPr>
          <p:cNvSpPr>
            <a:spLocks xmlns:a="http://schemas.openxmlformats.org/drawingml/2006/main" noGrp="1"/>
          </p:cNvSpPr>
          <p:nvPr/>
        </p:nvSpPr>
        <p:spPr>
          <a:xfrm xmlns:a="http://schemas.openxmlformats.org/drawingml/2006/main">
            <a:off x="2771775" y="4333875"/>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87984"/>
                </a:solidFill>
                <a:latin typeface="Lato"/>
                <a:ea typeface="Lato"/>
                <a:cs typeface="Lato"/>
              </a:defRPr>
            </a:pPr>
            <a:r>
              <a:rPr sz="1050" b="0" i="0">
                <a:solidFill>
                  <a:srgbClr val="687984"/>
                </a:solidFill>
                <a:latin typeface="Lato"/>
                <a:ea typeface="Lato"/>
                <a:cs typeface="Lato"/>
              </a:rPr>
              <a:t>Connect hazards with agricultural systems, exposure and vulnerability</a:t>
            </a:r>
          </a:p>
        </p:txBody>
      </p:sp>
      <p:sp>
        <p:nvSpPr>
          <p:cNvPr id="17" name="">
            <a:extLst xmlns:a="http://schemas.openxmlformats.org/drawingml/2006/main">
              <a:ext uri="{FF2B5EF4-FFF2-40B4-BE49-F238E27FC236}">
                <a16:creationId xmlns:a16="http://schemas.microsoft.com/office/drawing/2014/main" id="{CF2DEBBF-EBEF-4003-88B4-5903CD75DDFF}"/>
              </a:ext>
            </a:extLst>
          </p:cNvPr>
          <p:cNvSpPr>
            <a:spLocks xmlns:a="http://schemas.openxmlformats.org/drawingml/2006/main" noGrp="1"/>
          </p:cNvSpPr>
          <p:nvPr/>
        </p:nvSpPr>
        <p:spPr>
          <a:xfrm xmlns:a="http://schemas.openxmlformats.org/drawingml/2006/main">
            <a:off x="723900" y="496252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1" i="0">
                <a:solidFill>
                  <a:srgbClr val="00A88F"/>
                </a:solidFill>
                <a:latin typeface="Lato"/>
                <a:ea typeface="Lato"/>
                <a:cs typeface="Lato"/>
              </a:defRPr>
            </a:pPr>
            <a:r>
              <a:rPr sz="1200" b="1" i="0">
                <a:solidFill>
                  <a:srgbClr val="00A88F"/>
                </a:solidFill>
                <a:latin typeface="Lato"/>
                <a:ea typeface="Lato"/>
                <a:cs typeface="Lato"/>
              </a:rPr>
              <a:t>03</a:t>
            </a:r>
          </a:p>
        </p:txBody>
      </p:sp>
      <p:sp>
        <p:nvSpPr>
          <p:cNvPr id="18" name="">
            <a:extLst xmlns:a="http://schemas.openxmlformats.org/drawingml/2006/main">
              <a:ext uri="{FF2B5EF4-FFF2-40B4-BE49-F238E27FC236}">
                <a16:creationId xmlns:a16="http://schemas.microsoft.com/office/drawing/2014/main" id="{310CCAC4-5C4E-4D95-A937-7181D92123A7}"/>
              </a:ext>
            </a:extLst>
          </p:cNvPr>
          <p:cNvSpPr>
            <a:spLocks xmlns:a="http://schemas.openxmlformats.org/drawingml/2006/main" noGrp="1"/>
          </p:cNvSpPr>
          <p:nvPr/>
        </p:nvSpPr>
        <p:spPr>
          <a:xfrm xmlns:a="http://schemas.openxmlformats.org/drawingml/2006/main">
            <a:off x="1257300" y="4953000"/>
            <a:ext cx="142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1" i="0">
                <a:solidFill>
                  <a:srgbClr val="12304E"/>
                </a:solidFill>
                <a:latin typeface="Lato"/>
                <a:ea typeface="Lato"/>
                <a:cs typeface="Lato"/>
              </a:defRPr>
            </a:pPr>
            <a:r>
              <a:rPr sz="1200" b="1" i="0">
                <a:solidFill>
                  <a:srgbClr val="12304E"/>
                </a:solidFill>
                <a:latin typeface="Lato"/>
                <a:ea typeface="Lato"/>
                <a:cs typeface="Lato"/>
              </a:rPr>
              <a:t>Project design</a:t>
            </a:r>
          </a:p>
        </p:txBody>
      </p:sp>
      <p:sp>
        <p:nvSpPr>
          <p:cNvPr id="19" name="">
            <a:extLst xmlns:a="http://schemas.openxmlformats.org/drawingml/2006/main">
              <a:ext uri="{FF2B5EF4-FFF2-40B4-BE49-F238E27FC236}">
                <a16:creationId xmlns:a16="http://schemas.microsoft.com/office/drawing/2014/main" id="{EB65205B-A918-4486-A4CF-DE0388A3AFC4}"/>
              </a:ext>
            </a:extLst>
          </p:cNvPr>
          <p:cNvSpPr>
            <a:spLocks xmlns:a="http://schemas.openxmlformats.org/drawingml/2006/main" noGrp="1"/>
          </p:cNvSpPr>
          <p:nvPr/>
        </p:nvSpPr>
        <p:spPr>
          <a:xfrm xmlns:a="http://schemas.openxmlformats.org/drawingml/2006/main">
            <a:off x="2771775" y="495300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87984"/>
                </a:solidFill>
                <a:latin typeface="Lato"/>
                <a:ea typeface="Lato"/>
                <a:cs typeface="Lato"/>
              </a:defRPr>
            </a:pPr>
            <a:r>
              <a:rPr sz="1050" b="0" i="0">
                <a:solidFill>
                  <a:srgbClr val="687984"/>
                </a:solidFill>
                <a:latin typeface="Lato"/>
                <a:ea typeface="Lato"/>
                <a:cs typeface="Lato"/>
              </a:rPr>
              <a:t>Assess adaptation options and climate resilience of proposed activities</a:t>
            </a:r>
          </a:p>
        </p:txBody>
      </p:sp>
      <p:sp>
        <p:nvSpPr>
          <p:cNvPr id="20" name="">
            <a:extLst xmlns:a="http://schemas.openxmlformats.org/drawingml/2006/main">
              <a:ext uri="{FF2B5EF4-FFF2-40B4-BE49-F238E27FC236}">
                <a16:creationId xmlns:a16="http://schemas.microsoft.com/office/drawing/2014/main" id="{BE873CF9-4929-44F7-AA91-C3775154687B}"/>
              </a:ext>
            </a:extLst>
          </p:cNvPr>
          <p:cNvSpPr>
            <a:spLocks xmlns:a="http://schemas.openxmlformats.org/drawingml/2006/main" noGrp="1"/>
          </p:cNvSpPr>
          <p:nvPr/>
        </p:nvSpPr>
        <p:spPr>
          <a:xfrm xmlns:a="http://schemas.openxmlformats.org/drawingml/2006/main">
            <a:off x="5715000" y="1752600"/>
            <a:ext cx="9525" cy="400050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5469942-CA9C-4D68-9C3E-1D6F77A51011}"/>
              </a:ext>
            </a:extLst>
          </p:cNvPr>
          <p:cNvSpPr>
            <a:spLocks xmlns:a="http://schemas.openxmlformats.org/drawingml/2006/main" noGrp="1"/>
          </p:cNvSpPr>
          <p:nvPr/>
        </p:nvSpPr>
        <p:spPr>
          <a:xfrm xmlns:a="http://schemas.openxmlformats.org/drawingml/2006/main">
            <a:off x="6210300" y="1790700"/>
            <a:ext cx="419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F2B632"/>
                </a:solidFill>
                <a:latin typeface="Lato"/>
                <a:ea typeface="Lato"/>
                <a:cs typeface="Lato"/>
              </a:defRPr>
            </a:pPr>
            <a:r>
              <a:rPr sz="825" b="1" i="0">
                <a:solidFill>
                  <a:srgbClr val="F2B632"/>
                </a:solidFill>
                <a:latin typeface="Lato"/>
                <a:ea typeface="Lato"/>
                <a:cs typeface="Lato"/>
              </a:rPr>
              <a:t>CLIMATE-FINANCE CONTEXT</a:t>
            </a:r>
          </a:p>
        </p:txBody>
      </p:sp>
      <p:sp>
        <p:nvSpPr>
          <p:cNvPr id="22" name="">
            <a:extLst xmlns:a="http://schemas.openxmlformats.org/drawingml/2006/main">
              <a:ext uri="{FF2B5EF4-FFF2-40B4-BE49-F238E27FC236}">
                <a16:creationId xmlns:a16="http://schemas.microsoft.com/office/drawing/2014/main" id="{68045DD8-B91E-44A6-9B92-5E86FDAB9F93}"/>
              </a:ext>
            </a:extLst>
          </p:cNvPr>
          <p:cNvSpPr>
            <a:spLocks xmlns:a="http://schemas.openxmlformats.org/drawingml/2006/main" noGrp="1"/>
          </p:cNvSpPr>
          <p:nvPr/>
        </p:nvSpPr>
        <p:spPr>
          <a:xfrm xmlns:a="http://schemas.openxmlformats.org/drawingml/2006/main">
            <a:off x="6219825" y="2181225"/>
            <a:ext cx="4572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5400" b="1" i="0">
                <a:solidFill>
                  <a:srgbClr val="A86F00"/>
                </a:solidFill>
                <a:latin typeface="Lato"/>
                <a:ea typeface="Lato"/>
                <a:cs typeface="Lato"/>
              </a:defRPr>
            </a:pPr>
            <a:r>
              <a:rPr sz="5400" b="1" i="0">
                <a:solidFill>
                  <a:srgbClr val="A86F00"/>
                </a:solidFill>
                <a:latin typeface="Lato"/>
                <a:ea typeface="Lato"/>
                <a:cs typeface="Lato"/>
              </a:rPr>
              <a:t>≈80%</a:t>
            </a:r>
          </a:p>
        </p:txBody>
      </p:sp>
      <p:sp>
        <p:nvSpPr>
          <p:cNvPr id="23" name="">
            <a:extLst xmlns:a="http://schemas.openxmlformats.org/drawingml/2006/main">
              <a:ext uri="{FF2B5EF4-FFF2-40B4-BE49-F238E27FC236}">
                <a16:creationId xmlns:a16="http://schemas.microsoft.com/office/drawing/2014/main" id="{30CFB881-E12D-4316-A24F-0E020801AB0D}"/>
              </a:ext>
            </a:extLst>
          </p:cNvPr>
          <p:cNvSpPr>
            <a:spLocks xmlns:a="http://schemas.openxmlformats.org/drawingml/2006/main" noGrp="1"/>
          </p:cNvSpPr>
          <p:nvPr/>
        </p:nvSpPr>
        <p:spPr>
          <a:xfrm xmlns:a="http://schemas.openxmlformats.org/drawingml/2006/main">
            <a:off x="6486525" y="3209925"/>
            <a:ext cx="4048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339"/>
          </a:bodyPr>
          <a:lstStyle xmlns:a="http://schemas.openxmlformats.org/drawingml/2006/main"/>
          <a:p xmlns:a="http://schemas.openxmlformats.org/drawingml/2006/main">
            <a:pPr algn="ctr">
              <a:lnSpc>
                <a:spcPct val="104000"/>
              </a:lnSpc>
              <a:buNone/>
              <a:defRPr sz="1650" b="1" i="0">
                <a:solidFill>
                  <a:srgbClr val="12304E"/>
                </a:solidFill>
                <a:latin typeface="Lato"/>
                <a:ea typeface="Lato"/>
                <a:cs typeface="Lato"/>
              </a:defRPr>
            </a:pPr>
            <a:r>
              <a:rPr sz="1650" b="1" i="0">
                <a:solidFill>
                  <a:srgbClr val="12304E"/>
                </a:solidFill>
                <a:latin typeface="Lato"/>
                <a:ea typeface="Lato"/>
                <a:cs typeface="Lato"/>
              </a:rPr>
              <a:t>of the team’s climate-finance funding envelope</a:t>
            </a:r>
          </a:p>
        </p:txBody>
      </p:sp>
      <p:sp>
        <p:nvSpPr>
          <p:cNvPr id="24" name="">
            <a:extLst xmlns:a="http://schemas.openxmlformats.org/drawingml/2006/main">
              <a:ext uri="{FF2B5EF4-FFF2-40B4-BE49-F238E27FC236}">
                <a16:creationId xmlns:a16="http://schemas.microsoft.com/office/drawing/2014/main" id="{4EF6498B-99B2-4F56-B90D-9B5E715BABAB}"/>
              </a:ext>
            </a:extLst>
          </p:cNvPr>
          <p:cNvSpPr>
            <a:spLocks xmlns:a="http://schemas.openxmlformats.org/drawingml/2006/main" noGrp="1"/>
          </p:cNvSpPr>
          <p:nvPr/>
        </p:nvSpPr>
        <p:spPr>
          <a:xfrm xmlns:a="http://schemas.openxmlformats.org/drawingml/2006/main">
            <a:off x="6496050" y="3943350"/>
            <a:ext cx="4038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0000"/>
              </a:lnSpc>
              <a:buNone/>
              <a:defRPr sz="1275" b="0" i="0">
                <a:solidFill>
                  <a:srgbClr val="687984"/>
                </a:solidFill>
                <a:latin typeface="Lato"/>
                <a:ea typeface="Lato"/>
                <a:cs typeface="Lato"/>
              </a:defRPr>
            </a:pPr>
            <a:r>
              <a:rPr sz="1275" b="0" i="0">
                <a:solidFill>
                  <a:srgbClr val="687984"/>
                </a:solidFill>
                <a:latin typeface="Lato"/>
                <a:ea typeface="Lato"/>
                <a:cs typeface="Lato"/>
              </a:rPr>
              <a:t>is associated with projects prepared for the Green Climate Fund and the Global Environment Facility</a:t>
            </a:r>
          </a:p>
        </p:txBody>
      </p:sp>
      <p:sp>
        <p:nvSpPr>
          <p:cNvPr id="25" name="">
            <a:extLst xmlns:a="http://schemas.openxmlformats.org/drawingml/2006/main">
              <a:ext uri="{FF2B5EF4-FFF2-40B4-BE49-F238E27FC236}">
                <a16:creationId xmlns:a16="http://schemas.microsoft.com/office/drawing/2014/main" id="{4BDD0929-6FDA-436A-B9DD-82CC498F68F5}"/>
              </a:ext>
            </a:extLst>
          </p:cNvPr>
          <p:cNvSpPr>
            <a:spLocks xmlns:a="http://schemas.openxmlformats.org/drawingml/2006/main" noGrp="1"/>
          </p:cNvSpPr>
          <p:nvPr/>
        </p:nvSpPr>
        <p:spPr>
          <a:xfrm xmlns:a="http://schemas.openxmlformats.org/drawingml/2006/main">
            <a:off x="6229350" y="4943475"/>
            <a:ext cx="4524375" cy="64770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447B1FD-8339-459F-853E-4A0C5AA8F47B}"/>
              </a:ext>
            </a:extLst>
          </p:cNvPr>
          <p:cNvSpPr>
            <a:spLocks xmlns:a="http://schemas.openxmlformats.org/drawingml/2006/main" noGrp="1"/>
          </p:cNvSpPr>
          <p:nvPr/>
        </p:nvSpPr>
        <p:spPr>
          <a:xfrm xmlns:a="http://schemas.openxmlformats.org/drawingml/2006/main">
            <a:off x="6486525" y="5067300"/>
            <a:ext cx="4010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3870"/>
          </a:bodyPr>
          <a:lstStyle xmlns:a="http://schemas.openxmlformats.org/drawingml/2006/main"/>
          <a:p xmlns:a="http://schemas.openxmlformats.org/drawingml/2006/main">
            <a:pPr algn="ctr">
              <a:lnSpc>
                <a:spcPct val="104000"/>
              </a:lnSpc>
              <a:buNone/>
              <a:defRPr sz="1125" b="1" i="0">
                <a:solidFill>
                  <a:srgbClr val="FFFFFF"/>
                </a:solidFill>
                <a:latin typeface="Lato"/>
                <a:ea typeface="Lato"/>
                <a:cs typeface="Lato"/>
              </a:defRPr>
            </a:pPr>
            <a:r>
              <a:rPr sz="1125" b="1" i="0">
                <a:solidFill>
                  <a:srgbClr val="FFFFFF"/>
                </a:solidFill>
                <a:latin typeface="Lato"/>
                <a:ea typeface="Lato"/>
                <a:cs typeface="Lato"/>
              </a:rPr>
              <a:t>CAVA supplies climate evidence. Socioeconomic analysis, feasibility and institutional assessment remain separate inputs.</a:t>
            </a:r>
          </a:p>
        </p:txBody>
      </p:sp>
    </p:spTree>
    <p:extLst>
      <p:ext uri="{BB962C8B-B14F-4D97-AF65-F5344CB8AC3E}">
        <p14:creationId xmlns:p14="http://schemas.microsoft.com/office/powerpoint/2010/main" val="1201263829"/>
      </p:ext>
    </p:extLst>
  </p:cSld>
</p:sld>
</file>

<file path=ppt/slides/slide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CBE1506E-A365-497B-8DD0-C8C0FA337BB1}"/>
              </a:ext>
            </a:extLst>
          </p:cNvPr>
          <p:cNvSpPr>
            <a:spLocks xmlns:a="http://schemas.openxmlformats.org/drawingml/2006/main" noGrp="1"/>
          </p:cNvSpPr>
          <p:nvPr/>
        </p:nvSpPr>
        <p:spPr>
          <a:xfrm xmlns:a="http://schemas.openxmlformats.org/drawingml/2006/main">
            <a:off x="628650" y="4000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i="0">
                <a:solidFill>
                  <a:srgbClr val="12304E"/>
                </a:solidFill>
                <a:latin typeface="Lato"/>
                <a:ea typeface="Lato"/>
                <a:cs typeface="Lato"/>
              </a:defRPr>
            </a:pPr>
            <a:r>
              <a:rPr sz="2325" b="1" i="0">
                <a:solidFill>
                  <a:srgbClr val="12304E"/>
                </a:solidFill>
                <a:latin typeface="Lato"/>
                <a:ea typeface="Lato"/>
                <a:cs typeface="Lato"/>
              </a:rPr>
              <a:t>Initial methodological problem in FAO project preparation</a:t>
            </a:r>
          </a:p>
        </p:txBody>
      </p:sp>
      <p:sp>
        <p:nvSpPr>
          <p:cNvPr id="2" name="">
            <a:extLst xmlns:a="http://schemas.openxmlformats.org/drawingml/2006/main">
              <a:ext uri="{FF2B5EF4-FFF2-40B4-BE49-F238E27FC236}">
                <a16:creationId xmlns:a16="http://schemas.microsoft.com/office/drawing/2014/main" id="{A90B7E81-4846-4A53-9950-E8423CB68772}"/>
              </a:ext>
            </a:extLst>
          </p:cNvPr>
          <p:cNvSpPr>
            <a:spLocks xmlns:a="http://schemas.openxmlformats.org/drawingml/2006/main" noGrp="1"/>
          </p:cNvSpPr>
          <p:nvPr/>
        </p:nvSpPr>
        <p:spPr>
          <a:xfrm xmlns:a="http://schemas.openxmlformats.org/drawingml/2006/main">
            <a:off x="647700" y="9620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687984"/>
                </a:solidFill>
                <a:latin typeface="Lato"/>
                <a:ea typeface="Lato"/>
                <a:cs typeface="Lato"/>
              </a:defRPr>
            </a:pPr>
            <a:r>
              <a:rPr sz="1125" b="0" i="0">
                <a:solidFill>
                  <a:srgbClr val="687984"/>
                </a:solidFill>
                <a:latin typeface="Lato"/>
                <a:ea typeface="Lato"/>
                <a:cs typeface="Lato"/>
              </a:rPr>
              <a:t>Climate analyses used heterogeneous access methods, preprocessing choices and indicator definitions</a:t>
            </a:r>
          </a:p>
        </p:txBody>
      </p:sp>
      <p:sp>
        <p:nvSpPr>
          <p:cNvPr id="3" name="">
            <a:extLst xmlns:a="http://schemas.openxmlformats.org/drawingml/2006/main">
              <a:ext uri="{FF2B5EF4-FFF2-40B4-BE49-F238E27FC236}">
                <a16:creationId xmlns:a16="http://schemas.microsoft.com/office/drawing/2014/main" id="{70831202-0657-4F89-ACD9-FCBC5194DBC7}"/>
              </a:ext>
            </a:extLst>
          </p:cNvPr>
          <p:cNvSpPr>
            <a:spLocks xmlns:a="http://schemas.openxmlformats.org/drawingml/2006/main" noGrp="1"/>
          </p:cNvSpPr>
          <p:nvPr/>
        </p:nvSpPr>
        <p:spPr>
          <a:xfrm xmlns:a="http://schemas.openxmlformats.org/drawingml/2006/main">
            <a:off x="647700" y="13430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4FC4963-E13D-41EC-9106-9DA1B5BA2EF7}"/>
              </a:ext>
            </a:extLst>
          </p:cNvPr>
          <p:cNvSpPr>
            <a:spLocks xmlns:a="http://schemas.openxmlformats.org/drawingml/2006/main" noGrp="1"/>
          </p:cNvSpPr>
          <p:nvPr/>
        </p:nvSpPr>
        <p:spPr>
          <a:xfrm xmlns:a="http://schemas.openxmlformats.org/drawingml/2006/main">
            <a:off x="657225" y="1457325"/>
            <a:ext cx="9906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3E8BFE9-FD7B-4820-A4AC-EEBC60EA6E97}"/>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E296207-7B77-4FFC-9CF9-6709E7558EF3}"/>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50" b="1" i="0">
                <a:solidFill>
                  <a:srgbClr val="687984"/>
                </a:solidFill>
                <a:latin typeface="Lato"/>
                <a:ea typeface="Lato"/>
                <a:cs typeface="Lato"/>
              </a:defRPr>
            </a:pPr>
            <a:r>
              <a:rPr sz="750" b="1" i="0">
                <a:solidFill>
                  <a:srgbClr val="687984"/>
                </a:solidFill>
                <a:latin typeface="Lato"/>
                <a:ea typeface="Lato"/>
                <a:cs typeface="Lato"/>
              </a:rPr>
              <a:t>CAVA × CORDEX</a:t>
            </a:r>
          </a:p>
        </p:txBody>
      </p:sp>
      <p:sp>
        <p:nvSpPr>
          <p:cNvPr id="7" name="">
            <a:extLst xmlns:a="http://schemas.openxmlformats.org/drawingml/2006/main">
              <a:ext uri="{FF2B5EF4-FFF2-40B4-BE49-F238E27FC236}">
                <a16:creationId xmlns:a16="http://schemas.microsoft.com/office/drawing/2014/main" id="{97A7F899-E70C-4DE9-A122-E580969DB506}"/>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750" b="0" i="0">
                <a:solidFill>
                  <a:srgbClr val="687984"/>
                </a:solidFill>
                <a:latin typeface="Lato"/>
                <a:ea typeface="Lato"/>
                <a:cs typeface="Lato"/>
              </a:defRPr>
            </a:pPr>
            <a:r>
              <a:rPr sz="750" b="0" i="0">
                <a:solidFill>
                  <a:srgbClr val="687984"/>
                </a:solidFill>
                <a:latin typeface="Lato"/>
                <a:ea typeface="Lato"/>
                <a:cs typeface="Lato"/>
              </a:rPr>
              <a:t>03</a:t>
            </a:r>
          </a:p>
        </p:txBody>
      </p:sp>
      <p:sp>
        <p:nvSpPr>
          <p:cNvPr id="8" name="">
            <a:extLst xmlns:a="http://schemas.openxmlformats.org/drawingml/2006/main">
              <a:ext uri="{FF2B5EF4-FFF2-40B4-BE49-F238E27FC236}">
                <a16:creationId xmlns:a16="http://schemas.microsoft.com/office/drawing/2014/main" id="{C6979774-9396-40C5-825D-DCA5D91FB499}"/>
              </a:ext>
            </a:extLst>
          </p:cNvPr>
          <p:cNvSpPr>
            <a:spLocks xmlns:a="http://schemas.openxmlformats.org/drawingml/2006/main" noGrp="1"/>
          </p:cNvSpPr>
          <p:nvPr/>
        </p:nvSpPr>
        <p:spPr>
          <a:xfrm xmlns:a="http://schemas.openxmlformats.org/drawingml/2006/main">
            <a:off x="685800" y="1781175"/>
            <a:ext cx="314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050" b="1" i="0">
                <a:solidFill>
                  <a:srgbClr val="687984"/>
                </a:solidFill>
                <a:latin typeface="Lato"/>
                <a:ea typeface="Lato"/>
                <a:cs typeface="Lato"/>
              </a:defRPr>
            </a:pPr>
            <a:r>
              <a:rPr sz="1050" b="1" i="0">
                <a:solidFill>
                  <a:srgbClr val="687984"/>
                </a:solidFill>
                <a:latin typeface="Lato"/>
                <a:ea typeface="Lato"/>
                <a:cs typeface="Lato"/>
              </a:rPr>
              <a:t>The recurring workflow</a:t>
            </a:r>
          </a:p>
        </p:txBody>
      </p:sp>
      <p:sp>
        <p:nvSpPr>
          <p:cNvPr id="9" name="">
            <a:extLst xmlns:a="http://schemas.openxmlformats.org/drawingml/2006/main">
              <a:ext uri="{FF2B5EF4-FFF2-40B4-BE49-F238E27FC236}">
                <a16:creationId xmlns:a16="http://schemas.microsoft.com/office/drawing/2014/main" id="{F885F078-5707-4922-8BAE-A02CA8BD692D}"/>
              </a:ext>
            </a:extLst>
          </p:cNvPr>
          <p:cNvSpPr>
            <a:spLocks xmlns:a="http://schemas.openxmlformats.org/drawingml/2006/main" noGrp="1"/>
          </p:cNvSpPr>
          <p:nvPr/>
        </p:nvSpPr>
        <p:spPr>
          <a:xfrm xmlns:a="http://schemas.openxmlformats.org/drawingml/2006/main">
            <a:off x="685800" y="227647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i="0">
                <a:solidFill>
                  <a:srgbClr val="F2B632"/>
                </a:solidFill>
                <a:latin typeface="Lato"/>
                <a:ea typeface="Lato"/>
                <a:cs typeface="Lato"/>
              </a:defRPr>
            </a:pPr>
            <a:r>
              <a:rPr sz="2025" b="1" i="0">
                <a:solidFill>
                  <a:srgbClr val="F2B632"/>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21EAA24A-A16C-4D1B-8F8D-72284B213127}"/>
              </a:ext>
            </a:extLst>
          </p:cNvPr>
          <p:cNvSpPr>
            <a:spLocks xmlns:a="http://schemas.openxmlformats.org/drawingml/2006/main" noGrp="1"/>
          </p:cNvSpPr>
          <p:nvPr/>
        </p:nvSpPr>
        <p:spPr>
          <a:xfrm xmlns:a="http://schemas.openxmlformats.org/drawingml/2006/main">
            <a:off x="1314450" y="2200275"/>
            <a:ext cx="323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i="0">
                <a:solidFill>
                  <a:srgbClr val="12304E"/>
                </a:solidFill>
                <a:latin typeface="Lato"/>
                <a:ea typeface="Lato"/>
                <a:cs typeface="Lato"/>
              </a:defRPr>
            </a:pPr>
            <a:r>
              <a:rPr sz="1575" b="1" i="0">
                <a:solidFill>
                  <a:srgbClr val="12304E"/>
                </a:solidFill>
                <a:latin typeface="Lato"/>
                <a:ea typeface="Lato"/>
                <a:cs typeface="Lato"/>
              </a:rPr>
              <a:t>Find and retrieve</a:t>
            </a:r>
          </a:p>
        </p:txBody>
      </p:sp>
      <p:sp>
        <p:nvSpPr>
          <p:cNvPr id="11" name="">
            <a:extLst xmlns:a="http://schemas.openxmlformats.org/drawingml/2006/main">
              <a:ext uri="{FF2B5EF4-FFF2-40B4-BE49-F238E27FC236}">
                <a16:creationId xmlns:a16="http://schemas.microsoft.com/office/drawing/2014/main" id="{31EC4115-BFF2-427A-8A6B-F261DA839FA5}"/>
              </a:ext>
            </a:extLst>
          </p:cNvPr>
          <p:cNvSpPr>
            <a:spLocks xmlns:a="http://schemas.openxmlformats.org/drawingml/2006/main" noGrp="1"/>
          </p:cNvSpPr>
          <p:nvPr/>
        </p:nvSpPr>
        <p:spPr>
          <a:xfrm xmlns:a="http://schemas.openxmlformats.org/drawingml/2006/main">
            <a:off x="1314450" y="2581275"/>
            <a:ext cx="3381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Search catalogues and download large collections</a:t>
            </a:r>
          </a:p>
        </p:txBody>
      </p:sp>
      <p:sp>
        <p:nvSpPr>
          <p:cNvPr id="12" name="">
            <a:extLst xmlns:a="http://schemas.openxmlformats.org/drawingml/2006/main">
              <a:ext uri="{FF2B5EF4-FFF2-40B4-BE49-F238E27FC236}">
                <a16:creationId xmlns:a16="http://schemas.microsoft.com/office/drawing/2014/main" id="{3C9FDEBF-20AA-4722-BD6E-082C2E1F339D}"/>
              </a:ext>
            </a:extLst>
          </p:cNvPr>
          <p:cNvSpPr>
            <a:spLocks xmlns:a="http://schemas.openxmlformats.org/drawingml/2006/main" noGrp="1"/>
          </p:cNvSpPr>
          <p:nvPr/>
        </p:nvSpPr>
        <p:spPr>
          <a:xfrm xmlns:a="http://schemas.openxmlformats.org/drawingml/2006/main">
            <a:off x="914400" y="2819400"/>
            <a:ext cx="19050" cy="5143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8219CC0-8BA9-4C57-8843-6AC571E7C97E}"/>
              </a:ext>
            </a:extLst>
          </p:cNvPr>
          <p:cNvSpPr>
            <a:spLocks xmlns:a="http://schemas.openxmlformats.org/drawingml/2006/main" noGrp="1"/>
          </p:cNvSpPr>
          <p:nvPr/>
        </p:nvSpPr>
        <p:spPr>
          <a:xfrm xmlns:a="http://schemas.openxmlformats.org/drawingml/2006/main">
            <a:off x="685800" y="3390900"/>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i="0">
                <a:solidFill>
                  <a:srgbClr val="F2B632"/>
                </a:solidFill>
                <a:latin typeface="Lato"/>
                <a:ea typeface="Lato"/>
                <a:cs typeface="Lato"/>
              </a:defRPr>
            </a:pPr>
            <a:r>
              <a:rPr sz="2025" b="1" i="0">
                <a:solidFill>
                  <a:srgbClr val="F2B632"/>
                </a:solidFill>
                <a:latin typeface="Lato"/>
                <a:ea typeface="Lato"/>
                <a:cs typeface="Lato"/>
              </a:rPr>
              <a:t>02</a:t>
            </a:r>
          </a:p>
        </p:txBody>
      </p:sp>
      <p:sp>
        <p:nvSpPr>
          <p:cNvPr id="14" name="">
            <a:extLst xmlns:a="http://schemas.openxmlformats.org/drawingml/2006/main">
              <a:ext uri="{FF2B5EF4-FFF2-40B4-BE49-F238E27FC236}">
                <a16:creationId xmlns:a16="http://schemas.microsoft.com/office/drawing/2014/main" id="{3E48E8A6-12C8-4CDA-991D-977D9672E912}"/>
              </a:ext>
            </a:extLst>
          </p:cNvPr>
          <p:cNvSpPr>
            <a:spLocks xmlns:a="http://schemas.openxmlformats.org/drawingml/2006/main" noGrp="1"/>
          </p:cNvSpPr>
          <p:nvPr/>
        </p:nvSpPr>
        <p:spPr>
          <a:xfrm xmlns:a="http://schemas.openxmlformats.org/drawingml/2006/main">
            <a:off x="1314450" y="3314700"/>
            <a:ext cx="323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i="0">
                <a:solidFill>
                  <a:srgbClr val="12304E"/>
                </a:solidFill>
                <a:latin typeface="Lato"/>
                <a:ea typeface="Lato"/>
                <a:cs typeface="Lato"/>
              </a:defRPr>
            </a:pPr>
            <a:r>
              <a:rPr sz="1575" b="1" i="0">
                <a:solidFill>
                  <a:srgbClr val="12304E"/>
                </a:solidFill>
                <a:latin typeface="Lato"/>
                <a:ea typeface="Lato"/>
                <a:cs typeface="Lato"/>
              </a:rPr>
              <a:t>Prepare the data</a:t>
            </a:r>
          </a:p>
        </p:txBody>
      </p:sp>
      <p:sp>
        <p:nvSpPr>
          <p:cNvPr id="15" name="">
            <a:extLst xmlns:a="http://schemas.openxmlformats.org/drawingml/2006/main">
              <a:ext uri="{FF2B5EF4-FFF2-40B4-BE49-F238E27FC236}">
                <a16:creationId xmlns:a16="http://schemas.microsoft.com/office/drawing/2014/main" id="{4F37CD8E-D5D2-44A6-8487-79199D21621A}"/>
              </a:ext>
            </a:extLst>
          </p:cNvPr>
          <p:cNvSpPr>
            <a:spLocks xmlns:a="http://schemas.openxmlformats.org/drawingml/2006/main" noGrp="1"/>
          </p:cNvSpPr>
          <p:nvPr/>
        </p:nvSpPr>
        <p:spPr>
          <a:xfrm xmlns:a="http://schemas.openxmlformats.org/drawingml/2006/main">
            <a:off x="1314450" y="3695700"/>
            <a:ext cx="3381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Resolve grids, calendars, units and spatial subsets</a:t>
            </a:r>
          </a:p>
        </p:txBody>
      </p:sp>
      <p:sp>
        <p:nvSpPr>
          <p:cNvPr id="16" name="">
            <a:extLst xmlns:a="http://schemas.openxmlformats.org/drawingml/2006/main">
              <a:ext uri="{FF2B5EF4-FFF2-40B4-BE49-F238E27FC236}">
                <a16:creationId xmlns:a16="http://schemas.microsoft.com/office/drawing/2014/main" id="{B4342E99-5587-4B40-ACE0-1CEF677E5840}"/>
              </a:ext>
            </a:extLst>
          </p:cNvPr>
          <p:cNvSpPr>
            <a:spLocks xmlns:a="http://schemas.openxmlformats.org/drawingml/2006/main" noGrp="1"/>
          </p:cNvSpPr>
          <p:nvPr/>
        </p:nvSpPr>
        <p:spPr>
          <a:xfrm xmlns:a="http://schemas.openxmlformats.org/drawingml/2006/main">
            <a:off x="914400" y="3933825"/>
            <a:ext cx="19050" cy="5143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93F5546-7EA6-4BA2-A78D-759879D674CF}"/>
              </a:ext>
            </a:extLst>
          </p:cNvPr>
          <p:cNvSpPr>
            <a:spLocks xmlns:a="http://schemas.openxmlformats.org/drawingml/2006/main" noGrp="1"/>
          </p:cNvSpPr>
          <p:nvPr/>
        </p:nvSpPr>
        <p:spPr>
          <a:xfrm xmlns:a="http://schemas.openxmlformats.org/drawingml/2006/main">
            <a:off x="685800" y="45053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i="0">
                <a:solidFill>
                  <a:srgbClr val="F2B632"/>
                </a:solidFill>
                <a:latin typeface="Lato"/>
                <a:ea typeface="Lato"/>
                <a:cs typeface="Lato"/>
              </a:defRPr>
            </a:pPr>
            <a:r>
              <a:rPr sz="2025" b="1" i="0">
                <a:solidFill>
                  <a:srgbClr val="F2B632"/>
                </a:solidFill>
                <a:latin typeface="Lato"/>
                <a:ea typeface="Lato"/>
                <a:cs typeface="Lato"/>
              </a:rPr>
              <a:t>03</a:t>
            </a:r>
          </a:p>
        </p:txBody>
      </p:sp>
      <p:sp>
        <p:nvSpPr>
          <p:cNvPr id="18" name="">
            <a:extLst xmlns:a="http://schemas.openxmlformats.org/drawingml/2006/main">
              <a:ext uri="{FF2B5EF4-FFF2-40B4-BE49-F238E27FC236}">
                <a16:creationId xmlns:a16="http://schemas.microsoft.com/office/drawing/2014/main" id="{4CF102E0-16D0-4A79-9E13-2D6F354625E6}"/>
              </a:ext>
            </a:extLst>
          </p:cNvPr>
          <p:cNvSpPr>
            <a:spLocks xmlns:a="http://schemas.openxmlformats.org/drawingml/2006/main" noGrp="1"/>
          </p:cNvSpPr>
          <p:nvPr/>
        </p:nvSpPr>
        <p:spPr>
          <a:xfrm xmlns:a="http://schemas.openxmlformats.org/drawingml/2006/main">
            <a:off x="1314450" y="4429125"/>
            <a:ext cx="323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75" b="1" i="0">
                <a:solidFill>
                  <a:srgbClr val="12304E"/>
                </a:solidFill>
                <a:latin typeface="Lato"/>
                <a:ea typeface="Lato"/>
                <a:cs typeface="Lato"/>
              </a:defRPr>
            </a:pPr>
            <a:r>
              <a:rPr sz="1575" b="1" i="0">
                <a:solidFill>
                  <a:srgbClr val="12304E"/>
                </a:solidFill>
                <a:latin typeface="Lato"/>
                <a:ea typeface="Lato"/>
                <a:cs typeface="Lato"/>
              </a:rPr>
              <a:t>Rebuild the analysis</a:t>
            </a:r>
          </a:p>
        </p:txBody>
      </p:sp>
      <p:sp>
        <p:nvSpPr>
          <p:cNvPr id="19" name="">
            <a:extLst xmlns:a="http://schemas.openxmlformats.org/drawingml/2006/main">
              <a:ext uri="{FF2B5EF4-FFF2-40B4-BE49-F238E27FC236}">
                <a16:creationId xmlns:a16="http://schemas.microsoft.com/office/drawing/2014/main" id="{D5CDCC2B-EC85-4713-BF3A-F1A974D17A47}"/>
              </a:ext>
            </a:extLst>
          </p:cNvPr>
          <p:cNvSpPr>
            <a:spLocks xmlns:a="http://schemas.openxmlformats.org/drawingml/2006/main" noGrp="1"/>
          </p:cNvSpPr>
          <p:nvPr/>
        </p:nvSpPr>
        <p:spPr>
          <a:xfrm xmlns:a="http://schemas.openxmlformats.org/drawingml/2006/main">
            <a:off x="1314450" y="4810125"/>
            <a:ext cx="3381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Recreate indicators, figures and documentation</a:t>
            </a:r>
          </a:p>
        </p:txBody>
      </p:sp>
      <p:sp>
        <p:nvSpPr>
          <p:cNvPr id="20" name="">
            <a:extLst xmlns:a="http://schemas.openxmlformats.org/drawingml/2006/main">
              <a:ext uri="{FF2B5EF4-FFF2-40B4-BE49-F238E27FC236}">
                <a16:creationId xmlns:a16="http://schemas.microsoft.com/office/drawing/2014/main" id="{2923AC16-D343-4241-ADC8-BE1C03249977}"/>
              </a:ext>
            </a:extLst>
          </p:cNvPr>
          <p:cNvSpPr>
            <a:spLocks xmlns:a="http://schemas.openxmlformats.org/drawingml/2006/main" noGrp="1"/>
          </p:cNvSpPr>
          <p:nvPr/>
        </p:nvSpPr>
        <p:spPr>
          <a:xfrm xmlns:a="http://schemas.openxmlformats.org/drawingml/2006/main">
            <a:off x="5248275" y="1752600"/>
            <a:ext cx="9525" cy="38576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F0F12AA-8BCE-43F2-9BEC-4FF653872AFC}"/>
              </a:ext>
            </a:extLst>
          </p:cNvPr>
          <p:cNvSpPr>
            <a:spLocks xmlns:a="http://schemas.openxmlformats.org/drawingml/2006/main" noGrp="1"/>
          </p:cNvSpPr>
          <p:nvPr/>
        </p:nvSpPr>
        <p:spPr>
          <a:xfrm xmlns:a="http://schemas.openxmlformats.org/drawingml/2006/main">
            <a:off x="5762625" y="17811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C95C54"/>
                </a:solidFill>
                <a:latin typeface="Lato"/>
                <a:ea typeface="Lato"/>
                <a:cs typeface="Lato"/>
              </a:defRPr>
            </a:pPr>
            <a:r>
              <a:rPr sz="825" b="1" i="0">
                <a:solidFill>
                  <a:srgbClr val="C95C54"/>
                </a:solidFill>
                <a:latin typeface="Lato"/>
                <a:ea typeface="Lato"/>
                <a:cs typeface="Lato"/>
              </a:rPr>
              <a:t>CONSEQUENCES FOR COMPARABILITY</a:t>
            </a:r>
          </a:p>
        </p:txBody>
      </p:sp>
      <p:sp>
        <p:nvSpPr>
          <p:cNvPr id="22" name="">
            <a:extLst xmlns:a="http://schemas.openxmlformats.org/drawingml/2006/main">
              <a:ext uri="{FF2B5EF4-FFF2-40B4-BE49-F238E27FC236}">
                <a16:creationId xmlns:a16="http://schemas.microsoft.com/office/drawing/2014/main" id="{59AE4A8C-CE79-46B4-B1FB-5B5396578F27}"/>
              </a:ext>
            </a:extLst>
          </p:cNvPr>
          <p:cNvSpPr>
            <a:spLocks xmlns:a="http://schemas.openxmlformats.org/drawingml/2006/main" noGrp="1"/>
          </p:cNvSpPr>
          <p:nvPr/>
        </p:nvSpPr>
        <p:spPr>
          <a:xfrm xmlns:a="http://schemas.openxmlformats.org/drawingml/2006/main">
            <a:off x="5762625" y="2171700"/>
            <a:ext cx="5334000" cy="781050"/>
          </a:xfrm>
          <a:prstGeom xmlns:a="http://schemas.openxmlformats.org/drawingml/2006/main" prst="roundRect">
            <a:avLst>
              <a:gd name="adj" fmla="val 9756"/>
            </a:avLst>
          </a:prstGeom>
          <a:solidFill xmlns:a="http://schemas.openxmlformats.org/drawingml/2006/main">
            <a:srgbClr val="F8E9E6"/>
          </a:solidFill>
          <a:ln xmlns:a="http://schemas.openxmlformats.org/drawingml/2006/main" w="9525">
            <a:solidFill>
              <a:srgbClr val="DCE5E2"/>
            </a:solidFill>
          </a:ln>
        </p:spPr>
      </p:sp>
      <p:sp>
        <p:nvSpPr>
          <p:cNvPr id="23" name="">
            <a:extLst xmlns:a="http://schemas.openxmlformats.org/drawingml/2006/main">
              <a:ext uri="{FF2B5EF4-FFF2-40B4-BE49-F238E27FC236}">
                <a16:creationId xmlns:a16="http://schemas.microsoft.com/office/drawing/2014/main" id="{0CDF2D80-9295-426B-B17D-FDC737BD847A}"/>
              </a:ext>
            </a:extLst>
          </p:cNvPr>
          <p:cNvSpPr>
            <a:spLocks xmlns:a="http://schemas.openxmlformats.org/drawingml/2006/main" noGrp="1"/>
          </p:cNvSpPr>
          <p:nvPr/>
        </p:nvSpPr>
        <p:spPr>
          <a:xfrm xmlns:a="http://schemas.openxmlformats.org/drawingml/2006/main">
            <a:off x="5762625" y="2171700"/>
            <a:ext cx="57150" cy="781050"/>
          </a:xfrm>
          <a:prstGeom xmlns:a="http://schemas.openxmlformats.org/drawingml/2006/main" prst="roundRect">
            <a:avLst>
              <a:gd name="adj" fmla="val 50000"/>
            </a:avLst>
          </a:prstGeom>
          <a:solidFill xmlns:a="http://schemas.openxmlformats.org/drawingml/2006/main">
            <a:srgbClr val="C95C5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D2A8139-3FBF-478E-8805-417B9444A4DB}"/>
              </a:ext>
            </a:extLst>
          </p:cNvPr>
          <p:cNvSpPr>
            <a:spLocks xmlns:a="http://schemas.openxmlformats.org/drawingml/2006/main" noGrp="1"/>
          </p:cNvSpPr>
          <p:nvPr/>
        </p:nvSpPr>
        <p:spPr>
          <a:xfrm xmlns:a="http://schemas.openxmlformats.org/drawingml/2006/main">
            <a:off x="5991225" y="2362200"/>
            <a:ext cx="4895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12304E"/>
                </a:solidFill>
                <a:latin typeface="Lato"/>
                <a:ea typeface="Lato"/>
                <a:cs typeface="Lato"/>
              </a:defRPr>
            </a:pPr>
            <a:r>
              <a:rPr sz="1425" b="1" i="0">
                <a:solidFill>
                  <a:srgbClr val="12304E"/>
                </a:solidFill>
                <a:latin typeface="Lato"/>
                <a:ea typeface="Lato"/>
                <a:cs typeface="Lato"/>
              </a:rPr>
              <a:t>Reproducibility</a:t>
            </a:r>
          </a:p>
        </p:txBody>
      </p:sp>
      <p:sp>
        <p:nvSpPr>
          <p:cNvPr id="25" name="">
            <a:extLst xmlns:a="http://schemas.openxmlformats.org/drawingml/2006/main">
              <a:ext uri="{FF2B5EF4-FFF2-40B4-BE49-F238E27FC236}">
                <a16:creationId xmlns:a16="http://schemas.microsoft.com/office/drawing/2014/main" id="{EDCB87ED-26E5-4F9C-A7BE-C93F980351EB}"/>
              </a:ext>
            </a:extLst>
          </p:cNvPr>
          <p:cNvSpPr>
            <a:spLocks xmlns:a="http://schemas.openxmlformats.org/drawingml/2006/main" noGrp="1"/>
          </p:cNvSpPr>
          <p:nvPr/>
        </p:nvSpPr>
        <p:spPr>
          <a:xfrm xmlns:a="http://schemas.openxmlformats.org/drawingml/2006/main">
            <a:off x="5991225" y="2762250"/>
            <a:ext cx="4895850" cy="38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20576"/>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Input datasets and transformations were not always recorded consistently</a:t>
            </a:r>
          </a:p>
        </p:txBody>
      </p:sp>
      <p:sp>
        <p:nvSpPr>
          <p:cNvPr id="26" name="">
            <a:extLst xmlns:a="http://schemas.openxmlformats.org/drawingml/2006/main">
              <a:ext uri="{FF2B5EF4-FFF2-40B4-BE49-F238E27FC236}">
                <a16:creationId xmlns:a16="http://schemas.microsoft.com/office/drawing/2014/main" id="{E0F657F8-CAE2-49A4-9BFE-83C39D8F3FC2}"/>
              </a:ext>
            </a:extLst>
          </p:cNvPr>
          <p:cNvSpPr>
            <a:spLocks xmlns:a="http://schemas.openxmlformats.org/drawingml/2006/main" noGrp="1"/>
          </p:cNvSpPr>
          <p:nvPr/>
        </p:nvSpPr>
        <p:spPr>
          <a:xfrm xmlns:a="http://schemas.openxmlformats.org/drawingml/2006/main">
            <a:off x="5762625" y="3162300"/>
            <a:ext cx="5334000" cy="781050"/>
          </a:xfrm>
          <a:prstGeom xmlns:a="http://schemas.openxmlformats.org/drawingml/2006/main" prst="roundRect">
            <a:avLst>
              <a:gd name="adj" fmla="val 9756"/>
            </a:avLst>
          </a:prstGeom>
          <a:solidFill xmlns:a="http://schemas.openxmlformats.org/drawingml/2006/main">
            <a:srgbClr val="FFF3D1"/>
          </a:solidFill>
          <a:ln xmlns:a="http://schemas.openxmlformats.org/drawingml/2006/main" w="9525">
            <a:solidFill>
              <a:srgbClr val="DCE5E2"/>
            </a:solidFill>
          </a:ln>
        </p:spPr>
      </p:sp>
      <p:sp>
        <p:nvSpPr>
          <p:cNvPr id="27" name="">
            <a:extLst xmlns:a="http://schemas.openxmlformats.org/drawingml/2006/main">
              <a:ext uri="{FF2B5EF4-FFF2-40B4-BE49-F238E27FC236}">
                <a16:creationId xmlns:a16="http://schemas.microsoft.com/office/drawing/2014/main" id="{53637E2B-14D2-48AA-B079-ACB4B313C834}"/>
              </a:ext>
            </a:extLst>
          </p:cNvPr>
          <p:cNvSpPr>
            <a:spLocks xmlns:a="http://schemas.openxmlformats.org/drawingml/2006/main" noGrp="1"/>
          </p:cNvSpPr>
          <p:nvPr/>
        </p:nvSpPr>
        <p:spPr>
          <a:xfrm xmlns:a="http://schemas.openxmlformats.org/drawingml/2006/main">
            <a:off x="5762625" y="3162300"/>
            <a:ext cx="57150" cy="781050"/>
          </a:xfrm>
          <a:prstGeom xmlns:a="http://schemas.openxmlformats.org/drawingml/2006/main" prst="roundRect">
            <a:avLst>
              <a:gd name="adj" fmla="val 50000"/>
            </a:avLst>
          </a:prstGeom>
          <a:solidFill xmlns:a="http://schemas.openxmlformats.org/drawingml/2006/main">
            <a:srgbClr val="F2B632"/>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E3FFDA3-4CC6-4040-8914-1F5B31DF81F2}"/>
              </a:ext>
            </a:extLst>
          </p:cNvPr>
          <p:cNvSpPr>
            <a:spLocks xmlns:a="http://schemas.openxmlformats.org/drawingml/2006/main" noGrp="1"/>
          </p:cNvSpPr>
          <p:nvPr/>
        </p:nvSpPr>
        <p:spPr>
          <a:xfrm xmlns:a="http://schemas.openxmlformats.org/drawingml/2006/main">
            <a:off x="5991225" y="3352800"/>
            <a:ext cx="4895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12304E"/>
                </a:solidFill>
                <a:latin typeface="Lato"/>
                <a:ea typeface="Lato"/>
                <a:cs typeface="Lato"/>
              </a:defRPr>
            </a:pPr>
            <a:r>
              <a:rPr sz="1425" b="1" i="0">
                <a:solidFill>
                  <a:srgbClr val="12304E"/>
                </a:solidFill>
                <a:latin typeface="Lato"/>
                <a:ea typeface="Lato"/>
                <a:cs typeface="Lato"/>
              </a:rPr>
              <a:t>Comparability</a:t>
            </a:r>
          </a:p>
        </p:txBody>
      </p:sp>
      <p:sp>
        <p:nvSpPr>
          <p:cNvPr id="29" name="">
            <a:extLst xmlns:a="http://schemas.openxmlformats.org/drawingml/2006/main">
              <a:ext uri="{FF2B5EF4-FFF2-40B4-BE49-F238E27FC236}">
                <a16:creationId xmlns:a16="http://schemas.microsoft.com/office/drawing/2014/main" id="{CFA12414-09E4-46DE-8A40-D0120AABDBD8}"/>
              </a:ext>
            </a:extLst>
          </p:cNvPr>
          <p:cNvSpPr>
            <a:spLocks xmlns:a="http://schemas.openxmlformats.org/drawingml/2006/main" noGrp="1"/>
          </p:cNvSpPr>
          <p:nvPr/>
        </p:nvSpPr>
        <p:spPr>
          <a:xfrm xmlns:a="http://schemas.openxmlformats.org/drawingml/2006/main">
            <a:off x="5991225" y="3752850"/>
            <a:ext cx="4895850" cy="38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20576"/>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Indicators could differ across projects even when questions were similar</a:t>
            </a:r>
          </a:p>
        </p:txBody>
      </p:sp>
      <p:sp>
        <p:nvSpPr>
          <p:cNvPr id="30" name="">
            <a:extLst xmlns:a="http://schemas.openxmlformats.org/drawingml/2006/main">
              <a:ext uri="{FF2B5EF4-FFF2-40B4-BE49-F238E27FC236}">
                <a16:creationId xmlns:a16="http://schemas.microsoft.com/office/drawing/2014/main" id="{7B687666-05DC-4910-A288-EA1FC59CB321}"/>
              </a:ext>
            </a:extLst>
          </p:cNvPr>
          <p:cNvSpPr>
            <a:spLocks xmlns:a="http://schemas.openxmlformats.org/drawingml/2006/main" noGrp="1"/>
          </p:cNvSpPr>
          <p:nvPr/>
        </p:nvSpPr>
        <p:spPr>
          <a:xfrm xmlns:a="http://schemas.openxmlformats.org/drawingml/2006/main">
            <a:off x="5762625" y="4152900"/>
            <a:ext cx="5334000" cy="781050"/>
          </a:xfrm>
          <a:prstGeom xmlns:a="http://schemas.openxmlformats.org/drawingml/2006/main" prst="roundRect">
            <a:avLst>
              <a:gd name="adj" fmla="val 9756"/>
            </a:avLst>
          </a:prstGeom>
          <a:solidFill xmlns:a="http://schemas.openxmlformats.org/drawingml/2006/main">
            <a:srgbClr val="F8E9E6"/>
          </a:solidFill>
          <a:ln xmlns:a="http://schemas.openxmlformats.org/drawingml/2006/main" w="9525">
            <a:solidFill>
              <a:srgbClr val="DCE5E2"/>
            </a:solidFill>
          </a:ln>
        </p:spPr>
      </p:sp>
      <p:sp>
        <p:nvSpPr>
          <p:cNvPr id="31" name="">
            <a:extLst xmlns:a="http://schemas.openxmlformats.org/drawingml/2006/main">
              <a:ext uri="{FF2B5EF4-FFF2-40B4-BE49-F238E27FC236}">
                <a16:creationId xmlns:a16="http://schemas.microsoft.com/office/drawing/2014/main" id="{E5DE2955-5BCD-4CC9-B899-106D72B803F3}"/>
              </a:ext>
            </a:extLst>
          </p:cNvPr>
          <p:cNvSpPr>
            <a:spLocks xmlns:a="http://schemas.openxmlformats.org/drawingml/2006/main" noGrp="1"/>
          </p:cNvSpPr>
          <p:nvPr/>
        </p:nvSpPr>
        <p:spPr>
          <a:xfrm xmlns:a="http://schemas.openxmlformats.org/drawingml/2006/main">
            <a:off x="5762625" y="4152900"/>
            <a:ext cx="57150" cy="781050"/>
          </a:xfrm>
          <a:prstGeom xmlns:a="http://schemas.openxmlformats.org/drawingml/2006/main" prst="roundRect">
            <a:avLst>
              <a:gd name="adj" fmla="val 50000"/>
            </a:avLst>
          </a:prstGeom>
          <a:solidFill xmlns:a="http://schemas.openxmlformats.org/drawingml/2006/main">
            <a:srgbClr val="C95C5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FA9B8813-67DB-4481-B191-3E8E57A2BDCC}"/>
              </a:ext>
            </a:extLst>
          </p:cNvPr>
          <p:cNvSpPr>
            <a:spLocks xmlns:a="http://schemas.openxmlformats.org/drawingml/2006/main" noGrp="1"/>
          </p:cNvSpPr>
          <p:nvPr/>
        </p:nvSpPr>
        <p:spPr>
          <a:xfrm xmlns:a="http://schemas.openxmlformats.org/drawingml/2006/main">
            <a:off x="5991225" y="4343400"/>
            <a:ext cx="4895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12304E"/>
                </a:solidFill>
                <a:latin typeface="Lato"/>
                <a:ea typeface="Lato"/>
                <a:cs typeface="Lato"/>
              </a:defRPr>
            </a:pPr>
            <a:r>
              <a:rPr sz="1425" b="1" i="0">
                <a:solidFill>
                  <a:srgbClr val="12304E"/>
                </a:solidFill>
                <a:latin typeface="Lato"/>
                <a:ea typeface="Lato"/>
                <a:cs typeface="Lato"/>
              </a:rPr>
              <a:t>Interpretation</a:t>
            </a:r>
          </a:p>
        </p:txBody>
      </p:sp>
      <p:sp>
        <p:nvSpPr>
          <p:cNvPr id="33" name="">
            <a:extLst xmlns:a="http://schemas.openxmlformats.org/drawingml/2006/main">
              <a:ext uri="{FF2B5EF4-FFF2-40B4-BE49-F238E27FC236}">
                <a16:creationId xmlns:a16="http://schemas.microsoft.com/office/drawing/2014/main" id="{3CE7D4AD-43AD-4E64-8237-0EF1478F17D6}"/>
              </a:ext>
            </a:extLst>
          </p:cNvPr>
          <p:cNvSpPr>
            <a:spLocks xmlns:a="http://schemas.openxmlformats.org/drawingml/2006/main" noGrp="1"/>
          </p:cNvSpPr>
          <p:nvPr/>
        </p:nvSpPr>
        <p:spPr>
          <a:xfrm xmlns:a="http://schemas.openxmlformats.org/drawingml/2006/main">
            <a:off x="5991225" y="4743450"/>
            <a:ext cx="4895850" cy="38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20576"/>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Time spent on preparation reduced the time available for uncertainty analysis</a:t>
            </a:r>
          </a:p>
        </p:txBody>
      </p:sp>
      <p:sp>
        <p:nvSpPr>
          <p:cNvPr id="34" name="">
            <a:extLst xmlns:a="http://schemas.openxmlformats.org/drawingml/2006/main">
              <a:ext uri="{FF2B5EF4-FFF2-40B4-BE49-F238E27FC236}">
                <a16:creationId xmlns:a16="http://schemas.microsoft.com/office/drawing/2014/main" id="{F8C9B1F6-CB1E-4311-93E9-CEDAA051C2F9}"/>
              </a:ext>
            </a:extLst>
          </p:cNvPr>
          <p:cNvSpPr>
            <a:spLocks xmlns:a="http://schemas.openxmlformats.org/drawingml/2006/main" noGrp="1"/>
          </p:cNvSpPr>
          <p:nvPr/>
        </p:nvSpPr>
        <p:spPr>
          <a:xfrm xmlns:a="http://schemas.openxmlformats.org/drawingml/2006/main">
            <a:off x="5762625" y="5286375"/>
            <a:ext cx="5334000" cy="59055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70975098-0E28-4212-9B5C-8C198FEC8BC3}"/>
              </a:ext>
            </a:extLst>
          </p:cNvPr>
          <p:cNvSpPr>
            <a:spLocks xmlns:a="http://schemas.openxmlformats.org/drawingml/2006/main" noGrp="1"/>
          </p:cNvSpPr>
          <p:nvPr/>
        </p:nvSpPr>
        <p:spPr>
          <a:xfrm xmlns:a="http://schemas.openxmlformats.org/drawingml/2006/main">
            <a:off x="5991225" y="54292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2485"/>
          </a:bodyPr>
          <a:lstStyle xmlns:a="http://schemas.openxmlformats.org/drawingml/2006/main"/>
          <a:p xmlns:a="http://schemas.openxmlformats.org/drawingml/2006/main">
            <a:pPr algn="ctr">
              <a:lnSpc>
                <a:spcPct val="104000"/>
              </a:lnSpc>
              <a:buNone/>
              <a:defRPr sz="1275" b="1" i="0">
                <a:solidFill>
                  <a:srgbClr val="FFFFFF"/>
                </a:solidFill>
                <a:latin typeface="Lato"/>
                <a:ea typeface="Lato"/>
                <a:cs typeface="Lato"/>
              </a:defRPr>
            </a:pPr>
            <a:r>
              <a:rPr sz="1275" b="1" i="0">
                <a:solidFill>
                  <a:srgbClr val="FFFFFF"/>
                </a:solidFill>
                <a:latin typeface="Lato"/>
                <a:ea typeface="Lato"/>
                <a:cs typeface="Lato"/>
              </a:rPr>
              <a:t>The requirement was a documented and repeatable workflow for GCF climate rationales and adaptation analysis.</a:t>
            </a:r>
          </a:p>
        </p:txBody>
      </p:sp>
    </p:spTree>
    <p:extLst>
      <p:ext uri="{BB962C8B-B14F-4D97-AF65-F5344CB8AC3E}">
        <p14:creationId xmlns:p14="http://schemas.microsoft.com/office/powerpoint/2010/main" val="1205044018"/>
      </p:ext>
    </p:extLst>
  </p:cSld>
</p:sld>
</file>

<file path=ppt/slides/slide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BD372FF-1E11-454F-B1F0-0907DA560B35}"/>
              </a:ext>
            </a:extLst>
          </p:cNvPr>
          <p:cNvSpPr>
            <a:spLocks xmlns:a="http://schemas.openxmlformats.org/drawingml/2006/main" noGrp="1"/>
          </p:cNvSpPr>
          <p:nvPr/>
        </p:nvSpPr>
        <p:spPr>
          <a:xfrm xmlns:a="http://schemas.openxmlformats.org/drawingml/2006/main">
            <a:off x="628650" y="4000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i="0">
                <a:solidFill>
                  <a:srgbClr val="12304E"/>
                </a:solidFill>
                <a:latin typeface="Lato"/>
                <a:ea typeface="Lato"/>
                <a:cs typeface="Lato"/>
              </a:defRPr>
            </a:pPr>
            <a:r>
              <a:rPr sz="2325" b="1" i="0">
                <a:solidFill>
                  <a:srgbClr val="12304E"/>
                </a:solidFill>
                <a:latin typeface="Lato"/>
                <a:ea typeface="Lato"/>
                <a:cs typeface="Lato"/>
              </a:rPr>
              <a:t>Role of climate information in an investment rationale</a:t>
            </a:r>
          </a:p>
        </p:txBody>
      </p:sp>
      <p:sp>
        <p:nvSpPr>
          <p:cNvPr id="2" name="">
            <a:extLst xmlns:a="http://schemas.openxmlformats.org/drawingml/2006/main">
              <a:ext uri="{FF2B5EF4-FFF2-40B4-BE49-F238E27FC236}">
                <a16:creationId xmlns:a16="http://schemas.microsoft.com/office/drawing/2014/main" id="{EE583510-B34D-4462-923F-1A6546C75564}"/>
              </a:ext>
            </a:extLst>
          </p:cNvPr>
          <p:cNvSpPr>
            <a:spLocks xmlns:a="http://schemas.openxmlformats.org/drawingml/2006/main" noGrp="1"/>
          </p:cNvSpPr>
          <p:nvPr/>
        </p:nvSpPr>
        <p:spPr>
          <a:xfrm xmlns:a="http://schemas.openxmlformats.org/drawingml/2006/main">
            <a:off x="647700" y="9620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687984"/>
                </a:solidFill>
                <a:latin typeface="Lato"/>
                <a:ea typeface="Lato"/>
                <a:cs typeface="Lato"/>
              </a:defRPr>
            </a:pPr>
            <a:r>
              <a:rPr sz="1125" b="0" i="0">
                <a:solidFill>
                  <a:srgbClr val="687984"/>
                </a:solidFill>
                <a:latin typeface="Lato"/>
                <a:ea typeface="Lato"/>
                <a:cs typeface="Lato"/>
              </a:rPr>
              <a:t>Climate projections inform part of the evidence chain; they do not determine the investment decision</a:t>
            </a:r>
          </a:p>
        </p:txBody>
      </p:sp>
      <p:sp>
        <p:nvSpPr>
          <p:cNvPr id="3" name="">
            <a:extLst xmlns:a="http://schemas.openxmlformats.org/drawingml/2006/main">
              <a:ext uri="{FF2B5EF4-FFF2-40B4-BE49-F238E27FC236}">
                <a16:creationId xmlns:a16="http://schemas.microsoft.com/office/drawing/2014/main" id="{ED2D5723-EB6B-4B11-A40B-98146FEDF42D}"/>
              </a:ext>
            </a:extLst>
          </p:cNvPr>
          <p:cNvSpPr>
            <a:spLocks xmlns:a="http://schemas.openxmlformats.org/drawingml/2006/main" noGrp="1"/>
          </p:cNvSpPr>
          <p:nvPr/>
        </p:nvSpPr>
        <p:spPr>
          <a:xfrm xmlns:a="http://schemas.openxmlformats.org/drawingml/2006/main">
            <a:off x="647700" y="13430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AF9ABA4-71FB-4274-A467-A13BB7BAF763}"/>
              </a:ext>
            </a:extLst>
          </p:cNvPr>
          <p:cNvSpPr>
            <a:spLocks xmlns:a="http://schemas.openxmlformats.org/drawingml/2006/main" noGrp="1"/>
          </p:cNvSpPr>
          <p:nvPr/>
        </p:nvSpPr>
        <p:spPr>
          <a:xfrm xmlns:a="http://schemas.openxmlformats.org/drawingml/2006/main">
            <a:off x="657225" y="1457325"/>
            <a:ext cx="9906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AEAEC12-F480-422B-AB96-1ABAEAD006EE}"/>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1250825-9FC6-4B5B-A8C0-3643A19BBC9C}"/>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50" b="1" i="0">
                <a:solidFill>
                  <a:srgbClr val="687984"/>
                </a:solidFill>
                <a:latin typeface="Lato"/>
                <a:ea typeface="Lato"/>
                <a:cs typeface="Lato"/>
              </a:defRPr>
            </a:pPr>
            <a:r>
              <a:rPr sz="750" b="1" i="0">
                <a:solidFill>
                  <a:srgbClr val="687984"/>
                </a:solidFill>
                <a:latin typeface="Lato"/>
                <a:ea typeface="Lato"/>
                <a:cs typeface="Lato"/>
              </a:rPr>
              <a:t>CAVA × CORDEX</a:t>
            </a:r>
          </a:p>
        </p:txBody>
      </p:sp>
      <p:sp>
        <p:nvSpPr>
          <p:cNvPr id="7" name="">
            <a:extLst xmlns:a="http://schemas.openxmlformats.org/drawingml/2006/main">
              <a:ext uri="{FF2B5EF4-FFF2-40B4-BE49-F238E27FC236}">
                <a16:creationId xmlns:a16="http://schemas.microsoft.com/office/drawing/2014/main" id="{BA8C1497-820D-427C-BB08-7F03987D6858}"/>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750" b="0" i="0">
                <a:solidFill>
                  <a:srgbClr val="687984"/>
                </a:solidFill>
                <a:latin typeface="Lato"/>
                <a:ea typeface="Lato"/>
                <a:cs typeface="Lato"/>
              </a:defRPr>
            </a:pPr>
            <a:r>
              <a:rPr sz="750" b="0" i="0">
                <a:solidFill>
                  <a:srgbClr val="687984"/>
                </a:solidFill>
                <a:latin typeface="Lato"/>
                <a:ea typeface="Lato"/>
                <a:cs typeface="Lato"/>
              </a:rPr>
              <a:t>04</a:t>
            </a:r>
          </a:p>
        </p:txBody>
      </p:sp>
      <p:sp>
        <p:nvSpPr>
          <p:cNvPr id="8" name="">
            <a:extLst xmlns:a="http://schemas.openxmlformats.org/drawingml/2006/main">
              <a:ext uri="{FF2B5EF4-FFF2-40B4-BE49-F238E27FC236}">
                <a16:creationId xmlns:a16="http://schemas.microsoft.com/office/drawing/2014/main" id="{F7371546-D95F-44B0-A6C8-2A4C15BF91E9}"/>
              </a:ext>
            </a:extLst>
          </p:cNvPr>
          <p:cNvSpPr>
            <a:spLocks xmlns:a="http://schemas.openxmlformats.org/drawingml/2006/main" noGrp="1"/>
          </p:cNvSpPr>
          <p:nvPr/>
        </p:nvSpPr>
        <p:spPr>
          <a:xfrm xmlns:a="http://schemas.openxmlformats.org/drawingml/2006/main">
            <a:off x="657225" y="2228850"/>
            <a:ext cx="1790700" cy="1828800"/>
          </a:xfrm>
          <a:prstGeom xmlns:a="http://schemas.openxmlformats.org/drawingml/2006/main" prst="roundRect">
            <a:avLst>
              <a:gd name="adj" fmla="val 4255"/>
            </a:avLst>
          </a:prstGeom>
          <a:solidFill xmlns:a="http://schemas.openxmlformats.org/drawingml/2006/main">
            <a:srgbClr val="EAF3F8"/>
          </a:solidFill>
          <a:ln xmlns:a="http://schemas.openxmlformats.org/drawingml/2006/main" w="9525">
            <a:solidFill>
              <a:srgbClr val="DCE5E2"/>
            </a:solidFill>
          </a:ln>
        </p:spPr>
      </p:sp>
      <p:sp>
        <p:nvSpPr>
          <p:cNvPr id="9" name="">
            <a:extLst xmlns:a="http://schemas.openxmlformats.org/drawingml/2006/main">
              <a:ext uri="{FF2B5EF4-FFF2-40B4-BE49-F238E27FC236}">
                <a16:creationId xmlns:a16="http://schemas.microsoft.com/office/drawing/2014/main" id="{50ED2E25-6169-45D3-9C5E-4832A95A75FB}"/>
              </a:ext>
            </a:extLst>
          </p:cNvPr>
          <p:cNvSpPr>
            <a:spLocks xmlns:a="http://schemas.openxmlformats.org/drawingml/2006/main" noGrp="1"/>
          </p:cNvSpPr>
          <p:nvPr/>
        </p:nvSpPr>
        <p:spPr>
          <a:xfrm xmlns:a="http://schemas.openxmlformats.org/drawingml/2006/main">
            <a:off x="866775" y="240030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1" i="0">
                <a:solidFill>
                  <a:srgbClr val="137DB4"/>
                </a:solidFill>
                <a:latin typeface="Lato"/>
                <a:ea typeface="Lato"/>
                <a:cs typeface="Lato"/>
              </a:defRPr>
            </a:pPr>
            <a:r>
              <a:rPr sz="1125" b="1" i="0">
                <a:solidFill>
                  <a:srgbClr val="137DB4"/>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888557E7-6097-4B90-A2C7-9B0032D36218}"/>
              </a:ext>
            </a:extLst>
          </p:cNvPr>
          <p:cNvSpPr>
            <a:spLocks xmlns:a="http://schemas.openxmlformats.org/drawingml/2006/main" noGrp="1"/>
          </p:cNvSpPr>
          <p:nvPr/>
        </p:nvSpPr>
        <p:spPr>
          <a:xfrm xmlns:a="http://schemas.openxmlformats.org/drawingml/2006/main">
            <a:off x="866775" y="2838450"/>
            <a:ext cx="137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200" b="1" i="0">
                <a:solidFill>
                  <a:srgbClr val="12304E"/>
                </a:solidFill>
                <a:latin typeface="Lato"/>
                <a:ea typeface="Lato"/>
                <a:cs typeface="Lato"/>
              </a:defRPr>
            </a:pPr>
            <a:r>
              <a:rPr sz="1200" b="1" i="0">
                <a:solidFill>
                  <a:srgbClr val="12304E"/>
                </a:solidFill>
                <a:latin typeface="Lato"/>
                <a:ea typeface="Lato"/>
                <a:cs typeface="Lato"/>
              </a:rPr>
              <a:t>CLIMATE SIGNAL</a:t>
            </a:r>
          </a:p>
        </p:txBody>
      </p:sp>
      <p:sp>
        <p:nvSpPr>
          <p:cNvPr id="11" name="">
            <a:extLst xmlns:a="http://schemas.openxmlformats.org/drawingml/2006/main">
              <a:ext uri="{FF2B5EF4-FFF2-40B4-BE49-F238E27FC236}">
                <a16:creationId xmlns:a16="http://schemas.microsoft.com/office/drawing/2014/main" id="{EB477D1A-1990-4D5E-A612-B49A2D2387F4}"/>
              </a:ext>
            </a:extLst>
          </p:cNvPr>
          <p:cNvSpPr>
            <a:spLocks xmlns:a="http://schemas.openxmlformats.org/drawingml/2006/main" noGrp="1"/>
          </p:cNvSpPr>
          <p:nvPr/>
        </p:nvSpPr>
        <p:spPr>
          <a:xfrm xmlns:a="http://schemas.openxmlformats.org/drawingml/2006/main">
            <a:off x="847725" y="3390900"/>
            <a:ext cx="140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How could hazards change?</a:t>
            </a:r>
          </a:p>
        </p:txBody>
      </p:sp>
      <p:sp>
        <p:nvSpPr>
          <p:cNvPr id="12" name="">
            <a:extLst xmlns:a="http://schemas.openxmlformats.org/drawingml/2006/main">
              <a:ext uri="{FF2B5EF4-FFF2-40B4-BE49-F238E27FC236}">
                <a16:creationId xmlns:a16="http://schemas.microsoft.com/office/drawing/2014/main" id="{EFD8F1B1-DF7D-4FC1-961B-BEB035BB6282}"/>
              </a:ext>
            </a:extLst>
          </p:cNvPr>
          <p:cNvSpPr>
            <a:spLocks xmlns:a="http://schemas.openxmlformats.org/drawingml/2006/main" noGrp="1"/>
          </p:cNvSpPr>
          <p:nvPr/>
        </p:nvSpPr>
        <p:spPr>
          <a:xfrm xmlns:a="http://schemas.openxmlformats.org/drawingml/2006/main">
            <a:off x="2486025" y="3000375"/>
            <a:ext cx="371475" cy="276225"/>
          </a:xfrm>
          <a:prstGeom xmlns:a="http://schemas.openxmlformats.org/drawingml/2006/main" prst="rightArrow">
            <a:avLst/>
          </a:prstGeom>
          <a:solidFill xmlns:a="http://schemas.openxmlformats.org/drawingml/2006/main">
            <a:srgbClr val="00A88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E9A66E2-CDA0-4D75-A8C3-9DD210C103A4}"/>
              </a:ext>
            </a:extLst>
          </p:cNvPr>
          <p:cNvSpPr>
            <a:spLocks xmlns:a="http://schemas.openxmlformats.org/drawingml/2006/main" noGrp="1"/>
          </p:cNvSpPr>
          <p:nvPr/>
        </p:nvSpPr>
        <p:spPr>
          <a:xfrm xmlns:a="http://schemas.openxmlformats.org/drawingml/2006/main">
            <a:off x="2895600" y="2228850"/>
            <a:ext cx="1790700" cy="1828800"/>
          </a:xfrm>
          <a:prstGeom xmlns:a="http://schemas.openxmlformats.org/drawingml/2006/main" prst="roundRect">
            <a:avLst>
              <a:gd name="adj" fmla="val 4255"/>
            </a:avLst>
          </a:prstGeom>
          <a:solidFill xmlns:a="http://schemas.openxmlformats.org/drawingml/2006/main">
            <a:srgbClr val="E7F4EF"/>
          </a:solidFill>
          <a:ln xmlns:a="http://schemas.openxmlformats.org/drawingml/2006/main" w="9525">
            <a:solidFill>
              <a:srgbClr val="DCE5E2"/>
            </a:solidFill>
          </a:ln>
        </p:spPr>
      </p:sp>
      <p:sp>
        <p:nvSpPr>
          <p:cNvPr id="14" name="">
            <a:extLst xmlns:a="http://schemas.openxmlformats.org/drawingml/2006/main">
              <a:ext uri="{FF2B5EF4-FFF2-40B4-BE49-F238E27FC236}">
                <a16:creationId xmlns:a16="http://schemas.microsoft.com/office/drawing/2014/main" id="{A255E3A7-8E82-47D3-8BA1-DFF518602805}"/>
              </a:ext>
            </a:extLst>
          </p:cNvPr>
          <p:cNvSpPr>
            <a:spLocks xmlns:a="http://schemas.openxmlformats.org/drawingml/2006/main" noGrp="1"/>
          </p:cNvSpPr>
          <p:nvPr/>
        </p:nvSpPr>
        <p:spPr>
          <a:xfrm xmlns:a="http://schemas.openxmlformats.org/drawingml/2006/main">
            <a:off x="3105150" y="240030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1" i="0">
                <a:solidFill>
                  <a:srgbClr val="00A88F"/>
                </a:solidFill>
                <a:latin typeface="Lato"/>
                <a:ea typeface="Lato"/>
                <a:cs typeface="Lato"/>
              </a:defRPr>
            </a:pPr>
            <a:r>
              <a:rPr sz="1125" b="1" i="0">
                <a:solidFill>
                  <a:srgbClr val="00A88F"/>
                </a:solidFill>
                <a:latin typeface="Lato"/>
                <a:ea typeface="Lato"/>
                <a:cs typeface="Lato"/>
              </a:rPr>
              <a:t>02</a:t>
            </a:r>
          </a:p>
        </p:txBody>
      </p:sp>
      <p:sp>
        <p:nvSpPr>
          <p:cNvPr id="15" name="">
            <a:extLst xmlns:a="http://schemas.openxmlformats.org/drawingml/2006/main">
              <a:ext uri="{FF2B5EF4-FFF2-40B4-BE49-F238E27FC236}">
                <a16:creationId xmlns:a16="http://schemas.microsoft.com/office/drawing/2014/main" id="{91AADFB2-147E-4845-B5DB-471D27EDD5A1}"/>
              </a:ext>
            </a:extLst>
          </p:cNvPr>
          <p:cNvSpPr>
            <a:spLocks xmlns:a="http://schemas.openxmlformats.org/drawingml/2006/main" noGrp="1"/>
          </p:cNvSpPr>
          <p:nvPr/>
        </p:nvSpPr>
        <p:spPr>
          <a:xfrm xmlns:a="http://schemas.openxmlformats.org/drawingml/2006/main">
            <a:off x="3105150" y="2838450"/>
            <a:ext cx="137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200" b="1" i="0">
                <a:solidFill>
                  <a:srgbClr val="12304E"/>
                </a:solidFill>
                <a:latin typeface="Lato"/>
                <a:ea typeface="Lato"/>
                <a:cs typeface="Lato"/>
              </a:defRPr>
            </a:pPr>
            <a:r>
              <a:rPr sz="1200" b="1" i="0">
                <a:solidFill>
                  <a:srgbClr val="12304E"/>
                </a:solidFill>
                <a:latin typeface="Lato"/>
                <a:ea typeface="Lato"/>
                <a:cs typeface="Lato"/>
              </a:rPr>
              <a:t>SYSTEM RISK</a:t>
            </a:r>
          </a:p>
        </p:txBody>
      </p:sp>
      <p:sp>
        <p:nvSpPr>
          <p:cNvPr id="16" name="">
            <a:extLst xmlns:a="http://schemas.openxmlformats.org/drawingml/2006/main">
              <a:ext uri="{FF2B5EF4-FFF2-40B4-BE49-F238E27FC236}">
                <a16:creationId xmlns:a16="http://schemas.microsoft.com/office/drawing/2014/main" id="{BCD6E624-04FA-45A6-AC7E-5BF1C4B89077}"/>
              </a:ext>
            </a:extLst>
          </p:cNvPr>
          <p:cNvSpPr>
            <a:spLocks xmlns:a="http://schemas.openxmlformats.org/drawingml/2006/main" noGrp="1"/>
          </p:cNvSpPr>
          <p:nvPr/>
        </p:nvSpPr>
        <p:spPr>
          <a:xfrm xmlns:a="http://schemas.openxmlformats.org/drawingml/2006/main">
            <a:off x="3086100" y="3390900"/>
            <a:ext cx="140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What is exposed and vulnerable?</a:t>
            </a:r>
          </a:p>
        </p:txBody>
      </p:sp>
      <p:sp>
        <p:nvSpPr>
          <p:cNvPr id="17" name="">
            <a:extLst xmlns:a="http://schemas.openxmlformats.org/drawingml/2006/main">
              <a:ext uri="{FF2B5EF4-FFF2-40B4-BE49-F238E27FC236}">
                <a16:creationId xmlns:a16="http://schemas.microsoft.com/office/drawing/2014/main" id="{6B9DFA8A-EA8F-4851-99C1-A64A16BBD8D3}"/>
              </a:ext>
            </a:extLst>
          </p:cNvPr>
          <p:cNvSpPr>
            <a:spLocks xmlns:a="http://schemas.openxmlformats.org/drawingml/2006/main" noGrp="1"/>
          </p:cNvSpPr>
          <p:nvPr/>
        </p:nvSpPr>
        <p:spPr>
          <a:xfrm xmlns:a="http://schemas.openxmlformats.org/drawingml/2006/main">
            <a:off x="4724400" y="3000375"/>
            <a:ext cx="371475" cy="276225"/>
          </a:xfrm>
          <a:prstGeom xmlns:a="http://schemas.openxmlformats.org/drawingml/2006/main" prst="rightArrow">
            <a:avLst/>
          </a:prstGeom>
          <a:solidFill xmlns:a="http://schemas.openxmlformats.org/drawingml/2006/main">
            <a:srgbClr val="00A88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B0E4553-C162-4E40-96D7-43CB2D181E7C}"/>
              </a:ext>
            </a:extLst>
          </p:cNvPr>
          <p:cNvSpPr>
            <a:spLocks xmlns:a="http://schemas.openxmlformats.org/drawingml/2006/main" noGrp="1"/>
          </p:cNvSpPr>
          <p:nvPr/>
        </p:nvSpPr>
        <p:spPr>
          <a:xfrm xmlns:a="http://schemas.openxmlformats.org/drawingml/2006/main">
            <a:off x="5133975" y="2228850"/>
            <a:ext cx="1790700" cy="1828800"/>
          </a:xfrm>
          <a:prstGeom xmlns:a="http://schemas.openxmlformats.org/drawingml/2006/main" prst="roundRect">
            <a:avLst>
              <a:gd name="adj" fmla="val 4255"/>
            </a:avLst>
          </a:prstGeom>
          <a:solidFill xmlns:a="http://schemas.openxmlformats.org/drawingml/2006/main">
            <a:srgbClr val="EAF6ED"/>
          </a:solidFill>
          <a:ln xmlns:a="http://schemas.openxmlformats.org/drawingml/2006/main" w="9525">
            <a:solidFill>
              <a:srgbClr val="DCE5E2"/>
            </a:solidFill>
          </a:ln>
        </p:spPr>
      </p:sp>
      <p:sp>
        <p:nvSpPr>
          <p:cNvPr id="19" name="">
            <a:extLst xmlns:a="http://schemas.openxmlformats.org/drawingml/2006/main">
              <a:ext uri="{FF2B5EF4-FFF2-40B4-BE49-F238E27FC236}">
                <a16:creationId xmlns:a16="http://schemas.microsoft.com/office/drawing/2014/main" id="{87F3CC15-E5C6-436E-9541-DA6A1772D714}"/>
              </a:ext>
            </a:extLst>
          </p:cNvPr>
          <p:cNvSpPr>
            <a:spLocks xmlns:a="http://schemas.openxmlformats.org/drawingml/2006/main" noGrp="1"/>
          </p:cNvSpPr>
          <p:nvPr/>
        </p:nvSpPr>
        <p:spPr>
          <a:xfrm xmlns:a="http://schemas.openxmlformats.org/drawingml/2006/main">
            <a:off x="5343525" y="240030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1" i="0">
                <a:solidFill>
                  <a:srgbClr val="67C587"/>
                </a:solidFill>
                <a:latin typeface="Lato"/>
                <a:ea typeface="Lato"/>
                <a:cs typeface="Lato"/>
              </a:defRPr>
            </a:pPr>
            <a:r>
              <a:rPr sz="1125" b="1" i="0">
                <a:solidFill>
                  <a:srgbClr val="67C587"/>
                </a:solidFill>
                <a:latin typeface="Lato"/>
                <a:ea typeface="Lato"/>
                <a:cs typeface="Lato"/>
              </a:rPr>
              <a:t>03</a:t>
            </a:r>
          </a:p>
        </p:txBody>
      </p:sp>
      <p:sp>
        <p:nvSpPr>
          <p:cNvPr id="20" name="">
            <a:extLst xmlns:a="http://schemas.openxmlformats.org/drawingml/2006/main">
              <a:ext uri="{FF2B5EF4-FFF2-40B4-BE49-F238E27FC236}">
                <a16:creationId xmlns:a16="http://schemas.microsoft.com/office/drawing/2014/main" id="{BB66696F-E36C-4C4A-81A3-F1BC60A08653}"/>
              </a:ext>
            </a:extLst>
          </p:cNvPr>
          <p:cNvSpPr>
            <a:spLocks xmlns:a="http://schemas.openxmlformats.org/drawingml/2006/main" noGrp="1"/>
          </p:cNvSpPr>
          <p:nvPr/>
        </p:nvSpPr>
        <p:spPr>
          <a:xfrm xmlns:a="http://schemas.openxmlformats.org/drawingml/2006/main">
            <a:off x="5343525" y="2838450"/>
            <a:ext cx="137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200" b="1" i="0">
                <a:solidFill>
                  <a:srgbClr val="12304E"/>
                </a:solidFill>
                <a:latin typeface="Lato"/>
                <a:ea typeface="Lato"/>
                <a:cs typeface="Lato"/>
              </a:defRPr>
            </a:pPr>
            <a:r>
              <a:rPr sz="1200" b="1" i="0">
                <a:solidFill>
                  <a:srgbClr val="12304E"/>
                </a:solidFill>
                <a:latin typeface="Lato"/>
                <a:ea typeface="Lato"/>
                <a:cs typeface="Lato"/>
              </a:rPr>
              <a:t>PEOPLE &amp; ASSETS</a:t>
            </a:r>
          </a:p>
        </p:txBody>
      </p:sp>
      <p:sp>
        <p:nvSpPr>
          <p:cNvPr id="21" name="">
            <a:extLst xmlns:a="http://schemas.openxmlformats.org/drawingml/2006/main">
              <a:ext uri="{FF2B5EF4-FFF2-40B4-BE49-F238E27FC236}">
                <a16:creationId xmlns:a16="http://schemas.microsoft.com/office/drawing/2014/main" id="{4DE38981-63F8-4525-9670-D7A4DD5599F4}"/>
              </a:ext>
            </a:extLst>
          </p:cNvPr>
          <p:cNvSpPr>
            <a:spLocks xmlns:a="http://schemas.openxmlformats.org/drawingml/2006/main" noGrp="1"/>
          </p:cNvSpPr>
          <p:nvPr/>
        </p:nvSpPr>
        <p:spPr>
          <a:xfrm xmlns:a="http://schemas.openxmlformats.org/drawingml/2006/main">
            <a:off x="5324475" y="3390900"/>
            <a:ext cx="140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Who and what may be affected?</a:t>
            </a:r>
          </a:p>
        </p:txBody>
      </p:sp>
      <p:sp>
        <p:nvSpPr>
          <p:cNvPr id="22" name="">
            <a:extLst xmlns:a="http://schemas.openxmlformats.org/drawingml/2006/main">
              <a:ext uri="{FF2B5EF4-FFF2-40B4-BE49-F238E27FC236}">
                <a16:creationId xmlns:a16="http://schemas.microsoft.com/office/drawing/2014/main" id="{3BF5C019-3878-4C3E-BFBE-75F9FD45A07C}"/>
              </a:ext>
            </a:extLst>
          </p:cNvPr>
          <p:cNvSpPr>
            <a:spLocks xmlns:a="http://schemas.openxmlformats.org/drawingml/2006/main" noGrp="1"/>
          </p:cNvSpPr>
          <p:nvPr/>
        </p:nvSpPr>
        <p:spPr>
          <a:xfrm xmlns:a="http://schemas.openxmlformats.org/drawingml/2006/main">
            <a:off x="6962775" y="3000375"/>
            <a:ext cx="371475" cy="276225"/>
          </a:xfrm>
          <a:prstGeom xmlns:a="http://schemas.openxmlformats.org/drawingml/2006/main" prst="rightArrow">
            <a:avLst/>
          </a:prstGeom>
          <a:solidFill xmlns:a="http://schemas.openxmlformats.org/drawingml/2006/main">
            <a:srgbClr val="F2B63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6F40EE3-8294-48AE-A4EF-0FD3A2BA159C}"/>
              </a:ext>
            </a:extLst>
          </p:cNvPr>
          <p:cNvSpPr>
            <a:spLocks xmlns:a="http://schemas.openxmlformats.org/drawingml/2006/main" noGrp="1"/>
          </p:cNvSpPr>
          <p:nvPr/>
        </p:nvSpPr>
        <p:spPr>
          <a:xfrm xmlns:a="http://schemas.openxmlformats.org/drawingml/2006/main">
            <a:off x="7372350" y="2228850"/>
            <a:ext cx="1790700" cy="1828800"/>
          </a:xfrm>
          <a:prstGeom xmlns:a="http://schemas.openxmlformats.org/drawingml/2006/main" prst="roundRect">
            <a:avLst>
              <a:gd name="adj" fmla="val 4255"/>
            </a:avLst>
          </a:prstGeom>
          <a:solidFill xmlns:a="http://schemas.openxmlformats.org/drawingml/2006/main">
            <a:srgbClr val="FFF3D1"/>
          </a:solidFill>
          <a:ln xmlns:a="http://schemas.openxmlformats.org/drawingml/2006/main" w="9525">
            <a:solidFill>
              <a:srgbClr val="DCE5E2"/>
            </a:solidFill>
          </a:ln>
        </p:spPr>
      </p:sp>
      <p:sp>
        <p:nvSpPr>
          <p:cNvPr id="24" name="">
            <a:extLst xmlns:a="http://schemas.openxmlformats.org/drawingml/2006/main">
              <a:ext uri="{FF2B5EF4-FFF2-40B4-BE49-F238E27FC236}">
                <a16:creationId xmlns:a16="http://schemas.microsoft.com/office/drawing/2014/main" id="{39A9AA1D-2CD7-4E15-B9E7-A54102960477}"/>
              </a:ext>
            </a:extLst>
          </p:cNvPr>
          <p:cNvSpPr>
            <a:spLocks xmlns:a="http://schemas.openxmlformats.org/drawingml/2006/main" noGrp="1"/>
          </p:cNvSpPr>
          <p:nvPr/>
        </p:nvSpPr>
        <p:spPr>
          <a:xfrm xmlns:a="http://schemas.openxmlformats.org/drawingml/2006/main">
            <a:off x="7581900" y="240030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1" i="0">
                <a:solidFill>
                  <a:srgbClr val="F2B632"/>
                </a:solidFill>
                <a:latin typeface="Lato"/>
                <a:ea typeface="Lato"/>
                <a:cs typeface="Lato"/>
              </a:defRPr>
            </a:pPr>
            <a:r>
              <a:rPr sz="1125" b="1" i="0">
                <a:solidFill>
                  <a:srgbClr val="F2B632"/>
                </a:solidFill>
                <a:latin typeface="Lato"/>
                <a:ea typeface="Lato"/>
                <a:cs typeface="Lato"/>
              </a:rPr>
              <a:t>04</a:t>
            </a:r>
          </a:p>
        </p:txBody>
      </p:sp>
      <p:sp>
        <p:nvSpPr>
          <p:cNvPr id="25" name="">
            <a:extLst xmlns:a="http://schemas.openxmlformats.org/drawingml/2006/main">
              <a:ext uri="{FF2B5EF4-FFF2-40B4-BE49-F238E27FC236}">
                <a16:creationId xmlns:a16="http://schemas.microsoft.com/office/drawing/2014/main" id="{37359E8D-7B77-40D0-A24C-5AC45CF21DA2}"/>
              </a:ext>
            </a:extLst>
          </p:cNvPr>
          <p:cNvSpPr>
            <a:spLocks xmlns:a="http://schemas.openxmlformats.org/drawingml/2006/main" noGrp="1"/>
          </p:cNvSpPr>
          <p:nvPr/>
        </p:nvSpPr>
        <p:spPr>
          <a:xfrm xmlns:a="http://schemas.openxmlformats.org/drawingml/2006/main">
            <a:off x="7581900" y="2838450"/>
            <a:ext cx="137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200" b="1" i="0">
                <a:solidFill>
                  <a:srgbClr val="12304E"/>
                </a:solidFill>
                <a:latin typeface="Lato"/>
                <a:ea typeface="Lato"/>
                <a:cs typeface="Lato"/>
              </a:defRPr>
            </a:pPr>
            <a:r>
              <a:rPr sz="1200" b="1" i="0">
                <a:solidFill>
                  <a:srgbClr val="12304E"/>
                </a:solidFill>
                <a:latin typeface="Lato"/>
                <a:ea typeface="Lato"/>
                <a:cs typeface="Lato"/>
              </a:rPr>
              <a:t>ADAPTATION</a:t>
            </a:r>
          </a:p>
        </p:txBody>
      </p:sp>
      <p:sp>
        <p:nvSpPr>
          <p:cNvPr id="26" name="">
            <a:extLst xmlns:a="http://schemas.openxmlformats.org/drawingml/2006/main">
              <a:ext uri="{FF2B5EF4-FFF2-40B4-BE49-F238E27FC236}">
                <a16:creationId xmlns:a16="http://schemas.microsoft.com/office/drawing/2014/main" id="{9486EA90-523D-4E5F-B4BE-5357DCEB370A}"/>
              </a:ext>
            </a:extLst>
          </p:cNvPr>
          <p:cNvSpPr>
            <a:spLocks xmlns:a="http://schemas.openxmlformats.org/drawingml/2006/main" noGrp="1"/>
          </p:cNvSpPr>
          <p:nvPr/>
        </p:nvSpPr>
        <p:spPr>
          <a:xfrm xmlns:a="http://schemas.openxmlformats.org/drawingml/2006/main">
            <a:off x="7562850" y="3390900"/>
            <a:ext cx="140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Which options reduce the risk?</a:t>
            </a:r>
          </a:p>
        </p:txBody>
      </p:sp>
      <p:sp>
        <p:nvSpPr>
          <p:cNvPr id="27" name="">
            <a:extLst xmlns:a="http://schemas.openxmlformats.org/drawingml/2006/main">
              <a:ext uri="{FF2B5EF4-FFF2-40B4-BE49-F238E27FC236}">
                <a16:creationId xmlns:a16="http://schemas.microsoft.com/office/drawing/2014/main" id="{2BCA7840-56A3-4C0E-B79A-04E4480C765E}"/>
              </a:ext>
            </a:extLst>
          </p:cNvPr>
          <p:cNvSpPr>
            <a:spLocks xmlns:a="http://schemas.openxmlformats.org/drawingml/2006/main" noGrp="1"/>
          </p:cNvSpPr>
          <p:nvPr/>
        </p:nvSpPr>
        <p:spPr>
          <a:xfrm xmlns:a="http://schemas.openxmlformats.org/drawingml/2006/main">
            <a:off x="9201150" y="3000375"/>
            <a:ext cx="371475" cy="276225"/>
          </a:xfrm>
          <a:prstGeom xmlns:a="http://schemas.openxmlformats.org/drawingml/2006/main" prst="rightArrow">
            <a:avLst/>
          </a:prstGeom>
          <a:solidFill xmlns:a="http://schemas.openxmlformats.org/drawingml/2006/main">
            <a:srgbClr val="00A88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7AA259E-C70F-492F-8C39-B5EA53F687FE}"/>
              </a:ext>
            </a:extLst>
          </p:cNvPr>
          <p:cNvSpPr>
            <a:spLocks xmlns:a="http://schemas.openxmlformats.org/drawingml/2006/main" noGrp="1"/>
          </p:cNvSpPr>
          <p:nvPr/>
        </p:nvSpPr>
        <p:spPr>
          <a:xfrm xmlns:a="http://schemas.openxmlformats.org/drawingml/2006/main">
            <a:off x="9610725" y="2228850"/>
            <a:ext cx="1790700" cy="1828800"/>
          </a:xfrm>
          <a:prstGeom xmlns:a="http://schemas.openxmlformats.org/drawingml/2006/main" prst="roundRect">
            <a:avLst>
              <a:gd name="adj" fmla="val 4255"/>
            </a:avLst>
          </a:prstGeom>
          <a:solidFill xmlns:a="http://schemas.openxmlformats.org/drawingml/2006/main">
            <a:srgbClr val="12304E"/>
          </a:solidFill>
          <a:ln xmlns:a="http://schemas.openxmlformats.org/drawingml/2006/main" w="9525">
            <a:solidFill>
              <a:srgbClr val="12304E"/>
            </a:solidFill>
          </a:ln>
        </p:spPr>
      </p:sp>
      <p:sp>
        <p:nvSpPr>
          <p:cNvPr id="29" name="">
            <a:extLst xmlns:a="http://schemas.openxmlformats.org/drawingml/2006/main">
              <a:ext uri="{FF2B5EF4-FFF2-40B4-BE49-F238E27FC236}">
                <a16:creationId xmlns:a16="http://schemas.microsoft.com/office/drawing/2014/main" id="{A3225B5E-64D6-4A2C-B288-168EE42F845B}"/>
              </a:ext>
            </a:extLst>
          </p:cNvPr>
          <p:cNvSpPr>
            <a:spLocks xmlns:a="http://schemas.openxmlformats.org/drawingml/2006/main" noGrp="1"/>
          </p:cNvSpPr>
          <p:nvPr/>
        </p:nvSpPr>
        <p:spPr>
          <a:xfrm xmlns:a="http://schemas.openxmlformats.org/drawingml/2006/main">
            <a:off x="9820275" y="2400300"/>
            <a:ext cx="457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1" i="0">
                <a:solidFill>
                  <a:srgbClr val="FFFFFF"/>
                </a:solidFill>
                <a:latin typeface="Lato"/>
                <a:ea typeface="Lato"/>
                <a:cs typeface="Lato"/>
              </a:defRPr>
            </a:pPr>
            <a:r>
              <a:rPr sz="1125" b="1" i="0">
                <a:solidFill>
                  <a:srgbClr val="FFFFFF"/>
                </a:solidFill>
                <a:latin typeface="Lato"/>
                <a:ea typeface="Lato"/>
                <a:cs typeface="Lato"/>
              </a:rPr>
              <a:t>05</a:t>
            </a:r>
          </a:p>
        </p:txBody>
      </p:sp>
      <p:sp>
        <p:nvSpPr>
          <p:cNvPr id="30" name="">
            <a:extLst xmlns:a="http://schemas.openxmlformats.org/drawingml/2006/main">
              <a:ext uri="{FF2B5EF4-FFF2-40B4-BE49-F238E27FC236}">
                <a16:creationId xmlns:a16="http://schemas.microsoft.com/office/drawing/2014/main" id="{7DEAD68F-F09B-4C4B-A5AF-0E1E6839C3C4}"/>
              </a:ext>
            </a:extLst>
          </p:cNvPr>
          <p:cNvSpPr>
            <a:spLocks xmlns:a="http://schemas.openxmlformats.org/drawingml/2006/main" noGrp="1"/>
          </p:cNvSpPr>
          <p:nvPr/>
        </p:nvSpPr>
        <p:spPr>
          <a:xfrm xmlns:a="http://schemas.openxmlformats.org/drawingml/2006/main">
            <a:off x="9820275" y="2838450"/>
            <a:ext cx="137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200" b="1" i="0">
                <a:solidFill>
                  <a:srgbClr val="FFFFFF"/>
                </a:solidFill>
                <a:latin typeface="Lato"/>
                <a:ea typeface="Lato"/>
                <a:cs typeface="Lato"/>
              </a:defRPr>
            </a:pPr>
            <a:r>
              <a:rPr sz="1200" b="1" i="0">
                <a:solidFill>
                  <a:srgbClr val="FFFFFF"/>
                </a:solidFill>
                <a:latin typeface="Lato"/>
                <a:ea typeface="Lato"/>
                <a:cs typeface="Lato"/>
              </a:rPr>
              <a:t>INVESTMENT</a:t>
            </a:r>
          </a:p>
        </p:txBody>
      </p:sp>
      <p:sp>
        <p:nvSpPr>
          <p:cNvPr id="31" name="">
            <a:extLst xmlns:a="http://schemas.openxmlformats.org/drawingml/2006/main">
              <a:ext uri="{FF2B5EF4-FFF2-40B4-BE49-F238E27FC236}">
                <a16:creationId xmlns:a16="http://schemas.microsoft.com/office/drawing/2014/main" id="{1633E079-53B0-49B1-AC8B-A686ED56C92F}"/>
              </a:ext>
            </a:extLst>
          </p:cNvPr>
          <p:cNvSpPr>
            <a:spLocks xmlns:a="http://schemas.openxmlformats.org/drawingml/2006/main" noGrp="1"/>
          </p:cNvSpPr>
          <p:nvPr/>
        </p:nvSpPr>
        <p:spPr>
          <a:xfrm xmlns:a="http://schemas.openxmlformats.org/drawingml/2006/main">
            <a:off x="9801225" y="3390900"/>
            <a:ext cx="140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050" b="0" i="0">
                <a:solidFill>
                  <a:srgbClr val="D7E5EC"/>
                </a:solidFill>
                <a:latin typeface="Lato"/>
                <a:ea typeface="Lato"/>
                <a:cs typeface="Lato"/>
              </a:defRPr>
            </a:pPr>
            <a:r>
              <a:rPr sz="1050" b="0" i="0">
                <a:solidFill>
                  <a:srgbClr val="D7E5EC"/>
                </a:solidFill>
                <a:latin typeface="Lato"/>
                <a:ea typeface="Lato"/>
                <a:cs typeface="Lato"/>
              </a:rPr>
              <a:t>Why finance action now?</a:t>
            </a:r>
          </a:p>
        </p:txBody>
      </p:sp>
      <p:sp>
        <p:nvSpPr>
          <p:cNvPr id="32" name="">
            <a:extLst xmlns:a="http://schemas.openxmlformats.org/drawingml/2006/main">
              <a:ext uri="{FF2B5EF4-FFF2-40B4-BE49-F238E27FC236}">
                <a16:creationId xmlns:a16="http://schemas.microsoft.com/office/drawing/2014/main" id="{D19524CA-F413-48F3-ABBF-D2F4085994AD}"/>
              </a:ext>
            </a:extLst>
          </p:cNvPr>
          <p:cNvSpPr>
            <a:spLocks xmlns:a="http://schemas.openxmlformats.org/drawingml/2006/main" noGrp="1"/>
          </p:cNvSpPr>
          <p:nvPr/>
        </p:nvSpPr>
        <p:spPr>
          <a:xfrm xmlns:a="http://schemas.openxmlformats.org/drawingml/2006/main">
            <a:off x="647700" y="4610100"/>
            <a:ext cx="1089660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9525">
            <a:solidFill>
              <a:srgbClr val="DCE5E2"/>
            </a:solidFill>
          </a:ln>
        </p:spPr>
      </p:sp>
      <p:sp>
        <p:nvSpPr>
          <p:cNvPr id="33" name="">
            <a:extLst xmlns:a="http://schemas.openxmlformats.org/drawingml/2006/main">
              <a:ext uri="{FF2B5EF4-FFF2-40B4-BE49-F238E27FC236}">
                <a16:creationId xmlns:a16="http://schemas.microsoft.com/office/drawing/2014/main" id="{142E9B85-0029-4324-AAF7-75F5871CE4C0}"/>
              </a:ext>
            </a:extLst>
          </p:cNvPr>
          <p:cNvSpPr>
            <a:spLocks xmlns:a="http://schemas.openxmlformats.org/drawingml/2006/main" noGrp="1"/>
          </p:cNvSpPr>
          <p:nvPr/>
        </p:nvSpPr>
        <p:spPr>
          <a:xfrm xmlns:a="http://schemas.openxmlformats.org/drawingml/2006/main">
            <a:off x="885825" y="4791075"/>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00A88F"/>
                </a:solidFill>
                <a:latin typeface="Lato"/>
                <a:ea typeface="Lato"/>
                <a:cs typeface="Lato"/>
              </a:defRPr>
            </a:pPr>
            <a:r>
              <a:rPr sz="825" b="1" i="0">
                <a:solidFill>
                  <a:srgbClr val="00A88F"/>
                </a:solidFill>
                <a:latin typeface="Lato"/>
                <a:ea typeface="Lato"/>
                <a:cs typeface="Lato"/>
              </a:rPr>
              <a:t>SCOPE OF CAVA</a:t>
            </a:r>
          </a:p>
        </p:txBody>
      </p:sp>
      <p:sp>
        <p:nvSpPr>
          <p:cNvPr id="34" name="">
            <a:extLst xmlns:a="http://schemas.openxmlformats.org/drawingml/2006/main">
              <a:ext uri="{FF2B5EF4-FFF2-40B4-BE49-F238E27FC236}">
                <a16:creationId xmlns:a16="http://schemas.microsoft.com/office/drawing/2014/main" id="{6AA1640A-11A5-49F5-9D28-3342F87D9644}"/>
              </a:ext>
            </a:extLst>
          </p:cNvPr>
          <p:cNvSpPr>
            <a:spLocks xmlns:a="http://schemas.openxmlformats.org/drawingml/2006/main" noGrp="1"/>
          </p:cNvSpPr>
          <p:nvPr/>
        </p:nvSpPr>
        <p:spPr>
          <a:xfrm xmlns:a="http://schemas.openxmlformats.org/drawingml/2006/main">
            <a:off x="885825" y="5057775"/>
            <a:ext cx="10172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806"/>
          </a:bodyPr>
          <a:lstStyle xmlns:a="http://schemas.openxmlformats.org/drawingml/2006/main"/>
          <a:p xmlns:a="http://schemas.openxmlformats.org/drawingml/2006/main">
            <a:pPr algn="ctr">
              <a:lnSpc>
                <a:spcPct val="104000"/>
              </a:lnSpc>
              <a:buNone/>
              <a:defRPr sz="1350" b="1" i="0">
                <a:solidFill>
                  <a:srgbClr val="12304E"/>
                </a:solidFill>
                <a:latin typeface="Lato"/>
                <a:ea typeface="Lato"/>
                <a:cs typeface="Lato"/>
              </a:defRPr>
            </a:pPr>
            <a:r>
              <a:rPr sz="1350" b="1" i="0">
                <a:solidFill>
                  <a:srgbClr val="12304E"/>
                </a:solidFill>
                <a:latin typeface="Lato"/>
                <a:ea typeface="Lato"/>
                <a:cs typeface="Lato"/>
              </a:rPr>
              <a:t>CAVA records data selection and processing from the model ensemble to derived indicators. Exposure, vulnerability, feasibility and financing require additional evidence.</a:t>
            </a:r>
          </a:p>
        </p:txBody>
      </p:sp>
    </p:spTree>
    <p:extLst>
      <p:ext uri="{BB962C8B-B14F-4D97-AF65-F5344CB8AC3E}">
        <p14:creationId xmlns:p14="http://schemas.microsoft.com/office/powerpoint/2010/main" val="239034908"/>
      </p:ext>
    </p:extLst>
  </p:cSld>
</p:sld>
</file>

<file path=ppt/slides/slide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EDBF0D8-4EF0-4A14-803D-7ADA41777502}"/>
              </a:ext>
            </a:extLst>
          </p:cNvPr>
          <p:cNvSpPr>
            <a:spLocks xmlns:a="http://schemas.openxmlformats.org/drawingml/2006/main" noGrp="1"/>
          </p:cNvSpPr>
          <p:nvPr/>
        </p:nvSpPr>
        <p:spPr>
          <a:xfrm xmlns:a="http://schemas.openxmlformats.org/drawingml/2006/main">
            <a:off x="628650" y="4000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i="0">
                <a:solidFill>
                  <a:srgbClr val="12304E"/>
                </a:solidFill>
                <a:latin typeface="Lato"/>
                <a:ea typeface="Lato"/>
                <a:cs typeface="Lato"/>
              </a:defRPr>
            </a:pPr>
            <a:r>
              <a:rPr sz="2325" b="1" i="0">
                <a:solidFill>
                  <a:srgbClr val="12304E"/>
                </a:solidFill>
                <a:latin typeface="Lato"/>
                <a:ea typeface="Lato"/>
                <a:cs typeface="Lato"/>
              </a:rPr>
              <a:t>Development of CAVA</a:t>
            </a:r>
          </a:p>
        </p:txBody>
      </p:sp>
      <p:sp>
        <p:nvSpPr>
          <p:cNvPr id="2" name="">
            <a:extLst xmlns:a="http://schemas.openxmlformats.org/drawingml/2006/main">
              <a:ext uri="{FF2B5EF4-FFF2-40B4-BE49-F238E27FC236}">
                <a16:creationId xmlns:a16="http://schemas.microsoft.com/office/drawing/2014/main" id="{72413271-5866-4B6A-8C78-15B5C9A718ED}"/>
              </a:ext>
            </a:extLst>
          </p:cNvPr>
          <p:cNvSpPr>
            <a:spLocks xmlns:a="http://schemas.openxmlformats.org/drawingml/2006/main" noGrp="1"/>
          </p:cNvSpPr>
          <p:nvPr/>
        </p:nvSpPr>
        <p:spPr>
          <a:xfrm xmlns:a="http://schemas.openxmlformats.org/drawingml/2006/main">
            <a:off x="647700" y="9620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687984"/>
                </a:solidFill>
                <a:latin typeface="Lato"/>
                <a:ea typeface="Lato"/>
                <a:cs typeface="Lato"/>
              </a:defRPr>
            </a:pPr>
            <a:r>
              <a:rPr sz="1125" b="0" i="0">
                <a:solidFill>
                  <a:srgbClr val="687984"/>
                </a:solidFill>
                <a:latin typeface="Lato"/>
                <a:ea typeface="Lato"/>
                <a:cs typeface="Lato"/>
              </a:rPr>
              <a:t>The system expanded from internal scripts to shared services while retaining a common processing workflow</a:t>
            </a:r>
          </a:p>
        </p:txBody>
      </p:sp>
      <p:sp>
        <p:nvSpPr>
          <p:cNvPr id="3" name="">
            <a:extLst xmlns:a="http://schemas.openxmlformats.org/drawingml/2006/main">
              <a:ext uri="{FF2B5EF4-FFF2-40B4-BE49-F238E27FC236}">
                <a16:creationId xmlns:a16="http://schemas.microsoft.com/office/drawing/2014/main" id="{7404C65D-1822-41F6-87D2-27CCCA4CF49B}"/>
              </a:ext>
            </a:extLst>
          </p:cNvPr>
          <p:cNvSpPr>
            <a:spLocks xmlns:a="http://schemas.openxmlformats.org/drawingml/2006/main" noGrp="1"/>
          </p:cNvSpPr>
          <p:nvPr/>
        </p:nvSpPr>
        <p:spPr>
          <a:xfrm xmlns:a="http://schemas.openxmlformats.org/drawingml/2006/main">
            <a:off x="647700" y="13430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C50C563-AE92-43DA-8741-36ADEC3FCC92}"/>
              </a:ext>
            </a:extLst>
          </p:cNvPr>
          <p:cNvSpPr>
            <a:spLocks xmlns:a="http://schemas.openxmlformats.org/drawingml/2006/main" noGrp="1"/>
          </p:cNvSpPr>
          <p:nvPr/>
        </p:nvSpPr>
        <p:spPr>
          <a:xfrm xmlns:a="http://schemas.openxmlformats.org/drawingml/2006/main">
            <a:off x="657225" y="1457325"/>
            <a:ext cx="9906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AEC751B-BED7-43E0-9477-EC48F0BBF025}"/>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3DD7CB9-DAF1-4F1E-80A8-C9F825C33007}"/>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50" b="1" i="0">
                <a:solidFill>
                  <a:srgbClr val="687984"/>
                </a:solidFill>
                <a:latin typeface="Lato"/>
                <a:ea typeface="Lato"/>
                <a:cs typeface="Lato"/>
              </a:defRPr>
            </a:pPr>
            <a:r>
              <a:rPr sz="750" b="1" i="0">
                <a:solidFill>
                  <a:srgbClr val="687984"/>
                </a:solidFill>
                <a:latin typeface="Lato"/>
                <a:ea typeface="Lato"/>
                <a:cs typeface="Lato"/>
              </a:rPr>
              <a:t>CAVA × CORDEX</a:t>
            </a:r>
          </a:p>
        </p:txBody>
      </p:sp>
      <p:sp>
        <p:nvSpPr>
          <p:cNvPr id="7" name="">
            <a:extLst xmlns:a="http://schemas.openxmlformats.org/drawingml/2006/main">
              <a:ext uri="{FF2B5EF4-FFF2-40B4-BE49-F238E27FC236}">
                <a16:creationId xmlns:a16="http://schemas.microsoft.com/office/drawing/2014/main" id="{A0C462AA-304C-4C47-A9EC-55826533560D}"/>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750" b="0" i="0">
                <a:solidFill>
                  <a:srgbClr val="687984"/>
                </a:solidFill>
                <a:latin typeface="Lato"/>
                <a:ea typeface="Lato"/>
                <a:cs typeface="Lato"/>
              </a:defRPr>
            </a:pPr>
            <a:r>
              <a:rPr sz="750" b="0" i="0">
                <a:solidFill>
                  <a:srgbClr val="687984"/>
                </a:solidFill>
                <a:latin typeface="Lato"/>
                <a:ea typeface="Lato"/>
                <a:cs typeface="Lato"/>
              </a:rPr>
              <a:t>05</a:t>
            </a:r>
          </a:p>
        </p:txBody>
      </p:sp>
      <p:sp>
        <p:nvSpPr>
          <p:cNvPr id="8" name="">
            <a:extLst xmlns:a="http://schemas.openxmlformats.org/drawingml/2006/main">
              <a:ext uri="{FF2B5EF4-FFF2-40B4-BE49-F238E27FC236}">
                <a16:creationId xmlns:a16="http://schemas.microsoft.com/office/drawing/2014/main" id="{B9A4D8ED-E7AF-4F57-9293-2A694A71EADB}"/>
              </a:ext>
            </a:extLst>
          </p:cNvPr>
          <p:cNvSpPr>
            <a:spLocks xmlns:a="http://schemas.openxmlformats.org/drawingml/2006/main" noGrp="1"/>
          </p:cNvSpPr>
          <p:nvPr/>
        </p:nvSpPr>
        <p:spPr>
          <a:xfrm xmlns:a="http://schemas.openxmlformats.org/drawingml/2006/main">
            <a:off x="704850" y="2095500"/>
            <a:ext cx="234315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a:solidFill>
              <a:srgbClr val="DCE5E2"/>
            </a:solidFill>
          </a:ln>
        </p:spPr>
      </p:sp>
      <p:sp>
        <p:nvSpPr>
          <p:cNvPr id="9" name="">
            <a:extLst xmlns:a="http://schemas.openxmlformats.org/drawingml/2006/main">
              <a:ext uri="{FF2B5EF4-FFF2-40B4-BE49-F238E27FC236}">
                <a16:creationId xmlns:a16="http://schemas.microsoft.com/office/drawing/2014/main" id="{D7E5F1CA-6BE7-4504-A4B2-0499010C36EF}"/>
              </a:ext>
            </a:extLst>
          </p:cNvPr>
          <p:cNvSpPr>
            <a:spLocks xmlns:a="http://schemas.openxmlformats.org/drawingml/2006/main" noGrp="1"/>
          </p:cNvSpPr>
          <p:nvPr/>
        </p:nvSpPr>
        <p:spPr>
          <a:xfrm xmlns:a="http://schemas.openxmlformats.org/drawingml/2006/main">
            <a:off x="933450" y="229552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i="0">
                <a:solidFill>
                  <a:srgbClr val="00A88F"/>
                </a:solidFill>
                <a:latin typeface="Lato"/>
                <a:ea typeface="Lato"/>
                <a:cs typeface="Lato"/>
              </a:defRPr>
            </a:pPr>
            <a:r>
              <a:rPr sz="2025" b="1" i="0">
                <a:solidFill>
                  <a:srgbClr val="00A88F"/>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D32EE2D9-1D1E-4FF6-9D61-9BFD0CA617C5}"/>
              </a:ext>
            </a:extLst>
          </p:cNvPr>
          <p:cNvSpPr>
            <a:spLocks xmlns:a="http://schemas.openxmlformats.org/drawingml/2006/main" noGrp="1"/>
          </p:cNvSpPr>
          <p:nvPr/>
        </p:nvSpPr>
        <p:spPr>
          <a:xfrm xmlns:a="http://schemas.openxmlformats.org/drawingml/2006/main">
            <a:off x="933450" y="2857500"/>
            <a:ext cx="18764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650" b="1" i="0">
                <a:solidFill>
                  <a:srgbClr val="12304E"/>
                </a:solidFill>
                <a:latin typeface="Lato"/>
                <a:ea typeface="Lato"/>
                <a:cs typeface="Lato"/>
              </a:defRPr>
            </a:pPr>
            <a:r>
              <a:rPr sz="1650" b="1" i="0">
                <a:solidFill>
                  <a:srgbClr val="12304E"/>
                </a:solidFill>
                <a:latin typeface="Lato"/>
                <a:ea typeface="Lato"/>
                <a:cs typeface="Lato"/>
              </a:rPr>
              <a:t>Internal FAO tool</a:t>
            </a:r>
          </a:p>
        </p:txBody>
      </p:sp>
      <p:sp>
        <p:nvSpPr>
          <p:cNvPr id="11" name="">
            <a:extLst xmlns:a="http://schemas.openxmlformats.org/drawingml/2006/main">
              <a:ext uri="{FF2B5EF4-FFF2-40B4-BE49-F238E27FC236}">
                <a16:creationId xmlns:a16="http://schemas.microsoft.com/office/drawing/2014/main" id="{82A5D9E2-DA3D-41BF-A71C-E73C0454F460}"/>
              </a:ext>
            </a:extLst>
          </p:cNvPr>
          <p:cNvSpPr>
            <a:spLocks xmlns:a="http://schemas.openxmlformats.org/drawingml/2006/main" noGrp="1"/>
          </p:cNvSpPr>
          <p:nvPr/>
        </p:nvSpPr>
        <p:spPr>
          <a:xfrm xmlns:a="http://schemas.openxmlformats.org/drawingml/2006/main">
            <a:off x="933450" y="3543300"/>
            <a:ext cx="1876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Reduce repeated technical work inside the climate team</a:t>
            </a:r>
          </a:p>
        </p:txBody>
      </p:sp>
      <p:sp>
        <p:nvSpPr>
          <p:cNvPr id="12" name="">
            <a:extLst xmlns:a="http://schemas.openxmlformats.org/drawingml/2006/main">
              <a:ext uri="{FF2B5EF4-FFF2-40B4-BE49-F238E27FC236}">
                <a16:creationId xmlns:a16="http://schemas.microsoft.com/office/drawing/2014/main" id="{2FE711FB-E625-4E22-ACE7-D54C679809BA}"/>
              </a:ext>
            </a:extLst>
          </p:cNvPr>
          <p:cNvSpPr>
            <a:spLocks xmlns:a="http://schemas.openxmlformats.org/drawingml/2006/main" noGrp="1"/>
          </p:cNvSpPr>
          <p:nvPr/>
        </p:nvSpPr>
        <p:spPr>
          <a:xfrm xmlns:a="http://schemas.openxmlformats.org/drawingml/2006/main">
            <a:off x="3076575" y="3076575"/>
            <a:ext cx="381000" cy="285750"/>
          </a:xfrm>
          <a:prstGeom xmlns:a="http://schemas.openxmlformats.org/drawingml/2006/main" prst="rightArrow">
            <a:avLst/>
          </a:prstGeom>
          <a:solidFill xmlns:a="http://schemas.openxmlformats.org/drawingml/2006/main">
            <a:srgbClr val="00A88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98A8FFC-9731-40B1-BB8C-47F458E446AA}"/>
              </a:ext>
            </a:extLst>
          </p:cNvPr>
          <p:cNvSpPr>
            <a:spLocks xmlns:a="http://schemas.openxmlformats.org/drawingml/2006/main" noGrp="1"/>
          </p:cNvSpPr>
          <p:nvPr/>
        </p:nvSpPr>
        <p:spPr>
          <a:xfrm xmlns:a="http://schemas.openxmlformats.org/drawingml/2006/main">
            <a:off x="3495675" y="2095500"/>
            <a:ext cx="234315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a:solidFill>
              <a:srgbClr val="DCE5E2"/>
            </a:solidFill>
          </a:ln>
        </p:spPr>
      </p:sp>
      <p:sp>
        <p:nvSpPr>
          <p:cNvPr id="14" name="">
            <a:extLst xmlns:a="http://schemas.openxmlformats.org/drawingml/2006/main">
              <a:ext uri="{FF2B5EF4-FFF2-40B4-BE49-F238E27FC236}">
                <a16:creationId xmlns:a16="http://schemas.microsoft.com/office/drawing/2014/main" id="{DFDD6A98-B350-49E1-9254-660EF0145AAB}"/>
              </a:ext>
            </a:extLst>
          </p:cNvPr>
          <p:cNvSpPr>
            <a:spLocks xmlns:a="http://schemas.openxmlformats.org/drawingml/2006/main" noGrp="1"/>
          </p:cNvSpPr>
          <p:nvPr/>
        </p:nvSpPr>
        <p:spPr>
          <a:xfrm xmlns:a="http://schemas.openxmlformats.org/drawingml/2006/main">
            <a:off x="3724275" y="229552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i="0">
                <a:solidFill>
                  <a:srgbClr val="00A88F"/>
                </a:solidFill>
                <a:latin typeface="Lato"/>
                <a:ea typeface="Lato"/>
                <a:cs typeface="Lato"/>
              </a:defRPr>
            </a:pPr>
            <a:r>
              <a:rPr sz="2025" b="1" i="0">
                <a:solidFill>
                  <a:srgbClr val="00A88F"/>
                </a:solidFill>
                <a:latin typeface="Lato"/>
                <a:ea typeface="Lato"/>
                <a:cs typeface="Lato"/>
              </a:rPr>
              <a:t>02</a:t>
            </a:r>
          </a:p>
        </p:txBody>
      </p:sp>
      <p:sp>
        <p:nvSpPr>
          <p:cNvPr id="15" name="">
            <a:extLst xmlns:a="http://schemas.openxmlformats.org/drawingml/2006/main">
              <a:ext uri="{FF2B5EF4-FFF2-40B4-BE49-F238E27FC236}">
                <a16:creationId xmlns:a16="http://schemas.microsoft.com/office/drawing/2014/main" id="{7B8DB641-68B1-4BC2-8110-E5D3A2F976E2}"/>
              </a:ext>
            </a:extLst>
          </p:cNvPr>
          <p:cNvSpPr>
            <a:spLocks xmlns:a="http://schemas.openxmlformats.org/drawingml/2006/main" noGrp="1"/>
          </p:cNvSpPr>
          <p:nvPr/>
        </p:nvSpPr>
        <p:spPr>
          <a:xfrm xmlns:a="http://schemas.openxmlformats.org/drawingml/2006/main">
            <a:off x="3724275" y="2857500"/>
            <a:ext cx="18764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650" b="1" i="0">
                <a:solidFill>
                  <a:srgbClr val="12304E"/>
                </a:solidFill>
                <a:latin typeface="Lato"/>
                <a:ea typeface="Lato"/>
                <a:cs typeface="Lato"/>
              </a:defRPr>
            </a:pPr>
            <a:r>
              <a:rPr sz="1650" b="1" i="0">
                <a:solidFill>
                  <a:srgbClr val="12304E"/>
                </a:solidFill>
                <a:latin typeface="Lato"/>
                <a:ea typeface="Lato"/>
                <a:cs typeface="Lato"/>
              </a:rPr>
              <a:t>Shared workflow</a:t>
            </a:r>
          </a:p>
        </p:txBody>
      </p:sp>
      <p:sp>
        <p:nvSpPr>
          <p:cNvPr id="16" name="">
            <a:extLst xmlns:a="http://schemas.openxmlformats.org/drawingml/2006/main">
              <a:ext uri="{FF2B5EF4-FFF2-40B4-BE49-F238E27FC236}">
                <a16:creationId xmlns:a16="http://schemas.microsoft.com/office/drawing/2014/main" id="{479E11EB-9167-46AC-928C-C8BEF68FD2EF}"/>
              </a:ext>
            </a:extLst>
          </p:cNvPr>
          <p:cNvSpPr>
            <a:spLocks xmlns:a="http://schemas.openxmlformats.org/drawingml/2006/main" noGrp="1"/>
          </p:cNvSpPr>
          <p:nvPr/>
        </p:nvSpPr>
        <p:spPr>
          <a:xfrm xmlns:a="http://schemas.openxmlformats.org/drawingml/2006/main">
            <a:off x="3724275" y="3543300"/>
            <a:ext cx="1876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Standardize access, preparation and indicators across projects</a:t>
            </a:r>
          </a:p>
        </p:txBody>
      </p:sp>
      <p:sp>
        <p:nvSpPr>
          <p:cNvPr id="17" name="">
            <a:extLst xmlns:a="http://schemas.openxmlformats.org/drawingml/2006/main">
              <a:ext uri="{FF2B5EF4-FFF2-40B4-BE49-F238E27FC236}">
                <a16:creationId xmlns:a16="http://schemas.microsoft.com/office/drawing/2014/main" id="{C1DDF9AC-8650-4236-BC07-DE18CE4F7D3F}"/>
              </a:ext>
            </a:extLst>
          </p:cNvPr>
          <p:cNvSpPr>
            <a:spLocks xmlns:a="http://schemas.openxmlformats.org/drawingml/2006/main" noGrp="1"/>
          </p:cNvSpPr>
          <p:nvPr/>
        </p:nvSpPr>
        <p:spPr>
          <a:xfrm xmlns:a="http://schemas.openxmlformats.org/drawingml/2006/main">
            <a:off x="5867400" y="3076575"/>
            <a:ext cx="381000" cy="285750"/>
          </a:xfrm>
          <a:prstGeom xmlns:a="http://schemas.openxmlformats.org/drawingml/2006/main" prst="rightArrow">
            <a:avLst/>
          </a:prstGeom>
          <a:solidFill xmlns:a="http://schemas.openxmlformats.org/drawingml/2006/main">
            <a:srgbClr val="00A88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CCB3D42-BA01-465C-80F4-5A8B755DCD7B}"/>
              </a:ext>
            </a:extLst>
          </p:cNvPr>
          <p:cNvSpPr>
            <a:spLocks xmlns:a="http://schemas.openxmlformats.org/drawingml/2006/main" noGrp="1"/>
          </p:cNvSpPr>
          <p:nvPr/>
        </p:nvSpPr>
        <p:spPr>
          <a:xfrm xmlns:a="http://schemas.openxmlformats.org/drawingml/2006/main">
            <a:off x="6286500" y="2095500"/>
            <a:ext cx="234315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a:solidFill>
              <a:srgbClr val="DCE5E2"/>
            </a:solidFill>
          </a:ln>
        </p:spPr>
      </p:sp>
      <p:sp>
        <p:nvSpPr>
          <p:cNvPr id="19" name="">
            <a:extLst xmlns:a="http://schemas.openxmlformats.org/drawingml/2006/main">
              <a:ext uri="{FF2B5EF4-FFF2-40B4-BE49-F238E27FC236}">
                <a16:creationId xmlns:a16="http://schemas.microsoft.com/office/drawing/2014/main" id="{C1425B10-E24D-44C6-AAC7-DA1C383216CF}"/>
              </a:ext>
            </a:extLst>
          </p:cNvPr>
          <p:cNvSpPr>
            <a:spLocks xmlns:a="http://schemas.openxmlformats.org/drawingml/2006/main" noGrp="1"/>
          </p:cNvSpPr>
          <p:nvPr/>
        </p:nvSpPr>
        <p:spPr>
          <a:xfrm xmlns:a="http://schemas.openxmlformats.org/drawingml/2006/main">
            <a:off x="6515100" y="229552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i="0">
                <a:solidFill>
                  <a:srgbClr val="00A88F"/>
                </a:solidFill>
                <a:latin typeface="Lato"/>
                <a:ea typeface="Lato"/>
                <a:cs typeface="Lato"/>
              </a:defRPr>
            </a:pPr>
            <a:r>
              <a:rPr sz="2025" b="1" i="0">
                <a:solidFill>
                  <a:srgbClr val="00A88F"/>
                </a:solidFill>
                <a:latin typeface="Lato"/>
                <a:ea typeface="Lato"/>
                <a:cs typeface="Lato"/>
              </a:rPr>
              <a:t>03</a:t>
            </a:r>
          </a:p>
        </p:txBody>
      </p:sp>
      <p:sp>
        <p:nvSpPr>
          <p:cNvPr id="20" name="">
            <a:extLst xmlns:a="http://schemas.openxmlformats.org/drawingml/2006/main">
              <a:ext uri="{FF2B5EF4-FFF2-40B4-BE49-F238E27FC236}">
                <a16:creationId xmlns:a16="http://schemas.microsoft.com/office/drawing/2014/main" id="{90A26466-895A-49F4-B30F-698CF0E1BE45}"/>
              </a:ext>
            </a:extLst>
          </p:cNvPr>
          <p:cNvSpPr>
            <a:spLocks xmlns:a="http://schemas.openxmlformats.org/drawingml/2006/main" noGrp="1"/>
          </p:cNvSpPr>
          <p:nvPr/>
        </p:nvSpPr>
        <p:spPr>
          <a:xfrm xmlns:a="http://schemas.openxmlformats.org/drawingml/2006/main">
            <a:off x="6515100" y="2857500"/>
            <a:ext cx="18764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697"/>
          </a:bodyPr>
          <a:lstStyle xmlns:a="http://schemas.openxmlformats.org/drawingml/2006/main"/>
          <a:p xmlns:a="http://schemas.openxmlformats.org/drawingml/2006/main">
            <a:pPr algn="ctr">
              <a:lnSpc>
                <a:spcPct val="104000"/>
              </a:lnSpc>
              <a:buNone/>
              <a:defRPr sz="1650" b="1" i="0">
                <a:solidFill>
                  <a:srgbClr val="12304E"/>
                </a:solidFill>
                <a:latin typeface="Lato"/>
                <a:ea typeface="Lato"/>
                <a:cs typeface="Lato"/>
              </a:defRPr>
            </a:pPr>
            <a:r>
              <a:rPr sz="1650" b="1" i="0">
                <a:solidFill>
                  <a:srgbClr val="12304E"/>
                </a:solidFill>
                <a:latin typeface="Lato"/>
                <a:ea typeface="Lato"/>
                <a:cs typeface="Lato"/>
              </a:rPr>
              <a:t>Multiple entry points</a:t>
            </a:r>
          </a:p>
        </p:txBody>
      </p:sp>
      <p:sp>
        <p:nvSpPr>
          <p:cNvPr id="21" name="">
            <a:extLst xmlns:a="http://schemas.openxmlformats.org/drawingml/2006/main">
              <a:ext uri="{FF2B5EF4-FFF2-40B4-BE49-F238E27FC236}">
                <a16:creationId xmlns:a16="http://schemas.microsoft.com/office/drawing/2014/main" id="{B9926A44-D685-4292-8A01-00E09218DB07}"/>
              </a:ext>
            </a:extLst>
          </p:cNvPr>
          <p:cNvSpPr>
            <a:spLocks xmlns:a="http://schemas.openxmlformats.org/drawingml/2006/main" noGrp="1"/>
          </p:cNvSpPr>
          <p:nvPr/>
        </p:nvSpPr>
        <p:spPr>
          <a:xfrm xmlns:a="http://schemas.openxmlformats.org/drawingml/2006/main">
            <a:off x="6515100" y="3543300"/>
            <a:ext cx="1876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Serve guided users, analysts and developers</a:t>
            </a:r>
          </a:p>
        </p:txBody>
      </p:sp>
      <p:sp>
        <p:nvSpPr>
          <p:cNvPr id="22" name="">
            <a:extLst xmlns:a="http://schemas.openxmlformats.org/drawingml/2006/main">
              <a:ext uri="{FF2B5EF4-FFF2-40B4-BE49-F238E27FC236}">
                <a16:creationId xmlns:a16="http://schemas.microsoft.com/office/drawing/2014/main" id="{DB8CCA24-97BB-4F6D-BA7E-1FD1DF758AE8}"/>
              </a:ext>
            </a:extLst>
          </p:cNvPr>
          <p:cNvSpPr>
            <a:spLocks xmlns:a="http://schemas.openxmlformats.org/drawingml/2006/main" noGrp="1"/>
          </p:cNvSpPr>
          <p:nvPr/>
        </p:nvSpPr>
        <p:spPr>
          <a:xfrm xmlns:a="http://schemas.openxmlformats.org/drawingml/2006/main">
            <a:off x="8658225" y="3076575"/>
            <a:ext cx="381000" cy="285750"/>
          </a:xfrm>
          <a:prstGeom xmlns:a="http://schemas.openxmlformats.org/drawingml/2006/main" prst="rightArrow">
            <a:avLst/>
          </a:prstGeom>
          <a:solidFill xmlns:a="http://schemas.openxmlformats.org/drawingml/2006/main">
            <a:srgbClr val="F2B63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BA3089C-0C85-4173-B00A-DC11079E9843}"/>
              </a:ext>
            </a:extLst>
          </p:cNvPr>
          <p:cNvSpPr>
            <a:spLocks xmlns:a="http://schemas.openxmlformats.org/drawingml/2006/main" noGrp="1"/>
          </p:cNvSpPr>
          <p:nvPr/>
        </p:nvSpPr>
        <p:spPr>
          <a:xfrm xmlns:a="http://schemas.openxmlformats.org/drawingml/2006/main">
            <a:off x="9077325" y="2095500"/>
            <a:ext cx="2343150" cy="2333625"/>
          </a:xfrm>
          <a:prstGeom xmlns:a="http://schemas.openxmlformats.org/drawingml/2006/main" prst="roundRect">
            <a:avLst>
              <a:gd name="adj" fmla="val 3265"/>
            </a:avLst>
          </a:prstGeom>
          <a:solidFill xmlns:a="http://schemas.openxmlformats.org/drawingml/2006/main">
            <a:srgbClr val="12304E"/>
          </a:solidFill>
          <a:ln xmlns:a="http://schemas.openxmlformats.org/drawingml/2006/main" w="9525">
            <a:solidFill>
              <a:srgbClr val="12304E"/>
            </a:solidFill>
          </a:ln>
        </p:spPr>
      </p:sp>
      <p:sp>
        <p:nvSpPr>
          <p:cNvPr id="24" name="">
            <a:extLst xmlns:a="http://schemas.openxmlformats.org/drawingml/2006/main">
              <a:ext uri="{FF2B5EF4-FFF2-40B4-BE49-F238E27FC236}">
                <a16:creationId xmlns:a16="http://schemas.microsoft.com/office/drawing/2014/main" id="{8964C9A8-F982-4064-9537-A177FB205EB7}"/>
              </a:ext>
            </a:extLst>
          </p:cNvPr>
          <p:cNvSpPr>
            <a:spLocks xmlns:a="http://schemas.openxmlformats.org/drawingml/2006/main" noGrp="1"/>
          </p:cNvSpPr>
          <p:nvPr/>
        </p:nvSpPr>
        <p:spPr>
          <a:xfrm xmlns:a="http://schemas.openxmlformats.org/drawingml/2006/main">
            <a:off x="9305925" y="229552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i="0">
                <a:solidFill>
                  <a:srgbClr val="F2B632"/>
                </a:solidFill>
                <a:latin typeface="Lato"/>
                <a:ea typeface="Lato"/>
                <a:cs typeface="Lato"/>
              </a:defRPr>
            </a:pPr>
            <a:r>
              <a:rPr sz="2025" b="1" i="0">
                <a:solidFill>
                  <a:srgbClr val="F2B632"/>
                </a:solidFill>
                <a:latin typeface="Lato"/>
                <a:ea typeface="Lato"/>
                <a:cs typeface="Lato"/>
              </a:rPr>
              <a:t>04</a:t>
            </a:r>
          </a:p>
        </p:txBody>
      </p:sp>
      <p:sp>
        <p:nvSpPr>
          <p:cNvPr id="25" name="">
            <a:extLst xmlns:a="http://schemas.openxmlformats.org/drawingml/2006/main">
              <a:ext uri="{FF2B5EF4-FFF2-40B4-BE49-F238E27FC236}">
                <a16:creationId xmlns:a16="http://schemas.microsoft.com/office/drawing/2014/main" id="{613B8B96-92AC-40A1-A0DD-A7003FB86CAA}"/>
              </a:ext>
            </a:extLst>
          </p:cNvPr>
          <p:cNvSpPr>
            <a:spLocks xmlns:a="http://schemas.openxmlformats.org/drawingml/2006/main" noGrp="1"/>
          </p:cNvSpPr>
          <p:nvPr/>
        </p:nvSpPr>
        <p:spPr>
          <a:xfrm xmlns:a="http://schemas.openxmlformats.org/drawingml/2006/main">
            <a:off x="9305925" y="2857500"/>
            <a:ext cx="18764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697"/>
          </a:bodyPr>
          <a:lstStyle xmlns:a="http://schemas.openxmlformats.org/drawingml/2006/main"/>
          <a:p xmlns:a="http://schemas.openxmlformats.org/drawingml/2006/main">
            <a:pPr algn="ctr">
              <a:lnSpc>
                <a:spcPct val="104000"/>
              </a:lnSpc>
              <a:buNone/>
              <a:defRPr sz="1650" b="1" i="0">
                <a:solidFill>
                  <a:srgbClr val="FFFFFF"/>
                </a:solidFill>
                <a:latin typeface="Lato"/>
                <a:ea typeface="Lato"/>
                <a:cs typeface="Lato"/>
              </a:defRPr>
            </a:pPr>
            <a:r>
              <a:rPr sz="1650" b="1" i="0">
                <a:solidFill>
                  <a:srgbClr val="FFFFFF"/>
                </a:solidFill>
                <a:latin typeface="Lato"/>
                <a:ea typeface="Lato"/>
                <a:cs typeface="Lato"/>
              </a:rPr>
              <a:t>Open implementation</a:t>
            </a:r>
          </a:p>
        </p:txBody>
      </p:sp>
      <p:sp>
        <p:nvSpPr>
          <p:cNvPr id="26" name="">
            <a:extLst xmlns:a="http://schemas.openxmlformats.org/drawingml/2006/main">
              <a:ext uri="{FF2B5EF4-FFF2-40B4-BE49-F238E27FC236}">
                <a16:creationId xmlns:a16="http://schemas.microsoft.com/office/drawing/2014/main" id="{1979C2F9-9EEA-421C-AE68-18F0E02B985A}"/>
              </a:ext>
            </a:extLst>
          </p:cNvPr>
          <p:cNvSpPr>
            <a:spLocks xmlns:a="http://schemas.openxmlformats.org/drawingml/2006/main" noGrp="1"/>
          </p:cNvSpPr>
          <p:nvPr/>
        </p:nvSpPr>
        <p:spPr>
          <a:xfrm xmlns:a="http://schemas.openxmlformats.org/drawingml/2006/main">
            <a:off x="9305925" y="3543300"/>
            <a:ext cx="18764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125" b="0" i="0">
                <a:solidFill>
                  <a:srgbClr val="D7E5EC"/>
                </a:solidFill>
                <a:latin typeface="Lato"/>
                <a:ea typeface="Lato"/>
                <a:cs typeface="Lato"/>
              </a:defRPr>
            </a:pPr>
            <a:r>
              <a:rPr sz="1125" b="0" i="0">
                <a:solidFill>
                  <a:srgbClr val="D7E5EC"/>
                </a:solidFill>
                <a:latin typeface="Lato"/>
                <a:ea typeface="Lato"/>
                <a:cs typeface="Lato"/>
              </a:rPr>
              <a:t>Support external reuse and country-level deployments</a:t>
            </a:r>
          </a:p>
        </p:txBody>
      </p:sp>
      <p:sp>
        <p:nvSpPr>
          <p:cNvPr id="27" name="">
            <a:extLst xmlns:a="http://schemas.openxmlformats.org/drawingml/2006/main">
              <a:ext uri="{FF2B5EF4-FFF2-40B4-BE49-F238E27FC236}">
                <a16:creationId xmlns:a16="http://schemas.microsoft.com/office/drawing/2014/main" id="{3B8C9E48-D2AF-4649-BC51-37216E499E1C}"/>
              </a:ext>
            </a:extLst>
          </p:cNvPr>
          <p:cNvSpPr>
            <a:spLocks xmlns:a="http://schemas.openxmlformats.org/drawingml/2006/main" noGrp="1"/>
          </p:cNvSpPr>
          <p:nvPr/>
        </p:nvSpPr>
        <p:spPr>
          <a:xfrm xmlns:a="http://schemas.openxmlformats.org/drawingml/2006/main">
            <a:off x="1819275" y="4914900"/>
            <a:ext cx="8534400" cy="609600"/>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4321E10-51B7-432B-B7E9-ACBE28B3CF6F}"/>
              </a:ext>
            </a:extLst>
          </p:cNvPr>
          <p:cNvSpPr>
            <a:spLocks xmlns:a="http://schemas.openxmlformats.org/drawingml/2006/main" noGrp="1"/>
          </p:cNvSpPr>
          <p:nvPr/>
        </p:nvSpPr>
        <p:spPr>
          <a:xfrm xmlns:a="http://schemas.openxmlformats.org/drawingml/2006/main">
            <a:off x="2066925" y="5095875"/>
            <a:ext cx="803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055"/>
          </a:bodyPr>
          <a:lstStyle xmlns:a="http://schemas.openxmlformats.org/drawingml/2006/main"/>
          <a:p xmlns:a="http://schemas.openxmlformats.org/drawingml/2006/main">
            <a:pPr algn="ctr">
              <a:lnSpc>
                <a:spcPct val="104000"/>
              </a:lnSpc>
              <a:buNone/>
              <a:defRPr sz="1425" b="1" i="0">
                <a:solidFill>
                  <a:srgbClr val="12304E"/>
                </a:solidFill>
                <a:latin typeface="Lato"/>
                <a:ea typeface="Lato"/>
                <a:cs typeface="Lato"/>
              </a:defRPr>
            </a:pPr>
            <a:r>
              <a:rPr sz="1425" b="1" i="0">
                <a:solidFill>
                  <a:srgbClr val="12304E"/>
                </a:solidFill>
                <a:latin typeface="Lato"/>
                <a:ea typeface="Lato"/>
                <a:cs typeface="Lato"/>
              </a:rPr>
              <a:t>Current components include a web platform, R and Python packages, and shared backend services.</a:t>
            </a:r>
          </a:p>
        </p:txBody>
      </p:sp>
    </p:spTree>
    <p:extLst>
      <p:ext uri="{BB962C8B-B14F-4D97-AF65-F5344CB8AC3E}">
        <p14:creationId xmlns:p14="http://schemas.microsoft.com/office/powerpoint/2010/main" val="1942214259"/>
      </p:ext>
    </p:extLst>
  </p:cSld>
</p:sld>
</file>

<file path=ppt/slides/slide6.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516F961-21DF-4C89-B209-4D5E0977842B}"/>
              </a:ext>
            </a:extLst>
          </p:cNvPr>
          <p:cNvSpPr>
            <a:spLocks xmlns:a="http://schemas.openxmlformats.org/drawingml/2006/main" noGrp="1"/>
          </p:cNvSpPr>
          <p:nvPr/>
        </p:nvSpPr>
        <p:spPr>
          <a:xfrm xmlns:a="http://schemas.openxmlformats.org/drawingml/2006/main">
            <a:off x="628650" y="4000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i="0">
                <a:solidFill>
                  <a:srgbClr val="12304E"/>
                </a:solidFill>
                <a:latin typeface="Lato"/>
                <a:ea typeface="Lato"/>
                <a:cs typeface="Lato"/>
              </a:defRPr>
            </a:pPr>
            <a:r>
              <a:rPr sz="2325" b="1" i="0">
                <a:solidFill>
                  <a:srgbClr val="12304E"/>
                </a:solidFill>
                <a:latin typeface="Lato"/>
                <a:ea typeface="Lato"/>
                <a:cs typeface="Lato"/>
              </a:rPr>
              <a:t>CORDEX data characteristics relevant to CAVA</a:t>
            </a:r>
          </a:p>
        </p:txBody>
      </p:sp>
      <p:sp>
        <p:nvSpPr>
          <p:cNvPr id="2" name="">
            <a:extLst xmlns:a="http://schemas.openxmlformats.org/drawingml/2006/main">
              <a:ext uri="{FF2B5EF4-FFF2-40B4-BE49-F238E27FC236}">
                <a16:creationId xmlns:a16="http://schemas.microsoft.com/office/drawing/2014/main" id="{87922AD8-63C0-410F-91F3-78DF98CC90D1}"/>
              </a:ext>
            </a:extLst>
          </p:cNvPr>
          <p:cNvSpPr>
            <a:spLocks xmlns:a="http://schemas.openxmlformats.org/drawingml/2006/main" noGrp="1"/>
          </p:cNvSpPr>
          <p:nvPr/>
        </p:nvSpPr>
        <p:spPr>
          <a:xfrm xmlns:a="http://schemas.openxmlformats.org/drawingml/2006/main">
            <a:off x="647700" y="9620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687984"/>
                </a:solidFill>
                <a:latin typeface="Lato"/>
                <a:ea typeface="Lato"/>
                <a:cs typeface="Lato"/>
              </a:defRPr>
            </a:pPr>
            <a:r>
              <a:rPr sz="1125" b="0" i="0">
                <a:solidFill>
                  <a:srgbClr val="687984"/>
                </a:solidFill>
                <a:latin typeface="Lato"/>
                <a:ea typeface="Lato"/>
                <a:cs typeface="Lato"/>
              </a:rPr>
              <a:t>Regional resolution and ensemble structure provide useful information but require explicit processing choices</a:t>
            </a:r>
          </a:p>
        </p:txBody>
      </p:sp>
      <p:sp>
        <p:nvSpPr>
          <p:cNvPr id="3" name="">
            <a:extLst xmlns:a="http://schemas.openxmlformats.org/drawingml/2006/main">
              <a:ext uri="{FF2B5EF4-FFF2-40B4-BE49-F238E27FC236}">
                <a16:creationId xmlns:a16="http://schemas.microsoft.com/office/drawing/2014/main" id="{0B947202-9EC7-4DD8-8EB5-A207641CE5BA}"/>
              </a:ext>
            </a:extLst>
          </p:cNvPr>
          <p:cNvSpPr>
            <a:spLocks xmlns:a="http://schemas.openxmlformats.org/drawingml/2006/main" noGrp="1"/>
          </p:cNvSpPr>
          <p:nvPr/>
        </p:nvSpPr>
        <p:spPr>
          <a:xfrm xmlns:a="http://schemas.openxmlformats.org/drawingml/2006/main">
            <a:off x="647700" y="13430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161B191-3AB3-4377-9B65-F051FB631C92}"/>
              </a:ext>
            </a:extLst>
          </p:cNvPr>
          <p:cNvSpPr>
            <a:spLocks xmlns:a="http://schemas.openxmlformats.org/drawingml/2006/main" noGrp="1"/>
          </p:cNvSpPr>
          <p:nvPr/>
        </p:nvSpPr>
        <p:spPr>
          <a:xfrm xmlns:a="http://schemas.openxmlformats.org/drawingml/2006/main">
            <a:off x="657225" y="1457325"/>
            <a:ext cx="9906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CA7DC27-F324-4B27-9C4D-E68181D5E56B}"/>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546A57E-4F24-44F1-B2F4-738149FEDFBA}"/>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50" b="1" i="0">
                <a:solidFill>
                  <a:srgbClr val="687984"/>
                </a:solidFill>
                <a:latin typeface="Lato"/>
                <a:ea typeface="Lato"/>
                <a:cs typeface="Lato"/>
              </a:defRPr>
            </a:pPr>
            <a:r>
              <a:rPr sz="750" b="1" i="0">
                <a:solidFill>
                  <a:srgbClr val="687984"/>
                </a:solidFill>
                <a:latin typeface="Lato"/>
                <a:ea typeface="Lato"/>
                <a:cs typeface="Lato"/>
              </a:rPr>
              <a:t>CAVA × CORDEX</a:t>
            </a:r>
          </a:p>
        </p:txBody>
      </p:sp>
      <p:sp>
        <p:nvSpPr>
          <p:cNvPr id="7" name="">
            <a:extLst xmlns:a="http://schemas.openxmlformats.org/drawingml/2006/main">
              <a:ext uri="{FF2B5EF4-FFF2-40B4-BE49-F238E27FC236}">
                <a16:creationId xmlns:a16="http://schemas.microsoft.com/office/drawing/2014/main" id="{13273A2A-3098-40B3-83C7-379034FA966C}"/>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750" b="0" i="0">
                <a:solidFill>
                  <a:srgbClr val="687984"/>
                </a:solidFill>
                <a:latin typeface="Lato"/>
                <a:ea typeface="Lato"/>
                <a:cs typeface="Lato"/>
              </a:defRPr>
            </a:pPr>
            <a:r>
              <a:rPr sz="750" b="0" i="0">
                <a:solidFill>
                  <a:srgbClr val="687984"/>
                </a:solidFill>
                <a:latin typeface="Lato"/>
                <a:ea typeface="Lato"/>
                <a:cs typeface="Lato"/>
              </a:rPr>
              <a:t>06</a:t>
            </a:r>
          </a:p>
        </p:txBody>
      </p:sp>
      <p:sp>
        <p:nvSpPr>
          <p:cNvPr id="8" name="">
            <a:extLst xmlns:a="http://schemas.openxmlformats.org/drawingml/2006/main">
              <a:ext uri="{FF2B5EF4-FFF2-40B4-BE49-F238E27FC236}">
                <a16:creationId xmlns:a16="http://schemas.microsoft.com/office/drawing/2014/main" id="{816ADC72-CDAC-499B-9F9D-0DB439C7799C}"/>
              </a:ext>
            </a:extLst>
          </p:cNvPr>
          <p:cNvSpPr>
            <a:spLocks xmlns:a="http://schemas.openxmlformats.org/drawingml/2006/main" noGrp="1"/>
          </p:cNvSpPr>
          <p:nvPr/>
        </p:nvSpPr>
        <p:spPr>
          <a:xfrm xmlns:a="http://schemas.openxmlformats.org/drawingml/2006/main">
            <a:off x="714375" y="18097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00A88F"/>
                </a:solidFill>
                <a:latin typeface="Lato"/>
                <a:ea typeface="Lato"/>
                <a:cs typeface="Lato"/>
              </a:defRPr>
            </a:pPr>
            <a:r>
              <a:rPr sz="825" b="1" i="0">
                <a:solidFill>
                  <a:srgbClr val="00A88F"/>
                </a:solidFill>
                <a:latin typeface="Lato"/>
                <a:ea typeface="Lato"/>
                <a:cs typeface="Lato"/>
              </a:rPr>
              <a:t>DATASET CHARACTERISTICS</a:t>
            </a:r>
          </a:p>
        </p:txBody>
      </p:sp>
      <p:sp>
        <p:nvSpPr>
          <p:cNvPr id="9" name="">
            <a:extLst xmlns:a="http://schemas.openxmlformats.org/drawingml/2006/main">
              <a:ext uri="{FF2B5EF4-FFF2-40B4-BE49-F238E27FC236}">
                <a16:creationId xmlns:a16="http://schemas.microsoft.com/office/drawing/2014/main" id="{C76F7DBF-166D-4B28-9A39-171E88EFB0AC}"/>
              </a:ext>
            </a:extLst>
          </p:cNvPr>
          <p:cNvSpPr>
            <a:spLocks xmlns:a="http://schemas.openxmlformats.org/drawingml/2006/main" noGrp="1"/>
          </p:cNvSpPr>
          <p:nvPr/>
        </p:nvSpPr>
        <p:spPr>
          <a:xfrm xmlns:a="http://schemas.openxmlformats.org/drawingml/2006/main">
            <a:off x="714375" y="2152650"/>
            <a:ext cx="23241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3600" b="1" i="0">
                <a:solidFill>
                  <a:srgbClr val="00A88F"/>
                </a:solidFill>
                <a:latin typeface="Lato"/>
                <a:ea typeface="Lato"/>
                <a:cs typeface="Lato"/>
              </a:defRPr>
            </a:pPr>
            <a:r>
              <a:rPr sz="3600" b="1" i="0">
                <a:solidFill>
                  <a:srgbClr val="00A88F"/>
                </a:solidFill>
                <a:latin typeface="Lato"/>
                <a:ea typeface="Lato"/>
                <a:cs typeface="Lato"/>
              </a:rPr>
              <a:t>~25 km</a:t>
            </a:r>
          </a:p>
        </p:txBody>
      </p:sp>
      <p:sp>
        <p:nvSpPr>
          <p:cNvPr id="10" name="">
            <a:extLst xmlns:a="http://schemas.openxmlformats.org/drawingml/2006/main">
              <a:ext uri="{FF2B5EF4-FFF2-40B4-BE49-F238E27FC236}">
                <a16:creationId xmlns:a16="http://schemas.microsoft.com/office/drawing/2014/main" id="{812867FB-9586-496D-9E1F-8AD042FA1EDA}"/>
              </a:ext>
            </a:extLst>
          </p:cNvPr>
          <p:cNvSpPr>
            <a:spLocks xmlns:a="http://schemas.openxmlformats.org/drawingml/2006/main" noGrp="1"/>
          </p:cNvSpPr>
          <p:nvPr/>
        </p:nvSpPr>
        <p:spPr>
          <a:xfrm xmlns:a="http://schemas.openxmlformats.org/drawingml/2006/main">
            <a:off x="714375" y="2895600"/>
            <a:ext cx="4048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306"/>
          </a:bodyPr>
          <a:lstStyle xmlns:a="http://schemas.openxmlformats.org/drawingml/2006/main"/>
          <a:p xmlns:a="http://schemas.openxmlformats.org/drawingml/2006/main">
            <a:pPr algn="l">
              <a:lnSpc>
                <a:spcPct val="104000"/>
              </a:lnSpc>
              <a:buNone/>
              <a:defRPr sz="1800" b="1" i="0">
                <a:solidFill>
                  <a:srgbClr val="12304E"/>
                </a:solidFill>
                <a:latin typeface="Lato"/>
                <a:ea typeface="Lato"/>
                <a:cs typeface="Lato"/>
              </a:defRPr>
            </a:pPr>
            <a:r>
              <a:rPr sz="1800" b="1" i="0">
                <a:solidFill>
                  <a:srgbClr val="12304E"/>
                </a:solidFill>
                <a:latin typeface="Lato"/>
                <a:ea typeface="Lato"/>
                <a:cs typeface="Lato"/>
              </a:rPr>
              <a:t>Coordinated regional climate information across major inhabited regions</a:t>
            </a:r>
          </a:p>
        </p:txBody>
      </p:sp>
      <p:sp>
        <p:nvSpPr>
          <p:cNvPr id="11" name="">
            <a:extLst xmlns:a="http://schemas.openxmlformats.org/drawingml/2006/main">
              <a:ext uri="{FF2B5EF4-FFF2-40B4-BE49-F238E27FC236}">
                <a16:creationId xmlns:a16="http://schemas.microsoft.com/office/drawing/2014/main" id="{67344E0F-CE1B-456F-BD8E-3C04D7BFDE38}"/>
              </a:ext>
            </a:extLst>
          </p:cNvPr>
          <p:cNvSpPr>
            <a:spLocks xmlns:a="http://schemas.openxmlformats.org/drawingml/2006/main" noGrp="1"/>
          </p:cNvSpPr>
          <p:nvPr/>
        </p:nvSpPr>
        <p:spPr>
          <a:xfrm xmlns:a="http://schemas.openxmlformats.org/drawingml/2006/main">
            <a:off x="733425" y="3933825"/>
            <a:ext cx="133350" cy="13335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B45A72F-33B0-49F4-A740-8E255EBBE0F6}"/>
              </a:ext>
            </a:extLst>
          </p:cNvPr>
          <p:cNvSpPr>
            <a:spLocks xmlns:a="http://schemas.openxmlformats.org/drawingml/2006/main" noGrp="1"/>
          </p:cNvSpPr>
          <p:nvPr/>
        </p:nvSpPr>
        <p:spPr>
          <a:xfrm xmlns:a="http://schemas.openxmlformats.org/drawingml/2006/main">
            <a:off x="1019175" y="3867150"/>
            <a:ext cx="3790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i="0">
                <a:solidFill>
                  <a:srgbClr val="687984"/>
                </a:solidFill>
                <a:latin typeface="Lato"/>
                <a:ea typeface="Lato"/>
                <a:cs typeface="Lato"/>
              </a:defRPr>
            </a:pPr>
            <a:r>
              <a:rPr sz="1200" b="0" i="0">
                <a:solidFill>
                  <a:srgbClr val="687984"/>
                </a:solidFill>
                <a:latin typeface="Lato"/>
                <a:ea typeface="Lato"/>
                <a:cs typeface="Lato"/>
              </a:rPr>
              <a:t>Multi-model regional ensembles</a:t>
            </a:r>
          </a:p>
        </p:txBody>
      </p:sp>
      <p:sp>
        <p:nvSpPr>
          <p:cNvPr id="13" name="">
            <a:extLst xmlns:a="http://schemas.openxmlformats.org/drawingml/2006/main">
              <a:ext uri="{FF2B5EF4-FFF2-40B4-BE49-F238E27FC236}">
                <a16:creationId xmlns:a16="http://schemas.microsoft.com/office/drawing/2014/main" id="{ACF74B9B-082C-4A94-9809-EDFF59FDDF9C}"/>
              </a:ext>
            </a:extLst>
          </p:cNvPr>
          <p:cNvSpPr>
            <a:spLocks xmlns:a="http://schemas.openxmlformats.org/drawingml/2006/main" noGrp="1"/>
          </p:cNvSpPr>
          <p:nvPr/>
        </p:nvSpPr>
        <p:spPr>
          <a:xfrm xmlns:a="http://schemas.openxmlformats.org/drawingml/2006/main">
            <a:off x="733425" y="4410075"/>
            <a:ext cx="133350" cy="13335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DFE6CCA-D33A-494C-9779-011570A2FE7C}"/>
              </a:ext>
            </a:extLst>
          </p:cNvPr>
          <p:cNvSpPr>
            <a:spLocks xmlns:a="http://schemas.openxmlformats.org/drawingml/2006/main" noGrp="1"/>
          </p:cNvSpPr>
          <p:nvPr/>
        </p:nvSpPr>
        <p:spPr>
          <a:xfrm xmlns:a="http://schemas.openxmlformats.org/drawingml/2006/main">
            <a:off x="1019175" y="4343400"/>
            <a:ext cx="3790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i="0">
                <a:solidFill>
                  <a:srgbClr val="687984"/>
                </a:solidFill>
                <a:latin typeface="Lato"/>
                <a:ea typeface="Lato"/>
                <a:cs typeface="Lato"/>
              </a:defRPr>
            </a:pPr>
            <a:r>
              <a:rPr sz="1200" b="0" i="0">
                <a:solidFill>
                  <a:srgbClr val="687984"/>
                </a:solidFill>
                <a:latin typeface="Lato"/>
                <a:ea typeface="Lato"/>
                <a:cs typeface="Lato"/>
              </a:rPr>
              <a:t>Information on extremes and warming levels</a:t>
            </a:r>
          </a:p>
        </p:txBody>
      </p:sp>
      <p:sp>
        <p:nvSpPr>
          <p:cNvPr id="15" name="">
            <a:extLst xmlns:a="http://schemas.openxmlformats.org/drawingml/2006/main">
              <a:ext uri="{FF2B5EF4-FFF2-40B4-BE49-F238E27FC236}">
                <a16:creationId xmlns:a16="http://schemas.microsoft.com/office/drawing/2014/main" id="{C5A91438-20F8-49BC-8A3B-B6170CFCB2C5}"/>
              </a:ext>
            </a:extLst>
          </p:cNvPr>
          <p:cNvSpPr>
            <a:spLocks xmlns:a="http://schemas.openxmlformats.org/drawingml/2006/main" noGrp="1"/>
          </p:cNvSpPr>
          <p:nvPr/>
        </p:nvSpPr>
        <p:spPr>
          <a:xfrm xmlns:a="http://schemas.openxmlformats.org/drawingml/2006/main">
            <a:off x="733425" y="4886325"/>
            <a:ext cx="133350" cy="133350"/>
          </a:xfrm>
          <a:prstGeom xmlns:a="http://schemas.openxmlformats.org/drawingml/2006/main" prst="ellipse">
            <a:avLst/>
          </a:prstGeom>
          <a:solidFill xmlns:a="http://schemas.openxmlformats.org/drawingml/2006/main">
            <a:srgbClr val="00A88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86670D8-2198-435E-A0CB-0F38DADC5096}"/>
              </a:ext>
            </a:extLst>
          </p:cNvPr>
          <p:cNvSpPr>
            <a:spLocks xmlns:a="http://schemas.openxmlformats.org/drawingml/2006/main" noGrp="1"/>
          </p:cNvSpPr>
          <p:nvPr/>
        </p:nvSpPr>
        <p:spPr>
          <a:xfrm xmlns:a="http://schemas.openxmlformats.org/drawingml/2006/main">
            <a:off x="1019175" y="4819650"/>
            <a:ext cx="3790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i="0">
                <a:solidFill>
                  <a:srgbClr val="687984"/>
                </a:solidFill>
                <a:latin typeface="Lato"/>
                <a:ea typeface="Lato"/>
                <a:cs typeface="Lato"/>
              </a:defRPr>
            </a:pPr>
            <a:r>
              <a:rPr sz="1200" b="0" i="0">
                <a:solidFill>
                  <a:srgbClr val="687984"/>
                </a:solidFill>
                <a:latin typeface="Lato"/>
                <a:ea typeface="Lato"/>
                <a:cs typeface="Lato"/>
              </a:rPr>
              <a:t>Sustained community and computational investment</a:t>
            </a:r>
          </a:p>
        </p:txBody>
      </p:sp>
      <p:sp>
        <p:nvSpPr>
          <p:cNvPr id="17" name="">
            <a:extLst xmlns:a="http://schemas.openxmlformats.org/drawingml/2006/main">
              <a:ext uri="{FF2B5EF4-FFF2-40B4-BE49-F238E27FC236}">
                <a16:creationId xmlns:a16="http://schemas.microsoft.com/office/drawing/2014/main" id="{FF5517AE-A373-43CC-894F-79FCAABF0F58}"/>
              </a:ext>
            </a:extLst>
          </p:cNvPr>
          <p:cNvSpPr>
            <a:spLocks xmlns:a="http://schemas.openxmlformats.org/drawingml/2006/main" noGrp="1"/>
          </p:cNvSpPr>
          <p:nvPr/>
        </p:nvSpPr>
        <p:spPr>
          <a:xfrm xmlns:a="http://schemas.openxmlformats.org/drawingml/2006/main">
            <a:off x="5200650" y="1752600"/>
            <a:ext cx="9525" cy="392430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29A5E9A-C339-478C-B2E0-85062D3CE8D5}"/>
              </a:ext>
            </a:extLst>
          </p:cNvPr>
          <p:cNvSpPr>
            <a:spLocks xmlns:a="http://schemas.openxmlformats.org/drawingml/2006/main" noGrp="1"/>
          </p:cNvSpPr>
          <p:nvPr/>
        </p:nvSpPr>
        <p:spPr>
          <a:xfrm xmlns:a="http://schemas.openxmlformats.org/drawingml/2006/main">
            <a:off x="5715000" y="180975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F2B632"/>
                </a:solidFill>
                <a:latin typeface="Lato"/>
                <a:ea typeface="Lato"/>
                <a:cs typeface="Lato"/>
              </a:defRPr>
            </a:pPr>
            <a:r>
              <a:rPr sz="825" b="1" i="0">
                <a:solidFill>
                  <a:srgbClr val="F2B632"/>
                </a:solidFill>
                <a:latin typeface="Lato"/>
                <a:ea typeface="Lato"/>
                <a:cs typeface="Lato"/>
              </a:rPr>
              <a:t>TECHNICAL REUSE BARRIERS</a:t>
            </a:r>
          </a:p>
        </p:txBody>
      </p:sp>
      <p:sp>
        <p:nvSpPr>
          <p:cNvPr id="19" name="">
            <a:extLst xmlns:a="http://schemas.openxmlformats.org/drawingml/2006/main">
              <a:ext uri="{FF2B5EF4-FFF2-40B4-BE49-F238E27FC236}">
                <a16:creationId xmlns:a16="http://schemas.microsoft.com/office/drawing/2014/main" id="{AF977FF3-89BF-491B-A516-293380BBA03E}"/>
              </a:ext>
            </a:extLst>
          </p:cNvPr>
          <p:cNvSpPr>
            <a:spLocks xmlns:a="http://schemas.openxmlformats.org/drawingml/2006/main" noGrp="1"/>
          </p:cNvSpPr>
          <p:nvPr/>
        </p:nvSpPr>
        <p:spPr>
          <a:xfrm xmlns:a="http://schemas.openxmlformats.org/drawingml/2006/main">
            <a:off x="5715000" y="22098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A86F00"/>
                </a:solidFill>
                <a:latin typeface="Lato"/>
                <a:ea typeface="Lato"/>
                <a:cs typeface="Lato"/>
              </a:defRPr>
            </a:pPr>
            <a:r>
              <a:rPr sz="900" b="1" i="0">
                <a:solidFill>
                  <a:srgbClr val="A86F00"/>
                </a:solidFill>
                <a:latin typeface="Lato"/>
                <a:ea typeface="Lato"/>
                <a:cs typeface="Lato"/>
              </a:rPr>
              <a:t>ARCHIVE</a:t>
            </a:r>
          </a:p>
        </p:txBody>
      </p:sp>
      <p:sp>
        <p:nvSpPr>
          <p:cNvPr id="20" name="">
            <a:extLst xmlns:a="http://schemas.openxmlformats.org/drawingml/2006/main">
              <a:ext uri="{FF2B5EF4-FFF2-40B4-BE49-F238E27FC236}">
                <a16:creationId xmlns:a16="http://schemas.microsoft.com/office/drawing/2014/main" id="{A963F7A6-DCE4-40DD-A234-548B6254E0E8}"/>
              </a:ext>
            </a:extLst>
          </p:cNvPr>
          <p:cNvSpPr>
            <a:spLocks xmlns:a="http://schemas.openxmlformats.org/drawingml/2006/main" noGrp="1"/>
          </p:cNvSpPr>
          <p:nvPr/>
        </p:nvSpPr>
        <p:spPr>
          <a:xfrm xmlns:a="http://schemas.openxmlformats.org/drawingml/2006/main">
            <a:off x="7067550" y="2190750"/>
            <a:ext cx="3905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00" b="0" i="0">
                <a:solidFill>
                  <a:srgbClr val="687984"/>
                </a:solidFill>
                <a:latin typeface="Lato"/>
                <a:ea typeface="Lato"/>
                <a:cs typeface="Lato"/>
              </a:defRPr>
            </a:pPr>
            <a:r>
              <a:rPr sz="1200" b="0" i="0">
                <a:solidFill>
                  <a:srgbClr val="687984"/>
                </a:solidFill>
                <a:latin typeface="Lato"/>
                <a:ea typeface="Lato"/>
                <a:cs typeface="Lato"/>
              </a:rPr>
              <a:t>Large NetCDF collections distributed across ESGF</a:t>
            </a:r>
          </a:p>
        </p:txBody>
      </p:sp>
      <p:sp>
        <p:nvSpPr>
          <p:cNvPr id="21" name="">
            <a:extLst xmlns:a="http://schemas.openxmlformats.org/drawingml/2006/main">
              <a:ext uri="{FF2B5EF4-FFF2-40B4-BE49-F238E27FC236}">
                <a16:creationId xmlns:a16="http://schemas.microsoft.com/office/drawing/2014/main" id="{F2D7D79F-811F-42E3-955E-133ABF921E33}"/>
              </a:ext>
            </a:extLst>
          </p:cNvPr>
          <p:cNvSpPr>
            <a:spLocks xmlns:a="http://schemas.openxmlformats.org/drawingml/2006/main" noGrp="1"/>
          </p:cNvSpPr>
          <p:nvPr/>
        </p:nvSpPr>
        <p:spPr>
          <a:xfrm xmlns:a="http://schemas.openxmlformats.org/drawingml/2006/main">
            <a:off x="5715000" y="29527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A86F00"/>
                </a:solidFill>
                <a:latin typeface="Lato"/>
                <a:ea typeface="Lato"/>
                <a:cs typeface="Lato"/>
              </a:defRPr>
            </a:pPr>
            <a:r>
              <a:rPr sz="900" b="1" i="0">
                <a:solidFill>
                  <a:srgbClr val="A86F00"/>
                </a:solidFill>
                <a:latin typeface="Lato"/>
                <a:ea typeface="Lato"/>
                <a:cs typeface="Lato"/>
              </a:rPr>
              <a:t>GRIDS</a:t>
            </a:r>
          </a:p>
        </p:txBody>
      </p:sp>
      <p:sp>
        <p:nvSpPr>
          <p:cNvPr id="22" name="">
            <a:extLst xmlns:a="http://schemas.openxmlformats.org/drawingml/2006/main">
              <a:ext uri="{FF2B5EF4-FFF2-40B4-BE49-F238E27FC236}">
                <a16:creationId xmlns:a16="http://schemas.microsoft.com/office/drawing/2014/main" id="{A1EA3FFD-0F0D-4DF4-B35F-8265E4B7C3EB}"/>
              </a:ext>
            </a:extLst>
          </p:cNvPr>
          <p:cNvSpPr>
            <a:spLocks xmlns:a="http://schemas.openxmlformats.org/drawingml/2006/main" noGrp="1"/>
          </p:cNvSpPr>
          <p:nvPr/>
        </p:nvSpPr>
        <p:spPr>
          <a:xfrm xmlns:a="http://schemas.openxmlformats.org/drawingml/2006/main">
            <a:off x="7067550" y="2933700"/>
            <a:ext cx="3905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00" b="0" i="0">
                <a:solidFill>
                  <a:srgbClr val="687984"/>
                </a:solidFill>
                <a:latin typeface="Lato"/>
                <a:ea typeface="Lato"/>
                <a:cs typeface="Lato"/>
              </a:defRPr>
            </a:pPr>
            <a:r>
              <a:rPr sz="1200" b="0" i="0">
                <a:solidFill>
                  <a:srgbClr val="687984"/>
                </a:solidFill>
                <a:latin typeface="Lato"/>
                <a:ea typeface="Lato"/>
                <a:cs typeface="Lato"/>
              </a:rPr>
              <a:t>Rotated or curvilinear coordinates require specialist handling</a:t>
            </a:r>
          </a:p>
        </p:txBody>
      </p:sp>
      <p:sp>
        <p:nvSpPr>
          <p:cNvPr id="23" name="">
            <a:extLst xmlns:a="http://schemas.openxmlformats.org/drawingml/2006/main">
              <a:ext uri="{FF2B5EF4-FFF2-40B4-BE49-F238E27FC236}">
                <a16:creationId xmlns:a16="http://schemas.microsoft.com/office/drawing/2014/main" id="{5ABC2EDE-331E-41AE-94CF-804E2FFB45B9}"/>
              </a:ext>
            </a:extLst>
          </p:cNvPr>
          <p:cNvSpPr>
            <a:spLocks xmlns:a="http://schemas.openxmlformats.org/drawingml/2006/main" noGrp="1"/>
          </p:cNvSpPr>
          <p:nvPr/>
        </p:nvSpPr>
        <p:spPr>
          <a:xfrm xmlns:a="http://schemas.openxmlformats.org/drawingml/2006/main">
            <a:off x="5715000" y="36957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A86F00"/>
                </a:solidFill>
                <a:latin typeface="Lato"/>
                <a:ea typeface="Lato"/>
                <a:cs typeface="Lato"/>
              </a:defRPr>
            </a:pPr>
            <a:r>
              <a:rPr sz="900" b="1" i="0">
                <a:solidFill>
                  <a:srgbClr val="A86F00"/>
                </a:solidFill>
                <a:latin typeface="Lato"/>
                <a:ea typeface="Lato"/>
                <a:cs typeface="Lato"/>
              </a:rPr>
              <a:t>TIME</a:t>
            </a:r>
          </a:p>
        </p:txBody>
      </p:sp>
      <p:sp>
        <p:nvSpPr>
          <p:cNvPr id="24" name="">
            <a:extLst xmlns:a="http://schemas.openxmlformats.org/drawingml/2006/main">
              <a:ext uri="{FF2B5EF4-FFF2-40B4-BE49-F238E27FC236}">
                <a16:creationId xmlns:a16="http://schemas.microsoft.com/office/drawing/2014/main" id="{2D6731BE-4115-41E8-B4D3-340650B99A07}"/>
              </a:ext>
            </a:extLst>
          </p:cNvPr>
          <p:cNvSpPr>
            <a:spLocks xmlns:a="http://schemas.openxmlformats.org/drawingml/2006/main" noGrp="1"/>
          </p:cNvSpPr>
          <p:nvPr/>
        </p:nvSpPr>
        <p:spPr>
          <a:xfrm xmlns:a="http://schemas.openxmlformats.org/drawingml/2006/main">
            <a:off x="7067550" y="3676650"/>
            <a:ext cx="3905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00" b="0" i="0">
                <a:solidFill>
                  <a:srgbClr val="687984"/>
                </a:solidFill>
                <a:latin typeface="Lato"/>
                <a:ea typeface="Lato"/>
                <a:cs typeface="Lato"/>
              </a:defRPr>
            </a:pPr>
            <a:r>
              <a:rPr sz="1200" b="0" i="0">
                <a:solidFill>
                  <a:srgbClr val="687984"/>
                </a:solidFill>
                <a:latin typeface="Lato"/>
                <a:ea typeface="Lato"/>
                <a:cs typeface="Lato"/>
              </a:rPr>
              <a:t>Calendars, units and long daily time series must be reconciled</a:t>
            </a:r>
          </a:p>
        </p:txBody>
      </p:sp>
      <p:sp>
        <p:nvSpPr>
          <p:cNvPr id="25" name="">
            <a:extLst xmlns:a="http://schemas.openxmlformats.org/drawingml/2006/main">
              <a:ext uri="{FF2B5EF4-FFF2-40B4-BE49-F238E27FC236}">
                <a16:creationId xmlns:a16="http://schemas.microsoft.com/office/drawing/2014/main" id="{BD6CCFEA-9537-407F-A1E0-31DD2E385C5E}"/>
              </a:ext>
            </a:extLst>
          </p:cNvPr>
          <p:cNvSpPr>
            <a:spLocks xmlns:a="http://schemas.openxmlformats.org/drawingml/2006/main" noGrp="1"/>
          </p:cNvSpPr>
          <p:nvPr/>
        </p:nvSpPr>
        <p:spPr>
          <a:xfrm xmlns:a="http://schemas.openxmlformats.org/drawingml/2006/main">
            <a:off x="5715000" y="44386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900" b="1" i="0">
                <a:solidFill>
                  <a:srgbClr val="A86F00"/>
                </a:solidFill>
                <a:latin typeface="Lato"/>
                <a:ea typeface="Lato"/>
                <a:cs typeface="Lato"/>
              </a:defRPr>
            </a:pPr>
            <a:r>
              <a:rPr sz="900" b="1" i="0">
                <a:solidFill>
                  <a:srgbClr val="A86F00"/>
                </a:solidFill>
                <a:latin typeface="Lato"/>
                <a:ea typeface="Lato"/>
                <a:cs typeface="Lato"/>
              </a:rPr>
              <a:t>ENSEMBLES</a:t>
            </a:r>
          </a:p>
        </p:txBody>
      </p:sp>
      <p:sp>
        <p:nvSpPr>
          <p:cNvPr id="26" name="">
            <a:extLst xmlns:a="http://schemas.openxmlformats.org/drawingml/2006/main">
              <a:ext uri="{FF2B5EF4-FFF2-40B4-BE49-F238E27FC236}">
                <a16:creationId xmlns:a16="http://schemas.microsoft.com/office/drawing/2014/main" id="{19B589DC-062B-4094-8374-21370072D4B9}"/>
              </a:ext>
            </a:extLst>
          </p:cNvPr>
          <p:cNvSpPr>
            <a:spLocks xmlns:a="http://schemas.openxmlformats.org/drawingml/2006/main" noGrp="1"/>
          </p:cNvSpPr>
          <p:nvPr/>
        </p:nvSpPr>
        <p:spPr>
          <a:xfrm xmlns:a="http://schemas.openxmlformats.org/drawingml/2006/main">
            <a:off x="7067550" y="4419600"/>
            <a:ext cx="3905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00" b="0" i="0">
                <a:solidFill>
                  <a:srgbClr val="687984"/>
                </a:solidFill>
                <a:latin typeface="Lato"/>
                <a:ea typeface="Lato"/>
                <a:cs typeface="Lato"/>
              </a:defRPr>
            </a:pPr>
            <a:r>
              <a:rPr sz="1200" b="0" i="0">
                <a:solidFill>
                  <a:srgbClr val="687984"/>
                </a:solidFill>
                <a:latin typeface="Lato"/>
                <a:ea typeface="Lato"/>
                <a:cs typeface="Lato"/>
              </a:rPr>
              <a:t>GCM, RCM, scenario and member choices must remain traceable</a:t>
            </a:r>
          </a:p>
        </p:txBody>
      </p:sp>
      <p:sp>
        <p:nvSpPr>
          <p:cNvPr id="27" name="">
            <a:extLst xmlns:a="http://schemas.openxmlformats.org/drawingml/2006/main">
              <a:ext uri="{FF2B5EF4-FFF2-40B4-BE49-F238E27FC236}">
                <a16:creationId xmlns:a16="http://schemas.microsoft.com/office/drawing/2014/main" id="{C207011E-EC4F-434A-A243-F73B50CA0006}"/>
              </a:ext>
            </a:extLst>
          </p:cNvPr>
          <p:cNvSpPr>
            <a:spLocks xmlns:a="http://schemas.openxmlformats.org/drawingml/2006/main" noGrp="1"/>
          </p:cNvSpPr>
          <p:nvPr/>
        </p:nvSpPr>
        <p:spPr>
          <a:xfrm xmlns:a="http://schemas.openxmlformats.org/drawingml/2006/main">
            <a:off x="5715000" y="5238750"/>
            <a:ext cx="5257800" cy="57150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2CC43D5C-7738-40AF-A9B1-98180DF25048}"/>
              </a:ext>
            </a:extLst>
          </p:cNvPr>
          <p:cNvSpPr>
            <a:spLocks xmlns:a="http://schemas.openxmlformats.org/drawingml/2006/main" noGrp="1"/>
          </p:cNvSpPr>
          <p:nvPr/>
        </p:nvSpPr>
        <p:spPr>
          <a:xfrm xmlns:a="http://schemas.openxmlformats.org/drawingml/2006/main">
            <a:off x="5953125" y="5372100"/>
            <a:ext cx="4781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4842"/>
          </a:bodyPr>
          <a:lstStyle xmlns:a="http://schemas.openxmlformats.org/drawingml/2006/main"/>
          <a:p xmlns:a="http://schemas.openxmlformats.org/drawingml/2006/main">
            <a:pPr algn="ctr">
              <a:lnSpc>
                <a:spcPct val="104000"/>
              </a:lnSpc>
              <a:buNone/>
              <a:defRPr sz="1275" b="1" i="0">
                <a:solidFill>
                  <a:srgbClr val="FFFFFF"/>
                </a:solidFill>
                <a:latin typeface="Lato"/>
                <a:ea typeface="Lato"/>
                <a:cs typeface="Lato"/>
              </a:defRPr>
            </a:pPr>
            <a:r>
              <a:rPr sz="1275" b="1" i="0">
                <a:solidFill>
                  <a:srgbClr val="FFFFFF"/>
                </a:solidFill>
                <a:latin typeface="Lato"/>
                <a:ea typeface="Lato"/>
                <a:cs typeface="Lato"/>
              </a:rPr>
              <a:t>CAVA standardizes access and preprocessing while retaining the original model and scenario identifiers.</a:t>
            </a:r>
          </a:p>
        </p:txBody>
      </p:sp>
    </p:spTree>
    <p:extLst>
      <p:ext uri="{BB962C8B-B14F-4D97-AF65-F5344CB8AC3E}">
        <p14:creationId xmlns:p14="http://schemas.microsoft.com/office/powerpoint/2010/main" val="773444775"/>
      </p:ext>
    </p:extLst>
  </p:cSld>
</p:sld>
</file>

<file path=ppt/slides/slide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15B6D099-8855-4B1C-B0DA-2E4CBDE8ECFD}"/>
              </a:ext>
            </a:extLst>
          </p:cNvPr>
          <p:cNvSpPr>
            <a:spLocks xmlns:a="http://schemas.openxmlformats.org/drawingml/2006/main" noGrp="1"/>
          </p:cNvSpPr>
          <p:nvPr/>
        </p:nvSpPr>
        <p:spPr>
          <a:xfrm xmlns:a="http://schemas.openxmlformats.org/drawingml/2006/main">
            <a:off x="628650" y="4000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i="0">
                <a:solidFill>
                  <a:srgbClr val="12304E"/>
                </a:solidFill>
                <a:latin typeface="Lato"/>
                <a:ea typeface="Lato"/>
                <a:cs typeface="Lato"/>
              </a:defRPr>
            </a:pPr>
            <a:r>
              <a:rPr sz="2325" b="1" i="0">
                <a:solidFill>
                  <a:srgbClr val="12304E"/>
                </a:solidFill>
                <a:latin typeface="Lato"/>
                <a:ea typeface="Lato"/>
                <a:cs typeface="Lato"/>
              </a:rPr>
              <a:t>CAVA system architecture</a:t>
            </a:r>
          </a:p>
        </p:txBody>
      </p:sp>
      <p:sp>
        <p:nvSpPr>
          <p:cNvPr id="2" name="">
            <a:extLst xmlns:a="http://schemas.openxmlformats.org/drawingml/2006/main">
              <a:ext uri="{FF2B5EF4-FFF2-40B4-BE49-F238E27FC236}">
                <a16:creationId xmlns:a16="http://schemas.microsoft.com/office/drawing/2014/main" id="{C2BCA708-29ED-43FC-A1CD-2310B1B9CD64}"/>
              </a:ext>
            </a:extLst>
          </p:cNvPr>
          <p:cNvSpPr>
            <a:spLocks xmlns:a="http://schemas.openxmlformats.org/drawingml/2006/main" noGrp="1"/>
          </p:cNvSpPr>
          <p:nvPr/>
        </p:nvSpPr>
        <p:spPr>
          <a:xfrm xmlns:a="http://schemas.openxmlformats.org/drawingml/2006/main">
            <a:off x="647700" y="9620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687984"/>
                </a:solidFill>
                <a:latin typeface="Lato"/>
                <a:ea typeface="Lato"/>
                <a:cs typeface="Lato"/>
              </a:defRPr>
            </a:pPr>
            <a:r>
              <a:rPr sz="1125" b="0" i="0">
                <a:solidFill>
                  <a:srgbClr val="687984"/>
                </a:solidFill>
                <a:latin typeface="Lato"/>
                <a:ea typeface="Lato"/>
                <a:cs typeface="Lato"/>
              </a:rPr>
              <a:t>Data access, processing services and user interfaces are separated but use common metadata</a:t>
            </a:r>
          </a:p>
        </p:txBody>
      </p:sp>
      <p:sp>
        <p:nvSpPr>
          <p:cNvPr id="3" name="">
            <a:extLst xmlns:a="http://schemas.openxmlformats.org/drawingml/2006/main">
              <a:ext uri="{FF2B5EF4-FFF2-40B4-BE49-F238E27FC236}">
                <a16:creationId xmlns:a16="http://schemas.microsoft.com/office/drawing/2014/main" id="{A7AEAEDF-4376-4CAF-859E-5302E939F681}"/>
              </a:ext>
            </a:extLst>
          </p:cNvPr>
          <p:cNvSpPr>
            <a:spLocks xmlns:a="http://schemas.openxmlformats.org/drawingml/2006/main" noGrp="1"/>
          </p:cNvSpPr>
          <p:nvPr/>
        </p:nvSpPr>
        <p:spPr>
          <a:xfrm xmlns:a="http://schemas.openxmlformats.org/drawingml/2006/main">
            <a:off x="647700" y="13430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FF12B69-EDB5-43CE-826C-3911EFFC49BF}"/>
              </a:ext>
            </a:extLst>
          </p:cNvPr>
          <p:cNvSpPr>
            <a:spLocks xmlns:a="http://schemas.openxmlformats.org/drawingml/2006/main" noGrp="1"/>
          </p:cNvSpPr>
          <p:nvPr/>
        </p:nvSpPr>
        <p:spPr>
          <a:xfrm xmlns:a="http://schemas.openxmlformats.org/drawingml/2006/main">
            <a:off x="657225" y="1457325"/>
            <a:ext cx="9906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98D2E3F-0B98-48A8-A8CD-73D26300BA3A}"/>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7C93419-955D-43C0-8FAA-34C021A9A3A4}"/>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50" b="1" i="0">
                <a:solidFill>
                  <a:srgbClr val="687984"/>
                </a:solidFill>
                <a:latin typeface="Lato"/>
                <a:ea typeface="Lato"/>
                <a:cs typeface="Lato"/>
              </a:defRPr>
            </a:pPr>
            <a:r>
              <a:rPr sz="750" b="1" i="0">
                <a:solidFill>
                  <a:srgbClr val="687984"/>
                </a:solidFill>
                <a:latin typeface="Lato"/>
                <a:ea typeface="Lato"/>
                <a:cs typeface="Lato"/>
              </a:rPr>
              <a:t>CAVA × CORDEX</a:t>
            </a:r>
          </a:p>
        </p:txBody>
      </p:sp>
      <p:sp>
        <p:nvSpPr>
          <p:cNvPr id="7" name="">
            <a:extLst xmlns:a="http://schemas.openxmlformats.org/drawingml/2006/main">
              <a:ext uri="{FF2B5EF4-FFF2-40B4-BE49-F238E27FC236}">
                <a16:creationId xmlns:a16="http://schemas.microsoft.com/office/drawing/2014/main" id="{93A0A403-64B2-4005-8329-FC750670E1E5}"/>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750" b="0" i="0">
                <a:solidFill>
                  <a:srgbClr val="687984"/>
                </a:solidFill>
                <a:latin typeface="Lato"/>
                <a:ea typeface="Lato"/>
                <a:cs typeface="Lato"/>
              </a:defRPr>
            </a:pPr>
            <a:r>
              <a:rPr sz="750" b="0" i="0">
                <a:solidFill>
                  <a:srgbClr val="687984"/>
                </a:solidFill>
                <a:latin typeface="Lato"/>
                <a:ea typeface="Lato"/>
                <a:cs typeface="Lato"/>
              </a:rPr>
              <a:t>07</a:t>
            </a:r>
          </a:p>
        </p:txBody>
      </p:sp>
      <p:sp>
        <p:nvSpPr>
          <p:cNvPr id="8" name="">
            <a:extLst xmlns:a="http://schemas.openxmlformats.org/drawingml/2006/main">
              <a:ext uri="{FF2B5EF4-FFF2-40B4-BE49-F238E27FC236}">
                <a16:creationId xmlns:a16="http://schemas.microsoft.com/office/drawing/2014/main" id="{DDDD97CE-9155-4115-93B2-02AC89C5D7CA}"/>
              </a:ext>
            </a:extLst>
          </p:cNvPr>
          <p:cNvSpPr>
            <a:spLocks xmlns:a="http://schemas.openxmlformats.org/drawingml/2006/main" noGrp="1"/>
          </p:cNvSpPr>
          <p:nvPr/>
        </p:nvSpPr>
        <p:spPr>
          <a:xfrm xmlns:a="http://schemas.openxmlformats.org/drawingml/2006/main">
            <a:off x="1866900" y="6858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137DB4"/>
                </a:solidFill>
                <a:latin typeface="Lato"/>
                <a:ea typeface="Lato"/>
                <a:cs typeface="Lato"/>
              </a:defRPr>
            </a:pPr>
            <a:r>
              <a:rPr sz="825" b="1" i="0">
                <a:solidFill>
                  <a:srgbClr val="137DB4"/>
                </a:solidFill>
                <a:latin typeface="Lato"/>
                <a:ea typeface="Lato"/>
                <a:cs typeface="Lato"/>
              </a:rPr>
              <a:t>DATA</a:t>
            </a:r>
          </a:p>
        </p:txBody>
      </p:sp>
      <p:sp>
        <p:nvSpPr>
          <p:cNvPr id="9" name="">
            <a:extLst xmlns:a="http://schemas.openxmlformats.org/drawingml/2006/main">
              <a:ext uri="{FF2B5EF4-FFF2-40B4-BE49-F238E27FC236}">
                <a16:creationId xmlns:a16="http://schemas.microsoft.com/office/drawing/2014/main" id="{EF81C6C5-82BF-4D83-B65C-A1D3BC5C72DA}"/>
              </a:ext>
            </a:extLst>
          </p:cNvPr>
          <p:cNvSpPr>
            <a:spLocks xmlns:a="http://schemas.openxmlformats.org/drawingml/2006/main" noGrp="1"/>
          </p:cNvSpPr>
          <p:nvPr/>
        </p:nvSpPr>
        <p:spPr>
          <a:xfrm xmlns:a="http://schemas.openxmlformats.org/drawingml/2006/main">
            <a:off x="2190750" y="1743075"/>
            <a:ext cx="8991600" cy="666750"/>
          </a:xfrm>
          <a:prstGeom xmlns:a="http://schemas.openxmlformats.org/drawingml/2006/main" prst="roundRect">
            <a:avLst>
              <a:gd name="adj" fmla="val 11429"/>
            </a:avLst>
          </a:prstGeom>
          <a:solidFill xmlns:a="http://schemas.openxmlformats.org/drawingml/2006/main">
            <a:srgbClr val="EAF3F8"/>
          </a:solidFill>
          <a:ln xmlns:a="http://schemas.openxmlformats.org/drawingml/2006/main" w="9525">
            <a:solidFill>
              <a:srgbClr val="DCE5E2"/>
            </a:solidFill>
          </a:ln>
        </p:spPr>
      </p:sp>
      <p:sp>
        <p:nvSpPr>
          <p:cNvPr id="10" name="">
            <a:extLst xmlns:a="http://schemas.openxmlformats.org/drawingml/2006/main">
              <a:ext uri="{FF2B5EF4-FFF2-40B4-BE49-F238E27FC236}">
                <a16:creationId xmlns:a16="http://schemas.microsoft.com/office/drawing/2014/main" id="{F41A997C-55D0-4873-8B77-4A31C96F2F5D}"/>
              </a:ext>
            </a:extLst>
          </p:cNvPr>
          <p:cNvSpPr>
            <a:spLocks xmlns:a="http://schemas.openxmlformats.org/drawingml/2006/main" noGrp="1"/>
          </p:cNvSpPr>
          <p:nvPr/>
        </p:nvSpPr>
        <p:spPr>
          <a:xfrm xmlns:a="http://schemas.openxmlformats.org/drawingml/2006/main">
            <a:off x="2343150" y="19526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12304E"/>
                </a:solidFill>
                <a:latin typeface="Lato"/>
                <a:ea typeface="Lato"/>
                <a:cs typeface="Lato"/>
              </a:defRPr>
            </a:pPr>
            <a:r>
              <a:rPr sz="1125" b="1" i="0">
                <a:solidFill>
                  <a:srgbClr val="12304E"/>
                </a:solidFill>
                <a:latin typeface="Lato"/>
                <a:ea typeface="Lato"/>
                <a:cs typeface="Lato"/>
              </a:rPr>
              <a:t>ERA5</a:t>
            </a:r>
          </a:p>
        </p:txBody>
      </p:sp>
      <p:sp>
        <p:nvSpPr>
          <p:cNvPr id="11" name="">
            <a:extLst xmlns:a="http://schemas.openxmlformats.org/drawingml/2006/main">
              <a:ext uri="{FF2B5EF4-FFF2-40B4-BE49-F238E27FC236}">
                <a16:creationId xmlns:a16="http://schemas.microsoft.com/office/drawing/2014/main" id="{2EDAFE31-CDB1-4D9B-97BB-C29CE3615AAE}"/>
              </a:ext>
            </a:extLst>
          </p:cNvPr>
          <p:cNvSpPr>
            <a:spLocks xmlns:a="http://schemas.openxmlformats.org/drawingml/2006/main" noGrp="1"/>
          </p:cNvSpPr>
          <p:nvPr/>
        </p:nvSpPr>
        <p:spPr>
          <a:xfrm xmlns:a="http://schemas.openxmlformats.org/drawingml/2006/main">
            <a:off x="4352925" y="1866900"/>
            <a:ext cx="9525" cy="33337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450508A-1D21-4FD0-8CEF-CBD82A7AE5C3}"/>
              </a:ext>
            </a:extLst>
          </p:cNvPr>
          <p:cNvSpPr>
            <a:spLocks xmlns:a="http://schemas.openxmlformats.org/drawingml/2006/main" noGrp="1"/>
          </p:cNvSpPr>
          <p:nvPr/>
        </p:nvSpPr>
        <p:spPr>
          <a:xfrm xmlns:a="http://schemas.openxmlformats.org/drawingml/2006/main">
            <a:off x="4533900" y="19526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12304E"/>
                </a:solidFill>
                <a:latin typeface="Lato"/>
                <a:ea typeface="Lato"/>
                <a:cs typeface="Lato"/>
              </a:defRPr>
            </a:pPr>
            <a:r>
              <a:rPr sz="1125" b="1" i="0">
                <a:solidFill>
                  <a:srgbClr val="12304E"/>
                </a:solidFill>
                <a:latin typeface="Lato"/>
                <a:ea typeface="Lato"/>
                <a:cs typeface="Lato"/>
              </a:rPr>
              <a:t>CORDEX-CORE</a:t>
            </a:r>
          </a:p>
        </p:txBody>
      </p:sp>
      <p:sp>
        <p:nvSpPr>
          <p:cNvPr id="13" name="">
            <a:extLst xmlns:a="http://schemas.openxmlformats.org/drawingml/2006/main">
              <a:ext uri="{FF2B5EF4-FFF2-40B4-BE49-F238E27FC236}">
                <a16:creationId xmlns:a16="http://schemas.microsoft.com/office/drawing/2014/main" id="{89C9D68E-AB08-42F3-A647-04264A5BF134}"/>
              </a:ext>
            </a:extLst>
          </p:cNvPr>
          <p:cNvSpPr>
            <a:spLocks xmlns:a="http://schemas.openxmlformats.org/drawingml/2006/main" noGrp="1"/>
          </p:cNvSpPr>
          <p:nvPr/>
        </p:nvSpPr>
        <p:spPr>
          <a:xfrm xmlns:a="http://schemas.openxmlformats.org/drawingml/2006/main">
            <a:off x="6543675" y="1866900"/>
            <a:ext cx="9525" cy="33337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0CB8A03-52D9-47B2-B0FC-3ABA6CDB1AC1}"/>
              </a:ext>
            </a:extLst>
          </p:cNvPr>
          <p:cNvSpPr>
            <a:spLocks xmlns:a="http://schemas.openxmlformats.org/drawingml/2006/main" noGrp="1"/>
          </p:cNvSpPr>
          <p:nvPr/>
        </p:nvSpPr>
        <p:spPr>
          <a:xfrm xmlns:a="http://schemas.openxmlformats.org/drawingml/2006/main">
            <a:off x="6724650" y="19526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12304E"/>
                </a:solidFill>
                <a:latin typeface="Lato"/>
                <a:ea typeface="Lato"/>
                <a:cs typeface="Lato"/>
              </a:defRPr>
            </a:pPr>
            <a:r>
              <a:rPr sz="1125" b="1" i="0">
                <a:solidFill>
                  <a:srgbClr val="12304E"/>
                </a:solidFill>
                <a:latin typeface="Lato"/>
                <a:ea typeface="Lato"/>
                <a:cs typeface="Lato"/>
              </a:rPr>
              <a:t>CORDEX-CORE-BC</a:t>
            </a:r>
          </a:p>
        </p:txBody>
      </p:sp>
      <p:sp>
        <p:nvSpPr>
          <p:cNvPr id="15" name="">
            <a:extLst xmlns:a="http://schemas.openxmlformats.org/drawingml/2006/main">
              <a:ext uri="{FF2B5EF4-FFF2-40B4-BE49-F238E27FC236}">
                <a16:creationId xmlns:a16="http://schemas.microsoft.com/office/drawing/2014/main" id="{13CBAB1D-1BEF-437E-861E-E0F9F0907104}"/>
              </a:ext>
            </a:extLst>
          </p:cNvPr>
          <p:cNvSpPr>
            <a:spLocks xmlns:a="http://schemas.openxmlformats.org/drawingml/2006/main" noGrp="1"/>
          </p:cNvSpPr>
          <p:nvPr/>
        </p:nvSpPr>
        <p:spPr>
          <a:xfrm xmlns:a="http://schemas.openxmlformats.org/drawingml/2006/main">
            <a:off x="8734425" y="1866900"/>
            <a:ext cx="9525" cy="33337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DCAC5A0-87BA-4B05-9197-F8D55CBBC452}"/>
              </a:ext>
            </a:extLst>
          </p:cNvPr>
          <p:cNvSpPr>
            <a:spLocks xmlns:a="http://schemas.openxmlformats.org/drawingml/2006/main" noGrp="1"/>
          </p:cNvSpPr>
          <p:nvPr/>
        </p:nvSpPr>
        <p:spPr>
          <a:xfrm xmlns:a="http://schemas.openxmlformats.org/drawingml/2006/main">
            <a:off x="8915400" y="19526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12304E"/>
                </a:solidFill>
                <a:latin typeface="Lato"/>
                <a:ea typeface="Lato"/>
                <a:cs typeface="Lato"/>
              </a:defRPr>
            </a:pPr>
            <a:r>
              <a:rPr sz="1125" b="1" i="0">
                <a:solidFill>
                  <a:srgbClr val="12304E"/>
                </a:solidFill>
                <a:latin typeface="Lato"/>
                <a:ea typeface="Lato"/>
                <a:cs typeface="Lato"/>
              </a:rPr>
              <a:t>Impact datasets</a:t>
            </a:r>
          </a:p>
        </p:txBody>
      </p:sp>
      <p:sp>
        <p:nvSpPr>
          <p:cNvPr id="17" name="">
            <a:extLst xmlns:a="http://schemas.openxmlformats.org/drawingml/2006/main">
              <a:ext uri="{FF2B5EF4-FFF2-40B4-BE49-F238E27FC236}">
                <a16:creationId xmlns:a16="http://schemas.microsoft.com/office/drawing/2014/main" id="{A28E41B6-96EF-437F-B867-B0C3DEABAD1C}"/>
              </a:ext>
            </a:extLst>
          </p:cNvPr>
          <p:cNvSpPr>
            <a:spLocks xmlns:a="http://schemas.openxmlformats.org/drawingml/2006/main" noGrp="1"/>
          </p:cNvSpPr>
          <p:nvPr/>
        </p:nvSpPr>
        <p:spPr>
          <a:xfrm xmlns:a="http://schemas.openxmlformats.org/drawingml/2006/main">
            <a:off x="6553200" y="2457450"/>
            <a:ext cx="266700" cy="238125"/>
          </a:xfrm>
          <a:prstGeom xmlns:a="http://schemas.openxmlformats.org/drawingml/2006/main" prst="downArrow">
            <a:avLst/>
          </a:prstGeom>
          <a:solidFill xmlns:a="http://schemas.openxmlformats.org/drawingml/2006/main">
            <a:srgbClr val="00A88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62F090B-E05F-49B7-8EB4-72D19335CBAA}"/>
              </a:ext>
            </a:extLst>
          </p:cNvPr>
          <p:cNvSpPr>
            <a:spLocks xmlns:a="http://schemas.openxmlformats.org/drawingml/2006/main" noGrp="1"/>
          </p:cNvSpPr>
          <p:nvPr/>
        </p:nvSpPr>
        <p:spPr>
          <a:xfrm xmlns:a="http://schemas.openxmlformats.org/drawingml/2006/main">
            <a:off x="2781300" y="6858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FFFFFF"/>
                </a:solidFill>
                <a:latin typeface="Lato"/>
                <a:ea typeface="Lato"/>
                <a:cs typeface="Lato"/>
              </a:defRPr>
            </a:pPr>
            <a:r>
              <a:rPr sz="825" b="1" i="0">
                <a:solidFill>
                  <a:srgbClr val="FFFFFF"/>
                </a:solidFill>
                <a:latin typeface="Lato"/>
                <a:ea typeface="Lato"/>
                <a:cs typeface="Lato"/>
              </a:rPr>
              <a:t>SHARED SERVICES</a:t>
            </a:r>
          </a:p>
        </p:txBody>
      </p:sp>
      <p:sp>
        <p:nvSpPr>
          <p:cNvPr id="19" name="">
            <a:extLst xmlns:a="http://schemas.openxmlformats.org/drawingml/2006/main">
              <a:ext uri="{FF2B5EF4-FFF2-40B4-BE49-F238E27FC236}">
                <a16:creationId xmlns:a16="http://schemas.microsoft.com/office/drawing/2014/main" id="{EF31C915-E605-4B5D-BA93-66761E9F48D6}"/>
              </a:ext>
            </a:extLst>
          </p:cNvPr>
          <p:cNvSpPr>
            <a:spLocks xmlns:a="http://schemas.openxmlformats.org/drawingml/2006/main" noGrp="1"/>
          </p:cNvSpPr>
          <p:nvPr/>
        </p:nvSpPr>
        <p:spPr>
          <a:xfrm xmlns:a="http://schemas.openxmlformats.org/drawingml/2006/main">
            <a:off x="2190750" y="2657475"/>
            <a:ext cx="8991600" cy="666750"/>
          </a:xfrm>
          <a:prstGeom xmlns:a="http://schemas.openxmlformats.org/drawingml/2006/main" prst="roundRect">
            <a:avLst>
              <a:gd name="adj" fmla="val 11429"/>
            </a:avLst>
          </a:prstGeom>
          <a:solidFill xmlns:a="http://schemas.openxmlformats.org/drawingml/2006/main">
            <a:srgbClr val="12304E"/>
          </a:solidFill>
          <a:ln xmlns:a="http://schemas.openxmlformats.org/drawingml/2006/main" w="9525">
            <a:solidFill>
              <a:srgbClr val="12304E"/>
            </a:solidFill>
          </a:ln>
        </p:spPr>
      </p:sp>
      <p:sp>
        <p:nvSpPr>
          <p:cNvPr id="20" name="">
            <a:extLst xmlns:a="http://schemas.openxmlformats.org/drawingml/2006/main">
              <a:ext uri="{FF2B5EF4-FFF2-40B4-BE49-F238E27FC236}">
                <a16:creationId xmlns:a16="http://schemas.microsoft.com/office/drawing/2014/main" id="{661820AE-208A-403E-941A-73D84FDFACC0}"/>
              </a:ext>
            </a:extLst>
          </p:cNvPr>
          <p:cNvSpPr>
            <a:spLocks xmlns:a="http://schemas.openxmlformats.org/drawingml/2006/main" noGrp="1"/>
          </p:cNvSpPr>
          <p:nvPr/>
        </p:nvSpPr>
        <p:spPr>
          <a:xfrm xmlns:a="http://schemas.openxmlformats.org/drawingml/2006/main">
            <a:off x="2343150" y="28670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FFFFFF"/>
                </a:solidFill>
                <a:latin typeface="Lato"/>
                <a:ea typeface="Lato"/>
                <a:cs typeface="Lato"/>
              </a:defRPr>
            </a:pPr>
            <a:r>
              <a:rPr sz="1125" b="1" i="0">
                <a:solidFill>
                  <a:srgbClr val="FFFFFF"/>
                </a:solidFill>
                <a:latin typeface="Lato"/>
                <a:ea typeface="Lato"/>
                <a:cs typeface="Lato"/>
              </a:rPr>
              <a:t>Catalogue &amp; inventory</a:t>
            </a:r>
          </a:p>
        </p:txBody>
      </p:sp>
      <p:sp>
        <p:nvSpPr>
          <p:cNvPr id="21" name="">
            <a:extLst xmlns:a="http://schemas.openxmlformats.org/drawingml/2006/main">
              <a:ext uri="{FF2B5EF4-FFF2-40B4-BE49-F238E27FC236}">
                <a16:creationId xmlns:a16="http://schemas.microsoft.com/office/drawing/2014/main" id="{48BAD80D-48F6-4772-9029-A964BA63F73D}"/>
              </a:ext>
            </a:extLst>
          </p:cNvPr>
          <p:cNvSpPr>
            <a:spLocks xmlns:a="http://schemas.openxmlformats.org/drawingml/2006/main" noGrp="1"/>
          </p:cNvSpPr>
          <p:nvPr/>
        </p:nvSpPr>
        <p:spPr>
          <a:xfrm xmlns:a="http://schemas.openxmlformats.org/drawingml/2006/main">
            <a:off x="4352925" y="2781300"/>
            <a:ext cx="9525" cy="333375"/>
          </a:xfrm>
          <a:prstGeom xmlns:a="http://schemas.openxmlformats.org/drawingml/2006/main" prst="rect">
            <a:avLst/>
          </a:prstGeom>
          <a:solidFill xmlns:a="http://schemas.openxmlformats.org/drawingml/2006/main">
            <a:srgbClr val="5D738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3CE1A3D-8E03-4060-9BDD-31BD2DE8BAAA}"/>
              </a:ext>
            </a:extLst>
          </p:cNvPr>
          <p:cNvSpPr>
            <a:spLocks xmlns:a="http://schemas.openxmlformats.org/drawingml/2006/main" noGrp="1"/>
          </p:cNvSpPr>
          <p:nvPr/>
        </p:nvSpPr>
        <p:spPr>
          <a:xfrm xmlns:a="http://schemas.openxmlformats.org/drawingml/2006/main">
            <a:off x="4533900" y="28670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FFFFFF"/>
                </a:solidFill>
                <a:latin typeface="Lato"/>
                <a:ea typeface="Lato"/>
                <a:cs typeface="Lato"/>
              </a:defRPr>
            </a:pPr>
            <a:r>
              <a:rPr sz="1125" b="1" i="0">
                <a:solidFill>
                  <a:srgbClr val="FFFFFF"/>
                </a:solidFill>
                <a:latin typeface="Lato"/>
                <a:ea typeface="Lato"/>
                <a:cs typeface="Lato"/>
              </a:rPr>
              <a:t>Remote subsetting</a:t>
            </a:r>
          </a:p>
        </p:txBody>
      </p:sp>
      <p:sp>
        <p:nvSpPr>
          <p:cNvPr id="23" name="">
            <a:extLst xmlns:a="http://schemas.openxmlformats.org/drawingml/2006/main">
              <a:ext uri="{FF2B5EF4-FFF2-40B4-BE49-F238E27FC236}">
                <a16:creationId xmlns:a16="http://schemas.microsoft.com/office/drawing/2014/main" id="{3CB0FB62-69A6-4D4C-BA27-A9FA8824AE4F}"/>
              </a:ext>
            </a:extLst>
          </p:cNvPr>
          <p:cNvSpPr>
            <a:spLocks xmlns:a="http://schemas.openxmlformats.org/drawingml/2006/main" noGrp="1"/>
          </p:cNvSpPr>
          <p:nvPr/>
        </p:nvSpPr>
        <p:spPr>
          <a:xfrm xmlns:a="http://schemas.openxmlformats.org/drawingml/2006/main">
            <a:off x="6543675" y="2781300"/>
            <a:ext cx="9525" cy="333375"/>
          </a:xfrm>
          <a:prstGeom xmlns:a="http://schemas.openxmlformats.org/drawingml/2006/main" prst="rect">
            <a:avLst/>
          </a:prstGeom>
          <a:solidFill xmlns:a="http://schemas.openxmlformats.org/drawingml/2006/main">
            <a:srgbClr val="5D738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1D355D3-8F57-498A-9F49-AB6C9FD86764}"/>
              </a:ext>
            </a:extLst>
          </p:cNvPr>
          <p:cNvSpPr>
            <a:spLocks xmlns:a="http://schemas.openxmlformats.org/drawingml/2006/main" noGrp="1"/>
          </p:cNvSpPr>
          <p:nvPr/>
        </p:nvSpPr>
        <p:spPr>
          <a:xfrm xmlns:a="http://schemas.openxmlformats.org/drawingml/2006/main">
            <a:off x="6724650" y="28670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FFFFFF"/>
                </a:solidFill>
                <a:latin typeface="Lato"/>
                <a:ea typeface="Lato"/>
                <a:cs typeface="Lato"/>
              </a:defRPr>
            </a:pPr>
            <a:r>
              <a:rPr sz="1125" b="1" i="0">
                <a:solidFill>
                  <a:srgbClr val="FFFFFF"/>
                </a:solidFill>
                <a:latin typeface="Lato"/>
                <a:ea typeface="Lato"/>
                <a:cs typeface="Lato"/>
              </a:rPr>
              <a:t>Harmonization</a:t>
            </a:r>
          </a:p>
        </p:txBody>
      </p:sp>
      <p:sp>
        <p:nvSpPr>
          <p:cNvPr id="25" name="">
            <a:extLst xmlns:a="http://schemas.openxmlformats.org/drawingml/2006/main">
              <a:ext uri="{FF2B5EF4-FFF2-40B4-BE49-F238E27FC236}">
                <a16:creationId xmlns:a16="http://schemas.microsoft.com/office/drawing/2014/main" id="{17550ED6-AF4F-4D93-A9F6-84DE2565D763}"/>
              </a:ext>
            </a:extLst>
          </p:cNvPr>
          <p:cNvSpPr>
            <a:spLocks xmlns:a="http://schemas.openxmlformats.org/drawingml/2006/main" noGrp="1"/>
          </p:cNvSpPr>
          <p:nvPr/>
        </p:nvSpPr>
        <p:spPr>
          <a:xfrm xmlns:a="http://schemas.openxmlformats.org/drawingml/2006/main">
            <a:off x="8734425" y="2781300"/>
            <a:ext cx="9525" cy="333375"/>
          </a:xfrm>
          <a:prstGeom xmlns:a="http://schemas.openxmlformats.org/drawingml/2006/main" prst="rect">
            <a:avLst/>
          </a:prstGeom>
          <a:solidFill xmlns:a="http://schemas.openxmlformats.org/drawingml/2006/main">
            <a:srgbClr val="5D738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CB14A2B-8B96-4EFA-B471-97960B014498}"/>
              </a:ext>
            </a:extLst>
          </p:cNvPr>
          <p:cNvSpPr>
            <a:spLocks xmlns:a="http://schemas.openxmlformats.org/drawingml/2006/main" noGrp="1"/>
          </p:cNvSpPr>
          <p:nvPr/>
        </p:nvSpPr>
        <p:spPr>
          <a:xfrm xmlns:a="http://schemas.openxmlformats.org/drawingml/2006/main">
            <a:off x="8915400" y="28670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FFFFFF"/>
                </a:solidFill>
                <a:latin typeface="Lato"/>
                <a:ea typeface="Lato"/>
                <a:cs typeface="Lato"/>
              </a:defRPr>
            </a:pPr>
            <a:r>
              <a:rPr sz="1125" b="1" i="0">
                <a:solidFill>
                  <a:srgbClr val="FFFFFF"/>
                </a:solidFill>
                <a:latin typeface="Lato"/>
                <a:ea typeface="Lato"/>
                <a:cs typeface="Lato"/>
              </a:rPr>
              <a:t>Indicators &amp; provenance</a:t>
            </a:r>
          </a:p>
        </p:txBody>
      </p:sp>
      <p:sp>
        <p:nvSpPr>
          <p:cNvPr id="27" name="">
            <a:extLst xmlns:a="http://schemas.openxmlformats.org/drawingml/2006/main">
              <a:ext uri="{FF2B5EF4-FFF2-40B4-BE49-F238E27FC236}">
                <a16:creationId xmlns:a16="http://schemas.microsoft.com/office/drawing/2014/main" id="{92E461F2-E549-4E61-B6F0-2E3B6217F25A}"/>
              </a:ext>
            </a:extLst>
          </p:cNvPr>
          <p:cNvSpPr>
            <a:spLocks xmlns:a="http://schemas.openxmlformats.org/drawingml/2006/main" noGrp="1"/>
          </p:cNvSpPr>
          <p:nvPr/>
        </p:nvSpPr>
        <p:spPr>
          <a:xfrm xmlns:a="http://schemas.openxmlformats.org/drawingml/2006/main">
            <a:off x="6553200" y="3371850"/>
            <a:ext cx="266700" cy="238125"/>
          </a:xfrm>
          <a:prstGeom xmlns:a="http://schemas.openxmlformats.org/drawingml/2006/main" prst="downArrow">
            <a:avLst/>
          </a:prstGeom>
          <a:solidFill xmlns:a="http://schemas.openxmlformats.org/drawingml/2006/main">
            <a:srgbClr val="F2B632"/>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5AD0D58-455C-453A-8416-1E4D8B8074D6}"/>
              </a:ext>
            </a:extLst>
          </p:cNvPr>
          <p:cNvSpPr>
            <a:spLocks xmlns:a="http://schemas.openxmlformats.org/drawingml/2006/main" noGrp="1"/>
          </p:cNvSpPr>
          <p:nvPr/>
        </p:nvSpPr>
        <p:spPr>
          <a:xfrm xmlns:a="http://schemas.openxmlformats.org/drawingml/2006/main">
            <a:off x="3695700" y="6858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008D7A"/>
                </a:solidFill>
                <a:latin typeface="Lato"/>
                <a:ea typeface="Lato"/>
                <a:cs typeface="Lato"/>
              </a:defRPr>
            </a:pPr>
            <a:r>
              <a:rPr sz="825" b="1" i="0">
                <a:solidFill>
                  <a:srgbClr val="008D7A"/>
                </a:solidFill>
                <a:latin typeface="Lato"/>
                <a:ea typeface="Lato"/>
                <a:cs typeface="Lato"/>
              </a:rPr>
              <a:t>ENTRY POINTS</a:t>
            </a:r>
          </a:p>
        </p:txBody>
      </p:sp>
      <p:sp>
        <p:nvSpPr>
          <p:cNvPr id="29" name="">
            <a:extLst xmlns:a="http://schemas.openxmlformats.org/drawingml/2006/main">
              <a:ext uri="{FF2B5EF4-FFF2-40B4-BE49-F238E27FC236}">
                <a16:creationId xmlns:a16="http://schemas.microsoft.com/office/drawing/2014/main" id="{4339B2AD-C6B8-42A6-88C9-C8D609BC26A8}"/>
              </a:ext>
            </a:extLst>
          </p:cNvPr>
          <p:cNvSpPr>
            <a:spLocks xmlns:a="http://schemas.openxmlformats.org/drawingml/2006/main" noGrp="1"/>
          </p:cNvSpPr>
          <p:nvPr/>
        </p:nvSpPr>
        <p:spPr>
          <a:xfrm xmlns:a="http://schemas.openxmlformats.org/drawingml/2006/main">
            <a:off x="2190750" y="3571875"/>
            <a:ext cx="8991600" cy="666750"/>
          </a:xfrm>
          <a:prstGeom xmlns:a="http://schemas.openxmlformats.org/drawingml/2006/main" prst="roundRect">
            <a:avLst>
              <a:gd name="adj" fmla="val 11429"/>
            </a:avLst>
          </a:prstGeom>
          <a:solidFill xmlns:a="http://schemas.openxmlformats.org/drawingml/2006/main">
            <a:srgbClr val="E7F4EF"/>
          </a:solidFill>
          <a:ln xmlns:a="http://schemas.openxmlformats.org/drawingml/2006/main" w="9525">
            <a:solidFill>
              <a:srgbClr val="DCE5E2"/>
            </a:solidFill>
          </a:ln>
        </p:spPr>
      </p:sp>
      <p:sp>
        <p:nvSpPr>
          <p:cNvPr id="30" name="">
            <a:extLst xmlns:a="http://schemas.openxmlformats.org/drawingml/2006/main">
              <a:ext uri="{FF2B5EF4-FFF2-40B4-BE49-F238E27FC236}">
                <a16:creationId xmlns:a16="http://schemas.microsoft.com/office/drawing/2014/main" id="{4515D645-FBAB-4FD0-A686-36517575003D}"/>
              </a:ext>
            </a:extLst>
          </p:cNvPr>
          <p:cNvSpPr>
            <a:spLocks xmlns:a="http://schemas.openxmlformats.org/drawingml/2006/main" noGrp="1"/>
          </p:cNvSpPr>
          <p:nvPr/>
        </p:nvSpPr>
        <p:spPr>
          <a:xfrm xmlns:a="http://schemas.openxmlformats.org/drawingml/2006/main">
            <a:off x="2343150" y="37814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12304E"/>
                </a:solidFill>
                <a:latin typeface="Lato"/>
                <a:ea typeface="Lato"/>
                <a:cs typeface="Lato"/>
              </a:defRPr>
            </a:pPr>
            <a:r>
              <a:rPr sz="1125" b="1" i="0">
                <a:solidFill>
                  <a:srgbClr val="12304E"/>
                </a:solidFill>
                <a:latin typeface="Lato"/>
                <a:ea typeface="Lato"/>
                <a:cs typeface="Lato"/>
              </a:rPr>
              <a:t>CAVA Platform</a:t>
            </a:r>
          </a:p>
        </p:txBody>
      </p:sp>
      <p:sp>
        <p:nvSpPr>
          <p:cNvPr id="31" name="">
            <a:extLst xmlns:a="http://schemas.openxmlformats.org/drawingml/2006/main">
              <a:ext uri="{FF2B5EF4-FFF2-40B4-BE49-F238E27FC236}">
                <a16:creationId xmlns:a16="http://schemas.microsoft.com/office/drawing/2014/main" id="{ADA2E3C6-E29F-49E7-AC48-0168A1AF671E}"/>
              </a:ext>
            </a:extLst>
          </p:cNvPr>
          <p:cNvSpPr>
            <a:spLocks xmlns:a="http://schemas.openxmlformats.org/drawingml/2006/main" noGrp="1"/>
          </p:cNvSpPr>
          <p:nvPr/>
        </p:nvSpPr>
        <p:spPr>
          <a:xfrm xmlns:a="http://schemas.openxmlformats.org/drawingml/2006/main">
            <a:off x="4352925" y="3695700"/>
            <a:ext cx="9525" cy="33337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4CC47BC-1465-413E-BEA4-CF6F27ED1918}"/>
              </a:ext>
            </a:extLst>
          </p:cNvPr>
          <p:cNvSpPr>
            <a:spLocks xmlns:a="http://schemas.openxmlformats.org/drawingml/2006/main" noGrp="1"/>
          </p:cNvSpPr>
          <p:nvPr/>
        </p:nvSpPr>
        <p:spPr>
          <a:xfrm xmlns:a="http://schemas.openxmlformats.org/drawingml/2006/main">
            <a:off x="4533900" y="37814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12304E"/>
                </a:solidFill>
                <a:latin typeface="Lato"/>
                <a:ea typeface="Lato"/>
                <a:cs typeface="Lato"/>
              </a:defRPr>
            </a:pPr>
            <a:r>
              <a:rPr sz="1125" b="1" i="0">
                <a:solidFill>
                  <a:srgbClr val="12304E"/>
                </a:solidFill>
                <a:latin typeface="Lato"/>
                <a:ea typeface="Lato"/>
                <a:cs typeface="Lato"/>
              </a:rPr>
              <a:t>R SDK</a:t>
            </a:r>
          </a:p>
        </p:txBody>
      </p:sp>
      <p:sp>
        <p:nvSpPr>
          <p:cNvPr id="33" name="">
            <a:extLst xmlns:a="http://schemas.openxmlformats.org/drawingml/2006/main">
              <a:ext uri="{FF2B5EF4-FFF2-40B4-BE49-F238E27FC236}">
                <a16:creationId xmlns:a16="http://schemas.microsoft.com/office/drawing/2014/main" id="{BDD363BE-1575-4BAB-A821-D99CAEA07C6C}"/>
              </a:ext>
            </a:extLst>
          </p:cNvPr>
          <p:cNvSpPr>
            <a:spLocks xmlns:a="http://schemas.openxmlformats.org/drawingml/2006/main" noGrp="1"/>
          </p:cNvSpPr>
          <p:nvPr/>
        </p:nvSpPr>
        <p:spPr>
          <a:xfrm xmlns:a="http://schemas.openxmlformats.org/drawingml/2006/main">
            <a:off x="6543675" y="3695700"/>
            <a:ext cx="9525" cy="33337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24565C06-BF63-454B-BDE4-E2737E28DC02}"/>
              </a:ext>
            </a:extLst>
          </p:cNvPr>
          <p:cNvSpPr>
            <a:spLocks xmlns:a="http://schemas.openxmlformats.org/drawingml/2006/main" noGrp="1"/>
          </p:cNvSpPr>
          <p:nvPr/>
        </p:nvSpPr>
        <p:spPr>
          <a:xfrm xmlns:a="http://schemas.openxmlformats.org/drawingml/2006/main">
            <a:off x="6724650" y="37814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12304E"/>
                </a:solidFill>
                <a:latin typeface="Lato"/>
                <a:ea typeface="Lato"/>
                <a:cs typeface="Lato"/>
              </a:defRPr>
            </a:pPr>
            <a:r>
              <a:rPr sz="1125" b="1" i="0">
                <a:solidFill>
                  <a:srgbClr val="12304E"/>
                </a:solidFill>
                <a:latin typeface="Lato"/>
                <a:ea typeface="Lato"/>
                <a:cs typeface="Lato"/>
              </a:rPr>
              <a:t>Python SDK</a:t>
            </a:r>
          </a:p>
        </p:txBody>
      </p:sp>
      <p:sp>
        <p:nvSpPr>
          <p:cNvPr id="35" name="">
            <a:extLst xmlns:a="http://schemas.openxmlformats.org/drawingml/2006/main">
              <a:ext uri="{FF2B5EF4-FFF2-40B4-BE49-F238E27FC236}">
                <a16:creationId xmlns:a16="http://schemas.microsoft.com/office/drawing/2014/main" id="{964CB154-37B6-4546-8D07-4AE3334C91EF}"/>
              </a:ext>
            </a:extLst>
          </p:cNvPr>
          <p:cNvSpPr>
            <a:spLocks xmlns:a="http://schemas.openxmlformats.org/drawingml/2006/main" noGrp="1"/>
          </p:cNvSpPr>
          <p:nvPr/>
        </p:nvSpPr>
        <p:spPr>
          <a:xfrm xmlns:a="http://schemas.openxmlformats.org/drawingml/2006/main">
            <a:off x="8734425" y="3695700"/>
            <a:ext cx="9525" cy="33337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656C2D1F-DB9E-4E08-8E17-63A4AB8DAA41}"/>
              </a:ext>
            </a:extLst>
          </p:cNvPr>
          <p:cNvSpPr>
            <a:spLocks xmlns:a="http://schemas.openxmlformats.org/drawingml/2006/main" noGrp="1"/>
          </p:cNvSpPr>
          <p:nvPr/>
        </p:nvSpPr>
        <p:spPr>
          <a:xfrm xmlns:a="http://schemas.openxmlformats.org/drawingml/2006/main">
            <a:off x="8915400" y="37814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12304E"/>
                </a:solidFill>
                <a:latin typeface="Lato"/>
                <a:ea typeface="Lato"/>
                <a:cs typeface="Lato"/>
              </a:defRPr>
            </a:pPr>
            <a:r>
              <a:rPr sz="1125" b="1" i="0">
                <a:solidFill>
                  <a:srgbClr val="12304E"/>
                </a:solidFill>
                <a:latin typeface="Lato"/>
                <a:ea typeface="Lato"/>
                <a:cs typeface="Lato"/>
              </a:rPr>
              <a:t>Backend APIs</a:t>
            </a:r>
          </a:p>
        </p:txBody>
      </p:sp>
      <p:sp>
        <p:nvSpPr>
          <p:cNvPr id="37" name="">
            <a:extLst xmlns:a="http://schemas.openxmlformats.org/drawingml/2006/main">
              <a:ext uri="{FF2B5EF4-FFF2-40B4-BE49-F238E27FC236}">
                <a16:creationId xmlns:a16="http://schemas.microsoft.com/office/drawing/2014/main" id="{7FD0D395-9B82-4C8F-B068-C629E32B5FE9}"/>
              </a:ext>
            </a:extLst>
          </p:cNvPr>
          <p:cNvSpPr>
            <a:spLocks xmlns:a="http://schemas.openxmlformats.org/drawingml/2006/main" noGrp="1"/>
          </p:cNvSpPr>
          <p:nvPr/>
        </p:nvSpPr>
        <p:spPr>
          <a:xfrm xmlns:a="http://schemas.openxmlformats.org/drawingml/2006/main">
            <a:off x="6553200" y="4286250"/>
            <a:ext cx="266700" cy="238125"/>
          </a:xfrm>
          <a:prstGeom xmlns:a="http://schemas.openxmlformats.org/drawingml/2006/main" prst="downArrow">
            <a:avLst/>
          </a:prstGeom>
          <a:solidFill xmlns:a="http://schemas.openxmlformats.org/drawingml/2006/main">
            <a:srgbClr val="00A88F"/>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11CB6CA3-4E32-48B5-8D81-83E30DD1B599}"/>
              </a:ext>
            </a:extLst>
          </p:cNvPr>
          <p:cNvSpPr>
            <a:spLocks xmlns:a="http://schemas.openxmlformats.org/drawingml/2006/main" noGrp="1"/>
          </p:cNvSpPr>
          <p:nvPr/>
        </p:nvSpPr>
        <p:spPr>
          <a:xfrm xmlns:a="http://schemas.openxmlformats.org/drawingml/2006/main">
            <a:off x="4610100" y="6858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A86F00"/>
                </a:solidFill>
                <a:latin typeface="Lato"/>
                <a:ea typeface="Lato"/>
                <a:cs typeface="Lato"/>
              </a:defRPr>
            </a:pPr>
            <a:r>
              <a:rPr sz="825" b="1" i="0">
                <a:solidFill>
                  <a:srgbClr val="A86F00"/>
                </a:solidFill>
                <a:latin typeface="Lato"/>
                <a:ea typeface="Lato"/>
                <a:cs typeface="Lato"/>
              </a:rPr>
              <a:t>PRODUCTS</a:t>
            </a:r>
          </a:p>
        </p:txBody>
      </p:sp>
      <p:sp>
        <p:nvSpPr>
          <p:cNvPr id="39" name="">
            <a:extLst xmlns:a="http://schemas.openxmlformats.org/drawingml/2006/main">
              <a:ext uri="{FF2B5EF4-FFF2-40B4-BE49-F238E27FC236}">
                <a16:creationId xmlns:a16="http://schemas.microsoft.com/office/drawing/2014/main" id="{31A7F6CD-04FE-4E5F-946B-D7AC98C86BEE}"/>
              </a:ext>
            </a:extLst>
          </p:cNvPr>
          <p:cNvSpPr>
            <a:spLocks xmlns:a="http://schemas.openxmlformats.org/drawingml/2006/main" noGrp="1"/>
          </p:cNvSpPr>
          <p:nvPr/>
        </p:nvSpPr>
        <p:spPr>
          <a:xfrm xmlns:a="http://schemas.openxmlformats.org/drawingml/2006/main">
            <a:off x="2190750" y="4486275"/>
            <a:ext cx="8991600" cy="666750"/>
          </a:xfrm>
          <a:prstGeom xmlns:a="http://schemas.openxmlformats.org/drawingml/2006/main" prst="roundRect">
            <a:avLst>
              <a:gd name="adj" fmla="val 11429"/>
            </a:avLst>
          </a:prstGeom>
          <a:solidFill xmlns:a="http://schemas.openxmlformats.org/drawingml/2006/main">
            <a:srgbClr val="FFF3D1"/>
          </a:solidFill>
          <a:ln xmlns:a="http://schemas.openxmlformats.org/drawingml/2006/main" w="9525">
            <a:solidFill>
              <a:srgbClr val="DCE5E2"/>
            </a:solidFill>
          </a:ln>
        </p:spPr>
      </p:sp>
      <p:sp>
        <p:nvSpPr>
          <p:cNvPr id="40" name="">
            <a:extLst xmlns:a="http://schemas.openxmlformats.org/drawingml/2006/main">
              <a:ext uri="{FF2B5EF4-FFF2-40B4-BE49-F238E27FC236}">
                <a16:creationId xmlns:a16="http://schemas.microsoft.com/office/drawing/2014/main" id="{647D6E87-ECB6-4610-A127-E4E21D6F304C}"/>
              </a:ext>
            </a:extLst>
          </p:cNvPr>
          <p:cNvSpPr>
            <a:spLocks xmlns:a="http://schemas.openxmlformats.org/drawingml/2006/main" noGrp="1"/>
          </p:cNvSpPr>
          <p:nvPr/>
        </p:nvSpPr>
        <p:spPr>
          <a:xfrm xmlns:a="http://schemas.openxmlformats.org/drawingml/2006/main">
            <a:off x="2343150" y="46958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12304E"/>
                </a:solidFill>
                <a:latin typeface="Lato"/>
                <a:ea typeface="Lato"/>
                <a:cs typeface="Lato"/>
              </a:defRPr>
            </a:pPr>
            <a:r>
              <a:rPr sz="1125" b="1" i="0">
                <a:solidFill>
                  <a:srgbClr val="12304E"/>
                </a:solidFill>
                <a:latin typeface="Lato"/>
                <a:ea typeface="Lato"/>
                <a:cs typeface="Lato"/>
              </a:rPr>
              <a:t>Maps &amp; reports</a:t>
            </a:r>
          </a:p>
        </p:txBody>
      </p:sp>
      <p:sp>
        <p:nvSpPr>
          <p:cNvPr id="41" name="">
            <a:extLst xmlns:a="http://schemas.openxmlformats.org/drawingml/2006/main">
              <a:ext uri="{FF2B5EF4-FFF2-40B4-BE49-F238E27FC236}">
                <a16:creationId xmlns:a16="http://schemas.microsoft.com/office/drawing/2014/main" id="{24C11ED2-1A61-48C4-AEAF-A55FD4348F46}"/>
              </a:ext>
            </a:extLst>
          </p:cNvPr>
          <p:cNvSpPr>
            <a:spLocks xmlns:a="http://schemas.openxmlformats.org/drawingml/2006/main" noGrp="1"/>
          </p:cNvSpPr>
          <p:nvPr/>
        </p:nvSpPr>
        <p:spPr>
          <a:xfrm xmlns:a="http://schemas.openxmlformats.org/drawingml/2006/main">
            <a:off x="4352925" y="4610100"/>
            <a:ext cx="9525" cy="33337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FD03E6B5-E7C4-4F80-A7DE-A46066CFBFA6}"/>
              </a:ext>
            </a:extLst>
          </p:cNvPr>
          <p:cNvSpPr>
            <a:spLocks xmlns:a="http://schemas.openxmlformats.org/drawingml/2006/main" noGrp="1"/>
          </p:cNvSpPr>
          <p:nvPr/>
        </p:nvSpPr>
        <p:spPr>
          <a:xfrm xmlns:a="http://schemas.openxmlformats.org/drawingml/2006/main">
            <a:off x="4533900" y="46958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12304E"/>
                </a:solidFill>
                <a:latin typeface="Lato"/>
                <a:ea typeface="Lato"/>
                <a:cs typeface="Lato"/>
              </a:defRPr>
            </a:pPr>
            <a:r>
              <a:rPr sz="1125" b="1" i="0">
                <a:solidFill>
                  <a:srgbClr val="12304E"/>
                </a:solidFill>
                <a:latin typeface="Lato"/>
                <a:ea typeface="Lato"/>
                <a:cs typeface="Lato"/>
              </a:rPr>
              <a:t>Reproducible analysis</a:t>
            </a:r>
          </a:p>
        </p:txBody>
      </p:sp>
      <p:sp>
        <p:nvSpPr>
          <p:cNvPr id="43" name="">
            <a:extLst xmlns:a="http://schemas.openxmlformats.org/drawingml/2006/main">
              <a:ext uri="{FF2B5EF4-FFF2-40B4-BE49-F238E27FC236}">
                <a16:creationId xmlns:a16="http://schemas.microsoft.com/office/drawing/2014/main" id="{C848F287-1DD1-4EFD-AD2E-B823B6CC0C48}"/>
              </a:ext>
            </a:extLst>
          </p:cNvPr>
          <p:cNvSpPr>
            <a:spLocks xmlns:a="http://schemas.openxmlformats.org/drawingml/2006/main" noGrp="1"/>
          </p:cNvSpPr>
          <p:nvPr/>
        </p:nvSpPr>
        <p:spPr>
          <a:xfrm xmlns:a="http://schemas.openxmlformats.org/drawingml/2006/main">
            <a:off x="6543675" y="4610100"/>
            <a:ext cx="9525" cy="33337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FED107D8-7596-4D1B-A904-8BAA738FBA29}"/>
              </a:ext>
            </a:extLst>
          </p:cNvPr>
          <p:cNvSpPr>
            <a:spLocks xmlns:a="http://schemas.openxmlformats.org/drawingml/2006/main" noGrp="1"/>
          </p:cNvSpPr>
          <p:nvPr/>
        </p:nvSpPr>
        <p:spPr>
          <a:xfrm xmlns:a="http://schemas.openxmlformats.org/drawingml/2006/main">
            <a:off x="6724650" y="46958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12304E"/>
                </a:solidFill>
                <a:latin typeface="Lato"/>
                <a:ea typeface="Lato"/>
                <a:cs typeface="Lato"/>
              </a:defRPr>
            </a:pPr>
            <a:r>
              <a:rPr sz="1125" b="1" i="0">
                <a:solidFill>
                  <a:srgbClr val="12304E"/>
                </a:solidFill>
                <a:latin typeface="Lato"/>
                <a:ea typeface="Lato"/>
                <a:cs typeface="Lato"/>
              </a:rPr>
              <a:t>Downstream models</a:t>
            </a:r>
          </a:p>
        </p:txBody>
      </p:sp>
      <p:sp>
        <p:nvSpPr>
          <p:cNvPr id="45" name="">
            <a:extLst xmlns:a="http://schemas.openxmlformats.org/drawingml/2006/main">
              <a:ext uri="{FF2B5EF4-FFF2-40B4-BE49-F238E27FC236}">
                <a16:creationId xmlns:a16="http://schemas.microsoft.com/office/drawing/2014/main" id="{AAF0FE1E-5FCA-4C42-963E-20F7F9B621D9}"/>
              </a:ext>
            </a:extLst>
          </p:cNvPr>
          <p:cNvSpPr>
            <a:spLocks xmlns:a="http://schemas.openxmlformats.org/drawingml/2006/main" noGrp="1"/>
          </p:cNvSpPr>
          <p:nvPr/>
        </p:nvSpPr>
        <p:spPr>
          <a:xfrm xmlns:a="http://schemas.openxmlformats.org/drawingml/2006/main">
            <a:off x="8734425" y="4610100"/>
            <a:ext cx="9525" cy="33337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6DD5538B-45E4-4B64-ADAE-AA7F54BFBC6E}"/>
              </a:ext>
            </a:extLst>
          </p:cNvPr>
          <p:cNvSpPr>
            <a:spLocks xmlns:a="http://schemas.openxmlformats.org/drawingml/2006/main" noGrp="1"/>
          </p:cNvSpPr>
          <p:nvPr/>
        </p:nvSpPr>
        <p:spPr>
          <a:xfrm xmlns:a="http://schemas.openxmlformats.org/drawingml/2006/main">
            <a:off x="8915400" y="4695825"/>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4000"/>
              </a:lnSpc>
              <a:buNone/>
              <a:defRPr sz="1125" b="1" i="0">
                <a:solidFill>
                  <a:srgbClr val="12304E"/>
                </a:solidFill>
                <a:latin typeface="Lato"/>
                <a:ea typeface="Lato"/>
                <a:cs typeface="Lato"/>
              </a:defRPr>
            </a:pPr>
            <a:r>
              <a:rPr sz="1125" b="1" i="0">
                <a:solidFill>
                  <a:srgbClr val="12304E"/>
                </a:solidFill>
                <a:latin typeface="Lato"/>
                <a:ea typeface="Lato"/>
                <a:cs typeface="Lato"/>
              </a:rPr>
              <a:t>Country systems</a:t>
            </a:r>
          </a:p>
        </p:txBody>
      </p:sp>
      <p:sp>
        <p:nvSpPr>
          <p:cNvPr id="47" name="">
            <a:extLst xmlns:a="http://schemas.openxmlformats.org/drawingml/2006/main">
              <a:ext uri="{FF2B5EF4-FFF2-40B4-BE49-F238E27FC236}">
                <a16:creationId xmlns:a16="http://schemas.microsoft.com/office/drawing/2014/main" id="{8286F1DF-775E-48FC-A034-159DE3A15B66}"/>
              </a:ext>
            </a:extLst>
          </p:cNvPr>
          <p:cNvSpPr>
            <a:spLocks xmlns:a="http://schemas.openxmlformats.org/drawingml/2006/main" noGrp="1"/>
          </p:cNvSpPr>
          <p:nvPr/>
        </p:nvSpPr>
        <p:spPr>
          <a:xfrm xmlns:a="http://schemas.openxmlformats.org/drawingml/2006/main">
            <a:off x="2190750" y="5495925"/>
            <a:ext cx="8991600" cy="41910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5E2"/>
            </a:solidFill>
          </a:ln>
        </p:spPr>
      </p:sp>
      <p:sp>
        <p:nvSpPr>
          <p:cNvPr id="48" name="">
            <a:extLst xmlns:a="http://schemas.openxmlformats.org/drawingml/2006/main">
              <a:ext uri="{FF2B5EF4-FFF2-40B4-BE49-F238E27FC236}">
                <a16:creationId xmlns:a16="http://schemas.microsoft.com/office/drawing/2014/main" id="{1D040D82-5916-4072-979E-5D157DF4A6A0}"/>
              </a:ext>
            </a:extLst>
          </p:cNvPr>
          <p:cNvSpPr>
            <a:spLocks xmlns:a="http://schemas.openxmlformats.org/drawingml/2006/main" noGrp="1"/>
          </p:cNvSpPr>
          <p:nvPr/>
        </p:nvSpPr>
        <p:spPr>
          <a:xfrm xmlns:a="http://schemas.openxmlformats.org/drawingml/2006/main">
            <a:off x="2409825" y="5591175"/>
            <a:ext cx="85534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200" b="1" i="0">
                <a:solidFill>
                  <a:srgbClr val="12304E"/>
                </a:solidFill>
                <a:latin typeface="Lato"/>
                <a:ea typeface="Lato"/>
                <a:cs typeface="Lato"/>
              </a:defRPr>
            </a:pPr>
            <a:r>
              <a:rPr sz="1200" b="1" i="0">
                <a:solidFill>
                  <a:srgbClr val="12304E"/>
                </a:solidFill>
                <a:latin typeface="Lato"/>
                <a:ea typeface="Lato"/>
                <a:cs typeface="Lato"/>
              </a:rPr>
              <a:t>Interfaces differ by user group; dataset identifiers, processing rules and provenance use the same backend.</a:t>
            </a:r>
          </a:p>
        </p:txBody>
      </p:sp>
    </p:spTree>
    <p:extLst>
      <p:ext uri="{BB962C8B-B14F-4D97-AF65-F5344CB8AC3E}">
        <p14:creationId xmlns:p14="http://schemas.microsoft.com/office/powerpoint/2010/main" val="1817359970"/>
      </p:ext>
    </p:extLst>
  </p:cSld>
</p:sld>
</file>

<file path=ppt/slides/slide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DFFAB234-BA16-40E5-90DC-895E5320042A}"/>
              </a:ext>
            </a:extLst>
          </p:cNvPr>
          <p:cNvSpPr>
            <a:spLocks xmlns:a="http://schemas.openxmlformats.org/drawingml/2006/main" noGrp="1"/>
          </p:cNvSpPr>
          <p:nvPr/>
        </p:nvSpPr>
        <p:spPr>
          <a:xfrm xmlns:a="http://schemas.openxmlformats.org/drawingml/2006/main">
            <a:off x="628650" y="4000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i="0">
                <a:solidFill>
                  <a:srgbClr val="12304E"/>
                </a:solidFill>
                <a:latin typeface="Lato"/>
                <a:ea typeface="Lato"/>
                <a:cs typeface="Lato"/>
              </a:defRPr>
            </a:pPr>
            <a:r>
              <a:rPr sz="2325" b="1" i="0">
                <a:solidFill>
                  <a:srgbClr val="12304E"/>
                </a:solidFill>
                <a:latin typeface="Lato"/>
                <a:ea typeface="Lato"/>
                <a:cs typeface="Lato"/>
              </a:rPr>
              <a:t>Analytical workflow for CORDEX data</a:t>
            </a:r>
          </a:p>
        </p:txBody>
      </p:sp>
      <p:sp>
        <p:nvSpPr>
          <p:cNvPr id="2" name="">
            <a:extLst xmlns:a="http://schemas.openxmlformats.org/drawingml/2006/main">
              <a:ext uri="{FF2B5EF4-FFF2-40B4-BE49-F238E27FC236}">
                <a16:creationId xmlns:a16="http://schemas.microsoft.com/office/drawing/2014/main" id="{0DFE099C-F67F-497F-9EFD-70CBAD5EE968}"/>
              </a:ext>
            </a:extLst>
          </p:cNvPr>
          <p:cNvSpPr>
            <a:spLocks xmlns:a="http://schemas.openxmlformats.org/drawingml/2006/main" noGrp="1"/>
          </p:cNvSpPr>
          <p:nvPr/>
        </p:nvSpPr>
        <p:spPr>
          <a:xfrm xmlns:a="http://schemas.openxmlformats.org/drawingml/2006/main">
            <a:off x="647700" y="9620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687984"/>
                </a:solidFill>
                <a:latin typeface="Lato"/>
                <a:ea typeface="Lato"/>
                <a:cs typeface="Lato"/>
              </a:defRPr>
            </a:pPr>
            <a:r>
              <a:rPr sz="1125" b="0" i="0">
                <a:solidFill>
                  <a:srgbClr val="687984"/>
                </a:solidFill>
                <a:latin typeface="Lato"/>
                <a:ea typeface="Lato"/>
                <a:cs typeface="Lato"/>
              </a:rPr>
              <a:t>The workflow separates data operations from interpretation and records the main uncertainty choices</a:t>
            </a:r>
          </a:p>
        </p:txBody>
      </p:sp>
      <p:sp>
        <p:nvSpPr>
          <p:cNvPr id="3" name="">
            <a:extLst xmlns:a="http://schemas.openxmlformats.org/drawingml/2006/main">
              <a:ext uri="{FF2B5EF4-FFF2-40B4-BE49-F238E27FC236}">
                <a16:creationId xmlns:a16="http://schemas.microsoft.com/office/drawing/2014/main" id="{ACD01909-705D-4577-A67D-63B9B8439F83}"/>
              </a:ext>
            </a:extLst>
          </p:cNvPr>
          <p:cNvSpPr>
            <a:spLocks xmlns:a="http://schemas.openxmlformats.org/drawingml/2006/main" noGrp="1"/>
          </p:cNvSpPr>
          <p:nvPr/>
        </p:nvSpPr>
        <p:spPr>
          <a:xfrm xmlns:a="http://schemas.openxmlformats.org/drawingml/2006/main">
            <a:off x="647700" y="13430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F75B6D5-3F48-45D4-836E-67C32290B91A}"/>
              </a:ext>
            </a:extLst>
          </p:cNvPr>
          <p:cNvSpPr>
            <a:spLocks xmlns:a="http://schemas.openxmlformats.org/drawingml/2006/main" noGrp="1"/>
          </p:cNvSpPr>
          <p:nvPr/>
        </p:nvSpPr>
        <p:spPr>
          <a:xfrm xmlns:a="http://schemas.openxmlformats.org/drawingml/2006/main">
            <a:off x="657225" y="1457325"/>
            <a:ext cx="9906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57EAF07-CF63-403E-BF8C-E00A296E574F}"/>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1BC392E-6D88-413B-A815-191BB378C0D7}"/>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50" b="1" i="0">
                <a:solidFill>
                  <a:srgbClr val="687984"/>
                </a:solidFill>
                <a:latin typeface="Lato"/>
                <a:ea typeface="Lato"/>
                <a:cs typeface="Lato"/>
              </a:defRPr>
            </a:pPr>
            <a:r>
              <a:rPr sz="750" b="1" i="0">
                <a:solidFill>
                  <a:srgbClr val="687984"/>
                </a:solidFill>
                <a:latin typeface="Lato"/>
                <a:ea typeface="Lato"/>
                <a:cs typeface="Lato"/>
              </a:rPr>
              <a:t>CAVA × CORDEX</a:t>
            </a:r>
          </a:p>
        </p:txBody>
      </p:sp>
      <p:sp>
        <p:nvSpPr>
          <p:cNvPr id="7" name="">
            <a:extLst xmlns:a="http://schemas.openxmlformats.org/drawingml/2006/main">
              <a:ext uri="{FF2B5EF4-FFF2-40B4-BE49-F238E27FC236}">
                <a16:creationId xmlns:a16="http://schemas.microsoft.com/office/drawing/2014/main" id="{90C0397C-0F0A-4D03-881D-F12FB5E3EE6D}"/>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750" b="0" i="0">
                <a:solidFill>
                  <a:srgbClr val="687984"/>
                </a:solidFill>
                <a:latin typeface="Lato"/>
                <a:ea typeface="Lato"/>
                <a:cs typeface="Lato"/>
              </a:defRPr>
            </a:pPr>
            <a:r>
              <a:rPr sz="750" b="0" i="0">
                <a:solidFill>
                  <a:srgbClr val="687984"/>
                </a:solidFill>
                <a:latin typeface="Lato"/>
                <a:ea typeface="Lato"/>
                <a:cs typeface="Lato"/>
              </a:rPr>
              <a:t>08</a:t>
            </a:r>
          </a:p>
        </p:txBody>
      </p:sp>
      <p:sp>
        <p:nvSpPr>
          <p:cNvPr id="8" name="">
            <a:extLst xmlns:a="http://schemas.openxmlformats.org/drawingml/2006/main">
              <a:ext uri="{FF2B5EF4-FFF2-40B4-BE49-F238E27FC236}">
                <a16:creationId xmlns:a16="http://schemas.microsoft.com/office/drawing/2014/main" id="{702DFEE7-0A81-4BE4-9CA5-18C98119B648}"/>
              </a:ext>
            </a:extLst>
          </p:cNvPr>
          <p:cNvSpPr>
            <a:spLocks xmlns:a="http://schemas.openxmlformats.org/drawingml/2006/main" noGrp="1"/>
          </p:cNvSpPr>
          <p:nvPr/>
        </p:nvSpPr>
        <p:spPr>
          <a:xfrm xmlns:a="http://schemas.openxmlformats.org/drawingml/2006/main">
            <a:off x="704850" y="1885950"/>
            <a:ext cx="33337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CE5E2"/>
            </a:solidFill>
          </a:ln>
        </p:spPr>
      </p:sp>
      <p:sp>
        <p:nvSpPr>
          <p:cNvPr id="9" name="">
            <a:extLst xmlns:a="http://schemas.openxmlformats.org/drawingml/2006/main">
              <a:ext uri="{FF2B5EF4-FFF2-40B4-BE49-F238E27FC236}">
                <a16:creationId xmlns:a16="http://schemas.microsoft.com/office/drawing/2014/main" id="{FA0DD161-22FA-4B5F-BCB5-5B2850AE3514}"/>
              </a:ext>
            </a:extLst>
          </p:cNvPr>
          <p:cNvSpPr>
            <a:spLocks xmlns:a="http://schemas.openxmlformats.org/drawingml/2006/main" noGrp="1"/>
          </p:cNvSpPr>
          <p:nvPr/>
        </p:nvSpPr>
        <p:spPr>
          <a:xfrm xmlns:a="http://schemas.openxmlformats.org/drawingml/2006/main">
            <a:off x="914400" y="2057400"/>
            <a:ext cx="45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00A88F"/>
                </a:solidFill>
                <a:latin typeface="Lato"/>
                <a:ea typeface="Lato"/>
                <a:cs typeface="Lato"/>
              </a:defRPr>
            </a:pPr>
            <a:r>
              <a:rPr sz="1425" b="1" i="0">
                <a:solidFill>
                  <a:srgbClr val="00A88F"/>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A3278AC6-F09D-41E8-88FE-B162FA3AF47B}"/>
              </a:ext>
            </a:extLst>
          </p:cNvPr>
          <p:cNvSpPr>
            <a:spLocks xmlns:a="http://schemas.openxmlformats.org/drawingml/2006/main" noGrp="1"/>
          </p:cNvSpPr>
          <p:nvPr/>
        </p:nvSpPr>
        <p:spPr>
          <a:xfrm xmlns:a="http://schemas.openxmlformats.org/drawingml/2006/main">
            <a:off x="1447800" y="2047875"/>
            <a:ext cx="2286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12304E"/>
                </a:solidFill>
                <a:latin typeface="Lato"/>
                <a:ea typeface="Lato"/>
                <a:cs typeface="Lato"/>
              </a:defRPr>
            </a:pPr>
            <a:r>
              <a:rPr sz="1500" b="1" i="0">
                <a:solidFill>
                  <a:srgbClr val="12304E"/>
                </a:solidFill>
                <a:latin typeface="Lato"/>
                <a:ea typeface="Lato"/>
                <a:cs typeface="Lato"/>
              </a:rPr>
              <a:t>Scope</a:t>
            </a:r>
          </a:p>
        </p:txBody>
      </p:sp>
      <p:sp>
        <p:nvSpPr>
          <p:cNvPr id="11" name="">
            <a:extLst xmlns:a="http://schemas.openxmlformats.org/drawingml/2006/main">
              <a:ext uri="{FF2B5EF4-FFF2-40B4-BE49-F238E27FC236}">
                <a16:creationId xmlns:a16="http://schemas.microsoft.com/office/drawing/2014/main" id="{02AF6F34-7722-409B-94A1-E60E97F73D68}"/>
              </a:ext>
            </a:extLst>
          </p:cNvPr>
          <p:cNvSpPr>
            <a:spLocks xmlns:a="http://schemas.openxmlformats.org/drawingml/2006/main" noGrp="1"/>
          </p:cNvSpPr>
          <p:nvPr/>
        </p:nvSpPr>
        <p:spPr>
          <a:xfrm xmlns:a="http://schemas.openxmlformats.org/drawingml/2006/main">
            <a:off x="914400" y="2514600"/>
            <a:ext cx="2914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7000"/>
              </a:lnSpc>
              <a:buNone/>
              <a:defRPr sz="1125" b="0" i="0">
                <a:solidFill>
                  <a:srgbClr val="687984"/>
                </a:solidFill>
                <a:latin typeface="Lato"/>
                <a:ea typeface="Lato"/>
                <a:cs typeface="Lato"/>
              </a:defRPr>
            </a:pPr>
            <a:r>
              <a:rPr sz="1125" b="0" i="0">
                <a:solidFill>
                  <a:srgbClr val="687984"/>
                </a:solidFill>
                <a:latin typeface="Lato"/>
                <a:ea typeface="Lato"/>
                <a:cs typeface="Lato"/>
              </a:rPr>
              <a:t>Investment geography and decision</a:t>
            </a:r>
          </a:p>
        </p:txBody>
      </p:sp>
      <p:sp>
        <p:nvSpPr>
          <p:cNvPr id="12" name="">
            <a:extLst xmlns:a="http://schemas.openxmlformats.org/drawingml/2006/main">
              <a:ext uri="{FF2B5EF4-FFF2-40B4-BE49-F238E27FC236}">
                <a16:creationId xmlns:a16="http://schemas.microsoft.com/office/drawing/2014/main" id="{2A4D7128-1E6C-42E7-B1FD-1C237953CD4E}"/>
              </a:ext>
            </a:extLst>
          </p:cNvPr>
          <p:cNvSpPr>
            <a:spLocks xmlns:a="http://schemas.openxmlformats.org/drawingml/2006/main" noGrp="1"/>
          </p:cNvSpPr>
          <p:nvPr/>
        </p:nvSpPr>
        <p:spPr>
          <a:xfrm xmlns:a="http://schemas.openxmlformats.org/drawingml/2006/main">
            <a:off x="4076700" y="2381250"/>
            <a:ext cx="295275" cy="257175"/>
          </a:xfrm>
          <a:prstGeom xmlns:a="http://schemas.openxmlformats.org/drawingml/2006/main" prst="rightArrow">
            <a:avLst/>
          </a:prstGeom>
          <a:solidFill xmlns:a="http://schemas.openxmlformats.org/drawingml/2006/main">
            <a:srgbClr val="00A88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F1CB108-D742-41C5-B373-07812AAA69A0}"/>
              </a:ext>
            </a:extLst>
          </p:cNvPr>
          <p:cNvSpPr>
            <a:spLocks xmlns:a="http://schemas.openxmlformats.org/drawingml/2006/main" noGrp="1"/>
          </p:cNvSpPr>
          <p:nvPr/>
        </p:nvSpPr>
        <p:spPr>
          <a:xfrm xmlns:a="http://schemas.openxmlformats.org/drawingml/2006/main">
            <a:off x="4419600" y="1885950"/>
            <a:ext cx="33337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CE5E2"/>
            </a:solidFill>
          </a:ln>
        </p:spPr>
      </p:sp>
      <p:sp>
        <p:nvSpPr>
          <p:cNvPr id="14" name="">
            <a:extLst xmlns:a="http://schemas.openxmlformats.org/drawingml/2006/main">
              <a:ext uri="{FF2B5EF4-FFF2-40B4-BE49-F238E27FC236}">
                <a16:creationId xmlns:a16="http://schemas.microsoft.com/office/drawing/2014/main" id="{35E61BCF-7A03-4DFC-8618-D5AE7D449C54}"/>
              </a:ext>
            </a:extLst>
          </p:cNvPr>
          <p:cNvSpPr>
            <a:spLocks xmlns:a="http://schemas.openxmlformats.org/drawingml/2006/main" noGrp="1"/>
          </p:cNvSpPr>
          <p:nvPr/>
        </p:nvSpPr>
        <p:spPr>
          <a:xfrm xmlns:a="http://schemas.openxmlformats.org/drawingml/2006/main">
            <a:off x="4629150" y="2057400"/>
            <a:ext cx="45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00A88F"/>
                </a:solidFill>
                <a:latin typeface="Lato"/>
                <a:ea typeface="Lato"/>
                <a:cs typeface="Lato"/>
              </a:defRPr>
            </a:pPr>
            <a:r>
              <a:rPr sz="1425" b="1" i="0">
                <a:solidFill>
                  <a:srgbClr val="00A88F"/>
                </a:solidFill>
                <a:latin typeface="Lato"/>
                <a:ea typeface="Lato"/>
                <a:cs typeface="Lato"/>
              </a:rPr>
              <a:t>02</a:t>
            </a:r>
          </a:p>
        </p:txBody>
      </p:sp>
      <p:sp>
        <p:nvSpPr>
          <p:cNvPr id="15" name="">
            <a:extLst xmlns:a="http://schemas.openxmlformats.org/drawingml/2006/main">
              <a:ext uri="{FF2B5EF4-FFF2-40B4-BE49-F238E27FC236}">
                <a16:creationId xmlns:a16="http://schemas.microsoft.com/office/drawing/2014/main" id="{D3FF4B46-ECC2-4D0E-B0B6-0BFA0C9C022F}"/>
              </a:ext>
            </a:extLst>
          </p:cNvPr>
          <p:cNvSpPr>
            <a:spLocks xmlns:a="http://schemas.openxmlformats.org/drawingml/2006/main" noGrp="1"/>
          </p:cNvSpPr>
          <p:nvPr/>
        </p:nvSpPr>
        <p:spPr>
          <a:xfrm xmlns:a="http://schemas.openxmlformats.org/drawingml/2006/main">
            <a:off x="5162550" y="2047875"/>
            <a:ext cx="2286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12304E"/>
                </a:solidFill>
                <a:latin typeface="Lato"/>
                <a:ea typeface="Lato"/>
                <a:cs typeface="Lato"/>
              </a:defRPr>
            </a:pPr>
            <a:r>
              <a:rPr sz="1500" b="1" i="0">
                <a:solidFill>
                  <a:srgbClr val="12304E"/>
                </a:solidFill>
                <a:latin typeface="Lato"/>
                <a:ea typeface="Lato"/>
                <a:cs typeface="Lato"/>
              </a:rPr>
              <a:t>Ensemble design</a:t>
            </a:r>
          </a:p>
        </p:txBody>
      </p:sp>
      <p:sp>
        <p:nvSpPr>
          <p:cNvPr id="16" name="">
            <a:extLst xmlns:a="http://schemas.openxmlformats.org/drawingml/2006/main">
              <a:ext uri="{FF2B5EF4-FFF2-40B4-BE49-F238E27FC236}">
                <a16:creationId xmlns:a16="http://schemas.microsoft.com/office/drawing/2014/main" id="{9C41CBA3-7825-4D5D-B35A-F578930B1A78}"/>
              </a:ext>
            </a:extLst>
          </p:cNvPr>
          <p:cNvSpPr>
            <a:spLocks xmlns:a="http://schemas.openxmlformats.org/drawingml/2006/main" noGrp="1"/>
          </p:cNvSpPr>
          <p:nvPr/>
        </p:nvSpPr>
        <p:spPr>
          <a:xfrm xmlns:a="http://schemas.openxmlformats.org/drawingml/2006/main">
            <a:off x="4629150" y="2514600"/>
            <a:ext cx="2914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7000"/>
              </a:lnSpc>
              <a:buNone/>
              <a:defRPr sz="1125" b="0" i="0">
                <a:solidFill>
                  <a:srgbClr val="687984"/>
                </a:solidFill>
                <a:latin typeface="Lato"/>
                <a:ea typeface="Lato"/>
                <a:cs typeface="Lato"/>
              </a:defRPr>
            </a:pPr>
            <a:r>
              <a:rPr sz="1125" b="0" i="0">
                <a:solidFill>
                  <a:srgbClr val="687984"/>
                </a:solidFill>
                <a:latin typeface="Lato"/>
                <a:ea typeface="Lato"/>
                <a:cs typeface="Lato"/>
              </a:rPr>
              <a:t>Domain, scenarios, GCMs, RCMs and members</a:t>
            </a:r>
          </a:p>
        </p:txBody>
      </p:sp>
      <p:sp>
        <p:nvSpPr>
          <p:cNvPr id="17" name="">
            <a:extLst xmlns:a="http://schemas.openxmlformats.org/drawingml/2006/main">
              <a:ext uri="{FF2B5EF4-FFF2-40B4-BE49-F238E27FC236}">
                <a16:creationId xmlns:a16="http://schemas.microsoft.com/office/drawing/2014/main" id="{31E5140C-7687-46BF-A62F-3E2394343267}"/>
              </a:ext>
            </a:extLst>
          </p:cNvPr>
          <p:cNvSpPr>
            <a:spLocks xmlns:a="http://schemas.openxmlformats.org/drawingml/2006/main" noGrp="1"/>
          </p:cNvSpPr>
          <p:nvPr/>
        </p:nvSpPr>
        <p:spPr>
          <a:xfrm xmlns:a="http://schemas.openxmlformats.org/drawingml/2006/main">
            <a:off x="7791450" y="2381250"/>
            <a:ext cx="295275" cy="257175"/>
          </a:xfrm>
          <a:prstGeom xmlns:a="http://schemas.openxmlformats.org/drawingml/2006/main" prst="rightArrow">
            <a:avLst/>
          </a:prstGeom>
          <a:solidFill xmlns:a="http://schemas.openxmlformats.org/drawingml/2006/main">
            <a:srgbClr val="00A88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CD5C344-75D1-4DDB-86AC-7BD59867EEAD}"/>
              </a:ext>
            </a:extLst>
          </p:cNvPr>
          <p:cNvSpPr>
            <a:spLocks xmlns:a="http://schemas.openxmlformats.org/drawingml/2006/main" noGrp="1"/>
          </p:cNvSpPr>
          <p:nvPr/>
        </p:nvSpPr>
        <p:spPr>
          <a:xfrm xmlns:a="http://schemas.openxmlformats.org/drawingml/2006/main">
            <a:off x="8134350" y="1885950"/>
            <a:ext cx="33337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CE5E2"/>
            </a:solidFill>
          </a:ln>
        </p:spPr>
      </p:sp>
      <p:sp>
        <p:nvSpPr>
          <p:cNvPr id="19" name="">
            <a:extLst xmlns:a="http://schemas.openxmlformats.org/drawingml/2006/main">
              <a:ext uri="{FF2B5EF4-FFF2-40B4-BE49-F238E27FC236}">
                <a16:creationId xmlns:a16="http://schemas.microsoft.com/office/drawing/2014/main" id="{6DD01C46-5460-4832-8108-E12BF7F2882A}"/>
              </a:ext>
            </a:extLst>
          </p:cNvPr>
          <p:cNvSpPr>
            <a:spLocks xmlns:a="http://schemas.openxmlformats.org/drawingml/2006/main" noGrp="1"/>
          </p:cNvSpPr>
          <p:nvPr/>
        </p:nvSpPr>
        <p:spPr>
          <a:xfrm xmlns:a="http://schemas.openxmlformats.org/drawingml/2006/main">
            <a:off x="8343900" y="2057400"/>
            <a:ext cx="45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00A88F"/>
                </a:solidFill>
                <a:latin typeface="Lato"/>
                <a:ea typeface="Lato"/>
                <a:cs typeface="Lato"/>
              </a:defRPr>
            </a:pPr>
            <a:r>
              <a:rPr sz="1425" b="1" i="0">
                <a:solidFill>
                  <a:srgbClr val="00A88F"/>
                </a:solidFill>
                <a:latin typeface="Lato"/>
                <a:ea typeface="Lato"/>
                <a:cs typeface="Lato"/>
              </a:rPr>
              <a:t>03</a:t>
            </a:r>
          </a:p>
        </p:txBody>
      </p:sp>
      <p:sp>
        <p:nvSpPr>
          <p:cNvPr id="20" name="">
            <a:extLst xmlns:a="http://schemas.openxmlformats.org/drawingml/2006/main">
              <a:ext uri="{FF2B5EF4-FFF2-40B4-BE49-F238E27FC236}">
                <a16:creationId xmlns:a16="http://schemas.microsoft.com/office/drawing/2014/main" id="{B7C51B49-2D2A-4AB8-8337-EE498CEBF39D}"/>
              </a:ext>
            </a:extLst>
          </p:cNvPr>
          <p:cNvSpPr>
            <a:spLocks xmlns:a="http://schemas.openxmlformats.org/drawingml/2006/main" noGrp="1"/>
          </p:cNvSpPr>
          <p:nvPr/>
        </p:nvSpPr>
        <p:spPr>
          <a:xfrm xmlns:a="http://schemas.openxmlformats.org/drawingml/2006/main">
            <a:off x="8877300" y="2047875"/>
            <a:ext cx="2286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12304E"/>
                </a:solidFill>
                <a:latin typeface="Lato"/>
                <a:ea typeface="Lato"/>
                <a:cs typeface="Lato"/>
              </a:defRPr>
            </a:pPr>
            <a:r>
              <a:rPr sz="1500" b="1" i="0">
                <a:solidFill>
                  <a:srgbClr val="12304E"/>
                </a:solidFill>
                <a:latin typeface="Lato"/>
                <a:ea typeface="Lato"/>
                <a:cs typeface="Lato"/>
              </a:rPr>
              <a:t>Data access</a:t>
            </a:r>
          </a:p>
        </p:txBody>
      </p:sp>
      <p:sp>
        <p:nvSpPr>
          <p:cNvPr id="21" name="">
            <a:extLst xmlns:a="http://schemas.openxmlformats.org/drawingml/2006/main">
              <a:ext uri="{FF2B5EF4-FFF2-40B4-BE49-F238E27FC236}">
                <a16:creationId xmlns:a16="http://schemas.microsoft.com/office/drawing/2014/main" id="{D9D8725B-8294-4357-A2CB-BBD7C4F78004}"/>
              </a:ext>
            </a:extLst>
          </p:cNvPr>
          <p:cNvSpPr>
            <a:spLocks xmlns:a="http://schemas.openxmlformats.org/drawingml/2006/main" noGrp="1"/>
          </p:cNvSpPr>
          <p:nvPr/>
        </p:nvSpPr>
        <p:spPr>
          <a:xfrm xmlns:a="http://schemas.openxmlformats.org/drawingml/2006/main">
            <a:off x="8343900" y="2514600"/>
            <a:ext cx="2914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7000"/>
              </a:lnSpc>
              <a:buNone/>
              <a:defRPr sz="1125" b="0" i="0">
                <a:solidFill>
                  <a:srgbClr val="687984"/>
                </a:solidFill>
                <a:latin typeface="Lato"/>
                <a:ea typeface="Lato"/>
                <a:cs typeface="Lato"/>
              </a:defRPr>
            </a:pPr>
            <a:r>
              <a:rPr sz="1125" b="0" i="0">
                <a:solidFill>
                  <a:srgbClr val="687984"/>
                </a:solidFill>
                <a:latin typeface="Lato"/>
                <a:ea typeface="Lato"/>
                <a:cs typeface="Lato"/>
              </a:rPr>
              <a:t>Spatial and temporal subset with source identifiers</a:t>
            </a:r>
          </a:p>
        </p:txBody>
      </p:sp>
      <p:sp>
        <p:nvSpPr>
          <p:cNvPr id="22" name="">
            <a:extLst xmlns:a="http://schemas.openxmlformats.org/drawingml/2006/main">
              <a:ext uri="{FF2B5EF4-FFF2-40B4-BE49-F238E27FC236}">
                <a16:creationId xmlns:a16="http://schemas.microsoft.com/office/drawing/2014/main" id="{23EDD1D3-CF44-4DAC-8161-997AB46BE9FF}"/>
              </a:ext>
            </a:extLst>
          </p:cNvPr>
          <p:cNvSpPr>
            <a:spLocks xmlns:a="http://schemas.openxmlformats.org/drawingml/2006/main" noGrp="1"/>
          </p:cNvSpPr>
          <p:nvPr/>
        </p:nvSpPr>
        <p:spPr>
          <a:xfrm xmlns:a="http://schemas.openxmlformats.org/drawingml/2006/main">
            <a:off x="10782300" y="3152775"/>
            <a:ext cx="266700" cy="438150"/>
          </a:xfrm>
          <a:prstGeom xmlns:a="http://schemas.openxmlformats.org/drawingml/2006/main" prst="downArrow">
            <a:avLst/>
          </a:prstGeom>
          <a:solidFill xmlns:a="http://schemas.openxmlformats.org/drawingml/2006/main">
            <a:srgbClr val="00A88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F635E25-EF14-46A7-BDD0-358D2CAA7D2A}"/>
              </a:ext>
            </a:extLst>
          </p:cNvPr>
          <p:cNvSpPr>
            <a:spLocks xmlns:a="http://schemas.openxmlformats.org/drawingml/2006/main" noGrp="1"/>
          </p:cNvSpPr>
          <p:nvPr/>
        </p:nvSpPr>
        <p:spPr>
          <a:xfrm xmlns:a="http://schemas.openxmlformats.org/drawingml/2006/main">
            <a:off x="704850" y="3638550"/>
            <a:ext cx="33337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CE5E2"/>
            </a:solidFill>
          </a:ln>
        </p:spPr>
      </p:sp>
      <p:sp>
        <p:nvSpPr>
          <p:cNvPr id="24" name="">
            <a:extLst xmlns:a="http://schemas.openxmlformats.org/drawingml/2006/main">
              <a:ext uri="{FF2B5EF4-FFF2-40B4-BE49-F238E27FC236}">
                <a16:creationId xmlns:a16="http://schemas.microsoft.com/office/drawing/2014/main" id="{90360BBE-DF62-49CC-BFF7-34FD502780A4}"/>
              </a:ext>
            </a:extLst>
          </p:cNvPr>
          <p:cNvSpPr>
            <a:spLocks xmlns:a="http://schemas.openxmlformats.org/drawingml/2006/main" noGrp="1"/>
          </p:cNvSpPr>
          <p:nvPr/>
        </p:nvSpPr>
        <p:spPr>
          <a:xfrm xmlns:a="http://schemas.openxmlformats.org/drawingml/2006/main">
            <a:off x="914400" y="3810000"/>
            <a:ext cx="45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00A88F"/>
                </a:solidFill>
                <a:latin typeface="Lato"/>
                <a:ea typeface="Lato"/>
                <a:cs typeface="Lato"/>
              </a:defRPr>
            </a:pPr>
            <a:r>
              <a:rPr sz="1425" b="1" i="0">
                <a:solidFill>
                  <a:srgbClr val="00A88F"/>
                </a:solidFill>
                <a:latin typeface="Lato"/>
                <a:ea typeface="Lato"/>
                <a:cs typeface="Lato"/>
              </a:rPr>
              <a:t>04</a:t>
            </a:r>
          </a:p>
        </p:txBody>
      </p:sp>
      <p:sp>
        <p:nvSpPr>
          <p:cNvPr id="25" name="">
            <a:extLst xmlns:a="http://schemas.openxmlformats.org/drawingml/2006/main">
              <a:ext uri="{FF2B5EF4-FFF2-40B4-BE49-F238E27FC236}">
                <a16:creationId xmlns:a16="http://schemas.microsoft.com/office/drawing/2014/main" id="{EA2A655F-847A-449B-A127-1733B515ED90}"/>
              </a:ext>
            </a:extLst>
          </p:cNvPr>
          <p:cNvSpPr>
            <a:spLocks xmlns:a="http://schemas.openxmlformats.org/drawingml/2006/main" noGrp="1"/>
          </p:cNvSpPr>
          <p:nvPr/>
        </p:nvSpPr>
        <p:spPr>
          <a:xfrm xmlns:a="http://schemas.openxmlformats.org/drawingml/2006/main">
            <a:off x="1447800" y="3800475"/>
            <a:ext cx="2286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12304E"/>
                </a:solidFill>
                <a:latin typeface="Lato"/>
                <a:ea typeface="Lato"/>
                <a:cs typeface="Lato"/>
              </a:defRPr>
            </a:pPr>
            <a:r>
              <a:rPr sz="1500" b="1" i="0">
                <a:solidFill>
                  <a:srgbClr val="12304E"/>
                </a:solidFill>
                <a:latin typeface="Lato"/>
                <a:ea typeface="Lato"/>
                <a:cs typeface="Lato"/>
              </a:rPr>
              <a:t>Preprocessing</a:t>
            </a:r>
          </a:p>
        </p:txBody>
      </p:sp>
      <p:sp>
        <p:nvSpPr>
          <p:cNvPr id="26" name="">
            <a:extLst xmlns:a="http://schemas.openxmlformats.org/drawingml/2006/main">
              <a:ext uri="{FF2B5EF4-FFF2-40B4-BE49-F238E27FC236}">
                <a16:creationId xmlns:a16="http://schemas.microsoft.com/office/drawing/2014/main" id="{B6654E10-2C48-4A71-9FD9-8D1A821D8CD6}"/>
              </a:ext>
            </a:extLst>
          </p:cNvPr>
          <p:cNvSpPr>
            <a:spLocks xmlns:a="http://schemas.openxmlformats.org/drawingml/2006/main" noGrp="1"/>
          </p:cNvSpPr>
          <p:nvPr/>
        </p:nvSpPr>
        <p:spPr>
          <a:xfrm xmlns:a="http://schemas.openxmlformats.org/drawingml/2006/main">
            <a:off x="914400" y="4267200"/>
            <a:ext cx="2914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7000"/>
              </a:lnSpc>
              <a:buNone/>
              <a:defRPr sz="1125" b="0" i="0">
                <a:solidFill>
                  <a:srgbClr val="687984"/>
                </a:solidFill>
                <a:latin typeface="Lato"/>
                <a:ea typeface="Lato"/>
                <a:cs typeface="Lato"/>
              </a:defRPr>
            </a:pPr>
            <a:r>
              <a:rPr sz="1125" b="0" i="0">
                <a:solidFill>
                  <a:srgbClr val="687984"/>
                </a:solidFill>
                <a:latin typeface="Lato"/>
                <a:ea typeface="Lato"/>
                <a:cs typeface="Lato"/>
              </a:rPr>
              <a:t>Grid, calendar, units and optional bias adjustment</a:t>
            </a:r>
          </a:p>
        </p:txBody>
      </p:sp>
      <p:sp>
        <p:nvSpPr>
          <p:cNvPr id="27" name="">
            <a:extLst xmlns:a="http://schemas.openxmlformats.org/drawingml/2006/main">
              <a:ext uri="{FF2B5EF4-FFF2-40B4-BE49-F238E27FC236}">
                <a16:creationId xmlns:a16="http://schemas.microsoft.com/office/drawing/2014/main" id="{C5A259CE-DB7A-4D58-AC6D-9D0D9EDF16FD}"/>
              </a:ext>
            </a:extLst>
          </p:cNvPr>
          <p:cNvSpPr>
            <a:spLocks xmlns:a="http://schemas.openxmlformats.org/drawingml/2006/main" noGrp="1"/>
          </p:cNvSpPr>
          <p:nvPr/>
        </p:nvSpPr>
        <p:spPr>
          <a:xfrm xmlns:a="http://schemas.openxmlformats.org/drawingml/2006/main">
            <a:off x="4076700" y="4133850"/>
            <a:ext cx="295275" cy="257175"/>
          </a:xfrm>
          <a:prstGeom xmlns:a="http://schemas.openxmlformats.org/drawingml/2006/main" prst="rightArrow">
            <a:avLst/>
          </a:prstGeom>
          <a:solidFill xmlns:a="http://schemas.openxmlformats.org/drawingml/2006/main">
            <a:srgbClr val="00A88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BFD587D-2B9A-4275-A760-7FF71E11B148}"/>
              </a:ext>
            </a:extLst>
          </p:cNvPr>
          <p:cNvSpPr>
            <a:spLocks xmlns:a="http://schemas.openxmlformats.org/drawingml/2006/main" noGrp="1"/>
          </p:cNvSpPr>
          <p:nvPr/>
        </p:nvSpPr>
        <p:spPr>
          <a:xfrm xmlns:a="http://schemas.openxmlformats.org/drawingml/2006/main">
            <a:off x="4419600" y="3638550"/>
            <a:ext cx="3333750" cy="125730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9525">
            <a:solidFill>
              <a:srgbClr val="DCE5E2"/>
            </a:solidFill>
          </a:ln>
        </p:spPr>
      </p:sp>
      <p:sp>
        <p:nvSpPr>
          <p:cNvPr id="29" name="">
            <a:extLst xmlns:a="http://schemas.openxmlformats.org/drawingml/2006/main">
              <a:ext uri="{FF2B5EF4-FFF2-40B4-BE49-F238E27FC236}">
                <a16:creationId xmlns:a16="http://schemas.microsoft.com/office/drawing/2014/main" id="{8F218C50-450E-4D4E-AD5E-0FD93ED33CCA}"/>
              </a:ext>
            </a:extLst>
          </p:cNvPr>
          <p:cNvSpPr>
            <a:spLocks xmlns:a="http://schemas.openxmlformats.org/drawingml/2006/main" noGrp="1"/>
          </p:cNvSpPr>
          <p:nvPr/>
        </p:nvSpPr>
        <p:spPr>
          <a:xfrm xmlns:a="http://schemas.openxmlformats.org/drawingml/2006/main">
            <a:off x="4629150" y="3810000"/>
            <a:ext cx="45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00A88F"/>
                </a:solidFill>
                <a:latin typeface="Lato"/>
                <a:ea typeface="Lato"/>
                <a:cs typeface="Lato"/>
              </a:defRPr>
            </a:pPr>
            <a:r>
              <a:rPr sz="1425" b="1" i="0">
                <a:solidFill>
                  <a:srgbClr val="00A88F"/>
                </a:solidFill>
                <a:latin typeface="Lato"/>
                <a:ea typeface="Lato"/>
                <a:cs typeface="Lato"/>
              </a:rPr>
              <a:t>05</a:t>
            </a:r>
          </a:p>
        </p:txBody>
      </p:sp>
      <p:sp>
        <p:nvSpPr>
          <p:cNvPr id="30" name="">
            <a:extLst xmlns:a="http://schemas.openxmlformats.org/drawingml/2006/main">
              <a:ext uri="{FF2B5EF4-FFF2-40B4-BE49-F238E27FC236}">
                <a16:creationId xmlns:a16="http://schemas.microsoft.com/office/drawing/2014/main" id="{D42CED43-0454-4BBA-BA29-BCF4ADC9F594}"/>
              </a:ext>
            </a:extLst>
          </p:cNvPr>
          <p:cNvSpPr>
            <a:spLocks xmlns:a="http://schemas.openxmlformats.org/drawingml/2006/main" noGrp="1"/>
          </p:cNvSpPr>
          <p:nvPr/>
        </p:nvSpPr>
        <p:spPr>
          <a:xfrm xmlns:a="http://schemas.openxmlformats.org/drawingml/2006/main">
            <a:off x="5162550" y="3800475"/>
            <a:ext cx="2286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12304E"/>
                </a:solidFill>
                <a:latin typeface="Lato"/>
                <a:ea typeface="Lato"/>
                <a:cs typeface="Lato"/>
              </a:defRPr>
            </a:pPr>
            <a:r>
              <a:rPr sz="1500" b="1" i="0">
                <a:solidFill>
                  <a:srgbClr val="12304E"/>
                </a:solidFill>
                <a:latin typeface="Lato"/>
                <a:ea typeface="Lato"/>
                <a:cs typeface="Lato"/>
              </a:rPr>
              <a:t>Indicators</a:t>
            </a:r>
          </a:p>
        </p:txBody>
      </p:sp>
      <p:sp>
        <p:nvSpPr>
          <p:cNvPr id="31" name="">
            <a:extLst xmlns:a="http://schemas.openxmlformats.org/drawingml/2006/main">
              <a:ext uri="{FF2B5EF4-FFF2-40B4-BE49-F238E27FC236}">
                <a16:creationId xmlns:a16="http://schemas.microsoft.com/office/drawing/2014/main" id="{6F244433-540A-4D1C-A73F-0127EABBD6E4}"/>
              </a:ext>
            </a:extLst>
          </p:cNvPr>
          <p:cNvSpPr>
            <a:spLocks xmlns:a="http://schemas.openxmlformats.org/drawingml/2006/main" noGrp="1"/>
          </p:cNvSpPr>
          <p:nvPr/>
        </p:nvSpPr>
        <p:spPr>
          <a:xfrm xmlns:a="http://schemas.openxmlformats.org/drawingml/2006/main">
            <a:off x="4629150" y="4267200"/>
            <a:ext cx="2914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7000"/>
              </a:lnSpc>
              <a:buNone/>
              <a:defRPr sz="1125" b="0" i="0">
                <a:solidFill>
                  <a:srgbClr val="687984"/>
                </a:solidFill>
                <a:latin typeface="Lato"/>
                <a:ea typeface="Lato"/>
                <a:cs typeface="Lato"/>
              </a:defRPr>
            </a:pPr>
            <a:r>
              <a:rPr sz="1125" b="0" i="0">
                <a:solidFill>
                  <a:srgbClr val="687984"/>
                </a:solidFill>
                <a:latin typeface="Lato"/>
                <a:ea typeface="Lato"/>
                <a:cs typeface="Lato"/>
              </a:rPr>
              <a:t>Baseline, future periods and aggregation choices</a:t>
            </a:r>
          </a:p>
        </p:txBody>
      </p:sp>
      <p:sp>
        <p:nvSpPr>
          <p:cNvPr id="32" name="">
            <a:extLst xmlns:a="http://schemas.openxmlformats.org/drawingml/2006/main">
              <a:ext uri="{FF2B5EF4-FFF2-40B4-BE49-F238E27FC236}">
                <a16:creationId xmlns:a16="http://schemas.microsoft.com/office/drawing/2014/main" id="{01973483-2FFA-4285-8542-1F8486DD294C}"/>
              </a:ext>
            </a:extLst>
          </p:cNvPr>
          <p:cNvSpPr>
            <a:spLocks xmlns:a="http://schemas.openxmlformats.org/drawingml/2006/main" noGrp="1"/>
          </p:cNvSpPr>
          <p:nvPr/>
        </p:nvSpPr>
        <p:spPr>
          <a:xfrm xmlns:a="http://schemas.openxmlformats.org/drawingml/2006/main">
            <a:off x="7791450" y="4133850"/>
            <a:ext cx="295275" cy="257175"/>
          </a:xfrm>
          <a:prstGeom xmlns:a="http://schemas.openxmlformats.org/drawingml/2006/main" prst="rightArrow">
            <a:avLst/>
          </a:prstGeom>
          <a:solidFill xmlns:a="http://schemas.openxmlformats.org/drawingml/2006/main">
            <a:srgbClr val="F2B632"/>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EC68B3C3-706A-4473-9D93-A2E395A4B963}"/>
              </a:ext>
            </a:extLst>
          </p:cNvPr>
          <p:cNvSpPr>
            <a:spLocks xmlns:a="http://schemas.openxmlformats.org/drawingml/2006/main" noGrp="1"/>
          </p:cNvSpPr>
          <p:nvPr/>
        </p:nvSpPr>
        <p:spPr>
          <a:xfrm xmlns:a="http://schemas.openxmlformats.org/drawingml/2006/main">
            <a:off x="8134350" y="3638550"/>
            <a:ext cx="3333750" cy="1257300"/>
          </a:xfrm>
          <a:prstGeom xmlns:a="http://schemas.openxmlformats.org/drawingml/2006/main" prst="roundRect">
            <a:avLst>
              <a:gd name="adj" fmla="val 6061"/>
            </a:avLst>
          </a:prstGeom>
          <a:solidFill xmlns:a="http://schemas.openxmlformats.org/drawingml/2006/main">
            <a:srgbClr val="FFF3D1"/>
          </a:solidFill>
          <a:ln xmlns:a="http://schemas.openxmlformats.org/drawingml/2006/main" w="9525">
            <a:solidFill>
              <a:srgbClr val="DCE5E2"/>
            </a:solidFill>
          </a:ln>
        </p:spPr>
      </p:sp>
      <p:sp>
        <p:nvSpPr>
          <p:cNvPr id="34" name="">
            <a:extLst xmlns:a="http://schemas.openxmlformats.org/drawingml/2006/main">
              <a:ext uri="{FF2B5EF4-FFF2-40B4-BE49-F238E27FC236}">
                <a16:creationId xmlns:a16="http://schemas.microsoft.com/office/drawing/2014/main" id="{204BAD46-758F-4F0C-8805-324EB97AC91F}"/>
              </a:ext>
            </a:extLst>
          </p:cNvPr>
          <p:cNvSpPr>
            <a:spLocks xmlns:a="http://schemas.openxmlformats.org/drawingml/2006/main" noGrp="1"/>
          </p:cNvSpPr>
          <p:nvPr/>
        </p:nvSpPr>
        <p:spPr>
          <a:xfrm xmlns:a="http://schemas.openxmlformats.org/drawingml/2006/main">
            <a:off x="8343900" y="3810000"/>
            <a:ext cx="45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F2B632"/>
                </a:solidFill>
                <a:latin typeface="Lato"/>
                <a:ea typeface="Lato"/>
                <a:cs typeface="Lato"/>
              </a:defRPr>
            </a:pPr>
            <a:r>
              <a:rPr sz="1425" b="1" i="0">
                <a:solidFill>
                  <a:srgbClr val="F2B632"/>
                </a:solidFill>
                <a:latin typeface="Lato"/>
                <a:ea typeface="Lato"/>
                <a:cs typeface="Lato"/>
              </a:rPr>
              <a:t>06</a:t>
            </a:r>
          </a:p>
        </p:txBody>
      </p:sp>
      <p:sp>
        <p:nvSpPr>
          <p:cNvPr id="35" name="">
            <a:extLst xmlns:a="http://schemas.openxmlformats.org/drawingml/2006/main">
              <a:ext uri="{FF2B5EF4-FFF2-40B4-BE49-F238E27FC236}">
                <a16:creationId xmlns:a16="http://schemas.microsoft.com/office/drawing/2014/main" id="{1DEE6344-1779-450F-924C-5347F270E928}"/>
              </a:ext>
            </a:extLst>
          </p:cNvPr>
          <p:cNvSpPr>
            <a:spLocks xmlns:a="http://schemas.openxmlformats.org/drawingml/2006/main" noGrp="1"/>
          </p:cNvSpPr>
          <p:nvPr/>
        </p:nvSpPr>
        <p:spPr>
          <a:xfrm xmlns:a="http://schemas.openxmlformats.org/drawingml/2006/main">
            <a:off x="8877300" y="3800475"/>
            <a:ext cx="2286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1" i="0">
                <a:solidFill>
                  <a:srgbClr val="12304E"/>
                </a:solidFill>
                <a:latin typeface="Lato"/>
                <a:ea typeface="Lato"/>
                <a:cs typeface="Lato"/>
              </a:defRPr>
            </a:pPr>
            <a:r>
              <a:rPr sz="1500" b="1" i="0">
                <a:solidFill>
                  <a:srgbClr val="12304E"/>
                </a:solidFill>
                <a:latin typeface="Lato"/>
                <a:ea typeface="Lato"/>
                <a:cs typeface="Lato"/>
              </a:rPr>
              <a:t>Interpretation</a:t>
            </a:r>
          </a:p>
        </p:txBody>
      </p:sp>
      <p:sp>
        <p:nvSpPr>
          <p:cNvPr id="36" name="">
            <a:extLst xmlns:a="http://schemas.openxmlformats.org/drawingml/2006/main">
              <a:ext uri="{FF2B5EF4-FFF2-40B4-BE49-F238E27FC236}">
                <a16:creationId xmlns:a16="http://schemas.microsoft.com/office/drawing/2014/main" id="{B7221539-A2FC-46D3-A672-DDD4EDEC0421}"/>
              </a:ext>
            </a:extLst>
          </p:cNvPr>
          <p:cNvSpPr>
            <a:spLocks xmlns:a="http://schemas.openxmlformats.org/drawingml/2006/main" noGrp="1"/>
          </p:cNvSpPr>
          <p:nvPr/>
        </p:nvSpPr>
        <p:spPr>
          <a:xfrm xmlns:a="http://schemas.openxmlformats.org/drawingml/2006/main">
            <a:off x="8343900" y="4267200"/>
            <a:ext cx="2914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7000"/>
              </a:lnSpc>
              <a:buNone/>
              <a:defRPr sz="1125" b="0" i="0">
                <a:solidFill>
                  <a:srgbClr val="687984"/>
                </a:solidFill>
                <a:latin typeface="Lato"/>
                <a:ea typeface="Lato"/>
                <a:cs typeface="Lato"/>
              </a:defRPr>
            </a:pPr>
            <a:r>
              <a:rPr sz="1125" b="0" i="0">
                <a:solidFill>
                  <a:srgbClr val="687984"/>
                </a:solidFill>
                <a:latin typeface="Lato"/>
                <a:ea typeface="Lato"/>
                <a:cs typeface="Lato"/>
              </a:rPr>
              <a:t>Signal, spread, limitations and relevance to the decision</a:t>
            </a:r>
          </a:p>
        </p:txBody>
      </p:sp>
      <p:sp>
        <p:nvSpPr>
          <p:cNvPr id="37" name="">
            <a:extLst xmlns:a="http://schemas.openxmlformats.org/drawingml/2006/main">
              <a:ext uri="{FF2B5EF4-FFF2-40B4-BE49-F238E27FC236}">
                <a16:creationId xmlns:a16="http://schemas.microsoft.com/office/drawing/2014/main" id="{B3DCC254-14EB-411C-82CD-EC40380BCAAB}"/>
              </a:ext>
            </a:extLst>
          </p:cNvPr>
          <p:cNvSpPr>
            <a:spLocks xmlns:a="http://schemas.openxmlformats.org/drawingml/2006/main" noGrp="1"/>
          </p:cNvSpPr>
          <p:nvPr/>
        </p:nvSpPr>
        <p:spPr>
          <a:xfrm xmlns:a="http://schemas.openxmlformats.org/drawingml/2006/main">
            <a:off x="704850" y="5391150"/>
            <a:ext cx="10763250" cy="466725"/>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35800270-8547-42BD-9152-35BB0A687369}"/>
              </a:ext>
            </a:extLst>
          </p:cNvPr>
          <p:cNvSpPr>
            <a:spLocks xmlns:a="http://schemas.openxmlformats.org/drawingml/2006/main" noGrp="1"/>
          </p:cNvSpPr>
          <p:nvPr/>
        </p:nvSpPr>
        <p:spPr>
          <a:xfrm xmlns:a="http://schemas.openxmlformats.org/drawingml/2006/main">
            <a:off x="933450" y="5514975"/>
            <a:ext cx="10306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275" b="1" i="0">
                <a:solidFill>
                  <a:srgbClr val="FFFFFF"/>
                </a:solidFill>
                <a:latin typeface="Lato"/>
                <a:ea typeface="Lato"/>
                <a:cs typeface="Lato"/>
              </a:defRPr>
            </a:pPr>
            <a:r>
              <a:rPr sz="1275" b="1" i="0">
                <a:solidFill>
                  <a:srgbClr val="FFFFFF"/>
                </a:solidFill>
                <a:latin typeface="Lato"/>
                <a:ea typeface="Lato"/>
                <a:cs typeface="Lato"/>
              </a:rPr>
              <a:t>Outputs should report ensemble composition, reference period, transformations and uncertainty alongside the indicator.</a:t>
            </a:r>
          </a:p>
        </p:txBody>
      </p:sp>
    </p:spTree>
    <p:extLst>
      <p:ext uri="{BB962C8B-B14F-4D97-AF65-F5344CB8AC3E}">
        <p14:creationId xmlns:p14="http://schemas.microsoft.com/office/powerpoint/2010/main" val="695824342"/>
      </p:ext>
    </p:extLst>
  </p:cSld>
</p:sld>
</file>

<file path=ppt/slides/slide9.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8501C2A-FB52-4A12-AD39-CC919DA12F3D}"/>
              </a:ext>
            </a:extLst>
          </p:cNvPr>
          <p:cNvSpPr>
            <a:spLocks xmlns:a="http://schemas.openxmlformats.org/drawingml/2006/main" noGrp="1"/>
          </p:cNvSpPr>
          <p:nvPr/>
        </p:nvSpPr>
        <p:spPr>
          <a:xfrm xmlns:a="http://schemas.openxmlformats.org/drawingml/2006/main">
            <a:off x="628650" y="4000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i="0">
                <a:solidFill>
                  <a:srgbClr val="12304E"/>
                </a:solidFill>
                <a:latin typeface="Lato"/>
                <a:ea typeface="Lato"/>
                <a:cs typeface="Lato"/>
              </a:defRPr>
            </a:pPr>
            <a:r>
              <a:rPr sz="2325" b="1" i="0">
                <a:solidFill>
                  <a:srgbClr val="12304E"/>
                </a:solidFill>
                <a:latin typeface="Lato"/>
                <a:ea typeface="Lato"/>
                <a:cs typeface="Lato"/>
              </a:rPr>
              <a:t>Current evidence base for investment applications</a:t>
            </a:r>
          </a:p>
        </p:txBody>
      </p:sp>
      <p:sp>
        <p:nvSpPr>
          <p:cNvPr id="2" name="">
            <a:extLst xmlns:a="http://schemas.openxmlformats.org/drawingml/2006/main">
              <a:ext uri="{FF2B5EF4-FFF2-40B4-BE49-F238E27FC236}">
                <a16:creationId xmlns:a16="http://schemas.microsoft.com/office/drawing/2014/main" id="{62485C6A-E238-4853-B9A9-02D43893E826}"/>
              </a:ext>
            </a:extLst>
          </p:cNvPr>
          <p:cNvSpPr>
            <a:spLocks xmlns:a="http://schemas.openxmlformats.org/drawingml/2006/main" noGrp="1"/>
          </p:cNvSpPr>
          <p:nvPr/>
        </p:nvSpPr>
        <p:spPr>
          <a:xfrm xmlns:a="http://schemas.openxmlformats.org/drawingml/2006/main">
            <a:off x="647700" y="9620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687984"/>
                </a:solidFill>
                <a:latin typeface="Lato"/>
                <a:ea typeface="Lato"/>
                <a:cs typeface="Lato"/>
              </a:defRPr>
            </a:pPr>
            <a:r>
              <a:rPr sz="1125" b="0" i="0">
                <a:solidFill>
                  <a:srgbClr val="687984"/>
                </a:solidFill>
                <a:latin typeface="Lato"/>
                <a:ea typeface="Lato"/>
                <a:cs typeface="Lato"/>
              </a:rPr>
              <a:t>Portfolio estimates require a defined denominator, time period and attribution rule</a:t>
            </a:r>
          </a:p>
        </p:txBody>
      </p:sp>
      <p:sp>
        <p:nvSpPr>
          <p:cNvPr id="3" name="">
            <a:extLst xmlns:a="http://schemas.openxmlformats.org/drawingml/2006/main">
              <a:ext uri="{FF2B5EF4-FFF2-40B4-BE49-F238E27FC236}">
                <a16:creationId xmlns:a16="http://schemas.microsoft.com/office/drawing/2014/main" id="{7EF03641-8032-46F0-BB62-51D4C2539AB1}"/>
              </a:ext>
            </a:extLst>
          </p:cNvPr>
          <p:cNvSpPr>
            <a:spLocks xmlns:a="http://schemas.openxmlformats.org/drawingml/2006/main" noGrp="1"/>
          </p:cNvSpPr>
          <p:nvPr/>
        </p:nvSpPr>
        <p:spPr>
          <a:xfrm xmlns:a="http://schemas.openxmlformats.org/drawingml/2006/main">
            <a:off x="647700" y="13430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6079966-385A-41CE-BD8B-CA4495528AC7}"/>
              </a:ext>
            </a:extLst>
          </p:cNvPr>
          <p:cNvSpPr>
            <a:spLocks xmlns:a="http://schemas.openxmlformats.org/drawingml/2006/main" noGrp="1"/>
          </p:cNvSpPr>
          <p:nvPr/>
        </p:nvSpPr>
        <p:spPr>
          <a:xfrm xmlns:a="http://schemas.openxmlformats.org/drawingml/2006/main">
            <a:off x="657225" y="1457325"/>
            <a:ext cx="9906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4DFA0A1-C1A4-43D7-B21C-1DF3B9F58F1A}"/>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B966F29-ED43-4214-B41E-313E81D09D62}"/>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50" b="1" i="0">
                <a:solidFill>
                  <a:srgbClr val="687984"/>
                </a:solidFill>
                <a:latin typeface="Lato"/>
                <a:ea typeface="Lato"/>
                <a:cs typeface="Lato"/>
              </a:defRPr>
            </a:pPr>
            <a:r>
              <a:rPr sz="750" b="1" i="0">
                <a:solidFill>
                  <a:srgbClr val="687984"/>
                </a:solidFill>
                <a:latin typeface="Lato"/>
                <a:ea typeface="Lato"/>
                <a:cs typeface="Lato"/>
              </a:rPr>
              <a:t>CAVA × CORDEX</a:t>
            </a:r>
          </a:p>
        </p:txBody>
      </p:sp>
      <p:sp>
        <p:nvSpPr>
          <p:cNvPr id="7" name="">
            <a:extLst xmlns:a="http://schemas.openxmlformats.org/drawingml/2006/main">
              <a:ext uri="{FF2B5EF4-FFF2-40B4-BE49-F238E27FC236}">
                <a16:creationId xmlns:a16="http://schemas.microsoft.com/office/drawing/2014/main" id="{AA2F8E17-D739-4771-8812-78466AE9B607}"/>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750" b="0" i="0">
                <a:solidFill>
                  <a:srgbClr val="687984"/>
                </a:solidFill>
                <a:latin typeface="Lato"/>
                <a:ea typeface="Lato"/>
                <a:cs typeface="Lato"/>
              </a:defRPr>
            </a:pPr>
            <a:r>
              <a:rPr sz="750" b="0" i="0">
                <a:solidFill>
                  <a:srgbClr val="687984"/>
                </a:solidFill>
                <a:latin typeface="Lato"/>
                <a:ea typeface="Lato"/>
                <a:cs typeface="Lato"/>
              </a:rPr>
              <a:t>09</a:t>
            </a:r>
          </a:p>
        </p:txBody>
      </p:sp>
      <p:sp>
        <p:nvSpPr>
          <p:cNvPr id="8" name="">
            <a:extLst xmlns:a="http://schemas.openxmlformats.org/drawingml/2006/main">
              <a:ext uri="{FF2B5EF4-FFF2-40B4-BE49-F238E27FC236}">
                <a16:creationId xmlns:a16="http://schemas.microsoft.com/office/drawing/2014/main" id="{34561273-673E-478C-AA27-63F7E20D8149}"/>
              </a:ext>
            </a:extLst>
          </p:cNvPr>
          <p:cNvSpPr>
            <a:spLocks xmlns:a="http://schemas.openxmlformats.org/drawingml/2006/main" noGrp="1"/>
          </p:cNvSpPr>
          <p:nvPr/>
        </p:nvSpPr>
        <p:spPr>
          <a:xfrm xmlns:a="http://schemas.openxmlformats.org/drawingml/2006/main">
            <a:off x="685800" y="1790700"/>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00A88F"/>
                </a:solidFill>
                <a:latin typeface="Lato"/>
                <a:ea typeface="Lato"/>
                <a:cs typeface="Lato"/>
              </a:defRPr>
            </a:pPr>
            <a:r>
              <a:rPr sz="825" b="1" i="0">
                <a:solidFill>
                  <a:srgbClr val="00A88F"/>
                </a:solidFill>
                <a:latin typeface="Lato"/>
                <a:ea typeface="Lato"/>
                <a:cs typeface="Lato"/>
              </a:rPr>
              <a:t>PROVISIONAL PORTFOLIO SUMMARY</a:t>
            </a:r>
          </a:p>
        </p:txBody>
      </p:sp>
      <p:sp>
        <p:nvSpPr>
          <p:cNvPr id="9" name="">
            <a:extLst xmlns:a="http://schemas.openxmlformats.org/drawingml/2006/main">
              <a:ext uri="{FF2B5EF4-FFF2-40B4-BE49-F238E27FC236}">
                <a16:creationId xmlns:a16="http://schemas.microsoft.com/office/drawing/2014/main" id="{FFB568C1-D0AF-472D-8E13-2514525B717C}"/>
              </a:ext>
            </a:extLst>
          </p:cNvPr>
          <p:cNvSpPr>
            <a:spLocks xmlns:a="http://schemas.openxmlformats.org/drawingml/2006/main" noGrp="1"/>
          </p:cNvSpPr>
          <p:nvPr/>
        </p:nvSpPr>
        <p:spPr>
          <a:xfrm xmlns:a="http://schemas.openxmlformats.org/drawingml/2006/main">
            <a:off x="695325" y="215265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1" i="0">
                <a:solidFill>
                  <a:srgbClr val="12304E"/>
                </a:solidFill>
                <a:latin typeface="Lato"/>
                <a:ea typeface="Lato"/>
                <a:cs typeface="Lato"/>
              </a:defRPr>
            </a:pPr>
            <a:r>
              <a:rPr sz="1200" b="1" i="0">
                <a:solidFill>
                  <a:srgbClr val="12304E"/>
                </a:solidFill>
                <a:latin typeface="Lato"/>
                <a:ea typeface="Lato"/>
                <a:cs typeface="Lato"/>
              </a:rPr>
              <a:t>Annual value of projects using CAVA</a:t>
            </a:r>
          </a:p>
        </p:txBody>
      </p:sp>
      <p:sp>
        <p:nvSpPr>
          <p:cNvPr id="10" name="">
            <a:extLst xmlns:a="http://schemas.openxmlformats.org/drawingml/2006/main">
              <a:ext uri="{FF2B5EF4-FFF2-40B4-BE49-F238E27FC236}">
                <a16:creationId xmlns:a16="http://schemas.microsoft.com/office/drawing/2014/main" id="{8AFE84DF-87EA-4DA1-A97E-81CF3079D557}"/>
              </a:ext>
            </a:extLst>
          </p:cNvPr>
          <p:cNvSpPr>
            <a:spLocks xmlns:a="http://schemas.openxmlformats.org/drawingml/2006/main" noGrp="1"/>
          </p:cNvSpPr>
          <p:nvPr/>
        </p:nvSpPr>
        <p:spPr>
          <a:xfrm xmlns:a="http://schemas.openxmlformats.org/drawingml/2006/main">
            <a:off x="3943350" y="2114550"/>
            <a:ext cx="247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1" i="0">
                <a:solidFill>
                  <a:srgbClr val="00A88F"/>
                </a:solidFill>
                <a:latin typeface="Lato"/>
                <a:ea typeface="Lato"/>
                <a:cs typeface="Lato"/>
              </a:defRPr>
            </a:pPr>
            <a:r>
              <a:rPr sz="1875" b="1" i="0">
                <a:solidFill>
                  <a:srgbClr val="00A88F"/>
                </a:solidFill>
                <a:latin typeface="Lato"/>
                <a:ea typeface="Lato"/>
                <a:cs typeface="Lato"/>
              </a:rPr>
              <a:t>$XX million</a:t>
            </a:r>
          </a:p>
        </p:txBody>
      </p:sp>
      <p:sp>
        <p:nvSpPr>
          <p:cNvPr id="11" name="">
            <a:extLst xmlns:a="http://schemas.openxmlformats.org/drawingml/2006/main">
              <a:ext uri="{FF2B5EF4-FFF2-40B4-BE49-F238E27FC236}">
                <a16:creationId xmlns:a16="http://schemas.microsoft.com/office/drawing/2014/main" id="{A90958A7-8C2F-45BE-A21A-68DB83CF4EFE}"/>
              </a:ext>
            </a:extLst>
          </p:cNvPr>
          <p:cNvSpPr>
            <a:spLocks xmlns:a="http://schemas.openxmlformats.org/drawingml/2006/main" noGrp="1"/>
          </p:cNvSpPr>
          <p:nvPr/>
        </p:nvSpPr>
        <p:spPr>
          <a:xfrm xmlns:a="http://schemas.openxmlformats.org/drawingml/2006/main">
            <a:off x="6677025" y="2171700"/>
            <a:ext cx="404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050" b="0" i="0">
                <a:solidFill>
                  <a:srgbClr val="687984"/>
                </a:solidFill>
                <a:latin typeface="Lato"/>
                <a:ea typeface="Lato"/>
                <a:cs typeface="Lato"/>
              </a:defRPr>
            </a:pPr>
            <a:r>
              <a:rPr sz="1050" b="0" i="0">
                <a:solidFill>
                  <a:srgbClr val="687984"/>
                </a:solidFill>
                <a:latin typeface="Lato"/>
                <a:ea typeface="Lato"/>
                <a:cs typeface="Lato"/>
              </a:rPr>
              <a:t>Specify approval year and currency</a:t>
            </a:r>
          </a:p>
        </p:txBody>
      </p:sp>
      <p:sp>
        <p:nvSpPr>
          <p:cNvPr id="12" name="">
            <a:extLst xmlns:a="http://schemas.openxmlformats.org/drawingml/2006/main">
              <a:ext uri="{FF2B5EF4-FFF2-40B4-BE49-F238E27FC236}">
                <a16:creationId xmlns:a16="http://schemas.microsoft.com/office/drawing/2014/main" id="{EC0D3F82-BF69-4BE4-B937-8DF6C9137932}"/>
              </a:ext>
            </a:extLst>
          </p:cNvPr>
          <p:cNvSpPr>
            <a:spLocks xmlns:a="http://schemas.openxmlformats.org/drawingml/2006/main" noGrp="1"/>
          </p:cNvSpPr>
          <p:nvPr/>
        </p:nvSpPr>
        <p:spPr>
          <a:xfrm xmlns:a="http://schemas.openxmlformats.org/drawingml/2006/main">
            <a:off x="685800" y="2695575"/>
            <a:ext cx="10048875"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0CAD8B2-0593-4C75-B575-71E002CC0BC9}"/>
              </a:ext>
            </a:extLst>
          </p:cNvPr>
          <p:cNvSpPr>
            <a:spLocks xmlns:a="http://schemas.openxmlformats.org/drawingml/2006/main" noGrp="1"/>
          </p:cNvSpPr>
          <p:nvPr/>
        </p:nvSpPr>
        <p:spPr>
          <a:xfrm xmlns:a="http://schemas.openxmlformats.org/drawingml/2006/main">
            <a:off x="695325" y="314325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1" i="0">
                <a:solidFill>
                  <a:srgbClr val="12304E"/>
                </a:solidFill>
                <a:latin typeface="Lato"/>
                <a:ea typeface="Lato"/>
                <a:cs typeface="Lato"/>
              </a:defRPr>
            </a:pPr>
            <a:r>
              <a:rPr sz="1200" b="1" i="0">
                <a:solidFill>
                  <a:srgbClr val="12304E"/>
                </a:solidFill>
                <a:latin typeface="Lato"/>
                <a:ea typeface="Lato"/>
                <a:cs typeface="Lato"/>
              </a:rPr>
              <a:t>Geographic coverage</a:t>
            </a:r>
          </a:p>
        </p:txBody>
      </p:sp>
      <p:sp>
        <p:nvSpPr>
          <p:cNvPr id="14" name="">
            <a:extLst xmlns:a="http://schemas.openxmlformats.org/drawingml/2006/main">
              <a:ext uri="{FF2B5EF4-FFF2-40B4-BE49-F238E27FC236}">
                <a16:creationId xmlns:a16="http://schemas.microsoft.com/office/drawing/2014/main" id="{4B519B22-B0AE-4C23-91CE-30FF3CD7E0F4}"/>
              </a:ext>
            </a:extLst>
          </p:cNvPr>
          <p:cNvSpPr>
            <a:spLocks xmlns:a="http://schemas.openxmlformats.org/drawingml/2006/main" noGrp="1"/>
          </p:cNvSpPr>
          <p:nvPr/>
        </p:nvSpPr>
        <p:spPr>
          <a:xfrm xmlns:a="http://schemas.openxmlformats.org/drawingml/2006/main">
            <a:off x="3943350" y="3105150"/>
            <a:ext cx="247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554"/>
          </a:bodyPr>
          <a:lstStyle xmlns:a="http://schemas.openxmlformats.org/drawingml/2006/main"/>
          <a:p xmlns:a="http://schemas.openxmlformats.org/drawingml/2006/main">
            <a:pPr algn="l">
              <a:lnSpc>
                <a:spcPct val="104000"/>
              </a:lnSpc>
              <a:buNone/>
              <a:defRPr sz="1875" b="1" i="0">
                <a:solidFill>
                  <a:srgbClr val="137DB4"/>
                </a:solidFill>
                <a:latin typeface="Lato"/>
                <a:ea typeface="Lato"/>
                <a:cs typeface="Lato"/>
              </a:defRPr>
            </a:pPr>
            <a:r>
              <a:rPr sz="1875" b="1" i="0">
                <a:solidFill>
                  <a:srgbClr val="137DB4"/>
                </a:solidFill>
                <a:latin typeface="Lato"/>
                <a:ea typeface="Lato"/>
                <a:cs typeface="Lato"/>
              </a:rPr>
              <a:t>[XX] countries or regions</a:t>
            </a:r>
          </a:p>
        </p:txBody>
      </p:sp>
      <p:sp>
        <p:nvSpPr>
          <p:cNvPr id="15" name="">
            <a:extLst xmlns:a="http://schemas.openxmlformats.org/drawingml/2006/main">
              <a:ext uri="{FF2B5EF4-FFF2-40B4-BE49-F238E27FC236}">
                <a16:creationId xmlns:a16="http://schemas.microsoft.com/office/drawing/2014/main" id="{E1C27779-5A85-44DD-A7E1-324CD6CF0C9B}"/>
              </a:ext>
            </a:extLst>
          </p:cNvPr>
          <p:cNvSpPr>
            <a:spLocks xmlns:a="http://schemas.openxmlformats.org/drawingml/2006/main" noGrp="1"/>
          </p:cNvSpPr>
          <p:nvPr/>
        </p:nvSpPr>
        <p:spPr>
          <a:xfrm xmlns:a="http://schemas.openxmlformats.org/drawingml/2006/main">
            <a:off x="6677025" y="3162300"/>
            <a:ext cx="404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050" b="0" i="0">
                <a:solidFill>
                  <a:srgbClr val="687984"/>
                </a:solidFill>
                <a:latin typeface="Lato"/>
                <a:ea typeface="Lato"/>
                <a:cs typeface="Lato"/>
              </a:defRPr>
            </a:pPr>
            <a:r>
              <a:rPr sz="1050" b="0" i="0">
                <a:solidFill>
                  <a:srgbClr val="687984"/>
                </a:solidFill>
                <a:latin typeface="Lato"/>
                <a:ea typeface="Lato"/>
                <a:cs typeface="Lato"/>
              </a:rPr>
              <a:t>Distinguish national and multi-country work</a:t>
            </a:r>
          </a:p>
        </p:txBody>
      </p:sp>
      <p:sp>
        <p:nvSpPr>
          <p:cNvPr id="16" name="">
            <a:extLst xmlns:a="http://schemas.openxmlformats.org/drawingml/2006/main">
              <a:ext uri="{FF2B5EF4-FFF2-40B4-BE49-F238E27FC236}">
                <a16:creationId xmlns:a16="http://schemas.microsoft.com/office/drawing/2014/main" id="{7DC89469-172E-4CF2-9476-B945CE223584}"/>
              </a:ext>
            </a:extLst>
          </p:cNvPr>
          <p:cNvSpPr>
            <a:spLocks xmlns:a="http://schemas.openxmlformats.org/drawingml/2006/main" noGrp="1"/>
          </p:cNvSpPr>
          <p:nvPr/>
        </p:nvSpPr>
        <p:spPr>
          <a:xfrm xmlns:a="http://schemas.openxmlformats.org/drawingml/2006/main">
            <a:off x="685800" y="3686175"/>
            <a:ext cx="10048875"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9ED23F0-04A5-4218-847D-216AC3537D4D}"/>
              </a:ext>
            </a:extLst>
          </p:cNvPr>
          <p:cNvSpPr>
            <a:spLocks xmlns:a="http://schemas.openxmlformats.org/drawingml/2006/main" noGrp="1"/>
          </p:cNvSpPr>
          <p:nvPr/>
        </p:nvSpPr>
        <p:spPr>
          <a:xfrm xmlns:a="http://schemas.openxmlformats.org/drawingml/2006/main">
            <a:off x="695325" y="413385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1" i="0">
                <a:solidFill>
                  <a:srgbClr val="12304E"/>
                </a:solidFill>
                <a:latin typeface="Lato"/>
                <a:ea typeface="Lato"/>
                <a:cs typeface="Lato"/>
              </a:defRPr>
            </a:pPr>
            <a:r>
              <a:rPr sz="1200" b="1" i="0">
                <a:solidFill>
                  <a:srgbClr val="12304E"/>
                </a:solidFill>
                <a:latin typeface="Lato"/>
                <a:ea typeface="Lato"/>
                <a:cs typeface="Lato"/>
              </a:rPr>
              <a:t>Investment operations</a:t>
            </a:r>
          </a:p>
        </p:txBody>
      </p:sp>
      <p:sp>
        <p:nvSpPr>
          <p:cNvPr id="18" name="">
            <a:extLst xmlns:a="http://schemas.openxmlformats.org/drawingml/2006/main">
              <a:ext uri="{FF2B5EF4-FFF2-40B4-BE49-F238E27FC236}">
                <a16:creationId xmlns:a16="http://schemas.microsoft.com/office/drawing/2014/main" id="{1D467F91-1FBB-4F16-8CCC-64EC2CFD268C}"/>
              </a:ext>
            </a:extLst>
          </p:cNvPr>
          <p:cNvSpPr>
            <a:spLocks xmlns:a="http://schemas.openxmlformats.org/drawingml/2006/main" noGrp="1"/>
          </p:cNvSpPr>
          <p:nvPr/>
        </p:nvSpPr>
        <p:spPr>
          <a:xfrm xmlns:a="http://schemas.openxmlformats.org/drawingml/2006/main">
            <a:off x="3943350" y="4095750"/>
            <a:ext cx="2476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1" i="0">
                <a:solidFill>
                  <a:srgbClr val="137DB4"/>
                </a:solidFill>
                <a:latin typeface="Lato"/>
                <a:ea typeface="Lato"/>
                <a:cs typeface="Lato"/>
              </a:defRPr>
            </a:pPr>
            <a:r>
              <a:rPr sz="1875" b="1" i="0">
                <a:solidFill>
                  <a:srgbClr val="137DB4"/>
                </a:solidFill>
                <a:latin typeface="Lato"/>
                <a:ea typeface="Lato"/>
                <a:cs typeface="Lato"/>
              </a:rPr>
              <a:t>[XX] projects</a:t>
            </a:r>
          </a:p>
        </p:txBody>
      </p:sp>
      <p:sp>
        <p:nvSpPr>
          <p:cNvPr id="19" name="">
            <a:extLst xmlns:a="http://schemas.openxmlformats.org/drawingml/2006/main">
              <a:ext uri="{FF2B5EF4-FFF2-40B4-BE49-F238E27FC236}">
                <a16:creationId xmlns:a16="http://schemas.microsoft.com/office/drawing/2014/main" id="{FC52F31D-70F2-4A12-AAD2-8C37B1E18E9D}"/>
              </a:ext>
            </a:extLst>
          </p:cNvPr>
          <p:cNvSpPr>
            <a:spLocks xmlns:a="http://schemas.openxmlformats.org/drawingml/2006/main" noGrp="1"/>
          </p:cNvSpPr>
          <p:nvPr/>
        </p:nvSpPr>
        <p:spPr>
          <a:xfrm xmlns:a="http://schemas.openxmlformats.org/drawingml/2006/main">
            <a:off x="6677025" y="4152900"/>
            <a:ext cx="404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050" b="0" i="0">
                <a:solidFill>
                  <a:srgbClr val="687984"/>
                </a:solidFill>
                <a:latin typeface="Lato"/>
                <a:ea typeface="Lato"/>
                <a:cs typeface="Lato"/>
              </a:defRPr>
            </a:pPr>
            <a:r>
              <a:rPr sz="1050" b="0" i="0">
                <a:solidFill>
                  <a:srgbClr val="687984"/>
                </a:solidFill>
                <a:latin typeface="Lato"/>
                <a:ea typeface="Lato"/>
                <a:cs typeface="Lato"/>
              </a:rPr>
              <a:t>Define whether concept notes and approved projects both count</a:t>
            </a:r>
          </a:p>
        </p:txBody>
      </p:sp>
      <p:sp>
        <p:nvSpPr>
          <p:cNvPr id="20" name="">
            <a:extLst xmlns:a="http://schemas.openxmlformats.org/drawingml/2006/main">
              <a:ext uri="{FF2B5EF4-FFF2-40B4-BE49-F238E27FC236}">
                <a16:creationId xmlns:a16="http://schemas.microsoft.com/office/drawing/2014/main" id="{AD5943F2-7AE5-4C16-97C2-D63401A162B5}"/>
              </a:ext>
            </a:extLst>
          </p:cNvPr>
          <p:cNvSpPr>
            <a:spLocks xmlns:a="http://schemas.openxmlformats.org/drawingml/2006/main" noGrp="1"/>
          </p:cNvSpPr>
          <p:nvPr/>
        </p:nvSpPr>
        <p:spPr>
          <a:xfrm xmlns:a="http://schemas.openxmlformats.org/drawingml/2006/main">
            <a:off x="685800" y="4676775"/>
            <a:ext cx="10048875"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0B18706-9CD7-4D30-A24C-3E2F7126EF7D}"/>
              </a:ext>
            </a:extLst>
          </p:cNvPr>
          <p:cNvSpPr>
            <a:spLocks xmlns:a="http://schemas.openxmlformats.org/drawingml/2006/main" noGrp="1"/>
          </p:cNvSpPr>
          <p:nvPr/>
        </p:nvSpPr>
        <p:spPr>
          <a:xfrm xmlns:a="http://schemas.openxmlformats.org/drawingml/2006/main">
            <a:off x="685800" y="520065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F2B632"/>
                </a:solidFill>
                <a:latin typeface="Lato"/>
                <a:ea typeface="Lato"/>
                <a:cs typeface="Lato"/>
              </a:defRPr>
            </a:pPr>
            <a:r>
              <a:rPr sz="825" b="1" i="0">
                <a:solidFill>
                  <a:srgbClr val="F2B632"/>
                </a:solidFill>
                <a:latin typeface="Lato"/>
                <a:ea typeface="Lato"/>
                <a:cs typeface="Lato"/>
              </a:rPr>
              <a:t>ATTRIBUTION CRITERIA TO DOCUMENT</a:t>
            </a:r>
          </a:p>
        </p:txBody>
      </p:sp>
      <p:sp>
        <p:nvSpPr>
          <p:cNvPr id="22" name="">
            <a:extLst xmlns:a="http://schemas.openxmlformats.org/drawingml/2006/main">
              <a:ext uri="{FF2B5EF4-FFF2-40B4-BE49-F238E27FC236}">
                <a16:creationId xmlns:a16="http://schemas.microsoft.com/office/drawing/2014/main" id="{85F26D99-9AC0-4B64-9892-1A7AE678D8A5}"/>
              </a:ext>
            </a:extLst>
          </p:cNvPr>
          <p:cNvSpPr>
            <a:spLocks xmlns:a="http://schemas.openxmlformats.org/drawingml/2006/main" noGrp="1"/>
          </p:cNvSpPr>
          <p:nvPr/>
        </p:nvSpPr>
        <p:spPr>
          <a:xfrm xmlns:a="http://schemas.openxmlformats.org/drawingml/2006/main">
            <a:off x="685800" y="5467350"/>
            <a:ext cx="10048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12304E"/>
                </a:solidFill>
                <a:latin typeface="Lato"/>
                <a:ea typeface="Lato"/>
                <a:cs typeface="Lato"/>
              </a:defRPr>
            </a:pPr>
            <a:r>
              <a:rPr sz="1275" b="0" i="0">
                <a:solidFill>
                  <a:srgbClr val="12304E"/>
                </a:solidFill>
                <a:latin typeface="Lato"/>
                <a:ea typeface="Lato"/>
                <a:cs typeface="Lato"/>
              </a:rPr>
              <a:t>Minimum criterion: the CAVA/CORDEX analysis appears in the project climate rationale or directly informs an adaptation option. Record the dataset version, analytical period and responsible analysis team.</a:t>
            </a:r>
          </a:p>
        </p:txBody>
      </p:sp>
      <p:sp>
        <p:nvSpPr>
          <p:cNvPr id="23" name="">
            <a:extLst xmlns:a="http://schemas.openxmlformats.org/drawingml/2006/main">
              <a:ext uri="{FF2B5EF4-FFF2-40B4-BE49-F238E27FC236}">
                <a16:creationId xmlns:a16="http://schemas.microsoft.com/office/drawing/2014/main" id="{55191AD0-8D13-4812-8A69-D2E45680CCB4}"/>
              </a:ext>
            </a:extLst>
          </p:cNvPr>
          <p:cNvSpPr>
            <a:spLocks xmlns:a="http://schemas.openxmlformats.org/drawingml/2006/main" noGrp="1"/>
          </p:cNvSpPr>
          <p:nvPr/>
        </p:nvSpPr>
        <p:spPr>
          <a:xfrm xmlns:a="http://schemas.openxmlformats.org/drawingml/2006/main">
            <a:off x="10934700" y="2076450"/>
            <a:ext cx="38100" cy="2905125"/>
          </a:xfrm>
          <a:prstGeom xmlns:a="http://schemas.openxmlformats.org/drawingml/2006/main" prst="rect">
            <a:avLst/>
          </a:prstGeom>
          <a:solidFill xmlns:a="http://schemas.openxmlformats.org/drawingml/2006/main">
            <a:srgbClr val="F2B632"/>
          </a:solidFill>
          <a:ln xmlns:a="http://schemas.openxmlformats.org/drawingml/2006/main" w="0">
            <a:noFill/>
          </a:ln>
        </p:spPr>
      </p:sp>
    </p:spTree>
    <p:extLst>
      <p:ext uri="{BB962C8B-B14F-4D97-AF65-F5344CB8AC3E}">
        <p14:creationId xmlns:p14="http://schemas.microsoft.com/office/powerpoint/2010/main" val="1258097183"/>
      </p:ext>
    </p:extLst>
  </p:cSld>
</p:sld>
</file>

<file path=ppt/slides/slide10.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CC33DEB-6CC7-4023-B7AE-2260182014CD}"/>
              </a:ext>
            </a:extLst>
          </p:cNvPr>
          <p:cNvSpPr>
            <a:spLocks xmlns:a="http://schemas.openxmlformats.org/drawingml/2006/main" noGrp="1"/>
          </p:cNvSpPr>
          <p:nvPr/>
        </p:nvSpPr>
        <p:spPr>
          <a:xfrm xmlns:a="http://schemas.openxmlformats.org/drawingml/2006/main">
            <a:off x="628650" y="4000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i="0">
                <a:solidFill>
                  <a:srgbClr val="12304E"/>
                </a:solidFill>
                <a:latin typeface="Lato"/>
                <a:ea typeface="Lato"/>
                <a:cs typeface="Lato"/>
              </a:defRPr>
            </a:pPr>
            <a:r>
              <a:rPr sz="2325" b="1" i="0">
                <a:solidFill>
                  <a:srgbClr val="12304E"/>
                </a:solidFill>
                <a:latin typeface="Lato"/>
                <a:ea typeface="Lato"/>
                <a:cs typeface="Lato"/>
              </a:rPr>
              <a:t>Case studies and peer-reviewed evidence</a:t>
            </a:r>
          </a:p>
        </p:txBody>
      </p:sp>
      <p:sp>
        <p:nvSpPr>
          <p:cNvPr id="2" name="">
            <a:extLst xmlns:a="http://schemas.openxmlformats.org/drawingml/2006/main">
              <a:ext uri="{FF2B5EF4-FFF2-40B4-BE49-F238E27FC236}">
                <a16:creationId xmlns:a16="http://schemas.microsoft.com/office/drawing/2014/main" id="{CB626A9E-DC3F-4BFE-BEF5-BD920B231DB8}"/>
              </a:ext>
            </a:extLst>
          </p:cNvPr>
          <p:cNvSpPr>
            <a:spLocks xmlns:a="http://schemas.openxmlformats.org/drawingml/2006/main" noGrp="1"/>
          </p:cNvSpPr>
          <p:nvPr/>
        </p:nvSpPr>
        <p:spPr>
          <a:xfrm xmlns:a="http://schemas.openxmlformats.org/drawingml/2006/main">
            <a:off x="647700" y="9620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687984"/>
                </a:solidFill>
                <a:latin typeface="Lato"/>
                <a:ea typeface="Lato"/>
                <a:cs typeface="Lato"/>
              </a:defRPr>
            </a:pPr>
            <a:r>
              <a:rPr sz="1125" b="0" i="0">
                <a:solidFill>
                  <a:srgbClr val="687984"/>
                </a:solidFill>
                <a:latin typeface="Lato"/>
                <a:ea typeface="Lato"/>
                <a:cs typeface="Lato"/>
              </a:rPr>
              <a:t>Each example should report the data configuration, method, uncertainty treatment and decision context</a:t>
            </a:r>
          </a:p>
        </p:txBody>
      </p:sp>
      <p:sp>
        <p:nvSpPr>
          <p:cNvPr id="3" name="">
            <a:extLst xmlns:a="http://schemas.openxmlformats.org/drawingml/2006/main">
              <a:ext uri="{FF2B5EF4-FFF2-40B4-BE49-F238E27FC236}">
                <a16:creationId xmlns:a16="http://schemas.microsoft.com/office/drawing/2014/main" id="{655B9994-CAA7-4000-AF02-60E53F42A5AC}"/>
              </a:ext>
            </a:extLst>
          </p:cNvPr>
          <p:cNvSpPr>
            <a:spLocks xmlns:a="http://schemas.openxmlformats.org/drawingml/2006/main" noGrp="1"/>
          </p:cNvSpPr>
          <p:nvPr/>
        </p:nvSpPr>
        <p:spPr>
          <a:xfrm xmlns:a="http://schemas.openxmlformats.org/drawingml/2006/main">
            <a:off x="647700" y="13430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DE00DDA-D8B6-4B16-845D-054FF51DFDF1}"/>
              </a:ext>
            </a:extLst>
          </p:cNvPr>
          <p:cNvSpPr>
            <a:spLocks xmlns:a="http://schemas.openxmlformats.org/drawingml/2006/main" noGrp="1"/>
          </p:cNvSpPr>
          <p:nvPr/>
        </p:nvSpPr>
        <p:spPr>
          <a:xfrm xmlns:a="http://schemas.openxmlformats.org/drawingml/2006/main">
            <a:off x="657225" y="1457325"/>
            <a:ext cx="9906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3D4C454-48C2-4AF1-B5F5-0C0B3C364C0B}"/>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B92651F-CAB0-4FF9-B2F5-925DAD2195FE}"/>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50" b="1" i="0">
                <a:solidFill>
                  <a:srgbClr val="687984"/>
                </a:solidFill>
                <a:latin typeface="Lato"/>
                <a:ea typeface="Lato"/>
                <a:cs typeface="Lato"/>
              </a:defRPr>
            </a:pPr>
            <a:r>
              <a:rPr sz="750" b="1" i="0">
                <a:solidFill>
                  <a:srgbClr val="687984"/>
                </a:solidFill>
                <a:latin typeface="Lato"/>
                <a:ea typeface="Lato"/>
                <a:cs typeface="Lato"/>
              </a:rPr>
              <a:t>CAVA × CORDEX</a:t>
            </a:r>
          </a:p>
        </p:txBody>
      </p:sp>
      <p:sp>
        <p:nvSpPr>
          <p:cNvPr id="7" name="">
            <a:extLst xmlns:a="http://schemas.openxmlformats.org/drawingml/2006/main">
              <a:ext uri="{FF2B5EF4-FFF2-40B4-BE49-F238E27FC236}">
                <a16:creationId xmlns:a16="http://schemas.microsoft.com/office/drawing/2014/main" id="{6D9943EA-EC88-4425-85F5-1D854AC57294}"/>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750" b="0" i="0">
                <a:solidFill>
                  <a:srgbClr val="687984"/>
                </a:solidFill>
                <a:latin typeface="Lato"/>
                <a:ea typeface="Lato"/>
                <a:cs typeface="Lato"/>
              </a:defRPr>
            </a:pPr>
            <a:r>
              <a:rPr sz="750" b="0" i="0">
                <a:solidFill>
                  <a:srgbClr val="687984"/>
                </a:solidFill>
                <a:latin typeface="Lato"/>
                <a:ea typeface="Lato"/>
                <a:cs typeface="Lato"/>
              </a:rPr>
              <a:t>10</a:t>
            </a:r>
          </a:p>
        </p:txBody>
      </p:sp>
      <p:sp>
        <p:nvSpPr>
          <p:cNvPr id="8" name="">
            <a:extLst xmlns:a="http://schemas.openxmlformats.org/drawingml/2006/main">
              <a:ext uri="{FF2B5EF4-FFF2-40B4-BE49-F238E27FC236}">
                <a16:creationId xmlns:a16="http://schemas.microsoft.com/office/drawing/2014/main" id="{0AB83707-D401-44AD-BFDD-84C1664D3D39}"/>
              </a:ext>
            </a:extLst>
          </p:cNvPr>
          <p:cNvSpPr>
            <a:spLocks xmlns:a="http://schemas.openxmlformats.org/drawingml/2006/main" noGrp="1"/>
          </p:cNvSpPr>
          <p:nvPr/>
        </p:nvSpPr>
        <p:spPr>
          <a:xfrm xmlns:a="http://schemas.openxmlformats.org/drawingml/2006/main">
            <a:off x="666750" y="1781175"/>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00A88F"/>
                </a:solidFill>
                <a:latin typeface="Lato"/>
                <a:ea typeface="Lato"/>
                <a:cs typeface="Lato"/>
              </a:defRPr>
            </a:pPr>
            <a:r>
              <a:rPr sz="825" b="1" i="0">
                <a:solidFill>
                  <a:srgbClr val="00A88F"/>
                </a:solidFill>
                <a:latin typeface="Lato"/>
                <a:ea typeface="Lato"/>
                <a:cs typeface="Lato"/>
              </a:rPr>
              <a:t>INVESTMENT CASE STUDIES</a:t>
            </a:r>
          </a:p>
        </p:txBody>
      </p:sp>
      <p:sp>
        <p:nvSpPr>
          <p:cNvPr id="9" name="">
            <a:extLst xmlns:a="http://schemas.openxmlformats.org/drawingml/2006/main">
              <a:ext uri="{FF2B5EF4-FFF2-40B4-BE49-F238E27FC236}">
                <a16:creationId xmlns:a16="http://schemas.microsoft.com/office/drawing/2014/main" id="{97E583DC-868E-4B29-AD4C-9B2B4EA91FDF}"/>
              </a:ext>
            </a:extLst>
          </p:cNvPr>
          <p:cNvSpPr>
            <a:spLocks xmlns:a="http://schemas.openxmlformats.org/drawingml/2006/main" noGrp="1"/>
          </p:cNvSpPr>
          <p:nvPr/>
        </p:nvSpPr>
        <p:spPr>
          <a:xfrm xmlns:a="http://schemas.openxmlformats.org/drawingml/2006/main">
            <a:off x="666750" y="2114550"/>
            <a:ext cx="6705600" cy="14478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DCE5E2"/>
            </a:solidFill>
          </a:ln>
        </p:spPr>
      </p:sp>
      <p:sp>
        <p:nvSpPr>
          <p:cNvPr id="10" name="">
            <a:extLst xmlns:a="http://schemas.openxmlformats.org/drawingml/2006/main">
              <a:ext uri="{FF2B5EF4-FFF2-40B4-BE49-F238E27FC236}">
                <a16:creationId xmlns:a16="http://schemas.microsoft.com/office/drawing/2014/main" id="{96FD3CAC-2EF6-4C98-B9B0-14138443DD8B}"/>
              </a:ext>
            </a:extLst>
          </p:cNvPr>
          <p:cNvSpPr>
            <a:spLocks xmlns:a="http://schemas.openxmlformats.org/drawingml/2006/main" noGrp="1"/>
          </p:cNvSpPr>
          <p:nvPr/>
        </p:nvSpPr>
        <p:spPr>
          <a:xfrm xmlns:a="http://schemas.openxmlformats.org/drawingml/2006/main">
            <a:off x="666750" y="2114550"/>
            <a:ext cx="57150" cy="1447800"/>
          </a:xfrm>
          <a:prstGeom xmlns:a="http://schemas.openxmlformats.org/drawingml/2006/main" prst="roundRect">
            <a:avLst>
              <a:gd name="adj" fmla="val 50000"/>
            </a:avLst>
          </a:prstGeom>
          <a:solidFill xmlns:a="http://schemas.openxmlformats.org/drawingml/2006/main">
            <a:srgbClr val="00A88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9C9BE46-7E66-43D1-A394-0EA28A783647}"/>
              </a:ext>
            </a:extLst>
          </p:cNvPr>
          <p:cNvSpPr>
            <a:spLocks xmlns:a="http://schemas.openxmlformats.org/drawingml/2006/main" noGrp="1"/>
          </p:cNvSpPr>
          <p:nvPr/>
        </p:nvSpPr>
        <p:spPr>
          <a:xfrm xmlns:a="http://schemas.openxmlformats.org/drawingml/2006/main">
            <a:off x="895350" y="2305050"/>
            <a:ext cx="626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12304E"/>
                </a:solidFill>
                <a:latin typeface="Lato"/>
                <a:ea typeface="Lato"/>
                <a:cs typeface="Lato"/>
              </a:defRPr>
            </a:pPr>
            <a:r>
              <a:rPr sz="1425" b="1" i="0">
                <a:solidFill>
                  <a:srgbClr val="12304E"/>
                </a:solidFill>
                <a:latin typeface="Lato"/>
                <a:ea typeface="Lato"/>
                <a:cs typeface="Lato"/>
              </a:rPr>
              <a:t>Case study 01 — [country / programme]</a:t>
            </a:r>
          </a:p>
        </p:txBody>
      </p:sp>
      <p:sp>
        <p:nvSpPr>
          <p:cNvPr id="12" name="">
            <a:extLst xmlns:a="http://schemas.openxmlformats.org/drawingml/2006/main">
              <a:ext uri="{FF2B5EF4-FFF2-40B4-BE49-F238E27FC236}">
                <a16:creationId xmlns:a16="http://schemas.microsoft.com/office/drawing/2014/main" id="{A7E35D3E-02C5-4985-8BFC-A864CF4B2B1F}"/>
              </a:ext>
            </a:extLst>
          </p:cNvPr>
          <p:cNvSpPr>
            <a:spLocks xmlns:a="http://schemas.openxmlformats.org/drawingml/2006/main" noGrp="1"/>
          </p:cNvSpPr>
          <p:nvPr/>
        </p:nvSpPr>
        <p:spPr>
          <a:xfrm xmlns:a="http://schemas.openxmlformats.org/drawingml/2006/main">
            <a:off x="895350" y="2705100"/>
            <a:ext cx="6267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CORDEX configuration: [domain, GCM–RCM set, scenario]</a:t>
            </a:r>
          </a:p>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Method: [indicator, baseline, future period, bias adjustment]</a:t>
            </a:r>
          </a:p>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Use in project: [specific decision or analytical conclusion]</a:t>
            </a:r>
          </a:p>
        </p:txBody>
      </p:sp>
      <p:sp>
        <p:nvSpPr>
          <p:cNvPr id="13" name="">
            <a:extLst xmlns:a="http://schemas.openxmlformats.org/drawingml/2006/main">
              <a:ext uri="{FF2B5EF4-FFF2-40B4-BE49-F238E27FC236}">
                <a16:creationId xmlns:a16="http://schemas.microsoft.com/office/drawing/2014/main" id="{6BFC9CD5-9CF3-4D78-8C85-3C1A5A31B52E}"/>
              </a:ext>
            </a:extLst>
          </p:cNvPr>
          <p:cNvSpPr>
            <a:spLocks xmlns:a="http://schemas.openxmlformats.org/drawingml/2006/main" noGrp="1"/>
          </p:cNvSpPr>
          <p:nvPr/>
        </p:nvSpPr>
        <p:spPr>
          <a:xfrm xmlns:a="http://schemas.openxmlformats.org/drawingml/2006/main">
            <a:off x="666750" y="3790950"/>
            <a:ext cx="6705600" cy="14478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DCE5E2"/>
            </a:solidFill>
          </a:ln>
        </p:spPr>
      </p:sp>
      <p:sp>
        <p:nvSpPr>
          <p:cNvPr id="14" name="">
            <a:extLst xmlns:a="http://schemas.openxmlformats.org/drawingml/2006/main">
              <a:ext uri="{FF2B5EF4-FFF2-40B4-BE49-F238E27FC236}">
                <a16:creationId xmlns:a16="http://schemas.microsoft.com/office/drawing/2014/main" id="{48434074-8493-4A95-86B9-2B01015E629F}"/>
              </a:ext>
            </a:extLst>
          </p:cNvPr>
          <p:cNvSpPr>
            <a:spLocks xmlns:a="http://schemas.openxmlformats.org/drawingml/2006/main" noGrp="1"/>
          </p:cNvSpPr>
          <p:nvPr/>
        </p:nvSpPr>
        <p:spPr>
          <a:xfrm xmlns:a="http://schemas.openxmlformats.org/drawingml/2006/main">
            <a:off x="666750" y="3790950"/>
            <a:ext cx="57150" cy="1447800"/>
          </a:xfrm>
          <a:prstGeom xmlns:a="http://schemas.openxmlformats.org/drawingml/2006/main" prst="roundRect">
            <a:avLst>
              <a:gd name="adj" fmla="val 50000"/>
            </a:avLst>
          </a:prstGeom>
          <a:solidFill xmlns:a="http://schemas.openxmlformats.org/drawingml/2006/main">
            <a:srgbClr val="137DB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173F8EA-7F38-4FEA-9B2D-0AC942EEE5F9}"/>
              </a:ext>
            </a:extLst>
          </p:cNvPr>
          <p:cNvSpPr>
            <a:spLocks xmlns:a="http://schemas.openxmlformats.org/drawingml/2006/main" noGrp="1"/>
          </p:cNvSpPr>
          <p:nvPr/>
        </p:nvSpPr>
        <p:spPr>
          <a:xfrm xmlns:a="http://schemas.openxmlformats.org/drawingml/2006/main">
            <a:off x="895350" y="3981450"/>
            <a:ext cx="626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12304E"/>
                </a:solidFill>
                <a:latin typeface="Lato"/>
                <a:ea typeface="Lato"/>
                <a:cs typeface="Lato"/>
              </a:defRPr>
            </a:pPr>
            <a:r>
              <a:rPr sz="1425" b="1" i="0">
                <a:solidFill>
                  <a:srgbClr val="12304E"/>
                </a:solidFill>
                <a:latin typeface="Lato"/>
                <a:ea typeface="Lato"/>
                <a:cs typeface="Lato"/>
              </a:rPr>
              <a:t>Case study 02 — [country / programme]</a:t>
            </a:r>
          </a:p>
        </p:txBody>
      </p:sp>
      <p:sp>
        <p:nvSpPr>
          <p:cNvPr id="16" name="">
            <a:extLst xmlns:a="http://schemas.openxmlformats.org/drawingml/2006/main">
              <a:ext uri="{FF2B5EF4-FFF2-40B4-BE49-F238E27FC236}">
                <a16:creationId xmlns:a16="http://schemas.microsoft.com/office/drawing/2014/main" id="{D92107D3-2263-45E1-8A66-9F3E999E1906}"/>
              </a:ext>
            </a:extLst>
          </p:cNvPr>
          <p:cNvSpPr>
            <a:spLocks xmlns:a="http://schemas.openxmlformats.org/drawingml/2006/main" noGrp="1"/>
          </p:cNvSpPr>
          <p:nvPr/>
        </p:nvSpPr>
        <p:spPr>
          <a:xfrm xmlns:a="http://schemas.openxmlformats.org/drawingml/2006/main">
            <a:off x="895350" y="4381500"/>
            <a:ext cx="6267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CORDEX configuration: [domain, GCM–RCM set, scenario]</a:t>
            </a:r>
          </a:p>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Method: [indicator, baseline, future period, bias adjustment]</a:t>
            </a:r>
          </a:p>
          <a:p xmlns:a="http://schemas.openxmlformats.org/drawingml/2006/main">
            <a:pPr algn="l">
              <a:lnSpc>
                <a:spcPct val="108000"/>
              </a:lnSpc>
              <a:buNone/>
              <a:defRPr sz="1125" b="0" i="0">
                <a:solidFill>
                  <a:srgbClr val="687984"/>
                </a:solidFill>
                <a:latin typeface="Lato"/>
                <a:ea typeface="Lato"/>
                <a:cs typeface="Lato"/>
              </a:defRPr>
            </a:pPr>
            <a:r>
              <a:rPr sz="1125" b="0" i="0">
                <a:solidFill>
                  <a:srgbClr val="687984"/>
                </a:solidFill>
                <a:latin typeface="Lato"/>
                <a:ea typeface="Lato"/>
                <a:cs typeface="Lato"/>
              </a:rPr>
              <a:t>Use in project: [specific decision or analytical conclusion]</a:t>
            </a:r>
          </a:p>
        </p:txBody>
      </p:sp>
      <p:sp>
        <p:nvSpPr>
          <p:cNvPr id="17" name="">
            <a:extLst xmlns:a="http://schemas.openxmlformats.org/drawingml/2006/main">
              <a:ext uri="{FF2B5EF4-FFF2-40B4-BE49-F238E27FC236}">
                <a16:creationId xmlns:a16="http://schemas.microsoft.com/office/drawing/2014/main" id="{963840CA-ED62-449B-B31C-C3939BADB4AB}"/>
              </a:ext>
            </a:extLst>
          </p:cNvPr>
          <p:cNvSpPr>
            <a:spLocks xmlns:a="http://schemas.openxmlformats.org/drawingml/2006/main" noGrp="1"/>
          </p:cNvSpPr>
          <p:nvPr/>
        </p:nvSpPr>
        <p:spPr>
          <a:xfrm xmlns:a="http://schemas.openxmlformats.org/drawingml/2006/main">
            <a:off x="7820025" y="1781175"/>
            <a:ext cx="333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F2B632"/>
                </a:solidFill>
                <a:latin typeface="Lato"/>
                <a:ea typeface="Lato"/>
                <a:cs typeface="Lato"/>
              </a:defRPr>
            </a:pPr>
            <a:r>
              <a:rPr sz="825" b="1" i="0">
                <a:solidFill>
                  <a:srgbClr val="F2B632"/>
                </a:solidFill>
                <a:latin typeface="Lato"/>
                <a:ea typeface="Lato"/>
                <a:cs typeface="Lato"/>
              </a:rPr>
              <a:t>PEER-REVIEWED PUBLICATIONS</a:t>
            </a:r>
          </a:p>
        </p:txBody>
      </p:sp>
      <p:sp>
        <p:nvSpPr>
          <p:cNvPr id="18" name="">
            <a:extLst xmlns:a="http://schemas.openxmlformats.org/drawingml/2006/main">
              <a:ext uri="{FF2B5EF4-FFF2-40B4-BE49-F238E27FC236}">
                <a16:creationId xmlns:a16="http://schemas.microsoft.com/office/drawing/2014/main" id="{0C3D5F7F-6971-4877-9E31-66AD8D6FCCAD}"/>
              </a:ext>
            </a:extLst>
          </p:cNvPr>
          <p:cNvSpPr>
            <a:spLocks xmlns:a="http://schemas.openxmlformats.org/drawingml/2006/main" noGrp="1"/>
          </p:cNvSpPr>
          <p:nvPr/>
        </p:nvSpPr>
        <p:spPr>
          <a:xfrm xmlns:a="http://schemas.openxmlformats.org/drawingml/2006/main">
            <a:off x="7820025" y="2114550"/>
            <a:ext cx="3333750" cy="1447800"/>
          </a:xfrm>
          <a:prstGeom xmlns:a="http://schemas.openxmlformats.org/drawingml/2006/main" prst="roundRect">
            <a:avLst>
              <a:gd name="adj" fmla="val 5263"/>
            </a:avLst>
          </a:prstGeom>
          <a:solidFill xmlns:a="http://schemas.openxmlformats.org/drawingml/2006/main">
            <a:srgbClr val="FFF3D1"/>
          </a:solidFill>
          <a:ln xmlns:a="http://schemas.openxmlformats.org/drawingml/2006/main" w="9525">
            <a:solidFill>
              <a:srgbClr val="F2B632"/>
            </a:solidFill>
          </a:ln>
        </p:spPr>
      </p:sp>
      <p:sp>
        <p:nvSpPr>
          <p:cNvPr id="19" name="">
            <a:extLst xmlns:a="http://schemas.openxmlformats.org/drawingml/2006/main">
              <a:ext uri="{FF2B5EF4-FFF2-40B4-BE49-F238E27FC236}">
                <a16:creationId xmlns:a16="http://schemas.microsoft.com/office/drawing/2014/main" id="{90E789E1-5D7B-4AEA-9CBB-919CB0486F0F}"/>
              </a:ext>
            </a:extLst>
          </p:cNvPr>
          <p:cNvSpPr>
            <a:spLocks xmlns:a="http://schemas.openxmlformats.org/drawingml/2006/main" noGrp="1"/>
          </p:cNvSpPr>
          <p:nvPr/>
        </p:nvSpPr>
        <p:spPr>
          <a:xfrm xmlns:a="http://schemas.openxmlformats.org/drawingml/2006/main">
            <a:off x="8058150" y="2343150"/>
            <a:ext cx="285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12304E"/>
                </a:solidFill>
                <a:latin typeface="Lato"/>
                <a:ea typeface="Lato"/>
                <a:cs typeface="Lato"/>
              </a:defRPr>
            </a:pPr>
            <a:r>
              <a:rPr sz="1425" b="1" i="0">
                <a:solidFill>
                  <a:srgbClr val="12304E"/>
                </a:solidFill>
                <a:latin typeface="Lato"/>
                <a:ea typeface="Lato"/>
                <a:cs typeface="Lato"/>
              </a:rPr>
              <a:t>[Paper title]</a:t>
            </a:r>
          </a:p>
        </p:txBody>
      </p:sp>
      <p:sp>
        <p:nvSpPr>
          <p:cNvPr id="20" name="">
            <a:extLst xmlns:a="http://schemas.openxmlformats.org/drawingml/2006/main">
              <a:ext uri="{FF2B5EF4-FFF2-40B4-BE49-F238E27FC236}">
                <a16:creationId xmlns:a16="http://schemas.microsoft.com/office/drawing/2014/main" id="{D6E27A53-9070-47F7-94F1-1C9F121834B8}"/>
              </a:ext>
            </a:extLst>
          </p:cNvPr>
          <p:cNvSpPr>
            <a:spLocks xmlns:a="http://schemas.openxmlformats.org/drawingml/2006/main" noGrp="1"/>
          </p:cNvSpPr>
          <p:nvPr/>
        </p:nvSpPr>
        <p:spPr>
          <a:xfrm xmlns:a="http://schemas.openxmlformats.org/drawingml/2006/main">
            <a:off x="8058150" y="285750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9000"/>
              </a:lnSpc>
              <a:buNone/>
              <a:defRPr sz="1050" b="0" i="0">
                <a:solidFill>
                  <a:srgbClr val="687984"/>
                </a:solidFill>
                <a:latin typeface="Lato"/>
                <a:ea typeface="Lato"/>
                <a:cs typeface="Lato"/>
              </a:defRPr>
            </a:pPr>
            <a:r>
              <a:rPr sz="1050" b="0" i="0">
                <a:solidFill>
                  <a:srgbClr val="687984"/>
                </a:solidFill>
                <a:latin typeface="Lato"/>
                <a:ea typeface="Lato"/>
                <a:cs typeface="Lato"/>
              </a:rPr>
              <a:t>[Authors, journal, year, DOI]</a:t>
            </a:r>
          </a:p>
          <a:p xmlns:a="http://schemas.openxmlformats.org/drawingml/2006/main">
            <a:pPr algn="l">
              <a:lnSpc>
                <a:spcPct val="109000"/>
              </a:lnSpc>
              <a:buNone/>
              <a:defRPr sz="1050" b="0" i="0">
                <a:solidFill>
                  <a:srgbClr val="687984"/>
                </a:solidFill>
                <a:latin typeface="Lato"/>
                <a:ea typeface="Lato"/>
                <a:cs typeface="Lato"/>
              </a:defRPr>
            </a:pPr>
            <a:r>
              <a:rPr sz="1050" b="0" i="0">
                <a:solidFill>
                  <a:srgbClr val="687984"/>
                </a:solidFill>
                <a:latin typeface="Lato"/>
                <a:ea typeface="Lato"/>
                <a:cs typeface="Lato"/>
              </a:rPr>
              <a:t>[Dataset and principal methodological result]</a:t>
            </a:r>
          </a:p>
        </p:txBody>
      </p:sp>
      <p:sp>
        <p:nvSpPr>
          <p:cNvPr id="21" name="">
            <a:extLst xmlns:a="http://schemas.openxmlformats.org/drawingml/2006/main">
              <a:ext uri="{FF2B5EF4-FFF2-40B4-BE49-F238E27FC236}">
                <a16:creationId xmlns:a16="http://schemas.microsoft.com/office/drawing/2014/main" id="{69609979-7A3E-4521-AD55-344AA1C0BA86}"/>
              </a:ext>
            </a:extLst>
          </p:cNvPr>
          <p:cNvSpPr>
            <a:spLocks xmlns:a="http://schemas.openxmlformats.org/drawingml/2006/main" noGrp="1"/>
          </p:cNvSpPr>
          <p:nvPr/>
        </p:nvSpPr>
        <p:spPr>
          <a:xfrm xmlns:a="http://schemas.openxmlformats.org/drawingml/2006/main">
            <a:off x="7820025" y="3790950"/>
            <a:ext cx="3333750" cy="1447800"/>
          </a:xfrm>
          <a:prstGeom xmlns:a="http://schemas.openxmlformats.org/drawingml/2006/main" prst="roundRect">
            <a:avLst>
              <a:gd name="adj" fmla="val 5263"/>
            </a:avLst>
          </a:prstGeom>
          <a:solidFill xmlns:a="http://schemas.openxmlformats.org/drawingml/2006/main">
            <a:srgbClr val="EAF3F8"/>
          </a:solidFill>
          <a:ln xmlns:a="http://schemas.openxmlformats.org/drawingml/2006/main" w="9525">
            <a:solidFill>
              <a:srgbClr val="137DB4"/>
            </a:solidFill>
          </a:ln>
        </p:spPr>
      </p:sp>
      <p:sp>
        <p:nvSpPr>
          <p:cNvPr id="22" name="">
            <a:extLst xmlns:a="http://schemas.openxmlformats.org/drawingml/2006/main">
              <a:ext uri="{FF2B5EF4-FFF2-40B4-BE49-F238E27FC236}">
                <a16:creationId xmlns:a16="http://schemas.microsoft.com/office/drawing/2014/main" id="{36C9AE40-9774-4CA6-8BB8-432F5433E8C2}"/>
              </a:ext>
            </a:extLst>
          </p:cNvPr>
          <p:cNvSpPr>
            <a:spLocks xmlns:a="http://schemas.openxmlformats.org/drawingml/2006/main" noGrp="1"/>
          </p:cNvSpPr>
          <p:nvPr/>
        </p:nvSpPr>
        <p:spPr>
          <a:xfrm xmlns:a="http://schemas.openxmlformats.org/drawingml/2006/main">
            <a:off x="8058150" y="4019550"/>
            <a:ext cx="285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425" b="1" i="0">
                <a:solidFill>
                  <a:srgbClr val="12304E"/>
                </a:solidFill>
                <a:latin typeface="Lato"/>
                <a:ea typeface="Lato"/>
                <a:cs typeface="Lato"/>
              </a:defRPr>
            </a:pPr>
            <a:r>
              <a:rPr sz="1425" b="1" i="0">
                <a:solidFill>
                  <a:srgbClr val="12304E"/>
                </a:solidFill>
                <a:latin typeface="Lato"/>
                <a:ea typeface="Lato"/>
                <a:cs typeface="Lato"/>
              </a:rPr>
              <a:t>[Paper title]</a:t>
            </a:r>
          </a:p>
        </p:txBody>
      </p:sp>
      <p:sp>
        <p:nvSpPr>
          <p:cNvPr id="23" name="">
            <a:extLst xmlns:a="http://schemas.openxmlformats.org/drawingml/2006/main">
              <a:ext uri="{FF2B5EF4-FFF2-40B4-BE49-F238E27FC236}">
                <a16:creationId xmlns:a16="http://schemas.microsoft.com/office/drawing/2014/main" id="{E173BD75-7D4B-4A8A-9AA2-95D640C08B30}"/>
              </a:ext>
            </a:extLst>
          </p:cNvPr>
          <p:cNvSpPr>
            <a:spLocks xmlns:a="http://schemas.openxmlformats.org/drawingml/2006/main" noGrp="1"/>
          </p:cNvSpPr>
          <p:nvPr/>
        </p:nvSpPr>
        <p:spPr>
          <a:xfrm xmlns:a="http://schemas.openxmlformats.org/drawingml/2006/main">
            <a:off x="8058150" y="453390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9000"/>
              </a:lnSpc>
              <a:buNone/>
              <a:defRPr sz="1050" b="0" i="0">
                <a:solidFill>
                  <a:srgbClr val="687984"/>
                </a:solidFill>
                <a:latin typeface="Lato"/>
                <a:ea typeface="Lato"/>
                <a:cs typeface="Lato"/>
              </a:defRPr>
            </a:pPr>
            <a:r>
              <a:rPr sz="1050" b="0" i="0">
                <a:solidFill>
                  <a:srgbClr val="687984"/>
                </a:solidFill>
                <a:latin typeface="Lato"/>
                <a:ea typeface="Lato"/>
                <a:cs typeface="Lato"/>
              </a:rPr>
              <a:t>[Authors, journal, year, DOI]</a:t>
            </a:r>
          </a:p>
          <a:p xmlns:a="http://schemas.openxmlformats.org/drawingml/2006/main">
            <a:pPr algn="l">
              <a:lnSpc>
                <a:spcPct val="109000"/>
              </a:lnSpc>
              <a:buNone/>
              <a:defRPr sz="1050" b="0" i="0">
                <a:solidFill>
                  <a:srgbClr val="687984"/>
                </a:solidFill>
                <a:latin typeface="Lato"/>
                <a:ea typeface="Lato"/>
                <a:cs typeface="Lato"/>
              </a:defRPr>
            </a:pPr>
            <a:r>
              <a:rPr sz="1050" b="0" i="0">
                <a:solidFill>
                  <a:srgbClr val="687984"/>
                </a:solidFill>
                <a:latin typeface="Lato"/>
                <a:ea typeface="Lato"/>
                <a:cs typeface="Lato"/>
              </a:rPr>
              <a:t>[Dataset and principal methodological result]</a:t>
            </a:r>
          </a:p>
        </p:txBody>
      </p:sp>
      <p:sp>
        <p:nvSpPr>
          <p:cNvPr id="24" name="">
            <a:extLst xmlns:a="http://schemas.openxmlformats.org/drawingml/2006/main">
              <a:ext uri="{FF2B5EF4-FFF2-40B4-BE49-F238E27FC236}">
                <a16:creationId xmlns:a16="http://schemas.microsoft.com/office/drawing/2014/main" id="{9DA4A2EB-5519-41E6-9E1D-65EC6608B694}"/>
              </a:ext>
            </a:extLst>
          </p:cNvPr>
          <p:cNvSpPr>
            <a:spLocks xmlns:a="http://schemas.openxmlformats.org/drawingml/2006/main" noGrp="1"/>
          </p:cNvSpPr>
          <p:nvPr/>
        </p:nvSpPr>
        <p:spPr>
          <a:xfrm xmlns:a="http://schemas.openxmlformats.org/drawingml/2006/main">
            <a:off x="3524250" y="5514975"/>
            <a:ext cx="5029200" cy="371475"/>
          </a:xfrm>
          <a:prstGeom xmlns:a="http://schemas.openxmlformats.org/drawingml/2006/main" prst="roundRect">
            <a:avLst>
              <a:gd name="adj" fmla="val 20513"/>
            </a:avLst>
          </a:prstGeom>
          <a:solidFill xmlns:a="http://schemas.openxmlformats.org/drawingml/2006/main">
            <a:srgbClr val="F8E9E6"/>
          </a:solidFill>
          <a:ln xmlns:a="http://schemas.openxmlformats.org/drawingml/2006/main" w="9525">
            <a:solidFill>
              <a:srgbClr val="C95C54"/>
            </a:solidFill>
          </a:ln>
        </p:spPr>
      </p:sp>
      <p:sp>
        <p:nvSpPr>
          <p:cNvPr id="25" name="">
            <a:extLst xmlns:a="http://schemas.openxmlformats.org/drawingml/2006/main">
              <a:ext uri="{FF2B5EF4-FFF2-40B4-BE49-F238E27FC236}">
                <a16:creationId xmlns:a16="http://schemas.microsoft.com/office/drawing/2014/main" id="{CDB856C3-B00E-4332-9116-0E859C71D235}"/>
              </a:ext>
            </a:extLst>
          </p:cNvPr>
          <p:cNvSpPr>
            <a:spLocks xmlns:a="http://schemas.openxmlformats.org/drawingml/2006/main" noGrp="1"/>
          </p:cNvSpPr>
          <p:nvPr/>
        </p:nvSpPr>
        <p:spPr>
          <a:xfrm xmlns:a="http://schemas.openxmlformats.org/drawingml/2006/main">
            <a:off x="3714750" y="5610225"/>
            <a:ext cx="46482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900" b="1" i="0">
                <a:solidFill>
                  <a:srgbClr val="C95C54"/>
                </a:solidFill>
                <a:latin typeface="Lato"/>
                <a:ea typeface="Lato"/>
                <a:cs typeface="Lato"/>
              </a:defRPr>
            </a:pPr>
            <a:r>
              <a:rPr sz="900" b="1" i="0">
                <a:solidFill>
                  <a:srgbClr val="C95C54"/>
                </a:solidFill>
                <a:latin typeface="Lato"/>
                <a:ea typeface="Lato"/>
                <a:cs typeface="Lato"/>
              </a:rPr>
              <a:t>REPLACE ALL PLACEHOLDERS BEFORE CIRCULATION</a:t>
            </a:r>
          </a:p>
        </p:txBody>
      </p:sp>
    </p:spTree>
    <p:extLst>
      <p:ext uri="{BB962C8B-B14F-4D97-AF65-F5344CB8AC3E}">
        <p14:creationId xmlns:p14="http://schemas.microsoft.com/office/powerpoint/2010/main" val="1777765908"/>
      </p:ext>
    </p:extLst>
  </p:cSld>
</p:sld>
</file>

<file path=ppt/slides/slide1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D5A0131-509C-49B0-8C4E-2DAF538F2014}"/>
              </a:ext>
            </a:extLst>
          </p:cNvPr>
          <p:cNvSpPr>
            <a:spLocks xmlns:a="http://schemas.openxmlformats.org/drawingml/2006/main" noGrp="1"/>
          </p:cNvSpPr>
          <p:nvPr/>
        </p:nvSpPr>
        <p:spPr>
          <a:xfrm xmlns:a="http://schemas.openxmlformats.org/drawingml/2006/main">
            <a:off x="628650" y="400050"/>
            <a:ext cx="1091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325" b="1" i="0">
                <a:solidFill>
                  <a:srgbClr val="12304E"/>
                </a:solidFill>
                <a:latin typeface="Lato"/>
                <a:ea typeface="Lato"/>
                <a:cs typeface="Lato"/>
              </a:defRPr>
            </a:pPr>
            <a:r>
              <a:rPr sz="2325" b="1" i="0">
                <a:solidFill>
                  <a:srgbClr val="12304E"/>
                </a:solidFill>
                <a:latin typeface="Lato"/>
                <a:ea typeface="Lato"/>
                <a:cs typeface="Lato"/>
              </a:rPr>
              <a:t>Proposed next steps with CORDEX</a:t>
            </a:r>
          </a:p>
        </p:txBody>
      </p:sp>
      <p:sp>
        <p:nvSpPr>
          <p:cNvPr id="2" name="">
            <a:extLst xmlns:a="http://schemas.openxmlformats.org/drawingml/2006/main">
              <a:ext uri="{FF2B5EF4-FFF2-40B4-BE49-F238E27FC236}">
                <a16:creationId xmlns:a16="http://schemas.microsoft.com/office/drawing/2014/main" id="{F1C7159E-FB3B-430B-9BD3-748AA4073FA3}"/>
              </a:ext>
            </a:extLst>
          </p:cNvPr>
          <p:cNvSpPr>
            <a:spLocks xmlns:a="http://schemas.openxmlformats.org/drawingml/2006/main" noGrp="1"/>
          </p:cNvSpPr>
          <p:nvPr/>
        </p:nvSpPr>
        <p:spPr>
          <a:xfrm xmlns:a="http://schemas.openxmlformats.org/drawingml/2006/main">
            <a:off x="647700" y="9620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125" b="0" i="0">
                <a:solidFill>
                  <a:srgbClr val="687984"/>
                </a:solidFill>
                <a:latin typeface="Lato"/>
                <a:ea typeface="Lato"/>
                <a:cs typeface="Lato"/>
              </a:defRPr>
            </a:pPr>
            <a:r>
              <a:rPr sz="1125" b="0" i="0">
                <a:solidFill>
                  <a:srgbClr val="687984"/>
                </a:solidFill>
                <a:latin typeface="Lato"/>
                <a:ea typeface="Lato"/>
                <a:cs typeface="Lato"/>
              </a:rPr>
              <a:t>A limited coordination mechanism could support future dataset integration and exchange of implementation experience</a:t>
            </a:r>
          </a:p>
        </p:txBody>
      </p:sp>
      <p:sp>
        <p:nvSpPr>
          <p:cNvPr id="3" name="">
            <a:extLst xmlns:a="http://schemas.openxmlformats.org/drawingml/2006/main">
              <a:ext uri="{FF2B5EF4-FFF2-40B4-BE49-F238E27FC236}">
                <a16:creationId xmlns:a16="http://schemas.microsoft.com/office/drawing/2014/main" id="{24E03EB3-EBDC-4C7A-9FA2-C8AA5D7F1635}"/>
              </a:ext>
            </a:extLst>
          </p:cNvPr>
          <p:cNvSpPr>
            <a:spLocks xmlns:a="http://schemas.openxmlformats.org/drawingml/2006/main" noGrp="1"/>
          </p:cNvSpPr>
          <p:nvPr/>
        </p:nvSpPr>
        <p:spPr>
          <a:xfrm xmlns:a="http://schemas.openxmlformats.org/drawingml/2006/main">
            <a:off x="647700" y="13430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3C7E67B-B28C-47EF-BC6E-CBA2DA4E61AF}"/>
              </a:ext>
            </a:extLst>
          </p:cNvPr>
          <p:cNvSpPr>
            <a:spLocks xmlns:a="http://schemas.openxmlformats.org/drawingml/2006/main" noGrp="1"/>
          </p:cNvSpPr>
          <p:nvPr/>
        </p:nvSpPr>
        <p:spPr>
          <a:xfrm xmlns:a="http://schemas.openxmlformats.org/drawingml/2006/main">
            <a:off x="657225" y="1457325"/>
            <a:ext cx="9906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2223176-ABDC-4A56-A23E-32E47B564101}"/>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34D5B19-2C36-4A3E-854D-C59F893945E4}"/>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750" b="1" i="0">
                <a:solidFill>
                  <a:srgbClr val="687984"/>
                </a:solidFill>
                <a:latin typeface="Lato"/>
                <a:ea typeface="Lato"/>
                <a:cs typeface="Lato"/>
              </a:defRPr>
            </a:pPr>
            <a:r>
              <a:rPr sz="750" b="1" i="0">
                <a:solidFill>
                  <a:srgbClr val="687984"/>
                </a:solidFill>
                <a:latin typeface="Lato"/>
                <a:ea typeface="Lato"/>
                <a:cs typeface="Lato"/>
              </a:rPr>
              <a:t>CAVA × CORDEX</a:t>
            </a:r>
          </a:p>
        </p:txBody>
      </p:sp>
      <p:sp>
        <p:nvSpPr>
          <p:cNvPr id="7" name="">
            <a:extLst xmlns:a="http://schemas.openxmlformats.org/drawingml/2006/main">
              <a:ext uri="{FF2B5EF4-FFF2-40B4-BE49-F238E27FC236}">
                <a16:creationId xmlns:a16="http://schemas.microsoft.com/office/drawing/2014/main" id="{4A653C82-6878-43E7-9D26-37DA167ABC47}"/>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4000"/>
              </a:lnSpc>
              <a:buNone/>
              <a:defRPr sz="750" b="0" i="0">
                <a:solidFill>
                  <a:srgbClr val="687984"/>
                </a:solidFill>
                <a:latin typeface="Lato"/>
                <a:ea typeface="Lato"/>
                <a:cs typeface="Lato"/>
              </a:defRPr>
            </a:pPr>
            <a:r>
              <a:rPr sz="750" b="0" i="0">
                <a:solidFill>
                  <a:srgbClr val="687984"/>
                </a:solidFill>
                <a:latin typeface="Lato"/>
                <a:ea typeface="Lato"/>
                <a:cs typeface="Lato"/>
              </a:rPr>
              <a:t>11</a:t>
            </a:r>
          </a:p>
        </p:txBody>
      </p:sp>
      <p:sp>
        <p:nvSpPr>
          <p:cNvPr id="8" name="">
            <a:extLst xmlns:a="http://schemas.openxmlformats.org/drawingml/2006/main">
              <a:ext uri="{FF2B5EF4-FFF2-40B4-BE49-F238E27FC236}">
                <a16:creationId xmlns:a16="http://schemas.microsoft.com/office/drawing/2014/main" id="{5C90C9D9-BAEE-4D0B-83DC-0AA83F9169F6}"/>
              </a:ext>
            </a:extLst>
          </p:cNvPr>
          <p:cNvSpPr>
            <a:spLocks xmlns:a="http://schemas.openxmlformats.org/drawingml/2006/main" noGrp="1"/>
          </p:cNvSpPr>
          <p:nvPr/>
        </p:nvSpPr>
        <p:spPr>
          <a:xfrm xmlns:a="http://schemas.openxmlformats.org/drawingml/2006/main">
            <a:off x="695325" y="19145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00" b="1" i="0">
                <a:solidFill>
                  <a:srgbClr val="137DB4"/>
                </a:solidFill>
                <a:latin typeface="Lato"/>
                <a:ea typeface="Lato"/>
                <a:cs typeface="Lato"/>
              </a:defRPr>
            </a:pPr>
            <a:r>
              <a:rPr sz="2100" b="1" i="0">
                <a:solidFill>
                  <a:srgbClr val="137DB4"/>
                </a:solidFill>
                <a:latin typeface="Lato"/>
                <a:ea typeface="Lato"/>
                <a:cs typeface="Lato"/>
              </a:rPr>
              <a:t>01</a:t>
            </a:r>
          </a:p>
        </p:txBody>
      </p:sp>
      <p:sp>
        <p:nvSpPr>
          <p:cNvPr id="9" name="">
            <a:extLst xmlns:a="http://schemas.openxmlformats.org/drawingml/2006/main">
              <a:ext uri="{FF2B5EF4-FFF2-40B4-BE49-F238E27FC236}">
                <a16:creationId xmlns:a16="http://schemas.microsoft.com/office/drawing/2014/main" id="{79DEF5A2-69DF-46F3-91AE-D5F6B5A7C0D8}"/>
              </a:ext>
            </a:extLst>
          </p:cNvPr>
          <p:cNvSpPr>
            <a:spLocks xmlns:a="http://schemas.openxmlformats.org/drawingml/2006/main" noGrp="1"/>
          </p:cNvSpPr>
          <p:nvPr/>
        </p:nvSpPr>
        <p:spPr>
          <a:xfrm xmlns:a="http://schemas.openxmlformats.org/drawingml/2006/main">
            <a:off x="1371600" y="1847850"/>
            <a:ext cx="47625" cy="1000125"/>
          </a:xfrm>
          <a:prstGeom xmlns:a="http://schemas.openxmlformats.org/drawingml/2006/main" prst="rect">
            <a:avLst/>
          </a:prstGeom>
          <a:solidFill xmlns:a="http://schemas.openxmlformats.org/drawingml/2006/main">
            <a:srgbClr val="137DB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A26389B-C7C1-435E-978D-6BF38946FFCC}"/>
              </a:ext>
            </a:extLst>
          </p:cNvPr>
          <p:cNvSpPr>
            <a:spLocks xmlns:a="http://schemas.openxmlformats.org/drawingml/2006/main" noGrp="1"/>
          </p:cNvSpPr>
          <p:nvPr/>
        </p:nvSpPr>
        <p:spPr>
          <a:xfrm xmlns:a="http://schemas.openxmlformats.org/drawingml/2006/main">
            <a:off x="1657350" y="18764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725" b="1" i="0">
                <a:solidFill>
                  <a:srgbClr val="12304E"/>
                </a:solidFill>
                <a:latin typeface="Lato"/>
                <a:ea typeface="Lato"/>
                <a:cs typeface="Lato"/>
              </a:defRPr>
            </a:pPr>
            <a:r>
              <a:rPr sz="1725" b="1" i="0">
                <a:solidFill>
                  <a:srgbClr val="12304E"/>
                </a:solidFill>
                <a:latin typeface="Lato"/>
                <a:ea typeface="Lato"/>
                <a:cs typeface="Lato"/>
              </a:rPr>
              <a:t>Plan the next data transition</a:t>
            </a:r>
          </a:p>
        </p:txBody>
      </p:sp>
      <p:sp>
        <p:nvSpPr>
          <p:cNvPr id="11" name="">
            <a:extLst xmlns:a="http://schemas.openxmlformats.org/drawingml/2006/main">
              <a:ext uri="{FF2B5EF4-FFF2-40B4-BE49-F238E27FC236}">
                <a16:creationId xmlns:a16="http://schemas.microsoft.com/office/drawing/2014/main" id="{EE244212-1A0B-46A9-8706-5B44AD46CA23}"/>
              </a:ext>
            </a:extLst>
          </p:cNvPr>
          <p:cNvSpPr>
            <a:spLocks xmlns:a="http://schemas.openxmlformats.org/drawingml/2006/main" noGrp="1"/>
          </p:cNvSpPr>
          <p:nvPr/>
        </p:nvSpPr>
        <p:spPr>
          <a:xfrm xmlns:a="http://schemas.openxmlformats.org/drawingml/2006/main">
            <a:off x="1657350" y="2305050"/>
            <a:ext cx="5467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200" b="0" i="0">
                <a:solidFill>
                  <a:srgbClr val="687984"/>
                </a:solidFill>
                <a:latin typeface="Lato"/>
                <a:ea typeface="Lato"/>
                <a:cs typeface="Lato"/>
              </a:defRPr>
            </a:pPr>
            <a:r>
              <a:rPr sz="1200" b="0" i="0">
                <a:solidFill>
                  <a:srgbClr val="687984"/>
                </a:solidFill>
                <a:latin typeface="Lato"/>
                <a:ea typeface="Lato"/>
                <a:cs typeface="Lato"/>
              </a:rPr>
              <a:t>Assess CORDEX-CMIP6 or CMIP7 according to archive maturity and user needs. Prepare for ERA6 integration when it becomes operationally available.</a:t>
            </a:r>
          </a:p>
        </p:txBody>
      </p:sp>
      <p:sp>
        <p:nvSpPr>
          <p:cNvPr id="12" name="">
            <a:extLst xmlns:a="http://schemas.openxmlformats.org/drawingml/2006/main">
              <a:ext uri="{FF2B5EF4-FFF2-40B4-BE49-F238E27FC236}">
                <a16:creationId xmlns:a16="http://schemas.microsoft.com/office/drawing/2014/main" id="{A3E5CE52-6C4E-4B9A-AAA8-E6CDC00D360C}"/>
              </a:ext>
            </a:extLst>
          </p:cNvPr>
          <p:cNvSpPr>
            <a:spLocks xmlns:a="http://schemas.openxmlformats.org/drawingml/2006/main" noGrp="1"/>
          </p:cNvSpPr>
          <p:nvPr/>
        </p:nvSpPr>
        <p:spPr>
          <a:xfrm xmlns:a="http://schemas.openxmlformats.org/drawingml/2006/main">
            <a:off x="7591425" y="18859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137DB4"/>
                </a:solidFill>
                <a:latin typeface="Lato"/>
                <a:ea typeface="Lato"/>
                <a:cs typeface="Lato"/>
              </a:defRPr>
            </a:pPr>
            <a:r>
              <a:rPr sz="825" b="1" i="0">
                <a:solidFill>
                  <a:srgbClr val="137DB4"/>
                </a:solidFill>
                <a:latin typeface="Lato"/>
                <a:ea typeface="Lato"/>
                <a:cs typeface="Lato"/>
              </a:rPr>
              <a:t>PRACTICAL OUTPUT</a:t>
            </a:r>
          </a:p>
        </p:txBody>
      </p:sp>
      <p:sp>
        <p:nvSpPr>
          <p:cNvPr id="13" name="">
            <a:extLst xmlns:a="http://schemas.openxmlformats.org/drawingml/2006/main">
              <a:ext uri="{FF2B5EF4-FFF2-40B4-BE49-F238E27FC236}">
                <a16:creationId xmlns:a16="http://schemas.microsoft.com/office/drawing/2014/main" id="{9F02D65F-EEC3-43A8-88C1-8D801C6A6DEE}"/>
              </a:ext>
            </a:extLst>
          </p:cNvPr>
          <p:cNvSpPr>
            <a:spLocks xmlns:a="http://schemas.openxmlformats.org/drawingml/2006/main" noGrp="1"/>
          </p:cNvSpPr>
          <p:nvPr/>
        </p:nvSpPr>
        <p:spPr>
          <a:xfrm xmlns:a="http://schemas.openxmlformats.org/drawingml/2006/main">
            <a:off x="7591425" y="2190750"/>
            <a:ext cx="35337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1" i="0">
                <a:solidFill>
                  <a:srgbClr val="12304E"/>
                </a:solidFill>
                <a:latin typeface="Lato"/>
                <a:ea typeface="Lato"/>
                <a:cs typeface="Lato"/>
              </a:defRPr>
            </a:pPr>
            <a:r>
              <a:rPr sz="1275" b="1" i="0">
                <a:solidFill>
                  <a:srgbClr val="12304E"/>
                </a:solidFill>
                <a:latin typeface="Lato"/>
                <a:ea typeface="Lato"/>
                <a:cs typeface="Lato"/>
              </a:rPr>
              <a:t>Dataset readiness criteria, metadata mapping and validation tests</a:t>
            </a:r>
          </a:p>
        </p:txBody>
      </p:sp>
      <p:sp>
        <p:nvSpPr>
          <p:cNvPr id="14" name="">
            <a:extLst xmlns:a="http://schemas.openxmlformats.org/drawingml/2006/main">
              <a:ext uri="{FF2B5EF4-FFF2-40B4-BE49-F238E27FC236}">
                <a16:creationId xmlns:a16="http://schemas.microsoft.com/office/drawing/2014/main" id="{82319CAA-F3D8-49A1-9F3B-BF1AE27CCE82}"/>
              </a:ext>
            </a:extLst>
          </p:cNvPr>
          <p:cNvSpPr>
            <a:spLocks xmlns:a="http://schemas.openxmlformats.org/drawingml/2006/main" noGrp="1"/>
          </p:cNvSpPr>
          <p:nvPr/>
        </p:nvSpPr>
        <p:spPr>
          <a:xfrm xmlns:a="http://schemas.openxmlformats.org/drawingml/2006/main">
            <a:off x="685800" y="3009900"/>
            <a:ext cx="104394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1C5B95E-ADC7-490D-BE16-DDB90D2F5751}"/>
              </a:ext>
            </a:extLst>
          </p:cNvPr>
          <p:cNvSpPr>
            <a:spLocks xmlns:a="http://schemas.openxmlformats.org/drawingml/2006/main" noGrp="1"/>
          </p:cNvSpPr>
          <p:nvPr/>
        </p:nvSpPr>
        <p:spPr>
          <a:xfrm xmlns:a="http://schemas.openxmlformats.org/drawingml/2006/main">
            <a:off x="695325" y="32385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00" b="1" i="0">
                <a:solidFill>
                  <a:srgbClr val="00A88F"/>
                </a:solidFill>
                <a:latin typeface="Lato"/>
                <a:ea typeface="Lato"/>
                <a:cs typeface="Lato"/>
              </a:defRPr>
            </a:pPr>
            <a:r>
              <a:rPr sz="2100" b="1" i="0">
                <a:solidFill>
                  <a:srgbClr val="00A88F"/>
                </a:solidFill>
                <a:latin typeface="Lato"/>
                <a:ea typeface="Lato"/>
                <a:cs typeface="Lato"/>
              </a:rPr>
              <a:t>02</a:t>
            </a:r>
          </a:p>
        </p:txBody>
      </p:sp>
      <p:sp>
        <p:nvSpPr>
          <p:cNvPr id="16" name="">
            <a:extLst xmlns:a="http://schemas.openxmlformats.org/drawingml/2006/main">
              <a:ext uri="{FF2B5EF4-FFF2-40B4-BE49-F238E27FC236}">
                <a16:creationId xmlns:a16="http://schemas.microsoft.com/office/drawing/2014/main" id="{14E2E05B-A2CB-4F5D-9167-9A24A562CDF9}"/>
              </a:ext>
            </a:extLst>
          </p:cNvPr>
          <p:cNvSpPr>
            <a:spLocks xmlns:a="http://schemas.openxmlformats.org/drawingml/2006/main" noGrp="1"/>
          </p:cNvSpPr>
          <p:nvPr/>
        </p:nvSpPr>
        <p:spPr>
          <a:xfrm xmlns:a="http://schemas.openxmlformats.org/drawingml/2006/main">
            <a:off x="1371600" y="3171825"/>
            <a:ext cx="47625" cy="100012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73AD512-46D2-4C1A-A48F-C16E3B8A9F70}"/>
              </a:ext>
            </a:extLst>
          </p:cNvPr>
          <p:cNvSpPr>
            <a:spLocks xmlns:a="http://schemas.openxmlformats.org/drawingml/2006/main" noGrp="1"/>
          </p:cNvSpPr>
          <p:nvPr/>
        </p:nvSpPr>
        <p:spPr>
          <a:xfrm xmlns:a="http://schemas.openxmlformats.org/drawingml/2006/main">
            <a:off x="1657350" y="32004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950"/>
          </a:bodyPr>
          <a:lstStyle xmlns:a="http://schemas.openxmlformats.org/drawingml/2006/main"/>
          <a:p xmlns:a="http://schemas.openxmlformats.org/drawingml/2006/main">
            <a:pPr algn="l">
              <a:lnSpc>
                <a:spcPct val="104000"/>
              </a:lnSpc>
              <a:buNone/>
              <a:defRPr sz="1725" b="1" i="0">
                <a:solidFill>
                  <a:srgbClr val="12304E"/>
                </a:solidFill>
                <a:latin typeface="Lato"/>
                <a:ea typeface="Lato"/>
                <a:cs typeface="Lato"/>
              </a:defRPr>
            </a:pPr>
            <a:r>
              <a:rPr sz="1725" b="1" i="0">
                <a:solidFill>
                  <a:srgbClr val="12304E"/>
                </a:solidFill>
                <a:latin typeface="Lato"/>
                <a:ea typeface="Lato"/>
                <a:cs typeface="Lato"/>
              </a:rPr>
              <a:t>Establish a formal technical contact</a:t>
            </a:r>
          </a:p>
        </p:txBody>
      </p:sp>
      <p:sp>
        <p:nvSpPr>
          <p:cNvPr id="18" name="">
            <a:extLst xmlns:a="http://schemas.openxmlformats.org/drawingml/2006/main">
              <a:ext uri="{FF2B5EF4-FFF2-40B4-BE49-F238E27FC236}">
                <a16:creationId xmlns:a16="http://schemas.microsoft.com/office/drawing/2014/main" id="{C78271F3-C2AA-427D-945E-640B9CFA8060}"/>
              </a:ext>
            </a:extLst>
          </p:cNvPr>
          <p:cNvSpPr>
            <a:spLocks xmlns:a="http://schemas.openxmlformats.org/drawingml/2006/main" noGrp="1"/>
          </p:cNvSpPr>
          <p:nvPr/>
        </p:nvSpPr>
        <p:spPr>
          <a:xfrm xmlns:a="http://schemas.openxmlformats.org/drawingml/2006/main">
            <a:off x="1657350" y="3629025"/>
            <a:ext cx="5467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107"/>
          </a:bodyPr>
          <a:lstStyle xmlns:a="http://schemas.openxmlformats.org/drawingml/2006/main"/>
          <a:p xmlns:a="http://schemas.openxmlformats.org/drawingml/2006/main">
            <a:pPr algn="l">
              <a:lnSpc>
                <a:spcPct val="107000"/>
              </a:lnSpc>
              <a:buNone/>
              <a:defRPr sz="1200" b="0" i="0">
                <a:solidFill>
                  <a:srgbClr val="687984"/>
                </a:solidFill>
                <a:latin typeface="Lato"/>
                <a:ea typeface="Lato"/>
                <a:cs typeface="Lato"/>
              </a:defRPr>
            </a:pPr>
            <a:r>
              <a:rPr sz="1200" b="0" i="0">
                <a:solidFill>
                  <a:srgbClr val="687984"/>
                </a:solidFill>
                <a:latin typeface="Lato"/>
                <a:ea typeface="Lato"/>
                <a:cs typeface="Lato"/>
              </a:rPr>
              <a:t>Identify a named entry point in each team. CAVA can share implemented use cases and access constraints, while CORDEX can communicate relevant guidance and archive changes.</a:t>
            </a:r>
          </a:p>
        </p:txBody>
      </p:sp>
      <p:sp>
        <p:nvSpPr>
          <p:cNvPr id="19" name="">
            <a:extLst xmlns:a="http://schemas.openxmlformats.org/drawingml/2006/main">
              <a:ext uri="{FF2B5EF4-FFF2-40B4-BE49-F238E27FC236}">
                <a16:creationId xmlns:a16="http://schemas.microsoft.com/office/drawing/2014/main" id="{429C11B8-155D-4F30-8954-EE1ABDCC7312}"/>
              </a:ext>
            </a:extLst>
          </p:cNvPr>
          <p:cNvSpPr>
            <a:spLocks xmlns:a="http://schemas.openxmlformats.org/drawingml/2006/main" noGrp="1"/>
          </p:cNvSpPr>
          <p:nvPr/>
        </p:nvSpPr>
        <p:spPr>
          <a:xfrm xmlns:a="http://schemas.openxmlformats.org/drawingml/2006/main">
            <a:off x="7591425" y="320992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00A88F"/>
                </a:solidFill>
                <a:latin typeface="Lato"/>
                <a:ea typeface="Lato"/>
                <a:cs typeface="Lato"/>
              </a:defRPr>
            </a:pPr>
            <a:r>
              <a:rPr sz="825" b="1" i="0">
                <a:solidFill>
                  <a:srgbClr val="00A88F"/>
                </a:solidFill>
                <a:latin typeface="Lato"/>
                <a:ea typeface="Lato"/>
                <a:cs typeface="Lato"/>
              </a:rPr>
              <a:t>PRACTICAL OUTPUT</a:t>
            </a:r>
          </a:p>
        </p:txBody>
      </p:sp>
      <p:sp>
        <p:nvSpPr>
          <p:cNvPr id="20" name="">
            <a:extLst xmlns:a="http://schemas.openxmlformats.org/drawingml/2006/main">
              <a:ext uri="{FF2B5EF4-FFF2-40B4-BE49-F238E27FC236}">
                <a16:creationId xmlns:a16="http://schemas.microsoft.com/office/drawing/2014/main" id="{303D03EA-3AA8-43FE-ACB1-9FB4C6698553}"/>
              </a:ext>
            </a:extLst>
          </p:cNvPr>
          <p:cNvSpPr>
            <a:spLocks xmlns:a="http://schemas.openxmlformats.org/drawingml/2006/main" noGrp="1"/>
          </p:cNvSpPr>
          <p:nvPr/>
        </p:nvSpPr>
        <p:spPr>
          <a:xfrm xmlns:a="http://schemas.openxmlformats.org/drawingml/2006/main">
            <a:off x="7591425" y="3514725"/>
            <a:ext cx="35337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1" i="0">
                <a:solidFill>
                  <a:srgbClr val="12304E"/>
                </a:solidFill>
                <a:latin typeface="Lato"/>
                <a:ea typeface="Lato"/>
                <a:cs typeface="Lato"/>
              </a:defRPr>
            </a:pPr>
            <a:r>
              <a:rPr sz="1275" b="1" i="0">
                <a:solidFill>
                  <a:srgbClr val="12304E"/>
                </a:solidFill>
                <a:latin typeface="Lato"/>
                <a:ea typeface="Lato"/>
                <a:cs typeface="Lato"/>
              </a:rPr>
              <a:t>Named focal points and a simple route for technical questions</a:t>
            </a:r>
          </a:p>
        </p:txBody>
      </p:sp>
      <p:sp>
        <p:nvSpPr>
          <p:cNvPr id="21" name="">
            <a:extLst xmlns:a="http://schemas.openxmlformats.org/drawingml/2006/main">
              <a:ext uri="{FF2B5EF4-FFF2-40B4-BE49-F238E27FC236}">
                <a16:creationId xmlns:a16="http://schemas.microsoft.com/office/drawing/2014/main" id="{B92D5CDA-C03A-483E-B16E-DE8283F146EF}"/>
              </a:ext>
            </a:extLst>
          </p:cNvPr>
          <p:cNvSpPr>
            <a:spLocks xmlns:a="http://schemas.openxmlformats.org/drawingml/2006/main" noGrp="1"/>
          </p:cNvSpPr>
          <p:nvPr/>
        </p:nvSpPr>
        <p:spPr>
          <a:xfrm xmlns:a="http://schemas.openxmlformats.org/drawingml/2006/main">
            <a:off x="685800" y="4333875"/>
            <a:ext cx="104394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EA2A5AB-5353-4683-9115-A6207420B303}"/>
              </a:ext>
            </a:extLst>
          </p:cNvPr>
          <p:cNvSpPr>
            <a:spLocks xmlns:a="http://schemas.openxmlformats.org/drawingml/2006/main" noGrp="1"/>
          </p:cNvSpPr>
          <p:nvPr/>
        </p:nvSpPr>
        <p:spPr>
          <a:xfrm xmlns:a="http://schemas.openxmlformats.org/drawingml/2006/main">
            <a:off x="695325" y="456247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100" b="1" i="0">
                <a:solidFill>
                  <a:srgbClr val="A86F00"/>
                </a:solidFill>
                <a:latin typeface="Lato"/>
                <a:ea typeface="Lato"/>
                <a:cs typeface="Lato"/>
              </a:defRPr>
            </a:pPr>
            <a:r>
              <a:rPr sz="2100" b="1" i="0">
                <a:solidFill>
                  <a:srgbClr val="A86F00"/>
                </a:solidFill>
                <a:latin typeface="Lato"/>
                <a:ea typeface="Lato"/>
                <a:cs typeface="Lato"/>
              </a:rPr>
              <a:t>03</a:t>
            </a:r>
          </a:p>
        </p:txBody>
      </p:sp>
      <p:sp>
        <p:nvSpPr>
          <p:cNvPr id="23" name="">
            <a:extLst xmlns:a="http://schemas.openxmlformats.org/drawingml/2006/main">
              <a:ext uri="{FF2B5EF4-FFF2-40B4-BE49-F238E27FC236}">
                <a16:creationId xmlns:a16="http://schemas.microsoft.com/office/drawing/2014/main" id="{37FE1B96-ED6E-4169-A394-D8C1815F0140}"/>
              </a:ext>
            </a:extLst>
          </p:cNvPr>
          <p:cNvSpPr>
            <a:spLocks xmlns:a="http://schemas.openxmlformats.org/drawingml/2006/main" noGrp="1"/>
          </p:cNvSpPr>
          <p:nvPr/>
        </p:nvSpPr>
        <p:spPr>
          <a:xfrm xmlns:a="http://schemas.openxmlformats.org/drawingml/2006/main">
            <a:off x="1371600" y="4495800"/>
            <a:ext cx="47625" cy="1000125"/>
          </a:xfrm>
          <a:prstGeom xmlns:a="http://schemas.openxmlformats.org/drawingml/2006/main" prst="rect">
            <a:avLst/>
          </a:prstGeom>
          <a:solidFill xmlns:a="http://schemas.openxmlformats.org/drawingml/2006/main">
            <a:srgbClr val="A86F0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BBBE62B-7DEE-4D0F-B5AB-631536DCBF36}"/>
              </a:ext>
            </a:extLst>
          </p:cNvPr>
          <p:cNvSpPr>
            <a:spLocks xmlns:a="http://schemas.openxmlformats.org/drawingml/2006/main" noGrp="1"/>
          </p:cNvSpPr>
          <p:nvPr/>
        </p:nvSpPr>
        <p:spPr>
          <a:xfrm xmlns:a="http://schemas.openxmlformats.org/drawingml/2006/main">
            <a:off x="1657350" y="45243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85"/>
          </a:bodyPr>
          <a:lstStyle xmlns:a="http://schemas.openxmlformats.org/drawingml/2006/main"/>
          <a:p xmlns:a="http://schemas.openxmlformats.org/drawingml/2006/main">
            <a:pPr algn="l">
              <a:lnSpc>
                <a:spcPct val="104000"/>
              </a:lnSpc>
              <a:buNone/>
              <a:defRPr sz="1725" b="1" i="0">
                <a:solidFill>
                  <a:srgbClr val="12304E"/>
                </a:solidFill>
                <a:latin typeface="Lato"/>
                <a:ea typeface="Lato"/>
                <a:cs typeface="Lato"/>
              </a:defRPr>
            </a:pPr>
            <a:r>
              <a:rPr sz="1725" b="1" i="0">
                <a:solidFill>
                  <a:srgbClr val="12304E"/>
                </a:solidFill>
                <a:latin typeface="Lato"/>
                <a:ea typeface="Lato"/>
                <a:cs typeface="Lato"/>
              </a:rPr>
              <a:t>Hold an annual technical exchange</a:t>
            </a:r>
          </a:p>
        </p:txBody>
      </p:sp>
      <p:sp>
        <p:nvSpPr>
          <p:cNvPr id="25" name="">
            <a:extLst xmlns:a="http://schemas.openxmlformats.org/drawingml/2006/main">
              <a:ext uri="{FF2B5EF4-FFF2-40B4-BE49-F238E27FC236}">
                <a16:creationId xmlns:a16="http://schemas.microsoft.com/office/drawing/2014/main" id="{62373F11-3C35-46B7-83A0-16FC4E2C83FC}"/>
              </a:ext>
            </a:extLst>
          </p:cNvPr>
          <p:cNvSpPr>
            <a:spLocks xmlns:a="http://schemas.openxmlformats.org/drawingml/2006/main" noGrp="1"/>
          </p:cNvSpPr>
          <p:nvPr/>
        </p:nvSpPr>
        <p:spPr>
          <a:xfrm xmlns:a="http://schemas.openxmlformats.org/drawingml/2006/main">
            <a:off x="1657350" y="4953000"/>
            <a:ext cx="5467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107"/>
          </a:bodyPr>
          <a:lstStyle xmlns:a="http://schemas.openxmlformats.org/drawingml/2006/main"/>
          <a:p xmlns:a="http://schemas.openxmlformats.org/drawingml/2006/main">
            <a:pPr algn="l">
              <a:lnSpc>
                <a:spcPct val="107000"/>
              </a:lnSpc>
              <a:buNone/>
              <a:defRPr sz="1200" b="0" i="0">
                <a:solidFill>
                  <a:srgbClr val="687984"/>
                </a:solidFill>
                <a:latin typeface="Lato"/>
                <a:ea typeface="Lato"/>
                <a:cs typeface="Lato"/>
              </a:defRPr>
            </a:pPr>
            <a:r>
              <a:rPr sz="1200" b="0" i="0">
                <a:solidFill>
                  <a:srgbClr val="687984"/>
                </a:solidFill>
                <a:latin typeface="Lato"/>
                <a:ea typeface="Lato"/>
                <a:cs typeface="Lato"/>
              </a:rPr>
              <a:t>Meet once per year to review the dataset roadmap, methodological issues and documented applications. Use ad hoc contact only when changes affect implementation.</a:t>
            </a:r>
          </a:p>
        </p:txBody>
      </p:sp>
      <p:sp>
        <p:nvSpPr>
          <p:cNvPr id="26" name="">
            <a:extLst xmlns:a="http://schemas.openxmlformats.org/drawingml/2006/main">
              <a:ext uri="{FF2B5EF4-FFF2-40B4-BE49-F238E27FC236}">
                <a16:creationId xmlns:a16="http://schemas.microsoft.com/office/drawing/2014/main" id="{A4F5289E-8AB5-4B24-8CBF-17BDD813A1FC}"/>
              </a:ext>
            </a:extLst>
          </p:cNvPr>
          <p:cNvSpPr>
            <a:spLocks xmlns:a="http://schemas.openxmlformats.org/drawingml/2006/main" noGrp="1"/>
          </p:cNvSpPr>
          <p:nvPr/>
        </p:nvSpPr>
        <p:spPr>
          <a:xfrm xmlns:a="http://schemas.openxmlformats.org/drawingml/2006/main">
            <a:off x="7591425" y="453390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825" b="1" i="0">
                <a:solidFill>
                  <a:srgbClr val="A86F00"/>
                </a:solidFill>
                <a:latin typeface="Lato"/>
                <a:ea typeface="Lato"/>
                <a:cs typeface="Lato"/>
              </a:defRPr>
            </a:pPr>
            <a:r>
              <a:rPr sz="825" b="1" i="0">
                <a:solidFill>
                  <a:srgbClr val="A86F00"/>
                </a:solidFill>
                <a:latin typeface="Lato"/>
                <a:ea typeface="Lato"/>
                <a:cs typeface="Lato"/>
              </a:rPr>
              <a:t>PRACTICAL OUTPUT</a:t>
            </a:r>
          </a:p>
        </p:txBody>
      </p:sp>
      <p:sp>
        <p:nvSpPr>
          <p:cNvPr id="27" name="">
            <a:extLst xmlns:a="http://schemas.openxmlformats.org/drawingml/2006/main">
              <a:ext uri="{FF2B5EF4-FFF2-40B4-BE49-F238E27FC236}">
                <a16:creationId xmlns:a16="http://schemas.microsoft.com/office/drawing/2014/main" id="{19D6BC29-B642-4415-B37A-AFA6FFB96A24}"/>
              </a:ext>
            </a:extLst>
          </p:cNvPr>
          <p:cNvSpPr>
            <a:spLocks xmlns:a="http://schemas.openxmlformats.org/drawingml/2006/main" noGrp="1"/>
          </p:cNvSpPr>
          <p:nvPr/>
        </p:nvSpPr>
        <p:spPr>
          <a:xfrm xmlns:a="http://schemas.openxmlformats.org/drawingml/2006/main">
            <a:off x="7591425" y="4838700"/>
            <a:ext cx="35337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1" i="0">
                <a:solidFill>
                  <a:srgbClr val="12304E"/>
                </a:solidFill>
                <a:latin typeface="Lato"/>
                <a:ea typeface="Lato"/>
                <a:cs typeface="Lato"/>
              </a:defRPr>
            </a:pPr>
            <a:r>
              <a:rPr sz="1275" b="1" i="0">
                <a:solidFill>
                  <a:srgbClr val="12304E"/>
                </a:solidFill>
                <a:latin typeface="Lato"/>
                <a:ea typeface="Lato"/>
                <a:cs typeface="Lato"/>
              </a:rPr>
              <a:t>One scheduled review each year with a short technical agenda</a:t>
            </a:r>
          </a:p>
        </p:txBody>
      </p:sp>
      <p:sp>
        <p:nvSpPr>
          <p:cNvPr id="28" name="">
            <a:extLst xmlns:a="http://schemas.openxmlformats.org/drawingml/2006/main">
              <a:ext uri="{FF2B5EF4-FFF2-40B4-BE49-F238E27FC236}">
                <a16:creationId xmlns:a16="http://schemas.microsoft.com/office/drawing/2014/main" id="{96FAF4D7-21C0-4E80-A3FE-940979DC09DB}"/>
              </a:ext>
            </a:extLst>
          </p:cNvPr>
          <p:cNvSpPr>
            <a:spLocks xmlns:a="http://schemas.openxmlformats.org/drawingml/2006/main" noGrp="1"/>
          </p:cNvSpPr>
          <p:nvPr/>
        </p:nvSpPr>
        <p:spPr>
          <a:xfrm xmlns:a="http://schemas.openxmlformats.org/drawingml/2006/main">
            <a:off x="1657350" y="5715000"/>
            <a:ext cx="9467850" cy="34290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5757B27-E2BC-47BB-BFDB-64C2EE3082F0}"/>
              </a:ext>
            </a:extLst>
          </p:cNvPr>
          <p:cNvSpPr>
            <a:spLocks xmlns:a="http://schemas.openxmlformats.org/drawingml/2006/main" noGrp="1"/>
          </p:cNvSpPr>
          <p:nvPr/>
        </p:nvSpPr>
        <p:spPr>
          <a:xfrm xmlns:a="http://schemas.openxmlformats.org/drawingml/2006/main">
            <a:off x="1885950" y="5791200"/>
            <a:ext cx="9010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125" b="1" i="0">
                <a:solidFill>
                  <a:srgbClr val="FFFFFF"/>
                </a:solidFill>
                <a:latin typeface="Lato"/>
                <a:ea typeface="Lato"/>
                <a:cs typeface="Lato"/>
              </a:defRPr>
            </a:pPr>
            <a:r>
              <a:rPr sz="1125" b="1" i="0">
                <a:solidFill>
                  <a:srgbClr val="FFFFFF"/>
                </a:solidFill>
                <a:latin typeface="Lato"/>
                <a:ea typeface="Lato"/>
                <a:cs typeface="Lato"/>
              </a:rPr>
              <a:t>Initial step: confirm the appropriate CORDEX contact and the readiness criteria for the next CAVA data cycle.</a:t>
            </a:r>
          </a:p>
        </p:txBody>
      </p:sp>
    </p:spTree>
    <p:extLst>
      <p:ext uri="{BB962C8B-B14F-4D97-AF65-F5344CB8AC3E}">
        <p14:creationId xmlns:p14="http://schemas.microsoft.com/office/powerpoint/2010/main" val="1969137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2026-09-23T12:14:56.2060000Z</dcterms:created>
  <dcterms:modified xsi:type="dcterms:W3CDTF">2026-09-23T12:14:56.2060000Z</dcterms:modified>
</coreProperties>
</file>