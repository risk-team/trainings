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f69b0744ee4ecd" /><Relationship Type="http://schemas.openxmlformats.org/officeDocument/2006/relationships/extended-properties" Target="/docProps/app.xml" Id="Rc8057cf196ed4d44" /><Relationship Type="http://schemas.openxmlformats.org/officeDocument/2006/relationships/officeDocument" Target="/ppt/presentation.xml" Id="Rc701dfade450440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21cad6ab535458c"/>
  </p:sldMasterIdLst>
  <p:notesMasterIdLst>
    <p:notesMasterId xmlns:r="http://schemas.openxmlformats.org/officeDocument/2006/relationships" r:id="R2e573007d3984887"/>
  </p:notesMasterIdLst>
  <p:sldIdLst>
    <p:sldId xmlns:r="http://schemas.openxmlformats.org/officeDocument/2006/relationships" id="256" r:id="Rbc23ca844784476b"/>
    <p:sldId xmlns:r="http://schemas.openxmlformats.org/officeDocument/2006/relationships" id="257" r:id="R17bd247ce2574845"/>
    <p:sldId xmlns:r="http://schemas.openxmlformats.org/officeDocument/2006/relationships" id="258" r:id="R4f64d76344c74829"/>
    <p:sldId xmlns:r="http://schemas.openxmlformats.org/officeDocument/2006/relationships" id="259" r:id="Rf73a12f7abec4139"/>
    <p:sldId xmlns:r="http://schemas.openxmlformats.org/officeDocument/2006/relationships" id="260" r:id="Rb8f38ccfd7a346d9"/>
    <p:sldId xmlns:r="http://schemas.openxmlformats.org/officeDocument/2006/relationships" id="261" r:id="Rb788664570bc4aa1"/>
    <p:sldId xmlns:r="http://schemas.openxmlformats.org/officeDocument/2006/relationships" id="262" r:id="R61816ece90854b0d"/>
    <p:sldId xmlns:r="http://schemas.openxmlformats.org/officeDocument/2006/relationships" id="263" r:id="Rc79d88ba1f2b444a"/>
    <p:sldId xmlns:r="http://schemas.openxmlformats.org/officeDocument/2006/relationships" id="264" r:id="Rec2c43c13f994607"/>
    <p:sldId xmlns:r="http://schemas.openxmlformats.org/officeDocument/2006/relationships" id="265" r:id="R3cad2f9bb1074c46"/>
    <p:sldId xmlns:r="http://schemas.openxmlformats.org/officeDocument/2006/relationships" id="266" r:id="Rcfd46757030b4da4"/>
    <p:sldId xmlns:r="http://schemas.openxmlformats.org/officeDocument/2006/relationships" id="267" r:id="Rc36d74ed43274314"/>
    <p:sldId xmlns:r="http://schemas.openxmlformats.org/officeDocument/2006/relationships" id="268" r:id="R630c53dee46740ff"/>
    <p:sldId xmlns:r="http://schemas.openxmlformats.org/officeDocument/2006/relationships" id="269" r:id="R6a144afa35084321"/>
    <p:sldId xmlns:r="http://schemas.openxmlformats.org/officeDocument/2006/relationships" id="270" r:id="R39b79f2dc6724c66"/>
    <p:sldId xmlns:r="http://schemas.openxmlformats.org/officeDocument/2006/relationships" id="271" r:id="R980236457cbf4210"/>
    <p:sldId xmlns:r="http://schemas.openxmlformats.org/officeDocument/2006/relationships" id="272" r:id="Rdf873e05a250431d"/>
    <p:sldId xmlns:r="http://schemas.openxmlformats.org/officeDocument/2006/relationships" id="273" r:id="Rb0f1b2fd0f214350"/>
    <p:sldId xmlns:r="http://schemas.openxmlformats.org/officeDocument/2006/relationships" id="274" r:id="R9c77e8d8d2df4c08"/>
    <p:sldId xmlns:r="http://schemas.openxmlformats.org/officeDocument/2006/relationships" id="275" r:id="R1ce03179bd4948d4"/>
    <p:sldId xmlns:r="http://schemas.openxmlformats.org/officeDocument/2006/relationships" id="276" r:id="R79eb37cfb8a24843"/>
    <p:sldId xmlns:r="http://schemas.openxmlformats.org/officeDocument/2006/relationships" id="277" r:id="Ra0ce9f65c2234bca"/>
    <p:sldId xmlns:r="http://schemas.openxmlformats.org/officeDocument/2006/relationships" id="278" r:id="Rfcfdd0dd558c4f75"/>
    <p:sldId xmlns:r="http://schemas.openxmlformats.org/officeDocument/2006/relationships" id="279" r:id="R39bb0851fd944903"/>
    <p:sldId xmlns:r="http://schemas.openxmlformats.org/officeDocument/2006/relationships" id="280" r:id="Rdba8fc25c6d4487f"/>
    <p:sldId xmlns:r="http://schemas.openxmlformats.org/officeDocument/2006/relationships" id="281" r:id="Rf3a3195e42ea4b4c"/>
    <p:sldId xmlns:r="http://schemas.openxmlformats.org/officeDocument/2006/relationships" id="282" r:id="Rf35b66ff10454003"/>
    <p:sldId xmlns:r="http://schemas.openxmlformats.org/officeDocument/2006/relationships" id="283" r:id="R4617b25988ac4998"/>
    <p:sldId xmlns:r="http://schemas.openxmlformats.org/officeDocument/2006/relationships" id="284" r:id="R3c5b1f7a7bee4d59"/>
  </p:sldIdLst>
  <p:sldSz cx="12192000" cy="6858000"/>
  <p:notesSz cx="6858000" cy="9144000"/>
  <p:embeddedFontLst>
    <p:embeddedFont>
      <p:font typeface="Lato"/>
      <p:regular xmlns:r="http://schemas.openxmlformats.org/officeDocument/2006/relationships" r:id="R4b88078f53534f4d"/>
      <p:bold xmlns:r="http://schemas.openxmlformats.org/officeDocument/2006/relationships" r:id="R786a1814440f4fd2"/>
      <p:italic xmlns:r="http://schemas.openxmlformats.org/officeDocument/2006/relationships" r:id="Rd2af1d8fd60544d5"/>
      <p:boldItalic xmlns:r="http://schemas.openxmlformats.org/officeDocument/2006/relationships" r:id="R5f9945a566da4d7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41851341fc4e4d" /><Relationship Type="http://schemas.openxmlformats.org/officeDocument/2006/relationships/slideMaster" Target="/ppt/slideMasters/slideMaster1.xml" Id="R321cad6ab535458c" /><Relationship Type="http://schemas.openxmlformats.org/officeDocument/2006/relationships/notesMaster" Target="/ppt/notesMasters/notesMaster1.xml" Id="R2e573007d3984887" /><Relationship Type="http://schemas.openxmlformats.org/officeDocument/2006/relationships/presProps" Target="/ppt/presProps.xml" Id="R71c8b1046fe04ac1" /><Relationship Type="http://schemas.openxmlformats.org/officeDocument/2006/relationships/tableStyles" Target="/ppt/tableStyles.xml" Id="R679ca73a92404a95" /><Relationship Type="http://schemas.openxmlformats.org/officeDocument/2006/relationships/font" Target="/ppt/fonts/font.dat" Id="R4b88078f53534f4d" /><Relationship Type="http://schemas.openxmlformats.org/officeDocument/2006/relationships/font" Target="/ppt/fonts/font2.dat" Id="R786a1814440f4fd2" /><Relationship Type="http://schemas.openxmlformats.org/officeDocument/2006/relationships/font" Target="/ppt/fonts/font3.dat" Id="Rd2af1d8fd60544d5" /><Relationship Type="http://schemas.openxmlformats.org/officeDocument/2006/relationships/font" Target="/ppt/fonts/font4.dat" Id="R5f9945a566da4d72" /><Relationship Type="http://schemas.openxmlformats.org/officeDocument/2006/relationships/slide" Target="/ppt/slides/slide1.xml" Id="Rbc23ca844784476b" /><Relationship Type="http://schemas.openxmlformats.org/officeDocument/2006/relationships/slide" Target="/ppt/slides/slide2.xml" Id="R17bd247ce2574845" /><Relationship Type="http://schemas.openxmlformats.org/officeDocument/2006/relationships/slide" Target="/ppt/slides/slide3.xml" Id="R4f64d76344c74829" /><Relationship Type="http://schemas.openxmlformats.org/officeDocument/2006/relationships/slide" Target="/ppt/slides/slide4.xml" Id="Rf73a12f7abec4139" /><Relationship Type="http://schemas.openxmlformats.org/officeDocument/2006/relationships/slide" Target="/ppt/slides/slide5.xml" Id="Rb8f38ccfd7a346d9" /><Relationship Type="http://schemas.openxmlformats.org/officeDocument/2006/relationships/slide" Target="/ppt/slides/slide6.xml" Id="Rb788664570bc4aa1" /><Relationship Type="http://schemas.openxmlformats.org/officeDocument/2006/relationships/slide" Target="/ppt/slides/slide7.xml" Id="R61816ece90854b0d" /><Relationship Type="http://schemas.openxmlformats.org/officeDocument/2006/relationships/slide" Target="/ppt/slides/slide8.xml" Id="Rc79d88ba1f2b444a" /><Relationship Type="http://schemas.openxmlformats.org/officeDocument/2006/relationships/slide" Target="/ppt/slides/slide9.xml" Id="Rec2c43c13f994607" /><Relationship Type="http://schemas.openxmlformats.org/officeDocument/2006/relationships/slide" Target="/ppt/slides/slide10.xml" Id="R3cad2f9bb1074c46" /><Relationship Type="http://schemas.openxmlformats.org/officeDocument/2006/relationships/slide" Target="/ppt/slides/slide11.xml" Id="Rcfd46757030b4da4" /><Relationship Type="http://schemas.openxmlformats.org/officeDocument/2006/relationships/slide" Target="/ppt/slides/slide12.xml" Id="Rc36d74ed43274314" /><Relationship Type="http://schemas.openxmlformats.org/officeDocument/2006/relationships/slide" Target="/ppt/slides/slide13.xml" Id="R630c53dee46740ff" /><Relationship Type="http://schemas.openxmlformats.org/officeDocument/2006/relationships/slide" Target="/ppt/slides/slide14.xml" Id="R6a144afa35084321" /><Relationship Type="http://schemas.openxmlformats.org/officeDocument/2006/relationships/slide" Target="/ppt/slides/slide15.xml" Id="R39b79f2dc6724c66" /><Relationship Type="http://schemas.openxmlformats.org/officeDocument/2006/relationships/slide" Target="/ppt/slides/slide16.xml" Id="R980236457cbf4210" /><Relationship Type="http://schemas.openxmlformats.org/officeDocument/2006/relationships/slide" Target="/ppt/slides/slide17.xml" Id="Rdf873e05a250431d" /><Relationship Type="http://schemas.openxmlformats.org/officeDocument/2006/relationships/slide" Target="/ppt/slides/slide18.xml" Id="Rb0f1b2fd0f214350" /><Relationship Type="http://schemas.openxmlformats.org/officeDocument/2006/relationships/slide" Target="/ppt/slides/slide19.xml" Id="R9c77e8d8d2df4c08" /><Relationship Type="http://schemas.openxmlformats.org/officeDocument/2006/relationships/slide" Target="/ppt/slides/slide20.xml" Id="R1ce03179bd4948d4" /><Relationship Type="http://schemas.openxmlformats.org/officeDocument/2006/relationships/slide" Target="/ppt/slides/slide21.xml" Id="R79eb37cfb8a24843" /><Relationship Type="http://schemas.openxmlformats.org/officeDocument/2006/relationships/slide" Target="/ppt/slides/slide22.xml" Id="Ra0ce9f65c2234bca" /><Relationship Type="http://schemas.openxmlformats.org/officeDocument/2006/relationships/slide" Target="/ppt/slides/slide23.xml" Id="Rfcfdd0dd558c4f75" /><Relationship Type="http://schemas.openxmlformats.org/officeDocument/2006/relationships/slide" Target="/ppt/slides/slide24.xml" Id="R39bb0851fd944903" /><Relationship Type="http://schemas.openxmlformats.org/officeDocument/2006/relationships/slide" Target="/ppt/slides/slide25.xml" Id="Rdba8fc25c6d4487f" /><Relationship Type="http://schemas.openxmlformats.org/officeDocument/2006/relationships/slide" Target="/ppt/slides/slide26.xml" Id="Rf3a3195e42ea4b4c" /><Relationship Type="http://schemas.openxmlformats.org/officeDocument/2006/relationships/slide" Target="/ppt/slides/slide27.xml" Id="Rf35b66ff10454003" /><Relationship Type="http://schemas.openxmlformats.org/officeDocument/2006/relationships/slide" Target="/ppt/slides/slide28.xml" Id="R4617b25988ac4998" /><Relationship Type="http://schemas.openxmlformats.org/officeDocument/2006/relationships/slide" Target="/ppt/slides/slide29.xml" Id="R3c5b1f7a7bee4d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a7c68fd81c46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5d170d92194688" /><Relationship Type="http://schemas.openxmlformats.org/officeDocument/2006/relationships/notesMaster" Target="/ppt/notesMasters/notesMaster1.xml" Id="R2cf4c6c5865040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e79c6ac8b04d36" /><Relationship Type="http://schemas.openxmlformats.org/officeDocument/2006/relationships/notesMaster" Target="/ppt/notesMasters/notesMaster1.xml" Id="R9e9bbdb9422343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d6a78d6c61417b" /><Relationship Type="http://schemas.openxmlformats.org/officeDocument/2006/relationships/notesMaster" Target="/ppt/notesMasters/notesMaster1.xml" Id="R844e828c49b249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93fcf5e2df478b" /><Relationship Type="http://schemas.openxmlformats.org/officeDocument/2006/relationships/notesMaster" Target="/ppt/notesMasters/notesMaster1.xml" Id="Rff0875fe113644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1dc14bc2084c16" /><Relationship Type="http://schemas.openxmlformats.org/officeDocument/2006/relationships/notesMaster" Target="/ppt/notesMasters/notesMaster1.xml" Id="R885bc9ff5ad046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1b9407027d408d" /><Relationship Type="http://schemas.openxmlformats.org/officeDocument/2006/relationships/notesMaster" Target="/ppt/notesMasters/notesMaster1.xml" Id="Rba8995e8f9884e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fcd00b1baf44b1" /><Relationship Type="http://schemas.openxmlformats.org/officeDocument/2006/relationships/notesMaster" Target="/ppt/notesMasters/notesMaster1.xml" Id="R29aaa1b3051543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3b942f6c8541de" /><Relationship Type="http://schemas.openxmlformats.org/officeDocument/2006/relationships/notesMaster" Target="/ppt/notesMasters/notesMaster1.xml" Id="Rc0fa3c20adcf4c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9a5ce972c546b5" /><Relationship Type="http://schemas.openxmlformats.org/officeDocument/2006/relationships/notesMaster" Target="/ppt/notesMasters/notesMaster1.xml" Id="Rbdde75a7b9bd47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42950f3b0e4cfc" /><Relationship Type="http://schemas.openxmlformats.org/officeDocument/2006/relationships/notesMaster" Target="/ppt/notesMasters/notesMaster1.xml" Id="R88446bc156524e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8032294385481a" /><Relationship Type="http://schemas.openxmlformats.org/officeDocument/2006/relationships/notesMaster" Target="/ppt/notesMasters/notesMaster1.xml" Id="Ra7b83ac7124749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c989dc4aac40cb" /><Relationship Type="http://schemas.openxmlformats.org/officeDocument/2006/relationships/notesMaster" Target="/ppt/notesMasters/notesMaster1.xml" Id="R1e4bc110b5bd44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3ec7ac15514630" /><Relationship Type="http://schemas.openxmlformats.org/officeDocument/2006/relationships/notesMaster" Target="/ppt/notesMasters/notesMaster1.xml" Id="Rf34e4320c5b147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a18e23ef46465c" /><Relationship Type="http://schemas.openxmlformats.org/officeDocument/2006/relationships/notesMaster" Target="/ppt/notesMasters/notesMaster1.xml" Id="Rdae54a0faf654a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68583430ac4ae5" /><Relationship Type="http://schemas.openxmlformats.org/officeDocument/2006/relationships/notesMaster" Target="/ppt/notesMasters/notesMaster1.xml" Id="Rda75caf635724d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bb556180db4474" /><Relationship Type="http://schemas.openxmlformats.org/officeDocument/2006/relationships/notesMaster" Target="/ppt/notesMasters/notesMaster1.xml" Id="Rbcb15a848e9148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27c84747ee420e" /><Relationship Type="http://schemas.openxmlformats.org/officeDocument/2006/relationships/notesMaster" Target="/ppt/notesMasters/notesMaster1.xml" Id="Rfa00cbdfdc824d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344b0d77c34dcd" /><Relationship Type="http://schemas.openxmlformats.org/officeDocument/2006/relationships/notesMaster" Target="/ppt/notesMasters/notesMaster1.xml" Id="R3946751451034d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3676d8dcfd54437" /><Relationship Type="http://schemas.openxmlformats.org/officeDocument/2006/relationships/notesMaster" Target="/ppt/notesMasters/notesMaster1.xml" Id="Ra1fe5bf502b9472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908a8c3b3b149d1" /><Relationship Type="http://schemas.openxmlformats.org/officeDocument/2006/relationships/notesMaster" Target="/ppt/notesMasters/notesMaster1.xml" Id="R5826ea6269cb4e5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bd0853395e14c16" /><Relationship Type="http://schemas.openxmlformats.org/officeDocument/2006/relationships/notesMaster" Target="/ppt/notesMasters/notesMaster1.xml" Id="R1a2f53c725694a4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65677afa1d24d58" /><Relationship Type="http://schemas.openxmlformats.org/officeDocument/2006/relationships/notesMaster" Target="/ppt/notesMasters/notesMaster1.xml" Id="Rb52aae40eebd40b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8fbc87630364586" /><Relationship Type="http://schemas.openxmlformats.org/officeDocument/2006/relationships/notesMaster" Target="/ppt/notesMasters/notesMaster1.xml" Id="Rb661d262b8cb488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e529c67149541dc" /><Relationship Type="http://schemas.openxmlformats.org/officeDocument/2006/relationships/notesMaster" Target="/ppt/notesMasters/notesMaster1.xml" Id="R3f965dc00778442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c2ed869bef4a61" /><Relationship Type="http://schemas.openxmlformats.org/officeDocument/2006/relationships/notesMaster" Target="/ppt/notesMasters/notesMaster1.xml" Id="R879c8be2c28f46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bd55121f6494e34" /><Relationship Type="http://schemas.openxmlformats.org/officeDocument/2006/relationships/notesMaster" Target="/ppt/notesMasters/notesMaster1.xml" Id="R59947f454af1440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1aba58d9a4246c7" /><Relationship Type="http://schemas.openxmlformats.org/officeDocument/2006/relationships/notesMaster" Target="/ppt/notesMasters/notesMaster1.xml" Id="Rbd2115f6037447c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b83394655da4a49" /><Relationship Type="http://schemas.openxmlformats.org/officeDocument/2006/relationships/notesMaster" Target="/ppt/notesMasters/notesMaster1.xml" Id="R13aab98ffc084e5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bde9bcf31eb40ac" /><Relationship Type="http://schemas.openxmlformats.org/officeDocument/2006/relationships/notesMaster" Target="/ppt/notesMasters/notesMaster1.xml" Id="R60ef6b9213a247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Welcome participants and introduce the training series. Explain that Module 1 builds a shared conceptual foundation before the hands-on platform and coding sessions. Sources: CAVA Training Series Concept Note and Module 1 run sheet supplied by the user; CAVA Platform homepage/interface, accessed 21 September 2026, https://cavaplatform.fao.org/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Position Module 1 within the full series. The concept note lists Modules 1 and 2 as online, with Modules 3 and 4 in hybrid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Explain the division of roles. Hideki covers the climate science behind the datasets. Riccardo then shows how users currently access and prepare the data. Riccardo and Ezequiel introduce what CAVA changes and how the system supports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Ask participants what information they would need before showing the three application contexts. Keep the discussion focused on the decision rather than the 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Establish the five-step chain, then hand over to Hideki for the climate evidence. Delay the CAVA solution until participants have seen the operational access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Hideki. This section covers observations, reanalysis, projections, model and scenario choices, regional modelling, data complexity, bias, ensembles and indicators. Timing: about 35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Hideki to confirm. Explain that station and satellite observations remain essential, while reanalysis combines observations with a model to provide spatially complete estimates. ERA5 covers the global atmosphere from 1940 onward. Sources: https://climate.copernicus.eu/what-copernicus-climate-change-services-era5-reanalysis-dataset and https://climate.copernicus.eu/reanalysis-qas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7 minutes. Draft for Hideki to confirm. Use an intuitive distinction: a forecast depends strongly on the current atmospheric state, while a long-term climate projection examines statistics under assumptions about future forcing. IPCC background: https://www.ipcc.ch/report/ar6/wg1/chapter/chapter-4/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Hideki to confirm. Introduce CMIP5/RCP and CMIP6/SSP terminology only briefly. ScenarioMIP coordinates simulations driven by alternative plausible futures of emissions and land use. Source: https://wcrp-cmip.org/mips/scenariomip/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Draft for Hideki to confirm. CORDEX-CORE provides a coordinated ensemble of high-resolution regional climate information, generally around 25 km, across major inhabited regions. Source: https://cordex.org/experiment-guidelines/cordex-cmip5/cordex-core/cordex-core-simulations/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Build the dimensions one by one. Emphasize that the challenge is not only file size. It is also consistent selection, calendars, units, spatial grids and repeatability. CAVAanalytics documentation describes these preparation burdens: https://un-fao.github.io/CAVAanalytics/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6 minutes. Explain that bias is assessed by comparing a model’s historical simulation with an appropriate historical reference such as observations or reanalysis. The chart is conceptual and contains no real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Avoid presenting bias correction as a universal solution. CAVA provides access to pre-computed bias-corrected CORDEX-CORE datasets and supports bias-correction workflows where relevant. Sources: https://github.com/un-fao/cavapy and https://un-fao.github.io/CAVAanalytics/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Ask participants to replace the question ‘Which model is correct?’ with ‘What range of plausible outcomes does the ensemble show?’ IPCC describes ensembles as a way to sample possible outcomes and communicate uncertainty. Source: https://www.ipcc.ch/apps/njlite/srex/njlite_download.php?id=6946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This is a teaching example, not a universal definition of heat hazard. CAVAanalytics supports threshold and consecutive-day indicators, including days above 35°C and heatwave-style definitions. Source: https://un-fao.github.io/CAVAanalytics/reference/observations.html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back to Riccardo. The science explains why dataset choices matter. This section focuses on where the data are found and the operational work required before analysis. Timing: about 15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Climate information is distributed across web catalogues, model archives and technical services. Copernicus CDS supports interactive and API access. ESGF distributes model data. CORDEX provides regional climate information and access guidance. Sources: https://cds.climate.copernicus.eu/user-guide ; https://esgf.llnl.gov/ ; https://cordex.org/data-access/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Walk through the steps using one concrete request, such as daily maximum temperature for a project area under two scenarios. Emphasize that most effort occurs before calculating the final indicator.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Summarize the recurring operational burden without criticizing the source archives. The difficulty comes from combining several legitimate scientific and technical choices into a comparable, documented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Reveal CAVA only after establishing the current workflow. CAVA combines a web platform with R and Python tools and provides access to harmonized historical and future climate data, indicators and analytical workflows. Source: https://www.fao.org/agroinformatics/news/news-detail/fao-digital-solutions-now-available-as-open-source--cava-and-ex-act/en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Ezequiel. Riccardo has established the user problem and CAVA's role. Ezequiel now explains the shared data backbone and the interfaces that operationalize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Public cavapy documentation states that it retrieves, subsets and processes CORDEX-CORE and ERA5 through THREDDS/OPeNDAP and returns analysis-ready xarray objects. Source: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Keep the explanation conceptual and avoid unnecessary infrastructure detail. The diagram reflects public descriptions of the Platform, CAVAanalytics and cavapy, but the operational architecture should be validated by the technical team. Sources: https://www.fao.org/agroinformatics/news/news-detail/fao-digital-solutions-now-available-as-open-source--cava-and-ex-act/en and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Work through the example with Riccardo and Ezequiel. Ask participants to identify where judgement enters the workflow. The 35°C threshold is illustrative and must be tailored to the context. No quantitative result is claimed on this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checklist to prepare participants for Module 2, where they will interpret maps and comparisons in the CAVA Platform.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Invite one participant to restate each point in their own words. Keep the recap short so there is time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Take questions and collect issues to revisit in Module 2. Close by confirming the next session: 29 September 2026, 10:00–11:30, online.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8815fd0a334be6"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45350cc8fd4747" /><Relationship Type="http://schemas.openxmlformats.org/officeDocument/2006/relationships/slideLayout" Target="/ppt/slideLayouts/slideLayout1.xml" Id="R72d96f469d5847fb"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2d96f469d5847f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e1329679104723" /><Relationship Type="http://schemas.openxmlformats.org/officeDocument/2006/relationships/image" Target="/ppt/media/image.png" Id="R24b6df3d70d643eb" /><Relationship Type="http://schemas.openxmlformats.org/officeDocument/2006/relationships/notesSlide" Target="/ppt/notesSlides/notesSlide1.xml" Id="R9de36f59ab2649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0acde686bf40f6" /><Relationship Type="http://schemas.openxmlformats.org/officeDocument/2006/relationships/notesSlide" Target="/ppt/notesSlides/notesSlide2.xml" Id="R731b5de0680b4e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0a14ada42f498d" /><Relationship Type="http://schemas.openxmlformats.org/officeDocument/2006/relationships/notesSlide" Target="/ppt/notesSlides/notesSlide3.xml" Id="R0a5e201efd564f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dfe03e28aa4719" /><Relationship Type="http://schemas.openxmlformats.org/officeDocument/2006/relationships/notesSlide" Target="/ppt/notesSlides/notesSlide4.xml" Id="Rb80f4d34e94d41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06da84b73149d6" /><Relationship Type="http://schemas.openxmlformats.org/officeDocument/2006/relationships/notesSlide" Target="/ppt/notesSlides/notesSlide5.xml" Id="R53fdccfbf5964f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eaad5a75234b98" /><Relationship Type="http://schemas.openxmlformats.org/officeDocument/2006/relationships/notesSlide" Target="/ppt/notesSlides/notesSlide6.xml" Id="Rcaf6f4d64bbb46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bd523398014ff1" /><Relationship Type="http://schemas.openxmlformats.org/officeDocument/2006/relationships/notesSlide" Target="/ppt/notesSlides/notesSlide7.xml" Id="Rd57073be452d4f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853388558f470d" /><Relationship Type="http://schemas.openxmlformats.org/officeDocument/2006/relationships/notesSlide" Target="/ppt/notesSlides/notesSlide8.xml" Id="Rd2a1a37828f349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384ac2eb4a4088" /><Relationship Type="http://schemas.openxmlformats.org/officeDocument/2006/relationships/notesSlide" Target="/ppt/notesSlides/notesSlide9.xml" Id="Rf02ebb5594bd48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7acd0d3df54cd2" /><Relationship Type="http://schemas.openxmlformats.org/officeDocument/2006/relationships/notesSlide" Target="/ppt/notesSlides/notesSlide10.xml" Id="R016332132b154d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c3e69a1dfc4791" /><Relationship Type="http://schemas.openxmlformats.org/officeDocument/2006/relationships/notesSlide" Target="/ppt/notesSlides/notesSlide11.xml" Id="Rdb01eaf469b04b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2d9540b75648d3" /><Relationship Type="http://schemas.openxmlformats.org/officeDocument/2006/relationships/notesSlide" Target="/ppt/notesSlides/notesSlide12.xml" Id="Rdbc2e88d5b5447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4cb5b9fcef74e32" /><Relationship Type="http://schemas.openxmlformats.org/officeDocument/2006/relationships/notesSlide" Target="/ppt/notesSlides/notesSlide13.xml" Id="Rb0a4ea5b9f3d43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57f0c096cb4b06" /><Relationship Type="http://schemas.openxmlformats.org/officeDocument/2006/relationships/notesSlide" Target="/ppt/notesSlides/notesSlide14.xml" Id="R6d092db7e51f47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e8ddb2971844dcd" /><Relationship Type="http://schemas.openxmlformats.org/officeDocument/2006/relationships/notesSlide" Target="/ppt/notesSlides/notesSlide15.xml" Id="Ra01b10838ab946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082d6c666724a8f" /><Relationship Type="http://schemas.openxmlformats.org/officeDocument/2006/relationships/notesSlide" Target="/ppt/notesSlides/notesSlide16.xml" Id="Rd84f956b9bec43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5553131e7684b4a" /><Relationship Type="http://schemas.openxmlformats.org/officeDocument/2006/relationships/notesSlide" Target="/ppt/notesSlides/notesSlide17.xml" Id="R788ebc8c39fd41a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045e3484d3b4e47" /><Relationship Type="http://schemas.openxmlformats.org/officeDocument/2006/relationships/notesSlide" Target="/ppt/notesSlides/notesSlide18.xml" Id="Re4e797fdb5f24d8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a754811fa674eec" /><Relationship Type="http://schemas.openxmlformats.org/officeDocument/2006/relationships/notesSlide" Target="/ppt/notesSlides/notesSlide19.xml" Id="Rbbc93b33392d4f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94cb738798941d9" /><Relationship Type="http://schemas.openxmlformats.org/officeDocument/2006/relationships/notesSlide" Target="/ppt/notesSlides/notesSlide20.xml" Id="Rdec4d73bb1c04a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e2cf86a1d1e4941" /><Relationship Type="http://schemas.openxmlformats.org/officeDocument/2006/relationships/notesSlide" Target="/ppt/notesSlides/notesSlide21.xml" Id="R85b6ea3c27cc41d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3e5279a119a46ff" /><Relationship Type="http://schemas.openxmlformats.org/officeDocument/2006/relationships/notesSlide" Target="/ppt/notesSlides/notesSlide22.xml" Id="R477803a035b948c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69b399ca75647e3" /><Relationship Type="http://schemas.openxmlformats.org/officeDocument/2006/relationships/notesSlide" Target="/ppt/notesSlides/notesSlide23.xml" Id="R324e938f2c2f4af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974c6eeb1544121" /><Relationship Type="http://schemas.openxmlformats.org/officeDocument/2006/relationships/image" Target="/ppt/media/image.png" Id="R551e1c5281d64155" /><Relationship Type="http://schemas.openxmlformats.org/officeDocument/2006/relationships/notesSlide" Target="/ppt/notesSlides/notesSlide24.xml" Id="Rf6c49dc1eb75457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666b3ad8a6e495b" /><Relationship Type="http://schemas.openxmlformats.org/officeDocument/2006/relationships/image" Target="/ppt/media/image2.png" Id="R5d7089c7e5d34b5c" /><Relationship Type="http://schemas.openxmlformats.org/officeDocument/2006/relationships/notesSlide" Target="/ppt/notesSlides/notesSlide25.xml" Id="R8c3335a6d7f24f4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50b9deac9d14ba1" /><Relationship Type="http://schemas.openxmlformats.org/officeDocument/2006/relationships/notesSlide" Target="/ppt/notesSlides/notesSlide26.xml" Id="Re2be9183bfea4f6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dc7037c388d41c2" /><Relationship Type="http://schemas.openxmlformats.org/officeDocument/2006/relationships/notesSlide" Target="/ppt/notesSlides/notesSlide27.xml" Id="R2d605a9de7374c5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11ade07928e4208" /><Relationship Type="http://schemas.openxmlformats.org/officeDocument/2006/relationships/notesSlide" Target="/ppt/notesSlides/notesSlide28.xml" Id="Re3b65c6a0bd84f4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4ec007aab304035" /><Relationship Type="http://schemas.openxmlformats.org/officeDocument/2006/relationships/notesSlide" Target="/ppt/notesSlides/notesSlide29.xml" Id="R65b6240fddf947d8"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24b6df3d70d643eb">
            <a:alphaModFix/>
          </a:blip>
          <a:srcRect xmlns:a="http://schemas.openxmlformats.org/drawingml/2006/main" l="0" t="11293" r="0" b="11293"/>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B819B8A4-4490-4F0B-8B45-46F8CE8F55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gs>
              <a:gs pos="28000">
                <a:srgbClr val="12304E">
                  <a:alpha val="98039"/>
                </a:srgbClr>
              </a:gs>
              <a:gs pos="48000">
                <a:srgbClr val="12304E">
                  <a:alpha val="83922"/>
                </a:srgbClr>
              </a:gs>
              <a:gs pos="70000">
                <a:srgbClr val="12304E">
                  <a:alpha val="36078"/>
                </a:srgbClr>
              </a:gs>
              <a:gs pos="100000">
                <a:srgbClr val="12304E">
                  <a:alpha val="10196"/>
                </a:srgbClr>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C447D017-0EFC-46DC-A032-EAA8A991FD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0"/>
                </a:srgbClr>
              </a:gs>
              <a:gs pos="52000">
                <a:srgbClr val="12304E">
                  <a:alpha val="0"/>
                </a:srgbClr>
              </a:gs>
              <a:gs pos="75000">
                <a:srgbClr val="12304E">
                  <a:alpha val="18039"/>
                </a:srgbClr>
              </a:gs>
              <a:gs pos="100000">
                <a:srgbClr val="12304E">
                  <a:alpha val="72157"/>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579B56B0-FE6C-4215-92E8-EE98F00C06A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A05411F7-AE67-45DD-9EB9-215CFDC59C81}"/>
              </a:ext>
            </a:extLst>
          </p:cNvPr>
          <p:cNvSpPr>
            <a:spLocks xmlns:a="http://schemas.openxmlformats.org/drawingml/2006/main" noGrp="1"/>
          </p:cNvSpPr>
          <p:nvPr/>
        </p:nvSpPr>
        <p:spPr>
          <a:xfrm xmlns:a="http://schemas.openxmlformats.org/drawingml/2006/main">
            <a:off x="704850" y="6096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2D04DAA2-8680-448C-B5FC-4EBE3523894B}"/>
              </a:ext>
            </a:extLst>
          </p:cNvPr>
          <p:cNvSpPr>
            <a:spLocks xmlns:a="http://schemas.openxmlformats.org/drawingml/2006/main" noGrp="1"/>
          </p:cNvSpPr>
          <p:nvPr/>
        </p:nvSpPr>
        <p:spPr>
          <a:xfrm xmlns:a="http://schemas.openxmlformats.org/drawingml/2006/main">
            <a:off x="704850" y="1000125"/>
            <a:ext cx="4095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78D8C8"/>
              </a:buClr>
              <a:buSzPts val="1050"/>
              <a:buFont typeface="Lato"/>
              <a:buNone/>
            </a:pPr>
            <a:r>
              <a:rPr sz="1050" b="1" i="0">
                <a:solidFill>
                  <a:srgbClr val="78D8C8"/>
                </a:solidFill>
                <a:latin typeface="Lato"/>
                <a:ea typeface="Lato"/>
                <a:cs typeface="Lato"/>
              </a:rPr>
              <a:t>CAVA TRAINING SERIES</a:t>
            </a:r>
            <a:endParaRPr/>
          </a:p>
        </p:txBody>
      </p:sp>
      <p:sp>
        <p:nvSpPr>
          <p:cNvPr id="22" name="Google Shape;22;p3">
            <a:extLst xmlns:a="http://schemas.openxmlformats.org/drawingml/2006/main">
              <a:ext uri="{FF2B5EF4-FFF2-40B4-BE49-F238E27FC236}">
                <a16:creationId xmlns:a16="http://schemas.microsoft.com/office/drawing/2014/main" id="{73140FC8-C4DC-434C-88C5-869BA3923C5E}"/>
              </a:ext>
            </a:extLst>
          </p:cNvPr>
          <p:cNvSpPr>
            <a:spLocks xmlns:a="http://schemas.openxmlformats.org/drawingml/2006/main" noGrp="1"/>
          </p:cNvSpPr>
          <p:nvPr/>
        </p:nvSpPr>
        <p:spPr>
          <a:xfrm xmlns:a="http://schemas.openxmlformats.org/drawingml/2006/main">
            <a:off x="704850" y="1743075"/>
            <a:ext cx="5238750" cy="2238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4000"/>
              </a:lnSpc>
              <a:spcBef>
                <a:spcPts val="0"/>
              </a:spcBef>
              <a:spcAft>
                <a:spcPts val="0"/>
              </a:spcAft>
              <a:buClr>
                <a:srgbClr val="FFFFFF"/>
              </a:buClr>
              <a:buSzPts val="3450"/>
              <a:buFont typeface="Lato"/>
              <a:buNone/>
            </a:pPr>
            <a:r>
              <a:rPr sz="3450" b="1" i="0">
                <a:solidFill>
                  <a:srgbClr val="FFFFFF"/>
                </a:solidFill>
                <a:latin typeface="Lato"/>
                <a:ea typeface="Lato"/>
                <a:cs typeface="Lato"/>
              </a:rPr>
              <a:t>Understanding climate information and the CAVA ecosystem</a:t>
            </a:r>
            <a:endParaRPr/>
          </a:p>
        </p:txBody>
      </p:sp>
      <p:sp>
        <p:nvSpPr>
          <p:cNvPr id="23" name="Google Shape;23;p3">
            <a:extLst xmlns:a="http://schemas.openxmlformats.org/drawingml/2006/main">
              <a:ext uri="{FF2B5EF4-FFF2-40B4-BE49-F238E27FC236}">
                <a16:creationId xmlns:a16="http://schemas.microsoft.com/office/drawing/2014/main" id="{6ABE708A-A3E0-4210-8BCE-1DC18424FC09}"/>
              </a:ext>
            </a:extLst>
          </p:cNvPr>
          <p:cNvSpPr>
            <a:spLocks xmlns:a="http://schemas.openxmlformats.org/drawingml/2006/main" noGrp="1"/>
          </p:cNvSpPr>
          <p:nvPr/>
        </p:nvSpPr>
        <p:spPr>
          <a:xfrm xmlns:a="http://schemas.openxmlformats.org/drawingml/2006/main">
            <a:off x="714375" y="4457700"/>
            <a:ext cx="171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MODULE 1</a:t>
            </a:r>
            <a:endParaRPr/>
          </a:p>
        </p:txBody>
      </p:sp>
      <p:sp>
        <p:nvSpPr>
          <p:cNvPr id="24" name="Google Shape;24;p3">
            <a:extLst xmlns:a="http://schemas.openxmlformats.org/drawingml/2006/main">
              <a:ext uri="{FF2B5EF4-FFF2-40B4-BE49-F238E27FC236}">
                <a16:creationId xmlns:a16="http://schemas.microsoft.com/office/drawing/2014/main" id="{4D9BDFA4-508E-4B2E-A8AE-178F6E561B72}"/>
              </a:ext>
            </a:extLst>
          </p:cNvPr>
          <p:cNvSpPr>
            <a:spLocks xmlns:a="http://schemas.openxmlformats.org/drawingml/2006/main" noGrp="1"/>
          </p:cNvSpPr>
          <p:nvPr/>
        </p:nvSpPr>
        <p:spPr>
          <a:xfrm xmlns:a="http://schemas.openxmlformats.org/drawingml/2006/main">
            <a:off x="714375" y="495300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28 September 2026</a:t>
            </a:r>
            <a:endParaRPr/>
          </a:p>
        </p:txBody>
      </p:sp>
      <p:sp>
        <p:nvSpPr>
          <p:cNvPr id="25" name="Google Shape;25;p3">
            <a:extLst xmlns:a="http://schemas.openxmlformats.org/drawingml/2006/main">
              <a:ext uri="{FF2B5EF4-FFF2-40B4-BE49-F238E27FC236}">
                <a16:creationId xmlns:a16="http://schemas.microsoft.com/office/drawing/2014/main" id="{15C81AC5-68D7-46B2-A005-26343B339301}"/>
              </a:ext>
            </a:extLst>
          </p:cNvPr>
          <p:cNvSpPr>
            <a:spLocks xmlns:a="http://schemas.openxmlformats.org/drawingml/2006/main" noGrp="1"/>
          </p:cNvSpPr>
          <p:nvPr/>
        </p:nvSpPr>
        <p:spPr>
          <a:xfrm xmlns:a="http://schemas.openxmlformats.org/drawingml/2006/main">
            <a:off x="714375" y="5257800"/>
            <a:ext cx="247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1050"/>
              <a:buFont typeface="Lato"/>
              <a:buNone/>
            </a:pPr>
            <a:r>
              <a:rPr sz="1050" b="0" i="0">
                <a:solidFill>
                  <a:srgbClr val="D7E5EC"/>
                </a:solidFill>
                <a:latin typeface="Lato"/>
                <a:ea typeface="Lato"/>
                <a:cs typeface="Lato"/>
              </a:rPr>
              <a:t>10:00–11:30  ·  Online</a:t>
            </a:r>
            <a:endParaRPr/>
          </a:p>
        </p:txBody>
      </p:sp>
      <p:sp>
        <p:nvSpPr>
          <p:cNvPr id="26" name="Google Shape;26;p3">
            <a:extLst xmlns:a="http://schemas.openxmlformats.org/drawingml/2006/main">
              <a:ext uri="{FF2B5EF4-FFF2-40B4-BE49-F238E27FC236}">
                <a16:creationId xmlns:a16="http://schemas.microsoft.com/office/drawing/2014/main" id="{2FB000AA-D8EF-4AA4-905D-FB07D18D6E96}"/>
              </a:ext>
            </a:extLst>
          </p:cNvPr>
          <p:cNvSpPr>
            <a:spLocks xmlns:a="http://schemas.openxmlformats.org/drawingml/2006/main" noGrp="1"/>
          </p:cNvSpPr>
          <p:nvPr/>
        </p:nvSpPr>
        <p:spPr>
          <a:xfrm xmlns:a="http://schemas.openxmlformats.org/drawingml/2006/main">
            <a:off x="714375" y="6019800"/>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0B7058D5-469F-4E88-A998-8924F6251615}"/>
              </a:ext>
            </a:extLst>
          </p:cNvPr>
          <p:cNvSpPr>
            <a:spLocks xmlns:a="http://schemas.openxmlformats.org/drawingml/2006/main" noGrp="1"/>
          </p:cNvSpPr>
          <p:nvPr/>
        </p:nvSpPr>
        <p:spPr>
          <a:xfrm xmlns:a="http://schemas.openxmlformats.org/drawingml/2006/main">
            <a:off x="714375" y="6172200"/>
            <a:ext cx="4381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900"/>
              <a:buFont typeface="Lato"/>
              <a:buNone/>
            </a:pPr>
            <a:r>
              <a:rPr sz="900" b="0" i="0">
                <a:solidFill>
                  <a:srgbClr val="D7E5EC"/>
                </a:solidFill>
                <a:latin typeface="Lato"/>
                <a:ea typeface="Lato"/>
                <a:cs typeface="Lato"/>
              </a:rPr>
              <a:t>From climate information to climate impact analysis</a:t>
            </a:r>
            <a:endParaRPr/>
          </a:p>
        </p:txBody>
      </p:sp>
      <p:sp>
        <p:nvSpPr>
          <p:cNvPr id="28" name="Google Shape;28;p3">
            <a:extLst xmlns:a="http://schemas.openxmlformats.org/drawingml/2006/main">
              <a:ext uri="{FF2B5EF4-FFF2-40B4-BE49-F238E27FC236}">
                <a16:creationId xmlns:a16="http://schemas.microsoft.com/office/drawing/2014/main" id="{8C6E07A4-9F5A-4121-A126-380F036AEF0E}"/>
              </a:ext>
            </a:extLst>
          </p:cNvPr>
          <p:cNvSpPr>
            <a:spLocks xmlns:a="http://schemas.openxmlformats.org/drawingml/2006/main" noGrp="1"/>
          </p:cNvSpPr>
          <p:nvPr/>
        </p:nvSpPr>
        <p:spPr>
          <a:xfrm xmlns:a="http://schemas.openxmlformats.org/drawingml/2006/main">
            <a:off x="9525000" y="647700"/>
            <a:ext cx="1952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FFFFFF"/>
              </a:buClr>
              <a:buSzPts val="4642"/>
              <a:buFont typeface="Lato"/>
              <a:buNone/>
            </a:pPr>
            <a:r>
              <a:rPr sz="4643" b="1" i="0">
                <a:solidFill>
                  <a:srgbClr val="FFFFFF"/>
                </a:solidFill>
                <a:latin typeface="Lato"/>
                <a:ea typeface="Lato"/>
                <a:cs typeface="Lato"/>
              </a:rPr>
              <a:t>CAVA</a:t>
            </a:r>
            <a:endParaRPr/>
          </a:p>
        </p:txBody>
      </p:sp>
      <p:sp>
        <p:nvSpPr>
          <p:cNvPr id="29" name="Google Shape;29;p3">
            <a:extLst xmlns:a="http://schemas.openxmlformats.org/drawingml/2006/main">
              <a:ext uri="{FF2B5EF4-FFF2-40B4-BE49-F238E27FC236}">
                <a16:creationId xmlns:a16="http://schemas.microsoft.com/office/drawing/2014/main" id="{F79B58FA-BEAD-4C95-8AD4-D96F54667228}"/>
              </a:ext>
            </a:extLst>
          </p:cNvPr>
          <p:cNvSpPr>
            <a:spLocks xmlns:a="http://schemas.openxmlformats.org/drawingml/2006/main" noGrp="1"/>
          </p:cNvSpPr>
          <p:nvPr/>
        </p:nvSpPr>
        <p:spPr>
          <a:xfrm xmlns:a="http://schemas.openxmlformats.org/drawingml/2006/main">
            <a:off x="8362950" y="1419225"/>
            <a:ext cx="311467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CLIMATE AND AGRICULTURE RISK</a:t>
            </a:r>
            <a:endParaRPr/>
          </a:p>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VISUALIZATION AND ASSESSMENT</a:t>
            </a:r>
            <a:endParaRPr/>
          </a:p>
        </p:txBody>
      </p:sp>
    </p:spTree>
    <p:extLst>
      <p:ext uri="{BB962C8B-B14F-4D97-AF65-F5344CB8AC3E}">
        <p14:creationId xmlns:p14="http://schemas.microsoft.com/office/powerpoint/2010/main" val="1726355645"/>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F3ADC8B3-E49C-43F9-B399-118BA92B9BCE}"/>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Training series agenda</a:t>
            </a:r>
            <a:endParaRPr/>
          </a:p>
        </p:txBody>
      </p:sp>
      <p:sp>
        <p:nvSpPr>
          <p:cNvPr id="36" name="Google Shape;36;p4">
            <a:extLst xmlns:a="http://schemas.openxmlformats.org/drawingml/2006/main">
              <a:ext uri="{FF2B5EF4-FFF2-40B4-BE49-F238E27FC236}">
                <a16:creationId xmlns:a16="http://schemas.microsoft.com/office/drawing/2014/main" id="{2C0034AE-3DE7-4B3B-9840-7651FCFF5FC2}"/>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modules move from concepts to practical access, technical workflows and impact modelling</a:t>
            </a:r>
            <a:endParaRPr/>
          </a:p>
        </p:txBody>
      </p:sp>
      <p:sp>
        <p:nvSpPr>
          <p:cNvPr id="37" name="Google Shape;37;p4">
            <a:extLst xmlns:a="http://schemas.openxmlformats.org/drawingml/2006/main">
              <a:ext uri="{FF2B5EF4-FFF2-40B4-BE49-F238E27FC236}">
                <a16:creationId xmlns:a16="http://schemas.microsoft.com/office/drawing/2014/main" id="{B94482EE-FFC8-4CEB-9CB5-14A13052B75B}"/>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 name="Google Shape;38;p4">
            <a:extLst xmlns:a="http://schemas.openxmlformats.org/drawingml/2006/main">
              <a:ext uri="{FF2B5EF4-FFF2-40B4-BE49-F238E27FC236}">
                <a16:creationId xmlns:a16="http://schemas.microsoft.com/office/drawing/2014/main" id="{0E1661A6-CAB3-4514-9127-343D8908BD9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 name="Google Shape;39;p4">
            <a:extLst xmlns:a="http://schemas.openxmlformats.org/drawingml/2006/main">
              <a:ext uri="{FF2B5EF4-FFF2-40B4-BE49-F238E27FC236}">
                <a16:creationId xmlns:a16="http://schemas.microsoft.com/office/drawing/2014/main" id="{15467D40-0376-4AB0-B37C-5762B488237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D8A26298-AA92-48AF-8310-593F6A3ADFF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1" name="Google Shape;41;p4">
            <a:extLst xmlns:a="http://schemas.openxmlformats.org/drawingml/2006/main">
              <a:ext uri="{FF2B5EF4-FFF2-40B4-BE49-F238E27FC236}">
                <a16:creationId xmlns:a16="http://schemas.microsoft.com/office/drawing/2014/main" id="{E56601A0-FC3C-459E-B002-3B2121D9594C}"/>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02</a:t>
            </a:r>
            <a:endParaRPr/>
          </a:p>
        </p:txBody>
      </p:sp>
      <p:sp>
        <p:nvSpPr>
          <p:cNvPr id="42" name="Google Shape;42;p4">
            <a:extLst xmlns:a="http://schemas.openxmlformats.org/drawingml/2006/main">
              <a:ext uri="{FF2B5EF4-FFF2-40B4-BE49-F238E27FC236}">
                <a16:creationId xmlns:a16="http://schemas.microsoft.com/office/drawing/2014/main" id="{9856E6FD-F368-4B36-9D9B-72DE47CB422F}"/>
              </a:ext>
            </a:extLst>
          </p:cNvPr>
          <p:cNvSpPr>
            <a:spLocks xmlns:a="http://schemas.openxmlformats.org/drawingml/2006/main" noGrp="1"/>
          </p:cNvSpPr>
          <p:nvPr/>
        </p:nvSpPr>
        <p:spPr>
          <a:xfrm xmlns:a="http://schemas.openxmlformats.org/drawingml/2006/main">
            <a:off x="723900" y="1876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650"/>
              <a:buFont typeface="Lato"/>
              <a:buNone/>
            </a:pPr>
            <a:r>
              <a:rPr sz="1650" b="1" i="0">
                <a:solidFill>
                  <a:srgbClr val="00A88F"/>
                </a:solidFill>
                <a:latin typeface="Lato"/>
                <a:ea typeface="Lato"/>
                <a:cs typeface="Lato"/>
              </a:rPr>
              <a:t>01</a:t>
            </a:r>
            <a:endParaRPr/>
          </a:p>
        </p:txBody>
      </p:sp>
      <p:sp>
        <p:nvSpPr>
          <p:cNvPr id="43" name="Google Shape;43;p4">
            <a:extLst xmlns:a="http://schemas.openxmlformats.org/drawingml/2006/main">
              <a:ext uri="{FF2B5EF4-FFF2-40B4-BE49-F238E27FC236}">
                <a16:creationId xmlns:a16="http://schemas.microsoft.com/office/drawing/2014/main" id="{B75DE766-9BC0-4606-BAE0-1DE695B57793}"/>
              </a:ext>
            </a:extLst>
          </p:cNvPr>
          <p:cNvSpPr>
            <a:spLocks xmlns:a="http://schemas.openxmlformats.org/drawingml/2006/main" noGrp="1"/>
          </p:cNvSpPr>
          <p:nvPr/>
        </p:nvSpPr>
        <p:spPr>
          <a:xfrm xmlns:a="http://schemas.openxmlformats.org/drawingml/2006/main">
            <a:off x="1352550" y="1905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28 SEP</a:t>
            </a:r>
            <a:endParaRPr/>
          </a:p>
        </p:txBody>
      </p:sp>
      <p:sp>
        <p:nvSpPr>
          <p:cNvPr id="44" name="Google Shape;44;p4">
            <a:extLst xmlns:a="http://schemas.openxmlformats.org/drawingml/2006/main">
              <a:ext uri="{FF2B5EF4-FFF2-40B4-BE49-F238E27FC236}">
                <a16:creationId xmlns:a16="http://schemas.microsoft.com/office/drawing/2014/main" id="{721B1D95-08B1-4F19-B144-7ED9B44782F0}"/>
              </a:ext>
            </a:extLst>
          </p:cNvPr>
          <p:cNvSpPr>
            <a:spLocks xmlns:a="http://schemas.openxmlformats.org/drawingml/2006/main" noGrp="1"/>
          </p:cNvSpPr>
          <p:nvPr/>
        </p:nvSpPr>
        <p:spPr>
          <a:xfrm xmlns:a="http://schemas.openxmlformats.org/drawingml/2006/main">
            <a:off x="2324100" y="1752600"/>
            <a:ext cx="38100" cy="685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D98C0FD7-1F75-457F-93E8-3B6387D53F28}"/>
              </a:ext>
            </a:extLst>
          </p:cNvPr>
          <p:cNvSpPr>
            <a:spLocks xmlns:a="http://schemas.openxmlformats.org/drawingml/2006/main" noGrp="1"/>
          </p:cNvSpPr>
          <p:nvPr/>
        </p:nvSpPr>
        <p:spPr>
          <a:xfrm xmlns:a="http://schemas.openxmlformats.org/drawingml/2006/main">
            <a:off x="2590800" y="1790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Introduction to the CAVA ecosystem</a:t>
            </a:r>
            <a:endParaRPr/>
          </a:p>
        </p:txBody>
      </p:sp>
      <p:sp>
        <p:nvSpPr>
          <p:cNvPr id="46" name="Google Shape;46;p4">
            <a:extLst xmlns:a="http://schemas.openxmlformats.org/drawingml/2006/main">
              <a:ext uri="{FF2B5EF4-FFF2-40B4-BE49-F238E27FC236}">
                <a16:creationId xmlns:a16="http://schemas.microsoft.com/office/drawing/2014/main" id="{AAF1E888-DCF8-4D59-9353-8051E2FC14F5}"/>
              </a:ext>
            </a:extLst>
          </p:cNvPr>
          <p:cNvSpPr>
            <a:spLocks xmlns:a="http://schemas.openxmlformats.org/drawingml/2006/main" noGrp="1"/>
          </p:cNvSpPr>
          <p:nvPr/>
        </p:nvSpPr>
        <p:spPr>
          <a:xfrm xmlns:a="http://schemas.openxmlformats.org/drawingml/2006/main">
            <a:off x="2590800" y="2152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47" name="Google Shape;47;p4">
            <a:extLst xmlns:a="http://schemas.openxmlformats.org/drawingml/2006/main">
              <a:ext uri="{FF2B5EF4-FFF2-40B4-BE49-F238E27FC236}">
                <a16:creationId xmlns:a16="http://schemas.microsoft.com/office/drawing/2014/main" id="{CCA42010-B999-48BF-9B6E-E19522D08D8B}"/>
              </a:ext>
            </a:extLst>
          </p:cNvPr>
          <p:cNvSpPr>
            <a:spLocks xmlns:a="http://schemas.openxmlformats.org/drawingml/2006/main" noGrp="1"/>
          </p:cNvSpPr>
          <p:nvPr/>
        </p:nvSpPr>
        <p:spPr>
          <a:xfrm xmlns:a="http://schemas.openxmlformats.org/drawingml/2006/main">
            <a:off x="9715500" y="1924050"/>
            <a:ext cx="1104900" cy="285750"/>
          </a:xfrm>
          <a:prstGeom xmlns:a="http://schemas.openxmlformats.org/drawingml/2006/main" prst="roundRect">
            <a:avLst>
              <a:gd name="adj" fmla="val 26667"/>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76200" tIns="28575" rIns="76200" bIns="2857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900"/>
              <a:buFont typeface="Lato"/>
              <a:buNone/>
            </a:pPr>
            <a:r>
              <a:rPr sz="900" b="1" i="0">
                <a:solidFill>
                  <a:srgbClr val="FFFFFF"/>
                </a:solidFill>
                <a:latin typeface="Lato"/>
                <a:ea typeface="Lato"/>
                <a:cs typeface="Lato"/>
              </a:rPr>
              <a:t>TODAY</a:t>
            </a:r>
            <a:endParaRPr/>
          </a:p>
        </p:txBody>
      </p:sp>
      <p:sp>
        <p:nvSpPr>
          <p:cNvPr id="48" name="Google Shape;48;p4">
            <a:extLst xmlns:a="http://schemas.openxmlformats.org/drawingml/2006/main">
              <a:ext uri="{FF2B5EF4-FFF2-40B4-BE49-F238E27FC236}">
                <a16:creationId xmlns:a16="http://schemas.microsoft.com/office/drawing/2014/main" id="{A67CFB4B-54C2-4E11-9C16-AFC0DFDCE1DF}"/>
              </a:ext>
            </a:extLst>
          </p:cNvPr>
          <p:cNvSpPr>
            <a:spLocks xmlns:a="http://schemas.openxmlformats.org/drawingml/2006/main" noGrp="1"/>
          </p:cNvSpPr>
          <p:nvPr/>
        </p:nvSpPr>
        <p:spPr>
          <a:xfrm xmlns:a="http://schemas.openxmlformats.org/drawingml/2006/main">
            <a:off x="723900" y="2828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650"/>
              <a:buFont typeface="Lato"/>
              <a:buNone/>
            </a:pPr>
            <a:r>
              <a:rPr sz="1650" b="1" i="0">
                <a:solidFill>
                  <a:srgbClr val="183A59"/>
                </a:solidFill>
                <a:latin typeface="Lato"/>
                <a:ea typeface="Lato"/>
                <a:cs typeface="Lato"/>
              </a:rPr>
              <a:t>02</a:t>
            </a:r>
            <a:endParaRPr/>
          </a:p>
        </p:txBody>
      </p:sp>
      <p:sp>
        <p:nvSpPr>
          <p:cNvPr id="49" name="Google Shape;49;p4">
            <a:extLst xmlns:a="http://schemas.openxmlformats.org/drawingml/2006/main">
              <a:ext uri="{FF2B5EF4-FFF2-40B4-BE49-F238E27FC236}">
                <a16:creationId xmlns:a16="http://schemas.microsoft.com/office/drawing/2014/main" id="{2FA16806-7D7E-452F-884B-1B67DC523462}"/>
              </a:ext>
            </a:extLst>
          </p:cNvPr>
          <p:cNvSpPr>
            <a:spLocks xmlns:a="http://schemas.openxmlformats.org/drawingml/2006/main" noGrp="1"/>
          </p:cNvSpPr>
          <p:nvPr/>
        </p:nvSpPr>
        <p:spPr>
          <a:xfrm xmlns:a="http://schemas.openxmlformats.org/drawingml/2006/main">
            <a:off x="1352550" y="2857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29 SEP</a:t>
            </a:r>
            <a:endParaRPr/>
          </a:p>
        </p:txBody>
      </p:sp>
      <p:sp>
        <p:nvSpPr>
          <p:cNvPr id="50" name="Google Shape;50;p4">
            <a:extLst xmlns:a="http://schemas.openxmlformats.org/drawingml/2006/main">
              <a:ext uri="{FF2B5EF4-FFF2-40B4-BE49-F238E27FC236}">
                <a16:creationId xmlns:a16="http://schemas.microsoft.com/office/drawing/2014/main" id="{E09B6A8E-B095-4CBF-9578-313AA2EA7A15}"/>
              </a:ext>
            </a:extLst>
          </p:cNvPr>
          <p:cNvSpPr>
            <a:spLocks xmlns:a="http://schemas.openxmlformats.org/drawingml/2006/main" noGrp="1"/>
          </p:cNvSpPr>
          <p:nvPr/>
        </p:nvSpPr>
        <p:spPr>
          <a:xfrm xmlns:a="http://schemas.openxmlformats.org/drawingml/2006/main">
            <a:off x="2324100" y="2705100"/>
            <a:ext cx="38100" cy="68580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A9E08B0A-E2F2-4DE9-B8E7-FB8D68492E49}"/>
              </a:ext>
            </a:extLst>
          </p:cNvPr>
          <p:cNvSpPr>
            <a:spLocks xmlns:a="http://schemas.openxmlformats.org/drawingml/2006/main" noGrp="1"/>
          </p:cNvSpPr>
          <p:nvPr/>
        </p:nvSpPr>
        <p:spPr>
          <a:xfrm xmlns:a="http://schemas.openxmlformats.org/drawingml/2006/main">
            <a:off x="2590800" y="2743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Using the CAVA Platform</a:t>
            </a:r>
            <a:endParaRPr/>
          </a:p>
        </p:txBody>
      </p:sp>
      <p:sp>
        <p:nvSpPr>
          <p:cNvPr id="52" name="Google Shape;52;p4">
            <a:extLst xmlns:a="http://schemas.openxmlformats.org/drawingml/2006/main">
              <a:ext uri="{FF2B5EF4-FFF2-40B4-BE49-F238E27FC236}">
                <a16:creationId xmlns:a16="http://schemas.microsoft.com/office/drawing/2014/main" id="{B393E824-D720-46F1-A70C-657C9789FCA2}"/>
              </a:ext>
            </a:extLst>
          </p:cNvPr>
          <p:cNvSpPr>
            <a:spLocks xmlns:a="http://schemas.openxmlformats.org/drawingml/2006/main" noGrp="1"/>
          </p:cNvSpPr>
          <p:nvPr/>
        </p:nvSpPr>
        <p:spPr>
          <a:xfrm xmlns:a="http://schemas.openxmlformats.org/drawingml/2006/main">
            <a:off x="2590800" y="3105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53" name="Google Shape;53;p4">
            <a:extLst xmlns:a="http://schemas.openxmlformats.org/drawingml/2006/main">
              <a:ext uri="{FF2B5EF4-FFF2-40B4-BE49-F238E27FC236}">
                <a16:creationId xmlns:a16="http://schemas.microsoft.com/office/drawing/2014/main" id="{64C01FB7-C5C9-4576-9C6F-44E1D5C38CFC}"/>
              </a:ext>
            </a:extLst>
          </p:cNvPr>
          <p:cNvSpPr>
            <a:spLocks xmlns:a="http://schemas.openxmlformats.org/drawingml/2006/main" noGrp="1"/>
          </p:cNvSpPr>
          <p:nvPr/>
        </p:nvSpPr>
        <p:spPr>
          <a:xfrm xmlns:a="http://schemas.openxmlformats.org/drawingml/2006/main">
            <a:off x="723900" y="3781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650"/>
              <a:buFont typeface="Lato"/>
              <a:buNone/>
            </a:pPr>
            <a:r>
              <a:rPr sz="1650" b="1" i="0">
                <a:solidFill>
                  <a:srgbClr val="F2B632"/>
                </a:solidFill>
                <a:latin typeface="Lato"/>
                <a:ea typeface="Lato"/>
                <a:cs typeface="Lato"/>
              </a:rPr>
              <a:t>03</a:t>
            </a:r>
            <a:endParaRPr/>
          </a:p>
        </p:txBody>
      </p:sp>
      <p:sp>
        <p:nvSpPr>
          <p:cNvPr id="54" name="Google Shape;54;p4">
            <a:extLst xmlns:a="http://schemas.openxmlformats.org/drawingml/2006/main">
              <a:ext uri="{FF2B5EF4-FFF2-40B4-BE49-F238E27FC236}">
                <a16:creationId xmlns:a16="http://schemas.microsoft.com/office/drawing/2014/main" id="{E70EE57A-8C6C-46B9-B928-468A25F5801A}"/>
              </a:ext>
            </a:extLst>
          </p:cNvPr>
          <p:cNvSpPr>
            <a:spLocks xmlns:a="http://schemas.openxmlformats.org/drawingml/2006/main" noGrp="1"/>
          </p:cNvSpPr>
          <p:nvPr/>
        </p:nvSpPr>
        <p:spPr>
          <a:xfrm xmlns:a="http://schemas.openxmlformats.org/drawingml/2006/main">
            <a:off x="1352550" y="3810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30 SEP</a:t>
            </a:r>
            <a:endParaRPr/>
          </a:p>
        </p:txBody>
      </p:sp>
      <p:sp>
        <p:nvSpPr>
          <p:cNvPr id="55" name="Google Shape;55;p4">
            <a:extLst xmlns:a="http://schemas.openxmlformats.org/drawingml/2006/main">
              <a:ext uri="{FF2B5EF4-FFF2-40B4-BE49-F238E27FC236}">
                <a16:creationId xmlns:a16="http://schemas.microsoft.com/office/drawing/2014/main" id="{9D5186A8-C4FD-4015-B12C-89B12D1A459F}"/>
              </a:ext>
            </a:extLst>
          </p:cNvPr>
          <p:cNvSpPr>
            <a:spLocks xmlns:a="http://schemas.openxmlformats.org/drawingml/2006/main" noGrp="1"/>
          </p:cNvSpPr>
          <p:nvPr/>
        </p:nvSpPr>
        <p:spPr>
          <a:xfrm xmlns:a="http://schemas.openxmlformats.org/drawingml/2006/main">
            <a:off x="2324100" y="3657600"/>
            <a:ext cx="38100" cy="6858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12D3FF02-BB0B-4D12-ADD5-C402A840B616}"/>
              </a:ext>
            </a:extLst>
          </p:cNvPr>
          <p:cNvSpPr>
            <a:spLocks xmlns:a="http://schemas.openxmlformats.org/drawingml/2006/main" noGrp="1"/>
          </p:cNvSpPr>
          <p:nvPr/>
        </p:nvSpPr>
        <p:spPr>
          <a:xfrm xmlns:a="http://schemas.openxmlformats.org/drawingml/2006/main">
            <a:off x="2590800" y="3695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workflows with CAVA backend</a:t>
            </a:r>
            <a:endParaRPr sz="1725" b="1" i="0">
              <a:solidFill>
                <a:srgbClr val="12304E"/>
              </a:solidFill>
              <a:latin typeface="Lato"/>
              <a:ea typeface="Lato"/>
              <a:cs typeface="Lato"/>
            </a:endParaRPr>
          </a:p>
        </p:txBody>
      </p:sp>
      <p:sp>
        <p:nvSpPr>
          <p:cNvPr id="57" name="Google Shape;57;p4">
            <a:extLst xmlns:a="http://schemas.openxmlformats.org/drawingml/2006/main">
              <a:ext uri="{FF2B5EF4-FFF2-40B4-BE49-F238E27FC236}">
                <a16:creationId xmlns:a16="http://schemas.microsoft.com/office/drawing/2014/main" id="{1A9E87F4-9B11-4808-8FB5-3A067BB34963}"/>
              </a:ext>
            </a:extLst>
          </p:cNvPr>
          <p:cNvSpPr>
            <a:spLocks xmlns:a="http://schemas.openxmlformats.org/drawingml/2006/main" noGrp="1"/>
          </p:cNvSpPr>
          <p:nvPr/>
        </p:nvSpPr>
        <p:spPr>
          <a:xfrm xmlns:a="http://schemas.openxmlformats.org/drawingml/2006/main">
            <a:off x="2590800" y="4057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
        <p:nvSpPr>
          <p:cNvPr id="58" name="Google Shape;58;p4">
            <a:extLst xmlns:a="http://schemas.openxmlformats.org/drawingml/2006/main">
              <a:ext uri="{FF2B5EF4-FFF2-40B4-BE49-F238E27FC236}">
                <a16:creationId xmlns:a16="http://schemas.microsoft.com/office/drawing/2014/main" id="{8CB27389-AFF2-45F5-8490-1924293AC70E}"/>
              </a:ext>
            </a:extLst>
          </p:cNvPr>
          <p:cNvSpPr>
            <a:spLocks xmlns:a="http://schemas.openxmlformats.org/drawingml/2006/main" noGrp="1"/>
          </p:cNvSpPr>
          <p:nvPr/>
        </p:nvSpPr>
        <p:spPr>
          <a:xfrm xmlns:a="http://schemas.openxmlformats.org/drawingml/2006/main">
            <a:off x="723900" y="4733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04</a:t>
            </a:r>
            <a:endParaRPr/>
          </a:p>
        </p:txBody>
      </p:sp>
      <p:sp>
        <p:nvSpPr>
          <p:cNvPr id="59" name="Google Shape;59;p4">
            <a:extLst xmlns:a="http://schemas.openxmlformats.org/drawingml/2006/main">
              <a:ext uri="{FF2B5EF4-FFF2-40B4-BE49-F238E27FC236}">
                <a16:creationId xmlns:a16="http://schemas.microsoft.com/office/drawing/2014/main" id="{2248B732-8BA5-43E2-A463-63918D9D177E}"/>
              </a:ext>
            </a:extLst>
          </p:cNvPr>
          <p:cNvSpPr>
            <a:spLocks xmlns:a="http://schemas.openxmlformats.org/drawingml/2006/main" noGrp="1"/>
          </p:cNvSpPr>
          <p:nvPr/>
        </p:nvSpPr>
        <p:spPr>
          <a:xfrm xmlns:a="http://schemas.openxmlformats.org/drawingml/2006/main">
            <a:off x="1352550" y="4762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01 OCT</a:t>
            </a:r>
            <a:endParaRPr/>
          </a:p>
        </p:txBody>
      </p:sp>
      <p:sp>
        <p:nvSpPr>
          <p:cNvPr id="60" name="Google Shape;60;p4">
            <a:extLst xmlns:a="http://schemas.openxmlformats.org/drawingml/2006/main">
              <a:ext uri="{FF2B5EF4-FFF2-40B4-BE49-F238E27FC236}">
                <a16:creationId xmlns:a16="http://schemas.microsoft.com/office/drawing/2014/main" id="{E34A3A7D-5B1F-4AD7-91D8-DA16BDA8DF30}"/>
              </a:ext>
            </a:extLst>
          </p:cNvPr>
          <p:cNvSpPr>
            <a:spLocks xmlns:a="http://schemas.openxmlformats.org/drawingml/2006/main" noGrp="1"/>
          </p:cNvSpPr>
          <p:nvPr/>
        </p:nvSpPr>
        <p:spPr>
          <a:xfrm xmlns:a="http://schemas.openxmlformats.org/drawingml/2006/main">
            <a:off x="2324100" y="4610100"/>
            <a:ext cx="38100" cy="685800"/>
          </a:xfrm>
          <a:prstGeom xmlns:a="http://schemas.openxmlformats.org/drawingml/2006/main" prst="rect">
            <a:avLst/>
          </a:prstGeom>
          <a:solidFill xmlns:a="http://schemas.openxmlformats.org/drawingml/2006/main">
            <a:srgbClr val="008D7A"/>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 name="Google Shape;61;p4">
            <a:extLst xmlns:a="http://schemas.openxmlformats.org/drawingml/2006/main">
              <a:ext uri="{FF2B5EF4-FFF2-40B4-BE49-F238E27FC236}">
                <a16:creationId xmlns:a16="http://schemas.microsoft.com/office/drawing/2014/main" id="{1F18306E-8B3C-4997-ABD3-877AD6EA4A40}"/>
              </a:ext>
            </a:extLst>
          </p:cNvPr>
          <p:cNvSpPr>
            <a:spLocks xmlns:a="http://schemas.openxmlformats.org/drawingml/2006/main" noGrp="1"/>
          </p:cNvSpPr>
          <p:nvPr/>
        </p:nvSpPr>
        <p:spPr>
          <a:xfrm xmlns:a="http://schemas.openxmlformats.org/drawingml/2006/main">
            <a:off x="2590800" y="4648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for crop modelling</a:t>
            </a:r>
            <a:endParaRPr/>
          </a:p>
        </p:txBody>
      </p:sp>
      <p:sp>
        <p:nvSpPr>
          <p:cNvPr id="62" name="Google Shape;62;p4">
            <a:extLst xmlns:a="http://schemas.openxmlformats.org/drawingml/2006/main">
              <a:ext uri="{FF2B5EF4-FFF2-40B4-BE49-F238E27FC236}">
                <a16:creationId xmlns:a16="http://schemas.microsoft.com/office/drawing/2014/main" id="{55C902C2-C8E4-4E47-AC30-33BC0A3C3711}"/>
              </a:ext>
            </a:extLst>
          </p:cNvPr>
          <p:cNvSpPr>
            <a:spLocks xmlns:a="http://schemas.openxmlformats.org/drawingml/2006/main" noGrp="1"/>
          </p:cNvSpPr>
          <p:nvPr/>
        </p:nvSpPr>
        <p:spPr>
          <a:xfrm xmlns:a="http://schemas.openxmlformats.org/drawingml/2006/main">
            <a:off x="2590800" y="5010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Tree>
    <p:extLst>
      <p:ext uri="{BB962C8B-B14F-4D97-AF65-F5344CB8AC3E}">
        <p14:creationId xmlns:p14="http://schemas.microsoft.com/office/powerpoint/2010/main" val="66577393"/>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 name="Google Shape;68;p5">
            <a:extLst xmlns:a="http://schemas.openxmlformats.org/drawingml/2006/main">
              <a:ext uri="{FF2B5EF4-FFF2-40B4-BE49-F238E27FC236}">
                <a16:creationId xmlns:a16="http://schemas.microsoft.com/office/drawing/2014/main" id="{2C119805-18ED-429D-8CA3-FBCDAEADC498}"/>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Today’s learning journey</a:t>
            </a:r>
            <a:endParaRPr/>
          </a:p>
        </p:txBody>
      </p:sp>
      <p:sp>
        <p:nvSpPr>
          <p:cNvPr id="69" name="Google Shape;69;p5">
            <a:extLst xmlns:a="http://schemas.openxmlformats.org/drawingml/2006/main">
              <a:ext uri="{FF2B5EF4-FFF2-40B4-BE49-F238E27FC236}">
                <a16:creationId xmlns:a16="http://schemas.microsoft.com/office/drawing/2014/main" id="{2D5C996F-1E01-47E1-87F3-AE36B9E34CAF}"/>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science explains the data. The workflow determines how people can access and use it.</a:t>
            </a:r>
            <a:endParaRPr/>
          </a:p>
        </p:txBody>
      </p:sp>
      <p:sp>
        <p:nvSpPr>
          <p:cNvPr id="70" name="Google Shape;70;p5">
            <a:extLst xmlns:a="http://schemas.openxmlformats.org/drawingml/2006/main">
              <a:ext uri="{FF2B5EF4-FFF2-40B4-BE49-F238E27FC236}">
                <a16:creationId xmlns:a16="http://schemas.microsoft.com/office/drawing/2014/main" id="{2F4E1B2C-29E2-4D43-93B5-AEC1D6B98F2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 name="Google Shape;71;p5">
            <a:extLst xmlns:a="http://schemas.openxmlformats.org/drawingml/2006/main">
              <a:ext uri="{FF2B5EF4-FFF2-40B4-BE49-F238E27FC236}">
                <a16:creationId xmlns:a16="http://schemas.microsoft.com/office/drawing/2014/main" id="{EF438631-EF43-47F2-93BB-134015920A5B}"/>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 name="Google Shape;72;p5">
            <a:extLst xmlns:a="http://schemas.openxmlformats.org/drawingml/2006/main">
              <a:ext uri="{FF2B5EF4-FFF2-40B4-BE49-F238E27FC236}">
                <a16:creationId xmlns:a16="http://schemas.microsoft.com/office/drawing/2014/main" id="{03ED494D-646E-4C83-9689-E4B674214903}"/>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 name="Google Shape;73;p5">
            <a:extLst xmlns:a="http://schemas.openxmlformats.org/drawingml/2006/main">
              <a:ext uri="{FF2B5EF4-FFF2-40B4-BE49-F238E27FC236}">
                <a16:creationId xmlns:a16="http://schemas.microsoft.com/office/drawing/2014/main" id="{BFFB8526-8562-496A-947D-1EB6070A42F6}"/>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4" name="Google Shape;74;p5">
            <a:extLst xmlns:a="http://schemas.openxmlformats.org/drawingml/2006/main">
              <a:ext uri="{FF2B5EF4-FFF2-40B4-BE49-F238E27FC236}">
                <a16:creationId xmlns:a16="http://schemas.microsoft.com/office/drawing/2014/main" id="{0CFF4FF4-E7B4-4194-812D-5F6D794883F0}"/>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03</a:t>
            </a:r>
            <a:endParaRPr/>
          </a:p>
        </p:txBody>
      </p:sp>
      <p:sp>
        <p:nvSpPr>
          <p:cNvPr id="75" name="Google Shape;75;p5">
            <a:extLst xmlns:a="http://schemas.openxmlformats.org/drawingml/2006/main">
              <a:ext uri="{FF2B5EF4-FFF2-40B4-BE49-F238E27FC236}">
                <a16:creationId xmlns:a16="http://schemas.microsoft.com/office/drawing/2014/main" id="{F04CE83F-956A-4338-9322-C50424760EBF}"/>
              </a:ext>
            </a:extLst>
          </p:cNvPr>
          <p:cNvSpPr>
            <a:spLocks xmlns:a="http://schemas.openxmlformats.org/drawingml/2006/main" noGrp="1"/>
          </p:cNvSpPr>
          <p:nvPr/>
        </p:nvSpPr>
        <p:spPr>
          <a:xfrm xmlns:a="http://schemas.openxmlformats.org/drawingml/2006/main">
            <a:off x="1190625" y="3267075"/>
            <a:ext cx="981075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541B90D8-F022-45BC-868F-C07800908522}"/>
              </a:ext>
            </a:extLst>
          </p:cNvPr>
          <p:cNvSpPr>
            <a:spLocks xmlns:a="http://schemas.openxmlformats.org/drawingml/2006/main" noGrp="1"/>
          </p:cNvSpPr>
          <p:nvPr/>
        </p:nvSpPr>
        <p:spPr>
          <a:xfrm xmlns:a="http://schemas.openxmlformats.org/drawingml/2006/main">
            <a:off x="121920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BE474D1F-355C-4038-836E-683A60172EAE}"/>
              </a:ext>
            </a:extLst>
          </p:cNvPr>
          <p:cNvSpPr>
            <a:spLocks xmlns:a="http://schemas.openxmlformats.org/drawingml/2006/main" noGrp="1"/>
          </p:cNvSpPr>
          <p:nvPr/>
        </p:nvSpPr>
        <p:spPr>
          <a:xfrm xmlns:a="http://schemas.openxmlformats.org/drawingml/2006/main">
            <a:off x="102870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1</a:t>
            </a:r>
            <a:endParaRPr/>
          </a:p>
        </p:txBody>
      </p:sp>
      <p:sp>
        <p:nvSpPr>
          <p:cNvPr id="78" name="Google Shape;78;p5">
            <a:extLst xmlns:a="http://schemas.openxmlformats.org/drawingml/2006/main">
              <a:ext uri="{FF2B5EF4-FFF2-40B4-BE49-F238E27FC236}">
                <a16:creationId xmlns:a16="http://schemas.microsoft.com/office/drawing/2014/main" id="{609A0509-BA0A-4A0E-935E-498FEB99B5C2}"/>
              </a:ext>
            </a:extLst>
          </p:cNvPr>
          <p:cNvSpPr>
            <a:spLocks xmlns:a="http://schemas.openxmlformats.org/drawingml/2006/main" noGrp="1"/>
          </p:cNvSpPr>
          <p:nvPr/>
        </p:nvSpPr>
        <p:spPr>
          <a:xfrm xmlns:a="http://schemas.openxmlformats.org/drawingml/2006/main">
            <a:off x="3619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00–05</a:t>
            </a:r>
            <a:endParaRPr/>
          </a:p>
        </p:txBody>
      </p:sp>
      <p:sp>
        <p:nvSpPr>
          <p:cNvPr id="79" name="Google Shape;79;p5">
            <a:extLst xmlns:a="http://schemas.openxmlformats.org/drawingml/2006/main">
              <a:ext uri="{FF2B5EF4-FFF2-40B4-BE49-F238E27FC236}">
                <a16:creationId xmlns:a16="http://schemas.microsoft.com/office/drawing/2014/main" id="{0CB7F3E4-D9E0-4189-9627-E46861DEED21}"/>
              </a:ext>
            </a:extLst>
          </p:cNvPr>
          <p:cNvSpPr>
            <a:spLocks xmlns:a="http://schemas.openxmlformats.org/drawingml/2006/main" noGrp="1"/>
          </p:cNvSpPr>
          <p:nvPr/>
        </p:nvSpPr>
        <p:spPr>
          <a:xfrm xmlns:a="http://schemas.openxmlformats.org/drawingml/2006/main">
            <a:off x="2857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question</a:t>
            </a:r>
            <a:endParaRPr/>
          </a:p>
        </p:txBody>
      </p:sp>
      <p:sp>
        <p:nvSpPr>
          <p:cNvPr id="80" name="Google Shape;80;p5">
            <a:extLst xmlns:a="http://schemas.openxmlformats.org/drawingml/2006/main">
              <a:ext uri="{FF2B5EF4-FFF2-40B4-BE49-F238E27FC236}">
                <a16:creationId xmlns:a16="http://schemas.microsoft.com/office/drawing/2014/main" id="{A8A1E330-5C64-4A7C-8236-F080850E4560}"/>
              </a:ext>
            </a:extLst>
          </p:cNvPr>
          <p:cNvSpPr>
            <a:spLocks xmlns:a="http://schemas.openxmlformats.org/drawingml/2006/main" noGrp="1"/>
          </p:cNvSpPr>
          <p:nvPr/>
        </p:nvSpPr>
        <p:spPr>
          <a:xfrm xmlns:a="http://schemas.openxmlformats.org/drawingml/2006/main">
            <a:off x="359229" y="2787423"/>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81" name="Google Shape;81;p5">
            <a:extLst xmlns:a="http://schemas.openxmlformats.org/drawingml/2006/main">
              <a:ext uri="{FF2B5EF4-FFF2-40B4-BE49-F238E27FC236}">
                <a16:creationId xmlns:a16="http://schemas.microsoft.com/office/drawing/2014/main" id="{C6FB0A2B-B473-4B4D-B35E-BE7412AE64BB}"/>
              </a:ext>
            </a:extLst>
          </p:cNvPr>
          <p:cNvSpPr>
            <a:spLocks xmlns:a="http://schemas.openxmlformats.org/drawingml/2006/main" noGrp="1"/>
          </p:cNvSpPr>
          <p:nvPr/>
        </p:nvSpPr>
        <p:spPr>
          <a:xfrm xmlns:a="http://schemas.openxmlformats.org/drawingml/2006/main">
            <a:off x="364807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CC4FDDC9-BCFA-4506-8139-6F97464D9C76}"/>
              </a:ext>
            </a:extLst>
          </p:cNvPr>
          <p:cNvSpPr>
            <a:spLocks xmlns:a="http://schemas.openxmlformats.org/drawingml/2006/main" noGrp="1"/>
          </p:cNvSpPr>
          <p:nvPr/>
        </p:nvSpPr>
        <p:spPr>
          <a:xfrm xmlns:a="http://schemas.openxmlformats.org/drawingml/2006/main">
            <a:off x="345757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a:t>
            </a:r>
            <a:endParaRPr/>
          </a:p>
        </p:txBody>
      </p:sp>
      <p:sp>
        <p:nvSpPr>
          <p:cNvPr id="83" name="Google Shape;83;p5">
            <a:extLst xmlns:a="http://schemas.openxmlformats.org/drawingml/2006/main">
              <a:ext uri="{FF2B5EF4-FFF2-40B4-BE49-F238E27FC236}">
                <a16:creationId xmlns:a16="http://schemas.microsoft.com/office/drawing/2014/main" id="{FE323AA9-2288-4F40-B2C6-3651A32FD26E}"/>
              </a:ext>
            </a:extLst>
          </p:cNvPr>
          <p:cNvSpPr>
            <a:spLocks xmlns:a="http://schemas.openxmlformats.org/drawingml/2006/main" noGrp="1"/>
          </p:cNvSpPr>
          <p:nvPr/>
        </p:nvSpPr>
        <p:spPr>
          <a:xfrm xmlns:a="http://schemas.openxmlformats.org/drawingml/2006/main">
            <a:off x="279082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05–40</a:t>
            </a:r>
            <a:endParaRPr/>
          </a:p>
        </p:txBody>
      </p:sp>
      <p:sp>
        <p:nvSpPr>
          <p:cNvPr id="84" name="Google Shape;84;p5">
            <a:extLst xmlns:a="http://schemas.openxmlformats.org/drawingml/2006/main">
              <a:ext uri="{FF2B5EF4-FFF2-40B4-BE49-F238E27FC236}">
                <a16:creationId xmlns:a16="http://schemas.microsoft.com/office/drawing/2014/main" id="{E0245AE0-7332-4FB6-8B50-9846511F62D6}"/>
              </a:ext>
            </a:extLst>
          </p:cNvPr>
          <p:cNvSpPr>
            <a:spLocks xmlns:a="http://schemas.openxmlformats.org/drawingml/2006/main" noGrp="1"/>
          </p:cNvSpPr>
          <p:nvPr/>
        </p:nvSpPr>
        <p:spPr>
          <a:xfrm xmlns:a="http://schemas.openxmlformats.org/drawingml/2006/main">
            <a:off x="271462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science behind the data</a:t>
            </a:r>
            <a:endParaRPr/>
          </a:p>
        </p:txBody>
      </p:sp>
      <p:sp>
        <p:nvSpPr>
          <p:cNvPr id="85" name="Google Shape;85;p5">
            <a:extLst xmlns:a="http://schemas.openxmlformats.org/drawingml/2006/main">
              <a:ext uri="{FF2B5EF4-FFF2-40B4-BE49-F238E27FC236}">
                <a16:creationId xmlns:a16="http://schemas.microsoft.com/office/drawing/2014/main" id="{3E4882B7-0657-4235-A321-1227D609D368}"/>
              </a:ext>
            </a:extLst>
          </p:cNvPr>
          <p:cNvSpPr>
            <a:spLocks xmlns:a="http://schemas.openxmlformats.org/drawingml/2006/main" noGrp="1"/>
          </p:cNvSpPr>
          <p:nvPr/>
        </p:nvSpPr>
        <p:spPr>
          <a:xfrm xmlns:a="http://schemas.openxmlformats.org/drawingml/2006/main">
            <a:off x="279082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Hideki</a:t>
            </a:r>
            <a:endParaRPr/>
          </a:p>
        </p:txBody>
      </p:sp>
      <p:sp>
        <p:nvSpPr>
          <p:cNvPr id="86" name="Google Shape;86;p5">
            <a:extLst xmlns:a="http://schemas.openxmlformats.org/drawingml/2006/main">
              <a:ext uri="{FF2B5EF4-FFF2-40B4-BE49-F238E27FC236}">
                <a16:creationId xmlns:a16="http://schemas.microsoft.com/office/drawing/2014/main" id="{B83301A2-CDB4-488E-A960-C7CD177288CD}"/>
              </a:ext>
            </a:extLst>
          </p:cNvPr>
          <p:cNvSpPr>
            <a:spLocks xmlns:a="http://schemas.openxmlformats.org/drawingml/2006/main" noGrp="1"/>
          </p:cNvSpPr>
          <p:nvPr/>
        </p:nvSpPr>
        <p:spPr>
          <a:xfrm xmlns:a="http://schemas.openxmlformats.org/drawingml/2006/main">
            <a:off x="607695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7" name="Google Shape;87;p5">
            <a:extLst xmlns:a="http://schemas.openxmlformats.org/drawingml/2006/main">
              <a:ext uri="{FF2B5EF4-FFF2-40B4-BE49-F238E27FC236}">
                <a16:creationId xmlns:a16="http://schemas.microsoft.com/office/drawing/2014/main" id="{E3E6D5F5-B955-4215-8F40-E8159A59A100}"/>
              </a:ext>
            </a:extLst>
          </p:cNvPr>
          <p:cNvSpPr>
            <a:spLocks xmlns:a="http://schemas.openxmlformats.org/drawingml/2006/main" noGrp="1"/>
          </p:cNvSpPr>
          <p:nvPr/>
        </p:nvSpPr>
        <p:spPr>
          <a:xfrm xmlns:a="http://schemas.openxmlformats.org/drawingml/2006/main">
            <a:off x="588645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3</a:t>
            </a:r>
            <a:endParaRPr/>
          </a:p>
        </p:txBody>
      </p:sp>
      <p:sp>
        <p:nvSpPr>
          <p:cNvPr id="88" name="Google Shape;88;p5">
            <a:extLst xmlns:a="http://schemas.openxmlformats.org/drawingml/2006/main">
              <a:ext uri="{FF2B5EF4-FFF2-40B4-BE49-F238E27FC236}">
                <a16:creationId xmlns:a16="http://schemas.microsoft.com/office/drawing/2014/main" id="{B989449E-CC47-4BB8-8325-72109BBEC82B}"/>
              </a:ext>
            </a:extLst>
          </p:cNvPr>
          <p:cNvSpPr>
            <a:spLocks xmlns:a="http://schemas.openxmlformats.org/drawingml/2006/main" noGrp="1"/>
          </p:cNvSpPr>
          <p:nvPr/>
        </p:nvSpPr>
        <p:spPr>
          <a:xfrm xmlns:a="http://schemas.openxmlformats.org/drawingml/2006/main">
            <a:off x="521970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40–55</a:t>
            </a:r>
            <a:endParaRPr/>
          </a:p>
        </p:txBody>
      </p:sp>
      <p:sp>
        <p:nvSpPr>
          <p:cNvPr id="89" name="Google Shape;89;p5">
            <a:extLst xmlns:a="http://schemas.openxmlformats.org/drawingml/2006/main">
              <a:ext uri="{FF2B5EF4-FFF2-40B4-BE49-F238E27FC236}">
                <a16:creationId xmlns:a16="http://schemas.microsoft.com/office/drawing/2014/main" id="{C0276438-FF6B-46CD-9519-B406D256F214}"/>
              </a:ext>
            </a:extLst>
          </p:cNvPr>
          <p:cNvSpPr>
            <a:spLocks xmlns:a="http://schemas.openxmlformats.org/drawingml/2006/main" noGrp="1"/>
          </p:cNvSpPr>
          <p:nvPr/>
        </p:nvSpPr>
        <p:spPr>
          <a:xfrm xmlns:a="http://schemas.openxmlformats.org/drawingml/2006/main">
            <a:off x="514350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Accessing climate data today</a:t>
            </a:r>
            <a:endParaRPr/>
          </a:p>
        </p:txBody>
      </p:sp>
      <p:sp>
        <p:nvSpPr>
          <p:cNvPr id="90" name="Google Shape;90;p5">
            <a:extLst xmlns:a="http://schemas.openxmlformats.org/drawingml/2006/main">
              <a:ext uri="{FF2B5EF4-FFF2-40B4-BE49-F238E27FC236}">
                <a16:creationId xmlns:a16="http://schemas.microsoft.com/office/drawing/2014/main" id="{0F8B8613-BD4F-44A1-AC19-5749ECC3D570}"/>
              </a:ext>
            </a:extLst>
          </p:cNvPr>
          <p:cNvSpPr>
            <a:spLocks xmlns:a="http://schemas.openxmlformats.org/drawingml/2006/main" noGrp="1"/>
          </p:cNvSpPr>
          <p:nvPr/>
        </p:nvSpPr>
        <p:spPr>
          <a:xfrm xmlns:a="http://schemas.openxmlformats.org/drawingml/2006/main">
            <a:off x="5219700" y="278130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91" name="Google Shape;91;p5">
            <a:extLst xmlns:a="http://schemas.openxmlformats.org/drawingml/2006/main">
              <a:ext uri="{FF2B5EF4-FFF2-40B4-BE49-F238E27FC236}">
                <a16:creationId xmlns:a16="http://schemas.microsoft.com/office/drawing/2014/main" id="{0CEF8A6A-F2F6-4A0C-B741-8C332A82C861}"/>
              </a:ext>
            </a:extLst>
          </p:cNvPr>
          <p:cNvSpPr>
            <a:spLocks xmlns:a="http://schemas.openxmlformats.org/drawingml/2006/main" noGrp="1"/>
          </p:cNvSpPr>
          <p:nvPr/>
        </p:nvSpPr>
        <p:spPr>
          <a:xfrm xmlns:a="http://schemas.openxmlformats.org/drawingml/2006/main">
            <a:off x="850582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176D2FCC-33C6-47CA-965D-F05570C9B06F}"/>
              </a:ext>
            </a:extLst>
          </p:cNvPr>
          <p:cNvSpPr>
            <a:spLocks xmlns:a="http://schemas.openxmlformats.org/drawingml/2006/main" noGrp="1"/>
          </p:cNvSpPr>
          <p:nvPr/>
        </p:nvSpPr>
        <p:spPr>
          <a:xfrm xmlns:a="http://schemas.openxmlformats.org/drawingml/2006/main">
            <a:off x="831532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4</a:t>
            </a:r>
            <a:endParaRPr/>
          </a:p>
        </p:txBody>
      </p:sp>
      <p:sp>
        <p:nvSpPr>
          <p:cNvPr id="93" name="Google Shape;93;p5">
            <a:extLst xmlns:a="http://schemas.openxmlformats.org/drawingml/2006/main">
              <a:ext uri="{FF2B5EF4-FFF2-40B4-BE49-F238E27FC236}">
                <a16:creationId xmlns:a16="http://schemas.microsoft.com/office/drawing/2014/main" id="{B0414128-8510-417A-BB2A-2E47415526D1}"/>
              </a:ext>
            </a:extLst>
          </p:cNvPr>
          <p:cNvSpPr>
            <a:spLocks xmlns:a="http://schemas.openxmlformats.org/drawingml/2006/main" noGrp="1"/>
          </p:cNvSpPr>
          <p:nvPr/>
        </p:nvSpPr>
        <p:spPr>
          <a:xfrm xmlns:a="http://schemas.openxmlformats.org/drawingml/2006/main">
            <a:off x="764857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55–70</a:t>
            </a:r>
            <a:endParaRPr/>
          </a:p>
        </p:txBody>
      </p:sp>
      <p:sp>
        <p:nvSpPr>
          <p:cNvPr id="94" name="Google Shape;94;p5">
            <a:extLst xmlns:a="http://schemas.openxmlformats.org/drawingml/2006/main">
              <a:ext uri="{FF2B5EF4-FFF2-40B4-BE49-F238E27FC236}">
                <a16:creationId xmlns:a16="http://schemas.microsoft.com/office/drawing/2014/main" id="{4203C803-6534-4BC0-A95F-6D70880F007C}"/>
              </a:ext>
            </a:extLst>
          </p:cNvPr>
          <p:cNvSpPr>
            <a:spLocks xmlns:a="http://schemas.openxmlformats.org/drawingml/2006/main" noGrp="1"/>
          </p:cNvSpPr>
          <p:nvPr/>
        </p:nvSpPr>
        <p:spPr>
          <a:xfrm xmlns:a="http://schemas.openxmlformats.org/drawingml/2006/main">
            <a:off x="757237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What CAVA changes and how it works</a:t>
            </a:r>
            <a:endParaRPr/>
          </a:p>
        </p:txBody>
      </p:sp>
      <p:sp>
        <p:nvSpPr>
          <p:cNvPr id="95" name="Google Shape;95;p5">
            <a:extLst xmlns:a="http://schemas.openxmlformats.org/drawingml/2006/main">
              <a:ext uri="{FF2B5EF4-FFF2-40B4-BE49-F238E27FC236}">
                <a16:creationId xmlns:a16="http://schemas.microsoft.com/office/drawing/2014/main" id="{87B3A964-1072-4FA4-B585-703B744167EA}"/>
              </a:ext>
            </a:extLst>
          </p:cNvPr>
          <p:cNvSpPr>
            <a:spLocks xmlns:a="http://schemas.openxmlformats.org/drawingml/2006/main" noGrp="1"/>
          </p:cNvSpPr>
          <p:nvPr/>
        </p:nvSpPr>
        <p:spPr>
          <a:xfrm xmlns:a="http://schemas.openxmlformats.org/drawingml/2006/main">
            <a:off x="764857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 + Ezequiel</a:t>
            </a:r>
            <a:endParaRPr/>
          </a:p>
        </p:txBody>
      </p:sp>
      <p:sp>
        <p:nvSpPr>
          <p:cNvPr id="96" name="Google Shape;96;p5">
            <a:extLst xmlns:a="http://schemas.openxmlformats.org/drawingml/2006/main">
              <a:ext uri="{FF2B5EF4-FFF2-40B4-BE49-F238E27FC236}">
                <a16:creationId xmlns:a16="http://schemas.microsoft.com/office/drawing/2014/main" id="{DECF326B-D119-430B-971F-EBFA4D420EAB}"/>
              </a:ext>
            </a:extLst>
          </p:cNvPr>
          <p:cNvSpPr>
            <a:spLocks xmlns:a="http://schemas.openxmlformats.org/drawingml/2006/main" noGrp="1"/>
          </p:cNvSpPr>
          <p:nvPr/>
        </p:nvSpPr>
        <p:spPr>
          <a:xfrm xmlns:a="http://schemas.openxmlformats.org/drawingml/2006/main">
            <a:off x="10934700" y="2962275"/>
            <a:ext cx="38100" cy="32385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7" name="Google Shape;97;p5">
            <a:extLst xmlns:a="http://schemas.openxmlformats.org/drawingml/2006/main">
              <a:ext uri="{FF2B5EF4-FFF2-40B4-BE49-F238E27FC236}">
                <a16:creationId xmlns:a16="http://schemas.microsoft.com/office/drawing/2014/main" id="{9AFBA1C9-2CFD-4520-A482-650B03FBF442}"/>
              </a:ext>
            </a:extLst>
          </p:cNvPr>
          <p:cNvSpPr>
            <a:spLocks xmlns:a="http://schemas.openxmlformats.org/drawingml/2006/main" noGrp="1"/>
          </p:cNvSpPr>
          <p:nvPr/>
        </p:nvSpPr>
        <p:spPr>
          <a:xfrm xmlns:a="http://schemas.openxmlformats.org/drawingml/2006/main">
            <a:off x="10744200" y="3076575"/>
            <a:ext cx="419100" cy="419100"/>
          </a:xfrm>
          <a:prstGeom xmlns:a="http://schemas.openxmlformats.org/drawingml/2006/main" prst="ellipse">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5</a:t>
            </a:r>
            <a:endParaRPr/>
          </a:p>
        </p:txBody>
      </p:sp>
      <p:sp>
        <p:nvSpPr>
          <p:cNvPr id="98" name="Google Shape;98;p5">
            <a:extLst xmlns:a="http://schemas.openxmlformats.org/drawingml/2006/main">
              <a:ext uri="{FF2B5EF4-FFF2-40B4-BE49-F238E27FC236}">
                <a16:creationId xmlns:a16="http://schemas.microsoft.com/office/drawing/2014/main" id="{CC0DC96A-B426-49AC-A71F-2FD9028036EA}"/>
              </a:ext>
            </a:extLst>
          </p:cNvPr>
          <p:cNvSpPr>
            <a:spLocks xmlns:a="http://schemas.openxmlformats.org/drawingml/2006/main" noGrp="1"/>
          </p:cNvSpPr>
          <p:nvPr/>
        </p:nvSpPr>
        <p:spPr>
          <a:xfrm xmlns:a="http://schemas.openxmlformats.org/drawingml/2006/main">
            <a:off x="100774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83A59"/>
              </a:buClr>
              <a:buSzPts val="975"/>
              <a:buFont typeface="Lato"/>
              <a:buNone/>
            </a:pPr>
            <a:r>
              <a:rPr sz="975" b="1" i="0">
                <a:solidFill>
                  <a:srgbClr val="183A59"/>
                </a:solidFill>
                <a:latin typeface="Lato"/>
                <a:ea typeface="Lato"/>
                <a:cs typeface="Lato"/>
              </a:rPr>
              <a:t>70–90</a:t>
            </a:r>
            <a:endParaRPr/>
          </a:p>
        </p:txBody>
      </p:sp>
      <p:sp>
        <p:nvSpPr>
          <p:cNvPr id="99" name="Google Shape;99;p5">
            <a:extLst xmlns:a="http://schemas.openxmlformats.org/drawingml/2006/main">
              <a:ext uri="{FF2B5EF4-FFF2-40B4-BE49-F238E27FC236}">
                <a16:creationId xmlns:a16="http://schemas.microsoft.com/office/drawing/2014/main" id="{14B5D673-3A4C-4219-85EF-7E28E1A18272}"/>
              </a:ext>
            </a:extLst>
          </p:cNvPr>
          <p:cNvSpPr>
            <a:spLocks xmlns:a="http://schemas.openxmlformats.org/drawingml/2006/main" noGrp="1"/>
          </p:cNvSpPr>
          <p:nvPr/>
        </p:nvSpPr>
        <p:spPr>
          <a:xfrm xmlns:a="http://schemas.openxmlformats.org/drawingml/2006/main">
            <a:off x="100012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End-to-end example and discussion</a:t>
            </a:r>
            <a:endParaRPr/>
          </a:p>
        </p:txBody>
      </p:sp>
      <p:sp>
        <p:nvSpPr>
          <p:cNvPr id="100" name="Google Shape;100;p5">
            <a:extLst xmlns:a="http://schemas.openxmlformats.org/drawingml/2006/main">
              <a:ext uri="{FF2B5EF4-FFF2-40B4-BE49-F238E27FC236}">
                <a16:creationId xmlns:a16="http://schemas.microsoft.com/office/drawing/2014/main" id="{6EE4CE67-B712-4691-86B9-7FA479B96BEA}"/>
              </a:ext>
            </a:extLst>
          </p:cNvPr>
          <p:cNvSpPr>
            <a:spLocks xmlns:a="http://schemas.openxmlformats.org/drawingml/2006/main" noGrp="1"/>
          </p:cNvSpPr>
          <p:nvPr/>
        </p:nvSpPr>
        <p:spPr>
          <a:xfrm xmlns:a="http://schemas.openxmlformats.org/drawingml/2006/main">
            <a:off x="10058400" y="2781299"/>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All</a:t>
            </a:r>
            <a:endParaRPr/>
          </a:p>
        </p:txBody>
      </p:sp>
      <p:sp>
        <p:nvSpPr>
          <p:cNvPr id="101" name="Google Shape;101;p5">
            <a:extLst xmlns:a="http://schemas.openxmlformats.org/drawingml/2006/main">
              <a:ext uri="{FF2B5EF4-FFF2-40B4-BE49-F238E27FC236}">
                <a16:creationId xmlns:a16="http://schemas.microsoft.com/office/drawing/2014/main" id="{E48293C7-ED0A-4277-87AA-1C988543E2FA}"/>
              </a:ext>
            </a:extLst>
          </p:cNvPr>
          <p:cNvSpPr>
            <a:spLocks xmlns:a="http://schemas.openxmlformats.org/drawingml/2006/main" noGrp="1"/>
          </p:cNvSpPr>
          <p:nvPr/>
        </p:nvSpPr>
        <p:spPr>
          <a:xfrm xmlns:a="http://schemas.openxmlformats.org/drawingml/2006/main">
            <a:off x="685800" y="5348512"/>
            <a:ext cx="1809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Learning outcome</a:t>
            </a:r>
            <a:endParaRPr/>
          </a:p>
        </p:txBody>
      </p:sp>
      <p:sp>
        <p:nvSpPr>
          <p:cNvPr id="102" name="Google Shape;102;p5">
            <a:extLst xmlns:a="http://schemas.openxmlformats.org/drawingml/2006/main">
              <a:ext uri="{FF2B5EF4-FFF2-40B4-BE49-F238E27FC236}">
                <a16:creationId xmlns:a16="http://schemas.microsoft.com/office/drawing/2014/main" id="{6378B62D-79F6-48FC-B00E-0AED238F9D94}"/>
              </a:ext>
            </a:extLst>
          </p:cNvPr>
          <p:cNvSpPr>
            <a:spLocks xmlns:a="http://schemas.openxmlformats.org/drawingml/2006/main" noGrp="1"/>
          </p:cNvSpPr>
          <p:nvPr/>
        </p:nvSpPr>
        <p:spPr>
          <a:xfrm xmlns:a="http://schemas.openxmlformats.org/drawingml/2006/main">
            <a:off x="2381250" y="5310412"/>
            <a:ext cx="82869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23"/>
              <a:buFont typeface="Lato"/>
              <a:buNone/>
            </a:pPr>
            <a:r>
              <a:rPr sz="1524" b="1" i="0">
                <a:solidFill>
                  <a:srgbClr val="12304E"/>
                </a:solidFill>
                <a:latin typeface="Lato"/>
                <a:ea typeface="Lato"/>
                <a:cs typeface="Lato"/>
              </a:rPr>
              <a:t>A shared view of the climate evidence, the access problem and the role of CAVA</a:t>
            </a:r>
            <a:endParaRPr/>
          </a:p>
        </p:txBody>
      </p:sp>
    </p:spTree>
    <p:extLst>
      <p:ext uri="{BB962C8B-B14F-4D97-AF65-F5344CB8AC3E}">
        <p14:creationId xmlns:p14="http://schemas.microsoft.com/office/powerpoint/2010/main" val="170611934"/>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8" name="Google Shape;108;p6">
            <a:extLst xmlns:a="http://schemas.openxmlformats.org/drawingml/2006/main">
              <a:ext uri="{FF2B5EF4-FFF2-40B4-BE49-F238E27FC236}">
                <a16:creationId xmlns:a16="http://schemas.microsoft.com/office/drawing/2014/main" id="{ABC9AC00-2E12-4F8F-A0A7-DA19F62CBA1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practical climate question</a:t>
            </a:r>
            <a:endParaRPr/>
          </a:p>
        </p:txBody>
      </p:sp>
      <p:sp>
        <p:nvSpPr>
          <p:cNvPr id="109" name="Google Shape;109;p6">
            <a:extLst xmlns:a="http://schemas.openxmlformats.org/drawingml/2006/main">
              <a:ext uri="{FF2B5EF4-FFF2-40B4-BE49-F238E27FC236}">
                <a16:creationId xmlns:a16="http://schemas.microsoft.com/office/drawing/2014/main" id="{5C1361B1-326D-4FF6-8198-B189AF4BB9B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Begin with the decision, then identify the information needed to support it</a:t>
            </a:r>
            <a:endParaRPr/>
          </a:p>
        </p:txBody>
      </p:sp>
      <p:sp>
        <p:nvSpPr>
          <p:cNvPr id="110" name="Google Shape;110;p6">
            <a:extLst xmlns:a="http://schemas.openxmlformats.org/drawingml/2006/main">
              <a:ext uri="{FF2B5EF4-FFF2-40B4-BE49-F238E27FC236}">
                <a16:creationId xmlns:a16="http://schemas.microsoft.com/office/drawing/2014/main" id="{290F29B8-4F6D-4F23-895B-A6841789C49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1" name="Google Shape;111;p6">
            <a:extLst xmlns:a="http://schemas.openxmlformats.org/drawingml/2006/main">
              <a:ext uri="{FF2B5EF4-FFF2-40B4-BE49-F238E27FC236}">
                <a16:creationId xmlns:a16="http://schemas.microsoft.com/office/drawing/2014/main" id="{085A419C-8421-4F54-ACB5-010EEC4FEC9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2" name="Google Shape;112;p6">
            <a:extLst xmlns:a="http://schemas.openxmlformats.org/drawingml/2006/main">
              <a:ext uri="{FF2B5EF4-FFF2-40B4-BE49-F238E27FC236}">
                <a16:creationId xmlns:a16="http://schemas.microsoft.com/office/drawing/2014/main" id="{4E1C9295-6FDD-4F83-B9C7-091F6B18EB20}"/>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3" name="Google Shape;113;p6">
            <a:extLst xmlns:a="http://schemas.openxmlformats.org/drawingml/2006/main">
              <a:ext uri="{FF2B5EF4-FFF2-40B4-BE49-F238E27FC236}">
                <a16:creationId xmlns:a16="http://schemas.microsoft.com/office/drawing/2014/main" id="{5313E44A-667A-4F99-B19A-DBE14E9B8A5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14" name="Google Shape;114;p6">
            <a:extLst xmlns:a="http://schemas.openxmlformats.org/drawingml/2006/main">
              <a:ext uri="{FF2B5EF4-FFF2-40B4-BE49-F238E27FC236}">
                <a16:creationId xmlns:a16="http://schemas.microsoft.com/office/drawing/2014/main" id="{BC1F4E8F-101A-4734-A53E-5D3895031B3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04</a:t>
            </a:r>
            <a:endParaRPr/>
          </a:p>
        </p:txBody>
      </p:sp>
      <p:sp>
        <p:nvSpPr>
          <p:cNvPr id="115" name="Google Shape;115;p6">
            <a:extLst xmlns:a="http://schemas.openxmlformats.org/drawingml/2006/main">
              <a:ext uri="{FF2B5EF4-FFF2-40B4-BE49-F238E27FC236}">
                <a16:creationId xmlns:a16="http://schemas.microsoft.com/office/drawing/2014/main" id="{B82FA94A-E9B7-4F67-90F5-CBDA50157EBD}"/>
              </a:ext>
            </a:extLst>
          </p:cNvPr>
          <p:cNvSpPr>
            <a:spLocks xmlns:a="http://schemas.openxmlformats.org/drawingml/2006/main" noGrp="1"/>
          </p:cNvSpPr>
          <p:nvPr/>
        </p:nvSpPr>
        <p:spPr>
          <a:xfrm xmlns:a="http://schemas.openxmlformats.org/drawingml/2006/main">
            <a:off x="990600" y="1952625"/>
            <a:ext cx="1019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2775"/>
              <a:buFont typeface="Lato"/>
              <a:buNone/>
            </a:pPr>
            <a:r>
              <a:rPr sz="2775" b="1" i="0">
                <a:solidFill>
                  <a:srgbClr val="12304E"/>
                </a:solidFill>
                <a:latin typeface="Lato"/>
                <a:ea typeface="Lato"/>
                <a:cs typeface="Lato"/>
              </a:rPr>
              <a:t>How will extreme heat change in our project area over the next 30 years?</a:t>
            </a:r>
            <a:endParaRPr/>
          </a:p>
        </p:txBody>
      </p:sp>
      <p:sp>
        <p:nvSpPr>
          <p:cNvPr id="116" name="Google Shape;116;p6">
            <a:extLst xmlns:a="http://schemas.openxmlformats.org/drawingml/2006/main">
              <a:ext uri="{FF2B5EF4-FFF2-40B4-BE49-F238E27FC236}">
                <a16:creationId xmlns:a16="http://schemas.microsoft.com/office/drawing/2014/main" id="{8037AF35-444F-48D1-AD1A-49A4B39167B9}"/>
              </a:ext>
            </a:extLst>
          </p:cNvPr>
          <p:cNvSpPr>
            <a:spLocks xmlns:a="http://schemas.openxmlformats.org/drawingml/2006/main" noGrp="1"/>
          </p:cNvSpPr>
          <p:nvPr/>
        </p:nvSpPr>
        <p:spPr>
          <a:xfrm xmlns:a="http://schemas.openxmlformats.org/drawingml/2006/main">
            <a:off x="7048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7" name="Google Shape;117;p6">
            <a:extLst xmlns:a="http://schemas.openxmlformats.org/drawingml/2006/main">
              <a:ext uri="{FF2B5EF4-FFF2-40B4-BE49-F238E27FC236}">
                <a16:creationId xmlns:a16="http://schemas.microsoft.com/office/drawing/2014/main" id="{42777AFB-F498-4900-8783-921CC2BDAD62}"/>
              </a:ext>
            </a:extLst>
          </p:cNvPr>
          <p:cNvSpPr>
            <a:spLocks xmlns:a="http://schemas.openxmlformats.org/drawingml/2006/main" noGrp="1"/>
          </p:cNvSpPr>
          <p:nvPr/>
        </p:nvSpPr>
        <p:spPr>
          <a:xfrm xmlns:a="http://schemas.openxmlformats.org/drawingml/2006/main">
            <a:off x="704850" y="3790950"/>
            <a:ext cx="38100" cy="1076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8" name="Google Shape;118;p6">
            <a:extLst xmlns:a="http://schemas.openxmlformats.org/drawingml/2006/main">
              <a:ext uri="{FF2B5EF4-FFF2-40B4-BE49-F238E27FC236}">
                <a16:creationId xmlns:a16="http://schemas.microsoft.com/office/drawing/2014/main" id="{24977475-76B0-4216-A101-F06870FFDE70}"/>
              </a:ext>
            </a:extLst>
          </p:cNvPr>
          <p:cNvSpPr>
            <a:spLocks xmlns:a="http://schemas.openxmlformats.org/drawingml/2006/main" noGrp="1"/>
          </p:cNvSpPr>
          <p:nvPr/>
        </p:nvSpPr>
        <p:spPr>
          <a:xfrm xmlns:a="http://schemas.openxmlformats.org/drawingml/2006/main">
            <a:off x="9334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a:solidFill>
                  <a:srgbClr val="12304E"/>
                </a:solidFill>
                <a:latin typeface="Lato"/>
                <a:ea typeface="Lato"/>
                <a:cs typeface="Lato"/>
              </a:rPr>
              <a:t>DESIGNING</a:t>
            </a:r>
            <a:r>
              <a:rPr sz="1050" b="1" i="0">
                <a:solidFill>
                  <a:srgbClr val="12304E"/>
                </a:solidFill>
                <a:latin typeface="Lato"/>
                <a:ea typeface="Lato"/>
                <a:cs typeface="Lato"/>
              </a:rPr>
              <a:t> PROJECT ACTIVITIES</a:t>
            </a:r>
            <a:endParaRPr sz="1050" b="1" i="0">
              <a:solidFill>
                <a:srgbClr val="12304E"/>
              </a:solidFill>
              <a:latin typeface="Lato"/>
              <a:ea typeface="Lato"/>
              <a:cs typeface="Lato"/>
            </a:endParaRPr>
          </a:p>
        </p:txBody>
      </p:sp>
      <p:sp>
        <p:nvSpPr>
          <p:cNvPr id="119" name="Google Shape;119;p6">
            <a:extLst xmlns:a="http://schemas.openxmlformats.org/drawingml/2006/main">
              <a:ext uri="{FF2B5EF4-FFF2-40B4-BE49-F238E27FC236}">
                <a16:creationId xmlns:a16="http://schemas.microsoft.com/office/drawing/2014/main" id="{BD3BA94F-91BD-4767-93FA-E715713B7EDB}"/>
              </a:ext>
            </a:extLst>
          </p:cNvPr>
          <p:cNvSpPr>
            <a:spLocks xmlns:a="http://schemas.openxmlformats.org/drawingml/2006/main" noGrp="1"/>
          </p:cNvSpPr>
          <p:nvPr/>
        </p:nvSpPr>
        <p:spPr>
          <a:xfrm xmlns:a="http://schemas.openxmlformats.org/drawingml/2006/main">
            <a:off x="9334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Will planned assets and activities remain viable?</a:t>
            </a:r>
            <a:endParaRPr/>
          </a:p>
        </p:txBody>
      </p:sp>
      <p:sp>
        <p:nvSpPr>
          <p:cNvPr id="120" name="Google Shape;120;p6">
            <a:extLst xmlns:a="http://schemas.openxmlformats.org/drawingml/2006/main">
              <a:ext uri="{FF2B5EF4-FFF2-40B4-BE49-F238E27FC236}">
                <a16:creationId xmlns:a16="http://schemas.microsoft.com/office/drawing/2014/main" id="{B5002B10-1364-4FB3-A142-C17D88C36AFF}"/>
              </a:ext>
            </a:extLst>
          </p:cNvPr>
          <p:cNvSpPr>
            <a:spLocks xmlns:a="http://schemas.openxmlformats.org/drawingml/2006/main" noGrp="1"/>
          </p:cNvSpPr>
          <p:nvPr/>
        </p:nvSpPr>
        <p:spPr>
          <a:xfrm xmlns:a="http://schemas.openxmlformats.org/drawingml/2006/main">
            <a:off x="445770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1" name="Google Shape;121;p6">
            <a:extLst xmlns:a="http://schemas.openxmlformats.org/drawingml/2006/main">
              <a:ext uri="{FF2B5EF4-FFF2-40B4-BE49-F238E27FC236}">
                <a16:creationId xmlns:a16="http://schemas.microsoft.com/office/drawing/2014/main" id="{0FB96610-991D-4A6B-8D92-6C4842FB231A}"/>
              </a:ext>
            </a:extLst>
          </p:cNvPr>
          <p:cNvSpPr>
            <a:spLocks xmlns:a="http://schemas.openxmlformats.org/drawingml/2006/main" noGrp="1"/>
          </p:cNvSpPr>
          <p:nvPr/>
        </p:nvSpPr>
        <p:spPr>
          <a:xfrm xmlns:a="http://schemas.openxmlformats.org/drawingml/2006/main">
            <a:off x="4457700" y="3790950"/>
            <a:ext cx="38100" cy="107632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2" name="Google Shape;122;p6">
            <a:extLst xmlns:a="http://schemas.openxmlformats.org/drawingml/2006/main">
              <a:ext uri="{FF2B5EF4-FFF2-40B4-BE49-F238E27FC236}">
                <a16:creationId xmlns:a16="http://schemas.microsoft.com/office/drawing/2014/main" id="{129B76EF-A496-4E23-A9A8-A1B3870ECB02}"/>
              </a:ext>
            </a:extLst>
          </p:cNvPr>
          <p:cNvSpPr>
            <a:spLocks xmlns:a="http://schemas.openxmlformats.org/drawingml/2006/main" noGrp="1"/>
          </p:cNvSpPr>
          <p:nvPr/>
        </p:nvSpPr>
        <p:spPr>
          <a:xfrm xmlns:a="http://schemas.openxmlformats.org/drawingml/2006/main">
            <a:off x="468630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CLIMATE RISK</a:t>
            </a:r>
            <a:r>
              <a:rPr sz="1050" b="1">
                <a:solidFill>
                  <a:srgbClr val="12304E"/>
                </a:solidFill>
                <a:latin typeface="Lato"/>
                <a:ea typeface="Lato"/>
                <a:cs typeface="Lato"/>
              </a:rPr>
              <a:t>S </a:t>
            </a:r>
            <a:r>
              <a:rPr sz="1050" b="1">
                <a:solidFill>
                  <a:srgbClr val="12304E"/>
                </a:solidFill>
                <a:latin typeface="Lato"/>
                <a:ea typeface="Lato"/>
                <a:cs typeface="Lato"/>
              </a:rPr>
              <a:t>CONSIDERATIONS</a:t>
            </a:r>
            <a:endParaRPr sz="1050" b="1" i="0">
              <a:solidFill>
                <a:srgbClr val="12304E"/>
              </a:solidFill>
              <a:latin typeface="Lato"/>
              <a:ea typeface="Lato"/>
              <a:cs typeface="Lato"/>
            </a:endParaRPr>
          </a:p>
        </p:txBody>
      </p:sp>
      <p:sp>
        <p:nvSpPr>
          <p:cNvPr id="123" name="Google Shape;123;p6">
            <a:extLst xmlns:a="http://schemas.openxmlformats.org/drawingml/2006/main">
              <a:ext uri="{FF2B5EF4-FFF2-40B4-BE49-F238E27FC236}">
                <a16:creationId xmlns:a16="http://schemas.microsoft.com/office/drawing/2014/main" id="{2E7AFA83-F470-4C45-822E-683E68EC1CEF}"/>
              </a:ext>
            </a:extLst>
          </p:cNvPr>
          <p:cNvSpPr>
            <a:spLocks xmlns:a="http://schemas.openxmlformats.org/drawingml/2006/main" noGrp="1"/>
          </p:cNvSpPr>
          <p:nvPr/>
        </p:nvSpPr>
        <p:spPr>
          <a:xfrm xmlns:a="http://schemas.openxmlformats.org/drawingml/2006/main">
            <a:off x="468630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groups or locations may face greater exposure </a:t>
            </a:r>
            <a:r>
              <a:rPr sz="1350">
                <a:solidFill>
                  <a:srgbClr val="687984"/>
                </a:solidFill>
                <a:latin typeface="Lato"/>
                <a:ea typeface="Lato"/>
                <a:cs typeface="Lato"/>
              </a:rPr>
              <a:t>and/or are more vulnerable</a:t>
            </a:r>
            <a:r>
              <a:rPr sz="1350" b="0" i="0">
                <a:solidFill>
                  <a:srgbClr val="687984"/>
                </a:solidFill>
                <a:latin typeface="Lato"/>
                <a:ea typeface="Lato"/>
                <a:cs typeface="Lato"/>
              </a:rPr>
              <a:t>?</a:t>
            </a:r>
            <a:endParaRPr/>
          </a:p>
        </p:txBody>
      </p:sp>
      <p:sp>
        <p:nvSpPr>
          <p:cNvPr id="124" name="Google Shape;124;p6">
            <a:extLst xmlns:a="http://schemas.openxmlformats.org/drawingml/2006/main">
              <a:ext uri="{FF2B5EF4-FFF2-40B4-BE49-F238E27FC236}">
                <a16:creationId xmlns:a16="http://schemas.microsoft.com/office/drawing/2014/main" id="{B02C0EE0-5CB5-4892-9D7F-810100582A2E}"/>
              </a:ext>
            </a:extLst>
          </p:cNvPr>
          <p:cNvSpPr>
            <a:spLocks xmlns:a="http://schemas.openxmlformats.org/drawingml/2006/main" noGrp="1"/>
          </p:cNvSpPr>
          <p:nvPr/>
        </p:nvSpPr>
        <p:spPr>
          <a:xfrm xmlns:a="http://schemas.openxmlformats.org/drawingml/2006/main">
            <a:off x="82105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F567F82B-754F-4E9F-9A8F-E415669D713D}"/>
              </a:ext>
            </a:extLst>
          </p:cNvPr>
          <p:cNvSpPr>
            <a:spLocks xmlns:a="http://schemas.openxmlformats.org/drawingml/2006/main" noGrp="1"/>
          </p:cNvSpPr>
          <p:nvPr/>
        </p:nvSpPr>
        <p:spPr>
          <a:xfrm xmlns:a="http://schemas.openxmlformats.org/drawingml/2006/main">
            <a:off x="8210550" y="3790950"/>
            <a:ext cx="38100" cy="107632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6" name="Google Shape;126;p6">
            <a:extLst xmlns:a="http://schemas.openxmlformats.org/drawingml/2006/main">
              <a:ext uri="{FF2B5EF4-FFF2-40B4-BE49-F238E27FC236}">
                <a16:creationId xmlns:a16="http://schemas.microsoft.com/office/drawing/2014/main" id="{4E6A028F-396F-4CE2-B4D2-BE2287BBC865}"/>
              </a:ext>
            </a:extLst>
          </p:cNvPr>
          <p:cNvSpPr>
            <a:spLocks xmlns:a="http://schemas.openxmlformats.org/drawingml/2006/main" noGrp="1"/>
          </p:cNvSpPr>
          <p:nvPr/>
        </p:nvSpPr>
        <p:spPr>
          <a:xfrm xmlns:a="http://schemas.openxmlformats.org/drawingml/2006/main">
            <a:off x="84391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ADAPTATION</a:t>
            </a:r>
            <a:endParaRPr/>
          </a:p>
        </p:txBody>
      </p:sp>
      <p:sp>
        <p:nvSpPr>
          <p:cNvPr id="127" name="Google Shape;127;p6">
            <a:extLst xmlns:a="http://schemas.openxmlformats.org/drawingml/2006/main">
              <a:ext uri="{FF2B5EF4-FFF2-40B4-BE49-F238E27FC236}">
                <a16:creationId xmlns:a16="http://schemas.microsoft.com/office/drawing/2014/main" id="{5090C41D-F52C-4327-8972-A06E9DBC661D}"/>
              </a:ext>
            </a:extLst>
          </p:cNvPr>
          <p:cNvSpPr>
            <a:spLocks xmlns:a="http://schemas.openxmlformats.org/drawingml/2006/main" noGrp="1"/>
          </p:cNvSpPr>
          <p:nvPr/>
        </p:nvSpPr>
        <p:spPr>
          <a:xfrm xmlns:a="http://schemas.openxmlformats.org/drawingml/2006/main">
            <a:off x="84391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options respond to the scale and timing of change?</a:t>
            </a:r>
            <a:endParaRPr/>
          </a:p>
        </p:txBody>
      </p:sp>
      <p:sp>
        <p:nvSpPr>
          <p:cNvPr id="128" name="Google Shape;128;p6">
            <a:extLst xmlns:a="http://schemas.openxmlformats.org/drawingml/2006/main">
              <a:ext uri="{FF2B5EF4-FFF2-40B4-BE49-F238E27FC236}">
                <a16:creationId xmlns:a16="http://schemas.microsoft.com/office/drawing/2014/main" id="{6CE2F9DF-C7DF-4D84-AE15-E8AA304C1E56}"/>
              </a:ext>
            </a:extLst>
          </p:cNvPr>
          <p:cNvSpPr>
            <a:spLocks xmlns:a="http://schemas.openxmlformats.org/drawingml/2006/main" noGrp="1"/>
          </p:cNvSpPr>
          <p:nvPr/>
        </p:nvSpPr>
        <p:spPr>
          <a:xfrm xmlns:a="http://schemas.openxmlformats.org/drawingml/2006/main">
            <a:off x="1628775" y="5438775"/>
            <a:ext cx="8905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The question sounds simple. Answering it requires a chain of choices and processing steps.</a:t>
            </a:r>
            <a:endParaRPr/>
          </a:p>
        </p:txBody>
      </p:sp>
    </p:spTree>
    <p:extLst>
      <p:ext uri="{BB962C8B-B14F-4D97-AF65-F5344CB8AC3E}">
        <p14:creationId xmlns:p14="http://schemas.microsoft.com/office/powerpoint/2010/main" val="2067290852"/>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4" name="Google Shape;134;p7">
            <a:extLst xmlns:a="http://schemas.openxmlformats.org/drawingml/2006/main">
              <a:ext uri="{FF2B5EF4-FFF2-40B4-BE49-F238E27FC236}">
                <a16:creationId xmlns:a16="http://schemas.microsoft.com/office/drawing/2014/main" id="{55BB3F71-47DB-411E-BC89-A30431E24449}"/>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a decision question to climate information</a:t>
            </a:r>
            <a:endParaRPr/>
          </a:p>
        </p:txBody>
      </p:sp>
      <p:sp>
        <p:nvSpPr>
          <p:cNvPr id="135" name="Google Shape;135;p7">
            <a:extLst xmlns:a="http://schemas.openxmlformats.org/drawingml/2006/main">
              <a:ext uri="{FF2B5EF4-FFF2-40B4-BE49-F238E27FC236}">
                <a16:creationId xmlns:a16="http://schemas.microsoft.com/office/drawing/2014/main" id="{00498825-D2BA-4734-A4BC-FF67B0671402}"/>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Each step adds a choice that affects the final interpretation</a:t>
            </a:r>
            <a:endParaRPr/>
          </a:p>
        </p:txBody>
      </p:sp>
      <p:sp>
        <p:nvSpPr>
          <p:cNvPr id="136" name="Google Shape;136;p7">
            <a:extLst xmlns:a="http://schemas.openxmlformats.org/drawingml/2006/main">
              <a:ext uri="{FF2B5EF4-FFF2-40B4-BE49-F238E27FC236}">
                <a16:creationId xmlns:a16="http://schemas.microsoft.com/office/drawing/2014/main" id="{1FC049B8-77AC-4963-AE4E-3FB329027035}"/>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7" name="Google Shape;137;p7">
            <a:extLst xmlns:a="http://schemas.openxmlformats.org/drawingml/2006/main">
              <a:ext uri="{FF2B5EF4-FFF2-40B4-BE49-F238E27FC236}">
                <a16:creationId xmlns:a16="http://schemas.microsoft.com/office/drawing/2014/main" id="{75393A51-A3D1-4EC1-9A99-2A06F1DBDDE0}"/>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8" name="Google Shape;138;p7">
            <a:extLst xmlns:a="http://schemas.openxmlformats.org/drawingml/2006/main">
              <a:ext uri="{FF2B5EF4-FFF2-40B4-BE49-F238E27FC236}">
                <a16:creationId xmlns:a16="http://schemas.microsoft.com/office/drawing/2014/main" id="{58638343-A961-4704-9CAE-84BBF0E9508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9" name="Google Shape;139;p7">
            <a:extLst xmlns:a="http://schemas.openxmlformats.org/drawingml/2006/main">
              <a:ext uri="{FF2B5EF4-FFF2-40B4-BE49-F238E27FC236}">
                <a16:creationId xmlns:a16="http://schemas.microsoft.com/office/drawing/2014/main" id="{408C757A-C818-40BA-934F-DD3840148FA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40" name="Google Shape;140;p7">
            <a:extLst xmlns:a="http://schemas.openxmlformats.org/drawingml/2006/main">
              <a:ext uri="{FF2B5EF4-FFF2-40B4-BE49-F238E27FC236}">
                <a16:creationId xmlns:a16="http://schemas.microsoft.com/office/drawing/2014/main" id="{7192FB54-9FD5-4EA1-B057-ECA704A2C1FC}"/>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05</a:t>
            </a:r>
            <a:endParaRPr/>
          </a:p>
        </p:txBody>
      </p:sp>
      <p:sp>
        <p:nvSpPr>
          <p:cNvPr id="141" name="Google Shape;141;p7">
            <a:extLst xmlns:a="http://schemas.openxmlformats.org/drawingml/2006/main">
              <a:ext uri="{FF2B5EF4-FFF2-40B4-BE49-F238E27FC236}">
                <a16:creationId xmlns:a16="http://schemas.microsoft.com/office/drawing/2014/main" id="{0B0F949D-882B-486D-91A7-8DE2976A3FBF}"/>
              </a:ext>
            </a:extLst>
          </p:cNvPr>
          <p:cNvSpPr>
            <a:spLocks xmlns:a="http://schemas.openxmlformats.org/drawingml/2006/main" noGrp="1"/>
          </p:cNvSpPr>
          <p:nvPr/>
        </p:nvSpPr>
        <p:spPr>
          <a:xfrm xmlns:a="http://schemas.openxmlformats.org/drawingml/2006/main">
            <a:off x="6477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2" name="Google Shape;142;p7">
            <a:extLst xmlns:a="http://schemas.openxmlformats.org/drawingml/2006/main">
              <a:ext uri="{FF2B5EF4-FFF2-40B4-BE49-F238E27FC236}">
                <a16:creationId xmlns:a16="http://schemas.microsoft.com/office/drawing/2014/main" id="{D0C8FEFF-4EC9-40D9-BE3E-3BBAAECAC345}"/>
              </a:ext>
            </a:extLst>
          </p:cNvPr>
          <p:cNvSpPr>
            <a:spLocks xmlns:a="http://schemas.openxmlformats.org/drawingml/2006/main" noGrp="1"/>
          </p:cNvSpPr>
          <p:nvPr/>
        </p:nvSpPr>
        <p:spPr>
          <a:xfrm xmlns:a="http://schemas.openxmlformats.org/drawingml/2006/main">
            <a:off x="8382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01</a:t>
            </a:r>
            <a:endParaRPr/>
          </a:p>
        </p:txBody>
      </p:sp>
      <p:sp>
        <p:nvSpPr>
          <p:cNvPr id="143" name="Google Shape;143;p7">
            <a:extLst xmlns:a="http://schemas.openxmlformats.org/drawingml/2006/main">
              <a:ext uri="{FF2B5EF4-FFF2-40B4-BE49-F238E27FC236}">
                <a16:creationId xmlns:a16="http://schemas.microsoft.com/office/drawing/2014/main" id="{9679BA43-16EB-4EDF-8750-CA3C4E7BC9EC}"/>
              </a:ext>
            </a:extLst>
          </p:cNvPr>
          <p:cNvSpPr>
            <a:spLocks xmlns:a="http://schemas.openxmlformats.org/drawingml/2006/main" noGrp="1"/>
          </p:cNvSpPr>
          <p:nvPr/>
        </p:nvSpPr>
        <p:spPr>
          <a:xfrm xmlns:a="http://schemas.openxmlformats.org/drawingml/2006/main">
            <a:off x="8382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Decision question</a:t>
            </a:r>
            <a:endParaRPr/>
          </a:p>
        </p:txBody>
      </p:sp>
      <p:sp>
        <p:nvSpPr>
          <p:cNvPr id="144" name="Google Shape;144;p7">
            <a:extLst xmlns:a="http://schemas.openxmlformats.org/drawingml/2006/main">
              <a:ext uri="{FF2B5EF4-FFF2-40B4-BE49-F238E27FC236}">
                <a16:creationId xmlns:a16="http://schemas.microsoft.com/office/drawing/2014/main" id="{DD03355C-1889-4999-A202-4E6BEAD6BACA}"/>
              </a:ext>
            </a:extLst>
          </p:cNvPr>
          <p:cNvSpPr>
            <a:spLocks xmlns:a="http://schemas.openxmlformats.org/drawingml/2006/main" noGrp="1"/>
          </p:cNvSpPr>
          <p:nvPr/>
        </p:nvSpPr>
        <p:spPr>
          <a:xfrm xmlns:a="http://schemas.openxmlformats.org/drawingml/2006/main">
            <a:off x="8382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must the project decide?</a:t>
            </a:r>
            <a:endParaRPr/>
          </a:p>
        </p:txBody>
      </p:sp>
      <p:sp>
        <p:nvSpPr>
          <p:cNvPr id="145" name="Google Shape;145;p7">
            <a:extLst xmlns:a="http://schemas.openxmlformats.org/drawingml/2006/main">
              <a:ext uri="{FF2B5EF4-FFF2-40B4-BE49-F238E27FC236}">
                <a16:creationId xmlns:a16="http://schemas.microsoft.com/office/drawing/2014/main" id="{B1A58509-CEBD-4CB8-8408-414EB76CBA37}"/>
              </a:ext>
            </a:extLst>
          </p:cNvPr>
          <p:cNvSpPr>
            <a:spLocks xmlns:a="http://schemas.openxmlformats.org/drawingml/2006/main" noGrp="1"/>
          </p:cNvSpPr>
          <p:nvPr/>
        </p:nvSpPr>
        <p:spPr>
          <a:xfrm xmlns:a="http://schemas.openxmlformats.org/drawingml/2006/main">
            <a:off x="260032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6" name="Google Shape;146;p7">
            <a:extLst xmlns:a="http://schemas.openxmlformats.org/drawingml/2006/main">
              <a:ext uri="{FF2B5EF4-FFF2-40B4-BE49-F238E27FC236}">
                <a16:creationId xmlns:a16="http://schemas.microsoft.com/office/drawing/2014/main" id="{E6C5D7E8-0D8B-4670-860D-0AD00E395B72}"/>
              </a:ext>
            </a:extLst>
          </p:cNvPr>
          <p:cNvSpPr>
            <a:spLocks xmlns:a="http://schemas.openxmlformats.org/drawingml/2006/main" noGrp="1"/>
          </p:cNvSpPr>
          <p:nvPr/>
        </p:nvSpPr>
        <p:spPr>
          <a:xfrm xmlns:a="http://schemas.openxmlformats.org/drawingml/2006/main">
            <a:off x="284797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7" name="Google Shape;147;p7">
            <a:extLst xmlns:a="http://schemas.openxmlformats.org/drawingml/2006/main">
              <a:ext uri="{FF2B5EF4-FFF2-40B4-BE49-F238E27FC236}">
                <a16:creationId xmlns:a16="http://schemas.microsoft.com/office/drawing/2014/main" id="{4EDE25BA-C8BB-4B12-8548-60F94E7330EB}"/>
              </a:ext>
            </a:extLst>
          </p:cNvPr>
          <p:cNvSpPr>
            <a:spLocks xmlns:a="http://schemas.openxmlformats.org/drawingml/2006/main" noGrp="1"/>
          </p:cNvSpPr>
          <p:nvPr/>
        </p:nvSpPr>
        <p:spPr>
          <a:xfrm xmlns:a="http://schemas.openxmlformats.org/drawingml/2006/main">
            <a:off x="303847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148" name="Google Shape;148;p7">
            <a:extLst xmlns:a="http://schemas.openxmlformats.org/drawingml/2006/main">
              <a:ext uri="{FF2B5EF4-FFF2-40B4-BE49-F238E27FC236}">
                <a16:creationId xmlns:a16="http://schemas.microsoft.com/office/drawing/2014/main" id="{5AC45945-3854-41F1-9BCE-67A66C3D9762}"/>
              </a:ext>
            </a:extLst>
          </p:cNvPr>
          <p:cNvSpPr>
            <a:spLocks xmlns:a="http://schemas.openxmlformats.org/drawingml/2006/main" noGrp="1"/>
          </p:cNvSpPr>
          <p:nvPr/>
        </p:nvSpPr>
        <p:spPr>
          <a:xfrm xmlns:a="http://schemas.openxmlformats.org/drawingml/2006/main">
            <a:off x="303847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Information need</a:t>
            </a:r>
            <a:endParaRPr/>
          </a:p>
        </p:txBody>
      </p:sp>
      <p:sp>
        <p:nvSpPr>
          <p:cNvPr id="149" name="Google Shape;149;p7">
            <a:extLst xmlns:a="http://schemas.openxmlformats.org/drawingml/2006/main">
              <a:ext uri="{FF2B5EF4-FFF2-40B4-BE49-F238E27FC236}">
                <a16:creationId xmlns:a16="http://schemas.microsoft.com/office/drawing/2014/main" id="{301494E6-FB32-45B2-B45E-A06F13BCF62F}"/>
              </a:ext>
            </a:extLst>
          </p:cNvPr>
          <p:cNvSpPr>
            <a:spLocks xmlns:a="http://schemas.openxmlformats.org/drawingml/2006/main" noGrp="1"/>
          </p:cNvSpPr>
          <p:nvPr/>
        </p:nvSpPr>
        <p:spPr>
          <a:xfrm xmlns:a="http://schemas.openxmlformats.org/drawingml/2006/main">
            <a:off x="303847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hazard, geography and period?</a:t>
            </a:r>
            <a:endParaRPr/>
          </a:p>
        </p:txBody>
      </p:sp>
      <p:sp>
        <p:nvSpPr>
          <p:cNvPr id="150" name="Google Shape;150;p7">
            <a:extLst xmlns:a="http://schemas.openxmlformats.org/drawingml/2006/main">
              <a:ext uri="{FF2B5EF4-FFF2-40B4-BE49-F238E27FC236}">
                <a16:creationId xmlns:a16="http://schemas.microsoft.com/office/drawing/2014/main" id="{D24CE849-8F00-4477-A2E6-21866DEF62F5}"/>
              </a:ext>
            </a:extLst>
          </p:cNvPr>
          <p:cNvSpPr>
            <a:spLocks xmlns:a="http://schemas.openxmlformats.org/drawingml/2006/main" noGrp="1"/>
          </p:cNvSpPr>
          <p:nvPr/>
        </p:nvSpPr>
        <p:spPr>
          <a:xfrm xmlns:a="http://schemas.openxmlformats.org/drawingml/2006/main">
            <a:off x="480060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1" name="Google Shape;151;p7">
            <a:extLst xmlns:a="http://schemas.openxmlformats.org/drawingml/2006/main">
              <a:ext uri="{FF2B5EF4-FFF2-40B4-BE49-F238E27FC236}">
                <a16:creationId xmlns:a16="http://schemas.microsoft.com/office/drawing/2014/main" id="{1596CEFC-FCEF-4EA5-BB88-6F2F33AB7D1F}"/>
              </a:ext>
            </a:extLst>
          </p:cNvPr>
          <p:cNvSpPr>
            <a:spLocks xmlns:a="http://schemas.openxmlformats.org/drawingml/2006/main" noGrp="1"/>
          </p:cNvSpPr>
          <p:nvPr/>
        </p:nvSpPr>
        <p:spPr>
          <a:xfrm xmlns:a="http://schemas.openxmlformats.org/drawingml/2006/main">
            <a:off x="504825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FF0000"/>
              </a:solidFill>
              <a:highlight>
                <a:srgbClr val="FF0000"/>
              </a:highlight>
              <a:latin typeface="Calibri"/>
              <a:ea typeface="Calibri"/>
              <a:cs typeface="Calibri"/>
            </a:endParaRPr>
          </a:p>
        </p:txBody>
      </p:sp>
      <p:sp>
        <p:nvSpPr>
          <p:cNvPr id="152" name="Google Shape;152;p7">
            <a:extLst xmlns:a="http://schemas.openxmlformats.org/drawingml/2006/main">
              <a:ext uri="{FF2B5EF4-FFF2-40B4-BE49-F238E27FC236}">
                <a16:creationId xmlns:a16="http://schemas.microsoft.com/office/drawing/2014/main" id="{B90B9530-F732-4802-B4DD-5D394F4C596D}"/>
              </a:ext>
            </a:extLst>
          </p:cNvPr>
          <p:cNvSpPr>
            <a:spLocks xmlns:a="http://schemas.openxmlformats.org/drawingml/2006/main" noGrp="1"/>
          </p:cNvSpPr>
          <p:nvPr/>
        </p:nvSpPr>
        <p:spPr>
          <a:xfrm xmlns:a="http://schemas.openxmlformats.org/drawingml/2006/main">
            <a:off x="523875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chemeClr val="dk1"/>
                </a:solidFill>
                <a:latin typeface="Lato"/>
                <a:ea typeface="Lato"/>
                <a:cs typeface="Lato"/>
              </a:rPr>
              <a:t>03</a:t>
            </a:r>
            <a:endParaRPr>
              <a:solidFill>
                <a:schemeClr val="dk1"/>
              </a:solidFill>
            </a:endParaRPr>
          </a:p>
        </p:txBody>
      </p:sp>
      <p:sp>
        <p:nvSpPr>
          <p:cNvPr id="153" name="Google Shape;153;p7">
            <a:extLst xmlns:a="http://schemas.openxmlformats.org/drawingml/2006/main">
              <a:ext uri="{FF2B5EF4-FFF2-40B4-BE49-F238E27FC236}">
                <a16:creationId xmlns:a16="http://schemas.microsoft.com/office/drawing/2014/main" id="{35597F3A-57B1-4C82-A303-725454BE15A1}"/>
              </a:ext>
            </a:extLst>
          </p:cNvPr>
          <p:cNvSpPr>
            <a:spLocks xmlns:a="http://schemas.openxmlformats.org/drawingml/2006/main" noGrp="1"/>
          </p:cNvSpPr>
          <p:nvPr/>
        </p:nvSpPr>
        <p:spPr>
          <a:xfrm xmlns:a="http://schemas.openxmlformats.org/drawingml/2006/main">
            <a:off x="523875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Climate evidence</a:t>
            </a:r>
            <a:endParaRPr/>
          </a:p>
        </p:txBody>
      </p:sp>
      <p:sp>
        <p:nvSpPr>
          <p:cNvPr id="154" name="Google Shape;154;p7">
            <a:extLst xmlns:a="http://schemas.openxmlformats.org/drawingml/2006/main">
              <a:ext uri="{FF2B5EF4-FFF2-40B4-BE49-F238E27FC236}">
                <a16:creationId xmlns:a16="http://schemas.microsoft.com/office/drawing/2014/main" id="{8BE6581C-D642-4A79-8D7A-CAF264FCDF5C}"/>
              </a:ext>
            </a:extLst>
          </p:cNvPr>
          <p:cNvSpPr>
            <a:spLocks xmlns:a="http://schemas.openxmlformats.org/drawingml/2006/main" noGrp="1"/>
          </p:cNvSpPr>
          <p:nvPr/>
        </p:nvSpPr>
        <p:spPr>
          <a:xfrm xmlns:a="http://schemas.openxmlformats.org/drawingml/2006/main">
            <a:off x="523875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reference and projections?</a:t>
            </a:r>
            <a:endParaRPr/>
          </a:p>
        </p:txBody>
      </p:sp>
      <p:sp>
        <p:nvSpPr>
          <p:cNvPr id="155" name="Google Shape;155;p7">
            <a:extLst xmlns:a="http://schemas.openxmlformats.org/drawingml/2006/main">
              <a:ext uri="{FF2B5EF4-FFF2-40B4-BE49-F238E27FC236}">
                <a16:creationId xmlns:a16="http://schemas.microsoft.com/office/drawing/2014/main" id="{861536A5-2AFC-4144-A36E-0E8F46A4FA76}"/>
              </a:ext>
            </a:extLst>
          </p:cNvPr>
          <p:cNvSpPr>
            <a:spLocks xmlns:a="http://schemas.openxmlformats.org/drawingml/2006/main" noGrp="1"/>
          </p:cNvSpPr>
          <p:nvPr/>
        </p:nvSpPr>
        <p:spPr>
          <a:xfrm xmlns:a="http://schemas.openxmlformats.org/drawingml/2006/main">
            <a:off x="700087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6" name="Google Shape;156;p7">
            <a:extLst xmlns:a="http://schemas.openxmlformats.org/drawingml/2006/main">
              <a:ext uri="{FF2B5EF4-FFF2-40B4-BE49-F238E27FC236}">
                <a16:creationId xmlns:a16="http://schemas.microsoft.com/office/drawing/2014/main" id="{FC38C3FE-8877-4071-8FD1-2E3C3056722E}"/>
              </a:ext>
            </a:extLst>
          </p:cNvPr>
          <p:cNvSpPr>
            <a:spLocks xmlns:a="http://schemas.openxmlformats.org/drawingml/2006/main" noGrp="1"/>
          </p:cNvSpPr>
          <p:nvPr/>
        </p:nvSpPr>
        <p:spPr>
          <a:xfrm xmlns:a="http://schemas.openxmlformats.org/drawingml/2006/main">
            <a:off x="724852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7" name="Google Shape;157;p7">
            <a:extLst xmlns:a="http://schemas.openxmlformats.org/drawingml/2006/main">
              <a:ext uri="{FF2B5EF4-FFF2-40B4-BE49-F238E27FC236}">
                <a16:creationId xmlns:a16="http://schemas.microsoft.com/office/drawing/2014/main" id="{5C10CC11-25DF-48C2-822E-FE80D6D94D0E}"/>
              </a:ext>
            </a:extLst>
          </p:cNvPr>
          <p:cNvSpPr>
            <a:spLocks xmlns:a="http://schemas.openxmlformats.org/drawingml/2006/main" noGrp="1"/>
          </p:cNvSpPr>
          <p:nvPr/>
        </p:nvSpPr>
        <p:spPr>
          <a:xfrm xmlns:a="http://schemas.openxmlformats.org/drawingml/2006/main">
            <a:off x="743902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04</a:t>
            </a:r>
            <a:endParaRPr/>
          </a:p>
        </p:txBody>
      </p:sp>
      <p:sp>
        <p:nvSpPr>
          <p:cNvPr id="158" name="Google Shape;158;p7">
            <a:extLst xmlns:a="http://schemas.openxmlformats.org/drawingml/2006/main">
              <a:ext uri="{FF2B5EF4-FFF2-40B4-BE49-F238E27FC236}">
                <a16:creationId xmlns:a16="http://schemas.microsoft.com/office/drawing/2014/main" id="{FC326F94-B5CC-4DB9-B0F7-DCAF3D66146E}"/>
              </a:ext>
            </a:extLst>
          </p:cNvPr>
          <p:cNvSpPr>
            <a:spLocks xmlns:a="http://schemas.openxmlformats.org/drawingml/2006/main" noGrp="1"/>
          </p:cNvSpPr>
          <p:nvPr/>
        </p:nvSpPr>
        <p:spPr>
          <a:xfrm xmlns:a="http://schemas.openxmlformats.org/drawingml/2006/main">
            <a:off x="743902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Processing</a:t>
            </a:r>
            <a:endParaRPr/>
          </a:p>
        </p:txBody>
      </p:sp>
      <p:sp>
        <p:nvSpPr>
          <p:cNvPr id="159" name="Google Shape;159;p7">
            <a:extLst xmlns:a="http://schemas.openxmlformats.org/drawingml/2006/main">
              <a:ext uri="{FF2B5EF4-FFF2-40B4-BE49-F238E27FC236}">
                <a16:creationId xmlns:a16="http://schemas.microsoft.com/office/drawing/2014/main" id="{805B5E5C-03BF-4CCE-B1DA-553485834E0E}"/>
              </a:ext>
            </a:extLst>
          </p:cNvPr>
          <p:cNvSpPr>
            <a:spLocks xmlns:a="http://schemas.openxmlformats.org/drawingml/2006/main" noGrp="1"/>
          </p:cNvSpPr>
          <p:nvPr/>
        </p:nvSpPr>
        <p:spPr>
          <a:xfrm xmlns:a="http://schemas.openxmlformats.org/drawingml/2006/main">
            <a:off x="743902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How are data made comparable?</a:t>
            </a:r>
            <a:endParaRPr/>
          </a:p>
        </p:txBody>
      </p:sp>
      <p:sp>
        <p:nvSpPr>
          <p:cNvPr id="160" name="Google Shape;160;p7">
            <a:extLst xmlns:a="http://schemas.openxmlformats.org/drawingml/2006/main">
              <a:ext uri="{FF2B5EF4-FFF2-40B4-BE49-F238E27FC236}">
                <a16:creationId xmlns:a16="http://schemas.microsoft.com/office/drawing/2014/main" id="{471AFE19-15AF-44CC-A4E4-955838FEB861}"/>
              </a:ext>
            </a:extLst>
          </p:cNvPr>
          <p:cNvSpPr>
            <a:spLocks xmlns:a="http://schemas.openxmlformats.org/drawingml/2006/main" noGrp="1"/>
          </p:cNvSpPr>
          <p:nvPr/>
        </p:nvSpPr>
        <p:spPr>
          <a:xfrm xmlns:a="http://schemas.openxmlformats.org/drawingml/2006/main">
            <a:off x="920115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1" name="Google Shape;161;p7">
            <a:extLst xmlns:a="http://schemas.openxmlformats.org/drawingml/2006/main">
              <a:ext uri="{FF2B5EF4-FFF2-40B4-BE49-F238E27FC236}">
                <a16:creationId xmlns:a16="http://schemas.microsoft.com/office/drawing/2014/main" id="{22627FAC-4688-46DA-B709-DFBC9BD13E2C}"/>
              </a:ext>
            </a:extLst>
          </p:cNvPr>
          <p:cNvSpPr>
            <a:spLocks xmlns:a="http://schemas.openxmlformats.org/drawingml/2006/main" noGrp="1"/>
          </p:cNvSpPr>
          <p:nvPr/>
        </p:nvSpPr>
        <p:spPr>
          <a:xfrm xmlns:a="http://schemas.openxmlformats.org/drawingml/2006/main">
            <a:off x="94488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chemeClr val="lt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2" name="Google Shape;162;p7">
            <a:extLst xmlns:a="http://schemas.openxmlformats.org/drawingml/2006/main">
              <a:ext uri="{FF2B5EF4-FFF2-40B4-BE49-F238E27FC236}">
                <a16:creationId xmlns:a16="http://schemas.microsoft.com/office/drawing/2014/main" id="{01FDB09C-AB96-4F26-9189-9AF5A6C18BDC}"/>
              </a:ext>
            </a:extLst>
          </p:cNvPr>
          <p:cNvSpPr>
            <a:spLocks xmlns:a="http://schemas.openxmlformats.org/drawingml/2006/main" noGrp="1"/>
          </p:cNvSpPr>
          <p:nvPr/>
        </p:nvSpPr>
        <p:spPr>
          <a:xfrm xmlns:a="http://schemas.openxmlformats.org/drawingml/2006/main">
            <a:off x="96393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05</a:t>
            </a:r>
            <a:endParaRPr/>
          </a:p>
        </p:txBody>
      </p:sp>
      <p:sp>
        <p:nvSpPr>
          <p:cNvPr id="163" name="Google Shape;163;p7">
            <a:extLst xmlns:a="http://schemas.openxmlformats.org/drawingml/2006/main">
              <a:ext uri="{FF2B5EF4-FFF2-40B4-BE49-F238E27FC236}">
                <a16:creationId xmlns:a16="http://schemas.microsoft.com/office/drawing/2014/main" id="{5BEE6EDE-EA5A-4402-AF54-8D74B4DD7EDE}"/>
              </a:ext>
            </a:extLst>
          </p:cNvPr>
          <p:cNvSpPr>
            <a:spLocks xmlns:a="http://schemas.openxmlformats.org/drawingml/2006/main" noGrp="1"/>
          </p:cNvSpPr>
          <p:nvPr/>
        </p:nvSpPr>
        <p:spPr>
          <a:xfrm xmlns:a="http://schemas.openxmlformats.org/drawingml/2006/main">
            <a:off x="96393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Interpretation</a:t>
            </a:r>
            <a:endParaRPr/>
          </a:p>
        </p:txBody>
      </p:sp>
      <p:sp>
        <p:nvSpPr>
          <p:cNvPr id="164" name="Google Shape;164;p7">
            <a:extLst xmlns:a="http://schemas.openxmlformats.org/drawingml/2006/main">
              <a:ext uri="{FF2B5EF4-FFF2-40B4-BE49-F238E27FC236}">
                <a16:creationId xmlns:a16="http://schemas.microsoft.com/office/drawing/2014/main" id="{E130FF53-5528-4514-9B8B-EAD96C27F54A}"/>
              </a:ext>
            </a:extLst>
          </p:cNvPr>
          <p:cNvSpPr>
            <a:spLocks xmlns:a="http://schemas.openxmlformats.org/drawingml/2006/main" noGrp="1"/>
          </p:cNvSpPr>
          <p:nvPr/>
        </p:nvSpPr>
        <p:spPr>
          <a:xfrm xmlns:a="http://schemas.openxmlformats.org/drawingml/2006/main">
            <a:off x="96393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changes, and how certain is it?</a:t>
            </a:r>
            <a:endParaRPr/>
          </a:p>
        </p:txBody>
      </p:sp>
      <p:sp>
        <p:nvSpPr>
          <p:cNvPr id="165" name="Google Shape;165;p7">
            <a:extLst xmlns:a="http://schemas.openxmlformats.org/drawingml/2006/main">
              <a:ext uri="{FF2B5EF4-FFF2-40B4-BE49-F238E27FC236}">
                <a16:creationId xmlns:a16="http://schemas.microsoft.com/office/drawing/2014/main" id="{DDA9196A-8E0B-412E-A1C4-5E89AD6C3007}"/>
              </a:ext>
            </a:extLst>
          </p:cNvPr>
          <p:cNvSpPr>
            <a:spLocks xmlns:a="http://schemas.openxmlformats.org/drawingml/2006/main" noGrp="1"/>
          </p:cNvSpPr>
          <p:nvPr/>
        </p:nvSpPr>
        <p:spPr>
          <a:xfrm xmlns:a="http://schemas.openxmlformats.org/drawingml/2006/main">
            <a:off x="657225" y="4686300"/>
            <a:ext cx="10715625" cy="952500"/>
          </a:xfrm>
          <a:prstGeom xmlns:a="http://schemas.openxmlformats.org/drawingml/2006/main" prst="roundRect">
            <a:avLst>
              <a:gd name="adj" fmla="val 8000"/>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6" name="Google Shape;166;p7">
            <a:extLst xmlns:a="http://schemas.openxmlformats.org/drawingml/2006/main">
              <a:ext uri="{FF2B5EF4-FFF2-40B4-BE49-F238E27FC236}">
                <a16:creationId xmlns:a16="http://schemas.microsoft.com/office/drawing/2014/main" id="{5A078E98-A5ED-4397-A676-AFCC04EE60E3}"/>
              </a:ext>
            </a:extLst>
          </p:cNvPr>
          <p:cNvSpPr>
            <a:spLocks xmlns:a="http://schemas.openxmlformats.org/drawingml/2006/main" noGrp="1"/>
          </p:cNvSpPr>
          <p:nvPr/>
        </p:nvSpPr>
        <p:spPr>
          <a:xfrm xmlns:a="http://schemas.openxmlformats.org/drawingml/2006/main">
            <a:off x="914400" y="4876800"/>
            <a:ext cx="4000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First, understand the climate evidence</a:t>
            </a:r>
            <a:endParaRPr/>
          </a:p>
        </p:txBody>
      </p:sp>
      <p:sp>
        <p:nvSpPr>
          <p:cNvPr id="167" name="Google Shape;167;p7">
            <a:extLst xmlns:a="http://schemas.openxmlformats.org/drawingml/2006/main">
              <a:ext uri="{FF2B5EF4-FFF2-40B4-BE49-F238E27FC236}">
                <a16:creationId xmlns:a16="http://schemas.microsoft.com/office/drawing/2014/main" id="{93E99F9A-BD8A-4BEF-993A-80D8BE9E2030}"/>
              </a:ext>
            </a:extLst>
          </p:cNvPr>
          <p:cNvSpPr>
            <a:spLocks xmlns:a="http://schemas.openxmlformats.org/drawingml/2006/main" noGrp="1"/>
          </p:cNvSpPr>
          <p:nvPr/>
        </p:nvSpPr>
        <p:spPr>
          <a:xfrm xmlns:a="http://schemas.openxmlformats.org/drawingml/2006/main">
            <a:off x="5067300" y="4838700"/>
            <a:ext cx="595312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0" i="0">
                <a:solidFill>
                  <a:srgbClr val="12304E"/>
                </a:solidFill>
                <a:latin typeface="Lato"/>
                <a:ea typeface="Lato"/>
                <a:cs typeface="Lato"/>
              </a:rPr>
              <a:t>Hideki explains how the datasets differ and why model bias, ensembles and indicators matter.</a:t>
            </a:r>
            <a:endParaRPr/>
          </a:p>
        </p:txBody>
      </p:sp>
    </p:spTree>
    <p:extLst>
      <p:ext uri="{BB962C8B-B14F-4D97-AF65-F5344CB8AC3E}">
        <p14:creationId xmlns:p14="http://schemas.microsoft.com/office/powerpoint/2010/main" val="174490358"/>
      </p:ext>
    </p:extLst>
  </p:cSld>
</p:sld>
</file>

<file path=ppt/slides/slide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73" name="Google Shape;173;p8">
            <a:extLst xmlns:a="http://schemas.openxmlformats.org/drawingml/2006/main">
              <a:ext uri="{FF2B5EF4-FFF2-40B4-BE49-F238E27FC236}">
                <a16:creationId xmlns:a16="http://schemas.microsoft.com/office/drawing/2014/main" id="{8E7B4783-B369-4A07-9938-DCAD31327C29}"/>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4" name="Google Shape;174;p8">
            <a:extLst xmlns:a="http://schemas.openxmlformats.org/drawingml/2006/main">
              <a:ext uri="{FF2B5EF4-FFF2-40B4-BE49-F238E27FC236}">
                <a16:creationId xmlns:a16="http://schemas.microsoft.com/office/drawing/2014/main" id="{03F5A6A5-BB9B-4503-9972-CF9433F45085}"/>
              </a:ext>
            </a:extLst>
          </p:cNvPr>
          <p:cNvSpPr>
            <a:spLocks xmlns:a="http://schemas.openxmlformats.org/drawingml/2006/main" noGrp="1"/>
          </p:cNvSpPr>
          <p:nvPr/>
        </p:nvSpPr>
        <p:spPr>
          <a:xfrm xmlns:a="http://schemas.openxmlformats.org/drawingml/2006/main">
            <a:off x="762000" y="762000"/>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5" name="Google Shape;175;p8">
            <a:extLst xmlns:a="http://schemas.openxmlformats.org/drawingml/2006/main">
              <a:ext uri="{FF2B5EF4-FFF2-40B4-BE49-F238E27FC236}">
                <a16:creationId xmlns:a16="http://schemas.microsoft.com/office/drawing/2014/main" id="{6F814B29-CDF2-4DD2-8B83-9BD9F25FA4B7}"/>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a:solidFill>
                  <a:srgbClr val="FFFFFF"/>
                </a:solidFill>
                <a:latin typeface="Lato"/>
                <a:ea typeface="Lato"/>
                <a:cs typeface="Lato"/>
              </a:rPr>
              <a:t>The climate science behind the data</a:t>
            </a:r>
            <a:endParaRPr/>
          </a:p>
        </p:txBody>
      </p:sp>
      <p:sp>
        <p:nvSpPr>
          <p:cNvPr id="176" name="Google Shape;176;p8">
            <a:extLst xmlns:a="http://schemas.openxmlformats.org/drawingml/2006/main">
              <a:ext uri="{FF2B5EF4-FFF2-40B4-BE49-F238E27FC236}">
                <a16:creationId xmlns:a16="http://schemas.microsoft.com/office/drawing/2014/main" id="{B936B187-2802-4CB2-A76A-19F76CE3D91C}"/>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a:solidFill>
                  <a:srgbClr val="D7E5EC"/>
                </a:solidFill>
                <a:latin typeface="Lato"/>
                <a:ea typeface="Lato"/>
                <a:cs typeface="Lato"/>
              </a:rPr>
              <a:t>Hideki explains what the datasets represent, how projections differ and why bias, ensembles and indicators matter.</a:t>
            </a:r>
            <a:endParaRPr/>
          </a:p>
        </p:txBody>
      </p:sp>
      <p:sp>
        <p:nvSpPr>
          <p:cNvPr id="177" name="Google Shape;177;p8">
            <a:extLst xmlns:a="http://schemas.openxmlformats.org/drawingml/2006/main">
              <a:ext uri="{FF2B5EF4-FFF2-40B4-BE49-F238E27FC236}">
                <a16:creationId xmlns:a16="http://schemas.microsoft.com/office/drawing/2014/main" id="{1C8DA369-BDD1-40C8-9A37-B5B3E436F696}"/>
              </a:ext>
            </a:extLst>
          </p:cNvPr>
          <p:cNvSpPr>
            <a:spLocks xmlns:a="http://schemas.openxmlformats.org/drawingml/2006/main" noGrp="1"/>
          </p:cNvSpPr>
          <p:nvPr/>
        </p:nvSpPr>
        <p:spPr>
          <a:xfrm xmlns:a="http://schemas.openxmlformats.org/drawingml/2006/main">
            <a:off x="781050" y="4953000"/>
            <a:ext cx="40005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HIDEKI · 35 MINUTES</a:t>
            </a:r>
            <a:endParaRPr/>
          </a:p>
        </p:txBody>
      </p:sp>
      <p:sp>
        <p:nvSpPr>
          <p:cNvPr id="178" name="Google Shape;178;p8">
            <a:extLst xmlns:a="http://schemas.openxmlformats.org/drawingml/2006/main">
              <a:ext uri="{FF2B5EF4-FFF2-40B4-BE49-F238E27FC236}">
                <a16:creationId xmlns:a16="http://schemas.microsoft.com/office/drawing/2014/main" id="{920B2473-E927-438E-B946-E8C920A0BAA4}"/>
              </a:ext>
            </a:extLst>
          </p:cNvPr>
          <p:cNvSpPr>
            <a:spLocks xmlns:a="http://schemas.openxmlformats.org/drawingml/2006/main" noGrp="1"/>
          </p:cNvSpPr>
          <p:nvPr/>
        </p:nvSpPr>
        <p:spPr>
          <a:xfrm xmlns:a="http://schemas.openxmlformats.org/drawingml/2006/main">
            <a:off x="781050" y="5905500"/>
            <a:ext cx="4953000" cy="9600"/>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9" name="Google Shape;179;p8">
            <a:extLst xmlns:a="http://schemas.openxmlformats.org/drawingml/2006/main">
              <a:ext uri="{FF2B5EF4-FFF2-40B4-BE49-F238E27FC236}">
                <a16:creationId xmlns:a16="http://schemas.microsoft.com/office/drawing/2014/main" id="{CF05CEDA-162A-44C0-B7F1-5EDDEA65D477}"/>
              </a:ext>
            </a:extLst>
          </p:cNvPr>
          <p:cNvSpPr>
            <a:spLocks xmlns:a="http://schemas.openxmlformats.org/drawingml/2006/main" noGrp="1"/>
          </p:cNvSpPr>
          <p:nvPr/>
        </p:nvSpPr>
        <p:spPr>
          <a:xfrm xmlns:a="http://schemas.openxmlformats.org/drawingml/2006/main">
            <a:off x="11049000" y="6324600"/>
            <a:ext cx="571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06</a:t>
            </a:r>
            <a:endParaRPr/>
          </a:p>
        </p:txBody>
      </p:sp>
    </p:spTree>
    <p:extLst>
      <p:ext uri="{BB962C8B-B14F-4D97-AF65-F5344CB8AC3E}">
        <p14:creationId xmlns:p14="http://schemas.microsoft.com/office/powerpoint/2010/main" val="1712423469"/>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5" name="Google Shape;185;p9">
            <a:extLst xmlns:a="http://schemas.openxmlformats.org/drawingml/2006/main">
              <a:ext uri="{FF2B5EF4-FFF2-40B4-BE49-F238E27FC236}">
                <a16:creationId xmlns:a16="http://schemas.microsoft.com/office/drawing/2014/main" id="{3980E5F7-64AD-4609-A74D-06ECE16D1AF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Three sources of climate information</a:t>
            </a:r>
            <a:endParaRPr/>
          </a:p>
        </p:txBody>
      </p:sp>
      <p:sp>
        <p:nvSpPr>
          <p:cNvPr id="186" name="Google Shape;186;p9">
            <a:extLst xmlns:a="http://schemas.openxmlformats.org/drawingml/2006/main">
              <a:ext uri="{FF2B5EF4-FFF2-40B4-BE49-F238E27FC236}">
                <a16:creationId xmlns:a16="http://schemas.microsoft.com/office/drawing/2014/main" id="{00E481EA-E725-4739-8DF2-AB126D98B7F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Historical reference information and future projections answer different questions</a:t>
            </a:r>
            <a:endParaRPr/>
          </a:p>
        </p:txBody>
      </p:sp>
      <p:sp>
        <p:nvSpPr>
          <p:cNvPr id="187" name="Google Shape;187;p9">
            <a:extLst xmlns:a="http://schemas.openxmlformats.org/drawingml/2006/main">
              <a:ext uri="{FF2B5EF4-FFF2-40B4-BE49-F238E27FC236}">
                <a16:creationId xmlns:a16="http://schemas.microsoft.com/office/drawing/2014/main" id="{09434A02-0C14-42CE-AB64-90643B945ACC}"/>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8" name="Google Shape;188;p9">
            <a:extLst xmlns:a="http://schemas.openxmlformats.org/drawingml/2006/main">
              <a:ext uri="{FF2B5EF4-FFF2-40B4-BE49-F238E27FC236}">
                <a16:creationId xmlns:a16="http://schemas.microsoft.com/office/drawing/2014/main" id="{C6AB3923-6D38-4B8F-8B85-7C1756211EB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9" name="Google Shape;189;p9">
            <a:extLst xmlns:a="http://schemas.openxmlformats.org/drawingml/2006/main">
              <a:ext uri="{FF2B5EF4-FFF2-40B4-BE49-F238E27FC236}">
                <a16:creationId xmlns:a16="http://schemas.microsoft.com/office/drawing/2014/main" id="{49D21E2C-C64E-4DC7-B944-D6A4060E79C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0" name="Google Shape;190;p9">
            <a:extLst xmlns:a="http://schemas.openxmlformats.org/drawingml/2006/main">
              <a:ext uri="{FF2B5EF4-FFF2-40B4-BE49-F238E27FC236}">
                <a16:creationId xmlns:a16="http://schemas.microsoft.com/office/drawing/2014/main" id="{9B816141-B21B-4082-8E49-59ABCDCC2390}"/>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91" name="Google Shape;191;p9">
            <a:extLst xmlns:a="http://schemas.openxmlformats.org/drawingml/2006/main">
              <a:ext uri="{FF2B5EF4-FFF2-40B4-BE49-F238E27FC236}">
                <a16:creationId xmlns:a16="http://schemas.microsoft.com/office/drawing/2014/main" id="{60856741-F322-4235-9341-D15BB3C3A6D1}"/>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07</a:t>
            </a:r>
            <a:endParaRPr/>
          </a:p>
        </p:txBody>
      </p:sp>
      <p:sp>
        <p:nvSpPr>
          <p:cNvPr id="192" name="Google Shape;192;p9">
            <a:extLst xmlns:a="http://schemas.openxmlformats.org/drawingml/2006/main">
              <a:ext uri="{FF2B5EF4-FFF2-40B4-BE49-F238E27FC236}">
                <a16:creationId xmlns:a16="http://schemas.microsoft.com/office/drawing/2014/main" id="{A5592A45-4CAD-4B4B-8B0C-69BA8B6331A2}"/>
              </a:ext>
            </a:extLst>
          </p:cNvPr>
          <p:cNvSpPr>
            <a:spLocks xmlns:a="http://schemas.openxmlformats.org/drawingml/2006/main" noGrp="1"/>
          </p:cNvSpPr>
          <p:nvPr/>
        </p:nvSpPr>
        <p:spPr>
          <a:xfrm xmlns:a="http://schemas.openxmlformats.org/drawingml/2006/main">
            <a:off x="685800" y="1790700"/>
            <a:ext cx="3429000" cy="32766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3" name="Google Shape;193;p9">
            <a:extLst xmlns:a="http://schemas.openxmlformats.org/drawingml/2006/main">
              <a:ext uri="{FF2B5EF4-FFF2-40B4-BE49-F238E27FC236}">
                <a16:creationId xmlns:a16="http://schemas.microsoft.com/office/drawing/2014/main" id="{96E7F500-584E-4C85-ADDC-6CFFAF946347}"/>
              </a:ext>
            </a:extLst>
          </p:cNvPr>
          <p:cNvSpPr>
            <a:spLocks xmlns:a="http://schemas.openxmlformats.org/drawingml/2006/main" noGrp="1"/>
          </p:cNvSpPr>
          <p:nvPr/>
        </p:nvSpPr>
        <p:spPr>
          <a:xfrm xmlns:a="http://schemas.openxmlformats.org/drawingml/2006/main">
            <a:off x="9144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4650"/>
              <a:buFont typeface="Lato"/>
              <a:buNone/>
            </a:pPr>
            <a:r>
              <a:rPr sz="4650" b="1" i="0">
                <a:solidFill>
                  <a:srgbClr val="00A88F"/>
                </a:solidFill>
                <a:latin typeface="Lato"/>
                <a:ea typeface="Lato"/>
                <a:cs typeface="Lato"/>
              </a:rPr>
              <a:t>01</a:t>
            </a:r>
            <a:endParaRPr/>
          </a:p>
        </p:txBody>
      </p:sp>
      <p:sp>
        <p:nvSpPr>
          <p:cNvPr id="194" name="Google Shape;194;p9">
            <a:extLst xmlns:a="http://schemas.openxmlformats.org/drawingml/2006/main">
              <a:ext uri="{FF2B5EF4-FFF2-40B4-BE49-F238E27FC236}">
                <a16:creationId xmlns:a16="http://schemas.microsoft.com/office/drawing/2014/main" id="{275ACD8C-0A27-4BBE-A12A-930808EB7B4E}"/>
              </a:ext>
            </a:extLst>
          </p:cNvPr>
          <p:cNvSpPr>
            <a:spLocks xmlns:a="http://schemas.openxmlformats.org/drawingml/2006/main" noGrp="1"/>
          </p:cNvSpPr>
          <p:nvPr/>
        </p:nvSpPr>
        <p:spPr>
          <a:xfrm xmlns:a="http://schemas.openxmlformats.org/drawingml/2006/main">
            <a:off x="9144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OBSERVATIONS</a:t>
            </a:r>
            <a:endParaRPr/>
          </a:p>
        </p:txBody>
      </p:sp>
      <p:sp>
        <p:nvSpPr>
          <p:cNvPr id="195" name="Google Shape;195;p9">
            <a:extLst xmlns:a="http://schemas.openxmlformats.org/drawingml/2006/main">
              <a:ext uri="{FF2B5EF4-FFF2-40B4-BE49-F238E27FC236}">
                <a16:creationId xmlns:a16="http://schemas.microsoft.com/office/drawing/2014/main" id="{7E2E47A4-2918-4248-BC46-645D4DBBA21F}"/>
              </a:ext>
            </a:extLst>
          </p:cNvPr>
          <p:cNvSpPr>
            <a:spLocks xmlns:a="http://schemas.openxmlformats.org/drawingml/2006/main" noGrp="1"/>
          </p:cNvSpPr>
          <p:nvPr/>
        </p:nvSpPr>
        <p:spPr>
          <a:xfrm xmlns:a="http://schemas.openxmlformats.org/drawingml/2006/main">
            <a:off x="9144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43"/>
              <a:buFont typeface="Lato"/>
              <a:buNone/>
            </a:pPr>
            <a:r>
              <a:rPr sz="1544" b="1" i="0">
                <a:solidFill>
                  <a:srgbClr val="12304E"/>
                </a:solidFill>
                <a:latin typeface="Lato"/>
                <a:ea typeface="Lato"/>
                <a:cs typeface="Lato"/>
              </a:rPr>
              <a:t>Measurements from stations, satellites and other instruments</a:t>
            </a:r>
            <a:endParaRPr/>
          </a:p>
        </p:txBody>
      </p:sp>
      <p:sp>
        <p:nvSpPr>
          <p:cNvPr id="196" name="Google Shape;196;p9">
            <a:extLst xmlns:a="http://schemas.openxmlformats.org/drawingml/2006/main">
              <a:ext uri="{FF2B5EF4-FFF2-40B4-BE49-F238E27FC236}">
                <a16:creationId xmlns:a16="http://schemas.microsoft.com/office/drawing/2014/main" id="{5A13C8BC-DF1D-45B7-80E0-6CFF35A73D87}"/>
              </a:ext>
            </a:extLst>
          </p:cNvPr>
          <p:cNvSpPr>
            <a:spLocks xmlns:a="http://schemas.openxmlformats.org/drawingml/2006/main" noGrp="1"/>
          </p:cNvSpPr>
          <p:nvPr/>
        </p:nvSpPr>
        <p:spPr>
          <a:xfrm xmlns:a="http://schemas.openxmlformats.org/drawingml/2006/main">
            <a:off x="914400" y="4286250"/>
            <a:ext cx="70485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7" name="Google Shape;197;p9">
            <a:extLst xmlns:a="http://schemas.openxmlformats.org/drawingml/2006/main">
              <a:ext uri="{FF2B5EF4-FFF2-40B4-BE49-F238E27FC236}">
                <a16:creationId xmlns:a16="http://schemas.microsoft.com/office/drawing/2014/main" id="{8BFD6923-5F91-4D48-894C-7C3FBB3BDCF3}"/>
              </a:ext>
            </a:extLst>
          </p:cNvPr>
          <p:cNvSpPr>
            <a:spLocks xmlns:a="http://schemas.openxmlformats.org/drawingml/2006/main" noGrp="1"/>
          </p:cNvSpPr>
          <p:nvPr/>
        </p:nvSpPr>
        <p:spPr>
          <a:xfrm xmlns:a="http://schemas.openxmlformats.org/drawingml/2006/main">
            <a:off x="9144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Recorded conditions at observed locations and times</a:t>
            </a:r>
            <a:endParaRPr/>
          </a:p>
        </p:txBody>
      </p:sp>
      <p:sp>
        <p:nvSpPr>
          <p:cNvPr id="198" name="Google Shape;198;p9">
            <a:extLst xmlns:a="http://schemas.openxmlformats.org/drawingml/2006/main">
              <a:ext uri="{FF2B5EF4-FFF2-40B4-BE49-F238E27FC236}">
                <a16:creationId xmlns:a16="http://schemas.microsoft.com/office/drawing/2014/main" id="{7D6E3291-517A-425B-8796-27876EC91B50}"/>
              </a:ext>
            </a:extLst>
          </p:cNvPr>
          <p:cNvSpPr>
            <a:spLocks xmlns:a="http://schemas.openxmlformats.org/drawingml/2006/main" noGrp="1"/>
          </p:cNvSpPr>
          <p:nvPr/>
        </p:nvSpPr>
        <p:spPr>
          <a:xfrm xmlns:a="http://schemas.openxmlformats.org/drawingml/2006/main">
            <a:off x="4419600" y="1790700"/>
            <a:ext cx="3429000" cy="327660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9" name="Google Shape;199;p9">
            <a:extLst xmlns:a="http://schemas.openxmlformats.org/drawingml/2006/main">
              <a:ext uri="{FF2B5EF4-FFF2-40B4-BE49-F238E27FC236}">
                <a16:creationId xmlns:a16="http://schemas.microsoft.com/office/drawing/2014/main" id="{3255C3C8-4D55-4419-A979-BCEC02151083}"/>
              </a:ext>
            </a:extLst>
          </p:cNvPr>
          <p:cNvSpPr>
            <a:spLocks xmlns:a="http://schemas.openxmlformats.org/drawingml/2006/main" noGrp="1"/>
          </p:cNvSpPr>
          <p:nvPr/>
        </p:nvSpPr>
        <p:spPr>
          <a:xfrm xmlns:a="http://schemas.openxmlformats.org/drawingml/2006/main">
            <a:off x="46482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4650"/>
              <a:buFont typeface="Lato"/>
              <a:buNone/>
            </a:pPr>
            <a:r>
              <a:rPr sz="4650" b="1" i="0">
                <a:solidFill>
                  <a:srgbClr val="F2B632"/>
                </a:solidFill>
                <a:latin typeface="Lato"/>
                <a:ea typeface="Lato"/>
                <a:cs typeface="Lato"/>
              </a:rPr>
              <a:t>02</a:t>
            </a:r>
            <a:endParaRPr/>
          </a:p>
        </p:txBody>
      </p:sp>
      <p:sp>
        <p:nvSpPr>
          <p:cNvPr id="200" name="Google Shape;200;p9">
            <a:extLst xmlns:a="http://schemas.openxmlformats.org/drawingml/2006/main">
              <a:ext uri="{FF2B5EF4-FFF2-40B4-BE49-F238E27FC236}">
                <a16:creationId xmlns:a16="http://schemas.microsoft.com/office/drawing/2014/main" id="{38E551AD-71A3-4C58-A4D2-FE3B0FEE72EF}"/>
              </a:ext>
            </a:extLst>
          </p:cNvPr>
          <p:cNvSpPr>
            <a:spLocks xmlns:a="http://schemas.openxmlformats.org/drawingml/2006/main" noGrp="1"/>
          </p:cNvSpPr>
          <p:nvPr/>
        </p:nvSpPr>
        <p:spPr>
          <a:xfrm xmlns:a="http://schemas.openxmlformats.org/drawingml/2006/main">
            <a:off x="46482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REANALYSIS</a:t>
            </a:r>
            <a:endParaRPr/>
          </a:p>
        </p:txBody>
      </p:sp>
      <p:sp>
        <p:nvSpPr>
          <p:cNvPr id="201" name="Google Shape;201;p9">
            <a:extLst xmlns:a="http://schemas.openxmlformats.org/drawingml/2006/main">
              <a:ext uri="{FF2B5EF4-FFF2-40B4-BE49-F238E27FC236}">
                <a16:creationId xmlns:a16="http://schemas.microsoft.com/office/drawing/2014/main" id="{B82EBF3E-128F-41FA-96DA-7CA3FFE294B1}"/>
              </a:ext>
            </a:extLst>
          </p:cNvPr>
          <p:cNvSpPr>
            <a:spLocks xmlns:a="http://schemas.openxmlformats.org/drawingml/2006/main" noGrp="1"/>
          </p:cNvSpPr>
          <p:nvPr/>
        </p:nvSpPr>
        <p:spPr>
          <a:xfrm xmlns:a="http://schemas.openxmlformats.org/drawingml/2006/main">
            <a:off x="46482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Observations combined with a numerical model</a:t>
            </a:r>
            <a:endParaRPr/>
          </a:p>
        </p:txBody>
      </p:sp>
      <p:sp>
        <p:nvSpPr>
          <p:cNvPr id="202" name="Google Shape;202;p9">
            <a:extLst xmlns:a="http://schemas.openxmlformats.org/drawingml/2006/main">
              <a:ext uri="{FF2B5EF4-FFF2-40B4-BE49-F238E27FC236}">
                <a16:creationId xmlns:a16="http://schemas.microsoft.com/office/drawing/2014/main" id="{C1987212-1F45-4749-B618-EA49A190B22A}"/>
              </a:ext>
            </a:extLst>
          </p:cNvPr>
          <p:cNvSpPr>
            <a:spLocks xmlns:a="http://schemas.openxmlformats.org/drawingml/2006/main" noGrp="1"/>
          </p:cNvSpPr>
          <p:nvPr/>
        </p:nvSpPr>
        <p:spPr>
          <a:xfrm xmlns:a="http://schemas.openxmlformats.org/drawingml/2006/main">
            <a:off x="4648200" y="4286250"/>
            <a:ext cx="70485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3" name="Google Shape;203;p9">
            <a:extLst xmlns:a="http://schemas.openxmlformats.org/drawingml/2006/main">
              <a:ext uri="{FF2B5EF4-FFF2-40B4-BE49-F238E27FC236}">
                <a16:creationId xmlns:a16="http://schemas.microsoft.com/office/drawing/2014/main" id="{B9C38450-C204-4EFE-893A-BD2FB6B8D113}"/>
              </a:ext>
            </a:extLst>
          </p:cNvPr>
          <p:cNvSpPr>
            <a:spLocks xmlns:a="http://schemas.openxmlformats.org/drawingml/2006/main" noGrp="1"/>
          </p:cNvSpPr>
          <p:nvPr/>
        </p:nvSpPr>
        <p:spPr>
          <a:xfrm xmlns:a="http://schemas.openxmlformats.org/drawingml/2006/main">
            <a:off x="46482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A complete gridded reconstruction of past conditions, such as ERA5</a:t>
            </a:r>
            <a:endParaRPr/>
          </a:p>
        </p:txBody>
      </p:sp>
      <p:sp>
        <p:nvSpPr>
          <p:cNvPr id="204" name="Google Shape;204;p9">
            <a:extLst xmlns:a="http://schemas.openxmlformats.org/drawingml/2006/main">
              <a:ext uri="{FF2B5EF4-FFF2-40B4-BE49-F238E27FC236}">
                <a16:creationId xmlns:a16="http://schemas.microsoft.com/office/drawing/2014/main" id="{6E87A9E3-3396-4F6E-8A03-02963A9EC4F0}"/>
              </a:ext>
            </a:extLst>
          </p:cNvPr>
          <p:cNvSpPr>
            <a:spLocks xmlns:a="http://schemas.openxmlformats.org/drawingml/2006/main" noGrp="1"/>
          </p:cNvSpPr>
          <p:nvPr/>
        </p:nvSpPr>
        <p:spPr>
          <a:xfrm xmlns:a="http://schemas.openxmlformats.org/drawingml/2006/main">
            <a:off x="8153400" y="1790700"/>
            <a:ext cx="3429000" cy="327660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5" name="Google Shape;205;p9">
            <a:extLst xmlns:a="http://schemas.openxmlformats.org/drawingml/2006/main">
              <a:ext uri="{FF2B5EF4-FFF2-40B4-BE49-F238E27FC236}">
                <a16:creationId xmlns:a16="http://schemas.microsoft.com/office/drawing/2014/main" id="{F48A897C-D8C1-460A-B051-13393E376206}"/>
              </a:ext>
            </a:extLst>
          </p:cNvPr>
          <p:cNvSpPr>
            <a:spLocks xmlns:a="http://schemas.openxmlformats.org/drawingml/2006/main" noGrp="1"/>
          </p:cNvSpPr>
          <p:nvPr/>
        </p:nvSpPr>
        <p:spPr>
          <a:xfrm xmlns:a="http://schemas.openxmlformats.org/drawingml/2006/main">
            <a:off x="83820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4650"/>
              <a:buFont typeface="Lato"/>
              <a:buNone/>
            </a:pPr>
            <a:r>
              <a:rPr sz="4650" b="1" i="0">
                <a:solidFill>
                  <a:srgbClr val="183A59"/>
                </a:solidFill>
                <a:latin typeface="Lato"/>
                <a:ea typeface="Lato"/>
                <a:cs typeface="Lato"/>
              </a:rPr>
              <a:t>03</a:t>
            </a:r>
            <a:endParaRPr/>
          </a:p>
        </p:txBody>
      </p:sp>
      <p:sp>
        <p:nvSpPr>
          <p:cNvPr id="206" name="Google Shape;206;p9">
            <a:extLst xmlns:a="http://schemas.openxmlformats.org/drawingml/2006/main">
              <a:ext uri="{FF2B5EF4-FFF2-40B4-BE49-F238E27FC236}">
                <a16:creationId xmlns:a16="http://schemas.microsoft.com/office/drawing/2014/main" id="{A6199A97-B798-4A76-8EBC-911B3D6442B0}"/>
              </a:ext>
            </a:extLst>
          </p:cNvPr>
          <p:cNvSpPr>
            <a:spLocks xmlns:a="http://schemas.openxmlformats.org/drawingml/2006/main" noGrp="1"/>
          </p:cNvSpPr>
          <p:nvPr/>
        </p:nvSpPr>
        <p:spPr>
          <a:xfrm xmlns:a="http://schemas.openxmlformats.org/drawingml/2006/main">
            <a:off x="83820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CLIMATE SIMULATIONS</a:t>
            </a:r>
            <a:endParaRPr/>
          </a:p>
        </p:txBody>
      </p:sp>
      <p:sp>
        <p:nvSpPr>
          <p:cNvPr id="207" name="Google Shape;207;p9">
            <a:extLst xmlns:a="http://schemas.openxmlformats.org/drawingml/2006/main">
              <a:ext uri="{FF2B5EF4-FFF2-40B4-BE49-F238E27FC236}">
                <a16:creationId xmlns:a16="http://schemas.microsoft.com/office/drawing/2014/main" id="{7D740942-A38E-45AA-B3F9-CA2544738E5E}"/>
              </a:ext>
            </a:extLst>
          </p:cNvPr>
          <p:cNvSpPr>
            <a:spLocks xmlns:a="http://schemas.openxmlformats.org/drawingml/2006/main" noGrp="1"/>
          </p:cNvSpPr>
          <p:nvPr/>
        </p:nvSpPr>
        <p:spPr>
          <a:xfrm xmlns:a="http://schemas.openxmlformats.org/drawingml/2006/main">
            <a:off x="83820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Model experiments under defined scenarios</a:t>
            </a:r>
            <a:endParaRPr/>
          </a:p>
        </p:txBody>
      </p:sp>
      <p:sp>
        <p:nvSpPr>
          <p:cNvPr id="208" name="Google Shape;208;p9">
            <a:extLst xmlns:a="http://schemas.openxmlformats.org/drawingml/2006/main">
              <a:ext uri="{FF2B5EF4-FFF2-40B4-BE49-F238E27FC236}">
                <a16:creationId xmlns:a16="http://schemas.microsoft.com/office/drawing/2014/main" id="{7FF1A282-1915-4FC2-975C-FF3FA2A96245}"/>
              </a:ext>
            </a:extLst>
          </p:cNvPr>
          <p:cNvSpPr>
            <a:spLocks xmlns:a="http://schemas.openxmlformats.org/drawingml/2006/main" noGrp="1"/>
          </p:cNvSpPr>
          <p:nvPr/>
        </p:nvSpPr>
        <p:spPr>
          <a:xfrm xmlns:a="http://schemas.openxmlformats.org/drawingml/2006/main">
            <a:off x="8382000" y="4286250"/>
            <a:ext cx="704850" cy="2857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9" name="Google Shape;209;p9">
            <a:extLst xmlns:a="http://schemas.openxmlformats.org/drawingml/2006/main">
              <a:ext uri="{FF2B5EF4-FFF2-40B4-BE49-F238E27FC236}">
                <a16:creationId xmlns:a16="http://schemas.microsoft.com/office/drawing/2014/main" id="{06619AE7-1048-42AC-872B-EAF18BEC45D0}"/>
              </a:ext>
            </a:extLst>
          </p:cNvPr>
          <p:cNvSpPr>
            <a:spLocks xmlns:a="http://schemas.openxmlformats.org/drawingml/2006/main" noGrp="1"/>
          </p:cNvSpPr>
          <p:nvPr/>
        </p:nvSpPr>
        <p:spPr>
          <a:xfrm xmlns:a="http://schemas.openxmlformats.org/drawingml/2006/main">
            <a:off x="83820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Long-term change under plausible future conditions</a:t>
            </a:r>
            <a:endParaRPr/>
          </a:p>
        </p:txBody>
      </p:sp>
      <p:sp>
        <p:nvSpPr>
          <p:cNvPr id="210" name="Google Shape;210;p9">
            <a:extLst xmlns:a="http://schemas.openxmlformats.org/drawingml/2006/main">
              <a:ext uri="{FF2B5EF4-FFF2-40B4-BE49-F238E27FC236}">
                <a16:creationId xmlns:a16="http://schemas.microsoft.com/office/drawing/2014/main" id="{18E51733-3E13-459C-A676-03C3C1682CA4}"/>
              </a:ext>
            </a:extLst>
          </p:cNvPr>
          <p:cNvSpPr>
            <a:spLocks xmlns:a="http://schemas.openxmlformats.org/drawingml/2006/main" noGrp="1"/>
          </p:cNvSpPr>
          <p:nvPr/>
        </p:nvSpPr>
        <p:spPr>
          <a:xfrm xmlns:a="http://schemas.openxmlformats.org/drawingml/2006/main">
            <a:off x="1752600" y="5381625"/>
            <a:ext cx="8686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650"/>
              <a:buFont typeface="Lato"/>
              <a:buNone/>
            </a:pPr>
            <a:r>
              <a:rPr sz="1650" b="1" i="0">
                <a:solidFill>
                  <a:srgbClr val="12304E"/>
                </a:solidFill>
                <a:latin typeface="Lato"/>
                <a:ea typeface="Lato"/>
                <a:cs typeface="Lato"/>
              </a:rPr>
              <a:t>Together, they provide complementary views of the climate system</a:t>
            </a:r>
            <a:endParaRPr/>
          </a:p>
        </p:txBody>
      </p:sp>
    </p:spTree>
    <p:extLst>
      <p:ext uri="{BB962C8B-B14F-4D97-AF65-F5344CB8AC3E}">
        <p14:creationId xmlns:p14="http://schemas.microsoft.com/office/powerpoint/2010/main" val="467021551"/>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E8AFCC2E-35A7-4266-BE19-46C0BE2B518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Climate projection and weather forecast</a:t>
            </a:r>
            <a:endParaRPr/>
          </a:p>
        </p:txBody>
      </p:sp>
      <p:sp>
        <p:nvSpPr>
          <p:cNvPr id="217" name="Google Shape;217;p10">
            <a:extLst xmlns:a="http://schemas.openxmlformats.org/drawingml/2006/main">
              <a:ext uri="{FF2B5EF4-FFF2-40B4-BE49-F238E27FC236}">
                <a16:creationId xmlns:a16="http://schemas.microsoft.com/office/drawing/2014/main" id="{F4462BCF-3716-42C9-9FCB-3F1C8689810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two products differ in their starting point, time horizon and interpretation</a:t>
            </a:r>
            <a:endParaRPr/>
          </a:p>
        </p:txBody>
      </p:sp>
      <p:sp>
        <p:nvSpPr>
          <p:cNvPr id="218" name="Google Shape;218;p10">
            <a:extLst xmlns:a="http://schemas.openxmlformats.org/drawingml/2006/main">
              <a:ext uri="{FF2B5EF4-FFF2-40B4-BE49-F238E27FC236}">
                <a16:creationId xmlns:a16="http://schemas.microsoft.com/office/drawing/2014/main" id="{4490B291-2DAC-4499-8681-3C48F2A9677C}"/>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9" name="Google Shape;219;p10">
            <a:extLst xmlns:a="http://schemas.openxmlformats.org/drawingml/2006/main">
              <a:ext uri="{FF2B5EF4-FFF2-40B4-BE49-F238E27FC236}">
                <a16:creationId xmlns:a16="http://schemas.microsoft.com/office/drawing/2014/main" id="{EA4C0ED8-3DE8-4B42-881C-8D3AE704BCF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0" name="Google Shape;220;p10">
            <a:extLst xmlns:a="http://schemas.openxmlformats.org/drawingml/2006/main">
              <a:ext uri="{FF2B5EF4-FFF2-40B4-BE49-F238E27FC236}">
                <a16:creationId xmlns:a16="http://schemas.microsoft.com/office/drawing/2014/main" id="{19AF18F4-61CF-4360-B766-684D37AD4E8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1" name="Google Shape;221;p10">
            <a:extLst xmlns:a="http://schemas.openxmlformats.org/drawingml/2006/main">
              <a:ext uri="{FF2B5EF4-FFF2-40B4-BE49-F238E27FC236}">
                <a16:creationId xmlns:a16="http://schemas.microsoft.com/office/drawing/2014/main" id="{5CE9B9EF-6CC8-4B64-AA70-03E6ACBBB43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22" name="Google Shape;222;p10">
            <a:extLst xmlns:a="http://schemas.openxmlformats.org/drawingml/2006/main">
              <a:ext uri="{FF2B5EF4-FFF2-40B4-BE49-F238E27FC236}">
                <a16:creationId xmlns:a16="http://schemas.microsoft.com/office/drawing/2014/main" id="{5EFC8805-8E78-4F77-856B-47327ACC218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08</a:t>
            </a:r>
            <a:endParaRPr/>
          </a:p>
        </p:txBody>
      </p:sp>
      <p:sp>
        <p:nvSpPr>
          <p:cNvPr id="223" name="Google Shape;223;p10">
            <a:extLst xmlns:a="http://schemas.openxmlformats.org/drawingml/2006/main">
              <a:ext uri="{FF2B5EF4-FFF2-40B4-BE49-F238E27FC236}">
                <a16:creationId xmlns:a16="http://schemas.microsoft.com/office/drawing/2014/main" id="{8E6A38C0-B96E-4C7F-BE11-1D1CEF3C8489}"/>
              </a:ext>
            </a:extLst>
          </p:cNvPr>
          <p:cNvSpPr>
            <a:spLocks xmlns:a="http://schemas.openxmlformats.org/drawingml/2006/main" noGrp="1"/>
          </p:cNvSpPr>
          <p:nvPr/>
        </p:nvSpPr>
        <p:spPr>
          <a:xfrm xmlns:a="http://schemas.openxmlformats.org/drawingml/2006/main">
            <a:off x="0" y="1619250"/>
            <a:ext cx="6096000" cy="40957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4" name="Google Shape;224;p10">
            <a:extLst xmlns:a="http://schemas.openxmlformats.org/drawingml/2006/main">
              <a:ext uri="{FF2B5EF4-FFF2-40B4-BE49-F238E27FC236}">
                <a16:creationId xmlns:a16="http://schemas.microsoft.com/office/drawing/2014/main" id="{EC41F412-8965-48CC-9EFA-0E3804C1CACC}"/>
              </a:ext>
            </a:extLst>
          </p:cNvPr>
          <p:cNvSpPr>
            <a:spLocks xmlns:a="http://schemas.openxmlformats.org/drawingml/2006/main" noGrp="1"/>
          </p:cNvSpPr>
          <p:nvPr/>
        </p:nvSpPr>
        <p:spPr>
          <a:xfrm xmlns:a="http://schemas.openxmlformats.org/drawingml/2006/main">
            <a:off x="6096000" y="1619250"/>
            <a:ext cx="6096000" cy="40957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5" name="Google Shape;225;p10">
            <a:extLst xmlns:a="http://schemas.openxmlformats.org/drawingml/2006/main">
              <a:ext uri="{FF2B5EF4-FFF2-40B4-BE49-F238E27FC236}">
                <a16:creationId xmlns:a16="http://schemas.microsoft.com/office/drawing/2014/main" id="{7905C3E4-EF1D-4180-97FC-3A9AF8DE2AC9}"/>
              </a:ext>
            </a:extLst>
          </p:cNvPr>
          <p:cNvSpPr>
            <a:spLocks xmlns:a="http://schemas.openxmlformats.org/drawingml/2006/main" noGrp="1"/>
          </p:cNvSpPr>
          <p:nvPr/>
        </p:nvSpPr>
        <p:spPr>
          <a:xfrm xmlns:a="http://schemas.openxmlformats.org/drawingml/2006/main">
            <a:off x="800100" y="2000250"/>
            <a:ext cx="4286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WEATHER FORECAST</a:t>
            </a:r>
            <a:endParaRPr/>
          </a:p>
        </p:txBody>
      </p:sp>
      <p:sp>
        <p:nvSpPr>
          <p:cNvPr id="226" name="Google Shape;226;p10">
            <a:extLst xmlns:a="http://schemas.openxmlformats.org/drawingml/2006/main">
              <a:ext uri="{FF2B5EF4-FFF2-40B4-BE49-F238E27FC236}">
                <a16:creationId xmlns:a16="http://schemas.microsoft.com/office/drawing/2014/main" id="{025435FD-7BC3-4AF5-94FA-FDE5BB93489A}"/>
              </a:ext>
            </a:extLst>
          </p:cNvPr>
          <p:cNvSpPr>
            <a:spLocks xmlns:a="http://schemas.openxmlformats.org/drawingml/2006/main" noGrp="1"/>
          </p:cNvSpPr>
          <p:nvPr/>
        </p:nvSpPr>
        <p:spPr>
          <a:xfrm xmlns:a="http://schemas.openxmlformats.org/drawingml/2006/main">
            <a:off x="800100" y="2524125"/>
            <a:ext cx="447675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3225"/>
              <a:buFont typeface="Lato"/>
              <a:buNone/>
            </a:pPr>
            <a:r>
              <a:rPr sz="3225" b="1" i="0">
                <a:solidFill>
                  <a:srgbClr val="12304E"/>
                </a:solidFill>
                <a:latin typeface="Lato"/>
                <a:ea typeface="Lato"/>
                <a:cs typeface="Lato"/>
              </a:rPr>
              <a:t>DAYS TO WEEKS</a:t>
            </a:r>
            <a:endParaRPr/>
          </a:p>
        </p:txBody>
      </p:sp>
      <p:sp>
        <p:nvSpPr>
          <p:cNvPr id="227" name="Google Shape;227;p10">
            <a:extLst xmlns:a="http://schemas.openxmlformats.org/drawingml/2006/main">
              <a:ext uri="{FF2B5EF4-FFF2-40B4-BE49-F238E27FC236}">
                <a16:creationId xmlns:a16="http://schemas.microsoft.com/office/drawing/2014/main" id="{B50DB25D-0BEB-4451-99F3-27868A897B1F}"/>
              </a:ext>
            </a:extLst>
          </p:cNvPr>
          <p:cNvSpPr>
            <a:spLocks xmlns:a="http://schemas.openxmlformats.org/drawingml/2006/main" noGrp="1"/>
          </p:cNvSpPr>
          <p:nvPr/>
        </p:nvSpPr>
        <p:spPr>
          <a:xfrm xmlns:a="http://schemas.openxmlformats.org/drawingml/2006/main">
            <a:off x="800100" y="3381375"/>
            <a:ext cx="4476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Begins with the observed state of the atmosphere</a:t>
            </a:r>
            <a:endParaRPr/>
          </a:p>
        </p:txBody>
      </p:sp>
      <p:sp>
        <p:nvSpPr>
          <p:cNvPr id="228" name="Google Shape;228;p10">
            <a:extLst xmlns:a="http://schemas.openxmlformats.org/drawingml/2006/main">
              <a:ext uri="{FF2B5EF4-FFF2-40B4-BE49-F238E27FC236}">
                <a16:creationId xmlns:a16="http://schemas.microsoft.com/office/drawing/2014/main" id="{E7D382D0-C0CD-4FC6-9CBD-011FDDDD75D7}"/>
              </a:ext>
            </a:extLst>
          </p:cNvPr>
          <p:cNvSpPr>
            <a:spLocks xmlns:a="http://schemas.openxmlformats.org/drawingml/2006/main" noGrp="1"/>
          </p:cNvSpPr>
          <p:nvPr/>
        </p:nvSpPr>
        <p:spPr>
          <a:xfrm xmlns:a="http://schemas.openxmlformats.org/drawingml/2006/main">
            <a:off x="800100" y="4143375"/>
            <a:ext cx="4381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687984"/>
              </a:buClr>
              <a:buSzPts val="1350"/>
              <a:buFont typeface="Lato"/>
              <a:buNone/>
            </a:pPr>
            <a:r>
              <a:rPr sz="1350" b="0" i="0">
                <a:solidFill>
                  <a:srgbClr val="687984"/>
                </a:solidFill>
                <a:latin typeface="Lato"/>
                <a:ea typeface="Lato"/>
                <a:cs typeface="Lato"/>
              </a:rPr>
              <a:t>Describes the sequence of weather. Skill declines as the forecast horizon increases.</a:t>
            </a:r>
            <a:endParaRPr/>
          </a:p>
        </p:txBody>
      </p:sp>
      <p:sp>
        <p:nvSpPr>
          <p:cNvPr id="229" name="Google Shape;229;p10">
            <a:extLst xmlns:a="http://schemas.openxmlformats.org/drawingml/2006/main">
              <a:ext uri="{FF2B5EF4-FFF2-40B4-BE49-F238E27FC236}">
                <a16:creationId xmlns:a16="http://schemas.microsoft.com/office/drawing/2014/main" id="{4D8B30BC-F96A-49AF-935E-7A73E48C6D74}"/>
              </a:ext>
            </a:extLst>
          </p:cNvPr>
          <p:cNvSpPr>
            <a:spLocks xmlns:a="http://schemas.openxmlformats.org/drawingml/2006/main" noGrp="1"/>
          </p:cNvSpPr>
          <p:nvPr/>
        </p:nvSpPr>
        <p:spPr>
          <a:xfrm xmlns:a="http://schemas.openxmlformats.org/drawingml/2006/main">
            <a:off x="6705600" y="2000250"/>
            <a:ext cx="4381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75"/>
              <a:buFont typeface="Lato"/>
              <a:buNone/>
            </a:pPr>
            <a:r>
              <a:rPr sz="1275" b="1" i="0">
                <a:solidFill>
                  <a:srgbClr val="F2B632"/>
                </a:solidFill>
                <a:latin typeface="Lato"/>
                <a:ea typeface="Lato"/>
                <a:cs typeface="Lato"/>
              </a:rPr>
              <a:t>CLIMATE PROJECTION</a:t>
            </a:r>
            <a:endParaRPr/>
          </a:p>
        </p:txBody>
      </p:sp>
      <p:sp>
        <p:nvSpPr>
          <p:cNvPr id="230" name="Google Shape;230;p10">
            <a:extLst xmlns:a="http://schemas.openxmlformats.org/drawingml/2006/main">
              <a:ext uri="{FF2B5EF4-FFF2-40B4-BE49-F238E27FC236}">
                <a16:creationId xmlns:a16="http://schemas.microsoft.com/office/drawing/2014/main" id="{3CDF8B74-4916-472B-BCF4-EFF43D6DD966}"/>
              </a:ext>
            </a:extLst>
          </p:cNvPr>
          <p:cNvSpPr>
            <a:spLocks xmlns:a="http://schemas.openxmlformats.org/drawingml/2006/main" noGrp="1"/>
          </p:cNvSpPr>
          <p:nvPr/>
        </p:nvSpPr>
        <p:spPr>
          <a:xfrm xmlns:a="http://schemas.openxmlformats.org/drawingml/2006/main">
            <a:off x="6705600" y="2524125"/>
            <a:ext cx="447675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3225"/>
              <a:buFont typeface="Lato"/>
              <a:buNone/>
            </a:pPr>
            <a:r>
              <a:rPr sz="3225" b="1" i="0">
                <a:solidFill>
                  <a:srgbClr val="12304E"/>
                </a:solidFill>
                <a:latin typeface="Lato"/>
                <a:ea typeface="Lato"/>
                <a:cs typeface="Lato"/>
              </a:rPr>
              <a:t>DECADES</a:t>
            </a:r>
            <a:endParaRPr/>
          </a:p>
        </p:txBody>
      </p:sp>
      <p:sp>
        <p:nvSpPr>
          <p:cNvPr id="231" name="Google Shape;231;p10">
            <a:extLst xmlns:a="http://schemas.openxmlformats.org/drawingml/2006/main">
              <a:ext uri="{FF2B5EF4-FFF2-40B4-BE49-F238E27FC236}">
                <a16:creationId xmlns:a16="http://schemas.microsoft.com/office/drawing/2014/main" id="{E9934B7B-61D2-4562-9907-A2110B195E17}"/>
              </a:ext>
            </a:extLst>
          </p:cNvPr>
          <p:cNvSpPr>
            <a:spLocks xmlns:a="http://schemas.openxmlformats.org/drawingml/2006/main" noGrp="1"/>
          </p:cNvSpPr>
          <p:nvPr/>
        </p:nvSpPr>
        <p:spPr>
          <a:xfrm xmlns:a="http://schemas.openxmlformats.org/drawingml/2006/main">
            <a:off x="6705600" y="3381375"/>
            <a:ext cx="4476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Begins with assumptions about future forcing</a:t>
            </a:r>
            <a:endParaRPr/>
          </a:p>
        </p:txBody>
      </p:sp>
      <p:sp>
        <p:nvSpPr>
          <p:cNvPr id="232" name="Google Shape;232;p10">
            <a:extLst xmlns:a="http://schemas.openxmlformats.org/drawingml/2006/main">
              <a:ext uri="{FF2B5EF4-FFF2-40B4-BE49-F238E27FC236}">
                <a16:creationId xmlns:a16="http://schemas.microsoft.com/office/drawing/2014/main" id="{0339E141-68DD-4704-851C-5FCBD7BE2B5E}"/>
              </a:ext>
            </a:extLst>
          </p:cNvPr>
          <p:cNvSpPr>
            <a:spLocks xmlns:a="http://schemas.openxmlformats.org/drawingml/2006/main" noGrp="1"/>
          </p:cNvSpPr>
          <p:nvPr/>
        </p:nvSpPr>
        <p:spPr>
          <a:xfrm xmlns:a="http://schemas.openxmlformats.org/drawingml/2006/main">
            <a:off x="6705600" y="4143375"/>
            <a:ext cx="4381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687984"/>
              </a:buClr>
              <a:buSzPts val="1350"/>
              <a:buFont typeface="Lato"/>
              <a:buNone/>
            </a:pPr>
            <a:r>
              <a:rPr sz="1350" b="0" i="0">
                <a:solidFill>
                  <a:srgbClr val="687984"/>
                </a:solidFill>
                <a:latin typeface="Lato"/>
                <a:ea typeface="Lato"/>
                <a:cs typeface="Lato"/>
              </a:rPr>
              <a:t>Describes climate statistics. It does not predict the weather on a specific future day.</a:t>
            </a:r>
            <a:endParaRPr/>
          </a:p>
        </p:txBody>
      </p:sp>
      <p:sp>
        <p:nvSpPr>
          <p:cNvPr id="233" name="Google Shape;233;p10">
            <a:extLst xmlns:a="http://schemas.openxmlformats.org/drawingml/2006/main">
              <a:ext uri="{FF2B5EF4-FFF2-40B4-BE49-F238E27FC236}">
                <a16:creationId xmlns:a16="http://schemas.microsoft.com/office/drawing/2014/main" id="{DB7C07C8-45A5-4BA4-B08F-776B09EE9E4A}"/>
              </a:ext>
            </a:extLst>
          </p:cNvPr>
          <p:cNvSpPr>
            <a:spLocks xmlns:a="http://schemas.openxmlformats.org/drawingml/2006/main" noGrp="1"/>
          </p:cNvSpPr>
          <p:nvPr/>
        </p:nvSpPr>
        <p:spPr>
          <a:xfrm xmlns:a="http://schemas.openxmlformats.org/drawingml/2006/main">
            <a:off x="5962650" y="1952625"/>
            <a:ext cx="266700" cy="3333750"/>
          </a:xfrm>
          <a:prstGeom xmlns:a="http://schemas.openxmlformats.org/drawingml/2006/main" prst="rect">
            <a:avLst/>
          </a:prstGeom>
          <a:gradFill xmlns:a="http://schemas.openxmlformats.org/drawingml/2006/main">
            <a:gsLst>
              <a:gs pos="0">
                <a:srgbClr val="00A88F">
                  <a:alpha val="0"/>
                </a:srgbClr>
              </a:gs>
              <a:gs pos="50000">
                <a:srgbClr val="12304E">
                  <a:alpha val="34902"/>
                </a:srgbClr>
              </a:gs>
              <a:gs pos="100000">
                <a:srgbClr val="F2B632">
                  <a:alpha val="0"/>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34" name="Google Shape;234;p10">
            <a:extLst xmlns:a="http://schemas.openxmlformats.org/drawingml/2006/main">
              <a:ext uri="{FF2B5EF4-FFF2-40B4-BE49-F238E27FC236}">
                <a16:creationId xmlns:a16="http://schemas.microsoft.com/office/drawing/2014/main" id="{DA89E1D0-1B57-4F51-8921-1FF79BE894BE}"/>
              </a:ext>
            </a:extLst>
          </p:cNvPr>
          <p:cNvSpPr>
            <a:spLocks xmlns:a="http://schemas.openxmlformats.org/drawingml/2006/main" noGrp="1"/>
          </p:cNvSpPr>
          <p:nvPr/>
        </p:nvSpPr>
        <p:spPr>
          <a:xfrm xmlns:a="http://schemas.openxmlformats.org/drawingml/2006/main">
            <a:off x="1562100" y="5381625"/>
            <a:ext cx="906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A projection asks what climate could emerge under defined conditions</a:t>
            </a:r>
            <a:endParaRPr/>
          </a:p>
        </p:txBody>
      </p:sp>
    </p:spTree>
    <p:extLst>
      <p:ext uri="{BB962C8B-B14F-4D97-AF65-F5344CB8AC3E}">
        <p14:creationId xmlns:p14="http://schemas.microsoft.com/office/powerpoint/2010/main" val="1609598019"/>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0" name="Google Shape;240;p11">
            <a:extLst xmlns:a="http://schemas.openxmlformats.org/drawingml/2006/main">
              <a:ext uri="{FF2B5EF4-FFF2-40B4-BE49-F238E27FC236}">
                <a16:creationId xmlns:a16="http://schemas.microsoft.com/office/drawing/2014/main" id="{C9325EC2-FDFB-4856-A414-5DAF2A74189F}"/>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Why many models and scenarios?</a:t>
            </a:r>
            <a:endParaRPr/>
          </a:p>
        </p:txBody>
      </p:sp>
      <p:sp>
        <p:nvSpPr>
          <p:cNvPr id="241" name="Google Shape;241;p11">
            <a:extLst xmlns:a="http://schemas.openxmlformats.org/drawingml/2006/main">
              <a:ext uri="{FF2B5EF4-FFF2-40B4-BE49-F238E27FC236}">
                <a16:creationId xmlns:a16="http://schemas.microsoft.com/office/drawing/2014/main" id="{AC4FDF62-BEBA-477A-94C2-120D4AA6C3DA}"/>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Models represent the climate system differently, while scenarios represent alternative future conditions</a:t>
            </a:r>
            <a:endParaRPr/>
          </a:p>
        </p:txBody>
      </p:sp>
      <p:sp>
        <p:nvSpPr>
          <p:cNvPr id="242" name="Google Shape;242;p11">
            <a:extLst xmlns:a="http://schemas.openxmlformats.org/drawingml/2006/main">
              <a:ext uri="{FF2B5EF4-FFF2-40B4-BE49-F238E27FC236}">
                <a16:creationId xmlns:a16="http://schemas.microsoft.com/office/drawing/2014/main" id="{A1D36631-50AD-47B3-8096-93743D8F2A3D}"/>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3" name="Google Shape;243;p11">
            <a:extLst xmlns:a="http://schemas.openxmlformats.org/drawingml/2006/main">
              <a:ext uri="{FF2B5EF4-FFF2-40B4-BE49-F238E27FC236}">
                <a16:creationId xmlns:a16="http://schemas.microsoft.com/office/drawing/2014/main" id="{5BFEB4A7-2DDD-41AE-B1C2-FEF232A6C92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4" name="Google Shape;244;p11">
            <a:extLst xmlns:a="http://schemas.openxmlformats.org/drawingml/2006/main">
              <a:ext uri="{FF2B5EF4-FFF2-40B4-BE49-F238E27FC236}">
                <a16:creationId xmlns:a16="http://schemas.microsoft.com/office/drawing/2014/main" id="{8027D7AD-92E1-4306-92BF-F8F5FCDFF435}"/>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5" name="Google Shape;245;p11">
            <a:extLst xmlns:a="http://schemas.openxmlformats.org/drawingml/2006/main">
              <a:ext uri="{FF2B5EF4-FFF2-40B4-BE49-F238E27FC236}">
                <a16:creationId xmlns:a16="http://schemas.microsoft.com/office/drawing/2014/main" id="{75DB2CA1-047D-4639-87DB-AF97D642C52C}"/>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46" name="Google Shape;246;p11">
            <a:extLst xmlns:a="http://schemas.openxmlformats.org/drawingml/2006/main">
              <a:ext uri="{FF2B5EF4-FFF2-40B4-BE49-F238E27FC236}">
                <a16:creationId xmlns:a16="http://schemas.microsoft.com/office/drawing/2014/main" id="{F9328AD8-A51A-42F2-A5C1-1BA2AA13C73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09</a:t>
            </a:r>
            <a:endParaRPr/>
          </a:p>
        </p:txBody>
      </p:sp>
      <p:sp>
        <p:nvSpPr>
          <p:cNvPr id="247" name="Google Shape;247;p11">
            <a:extLst xmlns:a="http://schemas.openxmlformats.org/drawingml/2006/main">
              <a:ext uri="{FF2B5EF4-FFF2-40B4-BE49-F238E27FC236}">
                <a16:creationId xmlns:a16="http://schemas.microsoft.com/office/drawing/2014/main" id="{9B74DC8D-46E6-49AE-9B51-7E7C60FADA5A}"/>
              </a:ext>
            </a:extLst>
          </p:cNvPr>
          <p:cNvSpPr>
            <a:spLocks xmlns:a="http://schemas.openxmlformats.org/drawingml/2006/main" noGrp="1"/>
          </p:cNvSpPr>
          <p:nvPr/>
        </p:nvSpPr>
        <p:spPr>
          <a:xfrm xmlns:a="http://schemas.openxmlformats.org/drawingml/2006/main">
            <a:off x="819150" y="1790700"/>
            <a:ext cx="1809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MODELS</a:t>
            </a:r>
            <a:endParaRPr/>
          </a:p>
        </p:txBody>
      </p:sp>
      <p:sp>
        <p:nvSpPr>
          <p:cNvPr id="248" name="Google Shape;248;p11">
            <a:extLst xmlns:a="http://schemas.openxmlformats.org/drawingml/2006/main">
              <a:ext uri="{FF2B5EF4-FFF2-40B4-BE49-F238E27FC236}">
                <a16:creationId xmlns:a16="http://schemas.microsoft.com/office/drawing/2014/main" id="{AA3F9481-40B9-4248-B661-5437E8C9C9F3}"/>
              </a:ext>
            </a:extLst>
          </p:cNvPr>
          <p:cNvSpPr>
            <a:spLocks xmlns:a="http://schemas.openxmlformats.org/drawingml/2006/main" noGrp="1"/>
          </p:cNvSpPr>
          <p:nvPr/>
        </p:nvSpPr>
        <p:spPr>
          <a:xfrm xmlns:a="http://schemas.openxmlformats.org/drawingml/2006/main">
            <a:off x="819150" y="2171700"/>
            <a:ext cx="4572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57"/>
              <a:buFont typeface="Lato"/>
              <a:buNone/>
            </a:pPr>
            <a:r>
              <a:rPr sz="1557" b="1" i="0">
                <a:solidFill>
                  <a:srgbClr val="12304E"/>
                </a:solidFill>
                <a:latin typeface="Lato"/>
                <a:ea typeface="Lato"/>
                <a:cs typeface="Lato"/>
              </a:rPr>
              <a:t>Different scientific teams make different choices about how to represent physical processes.</a:t>
            </a:r>
            <a:endParaRPr/>
          </a:p>
        </p:txBody>
      </p:sp>
      <p:sp>
        <p:nvSpPr>
          <p:cNvPr id="249" name="Google Shape;249;p11">
            <a:extLst xmlns:a="http://schemas.openxmlformats.org/drawingml/2006/main">
              <a:ext uri="{FF2B5EF4-FFF2-40B4-BE49-F238E27FC236}">
                <a16:creationId xmlns:a16="http://schemas.microsoft.com/office/drawing/2014/main" id="{8A558993-BF74-451C-AC42-151DB4C522AD}"/>
              </a:ext>
            </a:extLst>
          </p:cNvPr>
          <p:cNvSpPr>
            <a:spLocks xmlns:a="http://schemas.openxmlformats.org/drawingml/2006/main" noGrp="1"/>
          </p:cNvSpPr>
          <p:nvPr/>
        </p:nvSpPr>
        <p:spPr>
          <a:xfrm xmlns:a="http://schemas.openxmlformats.org/drawingml/2006/main">
            <a:off x="819150" y="3143250"/>
            <a:ext cx="4572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350"/>
              <a:buFont typeface="Lato"/>
              <a:buNone/>
            </a:pPr>
            <a:r>
              <a:rPr sz="1350" b="0" i="0">
                <a:solidFill>
                  <a:srgbClr val="687984"/>
                </a:solidFill>
                <a:latin typeface="Lato"/>
                <a:ea typeface="Lato"/>
                <a:cs typeface="Lato"/>
              </a:rPr>
              <a:t>A multi-model ensemble samples part of this model uncertainty.</a:t>
            </a:r>
            <a:endParaRPr/>
          </a:p>
        </p:txBody>
      </p:sp>
      <p:sp>
        <p:nvSpPr>
          <p:cNvPr id="250" name="Google Shape;250;p11">
            <a:extLst xmlns:a="http://schemas.openxmlformats.org/drawingml/2006/main">
              <a:ext uri="{FF2B5EF4-FFF2-40B4-BE49-F238E27FC236}">
                <a16:creationId xmlns:a16="http://schemas.microsoft.com/office/drawing/2014/main" id="{0C4D5B59-2280-48C2-8122-89FEA97B91A8}"/>
              </a:ext>
            </a:extLst>
          </p:cNvPr>
          <p:cNvSpPr>
            <a:spLocks xmlns:a="http://schemas.openxmlformats.org/drawingml/2006/main" noGrp="1"/>
          </p:cNvSpPr>
          <p:nvPr/>
        </p:nvSpPr>
        <p:spPr>
          <a:xfrm xmlns:a="http://schemas.openxmlformats.org/drawingml/2006/main">
            <a:off x="6000750" y="1752600"/>
            <a:ext cx="9525" cy="3143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1" name="Google Shape;251;p11">
            <a:extLst xmlns:a="http://schemas.openxmlformats.org/drawingml/2006/main">
              <a:ext uri="{FF2B5EF4-FFF2-40B4-BE49-F238E27FC236}">
                <a16:creationId xmlns:a16="http://schemas.microsoft.com/office/drawing/2014/main" id="{08D76055-FED8-4D35-AE01-1AACC4B3B5B5}"/>
              </a:ext>
            </a:extLst>
          </p:cNvPr>
          <p:cNvSpPr>
            <a:spLocks xmlns:a="http://schemas.openxmlformats.org/drawingml/2006/main" noGrp="1"/>
          </p:cNvSpPr>
          <p:nvPr/>
        </p:nvSpPr>
        <p:spPr>
          <a:xfrm xmlns:a="http://schemas.openxmlformats.org/drawingml/2006/main">
            <a:off x="6534150" y="1790700"/>
            <a:ext cx="1809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SCENARIOS</a:t>
            </a:r>
            <a:endParaRPr/>
          </a:p>
        </p:txBody>
      </p:sp>
      <p:sp>
        <p:nvSpPr>
          <p:cNvPr id="252" name="Google Shape;252;p11">
            <a:extLst xmlns:a="http://schemas.openxmlformats.org/drawingml/2006/main">
              <a:ext uri="{FF2B5EF4-FFF2-40B4-BE49-F238E27FC236}">
                <a16:creationId xmlns:a16="http://schemas.microsoft.com/office/drawing/2014/main" id="{C96AF3E9-E378-4D13-83DA-B739F3CFEEDC}"/>
              </a:ext>
            </a:extLst>
          </p:cNvPr>
          <p:cNvSpPr>
            <a:spLocks xmlns:a="http://schemas.openxmlformats.org/drawingml/2006/main" noGrp="1"/>
          </p:cNvSpPr>
          <p:nvPr/>
        </p:nvSpPr>
        <p:spPr>
          <a:xfrm xmlns:a="http://schemas.openxmlformats.org/drawingml/2006/main">
            <a:off x="6534150" y="2171700"/>
            <a:ext cx="4572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667"/>
              <a:buFont typeface="Lato"/>
              <a:buNone/>
            </a:pPr>
            <a:r>
              <a:rPr sz="1668" b="1" i="0">
                <a:solidFill>
                  <a:srgbClr val="12304E"/>
                </a:solidFill>
                <a:latin typeface="Lato"/>
                <a:ea typeface="Lato"/>
                <a:cs typeface="Lato"/>
              </a:rPr>
              <a:t>Alternative emissions and land-use pathways produce different levels of climate forcing.</a:t>
            </a:r>
            <a:endParaRPr/>
          </a:p>
        </p:txBody>
      </p:sp>
      <p:sp>
        <p:nvSpPr>
          <p:cNvPr id="253" name="Google Shape;253;p11">
            <a:extLst xmlns:a="http://schemas.openxmlformats.org/drawingml/2006/main">
              <a:ext uri="{FF2B5EF4-FFF2-40B4-BE49-F238E27FC236}">
                <a16:creationId xmlns:a16="http://schemas.microsoft.com/office/drawing/2014/main" id="{A40E3307-CC73-497D-ABEE-DED7970E2594}"/>
              </a:ext>
            </a:extLst>
          </p:cNvPr>
          <p:cNvSpPr>
            <a:spLocks xmlns:a="http://schemas.openxmlformats.org/drawingml/2006/main" noGrp="1"/>
          </p:cNvSpPr>
          <p:nvPr/>
        </p:nvSpPr>
        <p:spPr>
          <a:xfrm xmlns:a="http://schemas.openxmlformats.org/drawingml/2006/main">
            <a:off x="6534150" y="3143250"/>
            <a:ext cx="4572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350"/>
              <a:buFont typeface="Lato"/>
              <a:buNone/>
            </a:pPr>
            <a:r>
              <a:rPr sz="1350" b="0" i="0">
                <a:solidFill>
                  <a:srgbClr val="687984"/>
                </a:solidFill>
                <a:latin typeface="Lato"/>
                <a:ea typeface="Lato"/>
                <a:cs typeface="Lato"/>
              </a:rPr>
              <a:t>CMIP coordinates experiments so results can be compared across models and scenarios.</a:t>
            </a:r>
            <a:endParaRPr/>
          </a:p>
        </p:txBody>
      </p:sp>
      <p:sp>
        <p:nvSpPr>
          <p:cNvPr id="254" name="Google Shape;254;p11">
            <a:extLst xmlns:a="http://schemas.openxmlformats.org/drawingml/2006/main">
              <a:ext uri="{FF2B5EF4-FFF2-40B4-BE49-F238E27FC236}">
                <a16:creationId xmlns:a16="http://schemas.microsoft.com/office/drawing/2014/main" id="{02296A3B-EABB-4F6C-AA17-6EAF853EFF03}"/>
              </a:ext>
            </a:extLst>
          </p:cNvPr>
          <p:cNvSpPr>
            <a:spLocks xmlns:a="http://schemas.openxmlformats.org/drawingml/2006/main" noGrp="1"/>
          </p:cNvSpPr>
          <p:nvPr/>
        </p:nvSpPr>
        <p:spPr>
          <a:xfrm xmlns:a="http://schemas.openxmlformats.org/drawingml/2006/main">
            <a:off x="809625" y="4229100"/>
            <a:ext cx="10287000" cy="952500"/>
          </a:xfrm>
          <a:prstGeom xmlns:a="http://schemas.openxmlformats.org/drawingml/2006/main" prst="roundRect">
            <a:avLst>
              <a:gd name="adj" fmla="val 8000"/>
            </a:avLst>
          </a:prstGeom>
          <a:solidFill xmlns:a="http://schemas.openxmlformats.org/drawingml/2006/main">
            <a:srgbClr val="EAF3F8"/>
          </a:solidFill>
          <a:ln xmlns:a="http://schemas.openxmlformats.org/drawingml/2006/main" w="9525" cmpd="sng">
            <a:solidFill>
              <a:srgbClr val="EAF3F8"/>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5" name="Google Shape;255;p11">
            <a:extLst xmlns:a="http://schemas.openxmlformats.org/drawingml/2006/main">
              <a:ext uri="{FF2B5EF4-FFF2-40B4-BE49-F238E27FC236}">
                <a16:creationId xmlns:a16="http://schemas.microsoft.com/office/drawing/2014/main" id="{3EDF9E2A-FE81-40C1-8E7F-45EB40476DD6}"/>
              </a:ext>
            </a:extLst>
          </p:cNvPr>
          <p:cNvSpPr>
            <a:spLocks xmlns:a="http://schemas.openxmlformats.org/drawingml/2006/main" noGrp="1"/>
          </p:cNvSpPr>
          <p:nvPr/>
        </p:nvSpPr>
        <p:spPr>
          <a:xfrm xmlns:a="http://schemas.openxmlformats.org/drawingml/2006/main">
            <a:off x="1028700" y="4457700"/>
            <a:ext cx="223837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 the range</a:t>
            </a:r>
            <a:endParaRPr/>
          </a:p>
        </p:txBody>
      </p:sp>
      <p:sp>
        <p:nvSpPr>
          <p:cNvPr id="256" name="Google Shape;256;p11">
            <a:extLst xmlns:a="http://schemas.openxmlformats.org/drawingml/2006/main">
              <a:ext uri="{FF2B5EF4-FFF2-40B4-BE49-F238E27FC236}">
                <a16:creationId xmlns:a16="http://schemas.microsoft.com/office/drawing/2014/main" id="{5005821E-B3A7-4CFB-9D75-8A3ABBC30C8E}"/>
              </a:ext>
            </a:extLst>
          </p:cNvPr>
          <p:cNvSpPr>
            <a:spLocks xmlns:a="http://schemas.openxmlformats.org/drawingml/2006/main" noGrp="1"/>
          </p:cNvSpPr>
          <p:nvPr/>
        </p:nvSpPr>
        <p:spPr>
          <a:xfrm xmlns:a="http://schemas.openxmlformats.org/drawingml/2006/main">
            <a:off x="3371850" y="4410075"/>
            <a:ext cx="744855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98"/>
              <a:buFont typeface="Lato"/>
              <a:buNone/>
            </a:pPr>
            <a:r>
              <a:rPr sz="1399" b="0" i="0">
                <a:solidFill>
                  <a:srgbClr val="12304E"/>
                </a:solidFill>
                <a:latin typeface="Lato"/>
                <a:ea typeface="Lato"/>
                <a:cs typeface="Lato"/>
              </a:rPr>
              <a:t>The spread is information about plausible outcomes, not a reason to select the most convenient model.</a:t>
            </a:r>
            <a:endParaRPr/>
          </a:p>
        </p:txBody>
      </p:sp>
    </p:spTree>
    <p:extLst>
      <p:ext uri="{BB962C8B-B14F-4D97-AF65-F5344CB8AC3E}">
        <p14:creationId xmlns:p14="http://schemas.microsoft.com/office/powerpoint/2010/main" val="536116663"/>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62" name="Google Shape;262;p12">
            <a:extLst xmlns:a="http://schemas.openxmlformats.org/drawingml/2006/main">
              <a:ext uri="{FF2B5EF4-FFF2-40B4-BE49-F238E27FC236}">
                <a16:creationId xmlns:a16="http://schemas.microsoft.com/office/drawing/2014/main" id="{4D1C5715-E6EF-47D8-A7EA-3045AF9DD11F}"/>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global to regional climate information</a:t>
            </a:r>
            <a:endParaRPr/>
          </a:p>
        </p:txBody>
      </p:sp>
      <p:sp>
        <p:nvSpPr>
          <p:cNvPr id="263" name="Google Shape;263;p12">
            <a:extLst xmlns:a="http://schemas.openxmlformats.org/drawingml/2006/main">
              <a:ext uri="{FF2B5EF4-FFF2-40B4-BE49-F238E27FC236}">
                <a16:creationId xmlns:a16="http://schemas.microsoft.com/office/drawing/2014/main" id="{04073954-3909-4138-B359-E0488DF05BD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Regional models add spatial detail within a global model’s large-scale climate</a:t>
            </a:r>
            <a:endParaRPr/>
          </a:p>
        </p:txBody>
      </p:sp>
      <p:sp>
        <p:nvSpPr>
          <p:cNvPr id="264" name="Google Shape;264;p12">
            <a:extLst xmlns:a="http://schemas.openxmlformats.org/drawingml/2006/main">
              <a:ext uri="{FF2B5EF4-FFF2-40B4-BE49-F238E27FC236}">
                <a16:creationId xmlns:a16="http://schemas.microsoft.com/office/drawing/2014/main" id="{9405FCB2-6FCE-471E-8854-819676883327}"/>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5" name="Google Shape;265;p12">
            <a:extLst xmlns:a="http://schemas.openxmlformats.org/drawingml/2006/main">
              <a:ext uri="{FF2B5EF4-FFF2-40B4-BE49-F238E27FC236}">
                <a16:creationId xmlns:a16="http://schemas.microsoft.com/office/drawing/2014/main" id="{570B32AF-AD8F-42BD-AFA4-36D525EA72F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6" name="Google Shape;266;p12">
            <a:extLst xmlns:a="http://schemas.openxmlformats.org/drawingml/2006/main">
              <a:ext uri="{FF2B5EF4-FFF2-40B4-BE49-F238E27FC236}">
                <a16:creationId xmlns:a16="http://schemas.microsoft.com/office/drawing/2014/main" id="{3E9B2487-62A4-48B9-9830-9EF741E0A81D}"/>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7" name="Google Shape;267;p12">
            <a:extLst xmlns:a="http://schemas.openxmlformats.org/drawingml/2006/main">
              <a:ext uri="{FF2B5EF4-FFF2-40B4-BE49-F238E27FC236}">
                <a16:creationId xmlns:a16="http://schemas.microsoft.com/office/drawing/2014/main" id="{CD2D20A3-0EFC-4659-AFDC-C4BCEBC4701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68" name="Google Shape;268;p12">
            <a:extLst xmlns:a="http://schemas.openxmlformats.org/drawingml/2006/main">
              <a:ext uri="{FF2B5EF4-FFF2-40B4-BE49-F238E27FC236}">
                <a16:creationId xmlns:a16="http://schemas.microsoft.com/office/drawing/2014/main" id="{E0F92778-2664-43AB-9D9A-BA72D9CF105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10</a:t>
            </a:r>
            <a:endParaRPr/>
          </a:p>
        </p:txBody>
      </p:sp>
      <p:sp>
        <p:nvSpPr>
          <p:cNvPr id="269" name="Google Shape;269;p12">
            <a:extLst xmlns:a="http://schemas.openxmlformats.org/drawingml/2006/main">
              <a:ext uri="{FF2B5EF4-FFF2-40B4-BE49-F238E27FC236}">
                <a16:creationId xmlns:a16="http://schemas.microsoft.com/office/drawing/2014/main" id="{961E7C06-F2A2-4D9D-869F-4521ADB34779}"/>
              </a:ext>
            </a:extLst>
          </p:cNvPr>
          <p:cNvSpPr>
            <a:spLocks xmlns:a="http://schemas.openxmlformats.org/drawingml/2006/main" noGrp="1"/>
          </p:cNvSpPr>
          <p:nvPr/>
        </p:nvSpPr>
        <p:spPr>
          <a:xfrm xmlns:a="http://schemas.openxmlformats.org/drawingml/2006/main">
            <a:off x="800100" y="1952625"/>
            <a:ext cx="2667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0" name="Google Shape;270;p12">
            <a:extLst xmlns:a="http://schemas.openxmlformats.org/drawingml/2006/main">
              <a:ext uri="{FF2B5EF4-FFF2-40B4-BE49-F238E27FC236}">
                <a16:creationId xmlns:a16="http://schemas.microsoft.com/office/drawing/2014/main" id="{D917BE27-B655-4E2B-B9DC-D8CC391781C6}"/>
              </a:ext>
            </a:extLst>
          </p:cNvPr>
          <p:cNvSpPr>
            <a:spLocks xmlns:a="http://schemas.openxmlformats.org/drawingml/2006/main" noGrp="1"/>
          </p:cNvSpPr>
          <p:nvPr/>
        </p:nvSpPr>
        <p:spPr>
          <a:xfrm xmlns:a="http://schemas.openxmlformats.org/drawingml/2006/main">
            <a:off x="12287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1" name="Google Shape;271;p12">
            <a:extLst xmlns:a="http://schemas.openxmlformats.org/drawingml/2006/main">
              <a:ext uri="{FF2B5EF4-FFF2-40B4-BE49-F238E27FC236}">
                <a16:creationId xmlns:a16="http://schemas.microsoft.com/office/drawing/2014/main" id="{40912A53-D6A6-4E6E-9D1D-48F489C9CE90}"/>
              </a:ext>
            </a:extLst>
          </p:cNvPr>
          <p:cNvSpPr>
            <a:spLocks xmlns:a="http://schemas.openxmlformats.org/drawingml/2006/main" noGrp="1"/>
          </p:cNvSpPr>
          <p:nvPr/>
        </p:nvSpPr>
        <p:spPr>
          <a:xfrm xmlns:a="http://schemas.openxmlformats.org/drawingml/2006/main">
            <a:off x="1743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2" name="Google Shape;272;p12">
            <a:extLst xmlns:a="http://schemas.openxmlformats.org/drawingml/2006/main">
              <a:ext uri="{FF2B5EF4-FFF2-40B4-BE49-F238E27FC236}">
                <a16:creationId xmlns:a16="http://schemas.microsoft.com/office/drawing/2014/main" id="{7E067364-1FBB-450F-BADD-6A287897A917}"/>
              </a:ext>
            </a:extLst>
          </p:cNvPr>
          <p:cNvSpPr>
            <a:spLocks xmlns:a="http://schemas.openxmlformats.org/drawingml/2006/main" noGrp="1"/>
          </p:cNvSpPr>
          <p:nvPr/>
        </p:nvSpPr>
        <p:spPr>
          <a:xfrm xmlns:a="http://schemas.openxmlformats.org/drawingml/2006/main">
            <a:off x="22574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3" name="Google Shape;273;p12">
            <a:extLst xmlns:a="http://schemas.openxmlformats.org/drawingml/2006/main">
              <a:ext uri="{FF2B5EF4-FFF2-40B4-BE49-F238E27FC236}">
                <a16:creationId xmlns:a16="http://schemas.microsoft.com/office/drawing/2014/main" id="{749F6D19-4E09-4DD0-9233-946E6707F1C6}"/>
              </a:ext>
            </a:extLst>
          </p:cNvPr>
          <p:cNvSpPr>
            <a:spLocks xmlns:a="http://schemas.openxmlformats.org/drawingml/2006/main" noGrp="1"/>
          </p:cNvSpPr>
          <p:nvPr/>
        </p:nvSpPr>
        <p:spPr>
          <a:xfrm xmlns:a="http://schemas.openxmlformats.org/drawingml/2006/main">
            <a:off x="27717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4" name="Google Shape;274;p12">
            <a:extLst xmlns:a="http://schemas.openxmlformats.org/drawingml/2006/main">
              <a:ext uri="{FF2B5EF4-FFF2-40B4-BE49-F238E27FC236}">
                <a16:creationId xmlns:a16="http://schemas.microsoft.com/office/drawing/2014/main" id="{2D0225A4-DC48-4D40-BBB9-78320139AFF5}"/>
              </a:ext>
            </a:extLst>
          </p:cNvPr>
          <p:cNvSpPr>
            <a:spLocks xmlns:a="http://schemas.openxmlformats.org/drawingml/2006/main" noGrp="1"/>
          </p:cNvSpPr>
          <p:nvPr/>
        </p:nvSpPr>
        <p:spPr>
          <a:xfrm xmlns:a="http://schemas.openxmlformats.org/drawingml/2006/main">
            <a:off x="1228725" y="21907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5" name="Google Shape;275;p12">
            <a:extLst xmlns:a="http://schemas.openxmlformats.org/drawingml/2006/main">
              <a:ext uri="{FF2B5EF4-FFF2-40B4-BE49-F238E27FC236}">
                <a16:creationId xmlns:a16="http://schemas.microsoft.com/office/drawing/2014/main" id="{42935F73-3102-45A7-AEF4-A63B43C2ED08}"/>
              </a:ext>
            </a:extLst>
          </p:cNvPr>
          <p:cNvSpPr>
            <a:spLocks xmlns:a="http://schemas.openxmlformats.org/drawingml/2006/main" noGrp="1"/>
          </p:cNvSpPr>
          <p:nvPr/>
        </p:nvSpPr>
        <p:spPr>
          <a:xfrm xmlns:a="http://schemas.openxmlformats.org/drawingml/2006/main">
            <a:off x="1228725" y="27051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6" name="Google Shape;276;p12">
            <a:extLst xmlns:a="http://schemas.openxmlformats.org/drawingml/2006/main">
              <a:ext uri="{FF2B5EF4-FFF2-40B4-BE49-F238E27FC236}">
                <a16:creationId xmlns:a16="http://schemas.microsoft.com/office/drawing/2014/main" id="{9AB8F078-C296-44B2-AF35-C2388919CF50}"/>
              </a:ext>
            </a:extLst>
          </p:cNvPr>
          <p:cNvSpPr>
            <a:spLocks xmlns:a="http://schemas.openxmlformats.org/drawingml/2006/main" noGrp="1"/>
          </p:cNvSpPr>
          <p:nvPr/>
        </p:nvSpPr>
        <p:spPr>
          <a:xfrm xmlns:a="http://schemas.openxmlformats.org/drawingml/2006/main">
            <a:off x="1009650"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GLOBAL MODEL</a:t>
            </a:r>
            <a:endParaRPr/>
          </a:p>
        </p:txBody>
      </p:sp>
      <p:sp>
        <p:nvSpPr>
          <p:cNvPr id="277" name="Google Shape;277;p12">
            <a:extLst xmlns:a="http://schemas.openxmlformats.org/drawingml/2006/main">
              <a:ext uri="{FF2B5EF4-FFF2-40B4-BE49-F238E27FC236}">
                <a16:creationId xmlns:a16="http://schemas.microsoft.com/office/drawing/2014/main" id="{5BF8FD59-437B-49FB-8F2A-4F0D187466F6}"/>
              </a:ext>
            </a:extLst>
          </p:cNvPr>
          <p:cNvSpPr>
            <a:spLocks xmlns:a="http://schemas.openxmlformats.org/drawingml/2006/main" noGrp="1"/>
          </p:cNvSpPr>
          <p:nvPr/>
        </p:nvSpPr>
        <p:spPr>
          <a:xfrm xmlns:a="http://schemas.openxmlformats.org/drawingml/2006/main">
            <a:off x="1009650"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Represents the whole climate system on a global grid</a:t>
            </a:r>
            <a:endParaRPr/>
          </a:p>
        </p:txBody>
      </p:sp>
      <p:sp>
        <p:nvSpPr>
          <p:cNvPr id="278" name="Google Shape;278;p12">
            <a:extLst xmlns:a="http://schemas.openxmlformats.org/drawingml/2006/main">
              <a:ext uri="{FF2B5EF4-FFF2-40B4-BE49-F238E27FC236}">
                <a16:creationId xmlns:a16="http://schemas.microsoft.com/office/drawing/2014/main" id="{9D3440D6-044B-4745-B113-8B4C4DA57763}"/>
              </a:ext>
            </a:extLst>
          </p:cNvPr>
          <p:cNvSpPr>
            <a:spLocks xmlns:a="http://schemas.openxmlformats.org/drawingml/2006/main" noGrp="1"/>
          </p:cNvSpPr>
          <p:nvPr/>
        </p:nvSpPr>
        <p:spPr>
          <a:xfrm xmlns:a="http://schemas.openxmlformats.org/drawingml/2006/main">
            <a:off x="3533775" y="2590800"/>
            <a:ext cx="381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2678"/>
              <a:buFont typeface="Lato"/>
              <a:buNone/>
            </a:pPr>
            <a:r>
              <a:rPr sz="2679" b="1" i="0">
                <a:solidFill>
                  <a:srgbClr val="F2B632"/>
                </a:solidFill>
                <a:latin typeface="Lato"/>
                <a:ea typeface="Lato"/>
                <a:cs typeface="Lato"/>
              </a:rPr>
              <a:t>›</a:t>
            </a:r>
            <a:endParaRPr/>
          </a:p>
        </p:txBody>
      </p:sp>
      <p:sp>
        <p:nvSpPr>
          <p:cNvPr id="279" name="Google Shape;279;p12">
            <a:extLst xmlns:a="http://schemas.openxmlformats.org/drawingml/2006/main">
              <a:ext uri="{FF2B5EF4-FFF2-40B4-BE49-F238E27FC236}">
                <a16:creationId xmlns:a16="http://schemas.microsoft.com/office/drawing/2014/main" id="{60C683F1-9E72-499E-AA14-6E05D55ABF74}"/>
              </a:ext>
            </a:extLst>
          </p:cNvPr>
          <p:cNvSpPr>
            <a:spLocks xmlns:a="http://schemas.openxmlformats.org/drawingml/2006/main" noGrp="1"/>
          </p:cNvSpPr>
          <p:nvPr/>
        </p:nvSpPr>
        <p:spPr>
          <a:xfrm xmlns:a="http://schemas.openxmlformats.org/drawingml/2006/main">
            <a:off x="4010025" y="1952625"/>
            <a:ext cx="2667000" cy="2333625"/>
          </a:xfrm>
          <a:prstGeom xmlns:a="http://schemas.openxmlformats.org/drawingml/2006/main" prst="roundRect">
            <a:avLst>
              <a:gd name="adj" fmla="val 3265"/>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0" name="Google Shape;280;p12">
            <a:extLst xmlns:a="http://schemas.openxmlformats.org/drawingml/2006/main">
              <a:ext uri="{FF2B5EF4-FFF2-40B4-BE49-F238E27FC236}">
                <a16:creationId xmlns:a16="http://schemas.microsoft.com/office/drawing/2014/main" id="{50A7F691-8288-4245-A60B-EBC0FC2E2DB3}"/>
              </a:ext>
            </a:extLst>
          </p:cNvPr>
          <p:cNvSpPr>
            <a:spLocks xmlns:a="http://schemas.openxmlformats.org/drawingml/2006/main" noGrp="1"/>
          </p:cNvSpPr>
          <p:nvPr/>
        </p:nvSpPr>
        <p:spPr>
          <a:xfrm xmlns:a="http://schemas.openxmlformats.org/drawingml/2006/main">
            <a:off x="44386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1" name="Google Shape;281;p12">
            <a:extLst xmlns:a="http://schemas.openxmlformats.org/drawingml/2006/main">
              <a:ext uri="{FF2B5EF4-FFF2-40B4-BE49-F238E27FC236}">
                <a16:creationId xmlns:a16="http://schemas.microsoft.com/office/drawing/2014/main" id="{9F52DA71-23FD-4D28-8F71-B4D36CC510F1}"/>
              </a:ext>
            </a:extLst>
          </p:cNvPr>
          <p:cNvSpPr>
            <a:spLocks xmlns:a="http://schemas.openxmlformats.org/drawingml/2006/main" noGrp="1"/>
          </p:cNvSpPr>
          <p:nvPr/>
        </p:nvSpPr>
        <p:spPr>
          <a:xfrm xmlns:a="http://schemas.openxmlformats.org/drawingml/2006/main">
            <a:off x="483870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2" name="Google Shape;282;p12">
            <a:extLst xmlns:a="http://schemas.openxmlformats.org/drawingml/2006/main">
              <a:ext uri="{FF2B5EF4-FFF2-40B4-BE49-F238E27FC236}">
                <a16:creationId xmlns:a16="http://schemas.microsoft.com/office/drawing/2014/main" id="{3715CEE1-5F88-43A5-83F7-2942D21449CB}"/>
              </a:ext>
            </a:extLst>
          </p:cNvPr>
          <p:cNvSpPr>
            <a:spLocks xmlns:a="http://schemas.openxmlformats.org/drawingml/2006/main" noGrp="1"/>
          </p:cNvSpPr>
          <p:nvPr/>
        </p:nvSpPr>
        <p:spPr>
          <a:xfrm xmlns:a="http://schemas.openxmlformats.org/drawingml/2006/main">
            <a:off x="52387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3" name="Google Shape;283;p12">
            <a:extLst xmlns:a="http://schemas.openxmlformats.org/drawingml/2006/main">
              <a:ext uri="{FF2B5EF4-FFF2-40B4-BE49-F238E27FC236}">
                <a16:creationId xmlns:a16="http://schemas.microsoft.com/office/drawing/2014/main" id="{92D1DA5B-5F67-4EDA-AFCF-17B3181B80B1}"/>
              </a:ext>
            </a:extLst>
          </p:cNvPr>
          <p:cNvSpPr>
            <a:spLocks xmlns:a="http://schemas.openxmlformats.org/drawingml/2006/main" noGrp="1"/>
          </p:cNvSpPr>
          <p:nvPr/>
        </p:nvSpPr>
        <p:spPr>
          <a:xfrm xmlns:a="http://schemas.openxmlformats.org/drawingml/2006/main">
            <a:off x="563880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4" name="Google Shape;284;p12">
            <a:extLst xmlns:a="http://schemas.openxmlformats.org/drawingml/2006/main">
              <a:ext uri="{FF2B5EF4-FFF2-40B4-BE49-F238E27FC236}">
                <a16:creationId xmlns:a16="http://schemas.microsoft.com/office/drawing/2014/main" id="{F1389F57-5413-4CE0-96DE-FC5A799BCFA4}"/>
              </a:ext>
            </a:extLst>
          </p:cNvPr>
          <p:cNvSpPr>
            <a:spLocks xmlns:a="http://schemas.openxmlformats.org/drawingml/2006/main" noGrp="1"/>
          </p:cNvSpPr>
          <p:nvPr/>
        </p:nvSpPr>
        <p:spPr>
          <a:xfrm xmlns:a="http://schemas.openxmlformats.org/drawingml/2006/main">
            <a:off x="60388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5" name="Google Shape;285;p12">
            <a:extLst xmlns:a="http://schemas.openxmlformats.org/drawingml/2006/main">
              <a:ext uri="{FF2B5EF4-FFF2-40B4-BE49-F238E27FC236}">
                <a16:creationId xmlns:a16="http://schemas.microsoft.com/office/drawing/2014/main" id="{4B705C29-2801-41AF-B76B-0B4502DC32DD}"/>
              </a:ext>
            </a:extLst>
          </p:cNvPr>
          <p:cNvSpPr>
            <a:spLocks xmlns:a="http://schemas.openxmlformats.org/drawingml/2006/main" noGrp="1"/>
          </p:cNvSpPr>
          <p:nvPr/>
        </p:nvSpPr>
        <p:spPr>
          <a:xfrm xmlns:a="http://schemas.openxmlformats.org/drawingml/2006/main">
            <a:off x="4438650" y="219075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6" name="Google Shape;286;p12">
            <a:extLst xmlns:a="http://schemas.openxmlformats.org/drawingml/2006/main">
              <a:ext uri="{FF2B5EF4-FFF2-40B4-BE49-F238E27FC236}">
                <a16:creationId xmlns:a16="http://schemas.microsoft.com/office/drawing/2014/main" id="{EC9AB339-E76A-4F06-BF02-CE813DF341DB}"/>
              </a:ext>
            </a:extLst>
          </p:cNvPr>
          <p:cNvSpPr>
            <a:spLocks xmlns:a="http://schemas.openxmlformats.org/drawingml/2006/main" noGrp="1"/>
          </p:cNvSpPr>
          <p:nvPr/>
        </p:nvSpPr>
        <p:spPr>
          <a:xfrm xmlns:a="http://schemas.openxmlformats.org/drawingml/2006/main">
            <a:off x="4438650" y="259080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7" name="Google Shape;287;p12">
            <a:extLst xmlns:a="http://schemas.openxmlformats.org/drawingml/2006/main">
              <a:ext uri="{FF2B5EF4-FFF2-40B4-BE49-F238E27FC236}">
                <a16:creationId xmlns:a16="http://schemas.microsoft.com/office/drawing/2014/main" id="{AA095CD9-A7F0-4CBB-80E9-E7082BDD914C}"/>
              </a:ext>
            </a:extLst>
          </p:cNvPr>
          <p:cNvSpPr>
            <a:spLocks xmlns:a="http://schemas.openxmlformats.org/drawingml/2006/main" noGrp="1"/>
          </p:cNvSpPr>
          <p:nvPr/>
        </p:nvSpPr>
        <p:spPr>
          <a:xfrm xmlns:a="http://schemas.openxmlformats.org/drawingml/2006/main">
            <a:off x="4438650" y="299085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8" name="Google Shape;288;p12">
            <a:extLst xmlns:a="http://schemas.openxmlformats.org/drawingml/2006/main">
              <a:ext uri="{FF2B5EF4-FFF2-40B4-BE49-F238E27FC236}">
                <a16:creationId xmlns:a16="http://schemas.microsoft.com/office/drawing/2014/main" id="{348432F3-58BB-40A2-92E5-B6D4954D9BEA}"/>
              </a:ext>
            </a:extLst>
          </p:cNvPr>
          <p:cNvSpPr>
            <a:spLocks xmlns:a="http://schemas.openxmlformats.org/drawingml/2006/main" noGrp="1"/>
          </p:cNvSpPr>
          <p:nvPr/>
        </p:nvSpPr>
        <p:spPr>
          <a:xfrm xmlns:a="http://schemas.openxmlformats.org/drawingml/2006/main">
            <a:off x="4219575"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8D7A"/>
              </a:buClr>
              <a:buSzPts val="1125"/>
              <a:buFont typeface="Lato"/>
              <a:buNone/>
            </a:pPr>
            <a:r>
              <a:rPr sz="1125" b="1" i="0">
                <a:solidFill>
                  <a:srgbClr val="008D7A"/>
                </a:solidFill>
                <a:latin typeface="Lato"/>
                <a:ea typeface="Lato"/>
                <a:cs typeface="Lato"/>
              </a:rPr>
              <a:t>REGIONAL MODEL</a:t>
            </a:r>
            <a:endParaRPr/>
          </a:p>
        </p:txBody>
      </p:sp>
      <p:sp>
        <p:nvSpPr>
          <p:cNvPr id="289" name="Google Shape;289;p12">
            <a:extLst xmlns:a="http://schemas.openxmlformats.org/drawingml/2006/main">
              <a:ext uri="{FF2B5EF4-FFF2-40B4-BE49-F238E27FC236}">
                <a16:creationId xmlns:a16="http://schemas.microsoft.com/office/drawing/2014/main" id="{8C9A55F8-2B3C-4DE2-A6EF-C925FC21CF94}"/>
              </a:ext>
            </a:extLst>
          </p:cNvPr>
          <p:cNvSpPr>
            <a:spLocks xmlns:a="http://schemas.openxmlformats.org/drawingml/2006/main" noGrp="1"/>
          </p:cNvSpPr>
          <p:nvPr/>
        </p:nvSpPr>
        <p:spPr>
          <a:xfrm xmlns:a="http://schemas.openxmlformats.org/drawingml/2006/main">
            <a:off x="4219575"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Uses global-model boundary conditions over a defined region</a:t>
            </a:r>
            <a:endParaRPr/>
          </a:p>
        </p:txBody>
      </p:sp>
      <p:sp>
        <p:nvSpPr>
          <p:cNvPr id="290" name="Google Shape;290;p12">
            <a:extLst xmlns:a="http://schemas.openxmlformats.org/drawingml/2006/main">
              <a:ext uri="{FF2B5EF4-FFF2-40B4-BE49-F238E27FC236}">
                <a16:creationId xmlns:a16="http://schemas.microsoft.com/office/drawing/2014/main" id="{709DD9AD-E466-4314-A667-79A5A06B140F}"/>
              </a:ext>
            </a:extLst>
          </p:cNvPr>
          <p:cNvSpPr>
            <a:spLocks xmlns:a="http://schemas.openxmlformats.org/drawingml/2006/main" noGrp="1"/>
          </p:cNvSpPr>
          <p:nvPr/>
        </p:nvSpPr>
        <p:spPr>
          <a:xfrm xmlns:a="http://schemas.openxmlformats.org/drawingml/2006/main">
            <a:off x="6743700" y="2590800"/>
            <a:ext cx="381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2678"/>
              <a:buFont typeface="Lato"/>
              <a:buNone/>
            </a:pPr>
            <a:r>
              <a:rPr sz="2679" b="1" i="0">
                <a:solidFill>
                  <a:srgbClr val="F2B632"/>
                </a:solidFill>
                <a:latin typeface="Lato"/>
                <a:ea typeface="Lato"/>
                <a:cs typeface="Lato"/>
              </a:rPr>
              <a:t>›</a:t>
            </a:r>
            <a:endParaRPr/>
          </a:p>
        </p:txBody>
      </p:sp>
      <p:sp>
        <p:nvSpPr>
          <p:cNvPr id="291" name="Google Shape;291;p12">
            <a:extLst xmlns:a="http://schemas.openxmlformats.org/drawingml/2006/main">
              <a:ext uri="{FF2B5EF4-FFF2-40B4-BE49-F238E27FC236}">
                <a16:creationId xmlns:a16="http://schemas.microsoft.com/office/drawing/2014/main" id="{AE8A41CA-A4AF-4FF3-8947-5BA99B6E4C03}"/>
              </a:ext>
            </a:extLst>
          </p:cNvPr>
          <p:cNvSpPr>
            <a:spLocks xmlns:a="http://schemas.openxmlformats.org/drawingml/2006/main" noGrp="1"/>
          </p:cNvSpPr>
          <p:nvPr/>
        </p:nvSpPr>
        <p:spPr>
          <a:xfrm xmlns:a="http://schemas.openxmlformats.org/drawingml/2006/main">
            <a:off x="7219950" y="1952625"/>
            <a:ext cx="2667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2" name="Google Shape;292;p12">
            <a:extLst xmlns:a="http://schemas.openxmlformats.org/drawingml/2006/main">
              <a:ext uri="{FF2B5EF4-FFF2-40B4-BE49-F238E27FC236}">
                <a16:creationId xmlns:a16="http://schemas.microsoft.com/office/drawing/2014/main" id="{526A58DD-ED58-4B69-A01C-AE78ED589B19}"/>
              </a:ext>
            </a:extLst>
          </p:cNvPr>
          <p:cNvSpPr>
            <a:spLocks xmlns:a="http://schemas.openxmlformats.org/drawingml/2006/main" noGrp="1"/>
          </p:cNvSpPr>
          <p:nvPr/>
        </p:nvSpPr>
        <p:spPr>
          <a:xfrm xmlns:a="http://schemas.openxmlformats.org/drawingml/2006/main">
            <a:off x="76485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3" name="Google Shape;293;p12">
            <a:extLst xmlns:a="http://schemas.openxmlformats.org/drawingml/2006/main">
              <a:ext uri="{FF2B5EF4-FFF2-40B4-BE49-F238E27FC236}">
                <a16:creationId xmlns:a16="http://schemas.microsoft.com/office/drawing/2014/main" id="{3ADF1686-3700-4C5D-A1C9-59F03AEDB23D}"/>
              </a:ext>
            </a:extLst>
          </p:cNvPr>
          <p:cNvSpPr>
            <a:spLocks xmlns:a="http://schemas.openxmlformats.org/drawingml/2006/main" noGrp="1"/>
          </p:cNvSpPr>
          <p:nvPr/>
        </p:nvSpPr>
        <p:spPr>
          <a:xfrm xmlns:a="http://schemas.openxmlformats.org/drawingml/2006/main">
            <a:off x="79343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4" name="Google Shape;294;p12">
            <a:extLst xmlns:a="http://schemas.openxmlformats.org/drawingml/2006/main">
              <a:ext uri="{FF2B5EF4-FFF2-40B4-BE49-F238E27FC236}">
                <a16:creationId xmlns:a16="http://schemas.microsoft.com/office/drawing/2014/main" id="{6EFD7540-904A-4DF7-A5EF-FF8BE665674B}"/>
              </a:ext>
            </a:extLst>
          </p:cNvPr>
          <p:cNvSpPr>
            <a:spLocks xmlns:a="http://schemas.openxmlformats.org/drawingml/2006/main" noGrp="1"/>
          </p:cNvSpPr>
          <p:nvPr/>
        </p:nvSpPr>
        <p:spPr>
          <a:xfrm xmlns:a="http://schemas.openxmlformats.org/drawingml/2006/main">
            <a:off x="8220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5" name="Google Shape;295;p12">
            <a:extLst xmlns:a="http://schemas.openxmlformats.org/drawingml/2006/main">
              <a:ext uri="{FF2B5EF4-FFF2-40B4-BE49-F238E27FC236}">
                <a16:creationId xmlns:a16="http://schemas.microsoft.com/office/drawing/2014/main" id="{B88DA45F-CC63-4912-B7E2-652C5263854A}"/>
              </a:ext>
            </a:extLst>
          </p:cNvPr>
          <p:cNvSpPr>
            <a:spLocks xmlns:a="http://schemas.openxmlformats.org/drawingml/2006/main" noGrp="1"/>
          </p:cNvSpPr>
          <p:nvPr/>
        </p:nvSpPr>
        <p:spPr>
          <a:xfrm xmlns:a="http://schemas.openxmlformats.org/drawingml/2006/main">
            <a:off x="85058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6" name="Google Shape;296;p12">
            <a:extLst xmlns:a="http://schemas.openxmlformats.org/drawingml/2006/main">
              <a:ext uri="{FF2B5EF4-FFF2-40B4-BE49-F238E27FC236}">
                <a16:creationId xmlns:a16="http://schemas.microsoft.com/office/drawing/2014/main" id="{CEE3F026-A538-499A-8B4C-A7B1F1DB8C1F}"/>
              </a:ext>
            </a:extLst>
          </p:cNvPr>
          <p:cNvSpPr>
            <a:spLocks xmlns:a="http://schemas.openxmlformats.org/drawingml/2006/main" noGrp="1"/>
          </p:cNvSpPr>
          <p:nvPr/>
        </p:nvSpPr>
        <p:spPr>
          <a:xfrm xmlns:a="http://schemas.openxmlformats.org/drawingml/2006/main">
            <a:off x="87915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7" name="Google Shape;297;p12">
            <a:extLst xmlns:a="http://schemas.openxmlformats.org/drawingml/2006/main">
              <a:ext uri="{FF2B5EF4-FFF2-40B4-BE49-F238E27FC236}">
                <a16:creationId xmlns:a16="http://schemas.microsoft.com/office/drawing/2014/main" id="{D0EA9CCB-54DF-4A9C-ABBA-70234DAD2C5A}"/>
              </a:ext>
            </a:extLst>
          </p:cNvPr>
          <p:cNvSpPr>
            <a:spLocks xmlns:a="http://schemas.openxmlformats.org/drawingml/2006/main" noGrp="1"/>
          </p:cNvSpPr>
          <p:nvPr/>
        </p:nvSpPr>
        <p:spPr>
          <a:xfrm xmlns:a="http://schemas.openxmlformats.org/drawingml/2006/main">
            <a:off x="90773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8" name="Google Shape;298;p12">
            <a:extLst xmlns:a="http://schemas.openxmlformats.org/drawingml/2006/main">
              <a:ext uri="{FF2B5EF4-FFF2-40B4-BE49-F238E27FC236}">
                <a16:creationId xmlns:a16="http://schemas.microsoft.com/office/drawing/2014/main" id="{918AAD2B-D0C7-410C-BFE4-15F5045E41C0}"/>
              </a:ext>
            </a:extLst>
          </p:cNvPr>
          <p:cNvSpPr>
            <a:spLocks xmlns:a="http://schemas.openxmlformats.org/drawingml/2006/main" noGrp="1"/>
          </p:cNvSpPr>
          <p:nvPr/>
        </p:nvSpPr>
        <p:spPr>
          <a:xfrm xmlns:a="http://schemas.openxmlformats.org/drawingml/2006/main">
            <a:off x="9363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9" name="Google Shape;299;p12">
            <a:extLst xmlns:a="http://schemas.openxmlformats.org/drawingml/2006/main">
              <a:ext uri="{FF2B5EF4-FFF2-40B4-BE49-F238E27FC236}">
                <a16:creationId xmlns:a16="http://schemas.microsoft.com/office/drawing/2014/main" id="{B7D3FA50-87EB-4104-BEEE-C51D5F731F47}"/>
              </a:ext>
            </a:extLst>
          </p:cNvPr>
          <p:cNvSpPr>
            <a:spLocks xmlns:a="http://schemas.openxmlformats.org/drawingml/2006/main" noGrp="1"/>
          </p:cNvSpPr>
          <p:nvPr/>
        </p:nvSpPr>
        <p:spPr>
          <a:xfrm xmlns:a="http://schemas.openxmlformats.org/drawingml/2006/main">
            <a:off x="7648575" y="21907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0" name="Google Shape;300;p12">
            <a:extLst xmlns:a="http://schemas.openxmlformats.org/drawingml/2006/main">
              <a:ext uri="{FF2B5EF4-FFF2-40B4-BE49-F238E27FC236}">
                <a16:creationId xmlns:a16="http://schemas.microsoft.com/office/drawing/2014/main" id="{64A9A39C-635F-4657-924F-DF09B0203071}"/>
              </a:ext>
            </a:extLst>
          </p:cNvPr>
          <p:cNvSpPr>
            <a:spLocks xmlns:a="http://schemas.openxmlformats.org/drawingml/2006/main" noGrp="1"/>
          </p:cNvSpPr>
          <p:nvPr/>
        </p:nvSpPr>
        <p:spPr>
          <a:xfrm xmlns:a="http://schemas.openxmlformats.org/drawingml/2006/main">
            <a:off x="7648575" y="24765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1" name="Google Shape;301;p12">
            <a:extLst xmlns:a="http://schemas.openxmlformats.org/drawingml/2006/main">
              <a:ext uri="{FF2B5EF4-FFF2-40B4-BE49-F238E27FC236}">
                <a16:creationId xmlns:a16="http://schemas.microsoft.com/office/drawing/2014/main" id="{B69C0DDB-4BB8-4DF2-A54F-8A0203B72061}"/>
              </a:ext>
            </a:extLst>
          </p:cNvPr>
          <p:cNvSpPr>
            <a:spLocks xmlns:a="http://schemas.openxmlformats.org/drawingml/2006/main" noGrp="1"/>
          </p:cNvSpPr>
          <p:nvPr/>
        </p:nvSpPr>
        <p:spPr>
          <a:xfrm xmlns:a="http://schemas.openxmlformats.org/drawingml/2006/main">
            <a:off x="7648575" y="27622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2" name="Google Shape;302;p12">
            <a:extLst xmlns:a="http://schemas.openxmlformats.org/drawingml/2006/main">
              <a:ext uri="{FF2B5EF4-FFF2-40B4-BE49-F238E27FC236}">
                <a16:creationId xmlns:a16="http://schemas.microsoft.com/office/drawing/2014/main" id="{4624EF7F-93E5-4D35-9015-02F54A878DCE}"/>
              </a:ext>
            </a:extLst>
          </p:cNvPr>
          <p:cNvSpPr>
            <a:spLocks xmlns:a="http://schemas.openxmlformats.org/drawingml/2006/main" noGrp="1"/>
          </p:cNvSpPr>
          <p:nvPr/>
        </p:nvSpPr>
        <p:spPr>
          <a:xfrm xmlns:a="http://schemas.openxmlformats.org/drawingml/2006/main">
            <a:off x="7648575" y="30480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3" name="Google Shape;303;p12">
            <a:extLst xmlns:a="http://schemas.openxmlformats.org/drawingml/2006/main">
              <a:ext uri="{FF2B5EF4-FFF2-40B4-BE49-F238E27FC236}">
                <a16:creationId xmlns:a16="http://schemas.microsoft.com/office/drawing/2014/main" id="{56FC7DE2-68A2-4D18-8AB8-C51F9EEDCFD1}"/>
              </a:ext>
            </a:extLst>
          </p:cNvPr>
          <p:cNvSpPr>
            <a:spLocks xmlns:a="http://schemas.openxmlformats.org/drawingml/2006/main" noGrp="1"/>
          </p:cNvSpPr>
          <p:nvPr/>
        </p:nvSpPr>
        <p:spPr>
          <a:xfrm xmlns:a="http://schemas.openxmlformats.org/drawingml/2006/main">
            <a:off x="7429500"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REGIONAL INFORMATION</a:t>
            </a:r>
            <a:endParaRPr/>
          </a:p>
        </p:txBody>
      </p:sp>
      <p:sp>
        <p:nvSpPr>
          <p:cNvPr id="304" name="Google Shape;304;p12">
            <a:extLst xmlns:a="http://schemas.openxmlformats.org/drawingml/2006/main">
              <a:ext uri="{FF2B5EF4-FFF2-40B4-BE49-F238E27FC236}">
                <a16:creationId xmlns:a16="http://schemas.microsoft.com/office/drawing/2014/main" id="{33B06799-842D-4435-BFF5-3E9DD1579042}"/>
              </a:ext>
            </a:extLst>
          </p:cNvPr>
          <p:cNvSpPr>
            <a:spLocks xmlns:a="http://schemas.openxmlformats.org/drawingml/2006/main" noGrp="1"/>
          </p:cNvSpPr>
          <p:nvPr/>
        </p:nvSpPr>
        <p:spPr>
          <a:xfrm xmlns:a="http://schemas.openxmlformats.org/drawingml/2006/main">
            <a:off x="7429500"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Resolves more regional features at finer grid spacing</a:t>
            </a:r>
            <a:endParaRPr/>
          </a:p>
        </p:txBody>
      </p:sp>
      <p:sp>
        <p:nvSpPr>
          <p:cNvPr id="305" name="Google Shape;305;p12">
            <a:extLst xmlns:a="http://schemas.openxmlformats.org/drawingml/2006/main">
              <a:ext uri="{FF2B5EF4-FFF2-40B4-BE49-F238E27FC236}">
                <a16:creationId xmlns:a16="http://schemas.microsoft.com/office/drawing/2014/main" id="{659ADACE-82A0-4133-8D8C-37B6A6BC842A}"/>
              </a:ext>
            </a:extLst>
          </p:cNvPr>
          <p:cNvSpPr>
            <a:spLocks xmlns:a="http://schemas.openxmlformats.org/drawingml/2006/main" noGrp="1"/>
          </p:cNvSpPr>
          <p:nvPr/>
        </p:nvSpPr>
        <p:spPr>
          <a:xfrm xmlns:a="http://schemas.openxmlformats.org/drawingml/2006/main">
            <a:off x="9906000" y="1952625"/>
            <a:ext cx="1600200" cy="2333625"/>
          </a:xfrm>
          <a:prstGeom xmlns:a="http://schemas.openxmlformats.org/drawingml/2006/main" prst="roundRect">
            <a:avLst>
              <a:gd name="adj" fmla="val 4762"/>
            </a:avLst>
          </a:prstGeom>
          <a:solidFill xmlns:a="http://schemas.openxmlformats.org/drawingml/2006/main">
            <a:srgbClr val="FFF3D1"/>
          </a:solidFill>
          <a:ln xmlns:a="http://schemas.openxmlformats.org/drawingml/2006/main" w="9525" cmpd="sng">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6" name="Google Shape;306;p12">
            <a:extLst xmlns:a="http://schemas.openxmlformats.org/drawingml/2006/main">
              <a:ext uri="{FF2B5EF4-FFF2-40B4-BE49-F238E27FC236}">
                <a16:creationId xmlns:a16="http://schemas.microsoft.com/office/drawing/2014/main" id="{3C5D2826-5661-4A9C-8FF8-568F10497738}"/>
              </a:ext>
            </a:extLst>
          </p:cNvPr>
          <p:cNvSpPr>
            <a:spLocks xmlns:a="http://schemas.openxmlformats.org/drawingml/2006/main" noGrp="1"/>
          </p:cNvSpPr>
          <p:nvPr/>
        </p:nvSpPr>
        <p:spPr>
          <a:xfrm xmlns:a="http://schemas.openxmlformats.org/drawingml/2006/main">
            <a:off x="10048875" y="2324100"/>
            <a:ext cx="1314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CORDEX-CORE</a:t>
            </a:r>
            <a:endParaRPr/>
          </a:p>
        </p:txBody>
      </p:sp>
      <p:sp>
        <p:nvSpPr>
          <p:cNvPr id="307" name="Google Shape;307;p12">
            <a:extLst xmlns:a="http://schemas.openxmlformats.org/drawingml/2006/main">
              <a:ext uri="{FF2B5EF4-FFF2-40B4-BE49-F238E27FC236}">
                <a16:creationId xmlns:a16="http://schemas.microsoft.com/office/drawing/2014/main" id="{EED5DAE0-29EF-4478-9E30-A11F781BE509}"/>
              </a:ext>
            </a:extLst>
          </p:cNvPr>
          <p:cNvSpPr>
            <a:spLocks xmlns:a="http://schemas.openxmlformats.org/drawingml/2006/main" noGrp="1"/>
          </p:cNvSpPr>
          <p:nvPr/>
        </p:nvSpPr>
        <p:spPr>
          <a:xfrm xmlns:a="http://schemas.openxmlformats.org/drawingml/2006/main">
            <a:off x="10067925" y="2876550"/>
            <a:ext cx="127635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0" i="0">
                <a:solidFill>
                  <a:srgbClr val="12304E"/>
                </a:solidFill>
                <a:latin typeface="Lato"/>
                <a:ea typeface="Lato"/>
                <a:cs typeface="Lato"/>
              </a:rPr>
              <a:t>Coordinated regional simulations at about 25 km for major inhabited regions</a:t>
            </a:r>
            <a:endParaRPr/>
          </a:p>
        </p:txBody>
      </p:sp>
      <p:sp>
        <p:nvSpPr>
          <p:cNvPr id="308" name="Google Shape;308;p12">
            <a:extLst xmlns:a="http://schemas.openxmlformats.org/drawingml/2006/main">
              <a:ext uri="{FF2B5EF4-FFF2-40B4-BE49-F238E27FC236}">
                <a16:creationId xmlns:a16="http://schemas.microsoft.com/office/drawing/2014/main" id="{F25E0824-CC34-4463-958B-411C029AA370}"/>
              </a:ext>
            </a:extLst>
          </p:cNvPr>
          <p:cNvSpPr>
            <a:spLocks xmlns:a="http://schemas.openxmlformats.org/drawingml/2006/main" noGrp="1"/>
          </p:cNvSpPr>
          <p:nvPr/>
        </p:nvSpPr>
        <p:spPr>
          <a:xfrm xmlns:a="http://schemas.openxmlformats.org/drawingml/2006/main">
            <a:off x="1571625" y="5010150"/>
            <a:ext cx="904875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More detail does not remove uncertainty. It changes what regional processes and patterns the model can represent.</a:t>
            </a:r>
            <a:endParaRPr/>
          </a:p>
        </p:txBody>
      </p:sp>
    </p:spTree>
    <p:extLst>
      <p:ext uri="{BB962C8B-B14F-4D97-AF65-F5344CB8AC3E}">
        <p14:creationId xmlns:p14="http://schemas.microsoft.com/office/powerpoint/2010/main" val="390604974"/>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14" name="Google Shape;314;p13">
            <a:extLst xmlns:a="http://schemas.openxmlformats.org/drawingml/2006/main">
              <a:ext uri="{FF2B5EF4-FFF2-40B4-BE49-F238E27FC236}">
                <a16:creationId xmlns:a16="http://schemas.microsoft.com/office/drawing/2014/main" id="{AD050DDF-C966-439E-8A3E-80CB9323947B}"/>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simple question can require a complex dataset</a:t>
            </a:r>
            <a:endParaRPr/>
          </a:p>
        </p:txBody>
      </p:sp>
      <p:sp>
        <p:nvSpPr>
          <p:cNvPr id="315" name="Google Shape;315;p13">
            <a:extLst xmlns:a="http://schemas.openxmlformats.org/drawingml/2006/main">
              <a:ext uri="{FF2B5EF4-FFF2-40B4-BE49-F238E27FC236}">
                <a16:creationId xmlns:a16="http://schemas.microsoft.com/office/drawing/2014/main" id="{4DBD2660-BA3F-456F-A1D8-294AC0EBC41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analytical workload grows quickly across dimensions</a:t>
            </a:r>
            <a:endParaRPr/>
          </a:p>
        </p:txBody>
      </p:sp>
      <p:sp>
        <p:nvSpPr>
          <p:cNvPr id="316" name="Google Shape;316;p13">
            <a:extLst xmlns:a="http://schemas.openxmlformats.org/drawingml/2006/main">
              <a:ext uri="{FF2B5EF4-FFF2-40B4-BE49-F238E27FC236}">
                <a16:creationId xmlns:a16="http://schemas.microsoft.com/office/drawing/2014/main" id="{3D01B2F7-5E3B-46E7-A7E3-85D90078B995}"/>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7AA19EDF-08C4-450C-8156-1A62DA3BB79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8" name="Google Shape;318;p13">
            <a:extLst xmlns:a="http://schemas.openxmlformats.org/drawingml/2006/main">
              <a:ext uri="{FF2B5EF4-FFF2-40B4-BE49-F238E27FC236}">
                <a16:creationId xmlns:a16="http://schemas.microsoft.com/office/drawing/2014/main" id="{BFDA8ED0-D334-4149-B377-2F3BA802A3F3}"/>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9" name="Google Shape;319;p13">
            <a:extLst xmlns:a="http://schemas.openxmlformats.org/drawingml/2006/main">
              <a:ext uri="{FF2B5EF4-FFF2-40B4-BE49-F238E27FC236}">
                <a16:creationId xmlns:a16="http://schemas.microsoft.com/office/drawing/2014/main" id="{9E59FAF4-6CB9-446A-82B0-5C0E4F292DE1}"/>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20" name="Google Shape;320;p13">
            <a:extLst xmlns:a="http://schemas.openxmlformats.org/drawingml/2006/main">
              <a:ext uri="{FF2B5EF4-FFF2-40B4-BE49-F238E27FC236}">
                <a16:creationId xmlns:a16="http://schemas.microsoft.com/office/drawing/2014/main" id="{DA5FB135-A14A-495D-BDE5-BDC9B11A617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11</a:t>
            </a:r>
            <a:endParaRPr/>
          </a:p>
        </p:txBody>
      </p:sp>
      <p:sp>
        <p:nvSpPr>
          <p:cNvPr id="321" name="Google Shape;321;p13">
            <a:extLst xmlns:a="http://schemas.openxmlformats.org/drawingml/2006/main">
              <a:ext uri="{FF2B5EF4-FFF2-40B4-BE49-F238E27FC236}">
                <a16:creationId xmlns:a16="http://schemas.microsoft.com/office/drawing/2014/main" id="{6C5C473E-5A2B-4200-8723-F625C5940030}"/>
              </a:ext>
            </a:extLst>
          </p:cNvPr>
          <p:cNvSpPr>
            <a:spLocks xmlns:a="http://schemas.openxmlformats.org/drawingml/2006/main" noGrp="1"/>
          </p:cNvSpPr>
          <p:nvPr/>
        </p:nvSpPr>
        <p:spPr>
          <a:xfrm xmlns:a="http://schemas.openxmlformats.org/drawingml/2006/main">
            <a:off x="666750" y="1695450"/>
            <a:ext cx="3429000" cy="381000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22" name="Google Shape;322;p13">
            <a:extLst xmlns:a="http://schemas.openxmlformats.org/drawingml/2006/main">
              <a:ext uri="{FF2B5EF4-FFF2-40B4-BE49-F238E27FC236}">
                <a16:creationId xmlns:a16="http://schemas.microsoft.com/office/drawing/2014/main" id="{5F48632E-AAD9-42CE-BA7C-8778952B8A73}"/>
              </a:ext>
            </a:extLst>
          </p:cNvPr>
          <p:cNvSpPr>
            <a:spLocks xmlns:a="http://schemas.openxmlformats.org/drawingml/2006/main" noGrp="1"/>
          </p:cNvSpPr>
          <p:nvPr/>
        </p:nvSpPr>
        <p:spPr>
          <a:xfrm xmlns:a="http://schemas.openxmlformats.org/drawingml/2006/main">
            <a:off x="971550" y="1924050"/>
            <a:ext cx="1524000"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7200"/>
              <a:buFont typeface="Lato"/>
              <a:buNone/>
            </a:pPr>
            <a:r>
              <a:rPr sz="7200" b="1" i="0">
                <a:solidFill>
                  <a:srgbClr val="F2B632"/>
                </a:solidFill>
                <a:latin typeface="Lato"/>
                <a:ea typeface="Lato"/>
                <a:cs typeface="Lato"/>
              </a:rPr>
              <a:t>6</a:t>
            </a:r>
            <a:endParaRPr/>
          </a:p>
        </p:txBody>
      </p:sp>
      <p:sp>
        <p:nvSpPr>
          <p:cNvPr id="323" name="Google Shape;323;p13">
            <a:extLst xmlns:a="http://schemas.openxmlformats.org/drawingml/2006/main">
              <a:ext uri="{FF2B5EF4-FFF2-40B4-BE49-F238E27FC236}">
                <a16:creationId xmlns:a16="http://schemas.microsoft.com/office/drawing/2014/main" id="{8861DFDE-4C36-4CFD-A53A-4595EBBA3B9F}"/>
              </a:ext>
            </a:extLst>
          </p:cNvPr>
          <p:cNvSpPr>
            <a:spLocks xmlns:a="http://schemas.openxmlformats.org/drawingml/2006/main" noGrp="1"/>
          </p:cNvSpPr>
          <p:nvPr/>
        </p:nvSpPr>
        <p:spPr>
          <a:xfrm xmlns:a="http://schemas.openxmlformats.org/drawingml/2006/main">
            <a:off x="1028700" y="3028950"/>
            <a:ext cx="23812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400"/>
              <a:buFont typeface="Lato"/>
              <a:buNone/>
            </a:pPr>
            <a:r>
              <a:rPr sz="2400" b="1" i="0">
                <a:solidFill>
                  <a:srgbClr val="FFFFFF"/>
                </a:solidFill>
                <a:latin typeface="Lato"/>
                <a:ea typeface="Lato"/>
                <a:cs typeface="Lato"/>
              </a:rPr>
              <a:t>dimensions</a:t>
            </a:r>
            <a:endParaRPr/>
          </a:p>
        </p:txBody>
      </p:sp>
      <p:sp>
        <p:nvSpPr>
          <p:cNvPr id="324" name="Google Shape;324;p13">
            <a:extLst xmlns:a="http://schemas.openxmlformats.org/drawingml/2006/main">
              <a:ext uri="{FF2B5EF4-FFF2-40B4-BE49-F238E27FC236}">
                <a16:creationId xmlns:a16="http://schemas.microsoft.com/office/drawing/2014/main" id="{46911EBE-4275-4BD6-834A-DCFDE22DE77C}"/>
              </a:ext>
            </a:extLst>
          </p:cNvPr>
          <p:cNvSpPr>
            <a:spLocks xmlns:a="http://schemas.openxmlformats.org/drawingml/2006/main" noGrp="1"/>
          </p:cNvSpPr>
          <p:nvPr/>
        </p:nvSpPr>
        <p:spPr>
          <a:xfrm xmlns:a="http://schemas.openxmlformats.org/drawingml/2006/main">
            <a:off x="1028700" y="3676650"/>
            <a:ext cx="2333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D7E5EC"/>
              </a:buClr>
              <a:buSzPts val="1650"/>
              <a:buFont typeface="Lato"/>
              <a:buNone/>
            </a:pPr>
            <a:r>
              <a:rPr sz="1650" b="0" i="0">
                <a:solidFill>
                  <a:srgbClr val="D7E5EC"/>
                </a:solidFill>
                <a:latin typeface="Lato"/>
                <a:ea typeface="Lato"/>
                <a:cs typeface="Lato"/>
              </a:rPr>
              <a:t>must align before analysis</a:t>
            </a:r>
            <a:endParaRPr/>
          </a:p>
        </p:txBody>
      </p:sp>
      <p:sp>
        <p:nvSpPr>
          <p:cNvPr id="325" name="Google Shape;325;p13">
            <a:extLst xmlns:a="http://schemas.openxmlformats.org/drawingml/2006/main">
              <a:ext uri="{FF2B5EF4-FFF2-40B4-BE49-F238E27FC236}">
                <a16:creationId xmlns:a16="http://schemas.microsoft.com/office/drawing/2014/main" id="{AD8FFE51-4590-424F-B531-901082324EAD}"/>
              </a:ext>
            </a:extLst>
          </p:cNvPr>
          <p:cNvSpPr>
            <a:spLocks xmlns:a="http://schemas.openxmlformats.org/drawingml/2006/main" noGrp="1"/>
          </p:cNvSpPr>
          <p:nvPr/>
        </p:nvSpPr>
        <p:spPr>
          <a:xfrm xmlns:a="http://schemas.openxmlformats.org/drawingml/2006/main">
            <a:off x="1028700" y="4762500"/>
            <a:ext cx="2047875"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26" name="Google Shape;326;p13">
            <a:extLst xmlns:a="http://schemas.openxmlformats.org/drawingml/2006/main">
              <a:ext uri="{FF2B5EF4-FFF2-40B4-BE49-F238E27FC236}">
                <a16:creationId xmlns:a16="http://schemas.microsoft.com/office/drawing/2014/main" id="{B8C7BDB8-2287-40CE-85B2-C8E684637D02}"/>
              </a:ext>
            </a:extLst>
          </p:cNvPr>
          <p:cNvSpPr>
            <a:spLocks xmlns:a="http://schemas.openxmlformats.org/drawingml/2006/main" noGrp="1"/>
          </p:cNvSpPr>
          <p:nvPr/>
        </p:nvSpPr>
        <p:spPr>
          <a:xfrm xmlns:a="http://schemas.openxmlformats.org/drawingml/2006/main">
            <a:off x="1028700" y="4972050"/>
            <a:ext cx="2286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Subset, harmonize and combine</a:t>
            </a:r>
            <a:endParaRPr/>
          </a:p>
        </p:txBody>
      </p:sp>
      <p:sp>
        <p:nvSpPr>
          <p:cNvPr id="327" name="Google Shape;327;p13">
            <a:extLst xmlns:a="http://schemas.openxmlformats.org/drawingml/2006/main">
              <a:ext uri="{FF2B5EF4-FFF2-40B4-BE49-F238E27FC236}">
                <a16:creationId xmlns:a16="http://schemas.microsoft.com/office/drawing/2014/main" id="{BD00EB61-31B1-4206-832A-01E87BB6D498}"/>
              </a:ext>
            </a:extLst>
          </p:cNvPr>
          <p:cNvSpPr>
            <a:spLocks xmlns:a="http://schemas.openxmlformats.org/drawingml/2006/main" noGrp="1"/>
          </p:cNvSpPr>
          <p:nvPr/>
        </p:nvSpPr>
        <p:spPr>
          <a:xfrm xmlns:a="http://schemas.openxmlformats.org/drawingml/2006/main">
            <a:off x="4572000" y="178117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01</a:t>
            </a:r>
            <a:endParaRPr/>
          </a:p>
        </p:txBody>
      </p:sp>
      <p:sp>
        <p:nvSpPr>
          <p:cNvPr id="328" name="Google Shape;328;p13">
            <a:extLst xmlns:a="http://schemas.openxmlformats.org/drawingml/2006/main">
              <a:ext uri="{FF2B5EF4-FFF2-40B4-BE49-F238E27FC236}">
                <a16:creationId xmlns:a16="http://schemas.microsoft.com/office/drawing/2014/main" id="{74A27710-B91B-4ABF-9B21-C4B29062206B}"/>
              </a:ext>
            </a:extLst>
          </p:cNvPr>
          <p:cNvSpPr>
            <a:spLocks xmlns:a="http://schemas.openxmlformats.org/drawingml/2006/main" noGrp="1"/>
          </p:cNvSpPr>
          <p:nvPr/>
        </p:nvSpPr>
        <p:spPr>
          <a:xfrm xmlns:a="http://schemas.openxmlformats.org/drawingml/2006/main">
            <a:off x="5162550" y="174307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MODELS</a:t>
            </a:r>
            <a:endParaRPr/>
          </a:p>
        </p:txBody>
      </p:sp>
      <p:sp>
        <p:nvSpPr>
          <p:cNvPr id="329" name="Google Shape;329;p13">
            <a:extLst xmlns:a="http://schemas.openxmlformats.org/drawingml/2006/main">
              <a:ext uri="{FF2B5EF4-FFF2-40B4-BE49-F238E27FC236}">
                <a16:creationId xmlns:a16="http://schemas.microsoft.com/office/drawing/2014/main" id="{E9DA9EB7-0B69-4687-BE7F-D46688DB4EDB}"/>
              </a:ext>
            </a:extLst>
          </p:cNvPr>
          <p:cNvSpPr>
            <a:spLocks xmlns:a="http://schemas.openxmlformats.org/drawingml/2006/main" noGrp="1"/>
          </p:cNvSpPr>
          <p:nvPr/>
        </p:nvSpPr>
        <p:spPr>
          <a:xfrm xmlns:a="http://schemas.openxmlformats.org/drawingml/2006/main">
            <a:off x="6953250" y="174307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Several GCM–RCM combinations</a:t>
            </a:r>
            <a:endParaRPr/>
          </a:p>
        </p:txBody>
      </p:sp>
      <p:sp>
        <p:nvSpPr>
          <p:cNvPr id="330" name="Google Shape;330;p13">
            <a:extLst xmlns:a="http://schemas.openxmlformats.org/drawingml/2006/main">
              <a:ext uri="{FF2B5EF4-FFF2-40B4-BE49-F238E27FC236}">
                <a16:creationId xmlns:a16="http://schemas.microsoft.com/office/drawing/2014/main" id="{7AE954AA-6EDD-4B75-9D97-8D779CC2D1EA}"/>
              </a:ext>
            </a:extLst>
          </p:cNvPr>
          <p:cNvSpPr>
            <a:spLocks xmlns:a="http://schemas.openxmlformats.org/drawingml/2006/main" noGrp="1"/>
          </p:cNvSpPr>
          <p:nvPr/>
        </p:nvSpPr>
        <p:spPr>
          <a:xfrm xmlns:a="http://schemas.openxmlformats.org/drawingml/2006/main">
            <a:off x="4572000" y="219075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1" name="Google Shape;331;p13">
            <a:extLst xmlns:a="http://schemas.openxmlformats.org/drawingml/2006/main">
              <a:ext uri="{FF2B5EF4-FFF2-40B4-BE49-F238E27FC236}">
                <a16:creationId xmlns:a16="http://schemas.microsoft.com/office/drawing/2014/main" id="{A1FC3AEC-EBFD-466F-B7D6-56C9F2304F12}"/>
              </a:ext>
            </a:extLst>
          </p:cNvPr>
          <p:cNvSpPr>
            <a:spLocks xmlns:a="http://schemas.openxmlformats.org/drawingml/2006/main" noGrp="1"/>
          </p:cNvSpPr>
          <p:nvPr/>
        </p:nvSpPr>
        <p:spPr>
          <a:xfrm xmlns:a="http://schemas.openxmlformats.org/drawingml/2006/main">
            <a:off x="4572000" y="240030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02</a:t>
            </a:r>
            <a:endParaRPr/>
          </a:p>
        </p:txBody>
      </p:sp>
      <p:sp>
        <p:nvSpPr>
          <p:cNvPr id="332" name="Google Shape;332;p13">
            <a:extLst xmlns:a="http://schemas.openxmlformats.org/drawingml/2006/main">
              <a:ext uri="{FF2B5EF4-FFF2-40B4-BE49-F238E27FC236}">
                <a16:creationId xmlns:a16="http://schemas.microsoft.com/office/drawing/2014/main" id="{27596CDF-BB61-4EAF-8347-7E84E42E28DD}"/>
              </a:ext>
            </a:extLst>
          </p:cNvPr>
          <p:cNvSpPr>
            <a:spLocks xmlns:a="http://schemas.openxmlformats.org/drawingml/2006/main" noGrp="1"/>
          </p:cNvSpPr>
          <p:nvPr/>
        </p:nvSpPr>
        <p:spPr>
          <a:xfrm xmlns:a="http://schemas.openxmlformats.org/drawingml/2006/main">
            <a:off x="5162550" y="236220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SCENARIOS</a:t>
            </a:r>
            <a:endParaRPr/>
          </a:p>
        </p:txBody>
      </p:sp>
      <p:sp>
        <p:nvSpPr>
          <p:cNvPr id="333" name="Google Shape;333;p13">
            <a:extLst xmlns:a="http://schemas.openxmlformats.org/drawingml/2006/main">
              <a:ext uri="{FF2B5EF4-FFF2-40B4-BE49-F238E27FC236}">
                <a16:creationId xmlns:a16="http://schemas.microsoft.com/office/drawing/2014/main" id="{ED9ECCFF-62A3-4F1F-88E5-0590E0137763}"/>
              </a:ext>
            </a:extLst>
          </p:cNvPr>
          <p:cNvSpPr>
            <a:spLocks xmlns:a="http://schemas.openxmlformats.org/drawingml/2006/main" noGrp="1"/>
          </p:cNvSpPr>
          <p:nvPr/>
        </p:nvSpPr>
        <p:spPr>
          <a:xfrm xmlns:a="http://schemas.openxmlformats.org/drawingml/2006/main">
            <a:off x="6953250" y="236220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Alternative future pathways</a:t>
            </a:r>
            <a:endParaRPr/>
          </a:p>
        </p:txBody>
      </p:sp>
      <p:sp>
        <p:nvSpPr>
          <p:cNvPr id="334" name="Google Shape;334;p13">
            <a:extLst xmlns:a="http://schemas.openxmlformats.org/drawingml/2006/main">
              <a:ext uri="{FF2B5EF4-FFF2-40B4-BE49-F238E27FC236}">
                <a16:creationId xmlns:a16="http://schemas.microsoft.com/office/drawing/2014/main" id="{6C30E9AC-5780-4185-A67B-204E8D51DBEA}"/>
              </a:ext>
            </a:extLst>
          </p:cNvPr>
          <p:cNvSpPr>
            <a:spLocks xmlns:a="http://schemas.openxmlformats.org/drawingml/2006/main" noGrp="1"/>
          </p:cNvSpPr>
          <p:nvPr/>
        </p:nvSpPr>
        <p:spPr>
          <a:xfrm xmlns:a="http://schemas.openxmlformats.org/drawingml/2006/main">
            <a:off x="4572000" y="2809875"/>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5" name="Google Shape;335;p13">
            <a:extLst xmlns:a="http://schemas.openxmlformats.org/drawingml/2006/main">
              <a:ext uri="{FF2B5EF4-FFF2-40B4-BE49-F238E27FC236}">
                <a16:creationId xmlns:a16="http://schemas.microsoft.com/office/drawing/2014/main" id="{CB53AB13-0862-4765-AAFE-4F110E6FC069}"/>
              </a:ext>
            </a:extLst>
          </p:cNvPr>
          <p:cNvSpPr>
            <a:spLocks xmlns:a="http://schemas.openxmlformats.org/drawingml/2006/main" noGrp="1"/>
          </p:cNvSpPr>
          <p:nvPr/>
        </p:nvSpPr>
        <p:spPr>
          <a:xfrm xmlns:a="http://schemas.openxmlformats.org/drawingml/2006/main">
            <a:off x="4572000" y="301942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03</a:t>
            </a:r>
            <a:endParaRPr/>
          </a:p>
        </p:txBody>
      </p:sp>
      <p:sp>
        <p:nvSpPr>
          <p:cNvPr id="336" name="Google Shape;336;p13">
            <a:extLst xmlns:a="http://schemas.openxmlformats.org/drawingml/2006/main">
              <a:ext uri="{FF2B5EF4-FFF2-40B4-BE49-F238E27FC236}">
                <a16:creationId xmlns:a16="http://schemas.microsoft.com/office/drawing/2014/main" id="{D443867A-B935-4E57-A79A-7864B46F6D14}"/>
              </a:ext>
            </a:extLst>
          </p:cNvPr>
          <p:cNvSpPr>
            <a:spLocks xmlns:a="http://schemas.openxmlformats.org/drawingml/2006/main" noGrp="1"/>
          </p:cNvSpPr>
          <p:nvPr/>
        </p:nvSpPr>
        <p:spPr>
          <a:xfrm xmlns:a="http://schemas.openxmlformats.org/drawingml/2006/main">
            <a:off x="5162550" y="298132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VARIABLES</a:t>
            </a:r>
            <a:endParaRPr/>
          </a:p>
        </p:txBody>
      </p:sp>
      <p:sp>
        <p:nvSpPr>
          <p:cNvPr id="337" name="Google Shape;337;p13">
            <a:extLst xmlns:a="http://schemas.openxmlformats.org/drawingml/2006/main">
              <a:ext uri="{FF2B5EF4-FFF2-40B4-BE49-F238E27FC236}">
                <a16:creationId xmlns:a16="http://schemas.microsoft.com/office/drawing/2014/main" id="{D8A9F572-41BB-42DE-A1E8-53D56D4DB01B}"/>
              </a:ext>
            </a:extLst>
          </p:cNvPr>
          <p:cNvSpPr>
            <a:spLocks xmlns:a="http://schemas.openxmlformats.org/drawingml/2006/main" noGrp="1"/>
          </p:cNvSpPr>
          <p:nvPr/>
        </p:nvSpPr>
        <p:spPr>
          <a:xfrm xmlns:a="http://schemas.openxmlformats.org/drawingml/2006/main">
            <a:off x="6953250" y="298132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Temperature, precipitation and more</a:t>
            </a:r>
            <a:endParaRPr/>
          </a:p>
        </p:txBody>
      </p:sp>
      <p:sp>
        <p:nvSpPr>
          <p:cNvPr id="338" name="Google Shape;338;p13">
            <a:extLst xmlns:a="http://schemas.openxmlformats.org/drawingml/2006/main">
              <a:ext uri="{FF2B5EF4-FFF2-40B4-BE49-F238E27FC236}">
                <a16:creationId xmlns:a16="http://schemas.microsoft.com/office/drawing/2014/main" id="{1633E232-5C51-4C02-BC19-4F93CA0A8947}"/>
              </a:ext>
            </a:extLst>
          </p:cNvPr>
          <p:cNvSpPr>
            <a:spLocks xmlns:a="http://schemas.openxmlformats.org/drawingml/2006/main" noGrp="1"/>
          </p:cNvSpPr>
          <p:nvPr/>
        </p:nvSpPr>
        <p:spPr>
          <a:xfrm xmlns:a="http://schemas.openxmlformats.org/drawingml/2006/main">
            <a:off x="4572000" y="342900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9" name="Google Shape;339;p13">
            <a:extLst xmlns:a="http://schemas.openxmlformats.org/drawingml/2006/main">
              <a:ext uri="{FF2B5EF4-FFF2-40B4-BE49-F238E27FC236}">
                <a16:creationId xmlns:a16="http://schemas.microsoft.com/office/drawing/2014/main" id="{3DE45304-1093-40FD-ADFF-106B34A37784}"/>
              </a:ext>
            </a:extLst>
          </p:cNvPr>
          <p:cNvSpPr>
            <a:spLocks xmlns:a="http://schemas.openxmlformats.org/drawingml/2006/main" noGrp="1"/>
          </p:cNvSpPr>
          <p:nvPr/>
        </p:nvSpPr>
        <p:spPr>
          <a:xfrm xmlns:a="http://schemas.openxmlformats.org/drawingml/2006/main">
            <a:off x="4572000" y="363855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04</a:t>
            </a:r>
            <a:endParaRPr/>
          </a:p>
        </p:txBody>
      </p:sp>
      <p:sp>
        <p:nvSpPr>
          <p:cNvPr id="340" name="Google Shape;340;p13">
            <a:extLst xmlns:a="http://schemas.openxmlformats.org/drawingml/2006/main">
              <a:ext uri="{FF2B5EF4-FFF2-40B4-BE49-F238E27FC236}">
                <a16:creationId xmlns:a16="http://schemas.microsoft.com/office/drawing/2014/main" id="{B2665D8F-E8F4-47D9-B50E-AFB66CFD247D}"/>
              </a:ext>
            </a:extLst>
          </p:cNvPr>
          <p:cNvSpPr>
            <a:spLocks xmlns:a="http://schemas.openxmlformats.org/drawingml/2006/main" noGrp="1"/>
          </p:cNvSpPr>
          <p:nvPr/>
        </p:nvSpPr>
        <p:spPr>
          <a:xfrm xmlns:a="http://schemas.openxmlformats.org/drawingml/2006/main">
            <a:off x="5162550" y="36004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TIME</a:t>
            </a:r>
            <a:endParaRPr/>
          </a:p>
        </p:txBody>
      </p:sp>
      <p:sp>
        <p:nvSpPr>
          <p:cNvPr id="341" name="Google Shape;341;p13">
            <a:extLst xmlns:a="http://schemas.openxmlformats.org/drawingml/2006/main">
              <a:ext uri="{FF2B5EF4-FFF2-40B4-BE49-F238E27FC236}">
                <a16:creationId xmlns:a16="http://schemas.microsoft.com/office/drawing/2014/main" id="{565E819A-7A1C-4819-B576-9C4F31865BE8}"/>
              </a:ext>
            </a:extLst>
          </p:cNvPr>
          <p:cNvSpPr>
            <a:spLocks xmlns:a="http://schemas.openxmlformats.org/drawingml/2006/main" noGrp="1"/>
          </p:cNvSpPr>
          <p:nvPr/>
        </p:nvSpPr>
        <p:spPr>
          <a:xfrm xmlns:a="http://schemas.openxmlformats.org/drawingml/2006/main">
            <a:off x="6953250" y="360045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Historical and future periods</a:t>
            </a:r>
            <a:endParaRPr/>
          </a:p>
        </p:txBody>
      </p:sp>
      <p:sp>
        <p:nvSpPr>
          <p:cNvPr id="342" name="Google Shape;342;p13">
            <a:extLst xmlns:a="http://schemas.openxmlformats.org/drawingml/2006/main">
              <a:ext uri="{FF2B5EF4-FFF2-40B4-BE49-F238E27FC236}">
                <a16:creationId xmlns:a16="http://schemas.microsoft.com/office/drawing/2014/main" id="{FAC72DD1-6D88-4802-9606-1346003A62C3}"/>
              </a:ext>
            </a:extLst>
          </p:cNvPr>
          <p:cNvSpPr>
            <a:spLocks xmlns:a="http://schemas.openxmlformats.org/drawingml/2006/main" noGrp="1"/>
          </p:cNvSpPr>
          <p:nvPr/>
        </p:nvSpPr>
        <p:spPr>
          <a:xfrm xmlns:a="http://schemas.openxmlformats.org/drawingml/2006/main">
            <a:off x="4572000" y="4048125"/>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3" name="Google Shape;343;p13">
            <a:extLst xmlns:a="http://schemas.openxmlformats.org/drawingml/2006/main">
              <a:ext uri="{FF2B5EF4-FFF2-40B4-BE49-F238E27FC236}">
                <a16:creationId xmlns:a16="http://schemas.microsoft.com/office/drawing/2014/main" id="{EC28082F-759A-4EFD-9EF0-ABDA45EFD9E9}"/>
              </a:ext>
            </a:extLst>
          </p:cNvPr>
          <p:cNvSpPr>
            <a:spLocks xmlns:a="http://schemas.openxmlformats.org/drawingml/2006/main" noGrp="1"/>
          </p:cNvSpPr>
          <p:nvPr/>
        </p:nvSpPr>
        <p:spPr>
          <a:xfrm xmlns:a="http://schemas.openxmlformats.org/drawingml/2006/main">
            <a:off x="4572000" y="425767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05</a:t>
            </a:r>
            <a:endParaRPr/>
          </a:p>
        </p:txBody>
      </p:sp>
      <p:sp>
        <p:nvSpPr>
          <p:cNvPr id="344" name="Google Shape;344;p13">
            <a:extLst xmlns:a="http://schemas.openxmlformats.org/drawingml/2006/main">
              <a:ext uri="{FF2B5EF4-FFF2-40B4-BE49-F238E27FC236}">
                <a16:creationId xmlns:a16="http://schemas.microsoft.com/office/drawing/2014/main" id="{39DAA723-4ECB-4BAC-9CE8-372DA90374D6}"/>
              </a:ext>
            </a:extLst>
          </p:cNvPr>
          <p:cNvSpPr>
            <a:spLocks xmlns:a="http://schemas.openxmlformats.org/drawingml/2006/main" noGrp="1"/>
          </p:cNvSpPr>
          <p:nvPr/>
        </p:nvSpPr>
        <p:spPr>
          <a:xfrm xmlns:a="http://schemas.openxmlformats.org/drawingml/2006/main">
            <a:off x="5162550" y="421957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SPACE</a:t>
            </a:r>
            <a:endParaRPr/>
          </a:p>
        </p:txBody>
      </p:sp>
      <p:sp>
        <p:nvSpPr>
          <p:cNvPr id="345" name="Google Shape;345;p13">
            <a:extLst xmlns:a="http://schemas.openxmlformats.org/drawingml/2006/main">
              <a:ext uri="{FF2B5EF4-FFF2-40B4-BE49-F238E27FC236}">
                <a16:creationId xmlns:a16="http://schemas.microsoft.com/office/drawing/2014/main" id="{F6C1CFDD-F90A-4B2D-9E54-1A6543877BFF}"/>
              </a:ext>
            </a:extLst>
          </p:cNvPr>
          <p:cNvSpPr>
            <a:spLocks xmlns:a="http://schemas.openxmlformats.org/drawingml/2006/main" noGrp="1"/>
          </p:cNvSpPr>
          <p:nvPr/>
        </p:nvSpPr>
        <p:spPr>
          <a:xfrm xmlns:a="http://schemas.openxmlformats.org/drawingml/2006/main">
            <a:off x="6953250" y="421957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Domains, grids and project boundaries</a:t>
            </a:r>
            <a:endParaRPr/>
          </a:p>
        </p:txBody>
      </p:sp>
      <p:sp>
        <p:nvSpPr>
          <p:cNvPr id="346" name="Google Shape;346;p13">
            <a:extLst xmlns:a="http://schemas.openxmlformats.org/drawingml/2006/main">
              <a:ext uri="{FF2B5EF4-FFF2-40B4-BE49-F238E27FC236}">
                <a16:creationId xmlns:a16="http://schemas.microsoft.com/office/drawing/2014/main" id="{AF946096-31AD-4F15-AAC7-C61EAEF4CAF1}"/>
              </a:ext>
            </a:extLst>
          </p:cNvPr>
          <p:cNvSpPr>
            <a:spLocks xmlns:a="http://schemas.openxmlformats.org/drawingml/2006/main" noGrp="1"/>
          </p:cNvSpPr>
          <p:nvPr/>
        </p:nvSpPr>
        <p:spPr>
          <a:xfrm xmlns:a="http://schemas.openxmlformats.org/drawingml/2006/main">
            <a:off x="4572000" y="466725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7" name="Google Shape;347;p13">
            <a:extLst xmlns:a="http://schemas.openxmlformats.org/drawingml/2006/main">
              <a:ext uri="{FF2B5EF4-FFF2-40B4-BE49-F238E27FC236}">
                <a16:creationId xmlns:a16="http://schemas.microsoft.com/office/drawing/2014/main" id="{BA4B0FC6-6E00-4F16-AE56-D746DD8CD76A}"/>
              </a:ext>
            </a:extLst>
          </p:cNvPr>
          <p:cNvSpPr>
            <a:spLocks xmlns:a="http://schemas.openxmlformats.org/drawingml/2006/main" noGrp="1"/>
          </p:cNvSpPr>
          <p:nvPr/>
        </p:nvSpPr>
        <p:spPr>
          <a:xfrm xmlns:a="http://schemas.openxmlformats.org/drawingml/2006/main">
            <a:off x="4572000" y="487680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06</a:t>
            </a:r>
            <a:endParaRPr/>
          </a:p>
        </p:txBody>
      </p:sp>
      <p:sp>
        <p:nvSpPr>
          <p:cNvPr id="348" name="Google Shape;348;p13">
            <a:extLst xmlns:a="http://schemas.openxmlformats.org/drawingml/2006/main">
              <a:ext uri="{FF2B5EF4-FFF2-40B4-BE49-F238E27FC236}">
                <a16:creationId xmlns:a16="http://schemas.microsoft.com/office/drawing/2014/main" id="{92F760E3-E771-4B7C-B129-8BA594E028F9}"/>
              </a:ext>
            </a:extLst>
          </p:cNvPr>
          <p:cNvSpPr>
            <a:spLocks xmlns:a="http://schemas.openxmlformats.org/drawingml/2006/main" noGrp="1"/>
          </p:cNvSpPr>
          <p:nvPr/>
        </p:nvSpPr>
        <p:spPr>
          <a:xfrm xmlns:a="http://schemas.openxmlformats.org/drawingml/2006/main">
            <a:off x="5162550" y="483870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FORMATS</a:t>
            </a:r>
            <a:endParaRPr/>
          </a:p>
        </p:txBody>
      </p:sp>
      <p:sp>
        <p:nvSpPr>
          <p:cNvPr id="349" name="Google Shape;349;p13">
            <a:extLst xmlns:a="http://schemas.openxmlformats.org/drawingml/2006/main">
              <a:ext uri="{FF2B5EF4-FFF2-40B4-BE49-F238E27FC236}">
                <a16:creationId xmlns:a16="http://schemas.microsoft.com/office/drawing/2014/main" id="{FF18CA29-0E80-4C3C-BA77-963F5270A9CC}"/>
              </a:ext>
            </a:extLst>
          </p:cNvPr>
          <p:cNvSpPr>
            <a:spLocks xmlns:a="http://schemas.openxmlformats.org/drawingml/2006/main" noGrp="1"/>
          </p:cNvSpPr>
          <p:nvPr/>
        </p:nvSpPr>
        <p:spPr>
          <a:xfrm xmlns:a="http://schemas.openxmlformats.org/drawingml/2006/main">
            <a:off x="6953250" y="483870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Units, calendars and file conventions</a:t>
            </a:r>
            <a:endParaRPr/>
          </a:p>
        </p:txBody>
      </p:sp>
    </p:spTree>
    <p:extLst>
      <p:ext uri="{BB962C8B-B14F-4D97-AF65-F5344CB8AC3E}">
        <p14:creationId xmlns:p14="http://schemas.microsoft.com/office/powerpoint/2010/main" val="1536934053"/>
      </p:ext>
    </p:extLst>
  </p:cSld>
</p:sld>
</file>

<file path=ppt/slides/slide1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5" name="Google Shape;355;p14">
            <a:extLst xmlns:a="http://schemas.openxmlformats.org/drawingml/2006/main">
              <a:ext uri="{FF2B5EF4-FFF2-40B4-BE49-F238E27FC236}">
                <a16:creationId xmlns:a16="http://schemas.microsoft.com/office/drawing/2014/main" id="{2B38DA5F-BAA1-4A91-A575-C476B553B6EB}"/>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Model bias</a:t>
            </a:r>
            <a:endParaRPr/>
          </a:p>
        </p:txBody>
      </p:sp>
      <p:sp>
        <p:nvSpPr>
          <p:cNvPr id="356" name="Google Shape;356;p14">
            <a:extLst xmlns:a="http://schemas.openxmlformats.org/drawingml/2006/main">
              <a:ext uri="{FF2B5EF4-FFF2-40B4-BE49-F238E27FC236}">
                <a16:creationId xmlns:a16="http://schemas.microsoft.com/office/drawing/2014/main" id="{4359D04C-39C6-47B8-84FE-3006E5E89256}"/>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climate model may reproduce the broad climate while showing systematic differences from a reference dataset</a:t>
            </a:r>
            <a:endParaRPr/>
          </a:p>
        </p:txBody>
      </p:sp>
      <p:sp>
        <p:nvSpPr>
          <p:cNvPr id="357" name="Google Shape;357;p14">
            <a:extLst xmlns:a="http://schemas.openxmlformats.org/drawingml/2006/main">
              <a:ext uri="{FF2B5EF4-FFF2-40B4-BE49-F238E27FC236}">
                <a16:creationId xmlns:a16="http://schemas.microsoft.com/office/drawing/2014/main" id="{3DF127A3-3CA6-4BB2-854B-EF98C5EEC7C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8" name="Google Shape;358;p14">
            <a:extLst xmlns:a="http://schemas.openxmlformats.org/drawingml/2006/main">
              <a:ext uri="{FF2B5EF4-FFF2-40B4-BE49-F238E27FC236}">
                <a16:creationId xmlns:a16="http://schemas.microsoft.com/office/drawing/2014/main" id="{DE66EFA2-3EC8-4D50-B30C-DA31940A94DA}"/>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9" name="Google Shape;359;p14">
            <a:extLst xmlns:a="http://schemas.openxmlformats.org/drawingml/2006/main">
              <a:ext uri="{FF2B5EF4-FFF2-40B4-BE49-F238E27FC236}">
                <a16:creationId xmlns:a16="http://schemas.microsoft.com/office/drawing/2014/main" id="{AB3F562F-D517-4CEC-A123-4EC5A86CAEF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0" name="Google Shape;360;p14">
            <a:extLst xmlns:a="http://schemas.openxmlformats.org/drawingml/2006/main">
              <a:ext uri="{FF2B5EF4-FFF2-40B4-BE49-F238E27FC236}">
                <a16:creationId xmlns:a16="http://schemas.microsoft.com/office/drawing/2014/main" id="{5390F2DE-50C5-48D6-A906-443AE1DB2B3C}"/>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61" name="Google Shape;361;p14">
            <a:extLst xmlns:a="http://schemas.openxmlformats.org/drawingml/2006/main">
              <a:ext uri="{FF2B5EF4-FFF2-40B4-BE49-F238E27FC236}">
                <a16:creationId xmlns:a16="http://schemas.microsoft.com/office/drawing/2014/main" id="{5F42FB36-3562-4C24-BCD5-0F527ABCA80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12</a:t>
            </a:r>
            <a:endParaRPr/>
          </a:p>
        </p:txBody>
      </p:sp>
      <p:sp>
        <p:nvSpPr>
          <p:cNvPr id="362" name="Google Shape;362;p14">
            <a:extLst xmlns:a="http://schemas.openxmlformats.org/drawingml/2006/main">
              <a:ext uri="{FF2B5EF4-FFF2-40B4-BE49-F238E27FC236}">
                <a16:creationId xmlns:a16="http://schemas.microsoft.com/office/drawing/2014/main" id="{8C30E8AC-6204-409F-BFF3-118350856B49}"/>
              </a:ext>
            </a:extLst>
          </p:cNvPr>
          <p:cNvSpPr>
            <a:spLocks xmlns:a="http://schemas.openxmlformats.org/drawingml/2006/main" noGrp="1"/>
          </p:cNvSpPr>
          <p:nvPr/>
        </p:nvSpPr>
        <p:spPr>
          <a:xfrm xmlns:a="http://schemas.openxmlformats.org/drawingml/2006/main">
            <a:off x="952500" y="1905000"/>
            <a:ext cx="476250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3" name="Google Shape;363;p14">
            <a:extLst xmlns:a="http://schemas.openxmlformats.org/drawingml/2006/main">
              <a:ext uri="{FF2B5EF4-FFF2-40B4-BE49-F238E27FC236}">
                <a16:creationId xmlns:a16="http://schemas.microsoft.com/office/drawing/2014/main" id="{CF55D1E5-76C1-4302-B08F-B91CC2FA253F}"/>
              </a:ext>
            </a:extLst>
          </p:cNvPr>
          <p:cNvSpPr>
            <a:spLocks xmlns:a="http://schemas.openxmlformats.org/drawingml/2006/main" noGrp="1"/>
          </p:cNvSpPr>
          <p:nvPr/>
        </p:nvSpPr>
        <p:spPr>
          <a:xfrm xmlns:a="http://schemas.openxmlformats.org/drawingml/2006/main">
            <a:off x="1219200" y="2095500"/>
            <a:ext cx="422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Illustrative historical distribution</a:t>
            </a:r>
            <a:endParaRPr/>
          </a:p>
        </p:txBody>
      </p:sp>
      <p:sp>
        <p:nvSpPr>
          <p:cNvPr id="364" name="Google Shape;364;p14">
            <a:extLst xmlns:a="http://schemas.openxmlformats.org/drawingml/2006/main">
              <a:ext uri="{FF2B5EF4-FFF2-40B4-BE49-F238E27FC236}">
                <a16:creationId xmlns:a16="http://schemas.microsoft.com/office/drawing/2014/main" id="{09B74828-825E-45FD-A739-667A25395413}"/>
              </a:ext>
            </a:extLst>
          </p:cNvPr>
          <p:cNvSpPr>
            <a:spLocks xmlns:a="http://schemas.openxmlformats.org/drawingml/2006/main" noGrp="1"/>
          </p:cNvSpPr>
          <p:nvPr/>
        </p:nvSpPr>
        <p:spPr>
          <a:xfrm xmlns:a="http://schemas.openxmlformats.org/drawingml/2006/main">
            <a:off x="1381125" y="4238625"/>
            <a:ext cx="3762375" cy="190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5" name="Google Shape;365;p14">
            <a:extLst xmlns:a="http://schemas.openxmlformats.org/drawingml/2006/main">
              <a:ext uri="{FF2B5EF4-FFF2-40B4-BE49-F238E27FC236}">
                <a16:creationId xmlns:a16="http://schemas.microsoft.com/office/drawing/2014/main" id="{6B76EBA7-2A74-499C-9F8B-3F139F2CC1F5}"/>
              </a:ext>
            </a:extLst>
          </p:cNvPr>
          <p:cNvSpPr>
            <a:spLocks xmlns:a="http://schemas.openxmlformats.org/drawingml/2006/main" noGrp="1"/>
          </p:cNvSpPr>
          <p:nvPr/>
        </p:nvSpPr>
        <p:spPr>
          <a:xfrm xmlns:a="http://schemas.openxmlformats.org/drawingml/2006/main">
            <a:off x="1381125" y="2667000"/>
            <a:ext cx="19050" cy="1571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6" name="Google Shape;366;p14">
            <a:extLst xmlns:a="http://schemas.openxmlformats.org/drawingml/2006/main">
              <a:ext uri="{FF2B5EF4-FFF2-40B4-BE49-F238E27FC236}">
                <a16:creationId xmlns:a16="http://schemas.microsoft.com/office/drawing/2014/main" id="{41CA36C2-7CAE-44CC-8DF2-56B9E4E97934}"/>
              </a:ext>
            </a:extLst>
          </p:cNvPr>
          <p:cNvSpPr>
            <a:spLocks xmlns:a="http://schemas.openxmlformats.org/drawingml/2006/main" noGrp="1"/>
          </p:cNvSpPr>
          <p:nvPr/>
        </p:nvSpPr>
        <p:spPr>
          <a:xfrm xmlns:a="http://schemas.openxmlformats.org/drawingml/2006/main">
            <a:off x="1666875" y="4048125"/>
            <a:ext cx="114300" cy="1905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7" name="Google Shape;367;p14">
            <a:extLst xmlns:a="http://schemas.openxmlformats.org/drawingml/2006/main">
              <a:ext uri="{FF2B5EF4-FFF2-40B4-BE49-F238E27FC236}">
                <a16:creationId xmlns:a16="http://schemas.microsoft.com/office/drawing/2014/main" id="{36807850-FDBF-4625-BFC2-6B73CB8ED78B}"/>
              </a:ext>
            </a:extLst>
          </p:cNvPr>
          <p:cNvSpPr>
            <a:spLocks xmlns:a="http://schemas.openxmlformats.org/drawingml/2006/main" noGrp="1"/>
          </p:cNvSpPr>
          <p:nvPr/>
        </p:nvSpPr>
        <p:spPr>
          <a:xfrm xmlns:a="http://schemas.openxmlformats.org/drawingml/2006/main">
            <a:off x="1809750" y="4162425"/>
            <a:ext cx="114300" cy="762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8" name="Google Shape;368;p14">
            <a:extLst xmlns:a="http://schemas.openxmlformats.org/drawingml/2006/main">
              <a:ext uri="{FF2B5EF4-FFF2-40B4-BE49-F238E27FC236}">
                <a16:creationId xmlns:a16="http://schemas.microsoft.com/office/drawing/2014/main" id="{61197FF2-EC94-48CE-BE32-060C66986BC3}"/>
              </a:ext>
            </a:extLst>
          </p:cNvPr>
          <p:cNvSpPr>
            <a:spLocks xmlns:a="http://schemas.openxmlformats.org/drawingml/2006/main" noGrp="1"/>
          </p:cNvSpPr>
          <p:nvPr/>
        </p:nvSpPr>
        <p:spPr>
          <a:xfrm xmlns:a="http://schemas.openxmlformats.org/drawingml/2006/main">
            <a:off x="2009775" y="3876675"/>
            <a:ext cx="114300" cy="3619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9" name="Google Shape;369;p14">
            <a:extLst xmlns:a="http://schemas.openxmlformats.org/drawingml/2006/main">
              <a:ext uri="{FF2B5EF4-FFF2-40B4-BE49-F238E27FC236}">
                <a16:creationId xmlns:a16="http://schemas.microsoft.com/office/drawing/2014/main" id="{50F84E82-62DD-425B-9221-5D6007B427E4}"/>
              </a:ext>
            </a:extLst>
          </p:cNvPr>
          <p:cNvSpPr>
            <a:spLocks xmlns:a="http://schemas.openxmlformats.org/drawingml/2006/main" noGrp="1"/>
          </p:cNvSpPr>
          <p:nvPr/>
        </p:nvSpPr>
        <p:spPr>
          <a:xfrm xmlns:a="http://schemas.openxmlformats.org/drawingml/2006/main">
            <a:off x="2152650" y="4057650"/>
            <a:ext cx="114300" cy="1809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0" name="Google Shape;370;p14">
            <a:extLst xmlns:a="http://schemas.openxmlformats.org/drawingml/2006/main">
              <a:ext uri="{FF2B5EF4-FFF2-40B4-BE49-F238E27FC236}">
                <a16:creationId xmlns:a16="http://schemas.microsoft.com/office/drawing/2014/main" id="{470F1748-9ED6-45DE-9CEE-CB848719F63A}"/>
              </a:ext>
            </a:extLst>
          </p:cNvPr>
          <p:cNvSpPr>
            <a:spLocks xmlns:a="http://schemas.openxmlformats.org/drawingml/2006/main" noGrp="1"/>
          </p:cNvSpPr>
          <p:nvPr/>
        </p:nvSpPr>
        <p:spPr>
          <a:xfrm xmlns:a="http://schemas.openxmlformats.org/drawingml/2006/main">
            <a:off x="2352675" y="3609975"/>
            <a:ext cx="114300" cy="6286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1" name="Google Shape;371;p14">
            <a:extLst xmlns:a="http://schemas.openxmlformats.org/drawingml/2006/main">
              <a:ext uri="{FF2B5EF4-FFF2-40B4-BE49-F238E27FC236}">
                <a16:creationId xmlns:a16="http://schemas.microsoft.com/office/drawing/2014/main" id="{7C87CEB7-B8C0-4F75-8269-B34DD52A9533}"/>
              </a:ext>
            </a:extLst>
          </p:cNvPr>
          <p:cNvSpPr>
            <a:spLocks xmlns:a="http://schemas.openxmlformats.org/drawingml/2006/main" noGrp="1"/>
          </p:cNvSpPr>
          <p:nvPr/>
        </p:nvSpPr>
        <p:spPr>
          <a:xfrm xmlns:a="http://schemas.openxmlformats.org/drawingml/2006/main">
            <a:off x="2495550" y="3876675"/>
            <a:ext cx="114300" cy="361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2" name="Google Shape;372;p14">
            <a:extLst xmlns:a="http://schemas.openxmlformats.org/drawingml/2006/main">
              <a:ext uri="{FF2B5EF4-FFF2-40B4-BE49-F238E27FC236}">
                <a16:creationId xmlns:a16="http://schemas.microsoft.com/office/drawing/2014/main" id="{BCE47359-FC1F-40D2-9D5F-7B00FDA2F1C2}"/>
              </a:ext>
            </a:extLst>
          </p:cNvPr>
          <p:cNvSpPr>
            <a:spLocks xmlns:a="http://schemas.openxmlformats.org/drawingml/2006/main" noGrp="1"/>
          </p:cNvSpPr>
          <p:nvPr/>
        </p:nvSpPr>
        <p:spPr>
          <a:xfrm xmlns:a="http://schemas.openxmlformats.org/drawingml/2006/main">
            <a:off x="2695575" y="3238500"/>
            <a:ext cx="114300" cy="10001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3" name="Google Shape;373;p14">
            <a:extLst xmlns:a="http://schemas.openxmlformats.org/drawingml/2006/main">
              <a:ext uri="{FF2B5EF4-FFF2-40B4-BE49-F238E27FC236}">
                <a16:creationId xmlns:a16="http://schemas.microsoft.com/office/drawing/2014/main" id="{E2E24091-2836-4898-8ACF-861C678BCEE9}"/>
              </a:ext>
            </a:extLst>
          </p:cNvPr>
          <p:cNvSpPr>
            <a:spLocks xmlns:a="http://schemas.openxmlformats.org/drawingml/2006/main" noGrp="1"/>
          </p:cNvSpPr>
          <p:nvPr/>
        </p:nvSpPr>
        <p:spPr>
          <a:xfrm xmlns:a="http://schemas.openxmlformats.org/drawingml/2006/main">
            <a:off x="2838450" y="3571875"/>
            <a:ext cx="114300" cy="6667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4" name="Google Shape;374;p14">
            <a:extLst xmlns:a="http://schemas.openxmlformats.org/drawingml/2006/main">
              <a:ext uri="{FF2B5EF4-FFF2-40B4-BE49-F238E27FC236}">
                <a16:creationId xmlns:a16="http://schemas.microsoft.com/office/drawing/2014/main" id="{F80967E5-F395-4583-B626-EF0B26DD9549}"/>
              </a:ext>
            </a:extLst>
          </p:cNvPr>
          <p:cNvSpPr>
            <a:spLocks xmlns:a="http://schemas.openxmlformats.org/drawingml/2006/main" noGrp="1"/>
          </p:cNvSpPr>
          <p:nvPr/>
        </p:nvSpPr>
        <p:spPr>
          <a:xfrm xmlns:a="http://schemas.openxmlformats.org/drawingml/2006/main">
            <a:off x="3038475" y="2943225"/>
            <a:ext cx="114300" cy="12954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5" name="Google Shape;375;p14">
            <a:extLst xmlns:a="http://schemas.openxmlformats.org/drawingml/2006/main">
              <a:ext uri="{FF2B5EF4-FFF2-40B4-BE49-F238E27FC236}">
                <a16:creationId xmlns:a16="http://schemas.microsoft.com/office/drawing/2014/main" id="{FD009FD8-A459-40D5-9D07-976B5368621B}"/>
              </a:ext>
            </a:extLst>
          </p:cNvPr>
          <p:cNvSpPr>
            <a:spLocks xmlns:a="http://schemas.openxmlformats.org/drawingml/2006/main" noGrp="1"/>
          </p:cNvSpPr>
          <p:nvPr/>
        </p:nvSpPr>
        <p:spPr>
          <a:xfrm xmlns:a="http://schemas.openxmlformats.org/drawingml/2006/main">
            <a:off x="3181350" y="3209925"/>
            <a:ext cx="114300" cy="10287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6" name="Google Shape;376;p14">
            <a:extLst xmlns:a="http://schemas.openxmlformats.org/drawingml/2006/main">
              <a:ext uri="{FF2B5EF4-FFF2-40B4-BE49-F238E27FC236}">
                <a16:creationId xmlns:a16="http://schemas.microsoft.com/office/drawing/2014/main" id="{420A68DE-7FE5-421E-8A17-9B5FC0106E63}"/>
              </a:ext>
            </a:extLst>
          </p:cNvPr>
          <p:cNvSpPr>
            <a:spLocks xmlns:a="http://schemas.openxmlformats.org/drawingml/2006/main" noGrp="1"/>
          </p:cNvSpPr>
          <p:nvPr/>
        </p:nvSpPr>
        <p:spPr>
          <a:xfrm xmlns:a="http://schemas.openxmlformats.org/drawingml/2006/main">
            <a:off x="3381375" y="3171825"/>
            <a:ext cx="114300" cy="1066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7" name="Google Shape;377;p14">
            <a:extLst xmlns:a="http://schemas.openxmlformats.org/drawingml/2006/main">
              <a:ext uri="{FF2B5EF4-FFF2-40B4-BE49-F238E27FC236}">
                <a16:creationId xmlns:a16="http://schemas.microsoft.com/office/drawing/2014/main" id="{D86CD503-31E5-440B-B3D1-057279529CC8}"/>
              </a:ext>
            </a:extLst>
          </p:cNvPr>
          <p:cNvSpPr>
            <a:spLocks xmlns:a="http://schemas.openxmlformats.org/drawingml/2006/main" noGrp="1"/>
          </p:cNvSpPr>
          <p:nvPr/>
        </p:nvSpPr>
        <p:spPr>
          <a:xfrm xmlns:a="http://schemas.openxmlformats.org/drawingml/2006/main">
            <a:off x="3524250" y="2924175"/>
            <a:ext cx="114300" cy="13144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8" name="Google Shape;378;p14">
            <a:extLst xmlns:a="http://schemas.openxmlformats.org/drawingml/2006/main">
              <a:ext uri="{FF2B5EF4-FFF2-40B4-BE49-F238E27FC236}">
                <a16:creationId xmlns:a16="http://schemas.microsoft.com/office/drawing/2014/main" id="{A8E35293-4199-41DA-973D-B2D1330A1286}"/>
              </a:ext>
            </a:extLst>
          </p:cNvPr>
          <p:cNvSpPr>
            <a:spLocks xmlns:a="http://schemas.openxmlformats.org/drawingml/2006/main" noGrp="1"/>
          </p:cNvSpPr>
          <p:nvPr/>
        </p:nvSpPr>
        <p:spPr>
          <a:xfrm xmlns:a="http://schemas.openxmlformats.org/drawingml/2006/main">
            <a:off x="3724275" y="3543300"/>
            <a:ext cx="114300" cy="695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9" name="Google Shape;379;p14">
            <a:extLst xmlns:a="http://schemas.openxmlformats.org/drawingml/2006/main">
              <a:ext uri="{FF2B5EF4-FFF2-40B4-BE49-F238E27FC236}">
                <a16:creationId xmlns:a16="http://schemas.microsoft.com/office/drawing/2014/main" id="{96319E65-24FE-491D-8DA2-50C7A7760BD4}"/>
              </a:ext>
            </a:extLst>
          </p:cNvPr>
          <p:cNvSpPr>
            <a:spLocks xmlns:a="http://schemas.openxmlformats.org/drawingml/2006/main" noGrp="1"/>
          </p:cNvSpPr>
          <p:nvPr/>
        </p:nvSpPr>
        <p:spPr>
          <a:xfrm xmlns:a="http://schemas.openxmlformats.org/drawingml/2006/main">
            <a:off x="3867150" y="3114675"/>
            <a:ext cx="114300" cy="1123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0" name="Google Shape;380;p14">
            <a:extLst xmlns:a="http://schemas.openxmlformats.org/drawingml/2006/main">
              <a:ext uri="{FF2B5EF4-FFF2-40B4-BE49-F238E27FC236}">
                <a16:creationId xmlns:a16="http://schemas.microsoft.com/office/drawing/2014/main" id="{93CD4A36-68B4-4F18-8B3C-CAE4FDA20847}"/>
              </a:ext>
            </a:extLst>
          </p:cNvPr>
          <p:cNvSpPr>
            <a:spLocks xmlns:a="http://schemas.openxmlformats.org/drawingml/2006/main" noGrp="1"/>
          </p:cNvSpPr>
          <p:nvPr/>
        </p:nvSpPr>
        <p:spPr>
          <a:xfrm xmlns:a="http://schemas.openxmlformats.org/drawingml/2006/main">
            <a:off x="4067175" y="3848100"/>
            <a:ext cx="114300" cy="3905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1" name="Google Shape;381;p14">
            <a:extLst xmlns:a="http://schemas.openxmlformats.org/drawingml/2006/main">
              <a:ext uri="{FF2B5EF4-FFF2-40B4-BE49-F238E27FC236}">
                <a16:creationId xmlns:a16="http://schemas.microsoft.com/office/drawing/2014/main" id="{D4962867-A436-4B72-932E-FD6B7DE222E6}"/>
              </a:ext>
            </a:extLst>
          </p:cNvPr>
          <p:cNvSpPr>
            <a:spLocks xmlns:a="http://schemas.openxmlformats.org/drawingml/2006/main" noGrp="1"/>
          </p:cNvSpPr>
          <p:nvPr/>
        </p:nvSpPr>
        <p:spPr>
          <a:xfrm xmlns:a="http://schemas.openxmlformats.org/drawingml/2006/main">
            <a:off x="4210050" y="3495675"/>
            <a:ext cx="114300" cy="742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2" name="Google Shape;382;p14">
            <a:extLst xmlns:a="http://schemas.openxmlformats.org/drawingml/2006/main">
              <a:ext uri="{FF2B5EF4-FFF2-40B4-BE49-F238E27FC236}">
                <a16:creationId xmlns:a16="http://schemas.microsoft.com/office/drawing/2014/main" id="{ED6EEB28-E7E0-4514-9D1C-BDD94C523D9A}"/>
              </a:ext>
            </a:extLst>
          </p:cNvPr>
          <p:cNvSpPr>
            <a:spLocks xmlns:a="http://schemas.openxmlformats.org/drawingml/2006/main" noGrp="1"/>
          </p:cNvSpPr>
          <p:nvPr/>
        </p:nvSpPr>
        <p:spPr>
          <a:xfrm xmlns:a="http://schemas.openxmlformats.org/drawingml/2006/main">
            <a:off x="4410075" y="4029075"/>
            <a:ext cx="114300" cy="2095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3" name="Google Shape;383;p14">
            <a:extLst xmlns:a="http://schemas.openxmlformats.org/drawingml/2006/main">
              <a:ext uri="{FF2B5EF4-FFF2-40B4-BE49-F238E27FC236}">
                <a16:creationId xmlns:a16="http://schemas.microsoft.com/office/drawing/2014/main" id="{4BC18AFE-F7ED-4869-B9E8-03A655F64035}"/>
              </a:ext>
            </a:extLst>
          </p:cNvPr>
          <p:cNvSpPr>
            <a:spLocks xmlns:a="http://schemas.openxmlformats.org/drawingml/2006/main" noGrp="1"/>
          </p:cNvSpPr>
          <p:nvPr/>
        </p:nvSpPr>
        <p:spPr>
          <a:xfrm xmlns:a="http://schemas.openxmlformats.org/drawingml/2006/main">
            <a:off x="4552950" y="3829050"/>
            <a:ext cx="114300" cy="409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4" name="Google Shape;384;p14">
            <a:extLst xmlns:a="http://schemas.openxmlformats.org/drawingml/2006/main">
              <a:ext uri="{FF2B5EF4-FFF2-40B4-BE49-F238E27FC236}">
                <a16:creationId xmlns:a16="http://schemas.microsoft.com/office/drawing/2014/main" id="{63CD5BAA-41E2-4BFB-953E-388DCAC9C023}"/>
              </a:ext>
            </a:extLst>
          </p:cNvPr>
          <p:cNvSpPr>
            <a:spLocks xmlns:a="http://schemas.openxmlformats.org/drawingml/2006/main" noGrp="1"/>
          </p:cNvSpPr>
          <p:nvPr/>
        </p:nvSpPr>
        <p:spPr>
          <a:xfrm xmlns:a="http://schemas.openxmlformats.org/drawingml/2006/main">
            <a:off x="1809750" y="4410075"/>
            <a:ext cx="1143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Reference</a:t>
            </a:r>
            <a:endParaRPr/>
          </a:p>
        </p:txBody>
      </p:sp>
      <p:sp>
        <p:nvSpPr>
          <p:cNvPr id="385" name="Google Shape;385;p14">
            <a:extLst xmlns:a="http://schemas.openxmlformats.org/drawingml/2006/main">
              <a:ext uri="{FF2B5EF4-FFF2-40B4-BE49-F238E27FC236}">
                <a16:creationId xmlns:a16="http://schemas.microsoft.com/office/drawing/2014/main" id="{6EF5C024-8429-45E6-A877-8C2C6402B473}"/>
              </a:ext>
            </a:extLst>
          </p:cNvPr>
          <p:cNvSpPr>
            <a:spLocks xmlns:a="http://schemas.openxmlformats.org/drawingml/2006/main" noGrp="1"/>
          </p:cNvSpPr>
          <p:nvPr/>
        </p:nvSpPr>
        <p:spPr>
          <a:xfrm xmlns:a="http://schemas.openxmlformats.org/drawingml/2006/main">
            <a:off x="3381375" y="4410075"/>
            <a:ext cx="95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Model</a:t>
            </a:r>
            <a:endParaRPr/>
          </a:p>
        </p:txBody>
      </p:sp>
      <p:sp>
        <p:nvSpPr>
          <p:cNvPr id="386" name="Google Shape;386;p14">
            <a:extLst xmlns:a="http://schemas.openxmlformats.org/drawingml/2006/main">
              <a:ext uri="{FF2B5EF4-FFF2-40B4-BE49-F238E27FC236}">
                <a16:creationId xmlns:a16="http://schemas.microsoft.com/office/drawing/2014/main" id="{6B39F16C-113D-4854-B4C3-AE2271C83511}"/>
              </a:ext>
            </a:extLst>
          </p:cNvPr>
          <p:cNvSpPr>
            <a:spLocks xmlns:a="http://schemas.openxmlformats.org/drawingml/2006/main" noGrp="1"/>
          </p:cNvSpPr>
          <p:nvPr/>
        </p:nvSpPr>
        <p:spPr>
          <a:xfrm xmlns:a="http://schemas.openxmlformats.org/drawingml/2006/main">
            <a:off x="6477000" y="2076450"/>
            <a:ext cx="419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A bias is systematic</a:t>
            </a:r>
            <a:endParaRPr/>
          </a:p>
        </p:txBody>
      </p:sp>
      <p:sp>
        <p:nvSpPr>
          <p:cNvPr id="387" name="Google Shape;387;p14">
            <a:extLst xmlns:a="http://schemas.openxmlformats.org/drawingml/2006/main">
              <a:ext uri="{FF2B5EF4-FFF2-40B4-BE49-F238E27FC236}">
                <a16:creationId xmlns:a16="http://schemas.microsoft.com/office/drawing/2014/main" id="{5285A950-608B-4621-94CB-13D62054AA98}"/>
              </a:ext>
            </a:extLst>
          </p:cNvPr>
          <p:cNvSpPr>
            <a:spLocks xmlns:a="http://schemas.openxmlformats.org/drawingml/2006/main" noGrp="1"/>
          </p:cNvSpPr>
          <p:nvPr/>
        </p:nvSpPr>
        <p:spPr>
          <a:xfrm xmlns:a="http://schemas.openxmlformats.org/drawingml/2006/main">
            <a:off x="6477000" y="2705100"/>
            <a:ext cx="4305300" cy="1009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687984"/>
              </a:buClr>
              <a:buSzPts val="1650"/>
              <a:buFont typeface="Lato"/>
              <a:buNone/>
            </a:pPr>
            <a:r>
              <a:rPr sz="1650" b="0" i="0">
                <a:solidFill>
                  <a:srgbClr val="687984"/>
                </a:solidFill>
                <a:latin typeface="Lato"/>
                <a:ea typeface="Lato"/>
                <a:cs typeface="Lato"/>
              </a:rPr>
              <a:t>It may affect the mean, variability, seasonality or extremes. Performance can also differ by variable and region.</a:t>
            </a:r>
            <a:endParaRPr/>
          </a:p>
        </p:txBody>
      </p:sp>
      <p:sp>
        <p:nvSpPr>
          <p:cNvPr id="388" name="Google Shape;388;p14">
            <a:extLst xmlns:a="http://schemas.openxmlformats.org/drawingml/2006/main">
              <a:ext uri="{FF2B5EF4-FFF2-40B4-BE49-F238E27FC236}">
                <a16:creationId xmlns:a16="http://schemas.microsoft.com/office/drawing/2014/main" id="{6B96E73E-F819-44EB-A2D4-85F7ABB33778}"/>
              </a:ext>
            </a:extLst>
          </p:cNvPr>
          <p:cNvSpPr>
            <a:spLocks xmlns:a="http://schemas.openxmlformats.org/drawingml/2006/main" noGrp="1"/>
          </p:cNvSpPr>
          <p:nvPr/>
        </p:nvSpPr>
        <p:spPr>
          <a:xfrm xmlns:a="http://schemas.openxmlformats.org/drawingml/2006/main">
            <a:off x="6477000" y="4038600"/>
            <a:ext cx="4000500" cy="876300"/>
          </a:xfrm>
          <a:prstGeom xmlns:a="http://schemas.openxmlformats.org/drawingml/2006/main" prst="roundRect">
            <a:avLst>
              <a:gd name="adj" fmla="val 8696"/>
            </a:avLst>
          </a:prstGeom>
          <a:solidFill xmlns:a="http://schemas.openxmlformats.org/drawingml/2006/main">
            <a:srgbClr val="FFF3D1"/>
          </a:solidFill>
          <a:ln xmlns:a="http://schemas.openxmlformats.org/drawingml/2006/main" w="9525" cmpd="sng">
            <a:solidFill>
              <a:srgbClr val="FFF3D1"/>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9" name="Google Shape;389;p14">
            <a:extLst xmlns:a="http://schemas.openxmlformats.org/drawingml/2006/main">
              <a:ext uri="{FF2B5EF4-FFF2-40B4-BE49-F238E27FC236}">
                <a16:creationId xmlns:a16="http://schemas.microsoft.com/office/drawing/2014/main" id="{C580ED55-B4F5-4817-8A46-1DF672C99D1B}"/>
              </a:ext>
            </a:extLst>
          </p:cNvPr>
          <p:cNvSpPr>
            <a:spLocks xmlns:a="http://schemas.openxmlformats.org/drawingml/2006/main" noGrp="1"/>
          </p:cNvSpPr>
          <p:nvPr/>
        </p:nvSpPr>
        <p:spPr>
          <a:xfrm xmlns:a="http://schemas.openxmlformats.org/drawingml/2006/main">
            <a:off x="6705600" y="4229100"/>
            <a:ext cx="35433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425"/>
              <a:buFont typeface="Lato"/>
              <a:buNone/>
            </a:pPr>
            <a:r>
              <a:rPr sz="1425" b="1" i="0">
                <a:solidFill>
                  <a:srgbClr val="12304E"/>
                </a:solidFill>
                <a:latin typeface="Lato"/>
                <a:ea typeface="Lato"/>
                <a:cs typeface="Lato"/>
              </a:rPr>
              <a:t>Model output should not automatically be treated as observations or truth.</a:t>
            </a:r>
            <a:endParaRPr/>
          </a:p>
        </p:txBody>
      </p:sp>
      <p:sp>
        <p:nvSpPr>
          <p:cNvPr id="390" name="Google Shape;390;p14">
            <a:extLst xmlns:a="http://schemas.openxmlformats.org/drawingml/2006/main">
              <a:ext uri="{FF2B5EF4-FFF2-40B4-BE49-F238E27FC236}">
                <a16:creationId xmlns:a16="http://schemas.microsoft.com/office/drawing/2014/main" id="{A969F215-5C96-4ECA-814D-CCCE54087ADF}"/>
              </a:ext>
            </a:extLst>
          </p:cNvPr>
          <p:cNvSpPr>
            <a:spLocks xmlns:a="http://schemas.openxmlformats.org/drawingml/2006/main" noGrp="1"/>
          </p:cNvSpPr>
          <p:nvPr/>
        </p:nvSpPr>
        <p:spPr>
          <a:xfrm xmlns:a="http://schemas.openxmlformats.org/drawingml/2006/main">
            <a:off x="952500" y="5000625"/>
            <a:ext cx="476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825"/>
              <a:buFont typeface="Lato"/>
              <a:buNone/>
            </a:pPr>
            <a:r>
              <a:rPr sz="825" b="0" i="0">
                <a:solidFill>
                  <a:srgbClr val="687984"/>
                </a:solidFill>
                <a:latin typeface="Lato"/>
                <a:ea typeface="Lato"/>
                <a:cs typeface="Lato"/>
              </a:rPr>
              <a:t>Conceptual illustration · no observed data shown</a:t>
            </a:r>
            <a:endParaRPr/>
          </a:p>
        </p:txBody>
      </p:sp>
    </p:spTree>
    <p:extLst>
      <p:ext uri="{BB962C8B-B14F-4D97-AF65-F5344CB8AC3E}">
        <p14:creationId xmlns:p14="http://schemas.microsoft.com/office/powerpoint/2010/main" val="1503185705"/>
      </p:ext>
    </p:extLst>
  </p:cSld>
</p:sld>
</file>

<file path=ppt/slides/slide1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96" name="Google Shape;396;p15">
            <a:extLst xmlns:a="http://schemas.openxmlformats.org/drawingml/2006/main">
              <a:ext uri="{FF2B5EF4-FFF2-40B4-BE49-F238E27FC236}">
                <a16:creationId xmlns:a16="http://schemas.microsoft.com/office/drawing/2014/main" id="{9A942DCB-B70E-4155-A280-D6E9C0DC2F8C}"/>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Bias correction</a:t>
            </a:r>
            <a:endParaRPr/>
          </a:p>
        </p:txBody>
      </p:sp>
      <p:sp>
        <p:nvSpPr>
          <p:cNvPr id="397" name="Google Shape;397;p15">
            <a:extLst xmlns:a="http://schemas.openxmlformats.org/drawingml/2006/main">
              <a:ext uri="{FF2B5EF4-FFF2-40B4-BE49-F238E27FC236}">
                <a16:creationId xmlns:a16="http://schemas.microsoft.com/office/drawing/2014/main" id="{8298C5CD-49EA-48B5-BA35-C606F44B6582}"/>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Adjustment can improve agreement with a historical reference, but it does not make the future certain</a:t>
            </a:r>
            <a:endParaRPr/>
          </a:p>
        </p:txBody>
      </p:sp>
      <p:sp>
        <p:nvSpPr>
          <p:cNvPr id="398" name="Google Shape;398;p15">
            <a:extLst xmlns:a="http://schemas.openxmlformats.org/drawingml/2006/main">
              <a:ext uri="{FF2B5EF4-FFF2-40B4-BE49-F238E27FC236}">
                <a16:creationId xmlns:a16="http://schemas.microsoft.com/office/drawing/2014/main" id="{14FBAD79-6905-4766-B767-9C797523854A}"/>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9" name="Google Shape;399;p15">
            <a:extLst xmlns:a="http://schemas.openxmlformats.org/drawingml/2006/main">
              <a:ext uri="{FF2B5EF4-FFF2-40B4-BE49-F238E27FC236}">
                <a16:creationId xmlns:a16="http://schemas.microsoft.com/office/drawing/2014/main" id="{29E9D9F1-A052-451D-8205-B55B70FF829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0" name="Google Shape;400;p15">
            <a:extLst xmlns:a="http://schemas.openxmlformats.org/drawingml/2006/main">
              <a:ext uri="{FF2B5EF4-FFF2-40B4-BE49-F238E27FC236}">
                <a16:creationId xmlns:a16="http://schemas.microsoft.com/office/drawing/2014/main" id="{610E4E66-2A48-47D0-9932-1C8C7FF30CA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1" name="Google Shape;401;p15">
            <a:extLst xmlns:a="http://schemas.openxmlformats.org/drawingml/2006/main">
              <a:ext uri="{FF2B5EF4-FFF2-40B4-BE49-F238E27FC236}">
                <a16:creationId xmlns:a16="http://schemas.microsoft.com/office/drawing/2014/main" id="{BC82D29E-D53A-41CF-9D16-E968B70DBD1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02" name="Google Shape;402;p15">
            <a:extLst xmlns:a="http://schemas.openxmlformats.org/drawingml/2006/main">
              <a:ext uri="{FF2B5EF4-FFF2-40B4-BE49-F238E27FC236}">
                <a16:creationId xmlns:a16="http://schemas.microsoft.com/office/drawing/2014/main" id="{F2DE7C47-A8D1-48D0-AD59-9982CEF7093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13</a:t>
            </a:r>
            <a:endParaRPr/>
          </a:p>
        </p:txBody>
      </p:sp>
      <p:sp>
        <p:nvSpPr>
          <p:cNvPr id="403" name="Google Shape;403;p15">
            <a:extLst xmlns:a="http://schemas.openxmlformats.org/drawingml/2006/main">
              <a:ext uri="{FF2B5EF4-FFF2-40B4-BE49-F238E27FC236}">
                <a16:creationId xmlns:a16="http://schemas.microsoft.com/office/drawing/2014/main" id="{EB027467-2831-4ACC-84E8-933481A72038}"/>
              </a:ext>
            </a:extLst>
          </p:cNvPr>
          <p:cNvSpPr>
            <a:spLocks xmlns:a="http://schemas.openxmlformats.org/drawingml/2006/main" noGrp="1"/>
          </p:cNvSpPr>
          <p:nvPr/>
        </p:nvSpPr>
        <p:spPr>
          <a:xfrm xmlns:a="http://schemas.openxmlformats.org/drawingml/2006/main">
            <a:off x="1066800" y="2781300"/>
            <a:ext cx="1005840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4" name="Google Shape;404;p15">
            <a:extLst xmlns:a="http://schemas.openxmlformats.org/drawingml/2006/main">
              <a:ext uri="{FF2B5EF4-FFF2-40B4-BE49-F238E27FC236}">
                <a16:creationId xmlns:a16="http://schemas.microsoft.com/office/drawing/2014/main" id="{E24B906D-DA09-4BF5-9E44-F467A7A0DE4C}"/>
              </a:ext>
            </a:extLst>
          </p:cNvPr>
          <p:cNvSpPr>
            <a:spLocks xmlns:a="http://schemas.openxmlformats.org/drawingml/2006/main" noGrp="1"/>
          </p:cNvSpPr>
          <p:nvPr/>
        </p:nvSpPr>
        <p:spPr>
          <a:xfrm xmlns:a="http://schemas.openxmlformats.org/drawingml/2006/main">
            <a:off x="1257300"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1</a:t>
            </a:r>
            <a:endParaRPr/>
          </a:p>
        </p:txBody>
      </p:sp>
      <p:sp>
        <p:nvSpPr>
          <p:cNvPr id="405" name="Google Shape;405;p15">
            <a:extLst xmlns:a="http://schemas.openxmlformats.org/drawingml/2006/main">
              <a:ext uri="{FF2B5EF4-FFF2-40B4-BE49-F238E27FC236}">
                <a16:creationId xmlns:a16="http://schemas.microsoft.com/office/drawing/2014/main" id="{76B07782-0625-4A55-806B-2B28D42A171D}"/>
              </a:ext>
            </a:extLst>
          </p:cNvPr>
          <p:cNvSpPr>
            <a:spLocks xmlns:a="http://schemas.openxmlformats.org/drawingml/2006/main" noGrp="1"/>
          </p:cNvSpPr>
          <p:nvPr/>
        </p:nvSpPr>
        <p:spPr>
          <a:xfrm xmlns:a="http://schemas.openxmlformats.org/drawingml/2006/main">
            <a:off x="1143000"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COMPARE</a:t>
            </a:r>
            <a:endParaRPr/>
          </a:p>
        </p:txBody>
      </p:sp>
      <p:sp>
        <p:nvSpPr>
          <p:cNvPr id="406" name="Google Shape;406;p15">
            <a:extLst xmlns:a="http://schemas.openxmlformats.org/drawingml/2006/main">
              <a:ext uri="{FF2B5EF4-FFF2-40B4-BE49-F238E27FC236}">
                <a16:creationId xmlns:a16="http://schemas.microsoft.com/office/drawing/2014/main" id="{55798ABE-468D-43A3-8190-F36C0B0BA175}"/>
              </a:ext>
            </a:extLst>
          </p:cNvPr>
          <p:cNvSpPr>
            <a:spLocks xmlns:a="http://schemas.openxmlformats.org/drawingml/2006/main" noGrp="1"/>
          </p:cNvSpPr>
          <p:nvPr/>
        </p:nvSpPr>
        <p:spPr>
          <a:xfrm xmlns:a="http://schemas.openxmlformats.org/drawingml/2006/main">
            <a:off x="1143000"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Historical model simulation with a reference dataset</a:t>
            </a:r>
            <a:endParaRPr/>
          </a:p>
        </p:txBody>
      </p:sp>
      <p:sp>
        <p:nvSpPr>
          <p:cNvPr id="407" name="Google Shape;407;p15">
            <a:extLst xmlns:a="http://schemas.openxmlformats.org/drawingml/2006/main">
              <a:ext uri="{FF2B5EF4-FFF2-40B4-BE49-F238E27FC236}">
                <a16:creationId xmlns:a16="http://schemas.microsoft.com/office/drawing/2014/main" id="{04504439-4C6F-4DFE-B276-5B15A49B6C70}"/>
              </a:ext>
            </a:extLst>
          </p:cNvPr>
          <p:cNvSpPr>
            <a:spLocks xmlns:a="http://schemas.openxmlformats.org/drawingml/2006/main" noGrp="1"/>
          </p:cNvSpPr>
          <p:nvPr/>
        </p:nvSpPr>
        <p:spPr>
          <a:xfrm xmlns:a="http://schemas.openxmlformats.org/drawingml/2006/main">
            <a:off x="3971925" y="2524125"/>
            <a:ext cx="552450" cy="55245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2</a:t>
            </a:r>
            <a:endParaRPr/>
          </a:p>
        </p:txBody>
      </p:sp>
      <p:sp>
        <p:nvSpPr>
          <p:cNvPr id="408" name="Google Shape;408;p15">
            <a:extLst xmlns:a="http://schemas.openxmlformats.org/drawingml/2006/main">
              <a:ext uri="{FF2B5EF4-FFF2-40B4-BE49-F238E27FC236}">
                <a16:creationId xmlns:a16="http://schemas.microsoft.com/office/drawing/2014/main" id="{21962E0B-D3C2-4C21-B103-0400332B6CC4}"/>
              </a:ext>
            </a:extLst>
          </p:cNvPr>
          <p:cNvSpPr>
            <a:spLocks xmlns:a="http://schemas.openxmlformats.org/drawingml/2006/main" noGrp="1"/>
          </p:cNvSpPr>
          <p:nvPr/>
        </p:nvSpPr>
        <p:spPr>
          <a:xfrm xmlns:a="http://schemas.openxmlformats.org/drawingml/2006/main">
            <a:off x="3857625"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ESTIMATE</a:t>
            </a:r>
            <a:endParaRPr/>
          </a:p>
        </p:txBody>
      </p:sp>
      <p:sp>
        <p:nvSpPr>
          <p:cNvPr id="409" name="Google Shape;409;p15">
            <a:extLst xmlns:a="http://schemas.openxmlformats.org/drawingml/2006/main">
              <a:ext uri="{FF2B5EF4-FFF2-40B4-BE49-F238E27FC236}">
                <a16:creationId xmlns:a16="http://schemas.microsoft.com/office/drawing/2014/main" id="{13E5B9C3-F417-4190-AB2E-E5FA71B0FC33}"/>
              </a:ext>
            </a:extLst>
          </p:cNvPr>
          <p:cNvSpPr>
            <a:spLocks xmlns:a="http://schemas.openxmlformats.org/drawingml/2006/main" noGrp="1"/>
          </p:cNvSpPr>
          <p:nvPr/>
        </p:nvSpPr>
        <p:spPr>
          <a:xfrm xmlns:a="http://schemas.openxmlformats.org/drawingml/2006/main">
            <a:off x="3857625"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A statistical adjustment for the selected variable and location</a:t>
            </a:r>
            <a:endParaRPr/>
          </a:p>
        </p:txBody>
      </p:sp>
      <p:sp>
        <p:nvSpPr>
          <p:cNvPr id="410" name="Google Shape;410;p15">
            <a:extLst xmlns:a="http://schemas.openxmlformats.org/drawingml/2006/main">
              <a:ext uri="{FF2B5EF4-FFF2-40B4-BE49-F238E27FC236}">
                <a16:creationId xmlns:a16="http://schemas.microsoft.com/office/drawing/2014/main" id="{E036EADF-5118-4DFE-98F0-55C6CEC543B7}"/>
              </a:ext>
            </a:extLst>
          </p:cNvPr>
          <p:cNvSpPr>
            <a:spLocks xmlns:a="http://schemas.openxmlformats.org/drawingml/2006/main" noGrp="1"/>
          </p:cNvSpPr>
          <p:nvPr/>
        </p:nvSpPr>
        <p:spPr>
          <a:xfrm xmlns:a="http://schemas.openxmlformats.org/drawingml/2006/main">
            <a:off x="6686550"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3</a:t>
            </a:r>
            <a:endParaRPr/>
          </a:p>
        </p:txBody>
      </p:sp>
      <p:sp>
        <p:nvSpPr>
          <p:cNvPr id="411" name="Google Shape;411;p15">
            <a:extLst xmlns:a="http://schemas.openxmlformats.org/drawingml/2006/main">
              <a:ext uri="{FF2B5EF4-FFF2-40B4-BE49-F238E27FC236}">
                <a16:creationId xmlns:a16="http://schemas.microsoft.com/office/drawing/2014/main" id="{DAC2B958-CA02-40B5-B309-73E3C33B2B6C}"/>
              </a:ext>
            </a:extLst>
          </p:cNvPr>
          <p:cNvSpPr>
            <a:spLocks xmlns:a="http://schemas.openxmlformats.org/drawingml/2006/main" noGrp="1"/>
          </p:cNvSpPr>
          <p:nvPr/>
        </p:nvSpPr>
        <p:spPr>
          <a:xfrm xmlns:a="http://schemas.openxmlformats.org/drawingml/2006/main">
            <a:off x="6572250"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APPLY</a:t>
            </a:r>
            <a:endParaRPr/>
          </a:p>
        </p:txBody>
      </p:sp>
      <p:sp>
        <p:nvSpPr>
          <p:cNvPr id="412" name="Google Shape;412;p15">
            <a:extLst xmlns:a="http://schemas.openxmlformats.org/drawingml/2006/main">
              <a:ext uri="{FF2B5EF4-FFF2-40B4-BE49-F238E27FC236}">
                <a16:creationId xmlns:a16="http://schemas.microsoft.com/office/drawing/2014/main" id="{06A34E92-9CD3-4450-8EA5-C8597C3A4FF8}"/>
              </a:ext>
            </a:extLst>
          </p:cNvPr>
          <p:cNvSpPr>
            <a:spLocks xmlns:a="http://schemas.openxmlformats.org/drawingml/2006/main" noGrp="1"/>
          </p:cNvSpPr>
          <p:nvPr/>
        </p:nvSpPr>
        <p:spPr>
          <a:xfrm xmlns:a="http://schemas.openxmlformats.org/drawingml/2006/main">
            <a:off x="6572250"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The adjustment consistently to historical and projected data</a:t>
            </a:r>
            <a:endParaRPr/>
          </a:p>
        </p:txBody>
      </p:sp>
      <p:sp>
        <p:nvSpPr>
          <p:cNvPr id="413" name="Google Shape;413;p15">
            <a:extLst xmlns:a="http://schemas.openxmlformats.org/drawingml/2006/main">
              <a:ext uri="{FF2B5EF4-FFF2-40B4-BE49-F238E27FC236}">
                <a16:creationId xmlns:a16="http://schemas.microsoft.com/office/drawing/2014/main" id="{E0D49441-DC2A-4BB4-AE59-260B51276404}"/>
              </a:ext>
            </a:extLst>
          </p:cNvPr>
          <p:cNvSpPr>
            <a:spLocks xmlns:a="http://schemas.openxmlformats.org/drawingml/2006/main" noGrp="1"/>
          </p:cNvSpPr>
          <p:nvPr/>
        </p:nvSpPr>
        <p:spPr>
          <a:xfrm xmlns:a="http://schemas.openxmlformats.org/drawingml/2006/main">
            <a:off x="9401175"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4</a:t>
            </a:r>
            <a:endParaRPr/>
          </a:p>
        </p:txBody>
      </p:sp>
      <p:sp>
        <p:nvSpPr>
          <p:cNvPr id="414" name="Google Shape;414;p15">
            <a:extLst xmlns:a="http://schemas.openxmlformats.org/drawingml/2006/main">
              <a:ext uri="{FF2B5EF4-FFF2-40B4-BE49-F238E27FC236}">
                <a16:creationId xmlns:a16="http://schemas.microsoft.com/office/drawing/2014/main" id="{F3B27A50-1438-42BF-A2A6-D401947DFDB2}"/>
              </a:ext>
            </a:extLst>
          </p:cNvPr>
          <p:cNvSpPr>
            <a:spLocks xmlns:a="http://schemas.openxmlformats.org/drawingml/2006/main" noGrp="1"/>
          </p:cNvSpPr>
          <p:nvPr/>
        </p:nvSpPr>
        <p:spPr>
          <a:xfrm xmlns:a="http://schemas.openxmlformats.org/drawingml/2006/main">
            <a:off x="9286875"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CHECK</a:t>
            </a:r>
            <a:endParaRPr/>
          </a:p>
        </p:txBody>
      </p:sp>
      <p:sp>
        <p:nvSpPr>
          <p:cNvPr id="415" name="Google Shape;415;p15">
            <a:extLst xmlns:a="http://schemas.openxmlformats.org/drawingml/2006/main">
              <a:ext uri="{FF2B5EF4-FFF2-40B4-BE49-F238E27FC236}">
                <a16:creationId xmlns:a16="http://schemas.microsoft.com/office/drawing/2014/main" id="{D583AE73-CB12-4F6D-B6CA-D7B0EF4D091C}"/>
              </a:ext>
            </a:extLst>
          </p:cNvPr>
          <p:cNvSpPr>
            <a:spLocks xmlns:a="http://schemas.openxmlformats.org/drawingml/2006/main" noGrp="1"/>
          </p:cNvSpPr>
          <p:nvPr/>
        </p:nvSpPr>
        <p:spPr>
          <a:xfrm xmlns:a="http://schemas.openxmlformats.org/drawingml/2006/main">
            <a:off x="9286875"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Whether the corrected data suit the intended application</a:t>
            </a:r>
            <a:endParaRPr/>
          </a:p>
        </p:txBody>
      </p:sp>
      <p:sp>
        <p:nvSpPr>
          <p:cNvPr id="416" name="Google Shape;416;p15">
            <a:extLst xmlns:a="http://schemas.openxmlformats.org/drawingml/2006/main">
              <a:ext uri="{FF2B5EF4-FFF2-40B4-BE49-F238E27FC236}">
                <a16:creationId xmlns:a16="http://schemas.microsoft.com/office/drawing/2014/main" id="{D4F88DC3-D956-48F7-A7FE-452D3FD07554}"/>
              </a:ext>
            </a:extLst>
          </p:cNvPr>
          <p:cNvSpPr>
            <a:spLocks xmlns:a="http://schemas.openxmlformats.org/drawingml/2006/main" noGrp="1"/>
          </p:cNvSpPr>
          <p:nvPr/>
        </p:nvSpPr>
        <p:spPr>
          <a:xfrm xmlns:a="http://schemas.openxmlformats.org/drawingml/2006/main">
            <a:off x="685800" y="5010150"/>
            <a:ext cx="10820400" cy="628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17" name="Google Shape;417;p15">
            <a:extLst xmlns:a="http://schemas.openxmlformats.org/drawingml/2006/main">
              <a:ext uri="{FF2B5EF4-FFF2-40B4-BE49-F238E27FC236}">
                <a16:creationId xmlns:a16="http://schemas.microsoft.com/office/drawing/2014/main" id="{69BA2EFC-C842-4AB8-8F65-DF038C242F03}"/>
              </a:ext>
            </a:extLst>
          </p:cNvPr>
          <p:cNvSpPr>
            <a:spLocks xmlns:a="http://schemas.openxmlformats.org/drawingml/2006/main" noGrp="1"/>
          </p:cNvSpPr>
          <p:nvPr/>
        </p:nvSpPr>
        <p:spPr>
          <a:xfrm xmlns:a="http://schemas.openxmlformats.org/drawingml/2006/main">
            <a:off x="933450" y="5200650"/>
            <a:ext cx="20955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75"/>
              <a:buFont typeface="Lato"/>
              <a:buNone/>
            </a:pPr>
            <a:r>
              <a:rPr sz="1275" b="1" i="0">
                <a:solidFill>
                  <a:srgbClr val="F2B632"/>
                </a:solidFill>
                <a:latin typeface="Lato"/>
                <a:ea typeface="Lato"/>
                <a:cs typeface="Lato"/>
              </a:rPr>
              <a:t>Limits of correction</a:t>
            </a:r>
            <a:endParaRPr/>
          </a:p>
        </p:txBody>
      </p:sp>
      <p:sp>
        <p:nvSpPr>
          <p:cNvPr id="418" name="Google Shape;418;p15">
            <a:extLst xmlns:a="http://schemas.openxmlformats.org/drawingml/2006/main">
              <a:ext uri="{FF2B5EF4-FFF2-40B4-BE49-F238E27FC236}">
                <a16:creationId xmlns:a16="http://schemas.microsoft.com/office/drawing/2014/main" id="{489F3E3D-D0F3-4755-8B4A-610C59CE2787}"/>
              </a:ext>
            </a:extLst>
          </p:cNvPr>
          <p:cNvSpPr>
            <a:spLocks xmlns:a="http://schemas.openxmlformats.org/drawingml/2006/main" noGrp="1"/>
          </p:cNvSpPr>
          <p:nvPr/>
        </p:nvSpPr>
        <p:spPr>
          <a:xfrm xmlns:a="http://schemas.openxmlformats.org/drawingml/2006/main">
            <a:off x="3143250" y="5162550"/>
            <a:ext cx="8001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It </a:t>
            </a:r>
            <a:r>
              <a:rPr sz="1350">
                <a:solidFill>
                  <a:srgbClr val="FFFFFF"/>
                </a:solidFill>
                <a:latin typeface="Lato"/>
                <a:ea typeface="Lato"/>
                <a:cs typeface="Lato"/>
              </a:rPr>
              <a:t>does not</a:t>
            </a:r>
            <a:r>
              <a:rPr sz="1350" b="0" i="0">
                <a:solidFill>
                  <a:srgbClr val="FFFFFF"/>
                </a:solidFill>
                <a:latin typeface="Lato"/>
                <a:ea typeface="Lato"/>
                <a:cs typeface="Lato"/>
              </a:rPr>
              <a:t> remove model uncertainty</a:t>
            </a:r>
            <a:r>
              <a:rPr sz="1350">
                <a:solidFill>
                  <a:srgbClr val="FFFFFF"/>
                </a:solidFill>
                <a:latin typeface="Lato"/>
                <a:ea typeface="Lato"/>
                <a:cs typeface="Lato"/>
              </a:rPr>
              <a:t> </a:t>
            </a:r>
            <a:r>
              <a:rPr sz="1350" b="0" i="0">
                <a:solidFill>
                  <a:srgbClr val="FFFFFF"/>
                </a:solidFill>
                <a:latin typeface="Lato"/>
                <a:ea typeface="Lato"/>
                <a:cs typeface="Lato"/>
              </a:rPr>
              <a:t>or repair every simulation weakness</a:t>
            </a:r>
            <a:endParaRPr/>
          </a:p>
        </p:txBody>
      </p:sp>
    </p:spTree>
    <p:extLst>
      <p:ext uri="{BB962C8B-B14F-4D97-AF65-F5344CB8AC3E}">
        <p14:creationId xmlns:p14="http://schemas.microsoft.com/office/powerpoint/2010/main" val="1184481672"/>
      </p:ext>
    </p:extLst>
  </p:cSld>
</p:sld>
</file>

<file path=ppt/slides/slide1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24" name="Google Shape;424;p16">
            <a:extLst xmlns:a="http://schemas.openxmlformats.org/drawingml/2006/main">
              <a:ext uri="{FF2B5EF4-FFF2-40B4-BE49-F238E27FC236}">
                <a16:creationId xmlns:a16="http://schemas.microsoft.com/office/drawing/2014/main" id="{BB282B68-A6A0-462C-98F4-5A3A68C1CA65}"/>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Multiple models and uncertainty</a:t>
            </a:r>
            <a:endParaRPr/>
          </a:p>
        </p:txBody>
      </p:sp>
      <p:sp>
        <p:nvSpPr>
          <p:cNvPr id="425" name="Google Shape;425;p16">
            <a:extLst xmlns:a="http://schemas.openxmlformats.org/drawingml/2006/main">
              <a:ext uri="{FF2B5EF4-FFF2-40B4-BE49-F238E27FC236}">
                <a16:creationId xmlns:a16="http://schemas.microsoft.com/office/drawing/2014/main" id="{1B5EFC69-1099-4388-B5E3-618A3CA7181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ensemble shows a range of plausible responses across models and scenarios</a:t>
            </a:r>
            <a:endParaRPr/>
          </a:p>
        </p:txBody>
      </p:sp>
      <p:sp>
        <p:nvSpPr>
          <p:cNvPr id="426" name="Google Shape;426;p16">
            <a:extLst xmlns:a="http://schemas.openxmlformats.org/drawingml/2006/main">
              <a:ext uri="{FF2B5EF4-FFF2-40B4-BE49-F238E27FC236}">
                <a16:creationId xmlns:a16="http://schemas.microsoft.com/office/drawing/2014/main" id="{1E72D55E-C44A-4BF5-BA74-0104E03D493B}"/>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7" name="Google Shape;427;p16">
            <a:extLst xmlns:a="http://schemas.openxmlformats.org/drawingml/2006/main">
              <a:ext uri="{FF2B5EF4-FFF2-40B4-BE49-F238E27FC236}">
                <a16:creationId xmlns:a16="http://schemas.microsoft.com/office/drawing/2014/main" id="{F1D93E28-3BB7-4932-9EA5-4DAEFC8B780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8" name="Google Shape;428;p16">
            <a:extLst xmlns:a="http://schemas.openxmlformats.org/drawingml/2006/main">
              <a:ext uri="{FF2B5EF4-FFF2-40B4-BE49-F238E27FC236}">
                <a16:creationId xmlns:a16="http://schemas.microsoft.com/office/drawing/2014/main" id="{64EE6627-78C0-4160-984C-270ACEA17B9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9" name="Google Shape;429;p16">
            <a:extLst xmlns:a="http://schemas.openxmlformats.org/drawingml/2006/main">
              <a:ext uri="{FF2B5EF4-FFF2-40B4-BE49-F238E27FC236}">
                <a16:creationId xmlns:a16="http://schemas.microsoft.com/office/drawing/2014/main" id="{8F6F4C09-7AF5-4919-8EB7-AF76AAD9E11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30" name="Google Shape;430;p16">
            <a:extLst xmlns:a="http://schemas.openxmlformats.org/drawingml/2006/main">
              <a:ext uri="{FF2B5EF4-FFF2-40B4-BE49-F238E27FC236}">
                <a16:creationId xmlns:a16="http://schemas.microsoft.com/office/drawing/2014/main" id="{3E646A46-3006-4137-BBB0-7632F5BCF342}"/>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14</a:t>
            </a:r>
            <a:endParaRPr/>
          </a:p>
        </p:txBody>
      </p:sp>
      <p:sp>
        <p:nvSpPr>
          <p:cNvPr id="431" name="Google Shape;431;p16">
            <a:extLst xmlns:a="http://schemas.openxmlformats.org/drawingml/2006/main">
              <a:ext uri="{FF2B5EF4-FFF2-40B4-BE49-F238E27FC236}">
                <a16:creationId xmlns:a16="http://schemas.microsoft.com/office/drawing/2014/main" id="{92B030FF-F200-4339-BF1A-56DC32714E28}"/>
              </a:ext>
            </a:extLst>
          </p:cNvPr>
          <p:cNvSpPr>
            <a:spLocks xmlns:a="http://schemas.openxmlformats.org/drawingml/2006/main" noGrp="1"/>
          </p:cNvSpPr>
          <p:nvPr/>
        </p:nvSpPr>
        <p:spPr>
          <a:xfrm xmlns:a="http://schemas.openxmlformats.org/drawingml/2006/main">
            <a:off x="83820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425"/>
              <a:buFont typeface="Lato"/>
              <a:buNone/>
            </a:pPr>
            <a:r>
              <a:rPr sz="1425" b="1" i="0">
                <a:solidFill>
                  <a:srgbClr val="00A88F"/>
                </a:solidFill>
                <a:latin typeface="Lato"/>
                <a:ea typeface="Lato"/>
                <a:cs typeface="Lato"/>
              </a:rPr>
              <a:t>01</a:t>
            </a:r>
            <a:endParaRPr/>
          </a:p>
        </p:txBody>
      </p:sp>
      <p:sp>
        <p:nvSpPr>
          <p:cNvPr id="432" name="Google Shape;432;p16">
            <a:extLst xmlns:a="http://schemas.openxmlformats.org/drawingml/2006/main">
              <a:ext uri="{FF2B5EF4-FFF2-40B4-BE49-F238E27FC236}">
                <a16:creationId xmlns:a16="http://schemas.microsoft.com/office/drawing/2014/main" id="{21997C9C-3CB2-4422-A341-BAD534061B24}"/>
              </a:ext>
            </a:extLst>
          </p:cNvPr>
          <p:cNvSpPr>
            <a:spLocks xmlns:a="http://schemas.openxmlformats.org/drawingml/2006/main" noGrp="1"/>
          </p:cNvSpPr>
          <p:nvPr/>
        </p:nvSpPr>
        <p:spPr>
          <a:xfrm xmlns:a="http://schemas.openxmlformats.org/drawingml/2006/main">
            <a:off x="142875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MODEL RESPONSE</a:t>
            </a:r>
            <a:endParaRPr/>
          </a:p>
        </p:txBody>
      </p:sp>
      <p:sp>
        <p:nvSpPr>
          <p:cNvPr id="433" name="Google Shape;433;p16">
            <a:extLst xmlns:a="http://schemas.openxmlformats.org/drawingml/2006/main">
              <a:ext uri="{FF2B5EF4-FFF2-40B4-BE49-F238E27FC236}">
                <a16:creationId xmlns:a16="http://schemas.microsoft.com/office/drawing/2014/main" id="{F1E8761D-68EE-4700-ACA5-9B9316ECC0FB}"/>
              </a:ext>
            </a:extLst>
          </p:cNvPr>
          <p:cNvSpPr>
            <a:spLocks xmlns:a="http://schemas.openxmlformats.org/drawingml/2006/main" noGrp="1"/>
          </p:cNvSpPr>
          <p:nvPr/>
        </p:nvSpPr>
        <p:spPr>
          <a:xfrm xmlns:a="http://schemas.openxmlformats.org/drawingml/2006/main">
            <a:off x="142875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Different representations of the climate system</a:t>
            </a:r>
            <a:endParaRPr/>
          </a:p>
        </p:txBody>
      </p:sp>
      <p:sp>
        <p:nvSpPr>
          <p:cNvPr id="434" name="Google Shape;434;p16">
            <a:extLst xmlns:a="http://schemas.openxmlformats.org/drawingml/2006/main">
              <a:ext uri="{FF2B5EF4-FFF2-40B4-BE49-F238E27FC236}">
                <a16:creationId xmlns:a16="http://schemas.microsoft.com/office/drawing/2014/main" id="{F9A10D55-B3E4-48BF-BB70-E210F1AE319E}"/>
              </a:ext>
            </a:extLst>
          </p:cNvPr>
          <p:cNvSpPr>
            <a:spLocks xmlns:a="http://schemas.openxmlformats.org/drawingml/2006/main" noGrp="1"/>
          </p:cNvSpPr>
          <p:nvPr/>
        </p:nvSpPr>
        <p:spPr>
          <a:xfrm xmlns:a="http://schemas.openxmlformats.org/drawingml/2006/main">
            <a:off x="455295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425"/>
              <a:buFont typeface="Lato"/>
              <a:buNone/>
            </a:pPr>
            <a:r>
              <a:rPr sz="1425" b="1" i="0">
                <a:solidFill>
                  <a:srgbClr val="F2B632"/>
                </a:solidFill>
                <a:latin typeface="Lato"/>
                <a:ea typeface="Lato"/>
                <a:cs typeface="Lato"/>
              </a:rPr>
              <a:t>02</a:t>
            </a:r>
            <a:endParaRPr/>
          </a:p>
        </p:txBody>
      </p:sp>
      <p:sp>
        <p:nvSpPr>
          <p:cNvPr id="435" name="Google Shape;435;p16">
            <a:extLst xmlns:a="http://schemas.openxmlformats.org/drawingml/2006/main">
              <a:ext uri="{FF2B5EF4-FFF2-40B4-BE49-F238E27FC236}">
                <a16:creationId xmlns:a16="http://schemas.microsoft.com/office/drawing/2014/main" id="{F52F08EB-93FD-4984-BFC6-73FC273E12A6}"/>
              </a:ext>
            </a:extLst>
          </p:cNvPr>
          <p:cNvSpPr>
            <a:spLocks xmlns:a="http://schemas.openxmlformats.org/drawingml/2006/main" noGrp="1"/>
          </p:cNvSpPr>
          <p:nvPr/>
        </p:nvSpPr>
        <p:spPr>
          <a:xfrm xmlns:a="http://schemas.openxmlformats.org/drawingml/2006/main">
            <a:off x="514350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FUTURE SCENARIO</a:t>
            </a:r>
            <a:endParaRPr/>
          </a:p>
        </p:txBody>
      </p:sp>
      <p:sp>
        <p:nvSpPr>
          <p:cNvPr id="436" name="Google Shape;436;p16">
            <a:extLst xmlns:a="http://schemas.openxmlformats.org/drawingml/2006/main">
              <a:ext uri="{FF2B5EF4-FFF2-40B4-BE49-F238E27FC236}">
                <a16:creationId xmlns:a16="http://schemas.microsoft.com/office/drawing/2014/main" id="{B21A3374-47D6-4AFA-A48E-3EA3980F5767}"/>
              </a:ext>
            </a:extLst>
          </p:cNvPr>
          <p:cNvSpPr>
            <a:spLocks xmlns:a="http://schemas.openxmlformats.org/drawingml/2006/main" noGrp="1"/>
          </p:cNvSpPr>
          <p:nvPr/>
        </p:nvSpPr>
        <p:spPr>
          <a:xfrm xmlns:a="http://schemas.openxmlformats.org/drawingml/2006/main">
            <a:off x="514350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Different future emissions and land-use pathways</a:t>
            </a:r>
            <a:endParaRPr/>
          </a:p>
        </p:txBody>
      </p:sp>
      <p:sp>
        <p:nvSpPr>
          <p:cNvPr id="437" name="Google Shape;437;p16">
            <a:extLst xmlns:a="http://schemas.openxmlformats.org/drawingml/2006/main">
              <a:ext uri="{FF2B5EF4-FFF2-40B4-BE49-F238E27FC236}">
                <a16:creationId xmlns:a16="http://schemas.microsoft.com/office/drawing/2014/main" id="{670EBD70-A0F3-4372-BF64-9121D2B023E6}"/>
              </a:ext>
            </a:extLst>
          </p:cNvPr>
          <p:cNvSpPr>
            <a:spLocks xmlns:a="http://schemas.openxmlformats.org/drawingml/2006/main" noGrp="1"/>
          </p:cNvSpPr>
          <p:nvPr/>
        </p:nvSpPr>
        <p:spPr>
          <a:xfrm xmlns:a="http://schemas.openxmlformats.org/drawingml/2006/main">
            <a:off x="826770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425"/>
              <a:buFont typeface="Lato"/>
              <a:buNone/>
            </a:pPr>
            <a:r>
              <a:rPr sz="1425" b="1" i="0">
                <a:solidFill>
                  <a:srgbClr val="183A59"/>
                </a:solidFill>
                <a:latin typeface="Lato"/>
                <a:ea typeface="Lato"/>
                <a:cs typeface="Lato"/>
              </a:rPr>
              <a:t>03</a:t>
            </a:r>
            <a:endParaRPr/>
          </a:p>
        </p:txBody>
      </p:sp>
      <p:sp>
        <p:nvSpPr>
          <p:cNvPr id="438" name="Google Shape;438;p16">
            <a:extLst xmlns:a="http://schemas.openxmlformats.org/drawingml/2006/main">
              <a:ext uri="{FF2B5EF4-FFF2-40B4-BE49-F238E27FC236}">
                <a16:creationId xmlns:a16="http://schemas.microsoft.com/office/drawing/2014/main" id="{71CFDD96-E056-4EA9-A327-CAF6ED37615E}"/>
              </a:ext>
            </a:extLst>
          </p:cNvPr>
          <p:cNvSpPr>
            <a:spLocks xmlns:a="http://schemas.openxmlformats.org/drawingml/2006/main" noGrp="1"/>
          </p:cNvSpPr>
          <p:nvPr/>
        </p:nvSpPr>
        <p:spPr>
          <a:xfrm xmlns:a="http://schemas.openxmlformats.org/drawingml/2006/main">
            <a:off x="885825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INTERNAL VARIABILITY</a:t>
            </a:r>
            <a:endParaRPr/>
          </a:p>
        </p:txBody>
      </p:sp>
      <p:sp>
        <p:nvSpPr>
          <p:cNvPr id="439" name="Google Shape;439;p16">
            <a:extLst xmlns:a="http://schemas.openxmlformats.org/drawingml/2006/main">
              <a:ext uri="{FF2B5EF4-FFF2-40B4-BE49-F238E27FC236}">
                <a16:creationId xmlns:a16="http://schemas.microsoft.com/office/drawing/2014/main" id="{C389AAE1-10F0-41A1-831E-AC0254BE7F21}"/>
              </a:ext>
            </a:extLst>
          </p:cNvPr>
          <p:cNvSpPr>
            <a:spLocks xmlns:a="http://schemas.openxmlformats.org/drawingml/2006/main" noGrp="1"/>
          </p:cNvSpPr>
          <p:nvPr/>
        </p:nvSpPr>
        <p:spPr>
          <a:xfrm xmlns:a="http://schemas.openxmlformats.org/drawingml/2006/main">
            <a:off x="885825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Natural fluctuations within the climate system</a:t>
            </a:r>
            <a:endParaRPr/>
          </a:p>
        </p:txBody>
      </p:sp>
      <p:sp>
        <p:nvSpPr>
          <p:cNvPr id="440" name="Google Shape;440;p16">
            <a:extLst xmlns:a="http://schemas.openxmlformats.org/drawingml/2006/main">
              <a:ext uri="{FF2B5EF4-FFF2-40B4-BE49-F238E27FC236}">
                <a16:creationId xmlns:a16="http://schemas.microsoft.com/office/drawing/2014/main" id="{069E9F16-D868-4E8D-B588-638C19D5EBDC}"/>
              </a:ext>
            </a:extLst>
          </p:cNvPr>
          <p:cNvSpPr>
            <a:spLocks xmlns:a="http://schemas.openxmlformats.org/drawingml/2006/main" noGrp="1"/>
          </p:cNvSpPr>
          <p:nvPr/>
        </p:nvSpPr>
        <p:spPr>
          <a:xfrm xmlns:a="http://schemas.openxmlformats.org/drawingml/2006/main">
            <a:off x="800100" y="3162300"/>
            <a:ext cx="10591800" cy="1009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1" name="Google Shape;441;p16">
            <a:extLst xmlns:a="http://schemas.openxmlformats.org/drawingml/2006/main">
              <a:ext uri="{FF2B5EF4-FFF2-40B4-BE49-F238E27FC236}">
                <a16:creationId xmlns:a16="http://schemas.microsoft.com/office/drawing/2014/main" id="{ADCD70BE-3428-4551-B7B8-790B9235D3FC}"/>
              </a:ext>
            </a:extLst>
          </p:cNvPr>
          <p:cNvSpPr>
            <a:spLocks xmlns:a="http://schemas.openxmlformats.org/drawingml/2006/main" noGrp="1"/>
          </p:cNvSpPr>
          <p:nvPr/>
        </p:nvSpPr>
        <p:spPr>
          <a:xfrm xmlns:a="http://schemas.openxmlformats.org/drawingml/2006/main">
            <a:off x="1066800" y="3381375"/>
            <a:ext cx="2857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550"/>
              <a:buFont typeface="Lato"/>
              <a:buNone/>
            </a:pPr>
            <a:r>
              <a:rPr sz="2550" b="1" i="0">
                <a:solidFill>
                  <a:srgbClr val="FFFFFF"/>
                </a:solidFill>
                <a:latin typeface="Lato"/>
                <a:ea typeface="Lato"/>
                <a:cs typeface="Lato"/>
              </a:rPr>
              <a:t>ENSEMBLE</a:t>
            </a:r>
            <a:endParaRPr/>
          </a:p>
        </p:txBody>
      </p:sp>
      <p:sp>
        <p:nvSpPr>
          <p:cNvPr id="442" name="Google Shape;442;p16">
            <a:extLst xmlns:a="http://schemas.openxmlformats.org/drawingml/2006/main">
              <a:ext uri="{FF2B5EF4-FFF2-40B4-BE49-F238E27FC236}">
                <a16:creationId xmlns:a16="http://schemas.microsoft.com/office/drawing/2014/main" id="{5BE52501-1360-4076-819A-9B0B06410E48}"/>
              </a:ext>
            </a:extLst>
          </p:cNvPr>
          <p:cNvSpPr>
            <a:spLocks xmlns:a="http://schemas.openxmlformats.org/drawingml/2006/main" noGrp="1"/>
          </p:cNvSpPr>
          <p:nvPr/>
        </p:nvSpPr>
        <p:spPr>
          <a:xfrm xmlns:a="http://schemas.openxmlformats.org/drawingml/2006/main">
            <a:off x="4095750" y="3390900"/>
            <a:ext cx="6762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D7E5EC"/>
              </a:buClr>
              <a:buSzPts val="2025"/>
              <a:buFont typeface="Lato"/>
              <a:buNone/>
            </a:pPr>
            <a:r>
              <a:rPr sz="2025" b="1" i="0">
                <a:solidFill>
                  <a:srgbClr val="D7E5EC"/>
                </a:solidFill>
                <a:latin typeface="Lato"/>
                <a:ea typeface="Lato"/>
                <a:cs typeface="Lato"/>
              </a:rPr>
              <a:t>A range of plausible climate responses</a:t>
            </a:r>
            <a:endParaRPr/>
          </a:p>
        </p:txBody>
      </p:sp>
      <p:sp>
        <p:nvSpPr>
          <p:cNvPr id="443" name="Google Shape;443;p16">
            <a:extLst xmlns:a="http://schemas.openxmlformats.org/drawingml/2006/main">
              <a:ext uri="{FF2B5EF4-FFF2-40B4-BE49-F238E27FC236}">
                <a16:creationId xmlns:a16="http://schemas.microsoft.com/office/drawing/2014/main" id="{8908D0CF-EF33-4E38-BFE7-553BB0165683}"/>
              </a:ext>
            </a:extLst>
          </p:cNvPr>
          <p:cNvSpPr>
            <a:spLocks xmlns:a="http://schemas.openxmlformats.org/drawingml/2006/main" noGrp="1"/>
          </p:cNvSpPr>
          <p:nvPr/>
        </p:nvSpPr>
        <p:spPr>
          <a:xfrm xmlns:a="http://schemas.openxmlformats.org/drawingml/2006/main">
            <a:off x="8763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CENTRE</a:t>
            </a:r>
            <a:endParaRPr/>
          </a:p>
        </p:txBody>
      </p:sp>
      <p:sp>
        <p:nvSpPr>
          <p:cNvPr id="444" name="Google Shape;444;p16">
            <a:extLst xmlns:a="http://schemas.openxmlformats.org/drawingml/2006/main">
              <a:ext uri="{FF2B5EF4-FFF2-40B4-BE49-F238E27FC236}">
                <a16:creationId xmlns:a16="http://schemas.microsoft.com/office/drawing/2014/main" id="{FBC2B972-40B6-4276-8B89-57A91066CF57}"/>
              </a:ext>
            </a:extLst>
          </p:cNvPr>
          <p:cNvSpPr>
            <a:spLocks xmlns:a="http://schemas.openxmlformats.org/drawingml/2006/main" noGrp="1"/>
          </p:cNvSpPr>
          <p:nvPr/>
        </p:nvSpPr>
        <p:spPr>
          <a:xfrm xmlns:a="http://schemas.openxmlformats.org/drawingml/2006/main">
            <a:off x="8763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Mean or median change</a:t>
            </a:r>
            <a:endParaRPr/>
          </a:p>
        </p:txBody>
      </p:sp>
      <p:sp>
        <p:nvSpPr>
          <p:cNvPr id="445" name="Google Shape;445;p16">
            <a:extLst xmlns:a="http://schemas.openxmlformats.org/drawingml/2006/main">
              <a:ext uri="{FF2B5EF4-FFF2-40B4-BE49-F238E27FC236}">
                <a16:creationId xmlns:a16="http://schemas.microsoft.com/office/drawing/2014/main" id="{AEAA0B31-596D-4285-99A9-AD1D640964B9}"/>
              </a:ext>
            </a:extLst>
          </p:cNvPr>
          <p:cNvSpPr>
            <a:spLocks xmlns:a="http://schemas.openxmlformats.org/drawingml/2006/main" noGrp="1"/>
          </p:cNvSpPr>
          <p:nvPr/>
        </p:nvSpPr>
        <p:spPr>
          <a:xfrm xmlns:a="http://schemas.openxmlformats.org/drawingml/2006/main">
            <a:off x="4210050" y="4552950"/>
            <a:ext cx="9525" cy="8191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6" name="Google Shape;446;p16">
            <a:extLst xmlns:a="http://schemas.openxmlformats.org/drawingml/2006/main">
              <a:ext uri="{FF2B5EF4-FFF2-40B4-BE49-F238E27FC236}">
                <a16:creationId xmlns:a16="http://schemas.microsoft.com/office/drawing/2014/main" id="{078777C3-4F7D-4CAE-84F8-F21118FF4603}"/>
              </a:ext>
            </a:extLst>
          </p:cNvPr>
          <p:cNvSpPr>
            <a:spLocks xmlns:a="http://schemas.openxmlformats.org/drawingml/2006/main" noGrp="1"/>
          </p:cNvSpPr>
          <p:nvPr/>
        </p:nvSpPr>
        <p:spPr>
          <a:xfrm xmlns:a="http://schemas.openxmlformats.org/drawingml/2006/main">
            <a:off x="45720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SPREAD</a:t>
            </a:r>
            <a:endParaRPr/>
          </a:p>
        </p:txBody>
      </p:sp>
      <p:sp>
        <p:nvSpPr>
          <p:cNvPr id="447" name="Google Shape;447;p16">
            <a:extLst xmlns:a="http://schemas.openxmlformats.org/drawingml/2006/main">
              <a:ext uri="{FF2B5EF4-FFF2-40B4-BE49-F238E27FC236}">
                <a16:creationId xmlns:a16="http://schemas.microsoft.com/office/drawing/2014/main" id="{E6652C39-7A21-466D-BD8F-06F142F3B336}"/>
              </a:ext>
            </a:extLst>
          </p:cNvPr>
          <p:cNvSpPr>
            <a:spLocks xmlns:a="http://schemas.openxmlformats.org/drawingml/2006/main" noGrp="1"/>
          </p:cNvSpPr>
          <p:nvPr/>
        </p:nvSpPr>
        <p:spPr>
          <a:xfrm xmlns:a="http://schemas.openxmlformats.org/drawingml/2006/main">
            <a:off x="45720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Range across models</a:t>
            </a:r>
            <a:endParaRPr/>
          </a:p>
        </p:txBody>
      </p:sp>
      <p:sp>
        <p:nvSpPr>
          <p:cNvPr id="448" name="Google Shape;448;p16">
            <a:extLst xmlns:a="http://schemas.openxmlformats.org/drawingml/2006/main">
              <a:ext uri="{FF2B5EF4-FFF2-40B4-BE49-F238E27FC236}">
                <a16:creationId xmlns:a16="http://schemas.microsoft.com/office/drawing/2014/main" id="{904A22DC-2DF7-43D8-BDD7-BC543478D503}"/>
              </a:ext>
            </a:extLst>
          </p:cNvPr>
          <p:cNvSpPr>
            <a:spLocks xmlns:a="http://schemas.openxmlformats.org/drawingml/2006/main" noGrp="1"/>
          </p:cNvSpPr>
          <p:nvPr/>
        </p:nvSpPr>
        <p:spPr>
          <a:xfrm xmlns:a="http://schemas.openxmlformats.org/drawingml/2006/main">
            <a:off x="7905750" y="4552950"/>
            <a:ext cx="9525" cy="8191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9" name="Google Shape;449;p16">
            <a:extLst xmlns:a="http://schemas.openxmlformats.org/drawingml/2006/main">
              <a:ext uri="{FF2B5EF4-FFF2-40B4-BE49-F238E27FC236}">
                <a16:creationId xmlns:a16="http://schemas.microsoft.com/office/drawing/2014/main" id="{6F8CADDA-3C65-4147-8ED1-5E155A184E4F}"/>
              </a:ext>
            </a:extLst>
          </p:cNvPr>
          <p:cNvSpPr>
            <a:spLocks xmlns:a="http://schemas.openxmlformats.org/drawingml/2006/main" noGrp="1"/>
          </p:cNvSpPr>
          <p:nvPr/>
        </p:nvSpPr>
        <p:spPr>
          <a:xfrm xmlns:a="http://schemas.openxmlformats.org/drawingml/2006/main">
            <a:off x="82677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AGREEMENT</a:t>
            </a:r>
            <a:endParaRPr/>
          </a:p>
        </p:txBody>
      </p:sp>
      <p:sp>
        <p:nvSpPr>
          <p:cNvPr id="450" name="Google Shape;450;p16">
            <a:extLst xmlns:a="http://schemas.openxmlformats.org/drawingml/2006/main">
              <a:ext uri="{FF2B5EF4-FFF2-40B4-BE49-F238E27FC236}">
                <a16:creationId xmlns:a16="http://schemas.microsoft.com/office/drawing/2014/main" id="{DABB0B28-A5E3-402D-A635-80B26F60F2DA}"/>
              </a:ext>
            </a:extLst>
          </p:cNvPr>
          <p:cNvSpPr>
            <a:spLocks xmlns:a="http://schemas.openxmlformats.org/drawingml/2006/main" noGrp="1"/>
          </p:cNvSpPr>
          <p:nvPr/>
        </p:nvSpPr>
        <p:spPr>
          <a:xfrm xmlns:a="http://schemas.openxmlformats.org/drawingml/2006/main">
            <a:off x="82677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422"/>
              <a:buFont typeface="Lato"/>
              <a:buNone/>
            </a:pPr>
            <a:r>
              <a:rPr sz="1422" b="1" i="0">
                <a:solidFill>
                  <a:srgbClr val="12304E"/>
                </a:solidFill>
                <a:latin typeface="Lato"/>
                <a:ea typeface="Lato"/>
                <a:cs typeface="Lato"/>
              </a:rPr>
              <a:t>Direction and consistency of change</a:t>
            </a:r>
            <a:endParaRPr/>
          </a:p>
        </p:txBody>
      </p:sp>
    </p:spTree>
    <p:extLst>
      <p:ext uri="{BB962C8B-B14F-4D97-AF65-F5344CB8AC3E}">
        <p14:creationId xmlns:p14="http://schemas.microsoft.com/office/powerpoint/2010/main" val="1771585516"/>
      </p:ext>
    </p:extLst>
  </p:cSld>
</p:sld>
</file>

<file path=ppt/slides/slide1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56" name="Google Shape;456;p17">
            <a:extLst xmlns:a="http://schemas.openxmlformats.org/drawingml/2006/main">
              <a:ext uri="{FF2B5EF4-FFF2-40B4-BE49-F238E27FC236}">
                <a16:creationId xmlns:a16="http://schemas.microsoft.com/office/drawing/2014/main" id="{6014F048-F9F8-4BD7-97A4-203868F7CDB8}"/>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variables to indicators and hazards</a:t>
            </a:r>
            <a:endParaRPr/>
          </a:p>
        </p:txBody>
      </p:sp>
      <p:sp>
        <p:nvSpPr>
          <p:cNvPr id="457" name="Google Shape;457;p17">
            <a:extLst xmlns:a="http://schemas.openxmlformats.org/drawingml/2006/main">
              <a:ext uri="{FF2B5EF4-FFF2-40B4-BE49-F238E27FC236}">
                <a16:creationId xmlns:a16="http://schemas.microsoft.com/office/drawing/2014/main" id="{00217D3A-08DB-4910-9A11-FA0AC0B0160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Indicators translate climate data into quantities that relate more directly to decisions</a:t>
            </a:r>
            <a:endParaRPr/>
          </a:p>
        </p:txBody>
      </p:sp>
      <p:sp>
        <p:nvSpPr>
          <p:cNvPr id="458" name="Google Shape;458;p17">
            <a:extLst xmlns:a="http://schemas.openxmlformats.org/drawingml/2006/main">
              <a:ext uri="{FF2B5EF4-FFF2-40B4-BE49-F238E27FC236}">
                <a16:creationId xmlns:a16="http://schemas.microsoft.com/office/drawing/2014/main" id="{0F77E0C6-E4BF-4892-9B8F-61D3E0DBDCC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9" name="Google Shape;459;p17">
            <a:extLst xmlns:a="http://schemas.openxmlformats.org/drawingml/2006/main">
              <a:ext uri="{FF2B5EF4-FFF2-40B4-BE49-F238E27FC236}">
                <a16:creationId xmlns:a16="http://schemas.microsoft.com/office/drawing/2014/main" id="{D95497CE-53FB-4888-9683-7FFF00AE182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0" name="Google Shape;460;p17">
            <a:extLst xmlns:a="http://schemas.openxmlformats.org/drawingml/2006/main">
              <a:ext uri="{FF2B5EF4-FFF2-40B4-BE49-F238E27FC236}">
                <a16:creationId xmlns:a16="http://schemas.microsoft.com/office/drawing/2014/main" id="{B1909D26-D242-4D1F-BC25-9801F6401F9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1" name="Google Shape;461;p17">
            <a:extLst xmlns:a="http://schemas.openxmlformats.org/drawingml/2006/main">
              <a:ext uri="{FF2B5EF4-FFF2-40B4-BE49-F238E27FC236}">
                <a16:creationId xmlns:a16="http://schemas.microsoft.com/office/drawing/2014/main" id="{EC233F06-687F-400F-BA0E-0619E11F477A}"/>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62" name="Google Shape;462;p17">
            <a:extLst xmlns:a="http://schemas.openxmlformats.org/drawingml/2006/main">
              <a:ext uri="{FF2B5EF4-FFF2-40B4-BE49-F238E27FC236}">
                <a16:creationId xmlns:a16="http://schemas.microsoft.com/office/drawing/2014/main" id="{3F36A0D1-4C88-4E46-9DA9-C4706DE9D0C9}"/>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15</a:t>
            </a:r>
            <a:endParaRPr/>
          </a:p>
        </p:txBody>
      </p:sp>
      <p:sp>
        <p:nvSpPr>
          <p:cNvPr id="463" name="Google Shape;463;p17">
            <a:extLst xmlns:a="http://schemas.openxmlformats.org/drawingml/2006/main">
              <a:ext uri="{FF2B5EF4-FFF2-40B4-BE49-F238E27FC236}">
                <a16:creationId xmlns:a16="http://schemas.microsoft.com/office/drawing/2014/main" id="{C3C500AD-E21E-418C-B14A-2261DA5E88E4}"/>
              </a:ext>
            </a:extLst>
          </p:cNvPr>
          <p:cNvSpPr>
            <a:spLocks xmlns:a="http://schemas.openxmlformats.org/drawingml/2006/main" noGrp="1"/>
          </p:cNvSpPr>
          <p:nvPr/>
        </p:nvSpPr>
        <p:spPr>
          <a:xfrm xmlns:a="http://schemas.openxmlformats.org/drawingml/2006/main">
            <a:off x="666750" y="2019300"/>
            <a:ext cx="2781300" cy="22669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4" name="Google Shape;464;p17">
            <a:extLst xmlns:a="http://schemas.openxmlformats.org/drawingml/2006/main">
              <a:ext uri="{FF2B5EF4-FFF2-40B4-BE49-F238E27FC236}">
                <a16:creationId xmlns:a16="http://schemas.microsoft.com/office/drawing/2014/main" id="{A12DFFE8-13D3-46CE-93CA-468A4DF5A027}"/>
              </a:ext>
            </a:extLst>
          </p:cNvPr>
          <p:cNvSpPr>
            <a:spLocks xmlns:a="http://schemas.openxmlformats.org/drawingml/2006/main" noGrp="1"/>
          </p:cNvSpPr>
          <p:nvPr/>
        </p:nvSpPr>
        <p:spPr>
          <a:xfrm xmlns:a="http://schemas.openxmlformats.org/drawingml/2006/main">
            <a:off x="8953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01</a:t>
            </a:r>
            <a:endParaRPr/>
          </a:p>
        </p:txBody>
      </p:sp>
      <p:sp>
        <p:nvSpPr>
          <p:cNvPr id="465" name="Google Shape;465;p17">
            <a:extLst xmlns:a="http://schemas.openxmlformats.org/drawingml/2006/main">
              <a:ext uri="{FF2B5EF4-FFF2-40B4-BE49-F238E27FC236}">
                <a16:creationId xmlns:a16="http://schemas.microsoft.com/office/drawing/2014/main" id="{6F133B0B-937D-41DF-9D8D-FD3FD301F009}"/>
              </a:ext>
            </a:extLst>
          </p:cNvPr>
          <p:cNvSpPr>
            <a:spLocks xmlns:a="http://schemas.openxmlformats.org/drawingml/2006/main" noGrp="1"/>
          </p:cNvSpPr>
          <p:nvPr/>
        </p:nvSpPr>
        <p:spPr>
          <a:xfrm xmlns:a="http://schemas.openxmlformats.org/drawingml/2006/main">
            <a:off x="8953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VARIABLE</a:t>
            </a:r>
            <a:endParaRPr/>
          </a:p>
        </p:txBody>
      </p:sp>
      <p:sp>
        <p:nvSpPr>
          <p:cNvPr id="466" name="Google Shape;466;p17">
            <a:extLst xmlns:a="http://schemas.openxmlformats.org/drawingml/2006/main">
              <a:ext uri="{FF2B5EF4-FFF2-40B4-BE49-F238E27FC236}">
                <a16:creationId xmlns:a16="http://schemas.microsoft.com/office/drawing/2014/main" id="{6C8702BF-6BEC-4F24-9650-2776B2AA0229}"/>
              </a:ext>
            </a:extLst>
          </p:cNvPr>
          <p:cNvSpPr>
            <a:spLocks xmlns:a="http://schemas.openxmlformats.org/drawingml/2006/main" noGrp="1"/>
          </p:cNvSpPr>
          <p:nvPr/>
        </p:nvSpPr>
        <p:spPr>
          <a:xfrm xmlns:a="http://schemas.openxmlformats.org/drawingml/2006/main">
            <a:off x="8953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50"/>
              <a:buFont typeface="Lato"/>
              <a:buNone/>
            </a:pPr>
            <a:r>
              <a:rPr sz="1650" b="1" i="0">
                <a:solidFill>
                  <a:srgbClr val="12304E"/>
                </a:solidFill>
                <a:latin typeface="Lato"/>
                <a:ea typeface="Lato"/>
                <a:cs typeface="Lato"/>
              </a:rPr>
              <a:t>Daily maximum temperature</a:t>
            </a:r>
            <a:endParaRPr/>
          </a:p>
        </p:txBody>
      </p:sp>
      <p:sp>
        <p:nvSpPr>
          <p:cNvPr id="467" name="Google Shape;467;p17">
            <a:extLst xmlns:a="http://schemas.openxmlformats.org/drawingml/2006/main">
              <a:ext uri="{FF2B5EF4-FFF2-40B4-BE49-F238E27FC236}">
                <a16:creationId xmlns:a16="http://schemas.microsoft.com/office/drawing/2014/main" id="{6289750A-3A26-45E9-A6BB-338F9C39C947}"/>
              </a:ext>
            </a:extLst>
          </p:cNvPr>
          <p:cNvSpPr>
            <a:spLocks xmlns:a="http://schemas.openxmlformats.org/drawingml/2006/main" noGrp="1"/>
          </p:cNvSpPr>
          <p:nvPr/>
        </p:nvSpPr>
        <p:spPr>
          <a:xfrm xmlns:a="http://schemas.openxmlformats.org/drawingml/2006/main">
            <a:off x="3448050" y="2019300"/>
            <a:ext cx="2781300" cy="22669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8" name="Google Shape;468;p17">
            <a:extLst xmlns:a="http://schemas.openxmlformats.org/drawingml/2006/main">
              <a:ext uri="{FF2B5EF4-FFF2-40B4-BE49-F238E27FC236}">
                <a16:creationId xmlns:a16="http://schemas.microsoft.com/office/drawing/2014/main" id="{555604B6-A048-443C-B638-A93175CB7474}"/>
              </a:ext>
            </a:extLst>
          </p:cNvPr>
          <p:cNvSpPr>
            <a:spLocks xmlns:a="http://schemas.openxmlformats.org/drawingml/2006/main" noGrp="1"/>
          </p:cNvSpPr>
          <p:nvPr/>
        </p:nvSpPr>
        <p:spPr>
          <a:xfrm xmlns:a="http://schemas.openxmlformats.org/drawingml/2006/main">
            <a:off x="36766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469" name="Google Shape;469;p17">
            <a:extLst xmlns:a="http://schemas.openxmlformats.org/drawingml/2006/main">
              <a:ext uri="{FF2B5EF4-FFF2-40B4-BE49-F238E27FC236}">
                <a16:creationId xmlns:a16="http://schemas.microsoft.com/office/drawing/2014/main" id="{E7015973-1F36-4598-815B-CD5269BCC3B4}"/>
              </a:ext>
            </a:extLst>
          </p:cNvPr>
          <p:cNvSpPr>
            <a:spLocks xmlns:a="http://schemas.openxmlformats.org/drawingml/2006/main" noGrp="1"/>
          </p:cNvSpPr>
          <p:nvPr/>
        </p:nvSpPr>
        <p:spPr>
          <a:xfrm xmlns:a="http://schemas.openxmlformats.org/drawingml/2006/main">
            <a:off x="36766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470" name="Google Shape;470;p17">
            <a:extLst xmlns:a="http://schemas.openxmlformats.org/drawingml/2006/main">
              <a:ext uri="{FF2B5EF4-FFF2-40B4-BE49-F238E27FC236}">
                <a16:creationId xmlns:a16="http://schemas.microsoft.com/office/drawing/2014/main" id="{BF5D2BC6-19EF-48B5-B452-B215F8215F31}"/>
              </a:ext>
            </a:extLst>
          </p:cNvPr>
          <p:cNvSpPr>
            <a:spLocks xmlns:a="http://schemas.openxmlformats.org/drawingml/2006/main" noGrp="1"/>
          </p:cNvSpPr>
          <p:nvPr/>
        </p:nvSpPr>
        <p:spPr>
          <a:xfrm xmlns:a="http://schemas.openxmlformats.org/drawingml/2006/main">
            <a:off x="36766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50"/>
              <a:buFont typeface="Lato"/>
              <a:buNone/>
            </a:pPr>
            <a:r>
              <a:rPr sz="1650" b="1" i="0">
                <a:solidFill>
                  <a:srgbClr val="12304E"/>
                </a:solidFill>
                <a:latin typeface="Lato"/>
                <a:ea typeface="Lato"/>
                <a:cs typeface="Lato"/>
              </a:rPr>
              <a:t>Days above 35°C</a:t>
            </a:r>
            <a:endParaRPr/>
          </a:p>
        </p:txBody>
      </p:sp>
      <p:sp>
        <p:nvSpPr>
          <p:cNvPr id="471" name="Google Shape;471;p17">
            <a:extLst xmlns:a="http://schemas.openxmlformats.org/drawingml/2006/main">
              <a:ext uri="{FF2B5EF4-FFF2-40B4-BE49-F238E27FC236}">
                <a16:creationId xmlns:a16="http://schemas.microsoft.com/office/drawing/2014/main" id="{455DB43D-C967-4E65-AE28-676701CF569F}"/>
              </a:ext>
            </a:extLst>
          </p:cNvPr>
          <p:cNvSpPr>
            <a:spLocks xmlns:a="http://schemas.openxmlformats.org/drawingml/2006/main" noGrp="1"/>
          </p:cNvSpPr>
          <p:nvPr/>
        </p:nvSpPr>
        <p:spPr>
          <a:xfrm xmlns:a="http://schemas.openxmlformats.org/drawingml/2006/main">
            <a:off x="6229350" y="2019300"/>
            <a:ext cx="2781300" cy="22669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72" name="Google Shape;472;p17">
            <a:extLst xmlns:a="http://schemas.openxmlformats.org/drawingml/2006/main">
              <a:ext uri="{FF2B5EF4-FFF2-40B4-BE49-F238E27FC236}">
                <a16:creationId xmlns:a16="http://schemas.microsoft.com/office/drawing/2014/main" id="{0644CA96-9584-4EC8-83BC-BC1D9A9AD88E}"/>
              </a:ext>
            </a:extLst>
          </p:cNvPr>
          <p:cNvSpPr>
            <a:spLocks xmlns:a="http://schemas.openxmlformats.org/drawingml/2006/main" noGrp="1"/>
          </p:cNvSpPr>
          <p:nvPr/>
        </p:nvSpPr>
        <p:spPr>
          <a:xfrm xmlns:a="http://schemas.openxmlformats.org/drawingml/2006/main">
            <a:off x="64579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03</a:t>
            </a:r>
            <a:endParaRPr/>
          </a:p>
        </p:txBody>
      </p:sp>
      <p:sp>
        <p:nvSpPr>
          <p:cNvPr id="473" name="Google Shape;473;p17">
            <a:extLst xmlns:a="http://schemas.openxmlformats.org/drawingml/2006/main">
              <a:ext uri="{FF2B5EF4-FFF2-40B4-BE49-F238E27FC236}">
                <a16:creationId xmlns:a16="http://schemas.microsoft.com/office/drawing/2014/main" id="{DF3F83AB-D0B9-4A99-8F59-3F9F01A3DA30}"/>
              </a:ext>
            </a:extLst>
          </p:cNvPr>
          <p:cNvSpPr>
            <a:spLocks xmlns:a="http://schemas.openxmlformats.org/drawingml/2006/main" noGrp="1"/>
          </p:cNvSpPr>
          <p:nvPr/>
        </p:nvSpPr>
        <p:spPr>
          <a:xfrm xmlns:a="http://schemas.openxmlformats.org/drawingml/2006/main">
            <a:off x="64579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CHANGE</a:t>
            </a:r>
            <a:endParaRPr/>
          </a:p>
        </p:txBody>
      </p:sp>
      <p:sp>
        <p:nvSpPr>
          <p:cNvPr id="474" name="Google Shape;474;p17">
            <a:extLst xmlns:a="http://schemas.openxmlformats.org/drawingml/2006/main">
              <a:ext uri="{FF2B5EF4-FFF2-40B4-BE49-F238E27FC236}">
                <a16:creationId xmlns:a16="http://schemas.microsoft.com/office/drawing/2014/main" id="{3051AE11-8848-4955-A899-739B3707826B}"/>
              </a:ext>
            </a:extLst>
          </p:cNvPr>
          <p:cNvSpPr>
            <a:spLocks xmlns:a="http://schemas.openxmlformats.org/drawingml/2006/main" noGrp="1"/>
          </p:cNvSpPr>
          <p:nvPr/>
        </p:nvSpPr>
        <p:spPr>
          <a:xfrm xmlns:a="http://schemas.openxmlformats.org/drawingml/2006/main">
            <a:off x="64579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06"/>
              <a:buFont typeface="Lato"/>
              <a:buNone/>
            </a:pPr>
            <a:r>
              <a:rPr sz="1607" b="1" i="0">
                <a:solidFill>
                  <a:srgbClr val="12304E"/>
                </a:solidFill>
                <a:latin typeface="Lato"/>
                <a:ea typeface="Lato"/>
                <a:cs typeface="Lato"/>
              </a:rPr>
              <a:t>Future period compared with baseline</a:t>
            </a:r>
            <a:endParaRPr/>
          </a:p>
        </p:txBody>
      </p:sp>
      <p:sp>
        <p:nvSpPr>
          <p:cNvPr id="475" name="Google Shape;475;p17">
            <a:extLst xmlns:a="http://schemas.openxmlformats.org/drawingml/2006/main">
              <a:ext uri="{FF2B5EF4-FFF2-40B4-BE49-F238E27FC236}">
                <a16:creationId xmlns:a16="http://schemas.microsoft.com/office/drawing/2014/main" id="{F57BCEDE-FA14-40F2-A91B-6B8FE8DA7A60}"/>
              </a:ext>
            </a:extLst>
          </p:cNvPr>
          <p:cNvSpPr>
            <a:spLocks xmlns:a="http://schemas.openxmlformats.org/drawingml/2006/main" noGrp="1"/>
          </p:cNvSpPr>
          <p:nvPr/>
        </p:nvSpPr>
        <p:spPr>
          <a:xfrm xmlns:a="http://schemas.openxmlformats.org/drawingml/2006/main">
            <a:off x="9010650" y="2019300"/>
            <a:ext cx="2781300" cy="2266950"/>
          </a:xfrm>
          <a:prstGeom xmlns:a="http://schemas.openxmlformats.org/drawingml/2006/main" prst="rect">
            <a:avLst/>
          </a:prstGeom>
          <a:solidFill xmlns:a="http://schemas.openxmlformats.org/drawingml/2006/main">
            <a:srgbClr val="DCEBE7"/>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76" name="Google Shape;476;p17">
            <a:extLst xmlns:a="http://schemas.openxmlformats.org/drawingml/2006/main">
              <a:ext uri="{FF2B5EF4-FFF2-40B4-BE49-F238E27FC236}">
                <a16:creationId xmlns:a16="http://schemas.microsoft.com/office/drawing/2014/main" id="{9CC29705-8DBB-49AC-8A08-5FF1A8A2F512}"/>
              </a:ext>
            </a:extLst>
          </p:cNvPr>
          <p:cNvSpPr>
            <a:spLocks xmlns:a="http://schemas.openxmlformats.org/drawingml/2006/main" noGrp="1"/>
          </p:cNvSpPr>
          <p:nvPr/>
        </p:nvSpPr>
        <p:spPr>
          <a:xfrm xmlns:a="http://schemas.openxmlformats.org/drawingml/2006/main">
            <a:off x="92392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350"/>
              <a:buFont typeface="Lato"/>
              <a:buNone/>
            </a:pPr>
            <a:r>
              <a:rPr sz="1350" b="1" i="0">
                <a:solidFill>
                  <a:srgbClr val="008D7A"/>
                </a:solidFill>
                <a:latin typeface="Lato"/>
                <a:ea typeface="Lato"/>
                <a:cs typeface="Lato"/>
              </a:rPr>
              <a:t>04</a:t>
            </a:r>
            <a:endParaRPr/>
          </a:p>
        </p:txBody>
      </p:sp>
      <p:sp>
        <p:nvSpPr>
          <p:cNvPr id="477" name="Google Shape;477;p17">
            <a:extLst xmlns:a="http://schemas.openxmlformats.org/drawingml/2006/main">
              <a:ext uri="{FF2B5EF4-FFF2-40B4-BE49-F238E27FC236}">
                <a16:creationId xmlns:a16="http://schemas.microsoft.com/office/drawing/2014/main" id="{38149372-75ED-4DDC-8ECB-C3E60A9C0867}"/>
              </a:ext>
            </a:extLst>
          </p:cNvPr>
          <p:cNvSpPr>
            <a:spLocks xmlns:a="http://schemas.openxmlformats.org/drawingml/2006/main" noGrp="1"/>
          </p:cNvSpPr>
          <p:nvPr/>
        </p:nvSpPr>
        <p:spPr>
          <a:xfrm xmlns:a="http://schemas.openxmlformats.org/drawingml/2006/main">
            <a:off x="92392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050"/>
              <a:buFont typeface="Lato"/>
              <a:buNone/>
            </a:pPr>
            <a:r>
              <a:rPr sz="1050" b="1" i="0">
                <a:solidFill>
                  <a:srgbClr val="008D7A"/>
                </a:solidFill>
                <a:latin typeface="Lato"/>
                <a:ea typeface="Lato"/>
                <a:cs typeface="Lato"/>
              </a:rPr>
              <a:t>HAZARD SIGNAL</a:t>
            </a:r>
            <a:endParaRPr/>
          </a:p>
        </p:txBody>
      </p:sp>
      <p:sp>
        <p:nvSpPr>
          <p:cNvPr id="478" name="Google Shape;478;p17">
            <a:extLst xmlns:a="http://schemas.openxmlformats.org/drawingml/2006/main">
              <a:ext uri="{FF2B5EF4-FFF2-40B4-BE49-F238E27FC236}">
                <a16:creationId xmlns:a16="http://schemas.microsoft.com/office/drawing/2014/main" id="{CE784B2D-9249-4FE8-B047-0FAC7439B22E}"/>
              </a:ext>
            </a:extLst>
          </p:cNvPr>
          <p:cNvSpPr>
            <a:spLocks xmlns:a="http://schemas.openxmlformats.org/drawingml/2006/main" noGrp="1"/>
          </p:cNvSpPr>
          <p:nvPr/>
        </p:nvSpPr>
        <p:spPr>
          <a:xfrm xmlns:a="http://schemas.openxmlformats.org/drawingml/2006/main">
            <a:off x="92392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93"/>
              <a:buFont typeface="Lato"/>
              <a:buNone/>
            </a:pPr>
            <a:r>
              <a:rPr sz="1594" b="1" i="0">
                <a:solidFill>
                  <a:srgbClr val="12304E"/>
                </a:solidFill>
                <a:latin typeface="Lato"/>
                <a:ea typeface="Lato"/>
                <a:cs typeface="Lato"/>
              </a:rPr>
              <a:t>Change in extreme-heat conditions</a:t>
            </a:r>
            <a:endParaRPr/>
          </a:p>
        </p:txBody>
      </p:sp>
      <p:sp>
        <p:nvSpPr>
          <p:cNvPr id="479" name="Google Shape;479;p17">
            <a:extLst xmlns:a="http://schemas.openxmlformats.org/drawingml/2006/main">
              <a:ext uri="{FF2B5EF4-FFF2-40B4-BE49-F238E27FC236}">
                <a16:creationId xmlns:a16="http://schemas.microsoft.com/office/drawing/2014/main" id="{01A53993-2A61-4B5C-9289-F7C79B8908FB}"/>
              </a:ext>
            </a:extLst>
          </p:cNvPr>
          <p:cNvSpPr>
            <a:spLocks xmlns:a="http://schemas.openxmlformats.org/drawingml/2006/main" noGrp="1"/>
          </p:cNvSpPr>
          <p:nvPr/>
        </p:nvSpPr>
        <p:spPr>
          <a:xfrm xmlns:a="http://schemas.openxmlformats.org/drawingml/2006/main">
            <a:off x="666750" y="4286250"/>
            <a:ext cx="11125200" cy="66675"/>
          </a:xfrm>
          <a:prstGeom xmlns:a="http://schemas.openxmlformats.org/drawingml/2006/main" prst="rect">
            <a:avLst/>
          </a:prstGeom>
          <a:gradFill xmlns:a="http://schemas.openxmlformats.org/drawingml/2006/main">
            <a:gsLst>
              <a:gs pos="0">
                <a:srgbClr val="183A59"/>
              </a:gs>
              <a:gs pos="38000">
                <a:srgbClr val="00A88F"/>
              </a:gs>
              <a:gs pos="70000">
                <a:srgbClr val="F2B632"/>
              </a:gs>
              <a:gs pos="100000">
                <a:srgbClr val="008D7A"/>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0" name="Google Shape;480;p17">
            <a:extLst xmlns:a="http://schemas.openxmlformats.org/drawingml/2006/main">
              <a:ext uri="{FF2B5EF4-FFF2-40B4-BE49-F238E27FC236}">
                <a16:creationId xmlns:a16="http://schemas.microsoft.com/office/drawing/2014/main" id="{B0B7846A-492D-40CA-9DF5-2887EF95F9C8}"/>
              </a:ext>
            </a:extLst>
          </p:cNvPr>
          <p:cNvSpPr>
            <a:spLocks xmlns:a="http://schemas.openxmlformats.org/drawingml/2006/main" noGrp="1"/>
          </p:cNvSpPr>
          <p:nvPr/>
        </p:nvSpPr>
        <p:spPr>
          <a:xfrm xmlns:a="http://schemas.openxmlformats.org/drawingml/2006/main">
            <a:off x="819150" y="4762500"/>
            <a:ext cx="4953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16"/>
              <a:buFont typeface="Lato"/>
              <a:buNone/>
            </a:pPr>
            <a:r>
              <a:rPr sz="1616" b="1" i="0">
                <a:solidFill>
                  <a:srgbClr val="008D7A"/>
                </a:solidFill>
                <a:latin typeface="Lato"/>
                <a:ea typeface="Lato"/>
                <a:cs typeface="Lato"/>
              </a:rPr>
              <a:t>Context determines how the signal should be used</a:t>
            </a:r>
            <a:endParaRPr/>
          </a:p>
        </p:txBody>
      </p:sp>
      <p:sp>
        <p:nvSpPr>
          <p:cNvPr id="481" name="Google Shape;481;p17">
            <a:extLst xmlns:a="http://schemas.openxmlformats.org/drawingml/2006/main">
              <a:ext uri="{FF2B5EF4-FFF2-40B4-BE49-F238E27FC236}">
                <a16:creationId xmlns:a16="http://schemas.microsoft.com/office/drawing/2014/main" id="{1B5C5456-5EEB-4CD4-8259-9119CC9A41A6}"/>
              </a:ext>
            </a:extLst>
          </p:cNvPr>
          <p:cNvSpPr>
            <a:spLocks xmlns:a="http://schemas.openxmlformats.org/drawingml/2006/main" noGrp="1"/>
          </p:cNvSpPr>
          <p:nvPr/>
        </p:nvSpPr>
        <p:spPr>
          <a:xfrm xmlns:a="http://schemas.openxmlformats.org/drawingml/2006/main">
            <a:off x="6019800" y="4752975"/>
            <a:ext cx="520065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12304E"/>
              </a:buClr>
              <a:buSzPts val="1339"/>
              <a:buFont typeface="Lato"/>
              <a:buNone/>
            </a:pPr>
            <a:r>
              <a:rPr sz="1339" b="0" i="0">
                <a:solidFill>
                  <a:srgbClr val="12304E"/>
                </a:solidFill>
                <a:latin typeface="Lato"/>
                <a:ea typeface="Lato"/>
                <a:cs typeface="Lato"/>
              </a:rPr>
              <a:t>Threshold, season, baseline, exposure and vulnerability all affect interpretation.</a:t>
            </a:r>
            <a:endParaRPr/>
          </a:p>
        </p:txBody>
      </p:sp>
    </p:spTree>
    <p:extLst>
      <p:ext uri="{BB962C8B-B14F-4D97-AF65-F5344CB8AC3E}">
        <p14:creationId xmlns:p14="http://schemas.microsoft.com/office/powerpoint/2010/main" val="451362923"/>
      </p:ext>
    </p:extLst>
  </p:cSld>
</p:sld>
</file>

<file path=ppt/slides/slide1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487" name="Google Shape;487;p18">
            <a:extLst xmlns:a="http://schemas.openxmlformats.org/drawingml/2006/main">
              <a:ext uri="{FF2B5EF4-FFF2-40B4-BE49-F238E27FC236}">
                <a16:creationId xmlns:a16="http://schemas.microsoft.com/office/drawing/2014/main" id="{AD68864A-5263-49A4-AFCD-39EFBEA858BC}"/>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8" name="Google Shape;488;p18">
            <a:extLst xmlns:a="http://schemas.openxmlformats.org/drawingml/2006/main">
              <a:ext uri="{FF2B5EF4-FFF2-40B4-BE49-F238E27FC236}">
                <a16:creationId xmlns:a16="http://schemas.microsoft.com/office/drawing/2014/main" id="{BEA395A3-2804-4DA1-BAC6-407F8A49CCAC}"/>
              </a:ext>
            </a:extLst>
          </p:cNvPr>
          <p:cNvSpPr>
            <a:spLocks xmlns:a="http://schemas.openxmlformats.org/drawingml/2006/main" noGrp="1"/>
          </p:cNvSpPr>
          <p:nvPr/>
        </p:nvSpPr>
        <p:spPr>
          <a:xfrm xmlns:a="http://schemas.openxmlformats.org/drawingml/2006/main">
            <a:off x="762000" y="7620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9" name="Google Shape;489;p18">
            <a:extLst xmlns:a="http://schemas.openxmlformats.org/drawingml/2006/main">
              <a:ext uri="{FF2B5EF4-FFF2-40B4-BE49-F238E27FC236}">
                <a16:creationId xmlns:a16="http://schemas.microsoft.com/office/drawing/2014/main" id="{C6CC767B-D499-40F4-92DC-C5CA24C451D6}"/>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i="0">
                <a:solidFill>
                  <a:srgbClr val="FFFFFF"/>
                </a:solidFill>
                <a:latin typeface="Lato"/>
                <a:ea typeface="Lato"/>
                <a:cs typeface="Lato"/>
              </a:rPr>
              <a:t>Accessing climate data today</a:t>
            </a:r>
            <a:endParaRPr/>
          </a:p>
        </p:txBody>
      </p:sp>
      <p:sp>
        <p:nvSpPr>
          <p:cNvPr id="490" name="Google Shape;490;p18">
            <a:extLst xmlns:a="http://schemas.openxmlformats.org/drawingml/2006/main">
              <a:ext uri="{FF2B5EF4-FFF2-40B4-BE49-F238E27FC236}">
                <a16:creationId xmlns:a16="http://schemas.microsoft.com/office/drawing/2014/main" id="{92540927-F713-47C8-89DC-CE4DB7042D61}"/>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b="0" i="0">
                <a:solidFill>
                  <a:srgbClr val="D7E5EC"/>
                </a:solidFill>
                <a:latin typeface="Lato"/>
                <a:ea typeface="Lato"/>
                <a:cs typeface="Lato"/>
              </a:rPr>
              <a:t>Climate data are available, but users still have to locate, select, retrieve and prepare them before analysis.</a:t>
            </a:r>
            <a:endParaRPr/>
          </a:p>
        </p:txBody>
      </p:sp>
      <p:sp>
        <p:nvSpPr>
          <p:cNvPr id="491" name="Google Shape;491;p18">
            <a:extLst xmlns:a="http://schemas.openxmlformats.org/drawingml/2006/main">
              <a:ext uri="{FF2B5EF4-FFF2-40B4-BE49-F238E27FC236}">
                <a16:creationId xmlns:a16="http://schemas.microsoft.com/office/drawing/2014/main" id="{6659823E-AD44-43EB-9877-125D3B0136C6}"/>
              </a:ext>
            </a:extLst>
          </p:cNvPr>
          <p:cNvSpPr>
            <a:spLocks xmlns:a="http://schemas.openxmlformats.org/drawingml/2006/main" noGrp="1"/>
          </p:cNvSpPr>
          <p:nvPr/>
        </p:nvSpPr>
        <p:spPr>
          <a:xfrm xmlns:a="http://schemas.openxmlformats.org/drawingml/2006/main">
            <a:off x="781050" y="4953000"/>
            <a:ext cx="4000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RICCARDO · 15 MINUTES</a:t>
            </a:r>
            <a:endParaRPr/>
          </a:p>
        </p:txBody>
      </p:sp>
      <p:sp>
        <p:nvSpPr>
          <p:cNvPr id="492" name="Google Shape;492;p18">
            <a:extLst xmlns:a="http://schemas.openxmlformats.org/drawingml/2006/main">
              <a:ext uri="{FF2B5EF4-FFF2-40B4-BE49-F238E27FC236}">
                <a16:creationId xmlns:a16="http://schemas.microsoft.com/office/drawing/2014/main" id="{BBBE54FC-C87F-48DA-BA53-065E609D0BDE}"/>
              </a:ext>
            </a:extLst>
          </p:cNvPr>
          <p:cNvSpPr>
            <a:spLocks xmlns:a="http://schemas.openxmlformats.org/drawingml/2006/main" noGrp="1"/>
          </p:cNvSpPr>
          <p:nvPr/>
        </p:nvSpPr>
        <p:spPr>
          <a:xfrm xmlns:a="http://schemas.openxmlformats.org/drawingml/2006/main">
            <a:off x="781050" y="5905500"/>
            <a:ext cx="4953000"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93" name="Google Shape;493;p18">
            <a:extLst xmlns:a="http://schemas.openxmlformats.org/drawingml/2006/main">
              <a:ext uri="{FF2B5EF4-FFF2-40B4-BE49-F238E27FC236}">
                <a16:creationId xmlns:a16="http://schemas.microsoft.com/office/drawing/2014/main" id="{E56A47AF-6095-46AC-9CC3-231B767B3DEC}"/>
              </a:ext>
            </a:extLst>
          </p:cNvPr>
          <p:cNvSpPr>
            <a:spLocks xmlns:a="http://schemas.openxmlformats.org/drawingml/2006/main" noGrp="1"/>
          </p:cNvSpPr>
          <p:nvPr/>
        </p:nvSpPr>
        <p:spPr>
          <a:xfrm xmlns:a="http://schemas.openxmlformats.org/drawingml/2006/main">
            <a:off x="11049000" y="6324600"/>
            <a:ext cx="571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16</a:t>
            </a:r>
            <a:endParaRPr/>
          </a:p>
        </p:txBody>
      </p:sp>
    </p:spTree>
    <p:extLst>
      <p:ext uri="{BB962C8B-B14F-4D97-AF65-F5344CB8AC3E}">
        <p14:creationId xmlns:p14="http://schemas.microsoft.com/office/powerpoint/2010/main" val="772444230"/>
      </p:ext>
    </p:extLst>
  </p:cSld>
</p:sld>
</file>

<file path=ppt/slides/slide1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9" name="Google Shape;499;p19">
            <a:extLst xmlns:a="http://schemas.openxmlformats.org/drawingml/2006/main">
              <a:ext uri="{FF2B5EF4-FFF2-40B4-BE49-F238E27FC236}">
                <a16:creationId xmlns:a16="http://schemas.microsoft.com/office/drawing/2014/main" id="{BB4FE39C-9F69-409C-B044-5B4B90FD8499}"/>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a:solidFill>
                  <a:srgbClr val="12304E"/>
                </a:solidFill>
                <a:latin typeface="Lato"/>
                <a:ea typeface="Lato"/>
                <a:cs typeface="Lato"/>
              </a:rPr>
              <a:t>Where climate information is found today</a:t>
            </a:r>
            <a:endParaRPr/>
          </a:p>
        </p:txBody>
      </p:sp>
      <p:sp>
        <p:nvSpPr>
          <p:cNvPr id="500" name="Google Shape;500;p19">
            <a:extLst xmlns:a="http://schemas.openxmlformats.org/drawingml/2006/main">
              <a:ext uri="{FF2B5EF4-FFF2-40B4-BE49-F238E27FC236}">
                <a16:creationId xmlns:a16="http://schemas.microsoft.com/office/drawing/2014/main" id="{C98B3F33-3B85-421A-B1E8-1C250D90C8DC}"/>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data are distributed across catalogues, archives and technical services</a:t>
            </a:r>
            <a:endParaRPr/>
          </a:p>
        </p:txBody>
      </p:sp>
      <p:sp>
        <p:nvSpPr>
          <p:cNvPr id="501" name="Google Shape;501;p19">
            <a:extLst xmlns:a="http://schemas.openxmlformats.org/drawingml/2006/main">
              <a:ext uri="{FF2B5EF4-FFF2-40B4-BE49-F238E27FC236}">
                <a16:creationId xmlns:a16="http://schemas.microsoft.com/office/drawing/2014/main" id="{44A0030B-4A31-4EBB-B046-C7CE692BC7E8}"/>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2" name="Google Shape;502;p19">
            <a:extLst xmlns:a="http://schemas.openxmlformats.org/drawingml/2006/main">
              <a:ext uri="{FF2B5EF4-FFF2-40B4-BE49-F238E27FC236}">
                <a16:creationId xmlns:a16="http://schemas.microsoft.com/office/drawing/2014/main" id="{78FEAFCC-3A11-4242-B0EA-A0E1DF5D6C35}"/>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3" name="Google Shape;503;p19">
            <a:extLst xmlns:a="http://schemas.openxmlformats.org/drawingml/2006/main">
              <a:ext uri="{FF2B5EF4-FFF2-40B4-BE49-F238E27FC236}">
                <a16:creationId xmlns:a16="http://schemas.microsoft.com/office/drawing/2014/main" id="{249FF421-F041-43BA-B5D8-E1C0C31F4D97}"/>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4" name="Google Shape;504;p19">
            <a:extLst xmlns:a="http://schemas.openxmlformats.org/drawingml/2006/main">
              <a:ext uri="{FF2B5EF4-FFF2-40B4-BE49-F238E27FC236}">
                <a16:creationId xmlns:a16="http://schemas.microsoft.com/office/drawing/2014/main" id="{DB04184D-7CE1-4388-978A-EFC722307E33}"/>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05" name="Google Shape;505;p19">
            <a:extLst xmlns:a="http://schemas.openxmlformats.org/drawingml/2006/main">
              <a:ext uri="{FF2B5EF4-FFF2-40B4-BE49-F238E27FC236}">
                <a16:creationId xmlns:a16="http://schemas.microsoft.com/office/drawing/2014/main" id="{10084819-3E1D-4697-9603-27D11F34798B}"/>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17</a:t>
            </a:r>
            <a:endParaRPr/>
          </a:p>
        </p:txBody>
      </p:sp>
      <p:sp>
        <p:nvSpPr>
          <p:cNvPr id="506" name="">
            <a:extLst xmlns:a="http://schemas.openxmlformats.org/drawingml/2006/main">
              <a:ext uri="{FF2B5EF4-FFF2-40B4-BE49-F238E27FC236}">
                <a16:creationId xmlns:a16="http://schemas.microsoft.com/office/drawing/2014/main" id="{F38FD383-3FD3-43BF-968B-1A59E85F874E}"/>
              </a:ext>
            </a:extLst>
          </p:cNvPr>
          <p:cNvSpPr>
            <a:spLocks xmlns:a="http://schemas.openxmlformats.org/drawingml/2006/main" noGrp="1"/>
          </p:cNvSpPr>
          <p:nvPr/>
        </p:nvSpPr>
        <p:spPr>
          <a:xfrm xmlns:a="http://schemas.openxmlformats.org/drawingml/2006/main">
            <a:off x="8191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00A88F"/>
                </a:solidFill>
                <a:latin typeface="Lato"/>
                <a:ea typeface="Lato"/>
                <a:cs typeface="Lato"/>
              </a:defRPr>
            </a:pPr>
            <a:r>
              <a:rPr sz="2550" b="1" i="0">
                <a:solidFill>
                  <a:srgbClr val="00A88F"/>
                </a:solidFill>
                <a:latin typeface="Lato"/>
                <a:ea typeface="Lato"/>
                <a:cs typeface="Lato"/>
              </a:rPr>
              <a:t>01</a:t>
            </a:r>
          </a:p>
        </p:txBody>
      </p:sp>
      <p:sp>
        <p:nvSpPr>
          <p:cNvPr id="507" name="">
            <a:extLst xmlns:a="http://schemas.openxmlformats.org/drawingml/2006/main">
              <a:ext uri="{FF2B5EF4-FFF2-40B4-BE49-F238E27FC236}">
                <a16:creationId xmlns:a16="http://schemas.microsoft.com/office/drawing/2014/main" id="{B733DA89-8D21-4AE0-ADDB-1FB6BF6174A4}"/>
              </a:ext>
            </a:extLst>
          </p:cNvPr>
          <p:cNvSpPr>
            <a:spLocks xmlns:a="http://schemas.openxmlformats.org/drawingml/2006/main" noGrp="1"/>
          </p:cNvSpPr>
          <p:nvPr/>
        </p:nvSpPr>
        <p:spPr>
          <a:xfrm xmlns:a="http://schemas.openxmlformats.org/drawingml/2006/main">
            <a:off x="15430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WEB PORTALS</a:t>
            </a:r>
          </a:p>
        </p:txBody>
      </p:sp>
      <p:sp>
        <p:nvSpPr>
          <p:cNvPr id="508" name="">
            <a:extLst xmlns:a="http://schemas.openxmlformats.org/drawingml/2006/main">
              <a:ext uri="{FF2B5EF4-FFF2-40B4-BE49-F238E27FC236}">
                <a16:creationId xmlns:a16="http://schemas.microsoft.com/office/drawing/2014/main" id="{47E689E1-1B78-4ED9-B1B5-16086F31D282}"/>
              </a:ext>
            </a:extLst>
          </p:cNvPr>
          <p:cNvSpPr>
            <a:spLocks xmlns:a="http://schemas.openxmlformats.org/drawingml/2006/main" noGrp="1"/>
          </p:cNvSpPr>
          <p:nvPr/>
        </p:nvSpPr>
        <p:spPr>
          <a:xfrm xmlns:a="http://schemas.openxmlformats.org/drawingml/2006/main">
            <a:off x="8191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Catalogues and forms</a:t>
            </a:r>
          </a:p>
        </p:txBody>
      </p:sp>
      <p:sp>
        <p:nvSpPr>
          <p:cNvPr id="509" name="">
            <a:extLst xmlns:a="http://schemas.openxmlformats.org/drawingml/2006/main">
              <a:ext uri="{FF2B5EF4-FFF2-40B4-BE49-F238E27FC236}">
                <a16:creationId xmlns:a16="http://schemas.microsoft.com/office/drawing/2014/main" id="{8DBCC026-F875-4DE0-872F-DE2AAFA2C8EF}"/>
              </a:ext>
            </a:extLst>
          </p:cNvPr>
          <p:cNvSpPr>
            <a:spLocks xmlns:a="http://schemas.openxmlformats.org/drawingml/2006/main" noGrp="1"/>
          </p:cNvSpPr>
          <p:nvPr/>
        </p:nvSpPr>
        <p:spPr>
          <a:xfrm xmlns:a="http://schemas.openxmlformats.org/drawingml/2006/main">
            <a:off x="819150" y="3143250"/>
            <a:ext cx="28575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10" name="">
            <a:extLst xmlns:a="http://schemas.openxmlformats.org/drawingml/2006/main">
              <a:ext uri="{FF2B5EF4-FFF2-40B4-BE49-F238E27FC236}">
                <a16:creationId xmlns:a16="http://schemas.microsoft.com/office/drawing/2014/main" id="{78AFE30B-8420-4637-936C-819409A3DFDE}"/>
              </a:ext>
            </a:extLst>
          </p:cNvPr>
          <p:cNvSpPr>
            <a:spLocks xmlns:a="http://schemas.openxmlformats.org/drawingml/2006/main" noGrp="1"/>
          </p:cNvSpPr>
          <p:nvPr/>
        </p:nvSpPr>
        <p:spPr>
          <a:xfrm xmlns:a="http://schemas.openxmlformats.org/drawingml/2006/main">
            <a:off x="8191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Copernicus Climate Data Store</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CORDEX data portals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Dataset documentation</a:t>
            </a:r>
          </a:p>
        </p:txBody>
      </p:sp>
      <p:sp>
        <p:nvSpPr>
          <p:cNvPr id="511" name="">
            <a:extLst xmlns:a="http://schemas.openxmlformats.org/drawingml/2006/main">
              <a:ext uri="{FF2B5EF4-FFF2-40B4-BE49-F238E27FC236}">
                <a16:creationId xmlns:a16="http://schemas.microsoft.com/office/drawing/2014/main" id="{7EC2C26B-0E94-4B34-9E82-8E35383D8878}"/>
              </a:ext>
            </a:extLst>
          </p:cNvPr>
          <p:cNvSpPr>
            <a:spLocks xmlns:a="http://schemas.openxmlformats.org/drawingml/2006/main" noGrp="1"/>
          </p:cNvSpPr>
          <p:nvPr/>
        </p:nvSpPr>
        <p:spPr>
          <a:xfrm xmlns:a="http://schemas.openxmlformats.org/drawingml/2006/main">
            <a:off x="40386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2" name="">
            <a:extLst xmlns:a="http://schemas.openxmlformats.org/drawingml/2006/main">
              <a:ext uri="{FF2B5EF4-FFF2-40B4-BE49-F238E27FC236}">
                <a16:creationId xmlns:a16="http://schemas.microsoft.com/office/drawing/2014/main" id="{FFF486CB-A426-4C71-A7A5-C9D35832B962}"/>
              </a:ext>
            </a:extLst>
          </p:cNvPr>
          <p:cNvSpPr>
            <a:spLocks xmlns:a="http://schemas.openxmlformats.org/drawingml/2006/main" noGrp="1"/>
          </p:cNvSpPr>
          <p:nvPr/>
        </p:nvSpPr>
        <p:spPr>
          <a:xfrm xmlns:a="http://schemas.openxmlformats.org/drawingml/2006/main">
            <a:off x="44767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F2B632"/>
                </a:solidFill>
                <a:latin typeface="Lato"/>
                <a:ea typeface="Lato"/>
                <a:cs typeface="Lato"/>
              </a:defRPr>
            </a:pPr>
            <a:r>
              <a:rPr sz="2550" b="1" i="0">
                <a:solidFill>
                  <a:srgbClr val="F2B632"/>
                </a:solidFill>
                <a:latin typeface="Lato"/>
                <a:ea typeface="Lato"/>
                <a:cs typeface="Lato"/>
              </a:rPr>
              <a:t>02</a:t>
            </a:r>
          </a:p>
        </p:txBody>
      </p:sp>
      <p:sp>
        <p:nvSpPr>
          <p:cNvPr id="513" name="">
            <a:extLst xmlns:a="http://schemas.openxmlformats.org/drawingml/2006/main">
              <a:ext uri="{FF2B5EF4-FFF2-40B4-BE49-F238E27FC236}">
                <a16:creationId xmlns:a16="http://schemas.microsoft.com/office/drawing/2014/main" id="{A94FA18D-118F-4944-ABFA-72CC4DDFF00F}"/>
              </a:ext>
            </a:extLst>
          </p:cNvPr>
          <p:cNvSpPr>
            <a:spLocks xmlns:a="http://schemas.openxmlformats.org/drawingml/2006/main" noGrp="1"/>
          </p:cNvSpPr>
          <p:nvPr/>
        </p:nvSpPr>
        <p:spPr>
          <a:xfrm xmlns:a="http://schemas.openxmlformats.org/drawingml/2006/main">
            <a:off x="52006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DISTRIBUTED ARCHIVES</a:t>
            </a:r>
          </a:p>
        </p:txBody>
      </p:sp>
      <p:sp>
        <p:nvSpPr>
          <p:cNvPr id="514" name="">
            <a:extLst xmlns:a="http://schemas.openxmlformats.org/drawingml/2006/main">
              <a:ext uri="{FF2B5EF4-FFF2-40B4-BE49-F238E27FC236}">
                <a16:creationId xmlns:a16="http://schemas.microsoft.com/office/drawing/2014/main" id="{78F0159A-1383-40A0-AF49-9998C3FD4173}"/>
              </a:ext>
            </a:extLst>
          </p:cNvPr>
          <p:cNvSpPr>
            <a:spLocks xmlns:a="http://schemas.openxmlformats.org/drawingml/2006/main" noGrp="1"/>
          </p:cNvSpPr>
          <p:nvPr/>
        </p:nvSpPr>
        <p:spPr>
          <a:xfrm xmlns:a="http://schemas.openxmlformats.org/drawingml/2006/main">
            <a:off x="44767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Model data collections</a:t>
            </a:r>
          </a:p>
        </p:txBody>
      </p:sp>
      <p:sp>
        <p:nvSpPr>
          <p:cNvPr id="515" name="">
            <a:extLst xmlns:a="http://schemas.openxmlformats.org/drawingml/2006/main">
              <a:ext uri="{FF2B5EF4-FFF2-40B4-BE49-F238E27FC236}">
                <a16:creationId xmlns:a16="http://schemas.microsoft.com/office/drawing/2014/main" id="{46E19BE7-B75E-410C-9582-249498BDDA59}"/>
              </a:ext>
            </a:extLst>
          </p:cNvPr>
          <p:cNvSpPr>
            <a:spLocks xmlns:a="http://schemas.openxmlformats.org/drawingml/2006/main" noGrp="1"/>
          </p:cNvSpPr>
          <p:nvPr/>
        </p:nvSpPr>
        <p:spPr>
          <a:xfrm xmlns:a="http://schemas.openxmlformats.org/drawingml/2006/main">
            <a:off x="4476750" y="3143250"/>
            <a:ext cx="2857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16" name="">
            <a:extLst xmlns:a="http://schemas.openxmlformats.org/drawingml/2006/main">
              <a:ext uri="{FF2B5EF4-FFF2-40B4-BE49-F238E27FC236}">
                <a16:creationId xmlns:a16="http://schemas.microsoft.com/office/drawing/2014/main" id="{8ADE5C51-5747-465B-AB10-C58FE1219171}"/>
              </a:ext>
            </a:extLst>
          </p:cNvPr>
          <p:cNvSpPr>
            <a:spLocks xmlns:a="http://schemas.openxmlformats.org/drawingml/2006/main" noGrp="1"/>
          </p:cNvSpPr>
          <p:nvPr/>
        </p:nvSpPr>
        <p:spPr>
          <a:xfrm xmlns:a="http://schemas.openxmlformats.org/drawingml/2006/main">
            <a:off x="44767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ESGF data nodes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Institutional repositories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Files organised by experiment</a:t>
            </a:r>
          </a:p>
        </p:txBody>
      </p:sp>
      <p:sp>
        <p:nvSpPr>
          <p:cNvPr id="517" name="">
            <a:extLst xmlns:a="http://schemas.openxmlformats.org/drawingml/2006/main">
              <a:ext uri="{FF2B5EF4-FFF2-40B4-BE49-F238E27FC236}">
                <a16:creationId xmlns:a16="http://schemas.microsoft.com/office/drawing/2014/main" id="{6635389C-3D95-4062-BA32-7E81DA71A5F1}"/>
              </a:ext>
            </a:extLst>
          </p:cNvPr>
          <p:cNvSpPr>
            <a:spLocks xmlns:a="http://schemas.openxmlformats.org/drawingml/2006/main" noGrp="1"/>
          </p:cNvSpPr>
          <p:nvPr/>
        </p:nvSpPr>
        <p:spPr>
          <a:xfrm xmlns:a="http://schemas.openxmlformats.org/drawingml/2006/main">
            <a:off x="76962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8" name="">
            <a:extLst xmlns:a="http://schemas.openxmlformats.org/drawingml/2006/main">
              <a:ext uri="{FF2B5EF4-FFF2-40B4-BE49-F238E27FC236}">
                <a16:creationId xmlns:a16="http://schemas.microsoft.com/office/drawing/2014/main" id="{7337D753-D0C0-4073-B9F8-99162B7DF67B}"/>
              </a:ext>
            </a:extLst>
          </p:cNvPr>
          <p:cNvSpPr>
            <a:spLocks xmlns:a="http://schemas.openxmlformats.org/drawingml/2006/main" noGrp="1"/>
          </p:cNvSpPr>
          <p:nvPr/>
        </p:nvSpPr>
        <p:spPr>
          <a:xfrm xmlns:a="http://schemas.openxmlformats.org/drawingml/2006/main">
            <a:off x="81343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12304E"/>
                </a:solidFill>
                <a:latin typeface="Lato"/>
                <a:ea typeface="Lato"/>
                <a:cs typeface="Lato"/>
              </a:defRPr>
            </a:pPr>
            <a:r>
              <a:rPr sz="2550" b="1" i="0">
                <a:solidFill>
                  <a:srgbClr val="12304E"/>
                </a:solidFill>
                <a:latin typeface="Lato"/>
                <a:ea typeface="Lato"/>
                <a:cs typeface="Lato"/>
              </a:rPr>
              <a:t>03</a:t>
            </a:r>
          </a:p>
        </p:txBody>
      </p:sp>
      <p:sp>
        <p:nvSpPr>
          <p:cNvPr id="519" name="">
            <a:extLst xmlns:a="http://schemas.openxmlformats.org/drawingml/2006/main">
              <a:ext uri="{FF2B5EF4-FFF2-40B4-BE49-F238E27FC236}">
                <a16:creationId xmlns:a16="http://schemas.microsoft.com/office/drawing/2014/main" id="{3EE96764-248F-4499-AF91-11325008CC4C}"/>
              </a:ext>
            </a:extLst>
          </p:cNvPr>
          <p:cNvSpPr>
            <a:spLocks xmlns:a="http://schemas.openxmlformats.org/drawingml/2006/main" noGrp="1"/>
          </p:cNvSpPr>
          <p:nvPr/>
        </p:nvSpPr>
        <p:spPr>
          <a:xfrm xmlns:a="http://schemas.openxmlformats.org/drawingml/2006/main">
            <a:off x="88582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2304E"/>
                </a:solidFill>
                <a:latin typeface="Lato"/>
                <a:ea typeface="Lato"/>
                <a:cs typeface="Lato"/>
              </a:defRPr>
            </a:pPr>
            <a:r>
              <a:rPr sz="900" b="1" i="0">
                <a:solidFill>
                  <a:srgbClr val="12304E"/>
                </a:solidFill>
                <a:latin typeface="Lato"/>
                <a:ea typeface="Lato"/>
                <a:cs typeface="Lato"/>
              </a:rPr>
              <a:t>TECHNICAL SERVICES</a:t>
            </a:r>
          </a:p>
        </p:txBody>
      </p:sp>
      <p:sp>
        <p:nvSpPr>
          <p:cNvPr id="520" name="">
            <a:extLst xmlns:a="http://schemas.openxmlformats.org/drawingml/2006/main">
              <a:ext uri="{FF2B5EF4-FFF2-40B4-BE49-F238E27FC236}">
                <a16:creationId xmlns:a16="http://schemas.microsoft.com/office/drawing/2014/main" id="{E346DE41-6991-47FC-B7C7-322E9CAE8818}"/>
              </a:ext>
            </a:extLst>
          </p:cNvPr>
          <p:cNvSpPr>
            <a:spLocks xmlns:a="http://schemas.openxmlformats.org/drawingml/2006/main" noGrp="1"/>
          </p:cNvSpPr>
          <p:nvPr/>
        </p:nvSpPr>
        <p:spPr>
          <a:xfrm xmlns:a="http://schemas.openxmlformats.org/drawingml/2006/main">
            <a:off x="81343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Programmatic access</a:t>
            </a:r>
          </a:p>
        </p:txBody>
      </p:sp>
      <p:sp>
        <p:nvSpPr>
          <p:cNvPr id="521" name="">
            <a:extLst xmlns:a="http://schemas.openxmlformats.org/drawingml/2006/main">
              <a:ext uri="{FF2B5EF4-FFF2-40B4-BE49-F238E27FC236}">
                <a16:creationId xmlns:a16="http://schemas.microsoft.com/office/drawing/2014/main" id="{81253015-67DD-45A5-A2FC-93BE7C925D18}"/>
              </a:ext>
            </a:extLst>
          </p:cNvPr>
          <p:cNvSpPr>
            <a:spLocks xmlns:a="http://schemas.openxmlformats.org/drawingml/2006/main" noGrp="1"/>
          </p:cNvSpPr>
          <p:nvPr/>
        </p:nvSpPr>
        <p:spPr>
          <a:xfrm xmlns:a="http://schemas.openxmlformats.org/drawingml/2006/main">
            <a:off x="8134350" y="3143250"/>
            <a:ext cx="2857500" cy="285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522" name="">
            <a:extLst xmlns:a="http://schemas.openxmlformats.org/drawingml/2006/main">
              <a:ext uri="{FF2B5EF4-FFF2-40B4-BE49-F238E27FC236}">
                <a16:creationId xmlns:a16="http://schemas.microsoft.com/office/drawing/2014/main" id="{A6B21B04-4EEF-45BF-8A06-4435602D7A85}"/>
              </a:ext>
            </a:extLst>
          </p:cNvPr>
          <p:cNvSpPr>
            <a:spLocks xmlns:a="http://schemas.openxmlformats.org/drawingml/2006/main" noGrp="1"/>
          </p:cNvSpPr>
          <p:nvPr/>
        </p:nvSpPr>
        <p:spPr>
          <a:xfrm xmlns:a="http://schemas.openxmlformats.org/drawingml/2006/main">
            <a:off x="81343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APIs and scripted requests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THREDDS and OPeNDAP</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Direct file downloads</a:t>
            </a:r>
          </a:p>
        </p:txBody>
      </p:sp>
      <p:sp>
        <p:nvSpPr>
          <p:cNvPr id="523" name="">
            <a:extLst xmlns:a="http://schemas.openxmlformats.org/drawingml/2006/main">
              <a:ext uri="{FF2B5EF4-FFF2-40B4-BE49-F238E27FC236}">
                <a16:creationId xmlns:a16="http://schemas.microsoft.com/office/drawing/2014/main" id="{54DAD33E-75DD-4B78-B4E4-671715E9441C}"/>
              </a:ext>
            </a:extLst>
          </p:cNvPr>
          <p:cNvSpPr>
            <a:spLocks xmlns:a="http://schemas.openxmlformats.org/drawingml/2006/main" noGrp="1"/>
          </p:cNvSpPr>
          <p:nvPr/>
        </p:nvSpPr>
        <p:spPr>
          <a:xfrm xmlns:a="http://schemas.openxmlformats.org/drawingml/2006/main">
            <a:off x="819150" y="5000625"/>
            <a:ext cx="10287000" cy="6667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524" name="">
            <a:extLst xmlns:a="http://schemas.openxmlformats.org/drawingml/2006/main">
              <a:ext uri="{FF2B5EF4-FFF2-40B4-BE49-F238E27FC236}">
                <a16:creationId xmlns:a16="http://schemas.microsoft.com/office/drawing/2014/main" id="{BCC6BB33-30A3-441A-A309-17C898752A44}"/>
              </a:ext>
            </a:extLst>
          </p:cNvPr>
          <p:cNvSpPr>
            <a:spLocks xmlns:a="http://schemas.openxmlformats.org/drawingml/2006/main" noGrp="1"/>
          </p:cNvSpPr>
          <p:nvPr/>
        </p:nvSpPr>
        <p:spPr>
          <a:xfrm xmlns:a="http://schemas.openxmlformats.org/drawingml/2006/main">
            <a:off x="1104900" y="51816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The data exist</a:t>
            </a:r>
          </a:p>
        </p:txBody>
      </p:sp>
      <p:sp>
        <p:nvSpPr>
          <p:cNvPr id="525" name="">
            <a:extLst xmlns:a="http://schemas.openxmlformats.org/drawingml/2006/main">
              <a:ext uri="{FF2B5EF4-FFF2-40B4-BE49-F238E27FC236}">
                <a16:creationId xmlns:a16="http://schemas.microsoft.com/office/drawing/2014/main" id="{6B205076-B770-40FD-B5E7-41955CFDEDD5}"/>
              </a:ext>
            </a:extLst>
          </p:cNvPr>
          <p:cNvSpPr>
            <a:spLocks xmlns:a="http://schemas.openxmlformats.org/drawingml/2006/main" noGrp="1"/>
          </p:cNvSpPr>
          <p:nvPr/>
        </p:nvSpPr>
        <p:spPr>
          <a:xfrm xmlns:a="http://schemas.openxmlformats.org/drawingml/2006/main">
            <a:off x="3762375" y="5172075"/>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12304E"/>
                </a:solidFill>
                <a:latin typeface="Lato"/>
                <a:ea typeface="Lato"/>
                <a:cs typeface="Lato"/>
              </a:defRPr>
            </a:pPr>
            <a:r>
              <a:rPr sz="1350" b="0" i="0">
                <a:solidFill>
                  <a:srgbClr val="12304E"/>
                </a:solidFill>
                <a:latin typeface="Lato"/>
                <a:ea typeface="Lato"/>
                <a:cs typeface="Lato"/>
              </a:rPr>
              <a:t>Access patterns, accounts and request methods vary by source.</a:t>
            </a:r>
          </a:p>
        </p:txBody>
      </p:sp>
    </p:spTree>
    <p:extLst>
      <p:ext uri="{BB962C8B-B14F-4D97-AF65-F5344CB8AC3E}">
        <p14:creationId xmlns:p14="http://schemas.microsoft.com/office/powerpoint/2010/main" val="206999843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461A7F3-DD8C-4939-B8FF-43668EF75A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CF3F3D-1A2E-48C7-A0D6-5F99C313138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A climate-data request becomes a workflow</a:t>
            </a:r>
          </a:p>
        </p:txBody>
      </p:sp>
      <p:sp>
        <p:nvSpPr>
          <p:cNvPr id="3" name="">
            <a:extLst xmlns:a="http://schemas.openxmlformats.org/drawingml/2006/main">
              <a:ext uri="{FF2B5EF4-FFF2-40B4-BE49-F238E27FC236}">
                <a16:creationId xmlns:a16="http://schemas.microsoft.com/office/drawing/2014/main" id="{EFD6D139-A95F-4E20-9EA7-AACA55716B3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Most of the work happens before the indicator is calculated</a:t>
            </a:r>
          </a:p>
        </p:txBody>
      </p:sp>
      <p:sp>
        <p:nvSpPr>
          <p:cNvPr id="4" name="">
            <a:extLst xmlns:a="http://schemas.openxmlformats.org/drawingml/2006/main">
              <a:ext uri="{FF2B5EF4-FFF2-40B4-BE49-F238E27FC236}">
                <a16:creationId xmlns:a16="http://schemas.microsoft.com/office/drawing/2014/main" id="{FD0AEC8B-D270-4C1A-BE9A-E92C083BCDD5}"/>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92BC9A-1A68-4179-B196-069E7B96071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6A3D8D6-54C6-4364-BC92-4523B1D7847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04135E-C31E-4753-8FF0-94B0765B913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A44662C3-DFE7-46F9-B255-D84E465A775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18</a:t>
            </a:r>
          </a:p>
        </p:txBody>
      </p:sp>
      <p:sp>
        <p:nvSpPr>
          <p:cNvPr id="9" name="">
            <a:extLst xmlns:a="http://schemas.openxmlformats.org/drawingml/2006/main">
              <a:ext uri="{FF2B5EF4-FFF2-40B4-BE49-F238E27FC236}">
                <a16:creationId xmlns:a16="http://schemas.microsoft.com/office/drawing/2014/main" id="{78AFD8BF-A0A7-403B-90C8-96707D6EDADF}"/>
              </a:ext>
            </a:extLst>
          </p:cNvPr>
          <p:cNvSpPr>
            <a:spLocks xmlns:a="http://schemas.openxmlformats.org/drawingml/2006/main" noGrp="1"/>
          </p:cNvSpPr>
          <p:nvPr/>
        </p:nvSpPr>
        <p:spPr>
          <a:xfrm xmlns:a="http://schemas.openxmlformats.org/drawingml/2006/main">
            <a:off x="876300" y="3305175"/>
            <a:ext cx="10420350" cy="476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7C4E19B-C0FF-4197-95A4-E0B3D30DB4A6}"/>
              </a:ext>
            </a:extLst>
          </p:cNvPr>
          <p:cNvSpPr>
            <a:spLocks xmlns:a="http://schemas.openxmlformats.org/drawingml/2006/main" noGrp="1"/>
          </p:cNvSpPr>
          <p:nvPr/>
        </p:nvSpPr>
        <p:spPr>
          <a:xfrm xmlns:a="http://schemas.openxmlformats.org/drawingml/2006/main">
            <a:off x="8763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01</a:t>
            </a:r>
          </a:p>
        </p:txBody>
      </p:sp>
      <p:sp>
        <p:nvSpPr>
          <p:cNvPr id="11" name="">
            <a:extLst xmlns:a="http://schemas.openxmlformats.org/drawingml/2006/main">
              <a:ext uri="{FF2B5EF4-FFF2-40B4-BE49-F238E27FC236}">
                <a16:creationId xmlns:a16="http://schemas.microsoft.com/office/drawing/2014/main" id="{8B3DE5C7-BE10-4A55-A034-6424BED0DFAF}"/>
              </a:ext>
            </a:extLst>
          </p:cNvPr>
          <p:cNvSpPr>
            <a:spLocks xmlns:a="http://schemas.openxmlformats.org/drawingml/2006/main" noGrp="1"/>
          </p:cNvSpPr>
          <p:nvPr/>
        </p:nvSpPr>
        <p:spPr>
          <a:xfrm xmlns:a="http://schemas.openxmlformats.org/drawingml/2006/main">
            <a:off x="8572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DISCOVER</a:t>
            </a:r>
          </a:p>
        </p:txBody>
      </p:sp>
      <p:sp>
        <p:nvSpPr>
          <p:cNvPr id="12" name="">
            <a:extLst xmlns:a="http://schemas.openxmlformats.org/drawingml/2006/main">
              <a:ext uri="{FF2B5EF4-FFF2-40B4-BE49-F238E27FC236}">
                <a16:creationId xmlns:a16="http://schemas.microsoft.com/office/drawing/2014/main" id="{3767C3AC-6E25-4012-9291-E4A8B9A7128D}"/>
              </a:ext>
            </a:extLst>
          </p:cNvPr>
          <p:cNvSpPr>
            <a:spLocks xmlns:a="http://schemas.openxmlformats.org/drawingml/2006/main" noGrp="1"/>
          </p:cNvSpPr>
          <p:nvPr/>
        </p:nvSpPr>
        <p:spPr>
          <a:xfrm xmlns:a="http://schemas.openxmlformats.org/drawingml/2006/main">
            <a:off x="8572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Find the relevant catalogue or service</a:t>
            </a:r>
          </a:p>
        </p:txBody>
      </p:sp>
      <p:sp>
        <p:nvSpPr>
          <p:cNvPr id="13" name="">
            <a:extLst xmlns:a="http://schemas.openxmlformats.org/drawingml/2006/main">
              <a:ext uri="{FF2B5EF4-FFF2-40B4-BE49-F238E27FC236}">
                <a16:creationId xmlns:a16="http://schemas.microsoft.com/office/drawing/2014/main" id="{0E361319-C0BD-46D2-B5BB-910E9DA4DF22}"/>
              </a:ext>
            </a:extLst>
          </p:cNvPr>
          <p:cNvSpPr>
            <a:spLocks xmlns:a="http://schemas.openxmlformats.org/drawingml/2006/main" noGrp="1"/>
          </p:cNvSpPr>
          <p:nvPr/>
        </p:nvSpPr>
        <p:spPr>
          <a:xfrm xmlns:a="http://schemas.openxmlformats.org/drawingml/2006/main">
            <a:off x="26098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77E9D9F8-5DC0-46D1-A9BC-6D9A0E23795E}"/>
              </a:ext>
            </a:extLst>
          </p:cNvPr>
          <p:cNvSpPr>
            <a:spLocks xmlns:a="http://schemas.openxmlformats.org/drawingml/2006/main" noGrp="1"/>
          </p:cNvSpPr>
          <p:nvPr/>
        </p:nvSpPr>
        <p:spPr>
          <a:xfrm xmlns:a="http://schemas.openxmlformats.org/drawingml/2006/main">
            <a:off x="25908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SPECIFY</a:t>
            </a:r>
          </a:p>
        </p:txBody>
      </p:sp>
      <p:sp>
        <p:nvSpPr>
          <p:cNvPr id="15" name="">
            <a:extLst xmlns:a="http://schemas.openxmlformats.org/drawingml/2006/main">
              <a:ext uri="{FF2B5EF4-FFF2-40B4-BE49-F238E27FC236}">
                <a16:creationId xmlns:a16="http://schemas.microsoft.com/office/drawing/2014/main" id="{7CED8C71-2539-4BA6-AE2D-01220ACE028E}"/>
              </a:ext>
            </a:extLst>
          </p:cNvPr>
          <p:cNvSpPr>
            <a:spLocks xmlns:a="http://schemas.openxmlformats.org/drawingml/2006/main" noGrp="1"/>
          </p:cNvSpPr>
          <p:nvPr/>
        </p:nvSpPr>
        <p:spPr>
          <a:xfrm xmlns:a="http://schemas.openxmlformats.org/drawingml/2006/main">
            <a:off x="25908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Choose dataset, model, scenario, variable and period</a:t>
            </a:r>
          </a:p>
        </p:txBody>
      </p:sp>
      <p:sp>
        <p:nvSpPr>
          <p:cNvPr id="16" name="">
            <a:extLst xmlns:a="http://schemas.openxmlformats.org/drawingml/2006/main">
              <a:ext uri="{FF2B5EF4-FFF2-40B4-BE49-F238E27FC236}">
                <a16:creationId xmlns:a16="http://schemas.microsoft.com/office/drawing/2014/main" id="{86B97E46-73FF-4AEA-A6EB-7C2FA071397B}"/>
              </a:ext>
            </a:extLst>
          </p:cNvPr>
          <p:cNvSpPr>
            <a:spLocks xmlns:a="http://schemas.openxmlformats.org/drawingml/2006/main" noGrp="1"/>
          </p:cNvSpPr>
          <p:nvPr/>
        </p:nvSpPr>
        <p:spPr>
          <a:xfrm xmlns:a="http://schemas.openxmlformats.org/drawingml/2006/main">
            <a:off x="43434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03</a:t>
            </a:r>
          </a:p>
        </p:txBody>
      </p:sp>
      <p:sp>
        <p:nvSpPr>
          <p:cNvPr id="17" name="">
            <a:extLst xmlns:a="http://schemas.openxmlformats.org/drawingml/2006/main">
              <a:ext uri="{FF2B5EF4-FFF2-40B4-BE49-F238E27FC236}">
                <a16:creationId xmlns:a16="http://schemas.microsoft.com/office/drawing/2014/main" id="{1CB8006B-5570-4F76-B69A-65C7E48F5400}"/>
              </a:ext>
            </a:extLst>
          </p:cNvPr>
          <p:cNvSpPr>
            <a:spLocks xmlns:a="http://schemas.openxmlformats.org/drawingml/2006/main" noGrp="1"/>
          </p:cNvSpPr>
          <p:nvPr/>
        </p:nvSpPr>
        <p:spPr>
          <a:xfrm xmlns:a="http://schemas.openxmlformats.org/drawingml/2006/main">
            <a:off x="43243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REQUEST</a:t>
            </a:r>
          </a:p>
        </p:txBody>
      </p:sp>
      <p:sp>
        <p:nvSpPr>
          <p:cNvPr id="18" name="">
            <a:extLst xmlns:a="http://schemas.openxmlformats.org/drawingml/2006/main">
              <a:ext uri="{FF2B5EF4-FFF2-40B4-BE49-F238E27FC236}">
                <a16:creationId xmlns:a16="http://schemas.microsoft.com/office/drawing/2014/main" id="{23857CD4-A2D1-4873-96EA-12F401E6AF41}"/>
              </a:ext>
            </a:extLst>
          </p:cNvPr>
          <p:cNvSpPr>
            <a:spLocks xmlns:a="http://schemas.openxmlformats.org/drawingml/2006/main" noGrp="1"/>
          </p:cNvSpPr>
          <p:nvPr/>
        </p:nvSpPr>
        <p:spPr>
          <a:xfrm xmlns:a="http://schemas.openxmlformats.org/drawingml/2006/main">
            <a:off x="43243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Configure access, licences and API calls</a:t>
            </a:r>
          </a:p>
        </p:txBody>
      </p:sp>
      <p:sp>
        <p:nvSpPr>
          <p:cNvPr id="19" name="">
            <a:extLst xmlns:a="http://schemas.openxmlformats.org/drawingml/2006/main">
              <a:ext uri="{FF2B5EF4-FFF2-40B4-BE49-F238E27FC236}">
                <a16:creationId xmlns:a16="http://schemas.microsoft.com/office/drawing/2014/main" id="{638FD3CF-1E1F-4BE0-824A-E27E3B15C80D}"/>
              </a:ext>
            </a:extLst>
          </p:cNvPr>
          <p:cNvSpPr>
            <a:spLocks xmlns:a="http://schemas.openxmlformats.org/drawingml/2006/main" noGrp="1"/>
          </p:cNvSpPr>
          <p:nvPr/>
        </p:nvSpPr>
        <p:spPr>
          <a:xfrm xmlns:a="http://schemas.openxmlformats.org/drawingml/2006/main">
            <a:off x="60769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04</a:t>
            </a:r>
          </a:p>
        </p:txBody>
      </p:sp>
      <p:sp>
        <p:nvSpPr>
          <p:cNvPr id="20" name="">
            <a:extLst xmlns:a="http://schemas.openxmlformats.org/drawingml/2006/main">
              <a:ext uri="{FF2B5EF4-FFF2-40B4-BE49-F238E27FC236}">
                <a16:creationId xmlns:a16="http://schemas.microsoft.com/office/drawing/2014/main" id="{B68861E8-2C93-4BC4-A81C-16769DDA7397}"/>
              </a:ext>
            </a:extLst>
          </p:cNvPr>
          <p:cNvSpPr>
            <a:spLocks xmlns:a="http://schemas.openxmlformats.org/drawingml/2006/main" noGrp="1"/>
          </p:cNvSpPr>
          <p:nvPr/>
        </p:nvSpPr>
        <p:spPr>
          <a:xfrm xmlns:a="http://schemas.openxmlformats.org/drawingml/2006/main">
            <a:off x="60579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SUBSET</a:t>
            </a:r>
          </a:p>
        </p:txBody>
      </p:sp>
      <p:sp>
        <p:nvSpPr>
          <p:cNvPr id="21" name="">
            <a:extLst xmlns:a="http://schemas.openxmlformats.org/drawingml/2006/main">
              <a:ext uri="{FF2B5EF4-FFF2-40B4-BE49-F238E27FC236}">
                <a16:creationId xmlns:a16="http://schemas.microsoft.com/office/drawing/2014/main" id="{F9305133-C312-431E-B4FB-FB75901F63BC}"/>
              </a:ext>
            </a:extLst>
          </p:cNvPr>
          <p:cNvSpPr>
            <a:spLocks xmlns:a="http://schemas.openxmlformats.org/drawingml/2006/main" noGrp="1"/>
          </p:cNvSpPr>
          <p:nvPr/>
        </p:nvSpPr>
        <p:spPr>
          <a:xfrm xmlns:a="http://schemas.openxmlformats.org/drawingml/2006/main">
            <a:off x="60579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Limit the data to the project area and dates</a:t>
            </a:r>
          </a:p>
        </p:txBody>
      </p:sp>
      <p:sp>
        <p:nvSpPr>
          <p:cNvPr id="22" name="">
            <a:extLst xmlns:a="http://schemas.openxmlformats.org/drawingml/2006/main">
              <a:ext uri="{FF2B5EF4-FFF2-40B4-BE49-F238E27FC236}">
                <a16:creationId xmlns:a16="http://schemas.microsoft.com/office/drawing/2014/main" id="{C3645A06-8C63-4719-8A66-2BD736E12054}"/>
              </a:ext>
            </a:extLst>
          </p:cNvPr>
          <p:cNvSpPr>
            <a:spLocks xmlns:a="http://schemas.openxmlformats.org/drawingml/2006/main" noGrp="1"/>
          </p:cNvSpPr>
          <p:nvPr/>
        </p:nvSpPr>
        <p:spPr>
          <a:xfrm xmlns:a="http://schemas.openxmlformats.org/drawingml/2006/main">
            <a:off x="78105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05</a:t>
            </a:r>
          </a:p>
        </p:txBody>
      </p:sp>
      <p:sp>
        <p:nvSpPr>
          <p:cNvPr id="23" name="">
            <a:extLst xmlns:a="http://schemas.openxmlformats.org/drawingml/2006/main">
              <a:ext uri="{FF2B5EF4-FFF2-40B4-BE49-F238E27FC236}">
                <a16:creationId xmlns:a16="http://schemas.microsoft.com/office/drawing/2014/main" id="{4D87FD98-095F-4F97-B0BC-1545CCDD5BB4}"/>
              </a:ext>
            </a:extLst>
          </p:cNvPr>
          <p:cNvSpPr>
            <a:spLocks xmlns:a="http://schemas.openxmlformats.org/drawingml/2006/main" noGrp="1"/>
          </p:cNvSpPr>
          <p:nvPr/>
        </p:nvSpPr>
        <p:spPr>
          <a:xfrm xmlns:a="http://schemas.openxmlformats.org/drawingml/2006/main">
            <a:off x="77914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HARMONIZE</a:t>
            </a:r>
          </a:p>
        </p:txBody>
      </p:sp>
      <p:sp>
        <p:nvSpPr>
          <p:cNvPr id="24" name="">
            <a:extLst xmlns:a="http://schemas.openxmlformats.org/drawingml/2006/main">
              <a:ext uri="{FF2B5EF4-FFF2-40B4-BE49-F238E27FC236}">
                <a16:creationId xmlns:a16="http://schemas.microsoft.com/office/drawing/2014/main" id="{52594C21-A8BD-4FCD-9A33-A11F02B1499F}"/>
              </a:ext>
            </a:extLst>
          </p:cNvPr>
          <p:cNvSpPr>
            <a:spLocks xmlns:a="http://schemas.openxmlformats.org/drawingml/2006/main" noGrp="1"/>
          </p:cNvSpPr>
          <p:nvPr/>
        </p:nvSpPr>
        <p:spPr>
          <a:xfrm xmlns:a="http://schemas.openxmlformats.org/drawingml/2006/main">
            <a:off x="77914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Align units, calendars and spatial grids</a:t>
            </a:r>
          </a:p>
        </p:txBody>
      </p:sp>
      <p:sp>
        <p:nvSpPr>
          <p:cNvPr id="25" name="">
            <a:extLst xmlns:a="http://schemas.openxmlformats.org/drawingml/2006/main">
              <a:ext uri="{FF2B5EF4-FFF2-40B4-BE49-F238E27FC236}">
                <a16:creationId xmlns:a16="http://schemas.microsoft.com/office/drawing/2014/main" id="{85AAC4C6-392C-4F45-A5DC-BDE130E70132}"/>
              </a:ext>
            </a:extLst>
          </p:cNvPr>
          <p:cNvSpPr>
            <a:spLocks xmlns:a="http://schemas.openxmlformats.org/drawingml/2006/main" noGrp="1"/>
          </p:cNvSpPr>
          <p:nvPr/>
        </p:nvSpPr>
        <p:spPr>
          <a:xfrm xmlns:a="http://schemas.openxmlformats.org/drawingml/2006/main">
            <a:off x="95440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06</a:t>
            </a:r>
          </a:p>
        </p:txBody>
      </p:sp>
      <p:sp>
        <p:nvSpPr>
          <p:cNvPr id="26" name="">
            <a:extLst xmlns:a="http://schemas.openxmlformats.org/drawingml/2006/main">
              <a:ext uri="{FF2B5EF4-FFF2-40B4-BE49-F238E27FC236}">
                <a16:creationId xmlns:a16="http://schemas.microsoft.com/office/drawing/2014/main" id="{DC3EEF98-A11F-42B9-B856-67D6F6CD7991}"/>
              </a:ext>
            </a:extLst>
          </p:cNvPr>
          <p:cNvSpPr>
            <a:spLocks xmlns:a="http://schemas.openxmlformats.org/drawingml/2006/main" noGrp="1"/>
          </p:cNvSpPr>
          <p:nvPr/>
        </p:nvSpPr>
        <p:spPr>
          <a:xfrm xmlns:a="http://schemas.openxmlformats.org/drawingml/2006/main">
            <a:off x="95250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DOCUMENT</a:t>
            </a:r>
          </a:p>
        </p:txBody>
      </p:sp>
      <p:sp>
        <p:nvSpPr>
          <p:cNvPr id="27" name="">
            <a:extLst xmlns:a="http://schemas.openxmlformats.org/drawingml/2006/main">
              <a:ext uri="{FF2B5EF4-FFF2-40B4-BE49-F238E27FC236}">
                <a16:creationId xmlns:a16="http://schemas.microsoft.com/office/drawing/2014/main" id="{5B569E9F-3142-48E7-A349-57502AAD54D4}"/>
              </a:ext>
            </a:extLst>
          </p:cNvPr>
          <p:cNvSpPr>
            <a:spLocks xmlns:a="http://schemas.openxmlformats.org/drawingml/2006/main" noGrp="1"/>
          </p:cNvSpPr>
          <p:nvPr/>
        </p:nvSpPr>
        <p:spPr>
          <a:xfrm xmlns:a="http://schemas.openxmlformats.org/drawingml/2006/main">
            <a:off x="95250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Record choices so the analysis can be repeated</a:t>
            </a:r>
          </a:p>
        </p:txBody>
      </p:sp>
      <p:sp>
        <p:nvSpPr>
          <p:cNvPr id="28" name="">
            <a:extLst xmlns:a="http://schemas.openxmlformats.org/drawingml/2006/main">
              <a:ext uri="{FF2B5EF4-FFF2-40B4-BE49-F238E27FC236}">
                <a16:creationId xmlns:a16="http://schemas.microsoft.com/office/drawing/2014/main" id="{300226C2-748C-4277-A50F-1BF6DC2D99FD}"/>
              </a:ext>
            </a:extLst>
          </p:cNvPr>
          <p:cNvSpPr>
            <a:spLocks xmlns:a="http://schemas.openxmlformats.org/drawingml/2006/main" noGrp="1"/>
          </p:cNvSpPr>
          <p:nvPr/>
        </p:nvSpPr>
        <p:spPr>
          <a:xfrm xmlns:a="http://schemas.openxmlformats.org/drawingml/2006/main">
            <a:off x="876300" y="5200650"/>
            <a:ext cx="10420350" cy="5524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A9194CC-CF26-43DD-B40D-A19E83AB2149}"/>
              </a:ext>
            </a:extLst>
          </p:cNvPr>
          <p:cNvSpPr>
            <a:spLocks xmlns:a="http://schemas.openxmlformats.org/drawingml/2006/main" noGrp="1"/>
          </p:cNvSpPr>
          <p:nvPr/>
        </p:nvSpPr>
        <p:spPr>
          <a:xfrm xmlns:a="http://schemas.openxmlformats.org/drawingml/2006/main">
            <a:off x="1114425" y="53530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RESULT</a:t>
            </a:r>
          </a:p>
        </p:txBody>
      </p:sp>
      <p:sp>
        <p:nvSpPr>
          <p:cNvPr id="30" name="">
            <a:extLst xmlns:a="http://schemas.openxmlformats.org/drawingml/2006/main">
              <a:ext uri="{FF2B5EF4-FFF2-40B4-BE49-F238E27FC236}">
                <a16:creationId xmlns:a16="http://schemas.microsoft.com/office/drawing/2014/main" id="{EC7BB7DE-D08C-4907-90E7-971174C1F85E}"/>
              </a:ext>
            </a:extLst>
          </p:cNvPr>
          <p:cNvSpPr>
            <a:spLocks xmlns:a="http://schemas.openxmlformats.org/drawingml/2006/main" noGrp="1"/>
          </p:cNvSpPr>
          <p:nvPr/>
        </p:nvSpPr>
        <p:spPr>
          <a:xfrm xmlns:a="http://schemas.openxmlformats.org/drawingml/2006/main">
            <a:off x="2266950" y="53149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FFFFFF"/>
                </a:solidFill>
                <a:latin typeface="Lato"/>
                <a:ea typeface="Lato"/>
                <a:cs typeface="Lato"/>
              </a:defRPr>
            </a:pPr>
            <a:r>
              <a:rPr sz="1425" b="1" i="0">
                <a:solidFill>
                  <a:srgbClr val="FFFFFF"/>
                </a:solidFill>
                <a:latin typeface="Lato"/>
                <a:ea typeface="Lato"/>
                <a:cs typeface="Lato"/>
              </a:rPr>
              <a:t>A defensible workflow, but one that users must assemble and repeat</a:t>
            </a:r>
          </a:p>
        </p:txBody>
      </p:sp>
    </p:spTree>
    <p:extLst>
      <p:ext uri="{BB962C8B-B14F-4D97-AF65-F5344CB8AC3E}">
        <p14:creationId xmlns:p14="http://schemas.microsoft.com/office/powerpoint/2010/main" val="212765553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FCF010C-3104-4D81-8F30-62E70F7BB4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DD64B1-E7E3-44AB-8EC6-06A721780BE0}"/>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Where the current workflow becomes difficult</a:t>
            </a:r>
          </a:p>
        </p:txBody>
      </p:sp>
      <p:sp>
        <p:nvSpPr>
          <p:cNvPr id="3" name="">
            <a:extLst xmlns:a="http://schemas.openxmlformats.org/drawingml/2006/main">
              <a:ext uri="{FF2B5EF4-FFF2-40B4-BE49-F238E27FC236}">
                <a16:creationId xmlns:a16="http://schemas.microsoft.com/office/drawing/2014/main" id="{CD65C4A2-BCDF-4F2B-BC3F-DA5A5A831116}"/>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burden comes from combining access rules, data scale, climate conventions and documentation</a:t>
            </a:r>
          </a:p>
        </p:txBody>
      </p:sp>
      <p:sp>
        <p:nvSpPr>
          <p:cNvPr id="4" name="">
            <a:extLst xmlns:a="http://schemas.openxmlformats.org/drawingml/2006/main">
              <a:ext uri="{FF2B5EF4-FFF2-40B4-BE49-F238E27FC236}">
                <a16:creationId xmlns:a16="http://schemas.microsoft.com/office/drawing/2014/main" id="{C959BD00-5F46-4FF5-ADFE-6C7E38B08CC3}"/>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9C8EA9-DCC2-4B73-8E5D-8CF365174B1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7531E00-C64E-4279-9005-1F71AD157710}"/>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265D07-C828-41C5-A62C-D6D9589B049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97A24548-D625-4EDC-B3D9-9937EE5DE232}"/>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19</a:t>
            </a:r>
          </a:p>
        </p:txBody>
      </p:sp>
      <p:sp>
        <p:nvSpPr>
          <p:cNvPr id="9" name="">
            <a:extLst xmlns:a="http://schemas.openxmlformats.org/drawingml/2006/main">
              <a:ext uri="{FF2B5EF4-FFF2-40B4-BE49-F238E27FC236}">
                <a16:creationId xmlns:a16="http://schemas.microsoft.com/office/drawing/2014/main" id="{6C83B840-AEF3-464F-A348-CD51426573A7}"/>
              </a:ext>
            </a:extLst>
          </p:cNvPr>
          <p:cNvSpPr>
            <a:spLocks xmlns:a="http://schemas.openxmlformats.org/drawingml/2006/main" noGrp="1"/>
          </p:cNvSpPr>
          <p:nvPr/>
        </p:nvSpPr>
        <p:spPr>
          <a:xfrm xmlns:a="http://schemas.openxmlformats.org/drawingml/2006/main">
            <a:off x="838200" y="180975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173580F2-6826-4A7B-8DF1-DACFC7645C9C}"/>
              </a:ext>
            </a:extLst>
          </p:cNvPr>
          <p:cNvSpPr>
            <a:spLocks xmlns:a="http://schemas.openxmlformats.org/drawingml/2006/main" noGrp="1"/>
          </p:cNvSpPr>
          <p:nvPr/>
        </p:nvSpPr>
        <p:spPr>
          <a:xfrm xmlns:a="http://schemas.openxmlformats.org/drawingml/2006/main">
            <a:off x="1600200" y="17907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FRAGMENTED ACCESS</a:t>
            </a:r>
          </a:p>
        </p:txBody>
      </p:sp>
      <p:sp>
        <p:nvSpPr>
          <p:cNvPr id="11" name="">
            <a:extLst xmlns:a="http://schemas.openxmlformats.org/drawingml/2006/main">
              <a:ext uri="{FF2B5EF4-FFF2-40B4-BE49-F238E27FC236}">
                <a16:creationId xmlns:a16="http://schemas.microsoft.com/office/drawing/2014/main" id="{0B64FAF1-6571-4056-AB3B-79C2E550A1CC}"/>
              </a:ext>
            </a:extLst>
          </p:cNvPr>
          <p:cNvSpPr>
            <a:spLocks xmlns:a="http://schemas.openxmlformats.org/drawingml/2006/main" noGrp="1"/>
          </p:cNvSpPr>
          <p:nvPr/>
        </p:nvSpPr>
        <p:spPr>
          <a:xfrm xmlns:a="http://schemas.openxmlformats.org/drawingml/2006/main">
            <a:off x="4953000" y="1762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Portals and services use different accounts, licences, interfaces and request methods.</a:t>
            </a:r>
          </a:p>
        </p:txBody>
      </p:sp>
      <p:sp>
        <p:nvSpPr>
          <p:cNvPr id="12" name="">
            <a:extLst xmlns:a="http://schemas.openxmlformats.org/drawingml/2006/main">
              <a:ext uri="{FF2B5EF4-FFF2-40B4-BE49-F238E27FC236}">
                <a16:creationId xmlns:a16="http://schemas.microsoft.com/office/drawing/2014/main" id="{7CBA854B-C092-4D39-86AB-7F2B501A2BCB}"/>
              </a:ext>
            </a:extLst>
          </p:cNvPr>
          <p:cNvSpPr>
            <a:spLocks xmlns:a="http://schemas.openxmlformats.org/drawingml/2006/main" noGrp="1"/>
          </p:cNvSpPr>
          <p:nvPr/>
        </p:nvSpPr>
        <p:spPr>
          <a:xfrm xmlns:a="http://schemas.openxmlformats.org/drawingml/2006/main">
            <a:off x="1600200" y="234315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21F6D35-2997-4B9C-932F-6C7A488030F0}"/>
              </a:ext>
            </a:extLst>
          </p:cNvPr>
          <p:cNvSpPr>
            <a:spLocks xmlns:a="http://schemas.openxmlformats.org/drawingml/2006/main" noGrp="1"/>
          </p:cNvSpPr>
          <p:nvPr/>
        </p:nvSpPr>
        <p:spPr>
          <a:xfrm xmlns:a="http://schemas.openxmlformats.org/drawingml/2006/main">
            <a:off x="838200" y="26574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2B632"/>
                </a:solidFill>
                <a:latin typeface="Lato"/>
                <a:ea typeface="Lato"/>
                <a:cs typeface="Lato"/>
              </a:defRPr>
            </a:pPr>
            <a:r>
              <a:rPr sz="1500" b="1" i="0">
                <a:solidFill>
                  <a:srgbClr val="F2B632"/>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90BE9331-06B3-478B-BA59-69DE3D8A5878}"/>
              </a:ext>
            </a:extLst>
          </p:cNvPr>
          <p:cNvSpPr>
            <a:spLocks xmlns:a="http://schemas.openxmlformats.org/drawingml/2006/main" noGrp="1"/>
          </p:cNvSpPr>
          <p:nvPr/>
        </p:nvSpPr>
        <p:spPr>
          <a:xfrm xmlns:a="http://schemas.openxmlformats.org/drawingml/2006/main">
            <a:off x="1600200" y="26384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MULTIDIMENSIONAL DATA</a:t>
            </a:r>
          </a:p>
        </p:txBody>
      </p:sp>
      <p:sp>
        <p:nvSpPr>
          <p:cNvPr id="15" name="">
            <a:extLst xmlns:a="http://schemas.openxmlformats.org/drawingml/2006/main">
              <a:ext uri="{FF2B5EF4-FFF2-40B4-BE49-F238E27FC236}">
                <a16:creationId xmlns:a16="http://schemas.microsoft.com/office/drawing/2014/main" id="{3A1E7A41-4692-460D-8A4B-296D4BBD18F1}"/>
              </a:ext>
            </a:extLst>
          </p:cNvPr>
          <p:cNvSpPr>
            <a:spLocks xmlns:a="http://schemas.openxmlformats.org/drawingml/2006/main" noGrp="1"/>
          </p:cNvSpPr>
          <p:nvPr/>
        </p:nvSpPr>
        <p:spPr>
          <a:xfrm xmlns:a="http://schemas.openxmlformats.org/drawingml/2006/main">
            <a:off x="4953000" y="26098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A single question expands across models, scenarios, variables, periods and geography.</a:t>
            </a:r>
          </a:p>
        </p:txBody>
      </p:sp>
      <p:sp>
        <p:nvSpPr>
          <p:cNvPr id="16" name="">
            <a:extLst xmlns:a="http://schemas.openxmlformats.org/drawingml/2006/main">
              <a:ext uri="{FF2B5EF4-FFF2-40B4-BE49-F238E27FC236}">
                <a16:creationId xmlns:a16="http://schemas.microsoft.com/office/drawing/2014/main" id="{6C687FD4-28B2-4DDA-B85D-80D75EF78410}"/>
              </a:ext>
            </a:extLst>
          </p:cNvPr>
          <p:cNvSpPr>
            <a:spLocks xmlns:a="http://schemas.openxmlformats.org/drawingml/2006/main" noGrp="1"/>
          </p:cNvSpPr>
          <p:nvPr/>
        </p:nvSpPr>
        <p:spPr>
          <a:xfrm xmlns:a="http://schemas.openxmlformats.org/drawingml/2006/main">
            <a:off x="1600200" y="3190875"/>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5F8BE37-0642-46B2-995F-4913640087D7}"/>
              </a:ext>
            </a:extLst>
          </p:cNvPr>
          <p:cNvSpPr>
            <a:spLocks xmlns:a="http://schemas.openxmlformats.org/drawingml/2006/main" noGrp="1"/>
          </p:cNvSpPr>
          <p:nvPr/>
        </p:nvSpPr>
        <p:spPr>
          <a:xfrm xmlns:a="http://schemas.openxmlformats.org/drawingml/2006/main">
            <a:off x="8382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229D36E1-D472-447A-A3B6-A2F3C046E664}"/>
              </a:ext>
            </a:extLst>
          </p:cNvPr>
          <p:cNvSpPr>
            <a:spLocks xmlns:a="http://schemas.openxmlformats.org/drawingml/2006/main" noGrp="1"/>
          </p:cNvSpPr>
          <p:nvPr/>
        </p:nvSpPr>
        <p:spPr>
          <a:xfrm xmlns:a="http://schemas.openxmlformats.org/drawingml/2006/main">
            <a:off x="1600200" y="3486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SPECIALIST PREPARATION</a:t>
            </a:r>
          </a:p>
        </p:txBody>
      </p:sp>
      <p:sp>
        <p:nvSpPr>
          <p:cNvPr id="19" name="">
            <a:extLst xmlns:a="http://schemas.openxmlformats.org/drawingml/2006/main">
              <a:ext uri="{FF2B5EF4-FFF2-40B4-BE49-F238E27FC236}">
                <a16:creationId xmlns:a16="http://schemas.microsoft.com/office/drawing/2014/main" id="{E81ACEFE-CB8B-4264-8146-678FC45C7D1B}"/>
              </a:ext>
            </a:extLst>
          </p:cNvPr>
          <p:cNvSpPr>
            <a:spLocks xmlns:a="http://schemas.openxmlformats.org/drawingml/2006/main" noGrp="1"/>
          </p:cNvSpPr>
          <p:nvPr/>
        </p:nvSpPr>
        <p:spPr>
          <a:xfrm xmlns:a="http://schemas.openxmlformats.org/drawingml/2006/main">
            <a:off x="4953000" y="3457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Users must reconcile formats, calendars, units and spatial grids before calculating indicators.</a:t>
            </a:r>
          </a:p>
        </p:txBody>
      </p:sp>
      <p:sp>
        <p:nvSpPr>
          <p:cNvPr id="20" name="">
            <a:extLst xmlns:a="http://schemas.openxmlformats.org/drawingml/2006/main">
              <a:ext uri="{FF2B5EF4-FFF2-40B4-BE49-F238E27FC236}">
                <a16:creationId xmlns:a16="http://schemas.microsoft.com/office/drawing/2014/main" id="{6B04AD79-6DBA-45B0-9BE8-35CB43463EFE}"/>
              </a:ext>
            </a:extLst>
          </p:cNvPr>
          <p:cNvSpPr>
            <a:spLocks xmlns:a="http://schemas.openxmlformats.org/drawingml/2006/main" noGrp="1"/>
          </p:cNvSpPr>
          <p:nvPr/>
        </p:nvSpPr>
        <p:spPr>
          <a:xfrm xmlns:a="http://schemas.openxmlformats.org/drawingml/2006/main">
            <a:off x="1600200" y="403860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75D77B5-0CFD-4C1B-AA7E-DED0A50BCC18}"/>
              </a:ext>
            </a:extLst>
          </p:cNvPr>
          <p:cNvSpPr>
            <a:spLocks xmlns:a="http://schemas.openxmlformats.org/drawingml/2006/main" noGrp="1"/>
          </p:cNvSpPr>
          <p:nvPr/>
        </p:nvSpPr>
        <p:spPr>
          <a:xfrm xmlns:a="http://schemas.openxmlformats.org/drawingml/2006/main">
            <a:off x="838200" y="43529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04</a:t>
            </a:r>
          </a:p>
        </p:txBody>
      </p:sp>
      <p:sp>
        <p:nvSpPr>
          <p:cNvPr id="22" name="">
            <a:extLst xmlns:a="http://schemas.openxmlformats.org/drawingml/2006/main">
              <a:ext uri="{FF2B5EF4-FFF2-40B4-BE49-F238E27FC236}">
                <a16:creationId xmlns:a16="http://schemas.microsoft.com/office/drawing/2014/main" id="{7A0AC526-BC5F-4752-AC32-A99A11105E9A}"/>
              </a:ext>
            </a:extLst>
          </p:cNvPr>
          <p:cNvSpPr>
            <a:spLocks xmlns:a="http://schemas.openxmlformats.org/drawingml/2006/main" noGrp="1"/>
          </p:cNvSpPr>
          <p:nvPr/>
        </p:nvSpPr>
        <p:spPr>
          <a:xfrm xmlns:a="http://schemas.openxmlformats.org/drawingml/2006/main">
            <a:off x="1600200" y="43338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REPRODUCIBILITY</a:t>
            </a:r>
          </a:p>
        </p:txBody>
      </p:sp>
      <p:sp>
        <p:nvSpPr>
          <p:cNvPr id="23" name="">
            <a:extLst xmlns:a="http://schemas.openxmlformats.org/drawingml/2006/main">
              <a:ext uri="{FF2B5EF4-FFF2-40B4-BE49-F238E27FC236}">
                <a16:creationId xmlns:a16="http://schemas.microsoft.com/office/drawing/2014/main" id="{BF110660-5069-4009-8F13-076EAA154DA7}"/>
              </a:ext>
            </a:extLst>
          </p:cNvPr>
          <p:cNvSpPr>
            <a:spLocks xmlns:a="http://schemas.openxmlformats.org/drawingml/2006/main" noGrp="1"/>
          </p:cNvSpPr>
          <p:nvPr/>
        </p:nvSpPr>
        <p:spPr>
          <a:xfrm xmlns:a="http://schemas.openxmlformats.org/drawingml/2006/main">
            <a:off x="4953000"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Selections and processing steps must be recorded so another analyst can reconstruct the result.</a:t>
            </a:r>
          </a:p>
        </p:txBody>
      </p:sp>
      <p:sp>
        <p:nvSpPr>
          <p:cNvPr id="24" name="">
            <a:extLst xmlns:a="http://schemas.openxmlformats.org/drawingml/2006/main">
              <a:ext uri="{FF2B5EF4-FFF2-40B4-BE49-F238E27FC236}">
                <a16:creationId xmlns:a16="http://schemas.microsoft.com/office/drawing/2014/main" id="{E8364593-7D8C-429B-BC6A-9AE7EAC0507F}"/>
              </a:ext>
            </a:extLst>
          </p:cNvPr>
          <p:cNvSpPr>
            <a:spLocks xmlns:a="http://schemas.openxmlformats.org/drawingml/2006/main" noGrp="1"/>
          </p:cNvSpPr>
          <p:nvPr/>
        </p:nvSpPr>
        <p:spPr>
          <a:xfrm xmlns:a="http://schemas.openxmlformats.org/drawingml/2006/main">
            <a:off x="838200" y="5219700"/>
            <a:ext cx="1030605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9FBDC8E-003F-4B77-AB6B-71873B0AE123}"/>
              </a:ext>
            </a:extLst>
          </p:cNvPr>
          <p:cNvSpPr>
            <a:spLocks xmlns:a="http://schemas.openxmlformats.org/drawingml/2006/main" noGrp="1"/>
          </p:cNvSpPr>
          <p:nvPr/>
        </p:nvSpPr>
        <p:spPr>
          <a:xfrm xmlns:a="http://schemas.openxmlformats.org/drawingml/2006/main">
            <a:off x="1104900" y="5362575"/>
            <a:ext cx="976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data are abundant. Comparable, traceable information still takes substantial work.</a:t>
            </a:r>
          </a:p>
        </p:txBody>
      </p:sp>
    </p:spTree>
    <p:extLst>
      <p:ext uri="{BB962C8B-B14F-4D97-AF65-F5344CB8AC3E}">
        <p14:creationId xmlns:p14="http://schemas.microsoft.com/office/powerpoint/2010/main" val="1748295900"/>
      </p:ext>
    </p:extLst>
  </p:cSld>
</p:sld>
</file>

<file path=ppt/slides/slide2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11" name="Google Shape;511;p20">
            <a:extLst xmlns:a="http://schemas.openxmlformats.org/drawingml/2006/main">
              <a:ext uri="{FF2B5EF4-FFF2-40B4-BE49-F238E27FC236}">
                <a16:creationId xmlns:a16="http://schemas.microsoft.com/office/drawing/2014/main" id="{8EA9A9D9-B458-4FB3-B9E0-94AF0421137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What problem does CAVA solve?</a:t>
            </a:r>
            <a:endParaRPr/>
          </a:p>
        </p:txBody>
      </p:sp>
      <p:sp>
        <p:nvSpPr>
          <p:cNvPr id="512" name="Google Shape;512;p20">
            <a:extLst xmlns:a="http://schemas.openxmlformats.org/drawingml/2006/main">
              <a:ext uri="{FF2B5EF4-FFF2-40B4-BE49-F238E27FC236}">
                <a16:creationId xmlns:a16="http://schemas.microsoft.com/office/drawing/2014/main" id="{CD58F1C9-DE55-4859-A52F-F72610CF4DC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CAVA standardizes recurring work between climate archives and decision-relevant outputs</a:t>
            </a:r>
            <a:endParaRPr/>
          </a:p>
        </p:txBody>
      </p:sp>
      <p:sp>
        <p:nvSpPr>
          <p:cNvPr id="513" name="Google Shape;513;p20">
            <a:extLst xmlns:a="http://schemas.openxmlformats.org/drawingml/2006/main">
              <a:ext uri="{FF2B5EF4-FFF2-40B4-BE49-F238E27FC236}">
                <a16:creationId xmlns:a16="http://schemas.microsoft.com/office/drawing/2014/main" id="{2E47746B-0A55-4941-ABA1-665AC5E70937}"/>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4" name="Google Shape;514;p20">
            <a:extLst xmlns:a="http://schemas.openxmlformats.org/drawingml/2006/main">
              <a:ext uri="{FF2B5EF4-FFF2-40B4-BE49-F238E27FC236}">
                <a16:creationId xmlns:a16="http://schemas.microsoft.com/office/drawing/2014/main" id="{12EFC896-A053-474D-8DCB-6B9D3B3B031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5" name="Google Shape;515;p20">
            <a:extLst xmlns:a="http://schemas.openxmlformats.org/drawingml/2006/main">
              <a:ext uri="{FF2B5EF4-FFF2-40B4-BE49-F238E27FC236}">
                <a16:creationId xmlns:a16="http://schemas.microsoft.com/office/drawing/2014/main" id="{26C74AF3-838C-45FC-8C51-821C10D2A4E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6" name="Google Shape;516;p20">
            <a:extLst xmlns:a="http://schemas.openxmlformats.org/drawingml/2006/main">
              <a:ext uri="{FF2B5EF4-FFF2-40B4-BE49-F238E27FC236}">
                <a16:creationId xmlns:a16="http://schemas.microsoft.com/office/drawing/2014/main" id="{E6C78551-DBB6-45DA-9B2E-0B4B7119339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17" name="Google Shape;517;p20">
            <a:extLst xmlns:a="http://schemas.openxmlformats.org/drawingml/2006/main">
              <a:ext uri="{FF2B5EF4-FFF2-40B4-BE49-F238E27FC236}">
                <a16:creationId xmlns:a16="http://schemas.microsoft.com/office/drawing/2014/main" id="{385E5190-1167-4025-9EF6-C717FC33959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20</a:t>
            </a:r>
            <a:endParaRPr/>
          </a:p>
        </p:txBody>
      </p:sp>
      <p:sp>
        <p:nvSpPr>
          <p:cNvPr id="518" name="Google Shape;518;p20">
            <a:extLst xmlns:a="http://schemas.openxmlformats.org/drawingml/2006/main">
              <a:ext uri="{FF2B5EF4-FFF2-40B4-BE49-F238E27FC236}">
                <a16:creationId xmlns:a16="http://schemas.microsoft.com/office/drawing/2014/main" id="{8C6BAAF9-FDDC-4208-ADF9-E4F99E61E7E0}"/>
              </a:ext>
            </a:extLst>
          </p:cNvPr>
          <p:cNvSpPr>
            <a:spLocks xmlns:a="http://schemas.openxmlformats.org/drawingml/2006/main" noGrp="1"/>
          </p:cNvSpPr>
          <p:nvPr/>
        </p:nvSpPr>
        <p:spPr>
          <a:xfrm xmlns:a="http://schemas.openxmlformats.org/drawingml/2006/main">
            <a:off x="81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Search across climate catalogues</a:t>
            </a:r>
            <a:endParaRPr/>
          </a:p>
        </p:txBody>
      </p:sp>
      <p:sp>
        <p:nvSpPr>
          <p:cNvPr id="519" name="Google Shape;519;p20">
            <a:extLst xmlns:a="http://schemas.openxmlformats.org/drawingml/2006/main">
              <a:ext uri="{FF2B5EF4-FFF2-40B4-BE49-F238E27FC236}">
                <a16:creationId xmlns:a16="http://schemas.microsoft.com/office/drawing/2014/main" id="{3515D923-DF63-46C1-92FB-8B1065CED184}"/>
              </a:ext>
            </a:extLst>
          </p:cNvPr>
          <p:cNvSpPr>
            <a:spLocks xmlns:a="http://schemas.openxmlformats.org/drawingml/2006/main" noGrp="1"/>
          </p:cNvSpPr>
          <p:nvPr/>
        </p:nvSpPr>
        <p:spPr>
          <a:xfrm xmlns:a="http://schemas.openxmlformats.org/drawingml/2006/main">
            <a:off x="819150" y="25527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Configure access and requests</a:t>
            </a:r>
            <a:endParaRPr/>
          </a:p>
        </p:txBody>
      </p:sp>
      <p:sp>
        <p:nvSpPr>
          <p:cNvPr id="520" name="Google Shape;520;p20">
            <a:extLst xmlns:a="http://schemas.openxmlformats.org/drawingml/2006/main">
              <a:ext uri="{FF2B5EF4-FFF2-40B4-BE49-F238E27FC236}">
                <a16:creationId xmlns:a16="http://schemas.microsoft.com/office/drawing/2014/main" id="{F16DB6E9-958D-4FBF-9B3A-BE8F3BB9E418}"/>
              </a:ext>
            </a:extLst>
          </p:cNvPr>
          <p:cNvSpPr>
            <a:spLocks xmlns:a="http://schemas.openxmlformats.org/drawingml/2006/main" noGrp="1"/>
          </p:cNvSpPr>
          <p:nvPr/>
        </p:nvSpPr>
        <p:spPr>
          <a:xfrm xmlns:a="http://schemas.openxmlformats.org/drawingml/2006/main">
            <a:off x="81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Reconcile grids, units and calendars</a:t>
            </a:r>
            <a:endParaRPr/>
          </a:p>
        </p:txBody>
      </p:sp>
      <p:sp>
        <p:nvSpPr>
          <p:cNvPr id="521" name="Google Shape;521;p20">
            <a:extLst xmlns:a="http://schemas.openxmlformats.org/drawingml/2006/main">
              <a:ext uri="{FF2B5EF4-FFF2-40B4-BE49-F238E27FC236}">
                <a16:creationId xmlns:a16="http://schemas.microsoft.com/office/drawing/2014/main" id="{BC3C5B5A-5137-40DF-9CAD-3F892F7C6B96}"/>
              </a:ext>
            </a:extLst>
          </p:cNvPr>
          <p:cNvSpPr>
            <a:spLocks xmlns:a="http://schemas.openxmlformats.org/drawingml/2006/main" noGrp="1"/>
          </p:cNvSpPr>
          <p:nvPr/>
        </p:nvSpPr>
        <p:spPr>
          <a:xfrm xmlns:a="http://schemas.openxmlformats.org/drawingml/2006/main">
            <a:off x="81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Repeat the workflow for each analysis</a:t>
            </a:r>
            <a:endParaRPr/>
          </a:p>
        </p:txBody>
      </p:sp>
      <p:sp>
        <p:nvSpPr>
          <p:cNvPr id="522" name="Google Shape;522;p20">
            <a:extLst xmlns:a="http://schemas.openxmlformats.org/drawingml/2006/main">
              <a:ext uri="{FF2B5EF4-FFF2-40B4-BE49-F238E27FC236}">
                <a16:creationId xmlns:a16="http://schemas.microsoft.com/office/drawing/2014/main" id="{DB13CCE6-1D2B-427F-9D8E-A887D8383800}"/>
              </a:ext>
            </a:extLst>
          </p:cNvPr>
          <p:cNvSpPr>
            <a:spLocks xmlns:a="http://schemas.openxmlformats.org/drawingml/2006/main" noGrp="1"/>
          </p:cNvSpPr>
          <p:nvPr/>
        </p:nvSpPr>
        <p:spPr>
          <a:xfrm xmlns:a="http://schemas.openxmlformats.org/drawingml/2006/main">
            <a:off x="4438650" y="1866900"/>
            <a:ext cx="3314700" cy="2971800"/>
          </a:xfrm>
          <a:prstGeom xmlns:a="http://schemas.openxmlformats.org/drawingml/2006/main" prst="roundRect">
            <a:avLst>
              <a:gd name="adj" fmla="val 2564"/>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23" name="Google Shape;523;p20">
            <a:extLst xmlns:a="http://schemas.openxmlformats.org/drawingml/2006/main">
              <a:ext uri="{FF2B5EF4-FFF2-40B4-BE49-F238E27FC236}">
                <a16:creationId xmlns:a16="http://schemas.microsoft.com/office/drawing/2014/main" id="{D3EF262C-3C3C-4605-BCDB-730CB4499BF2}"/>
              </a:ext>
            </a:extLst>
          </p:cNvPr>
          <p:cNvSpPr>
            <a:spLocks xmlns:a="http://schemas.openxmlformats.org/drawingml/2006/main" noGrp="1"/>
          </p:cNvSpPr>
          <p:nvPr/>
        </p:nvSpPr>
        <p:spPr>
          <a:xfrm xmlns:a="http://schemas.openxmlformats.org/drawingml/2006/main">
            <a:off x="4953000" y="2228850"/>
            <a:ext cx="2286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2850"/>
              <a:buFont typeface="Lato"/>
              <a:buNone/>
            </a:pPr>
            <a:r>
              <a:rPr sz="2850" b="1" i="0">
                <a:solidFill>
                  <a:srgbClr val="FFFFFF"/>
                </a:solidFill>
                <a:latin typeface="Lato"/>
                <a:ea typeface="Lato"/>
                <a:cs typeface="Lato"/>
              </a:rPr>
              <a:t>CAVA</a:t>
            </a:r>
            <a:endParaRPr/>
          </a:p>
        </p:txBody>
      </p:sp>
      <p:sp>
        <p:nvSpPr>
          <p:cNvPr id="524" name="Google Shape;524;p20">
            <a:extLst xmlns:a="http://schemas.openxmlformats.org/drawingml/2006/main">
              <a:ext uri="{FF2B5EF4-FFF2-40B4-BE49-F238E27FC236}">
                <a16:creationId xmlns:a16="http://schemas.microsoft.com/office/drawing/2014/main" id="{8D6E1500-EF89-4C94-BD79-30CEDB5D1D46}"/>
              </a:ext>
            </a:extLst>
          </p:cNvPr>
          <p:cNvSpPr>
            <a:spLocks xmlns:a="http://schemas.openxmlformats.org/drawingml/2006/main" noGrp="1"/>
          </p:cNvSpPr>
          <p:nvPr/>
        </p:nvSpPr>
        <p:spPr>
          <a:xfrm xmlns:a="http://schemas.openxmlformats.org/drawingml/2006/main">
            <a:off x="4914900" y="3086100"/>
            <a:ext cx="2362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Shared data access</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Harmonized processing</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Repeatable analytical workflows</a:t>
            </a:r>
            <a:endParaRPr/>
          </a:p>
        </p:txBody>
      </p:sp>
      <p:sp>
        <p:nvSpPr>
          <p:cNvPr id="525" name="Google Shape;525;p20">
            <a:extLst xmlns:a="http://schemas.openxmlformats.org/drawingml/2006/main">
              <a:ext uri="{FF2B5EF4-FFF2-40B4-BE49-F238E27FC236}">
                <a16:creationId xmlns:a16="http://schemas.microsoft.com/office/drawing/2014/main" id="{1581C9DF-74FC-4EC0-A694-42A73B90D876}"/>
              </a:ext>
            </a:extLst>
          </p:cNvPr>
          <p:cNvSpPr>
            <a:spLocks xmlns:a="http://schemas.openxmlformats.org/drawingml/2006/main" noGrp="1"/>
          </p:cNvSpPr>
          <p:nvPr/>
        </p:nvSpPr>
        <p:spPr>
          <a:xfrm xmlns:a="http://schemas.openxmlformats.org/drawingml/2006/main">
            <a:off x="843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96"/>
              <a:buFont typeface="Lato"/>
              <a:buNone/>
            </a:pPr>
            <a:r>
              <a:rPr sz="1296" b="1" i="0">
                <a:solidFill>
                  <a:srgbClr val="12304E"/>
                </a:solidFill>
                <a:latin typeface="Lato"/>
                <a:ea typeface="Lato"/>
                <a:cs typeface="Lato"/>
              </a:rPr>
              <a:t>Historical and future climate data</a:t>
            </a:r>
            <a:endParaRPr/>
          </a:p>
        </p:txBody>
      </p:sp>
      <p:sp>
        <p:nvSpPr>
          <p:cNvPr id="526" name="Google Shape;526;p20">
            <a:extLst xmlns:a="http://schemas.openxmlformats.org/drawingml/2006/main">
              <a:ext uri="{FF2B5EF4-FFF2-40B4-BE49-F238E27FC236}">
                <a16:creationId xmlns:a16="http://schemas.microsoft.com/office/drawing/2014/main" id="{0919D9B3-3B33-43AC-8CCB-FDAA923BED9B}"/>
              </a:ext>
            </a:extLst>
          </p:cNvPr>
          <p:cNvSpPr>
            <a:spLocks xmlns:a="http://schemas.openxmlformats.org/drawingml/2006/main" noGrp="1"/>
          </p:cNvSpPr>
          <p:nvPr/>
        </p:nvSpPr>
        <p:spPr>
          <a:xfrm xmlns:a="http://schemas.openxmlformats.org/drawingml/2006/main">
            <a:off x="8439150" y="2552700"/>
            <a:ext cx="2952750" cy="428625"/>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Comparable climate indicators</a:t>
            </a:r>
            <a:endParaRPr/>
          </a:p>
        </p:txBody>
      </p:sp>
      <p:sp>
        <p:nvSpPr>
          <p:cNvPr id="527" name="Google Shape;527;p20">
            <a:extLst xmlns:a="http://schemas.openxmlformats.org/drawingml/2006/main">
              <a:ext uri="{FF2B5EF4-FFF2-40B4-BE49-F238E27FC236}">
                <a16:creationId xmlns:a16="http://schemas.microsoft.com/office/drawing/2014/main" id="{062266D5-E59A-4C5A-A802-46DE834604DA}"/>
              </a:ext>
            </a:extLst>
          </p:cNvPr>
          <p:cNvSpPr>
            <a:spLocks xmlns:a="http://schemas.openxmlformats.org/drawingml/2006/main" noGrp="1"/>
          </p:cNvSpPr>
          <p:nvPr/>
        </p:nvSpPr>
        <p:spPr>
          <a:xfrm xmlns:a="http://schemas.openxmlformats.org/drawingml/2006/main">
            <a:off x="843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Maps and analytical outputs</a:t>
            </a:r>
            <a:endParaRPr/>
          </a:p>
        </p:txBody>
      </p:sp>
      <p:sp>
        <p:nvSpPr>
          <p:cNvPr id="528" name="Google Shape;528;p20">
            <a:extLst xmlns:a="http://schemas.openxmlformats.org/drawingml/2006/main">
              <a:ext uri="{FF2B5EF4-FFF2-40B4-BE49-F238E27FC236}">
                <a16:creationId xmlns:a16="http://schemas.microsoft.com/office/drawing/2014/main" id="{30A43F1C-3D7B-4A37-9639-0AEFB978C0B2}"/>
              </a:ext>
            </a:extLst>
          </p:cNvPr>
          <p:cNvSpPr>
            <a:spLocks xmlns:a="http://schemas.openxmlformats.org/drawingml/2006/main" noGrp="1"/>
          </p:cNvSpPr>
          <p:nvPr/>
        </p:nvSpPr>
        <p:spPr>
          <a:xfrm xmlns:a="http://schemas.openxmlformats.org/drawingml/2006/main">
            <a:off x="843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Inputs for downstream analysis</a:t>
            </a:r>
            <a:endParaRPr/>
          </a:p>
        </p:txBody>
      </p:sp>
      <p:sp>
        <p:nvSpPr>
          <p:cNvPr id="529" name="Google Shape;529;p20">
            <a:extLst xmlns:a="http://schemas.openxmlformats.org/drawingml/2006/main">
              <a:ext uri="{FF2B5EF4-FFF2-40B4-BE49-F238E27FC236}">
                <a16:creationId xmlns:a16="http://schemas.microsoft.com/office/drawing/2014/main" id="{F08DD6D7-D466-494D-AC64-9089BF3FCF2A}"/>
              </a:ext>
            </a:extLst>
          </p:cNvPr>
          <p:cNvSpPr>
            <a:spLocks xmlns:a="http://schemas.openxmlformats.org/drawingml/2006/main" noGrp="1"/>
          </p:cNvSpPr>
          <p:nvPr/>
        </p:nvSpPr>
        <p:spPr>
          <a:xfrm xmlns:a="http://schemas.openxmlformats.org/drawingml/2006/main">
            <a:off x="3086100" y="5257800"/>
            <a:ext cx="60198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800"/>
              <a:buFont typeface="Lato"/>
              <a:buNone/>
            </a:pPr>
            <a:r>
              <a:rPr sz="1800" b="1" i="0">
                <a:solidFill>
                  <a:srgbClr val="00A88F"/>
                </a:solidFill>
                <a:latin typeface="Lato"/>
                <a:ea typeface="Lato"/>
                <a:cs typeface="Lato"/>
              </a:rPr>
              <a:t>CAVA preserves the scientific choices while reducing repeated technical work</a:t>
            </a:r>
            <a:endParaRPr/>
          </a:p>
        </p:txBody>
      </p:sp>
      <p:sp>
        <p:nvSpPr>
          <p:cNvPr id="530" name="">
            <a:extLst xmlns:a="http://schemas.openxmlformats.org/drawingml/2006/main">
              <a:ext uri="{FF2B5EF4-FFF2-40B4-BE49-F238E27FC236}">
                <a16:creationId xmlns:a16="http://schemas.microsoft.com/office/drawing/2014/main" id="{564FD67B-9EE6-4D7A-ACAE-D34E6BD833BC}"/>
              </a:ext>
            </a:extLst>
          </p:cNvPr>
          <p:cNvSpPr>
            <a:spLocks xmlns:a="http://schemas.openxmlformats.org/drawingml/2006/main" noGrp="1"/>
          </p:cNvSpPr>
          <p:nvPr/>
        </p:nvSpPr>
        <p:spPr>
          <a:xfrm xmlns:a="http://schemas.openxmlformats.org/drawingml/2006/main">
            <a:off x="81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CURRENT WORKFLOW</a:t>
            </a:r>
          </a:p>
        </p:txBody>
      </p:sp>
      <p:sp>
        <p:nvSpPr>
          <p:cNvPr id="531" name="">
            <a:extLst xmlns:a="http://schemas.openxmlformats.org/drawingml/2006/main">
              <a:ext uri="{FF2B5EF4-FFF2-40B4-BE49-F238E27FC236}">
                <a16:creationId xmlns:a16="http://schemas.microsoft.com/office/drawing/2014/main" id="{7D72ADAE-76C4-467B-87E4-D169587B6CF1}"/>
              </a:ext>
            </a:extLst>
          </p:cNvPr>
          <p:cNvSpPr>
            <a:spLocks xmlns:a="http://schemas.openxmlformats.org/drawingml/2006/main" noGrp="1"/>
          </p:cNvSpPr>
          <p:nvPr/>
        </p:nvSpPr>
        <p:spPr>
          <a:xfrm xmlns:a="http://schemas.openxmlformats.org/drawingml/2006/main">
            <a:off x="843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i="0">
                <a:solidFill>
                  <a:srgbClr val="008D7A"/>
                </a:solidFill>
                <a:latin typeface="Lato"/>
                <a:ea typeface="Lato"/>
                <a:cs typeface="Lato"/>
              </a:defRPr>
            </a:pPr>
            <a:r>
              <a:rPr sz="900" b="1" i="0">
                <a:solidFill>
                  <a:srgbClr val="008D7A"/>
                </a:solidFill>
                <a:latin typeface="Lato"/>
                <a:ea typeface="Lato"/>
                <a:cs typeface="Lato"/>
              </a:rPr>
              <a:t>WITH CAVA</a:t>
            </a:r>
          </a:p>
        </p:txBody>
      </p:sp>
    </p:spTree>
    <p:extLst>
      <p:ext uri="{BB962C8B-B14F-4D97-AF65-F5344CB8AC3E}">
        <p14:creationId xmlns:p14="http://schemas.microsoft.com/office/powerpoint/2010/main" val="762338543"/>
      </p:ext>
    </p:extLst>
  </p:cSld>
</p:sld>
</file>

<file path=ppt/slides/slide2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35" name="Google Shape;535;p21">
            <a:extLst xmlns:a="http://schemas.openxmlformats.org/drawingml/2006/main">
              <a:ext uri="{FF2B5EF4-FFF2-40B4-BE49-F238E27FC236}">
                <a16:creationId xmlns:a16="http://schemas.microsoft.com/office/drawing/2014/main" id="{AA50A272-AD5F-44D1-B4C0-037D6CE2BE40}"/>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6" name="Google Shape;536;p21">
            <a:extLst xmlns:a="http://schemas.openxmlformats.org/drawingml/2006/main">
              <a:ext uri="{FF2B5EF4-FFF2-40B4-BE49-F238E27FC236}">
                <a16:creationId xmlns:a16="http://schemas.microsoft.com/office/drawing/2014/main" id="{7A4E1C45-D9A4-4800-B41E-FE1F452253A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7" name="Google Shape;537;p21">
            <a:extLst xmlns:a="http://schemas.openxmlformats.org/drawingml/2006/main">
              <a:ext uri="{FF2B5EF4-FFF2-40B4-BE49-F238E27FC236}">
                <a16:creationId xmlns:a16="http://schemas.microsoft.com/office/drawing/2014/main" id="{A9869903-315C-4FF7-9A63-284A8E838B30}"/>
              </a:ext>
            </a:extLst>
          </p:cNvPr>
          <p:cNvSpPr>
            <a:spLocks xmlns:a="http://schemas.openxmlformats.org/drawingml/2006/main" noGrp="1"/>
          </p:cNvSpPr>
          <p:nvPr/>
        </p:nvSpPr>
        <p:spPr>
          <a:xfrm xmlns:a="http://schemas.openxmlformats.org/drawingml/2006/main">
            <a:off x="723900" y="914400"/>
            <a:ext cx="238125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0000"/>
              </a:lnSpc>
              <a:spcBef>
                <a:spcPts val="0"/>
              </a:spcBef>
              <a:spcAft>
                <a:spcPts val="0"/>
              </a:spcAft>
              <a:buClr>
                <a:srgbClr val="A8D9CF"/>
              </a:buClr>
              <a:buSzPts val="8250"/>
              <a:buFont typeface="Lato"/>
              <a:buNone/>
            </a:pPr>
            <a:r>
              <a:rPr sz="8250" b="1" i="0">
                <a:solidFill>
                  <a:srgbClr val="A8D9CF"/>
                </a:solidFill>
                <a:latin typeface="Lato"/>
                <a:ea typeface="Lato"/>
                <a:cs typeface="Lato"/>
              </a:rPr>
              <a:t>21</a:t>
            </a:r>
            <a:endParaRPr/>
          </a:p>
        </p:txBody>
      </p:sp>
      <p:sp>
        <p:nvSpPr>
          <p:cNvPr id="538" name="Google Shape;538;p21">
            <a:extLst xmlns:a="http://schemas.openxmlformats.org/drawingml/2006/main">
              <a:ext uri="{FF2B5EF4-FFF2-40B4-BE49-F238E27FC236}">
                <a16:creationId xmlns:a16="http://schemas.microsoft.com/office/drawing/2014/main" id="{9C204A22-3176-494F-AD31-14ABBA34FF13}"/>
              </a:ext>
            </a:extLst>
          </p:cNvPr>
          <p:cNvSpPr>
            <a:spLocks xmlns:a="http://schemas.openxmlformats.org/drawingml/2006/main" noGrp="1"/>
          </p:cNvSpPr>
          <p:nvPr/>
        </p:nvSpPr>
        <p:spPr>
          <a:xfrm xmlns:a="http://schemas.openxmlformats.org/drawingml/2006/main">
            <a:off x="4724400" y="120015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9" name="Google Shape;539;p21">
            <a:extLst xmlns:a="http://schemas.openxmlformats.org/drawingml/2006/main">
              <a:ext uri="{FF2B5EF4-FFF2-40B4-BE49-F238E27FC236}">
                <a16:creationId xmlns:a16="http://schemas.microsoft.com/office/drawing/2014/main" id="{8BD90C42-04CA-4823-81E6-016FD5309D21}"/>
              </a:ext>
            </a:extLst>
          </p:cNvPr>
          <p:cNvSpPr>
            <a:spLocks xmlns:a="http://schemas.openxmlformats.org/drawingml/2006/main" noGrp="1"/>
          </p:cNvSpPr>
          <p:nvPr/>
        </p:nvSpPr>
        <p:spPr>
          <a:xfrm xmlns:a="http://schemas.openxmlformats.org/drawingml/2006/main">
            <a:off x="4724400" y="1809750"/>
            <a:ext cx="6334125"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12304E"/>
              </a:buClr>
              <a:buSzPts val="3150"/>
              <a:buFont typeface="Lato"/>
              <a:buNone/>
            </a:pPr>
            <a:r>
              <a:rPr sz="3150" b="1" i="0">
                <a:solidFill>
                  <a:srgbClr val="12304E"/>
                </a:solidFill>
                <a:latin typeface="Lato"/>
                <a:ea typeface="Lato"/>
                <a:cs typeface="Lato"/>
              </a:rPr>
              <a:t>How CAVA operationalizes the workflow</a:t>
            </a:r>
            <a:endParaRPr/>
          </a:p>
        </p:txBody>
      </p:sp>
      <p:sp>
        <p:nvSpPr>
          <p:cNvPr id="540" name="Google Shape;540;p21">
            <a:extLst xmlns:a="http://schemas.openxmlformats.org/drawingml/2006/main">
              <a:ext uri="{FF2B5EF4-FFF2-40B4-BE49-F238E27FC236}">
                <a16:creationId xmlns:a16="http://schemas.microsoft.com/office/drawing/2014/main" id="{662A5369-CE0A-4261-83FD-EAD5ABB9F6D1}"/>
              </a:ext>
            </a:extLst>
          </p:cNvPr>
          <p:cNvSpPr>
            <a:spLocks xmlns:a="http://schemas.openxmlformats.org/drawingml/2006/main" noGrp="1"/>
          </p:cNvSpPr>
          <p:nvPr/>
        </p:nvSpPr>
        <p:spPr>
          <a:xfrm xmlns:a="http://schemas.openxmlformats.org/drawingml/2006/main">
            <a:off x="4743450" y="3562350"/>
            <a:ext cx="61912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687984"/>
              </a:buClr>
              <a:buSzPts val="1575"/>
              <a:buFont typeface="Lato"/>
              <a:buNone/>
            </a:pPr>
            <a:r>
              <a:rPr sz="1575" b="0" i="0">
                <a:solidFill>
                  <a:srgbClr val="687984"/>
                </a:solidFill>
                <a:latin typeface="Lato"/>
                <a:ea typeface="Lato"/>
                <a:cs typeface="Lato"/>
              </a:rPr>
              <a:t>A common data backbone supports different interfaces for different users and analytical needs.</a:t>
            </a:r>
            <a:endParaRPr/>
          </a:p>
        </p:txBody>
      </p:sp>
      <p:sp>
        <p:nvSpPr>
          <p:cNvPr id="541" name="Google Shape;541;p21">
            <a:extLst xmlns:a="http://schemas.openxmlformats.org/drawingml/2006/main">
              <a:ext uri="{FF2B5EF4-FFF2-40B4-BE49-F238E27FC236}">
                <a16:creationId xmlns:a16="http://schemas.microsoft.com/office/drawing/2014/main" id="{1EE157D2-EA11-4BE2-B0D1-B933DB5E4757}"/>
              </a:ext>
            </a:extLst>
          </p:cNvPr>
          <p:cNvSpPr>
            <a:spLocks xmlns:a="http://schemas.openxmlformats.org/drawingml/2006/main" noGrp="1"/>
          </p:cNvSpPr>
          <p:nvPr/>
        </p:nvSpPr>
        <p:spPr>
          <a:xfrm xmlns:a="http://schemas.openxmlformats.org/drawingml/2006/main">
            <a:off x="4743450" y="5905500"/>
            <a:ext cx="61912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2" name="">
            <a:extLst xmlns:a="http://schemas.openxmlformats.org/drawingml/2006/main">
              <a:ext uri="{FF2B5EF4-FFF2-40B4-BE49-F238E27FC236}">
                <a16:creationId xmlns:a16="http://schemas.microsoft.com/office/drawing/2014/main" id="{D3ED96C5-962B-4398-88A3-36A102FE8744}"/>
              </a:ext>
            </a:extLst>
          </p:cNvPr>
          <p:cNvSpPr>
            <a:spLocks xmlns:a="http://schemas.openxmlformats.org/drawingml/2006/main" noGrp="1"/>
          </p:cNvSpPr>
          <p:nvPr/>
        </p:nvSpPr>
        <p:spPr>
          <a:xfrm xmlns:a="http://schemas.openxmlformats.org/drawingml/2006/main">
            <a:off x="4743450" y="521970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8D7A"/>
                </a:solidFill>
                <a:latin typeface="Lato"/>
                <a:ea typeface="Lato"/>
                <a:cs typeface="Lato"/>
              </a:defRPr>
            </a:pPr>
            <a:r>
              <a:rPr sz="1050" b="1" i="0">
                <a:solidFill>
                  <a:srgbClr val="008D7A"/>
                </a:solidFill>
                <a:latin typeface="Lato"/>
                <a:ea typeface="Lato"/>
                <a:cs typeface="Lato"/>
              </a:rPr>
              <a:t>EZEQUIEL · CAVA ARCHITECTURE</a:t>
            </a:r>
          </a:p>
        </p:txBody>
      </p:sp>
    </p:spTree>
    <p:extLst>
      <p:ext uri="{BB962C8B-B14F-4D97-AF65-F5344CB8AC3E}">
        <p14:creationId xmlns:p14="http://schemas.microsoft.com/office/powerpoint/2010/main" val="1422972676"/>
      </p:ext>
    </p:extLst>
  </p:cSld>
</p:sld>
</file>

<file path=ppt/slides/slide22.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547" name="Google Shape;547;p22">
            <a:extLst xmlns:a="http://schemas.openxmlformats.org/drawingml/2006/main">
              <a:ext uri="{FF2B5EF4-FFF2-40B4-BE49-F238E27FC236}">
                <a16:creationId xmlns:a16="http://schemas.microsoft.com/office/drawing/2014/main" id="{32C70E32-A729-4746-BABE-E5712F2085F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8" name="Google Shape;548;p22">
            <a:extLst xmlns:a="http://schemas.openxmlformats.org/drawingml/2006/main">
              <a:ext uri="{FF2B5EF4-FFF2-40B4-BE49-F238E27FC236}">
                <a16:creationId xmlns:a16="http://schemas.microsoft.com/office/drawing/2014/main" id="{72F32AE8-05FB-4BD2-AA42-38DBC02603BF}"/>
              </a:ext>
            </a:extLst>
          </p:cNvPr>
          <p:cNvSpPr>
            <a:spLocks xmlns:a="http://schemas.openxmlformats.org/drawingml/2006/main" noGrp="1"/>
          </p:cNvSpPr>
          <p:nvPr/>
        </p:nvSpPr>
        <p:spPr>
          <a:xfrm xmlns:a="http://schemas.openxmlformats.org/drawingml/2006/main">
            <a:off x="723900" y="457200"/>
            <a:ext cx="7620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325"/>
              <a:buFont typeface="Lato"/>
              <a:buNone/>
            </a:pPr>
            <a:r>
              <a:rPr sz="2325" b="1" i="0">
                <a:solidFill>
                  <a:srgbClr val="FFFFFF"/>
                </a:solidFill>
                <a:latin typeface="Lato"/>
                <a:ea typeface="Lato"/>
                <a:cs typeface="Lato"/>
              </a:rPr>
              <a:t>CAVA data backbone</a:t>
            </a:r>
            <a:endParaRPr/>
          </a:p>
        </p:txBody>
      </p:sp>
      <p:sp>
        <p:nvSpPr>
          <p:cNvPr id="549" name="Google Shape;549;p22">
            <a:extLst xmlns:a="http://schemas.openxmlformats.org/drawingml/2006/main">
              <a:ext uri="{FF2B5EF4-FFF2-40B4-BE49-F238E27FC236}">
                <a16:creationId xmlns:a16="http://schemas.microsoft.com/office/drawing/2014/main" id="{876E6688-A636-4559-99F6-41FF49E14A8B}"/>
              </a:ext>
            </a:extLst>
          </p:cNvPr>
          <p:cNvSpPr>
            <a:spLocks xmlns:a="http://schemas.openxmlformats.org/drawingml/2006/main" noGrp="1"/>
          </p:cNvSpPr>
          <p:nvPr/>
        </p:nvSpPr>
        <p:spPr>
          <a:xfrm xmlns:a="http://schemas.openxmlformats.org/drawingml/2006/main">
            <a:off x="733425" y="1009650"/>
            <a:ext cx="8858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FD0DA"/>
              </a:buClr>
              <a:buSzPts val="1125"/>
              <a:buFont typeface="Lato"/>
              <a:buNone/>
            </a:pPr>
            <a:r>
              <a:rPr sz="1125" b="0" i="0">
                <a:solidFill>
                  <a:srgbClr val="BFD0DA"/>
                </a:solidFill>
                <a:latin typeface="Lato"/>
                <a:ea typeface="Lato"/>
                <a:cs typeface="Lato"/>
              </a:rPr>
              <a:t>A shared infrastructure connects source datasets, harmonized access and user-facing outputs</a:t>
            </a:r>
            <a:endParaRPr/>
          </a:p>
        </p:txBody>
      </p:sp>
      <p:sp>
        <p:nvSpPr>
          <p:cNvPr id="550" name="Google Shape;550;p22">
            <a:extLst xmlns:a="http://schemas.openxmlformats.org/drawingml/2006/main">
              <a:ext uri="{FF2B5EF4-FFF2-40B4-BE49-F238E27FC236}">
                <a16:creationId xmlns:a16="http://schemas.microsoft.com/office/drawing/2014/main" id="{223B6F1D-ABBE-4119-A161-557831D865D3}"/>
              </a:ext>
            </a:extLst>
          </p:cNvPr>
          <p:cNvSpPr>
            <a:spLocks xmlns:a="http://schemas.openxmlformats.org/drawingml/2006/main" noGrp="1"/>
          </p:cNvSpPr>
          <p:nvPr/>
        </p:nvSpPr>
        <p:spPr>
          <a:xfrm xmlns:a="http://schemas.openxmlformats.org/drawingml/2006/main">
            <a:off x="733425" y="14478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1" name="Google Shape;551;p22">
            <a:extLst xmlns:a="http://schemas.openxmlformats.org/drawingml/2006/main">
              <a:ext uri="{FF2B5EF4-FFF2-40B4-BE49-F238E27FC236}">
                <a16:creationId xmlns:a16="http://schemas.microsoft.com/office/drawing/2014/main" id="{A93E94C5-001E-4A3F-B5CD-18A3048266B2}"/>
              </a:ext>
            </a:extLst>
          </p:cNvPr>
          <p:cNvSpPr>
            <a:spLocks xmlns:a="http://schemas.openxmlformats.org/drawingml/2006/main" noGrp="1"/>
          </p:cNvSpPr>
          <p:nvPr/>
        </p:nvSpPr>
        <p:spPr>
          <a:xfrm xmlns:a="http://schemas.openxmlformats.org/drawingml/2006/main">
            <a:off x="971550" y="1847850"/>
            <a:ext cx="10248900" cy="628650"/>
          </a:xfrm>
          <a:prstGeom xmlns:a="http://schemas.openxmlformats.org/drawingml/2006/main" prst="rect">
            <a:avLst/>
          </a:prstGeom>
          <a:solidFill xmlns:a="http://schemas.openxmlformats.org/drawingml/2006/main">
            <a:srgbClr val="EAF3F8">
              <a:alpha val="14118"/>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2" name="Google Shape;552;p22">
            <a:extLst xmlns:a="http://schemas.openxmlformats.org/drawingml/2006/main">
              <a:ext uri="{FF2B5EF4-FFF2-40B4-BE49-F238E27FC236}">
                <a16:creationId xmlns:a16="http://schemas.microsoft.com/office/drawing/2014/main" id="{0996295C-EC95-4E07-89E8-FF3F8720B8FD}"/>
              </a:ext>
            </a:extLst>
          </p:cNvPr>
          <p:cNvSpPr>
            <a:spLocks xmlns:a="http://schemas.openxmlformats.org/drawingml/2006/main" noGrp="1"/>
          </p:cNvSpPr>
          <p:nvPr/>
        </p:nvSpPr>
        <p:spPr>
          <a:xfrm xmlns:a="http://schemas.openxmlformats.org/drawingml/2006/main">
            <a:off x="1200150" y="20097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01</a:t>
            </a:r>
            <a:endParaRPr/>
          </a:p>
        </p:txBody>
      </p:sp>
      <p:sp>
        <p:nvSpPr>
          <p:cNvPr id="553" name="Google Shape;553;p22">
            <a:extLst xmlns:a="http://schemas.openxmlformats.org/drawingml/2006/main">
              <a:ext uri="{FF2B5EF4-FFF2-40B4-BE49-F238E27FC236}">
                <a16:creationId xmlns:a16="http://schemas.microsoft.com/office/drawing/2014/main" id="{2207DF85-D246-46CD-925B-8221A3E3FB7A}"/>
              </a:ext>
            </a:extLst>
          </p:cNvPr>
          <p:cNvSpPr>
            <a:spLocks xmlns:a="http://schemas.openxmlformats.org/drawingml/2006/main" noGrp="1"/>
          </p:cNvSpPr>
          <p:nvPr/>
        </p:nvSpPr>
        <p:spPr>
          <a:xfrm xmlns:a="http://schemas.openxmlformats.org/drawingml/2006/main">
            <a:off x="1809750" y="20097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SOURCE DATA</a:t>
            </a:r>
            <a:endParaRPr/>
          </a:p>
        </p:txBody>
      </p:sp>
      <p:sp>
        <p:nvSpPr>
          <p:cNvPr id="554" name="Google Shape;554;p22">
            <a:extLst xmlns:a="http://schemas.openxmlformats.org/drawingml/2006/main">
              <a:ext uri="{FF2B5EF4-FFF2-40B4-BE49-F238E27FC236}">
                <a16:creationId xmlns:a16="http://schemas.microsoft.com/office/drawing/2014/main" id="{042A13A7-1823-461A-B3A1-F5C545A5CA9D}"/>
              </a:ext>
            </a:extLst>
          </p:cNvPr>
          <p:cNvSpPr>
            <a:spLocks xmlns:a="http://schemas.openxmlformats.org/drawingml/2006/main" noGrp="1"/>
          </p:cNvSpPr>
          <p:nvPr/>
        </p:nvSpPr>
        <p:spPr>
          <a:xfrm xmlns:a="http://schemas.openxmlformats.org/drawingml/2006/main">
            <a:off x="4095750" y="1962150"/>
            <a:ext cx="6477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ERA5 and CORDEX-CORE climate datasets </a:t>
            </a:r>
            <a:r>
              <a:rPr sz="1350">
                <a:solidFill>
                  <a:srgbClr val="FFFFFF"/>
                </a:solidFill>
                <a:latin typeface="Lato"/>
                <a:ea typeface="Lato"/>
                <a:cs typeface="Lato"/>
              </a:rPr>
              <a:t>(NetCDF, ~20 TB)</a:t>
            </a:r>
            <a:endParaRPr/>
          </a:p>
        </p:txBody>
      </p:sp>
      <p:sp>
        <p:nvSpPr>
          <p:cNvPr id="555" name="Google Shape;555;p22">
            <a:extLst xmlns:a="http://schemas.openxmlformats.org/drawingml/2006/main">
              <a:ext uri="{FF2B5EF4-FFF2-40B4-BE49-F238E27FC236}">
                <a16:creationId xmlns:a16="http://schemas.microsoft.com/office/drawing/2014/main" id="{385FDB05-6E99-4327-8595-BA0D977117EF}"/>
              </a:ext>
            </a:extLst>
          </p:cNvPr>
          <p:cNvSpPr>
            <a:spLocks xmlns:a="http://schemas.openxmlformats.org/drawingml/2006/main" noGrp="1"/>
          </p:cNvSpPr>
          <p:nvPr/>
        </p:nvSpPr>
        <p:spPr>
          <a:xfrm xmlns:a="http://schemas.openxmlformats.org/drawingml/2006/main">
            <a:off x="1333500" y="2724150"/>
            <a:ext cx="9525000" cy="628650"/>
          </a:xfrm>
          <a:prstGeom xmlns:a="http://schemas.openxmlformats.org/drawingml/2006/main" prst="rect">
            <a:avLst/>
          </a:prstGeom>
          <a:solidFill xmlns:a="http://schemas.openxmlformats.org/drawingml/2006/main">
            <a:srgbClr val="00A88F">
              <a:alpha val="21961"/>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6" name="Google Shape;556;p22">
            <a:extLst xmlns:a="http://schemas.openxmlformats.org/drawingml/2006/main">
              <a:ext uri="{FF2B5EF4-FFF2-40B4-BE49-F238E27FC236}">
                <a16:creationId xmlns:a16="http://schemas.microsoft.com/office/drawing/2014/main" id="{A6B51288-6489-4693-882A-6769EE933B47}"/>
              </a:ext>
            </a:extLst>
          </p:cNvPr>
          <p:cNvSpPr>
            <a:spLocks xmlns:a="http://schemas.openxmlformats.org/drawingml/2006/main" noGrp="1"/>
          </p:cNvSpPr>
          <p:nvPr/>
        </p:nvSpPr>
        <p:spPr>
          <a:xfrm xmlns:a="http://schemas.openxmlformats.org/drawingml/2006/main">
            <a:off x="1562100" y="28860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125"/>
              <a:buFont typeface="Lato"/>
              <a:buNone/>
            </a:pPr>
            <a:r>
              <a:rPr sz="1125" b="1" i="0">
                <a:solidFill>
                  <a:srgbClr val="8BE0D2"/>
                </a:solidFill>
                <a:latin typeface="Lato"/>
                <a:ea typeface="Lato"/>
                <a:cs typeface="Lato"/>
              </a:rPr>
              <a:t>02</a:t>
            </a:r>
            <a:endParaRPr/>
          </a:p>
        </p:txBody>
      </p:sp>
      <p:sp>
        <p:nvSpPr>
          <p:cNvPr id="557" name="Google Shape;557;p22">
            <a:extLst xmlns:a="http://schemas.openxmlformats.org/drawingml/2006/main">
              <a:ext uri="{FF2B5EF4-FFF2-40B4-BE49-F238E27FC236}">
                <a16:creationId xmlns:a16="http://schemas.microsoft.com/office/drawing/2014/main" id="{FC3B310D-3DCD-41C9-B294-95A72455870B}"/>
              </a:ext>
            </a:extLst>
          </p:cNvPr>
          <p:cNvSpPr>
            <a:spLocks xmlns:a="http://schemas.openxmlformats.org/drawingml/2006/main" noGrp="1"/>
          </p:cNvSpPr>
          <p:nvPr/>
        </p:nvSpPr>
        <p:spPr>
          <a:xfrm xmlns:a="http://schemas.openxmlformats.org/drawingml/2006/main">
            <a:off x="2171700" y="28860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050"/>
              <a:buFont typeface="Lato"/>
              <a:buNone/>
            </a:pPr>
            <a:r>
              <a:rPr sz="1050" b="1" i="0">
                <a:solidFill>
                  <a:srgbClr val="8BE0D2"/>
                </a:solidFill>
                <a:latin typeface="Lato"/>
                <a:ea typeface="Lato"/>
                <a:cs typeface="Lato"/>
              </a:rPr>
              <a:t>REMOTE SERVICES</a:t>
            </a:r>
            <a:endParaRPr/>
          </a:p>
        </p:txBody>
      </p:sp>
      <p:sp>
        <p:nvSpPr>
          <p:cNvPr id="558" name="Google Shape;558;p22">
            <a:extLst xmlns:a="http://schemas.openxmlformats.org/drawingml/2006/main">
              <a:ext uri="{FF2B5EF4-FFF2-40B4-BE49-F238E27FC236}">
                <a16:creationId xmlns:a16="http://schemas.microsoft.com/office/drawing/2014/main" id="{0E39B4F5-4359-4E05-BD03-DC1C71F59E1E}"/>
              </a:ext>
            </a:extLst>
          </p:cNvPr>
          <p:cNvSpPr>
            <a:spLocks xmlns:a="http://schemas.openxmlformats.org/drawingml/2006/main" noGrp="1"/>
          </p:cNvSpPr>
          <p:nvPr/>
        </p:nvSpPr>
        <p:spPr>
          <a:xfrm xmlns:a="http://schemas.openxmlformats.org/drawingml/2006/main">
            <a:off x="4457700" y="2838450"/>
            <a:ext cx="57531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THREDDS and OPeNDAP deliver only the requested subset</a:t>
            </a:r>
            <a:endParaRPr/>
          </a:p>
        </p:txBody>
      </p:sp>
      <p:sp>
        <p:nvSpPr>
          <p:cNvPr id="559" name="Google Shape;559;p22">
            <a:extLst xmlns:a="http://schemas.openxmlformats.org/drawingml/2006/main">
              <a:ext uri="{FF2B5EF4-FFF2-40B4-BE49-F238E27FC236}">
                <a16:creationId xmlns:a16="http://schemas.microsoft.com/office/drawing/2014/main" id="{E43EB2FD-5F8E-4501-8BAC-FBB81EF5EE5F}"/>
              </a:ext>
            </a:extLst>
          </p:cNvPr>
          <p:cNvSpPr>
            <a:spLocks xmlns:a="http://schemas.openxmlformats.org/drawingml/2006/main" noGrp="1"/>
          </p:cNvSpPr>
          <p:nvPr/>
        </p:nvSpPr>
        <p:spPr>
          <a:xfrm xmlns:a="http://schemas.openxmlformats.org/drawingml/2006/main">
            <a:off x="1695450" y="3600450"/>
            <a:ext cx="8801100" cy="628650"/>
          </a:xfrm>
          <a:prstGeom xmlns:a="http://schemas.openxmlformats.org/drawingml/2006/main" prst="rect">
            <a:avLst/>
          </a:prstGeom>
          <a:solidFill xmlns:a="http://schemas.openxmlformats.org/drawingml/2006/main">
            <a:srgbClr val="FFFFFF">
              <a:alpha val="10196"/>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0" name="Google Shape;560;p22">
            <a:extLst xmlns:a="http://schemas.openxmlformats.org/drawingml/2006/main">
              <a:ext uri="{FF2B5EF4-FFF2-40B4-BE49-F238E27FC236}">
                <a16:creationId xmlns:a16="http://schemas.microsoft.com/office/drawing/2014/main" id="{E7C8B686-2F74-474F-B90E-A4C58F7F7B0E}"/>
              </a:ext>
            </a:extLst>
          </p:cNvPr>
          <p:cNvSpPr>
            <a:spLocks xmlns:a="http://schemas.openxmlformats.org/drawingml/2006/main" noGrp="1"/>
          </p:cNvSpPr>
          <p:nvPr/>
        </p:nvSpPr>
        <p:spPr>
          <a:xfrm xmlns:a="http://schemas.openxmlformats.org/drawingml/2006/main">
            <a:off x="1924050" y="37623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03</a:t>
            </a:r>
            <a:endParaRPr/>
          </a:p>
        </p:txBody>
      </p:sp>
      <p:sp>
        <p:nvSpPr>
          <p:cNvPr id="561" name="Google Shape;561;p22">
            <a:extLst xmlns:a="http://schemas.openxmlformats.org/drawingml/2006/main">
              <a:ext uri="{FF2B5EF4-FFF2-40B4-BE49-F238E27FC236}">
                <a16:creationId xmlns:a16="http://schemas.microsoft.com/office/drawing/2014/main" id="{39513C58-619E-4E7E-8924-9AE690D5F53D}"/>
              </a:ext>
            </a:extLst>
          </p:cNvPr>
          <p:cNvSpPr>
            <a:spLocks xmlns:a="http://schemas.openxmlformats.org/drawingml/2006/main" noGrp="1"/>
          </p:cNvSpPr>
          <p:nvPr/>
        </p:nvSpPr>
        <p:spPr>
          <a:xfrm xmlns:a="http://schemas.openxmlformats.org/drawingml/2006/main">
            <a:off x="2533650" y="37623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HARMONIZATION</a:t>
            </a:r>
            <a:endParaRPr/>
          </a:p>
        </p:txBody>
      </p:sp>
      <p:sp>
        <p:nvSpPr>
          <p:cNvPr id="562" name="Google Shape;562;p22">
            <a:extLst xmlns:a="http://schemas.openxmlformats.org/drawingml/2006/main">
              <a:ext uri="{FF2B5EF4-FFF2-40B4-BE49-F238E27FC236}">
                <a16:creationId xmlns:a16="http://schemas.microsoft.com/office/drawing/2014/main" id="{0D847C09-28C4-42F2-BE5A-FE1BD31C1547}"/>
              </a:ext>
            </a:extLst>
          </p:cNvPr>
          <p:cNvSpPr>
            <a:spLocks xmlns:a="http://schemas.openxmlformats.org/drawingml/2006/main" noGrp="1"/>
          </p:cNvSpPr>
          <p:nvPr/>
        </p:nvSpPr>
        <p:spPr>
          <a:xfrm xmlns:a="http://schemas.openxmlformats.org/drawingml/2006/main">
            <a:off x="4819650" y="3714750"/>
            <a:ext cx="50292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Spatial selection, calendars, units and analysis-ready structures</a:t>
            </a:r>
            <a:endParaRPr/>
          </a:p>
        </p:txBody>
      </p:sp>
      <p:sp>
        <p:nvSpPr>
          <p:cNvPr id="563" name="Google Shape;563;p22">
            <a:extLst xmlns:a="http://schemas.openxmlformats.org/drawingml/2006/main">
              <a:ext uri="{FF2B5EF4-FFF2-40B4-BE49-F238E27FC236}">
                <a16:creationId xmlns:a16="http://schemas.microsoft.com/office/drawing/2014/main" id="{54B68480-7EE8-42C0-AAE5-7A7E64A97D92}"/>
              </a:ext>
            </a:extLst>
          </p:cNvPr>
          <p:cNvSpPr>
            <a:spLocks xmlns:a="http://schemas.openxmlformats.org/drawingml/2006/main" noGrp="1"/>
          </p:cNvSpPr>
          <p:nvPr/>
        </p:nvSpPr>
        <p:spPr>
          <a:xfrm xmlns:a="http://schemas.openxmlformats.org/drawingml/2006/main">
            <a:off x="2057400" y="4476750"/>
            <a:ext cx="8077200" cy="628650"/>
          </a:xfrm>
          <a:prstGeom xmlns:a="http://schemas.openxmlformats.org/drawingml/2006/main" prst="rect">
            <a:avLst/>
          </a:prstGeom>
          <a:solidFill xmlns:a="http://schemas.openxmlformats.org/drawingml/2006/main">
            <a:srgbClr val="F2B632">
              <a:alpha val="2000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4" name="Google Shape;564;p22">
            <a:extLst xmlns:a="http://schemas.openxmlformats.org/drawingml/2006/main">
              <a:ext uri="{FF2B5EF4-FFF2-40B4-BE49-F238E27FC236}">
                <a16:creationId xmlns:a16="http://schemas.microsoft.com/office/drawing/2014/main" id="{2CA7983F-2B48-4C84-B496-67421DB3C0B1}"/>
              </a:ext>
            </a:extLst>
          </p:cNvPr>
          <p:cNvSpPr>
            <a:spLocks xmlns:a="http://schemas.openxmlformats.org/drawingml/2006/main" noGrp="1"/>
          </p:cNvSpPr>
          <p:nvPr/>
        </p:nvSpPr>
        <p:spPr>
          <a:xfrm xmlns:a="http://schemas.openxmlformats.org/drawingml/2006/main">
            <a:off x="2286000" y="46386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125"/>
              <a:buFont typeface="Lato"/>
              <a:buNone/>
            </a:pPr>
            <a:r>
              <a:rPr sz="1125" b="1" i="0">
                <a:solidFill>
                  <a:srgbClr val="FFD879"/>
                </a:solidFill>
                <a:latin typeface="Lato"/>
                <a:ea typeface="Lato"/>
                <a:cs typeface="Lato"/>
              </a:rPr>
              <a:t>04</a:t>
            </a:r>
            <a:endParaRPr/>
          </a:p>
        </p:txBody>
      </p:sp>
      <p:sp>
        <p:nvSpPr>
          <p:cNvPr id="565" name="Google Shape;565;p22">
            <a:extLst xmlns:a="http://schemas.openxmlformats.org/drawingml/2006/main">
              <a:ext uri="{FF2B5EF4-FFF2-40B4-BE49-F238E27FC236}">
                <a16:creationId xmlns:a16="http://schemas.microsoft.com/office/drawing/2014/main" id="{F28C9ABD-5708-4C26-ADF5-A602A40BA718}"/>
              </a:ext>
            </a:extLst>
          </p:cNvPr>
          <p:cNvSpPr>
            <a:spLocks xmlns:a="http://schemas.openxmlformats.org/drawingml/2006/main" noGrp="1"/>
          </p:cNvSpPr>
          <p:nvPr/>
        </p:nvSpPr>
        <p:spPr>
          <a:xfrm xmlns:a="http://schemas.openxmlformats.org/drawingml/2006/main">
            <a:off x="2895600" y="46386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050"/>
              <a:buFont typeface="Lato"/>
              <a:buNone/>
            </a:pPr>
            <a:r>
              <a:rPr sz="1050" b="1" i="0">
                <a:solidFill>
                  <a:srgbClr val="FFD879"/>
                </a:solidFill>
                <a:latin typeface="Lato"/>
                <a:ea typeface="Lato"/>
                <a:cs typeface="Lato"/>
              </a:rPr>
              <a:t>ANALYTICAL OUTPUTS</a:t>
            </a:r>
            <a:endParaRPr/>
          </a:p>
        </p:txBody>
      </p:sp>
      <p:sp>
        <p:nvSpPr>
          <p:cNvPr id="566" name="Google Shape;566;p22">
            <a:extLst xmlns:a="http://schemas.openxmlformats.org/drawingml/2006/main">
              <a:ext uri="{FF2B5EF4-FFF2-40B4-BE49-F238E27FC236}">
                <a16:creationId xmlns:a16="http://schemas.microsoft.com/office/drawing/2014/main" id="{C420DC86-F813-4B55-9A44-94588310D45D}"/>
              </a:ext>
            </a:extLst>
          </p:cNvPr>
          <p:cNvSpPr>
            <a:spLocks xmlns:a="http://schemas.openxmlformats.org/drawingml/2006/main" noGrp="1"/>
          </p:cNvSpPr>
          <p:nvPr/>
        </p:nvSpPr>
        <p:spPr>
          <a:xfrm xmlns:a="http://schemas.openxmlformats.org/drawingml/2006/main">
            <a:off x="5181600" y="4591050"/>
            <a:ext cx="43053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50"/>
              <a:buFont typeface="Lato"/>
              <a:buNone/>
            </a:pPr>
            <a:r>
              <a:rPr sz="1250" b="0" i="0">
                <a:solidFill>
                  <a:srgbClr val="FFFFFF"/>
                </a:solidFill>
                <a:latin typeface="Lato"/>
                <a:ea typeface="Lato"/>
                <a:cs typeface="Lato"/>
              </a:rPr>
              <a:t>Indicators, maps, time series and data for downstream workflows</a:t>
            </a:r>
            <a:endParaRPr/>
          </a:p>
        </p:txBody>
      </p:sp>
      <p:sp>
        <p:nvSpPr>
          <p:cNvPr id="567" name="Google Shape;567;p22">
            <a:extLst xmlns:a="http://schemas.openxmlformats.org/drawingml/2006/main">
              <a:ext uri="{FF2B5EF4-FFF2-40B4-BE49-F238E27FC236}">
                <a16:creationId xmlns:a16="http://schemas.microsoft.com/office/drawing/2014/main" id="{2CF0A544-BA25-4D72-9DE2-02DBE6E85532}"/>
              </a:ext>
            </a:extLst>
          </p:cNvPr>
          <p:cNvSpPr>
            <a:spLocks xmlns:a="http://schemas.openxmlformats.org/drawingml/2006/main" noGrp="1"/>
          </p:cNvSpPr>
          <p:nvPr/>
        </p:nvSpPr>
        <p:spPr>
          <a:xfrm xmlns:a="http://schemas.openxmlformats.org/drawingml/2006/main">
            <a:off x="2381250" y="5648325"/>
            <a:ext cx="7429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Confirm production services, dataset catalogue and responsibilities with Cantabria</a:t>
            </a:r>
            <a:endParaRPr/>
          </a:p>
        </p:txBody>
      </p:sp>
      <p:sp>
        <p:nvSpPr>
          <p:cNvPr id="568" name="Google Shape;568;p22">
            <a:extLst xmlns:a="http://schemas.openxmlformats.org/drawingml/2006/main">
              <a:ext uri="{FF2B5EF4-FFF2-40B4-BE49-F238E27FC236}">
                <a16:creationId xmlns:a16="http://schemas.microsoft.com/office/drawing/2014/main" id="{9A430C7C-20E5-47CC-AB21-2EC35D041EA9}"/>
              </a:ext>
            </a:extLst>
          </p:cNvPr>
          <p:cNvSpPr>
            <a:spLocks xmlns:a="http://schemas.openxmlformats.org/drawingml/2006/main" noGrp="1"/>
          </p:cNvSpPr>
          <p:nvPr/>
        </p:nvSpPr>
        <p:spPr>
          <a:xfrm xmlns:a="http://schemas.openxmlformats.org/drawingml/2006/main">
            <a:off x="733425" y="6229350"/>
            <a:ext cx="10810875"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9" name="Google Shape;569;p22">
            <a:extLst xmlns:a="http://schemas.openxmlformats.org/drawingml/2006/main">
              <a:ext uri="{FF2B5EF4-FFF2-40B4-BE49-F238E27FC236}">
                <a16:creationId xmlns:a16="http://schemas.microsoft.com/office/drawing/2014/main" id="{B2A420F0-F782-4820-8A73-69665A3B45AB}"/>
              </a:ext>
            </a:extLst>
          </p:cNvPr>
          <p:cNvSpPr>
            <a:spLocks xmlns:a="http://schemas.openxmlformats.org/drawingml/2006/main" noGrp="1"/>
          </p:cNvSpPr>
          <p:nvPr/>
        </p:nvSpPr>
        <p:spPr>
          <a:xfrm xmlns:a="http://schemas.openxmlformats.org/drawingml/2006/main">
            <a:off x="742950" y="6353175"/>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6C5CF"/>
              </a:buClr>
              <a:buSzPts val="750"/>
              <a:buFont typeface="Lato"/>
              <a:buNone/>
            </a:pPr>
            <a:r>
              <a:rPr sz="750" b="1" i="0">
                <a:solidFill>
                  <a:srgbClr val="B6C5CF"/>
                </a:solidFill>
                <a:latin typeface="Lato"/>
                <a:ea typeface="Lato"/>
                <a:cs typeface="Lato"/>
              </a:rPr>
              <a:t>CAVA MODULE 1</a:t>
            </a:r>
            <a:endParaRPr/>
          </a:p>
        </p:txBody>
      </p:sp>
      <p:sp>
        <p:nvSpPr>
          <p:cNvPr id="570" name="Google Shape;570;p22">
            <a:extLst xmlns:a="http://schemas.openxmlformats.org/drawingml/2006/main">
              <a:ext uri="{FF2B5EF4-FFF2-40B4-BE49-F238E27FC236}">
                <a16:creationId xmlns:a16="http://schemas.microsoft.com/office/drawing/2014/main" id="{4187ECEB-8A8D-4884-B88C-9D4B9B30DE48}"/>
              </a:ext>
            </a:extLst>
          </p:cNvPr>
          <p:cNvSpPr>
            <a:spLocks xmlns:a="http://schemas.openxmlformats.org/drawingml/2006/main" noGrp="1"/>
          </p:cNvSpPr>
          <p:nvPr/>
        </p:nvSpPr>
        <p:spPr>
          <a:xfrm xmlns:a="http://schemas.openxmlformats.org/drawingml/2006/main">
            <a:off x="11049000" y="6353175"/>
            <a:ext cx="476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22</a:t>
            </a:r>
            <a:endParaRPr/>
          </a:p>
        </p:txBody>
      </p:sp>
    </p:spTree>
    <p:extLst>
      <p:ext uri="{BB962C8B-B14F-4D97-AF65-F5344CB8AC3E}">
        <p14:creationId xmlns:p14="http://schemas.microsoft.com/office/powerpoint/2010/main" val="2144708363"/>
      </p:ext>
    </p:extLst>
  </p:cSld>
</p:sld>
</file>

<file path=ppt/slides/slide2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76" name="Google Shape;576;p23">
            <a:extLst xmlns:a="http://schemas.openxmlformats.org/drawingml/2006/main">
              <a:ext uri="{FF2B5EF4-FFF2-40B4-BE49-F238E27FC236}">
                <a16:creationId xmlns:a16="http://schemas.microsoft.com/office/drawing/2014/main" id="{F499F34D-C380-4BF1-ADCA-4F9D3BB1151F}"/>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Source data and remote services</a:t>
            </a:r>
            <a:endParaRPr/>
          </a:p>
        </p:txBody>
      </p:sp>
      <p:sp>
        <p:nvSpPr>
          <p:cNvPr id="577" name="Google Shape;577;p23">
            <a:extLst xmlns:a="http://schemas.openxmlformats.org/drawingml/2006/main">
              <a:ext uri="{FF2B5EF4-FFF2-40B4-BE49-F238E27FC236}">
                <a16:creationId xmlns:a16="http://schemas.microsoft.com/office/drawing/2014/main" id="{8FD2B648-00A0-4883-920B-C13E812609C1}"/>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same underlying data services can support no-code, R and Python workflows</a:t>
            </a:r>
            <a:endParaRPr/>
          </a:p>
        </p:txBody>
      </p:sp>
      <p:sp>
        <p:nvSpPr>
          <p:cNvPr id="578" name="Google Shape;578;p23">
            <a:extLst xmlns:a="http://schemas.openxmlformats.org/drawingml/2006/main">
              <a:ext uri="{FF2B5EF4-FFF2-40B4-BE49-F238E27FC236}">
                <a16:creationId xmlns:a16="http://schemas.microsoft.com/office/drawing/2014/main" id="{12A42E7C-D686-48D5-92D4-0EF1451E891A}"/>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79" name="Google Shape;579;p23">
            <a:extLst xmlns:a="http://schemas.openxmlformats.org/drawingml/2006/main">
              <a:ext uri="{FF2B5EF4-FFF2-40B4-BE49-F238E27FC236}">
                <a16:creationId xmlns:a16="http://schemas.microsoft.com/office/drawing/2014/main" id="{F44A110F-4F0D-4A7A-81B4-864307B663A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0" name="Google Shape;580;p23">
            <a:extLst xmlns:a="http://schemas.openxmlformats.org/drawingml/2006/main">
              <a:ext uri="{FF2B5EF4-FFF2-40B4-BE49-F238E27FC236}">
                <a16:creationId xmlns:a16="http://schemas.microsoft.com/office/drawing/2014/main" id="{0F558806-F2C9-4FD5-A7BD-0C712F52C6E1}"/>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1" name="Google Shape;581;p23">
            <a:extLst xmlns:a="http://schemas.openxmlformats.org/drawingml/2006/main">
              <a:ext uri="{FF2B5EF4-FFF2-40B4-BE49-F238E27FC236}">
                <a16:creationId xmlns:a16="http://schemas.microsoft.com/office/drawing/2014/main" id="{C0FA26D8-6C52-40DC-A5BE-14431B5CB724}"/>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82" name="Google Shape;582;p23">
            <a:extLst xmlns:a="http://schemas.openxmlformats.org/drawingml/2006/main">
              <a:ext uri="{FF2B5EF4-FFF2-40B4-BE49-F238E27FC236}">
                <a16:creationId xmlns:a16="http://schemas.microsoft.com/office/drawing/2014/main" id="{CF9F1570-4198-4339-B6F1-C72005692FE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23</a:t>
            </a:r>
            <a:endParaRPr/>
          </a:p>
        </p:txBody>
      </p:sp>
      <p:sp>
        <p:nvSpPr>
          <p:cNvPr id="583" name="Google Shape;583;p23">
            <a:extLst xmlns:a="http://schemas.openxmlformats.org/drawingml/2006/main">
              <a:ext uri="{FF2B5EF4-FFF2-40B4-BE49-F238E27FC236}">
                <a16:creationId xmlns:a16="http://schemas.microsoft.com/office/drawing/2014/main" id="{FEE7491E-1512-4573-A47C-E86428BE623E}"/>
              </a:ext>
            </a:extLst>
          </p:cNvPr>
          <p:cNvSpPr>
            <a:spLocks xmlns:a="http://schemas.openxmlformats.org/drawingml/2006/main" noGrp="1"/>
          </p:cNvSpPr>
          <p:nvPr/>
        </p:nvSpPr>
        <p:spPr>
          <a:xfrm xmlns:a="http://schemas.openxmlformats.org/drawingml/2006/main">
            <a:off x="88106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CLIMATE ARCHIVES</a:t>
            </a:r>
            <a:endParaRPr/>
          </a:p>
        </p:txBody>
      </p:sp>
      <p:sp>
        <p:nvSpPr>
          <p:cNvPr id="584" name="Google Shape;584;p23">
            <a:extLst xmlns:a="http://schemas.openxmlformats.org/drawingml/2006/main">
              <a:ext uri="{FF2B5EF4-FFF2-40B4-BE49-F238E27FC236}">
                <a16:creationId xmlns:a16="http://schemas.microsoft.com/office/drawing/2014/main" id="{5332151A-64FA-4DE7-92F4-F1F0E3F9929B}"/>
              </a:ext>
            </a:extLst>
          </p:cNvPr>
          <p:cNvSpPr>
            <a:spLocks xmlns:a="http://schemas.openxmlformats.org/drawingml/2006/main" noGrp="1"/>
          </p:cNvSpPr>
          <p:nvPr/>
        </p:nvSpPr>
        <p:spPr>
          <a:xfrm xmlns:a="http://schemas.openxmlformats.org/drawingml/2006/main">
            <a:off x="881063" y="2315050"/>
            <a:ext cx="2333700" cy="1543200"/>
          </a:xfrm>
          <a:prstGeom xmlns:a="http://schemas.openxmlformats.org/drawingml/2006/main" prst="roundRect">
            <a:avLst>
              <a:gd name="adj" fmla="val 4938"/>
            </a:avLst>
          </a:prstGeom>
          <a:solidFill xmlns:a="http://schemas.openxmlformats.org/drawingml/2006/main">
            <a:srgbClr val="EAF3F8"/>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5" name="Google Shape;585;p23">
            <a:extLst xmlns:a="http://schemas.openxmlformats.org/drawingml/2006/main">
              <a:ext uri="{FF2B5EF4-FFF2-40B4-BE49-F238E27FC236}">
                <a16:creationId xmlns:a16="http://schemas.microsoft.com/office/drawing/2014/main" id="{5676A2A0-BD69-4671-A659-7DD1971AE580}"/>
              </a:ext>
            </a:extLst>
          </p:cNvPr>
          <p:cNvSpPr>
            <a:spLocks xmlns:a="http://schemas.openxmlformats.org/drawingml/2006/main" noGrp="1"/>
          </p:cNvSpPr>
          <p:nvPr/>
        </p:nvSpPr>
        <p:spPr>
          <a:xfrm xmlns:a="http://schemas.openxmlformats.org/drawingml/2006/main">
            <a:off x="1052525" y="2487100"/>
            <a:ext cx="1990800" cy="116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ERA5</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CORDEX-CORE-BC</a:t>
            </a:r>
            <a:endParaRPr b="1" i="0">
              <a:solidFill>
                <a:srgbClr val="12304E"/>
              </a:solidFill>
              <a:latin typeface="Lato"/>
              <a:ea typeface="Lato"/>
              <a:cs typeface="Lato"/>
            </a:endParaRPr>
          </a:p>
          <a:p xmlns:a="http://schemas.openxmlformats.org/drawingml/2006/main">
            <a:pPr marL="0" marR="0" lvl="0" indent="0" algn="ctr">
              <a:lnSpc>
                <a:spcPct val="125000"/>
              </a:lnSpc>
              <a:spcBef>
                <a:spcPts val="0"/>
              </a:spcBef>
              <a:spcAft>
                <a:spcPts val="0"/>
              </a:spcAft>
              <a:buClr>
                <a:srgbClr val="12304E"/>
              </a:buClr>
              <a:buSzPts val="1200"/>
              <a:buFont typeface="Lato"/>
              <a:buNone/>
            </a:pPr>
            <a:r>
              <a:rPr sz="1200" b="1">
                <a:solidFill>
                  <a:srgbClr val="12304E"/>
                </a:solidFill>
                <a:latin typeface="Lato"/>
                <a:ea typeface="Lato"/>
                <a:cs typeface="Lato"/>
              </a:rPr>
              <a:t>(&gt;200,000 NetCDF files)</a:t>
            </a:r>
            <a:endParaRPr sz="1200" b="1">
              <a:solidFill>
                <a:srgbClr val="12304E"/>
              </a:solidFill>
              <a:latin typeface="Lato"/>
              <a:ea typeface="Lato"/>
              <a:cs typeface="Lato"/>
            </a:endParaRPr>
          </a:p>
        </p:txBody>
      </p:sp>
      <p:sp>
        <p:nvSpPr>
          <p:cNvPr id="586" name="Google Shape;586;p23">
            <a:extLst xmlns:a="http://schemas.openxmlformats.org/drawingml/2006/main">
              <a:ext uri="{FF2B5EF4-FFF2-40B4-BE49-F238E27FC236}">
                <a16:creationId xmlns:a16="http://schemas.microsoft.com/office/drawing/2014/main" id="{15CA6E8C-63BE-49A6-B25F-082108E793A2}"/>
              </a:ext>
            </a:extLst>
          </p:cNvPr>
          <p:cNvSpPr>
            <a:spLocks xmlns:a="http://schemas.openxmlformats.org/drawingml/2006/main" noGrp="1"/>
          </p:cNvSpPr>
          <p:nvPr/>
        </p:nvSpPr>
        <p:spPr>
          <a:xfrm xmlns:a="http://schemas.openxmlformats.org/drawingml/2006/main">
            <a:off x="4624388" y="1838800"/>
            <a:ext cx="29529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DATA SERVICES</a:t>
            </a:r>
            <a:r>
              <a:rPr sz="1125" b="1" i="0">
                <a:solidFill>
                  <a:srgbClr val="00A88F"/>
                </a:solidFill>
                <a:latin typeface="Lato"/>
                <a:ea typeface="Lato"/>
                <a:cs typeface="Lato"/>
              </a:rPr>
              <a:t> + PROCESSING</a:t>
            </a:r>
            <a:endParaRPr/>
          </a:p>
        </p:txBody>
      </p:sp>
      <p:sp>
        <p:nvSpPr>
          <p:cNvPr id="587" name="Google Shape;587;p23">
            <a:extLst xmlns:a="http://schemas.openxmlformats.org/drawingml/2006/main">
              <a:ext uri="{FF2B5EF4-FFF2-40B4-BE49-F238E27FC236}">
                <a16:creationId xmlns:a16="http://schemas.microsoft.com/office/drawing/2014/main" id="{2EA4D8A8-E6ED-4A48-A8B6-5D531E679CE5}"/>
              </a:ext>
            </a:extLst>
          </p:cNvPr>
          <p:cNvSpPr>
            <a:spLocks xmlns:a="http://schemas.openxmlformats.org/drawingml/2006/main" noGrp="1"/>
          </p:cNvSpPr>
          <p:nvPr/>
        </p:nvSpPr>
        <p:spPr>
          <a:xfrm xmlns:a="http://schemas.openxmlformats.org/drawingml/2006/main">
            <a:off x="4433888" y="2315050"/>
            <a:ext cx="3333900" cy="1543200"/>
          </a:xfrm>
          <a:prstGeom xmlns:a="http://schemas.openxmlformats.org/drawingml/2006/main" prst="roundRect">
            <a:avLst>
              <a:gd name="adj" fmla="val 4938"/>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8" name="Google Shape;588;p23">
            <a:extLst xmlns:a="http://schemas.openxmlformats.org/drawingml/2006/main">
              <a:ext uri="{FF2B5EF4-FFF2-40B4-BE49-F238E27FC236}">
                <a16:creationId xmlns:a16="http://schemas.microsoft.com/office/drawing/2014/main" id="{BA8BEA4F-6DC8-4870-BC91-BB89E5058DA0}"/>
              </a:ext>
            </a:extLst>
          </p:cNvPr>
          <p:cNvSpPr>
            <a:spLocks xmlns:a="http://schemas.openxmlformats.org/drawingml/2006/main" noGrp="1"/>
          </p:cNvSpPr>
          <p:nvPr/>
        </p:nvSpPr>
        <p:spPr>
          <a:xfrm xmlns:a="http://schemas.openxmlformats.org/drawingml/2006/main">
            <a:off x="4814888" y="2600800"/>
            <a:ext cx="2571900" cy="9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Remote subset</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Harmonize</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Aggregate and calculate</a:t>
            </a:r>
            <a:endParaRPr/>
          </a:p>
        </p:txBody>
      </p:sp>
      <p:sp>
        <p:nvSpPr>
          <p:cNvPr id="589" name="Google Shape;589;p23">
            <a:extLst xmlns:a="http://schemas.openxmlformats.org/drawingml/2006/main">
              <a:ext uri="{FF2B5EF4-FFF2-40B4-BE49-F238E27FC236}">
                <a16:creationId xmlns:a16="http://schemas.microsoft.com/office/drawing/2014/main" id="{FA34E6FF-1395-4442-9721-D9E57C479648}"/>
              </a:ext>
            </a:extLst>
          </p:cNvPr>
          <p:cNvSpPr>
            <a:spLocks xmlns:a="http://schemas.openxmlformats.org/drawingml/2006/main" noGrp="1"/>
          </p:cNvSpPr>
          <p:nvPr/>
        </p:nvSpPr>
        <p:spPr>
          <a:xfrm xmlns:a="http://schemas.openxmlformats.org/drawingml/2006/main">
            <a:off x="912971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USER ENTRY POINTS</a:t>
            </a:r>
            <a:endParaRPr/>
          </a:p>
        </p:txBody>
      </p:sp>
      <p:sp>
        <p:nvSpPr>
          <p:cNvPr id="590" name="Google Shape;590;p23">
            <a:extLst xmlns:a="http://schemas.openxmlformats.org/drawingml/2006/main">
              <a:ext uri="{FF2B5EF4-FFF2-40B4-BE49-F238E27FC236}">
                <a16:creationId xmlns:a16="http://schemas.microsoft.com/office/drawing/2014/main" id="{802472ED-8200-488A-98D6-A743D0011AF5}"/>
              </a:ext>
            </a:extLst>
          </p:cNvPr>
          <p:cNvSpPr>
            <a:spLocks xmlns:a="http://schemas.openxmlformats.org/drawingml/2006/main" noGrp="1"/>
          </p:cNvSpPr>
          <p:nvPr/>
        </p:nvSpPr>
        <p:spPr>
          <a:xfrm xmlns:a="http://schemas.openxmlformats.org/drawingml/2006/main">
            <a:off x="8939213" y="2315050"/>
            <a:ext cx="2524200" cy="428700"/>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 Platform (W</a:t>
            </a:r>
            <a:r>
              <a:rPr sz="1350" b="1">
                <a:solidFill>
                  <a:srgbClr val="12304E"/>
                </a:solidFill>
                <a:latin typeface="Lato"/>
                <a:ea typeface="Lato"/>
                <a:cs typeface="Lato"/>
              </a:rPr>
              <a:t>eb)</a:t>
            </a:r>
            <a:endParaRPr/>
          </a:p>
        </p:txBody>
      </p:sp>
      <p:sp>
        <p:nvSpPr>
          <p:cNvPr id="591" name="Google Shape;591;p23">
            <a:extLst xmlns:a="http://schemas.openxmlformats.org/drawingml/2006/main">
              <a:ext uri="{FF2B5EF4-FFF2-40B4-BE49-F238E27FC236}">
                <a16:creationId xmlns:a16="http://schemas.microsoft.com/office/drawing/2014/main" id="{026E36C1-3956-4E79-933C-B15215C2DD84}"/>
              </a:ext>
            </a:extLst>
          </p:cNvPr>
          <p:cNvSpPr>
            <a:spLocks xmlns:a="http://schemas.openxmlformats.org/drawingml/2006/main" noGrp="1"/>
          </p:cNvSpPr>
          <p:nvPr/>
        </p:nvSpPr>
        <p:spPr>
          <a:xfrm xmlns:a="http://schemas.openxmlformats.org/drawingml/2006/main">
            <a:off x="8939213" y="2867500"/>
            <a:ext cx="2524200" cy="42870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CAVAanalytics </a:t>
            </a:r>
            <a:r>
              <a:rPr sz="1350" b="1">
                <a:solidFill>
                  <a:srgbClr val="12304E"/>
                </a:solidFill>
                <a:latin typeface="Lato"/>
                <a:ea typeface="Lato"/>
                <a:cs typeface="Lato"/>
              </a:rPr>
              <a:t>(R)</a:t>
            </a:r>
            <a:endParaRPr/>
          </a:p>
        </p:txBody>
      </p:sp>
      <p:sp>
        <p:nvSpPr>
          <p:cNvPr id="592" name="Google Shape;592;p23">
            <a:extLst xmlns:a="http://schemas.openxmlformats.org/drawingml/2006/main">
              <a:ext uri="{FF2B5EF4-FFF2-40B4-BE49-F238E27FC236}">
                <a16:creationId xmlns:a16="http://schemas.microsoft.com/office/drawing/2014/main" id="{F733AE00-4424-4DA1-9C8A-21A258376628}"/>
              </a:ext>
            </a:extLst>
          </p:cNvPr>
          <p:cNvSpPr>
            <a:spLocks xmlns:a="http://schemas.openxmlformats.org/drawingml/2006/main" noGrp="1"/>
          </p:cNvSpPr>
          <p:nvPr/>
        </p:nvSpPr>
        <p:spPr>
          <a:xfrm xmlns:a="http://schemas.openxmlformats.org/drawingml/2006/main">
            <a:off x="8939213" y="3419950"/>
            <a:ext cx="2524200" cy="428700"/>
          </a:xfrm>
          <a:prstGeom xmlns:a="http://schemas.openxmlformats.org/drawingml/2006/main" prst="roundRect">
            <a:avLst>
              <a:gd name="adj" fmla="val 17778"/>
            </a:avLst>
          </a:prstGeom>
          <a:solidFill xmlns:a="http://schemas.openxmlformats.org/drawingml/2006/main">
            <a:srgbClr val="FFF3D1"/>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cavapy </a:t>
            </a:r>
            <a:r>
              <a:rPr sz="1350" b="1">
                <a:solidFill>
                  <a:srgbClr val="12304E"/>
                </a:solidFill>
                <a:latin typeface="Lato"/>
                <a:ea typeface="Lato"/>
                <a:cs typeface="Lato"/>
              </a:rPr>
              <a:t>(Python)</a:t>
            </a:r>
            <a:endParaRPr/>
          </a:p>
        </p:txBody>
      </p:sp>
      <p:sp>
        <p:nvSpPr>
          <p:cNvPr id="593" name="Google Shape;593;p23">
            <a:extLst xmlns:a="http://schemas.openxmlformats.org/drawingml/2006/main">
              <a:ext uri="{FF2B5EF4-FFF2-40B4-BE49-F238E27FC236}">
                <a16:creationId xmlns:a16="http://schemas.microsoft.com/office/drawing/2014/main" id="{AF41B2B4-DCD0-43D4-A0F8-D63FAFE77FD3}"/>
              </a:ext>
            </a:extLst>
          </p:cNvPr>
          <p:cNvSpPr>
            <a:spLocks xmlns:a="http://schemas.openxmlformats.org/drawingml/2006/main" noGrp="1"/>
          </p:cNvSpPr>
          <p:nvPr/>
        </p:nvSpPr>
        <p:spPr>
          <a:xfrm xmlns:a="http://schemas.openxmlformats.org/drawingml/2006/main">
            <a:off x="3214688" y="3067525"/>
            <a:ext cx="12192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4" name="Google Shape;594;p23">
            <a:extLst xmlns:a="http://schemas.openxmlformats.org/drawingml/2006/main">
              <a:ext uri="{FF2B5EF4-FFF2-40B4-BE49-F238E27FC236}">
                <a16:creationId xmlns:a16="http://schemas.microsoft.com/office/drawing/2014/main" id="{DE2D55C9-8BDD-4C13-8527-0C1DFD51918F}"/>
              </a:ext>
            </a:extLst>
          </p:cNvPr>
          <p:cNvSpPr>
            <a:spLocks xmlns:a="http://schemas.openxmlformats.org/drawingml/2006/main" noGrp="1"/>
          </p:cNvSpPr>
          <p:nvPr/>
        </p:nvSpPr>
        <p:spPr>
          <a:xfrm xmlns:a="http://schemas.openxmlformats.org/drawingml/2006/main">
            <a:off x="7767638" y="3067525"/>
            <a:ext cx="1171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5" name="Google Shape;595;p23">
            <a:extLst xmlns:a="http://schemas.openxmlformats.org/drawingml/2006/main">
              <a:ext uri="{FF2B5EF4-FFF2-40B4-BE49-F238E27FC236}">
                <a16:creationId xmlns:a16="http://schemas.microsoft.com/office/drawing/2014/main" id="{F34E32F8-3D4E-46C6-B1F7-3AFFF4CF9E44}"/>
              </a:ext>
            </a:extLst>
          </p:cNvPr>
          <p:cNvSpPr>
            <a:spLocks xmlns:a="http://schemas.openxmlformats.org/drawingml/2006/main" noGrp="1"/>
          </p:cNvSpPr>
          <p:nvPr/>
        </p:nvSpPr>
        <p:spPr>
          <a:xfrm xmlns:a="http://schemas.openxmlformats.org/drawingml/2006/main">
            <a:off x="1481138" y="408717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6" name="Google Shape;596;p23">
            <a:extLst xmlns:a="http://schemas.openxmlformats.org/drawingml/2006/main">
              <a:ext uri="{FF2B5EF4-FFF2-40B4-BE49-F238E27FC236}">
                <a16:creationId xmlns:a16="http://schemas.microsoft.com/office/drawing/2014/main" id="{2B309621-B468-4C5A-8E8D-0C3F78305157}"/>
              </a:ext>
            </a:extLst>
          </p:cNvPr>
          <p:cNvSpPr>
            <a:spLocks xmlns:a="http://schemas.openxmlformats.org/drawingml/2006/main" noGrp="1"/>
          </p:cNvSpPr>
          <p:nvPr/>
        </p:nvSpPr>
        <p:spPr>
          <a:xfrm xmlns:a="http://schemas.openxmlformats.org/drawingml/2006/main">
            <a:off x="1738313" y="431577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Design principle</a:t>
            </a:r>
            <a:endParaRPr/>
          </a:p>
        </p:txBody>
      </p:sp>
      <p:sp>
        <p:nvSpPr>
          <p:cNvPr id="597" name="Google Shape;597;p23">
            <a:extLst xmlns:a="http://schemas.openxmlformats.org/drawingml/2006/main">
              <a:ext uri="{FF2B5EF4-FFF2-40B4-BE49-F238E27FC236}">
                <a16:creationId xmlns:a16="http://schemas.microsoft.com/office/drawing/2014/main" id="{4A753F4F-8F93-494B-AF60-426B6EC89F54}"/>
              </a:ext>
            </a:extLst>
          </p:cNvPr>
          <p:cNvSpPr>
            <a:spLocks xmlns:a="http://schemas.openxmlformats.org/drawingml/2006/main" noGrp="1"/>
          </p:cNvSpPr>
          <p:nvPr/>
        </p:nvSpPr>
        <p:spPr>
          <a:xfrm xmlns:a="http://schemas.openxmlformats.org/drawingml/2006/main">
            <a:off x="3643313" y="4249100"/>
            <a:ext cx="6686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09"/>
              <a:buFont typeface="Lato"/>
              <a:buNone/>
            </a:pPr>
            <a:r>
              <a:rPr sz="1310" b="0" i="0">
                <a:solidFill>
                  <a:srgbClr val="12304E"/>
                </a:solidFill>
                <a:latin typeface="Lato"/>
                <a:ea typeface="Lato"/>
                <a:cs typeface="Lato"/>
              </a:rPr>
              <a:t>Users choose an interface that matches their task and technical skills without rebuilding the data pipeline.</a:t>
            </a:r>
            <a:endParaRPr/>
          </a:p>
        </p:txBody>
      </p:sp>
      <p:sp>
        <p:nvSpPr>
          <p:cNvPr id="598" name="Google Shape;598;p23">
            <a:extLst xmlns:a="http://schemas.openxmlformats.org/drawingml/2006/main">
              <a:ext uri="{FF2B5EF4-FFF2-40B4-BE49-F238E27FC236}">
                <a16:creationId xmlns:a16="http://schemas.microsoft.com/office/drawing/2014/main" id="{92B4C3E9-39E8-423F-8B37-CEF43AF189AD}"/>
              </a:ext>
            </a:extLst>
          </p:cNvPr>
          <p:cNvSpPr>
            <a:spLocks xmlns:a="http://schemas.openxmlformats.org/drawingml/2006/main" noGrp="1"/>
          </p:cNvSpPr>
          <p:nvPr/>
        </p:nvSpPr>
        <p:spPr>
          <a:xfrm xmlns:a="http://schemas.openxmlformats.org/drawingml/2006/main">
            <a:off x="1481150" y="508682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9" name="Google Shape;599;p23">
            <a:extLst xmlns:a="http://schemas.openxmlformats.org/drawingml/2006/main">
              <a:ext uri="{FF2B5EF4-FFF2-40B4-BE49-F238E27FC236}">
                <a16:creationId xmlns:a16="http://schemas.microsoft.com/office/drawing/2014/main" id="{C7E9D30D-782B-4BB3-9AA7-24737A997A0B}"/>
              </a:ext>
            </a:extLst>
          </p:cNvPr>
          <p:cNvSpPr>
            <a:spLocks xmlns:a="http://schemas.openxmlformats.org/drawingml/2006/main" noGrp="1"/>
          </p:cNvSpPr>
          <p:nvPr/>
        </p:nvSpPr>
        <p:spPr>
          <a:xfrm xmlns:a="http://schemas.openxmlformats.org/drawingml/2006/main">
            <a:off x="1738325" y="531542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a:solidFill>
                  <a:srgbClr val="008D7A"/>
                </a:solidFill>
                <a:latin typeface="Lato"/>
                <a:ea typeface="Lato"/>
                <a:cs typeface="Lato"/>
              </a:rPr>
              <a:t>Remote data access enabled</a:t>
            </a:r>
            <a:endParaRPr/>
          </a:p>
        </p:txBody>
      </p:sp>
      <p:sp>
        <p:nvSpPr>
          <p:cNvPr id="600" name="Google Shape;600;p23">
            <a:extLst xmlns:a="http://schemas.openxmlformats.org/drawingml/2006/main">
              <a:ext uri="{FF2B5EF4-FFF2-40B4-BE49-F238E27FC236}">
                <a16:creationId xmlns:a16="http://schemas.microsoft.com/office/drawing/2014/main" id="{0093ECE4-5373-4C82-91CD-C4747BB88DB6}"/>
              </a:ext>
            </a:extLst>
          </p:cNvPr>
          <p:cNvSpPr>
            <a:spLocks xmlns:a="http://schemas.openxmlformats.org/drawingml/2006/main" noGrp="1"/>
          </p:cNvSpPr>
          <p:nvPr/>
        </p:nvSpPr>
        <p:spPr>
          <a:xfrm xmlns:a="http://schemas.openxmlformats.org/drawingml/2006/main">
            <a:off x="3643325" y="5248750"/>
            <a:ext cx="6686700" cy="53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1309"/>
              <a:buFont typeface="Lato"/>
              <a:buNone/>
            </a:pPr>
            <a:r>
              <a:rPr sz="1310">
                <a:solidFill>
                  <a:srgbClr val="12304E"/>
                </a:solidFill>
                <a:latin typeface="Lato"/>
                <a:ea typeface="Lato"/>
                <a:cs typeface="Lato"/>
              </a:rPr>
              <a:t>No need to download thousands of NetCDF files, URLs provide transparent access to analysis ready data (ARD) and data cubes.</a:t>
            </a:r>
            <a:endParaRPr>
              <a:solidFill>
                <a:schemeClr val="dk1"/>
              </a:solidFill>
            </a:endParaRPr>
          </a:p>
          <a:p xmlns:a="http://schemas.openxmlformats.org/drawingml/2006/main">
            <a:pPr marL="0" marR="0" lvl="0" indent="0" algn="l">
              <a:lnSpc>
                <a:spcPct val="105000"/>
              </a:lnSpc>
              <a:spcBef>
                <a:spcPts val="0"/>
              </a:spcBef>
              <a:spcAft>
                <a:spcPts val="0"/>
              </a:spcAft>
              <a:buClr>
                <a:srgbClr val="12304E"/>
              </a:buClr>
              <a:buSzPts val="1309"/>
              <a:buFont typeface="Lato"/>
              <a:buNone/>
            </a:pPr>
            <a:r>
              <a:t/>
            </a:r>
            <a:endParaRPr sz="1310">
              <a:solidFill>
                <a:srgbClr val="12304E"/>
              </a:solidFill>
              <a:latin typeface="Lato"/>
              <a:ea typeface="Lato"/>
              <a:cs typeface="Lato"/>
            </a:endParaRPr>
          </a:p>
        </p:txBody>
      </p:sp>
    </p:spTree>
    <p:extLst>
      <p:ext uri="{BB962C8B-B14F-4D97-AF65-F5344CB8AC3E}">
        <p14:creationId xmlns:p14="http://schemas.microsoft.com/office/powerpoint/2010/main" val="1083871190"/>
      </p:ext>
    </p:extLst>
  </p:cSld>
</p:sld>
</file>

<file path=ppt/slides/slide2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06" name="Google Shape;606;p24">
            <a:extLst xmlns:a="http://schemas.openxmlformats.org/drawingml/2006/main">
              <a:ext uri="{FF2B5EF4-FFF2-40B4-BE49-F238E27FC236}">
                <a16:creationId xmlns:a16="http://schemas.microsoft.com/office/drawing/2014/main" id="{9BB31259-E459-412F-99B5-C70EAB976DE9}"/>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Three ways into the same CAVA workflow</a:t>
            </a:r>
            <a:endParaRPr sz="2250" b="1">
              <a:solidFill>
                <a:srgbClr val="12304E"/>
              </a:solidFill>
              <a:latin typeface="Lato"/>
              <a:ea typeface="Lato"/>
              <a:cs typeface="Lato"/>
            </a:endParaRPr>
          </a:p>
        </p:txBody>
      </p:sp>
      <p:sp>
        <p:nvSpPr>
          <p:cNvPr id="607" name="Google Shape;607;p24">
            <a:extLst xmlns:a="http://schemas.openxmlformats.org/drawingml/2006/main">
              <a:ext uri="{FF2B5EF4-FFF2-40B4-BE49-F238E27FC236}">
                <a16:creationId xmlns:a16="http://schemas.microsoft.com/office/drawing/2014/main" id="{3B701FD9-4474-48F5-871A-11F0A107CD61}"/>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Choose the interface that matches the task—from exploration to reproducible analysis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08" name="Google Shape;608;p24">
            <a:extLst xmlns:a="http://schemas.openxmlformats.org/drawingml/2006/main">
              <a:ext uri="{FF2B5EF4-FFF2-40B4-BE49-F238E27FC236}">
                <a16:creationId xmlns:a16="http://schemas.microsoft.com/office/drawing/2014/main" id="{F2B0E70B-5D11-4D70-BC97-C0F7B2EA268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09" name="Google Shape;609;p24">
            <a:extLst xmlns:a="http://schemas.openxmlformats.org/drawingml/2006/main">
              <a:ext uri="{FF2B5EF4-FFF2-40B4-BE49-F238E27FC236}">
                <a16:creationId xmlns:a16="http://schemas.microsoft.com/office/drawing/2014/main" id="{F12C9979-D75C-492C-B92E-BA4641628C1B}"/>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0" name="Google Shape;610;p24">
            <a:extLst xmlns:a="http://schemas.openxmlformats.org/drawingml/2006/main">
              <a:ext uri="{FF2B5EF4-FFF2-40B4-BE49-F238E27FC236}">
                <a16:creationId xmlns:a16="http://schemas.microsoft.com/office/drawing/2014/main" id="{BAB1D6F4-0550-4FF3-9DB6-34684A06D9B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1" name="Google Shape;611;p24">
            <a:extLst xmlns:a="http://schemas.openxmlformats.org/drawingml/2006/main">
              <a:ext uri="{FF2B5EF4-FFF2-40B4-BE49-F238E27FC236}">
                <a16:creationId xmlns:a16="http://schemas.microsoft.com/office/drawing/2014/main" id="{CEF8CFCF-AB54-489E-8375-713F5B6A1A7C}"/>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12" name="Google Shape;612;p24">
            <a:extLst xmlns:a="http://schemas.openxmlformats.org/drawingml/2006/main">
              <a:ext uri="{FF2B5EF4-FFF2-40B4-BE49-F238E27FC236}">
                <a16:creationId xmlns:a16="http://schemas.microsoft.com/office/drawing/2014/main" id="{7E06AEB9-BF71-433B-9F78-07C5A79252C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24</a:t>
            </a:r>
            <a:endParaRPr/>
          </a:p>
        </p:txBody>
      </p:sp>
      <p:sp>
        <p:nvSpPr>
          <p:cNvPr id="613" name="Google Shape;613;p24">
            <a:extLst xmlns:a="http://schemas.openxmlformats.org/drawingml/2006/main">
              <a:ext uri="{FF2B5EF4-FFF2-40B4-BE49-F238E27FC236}">
                <a16:creationId xmlns:a16="http://schemas.microsoft.com/office/drawing/2014/main" id="{85BD6474-6FE8-456E-ACF2-B81F4B83D210}"/>
              </a:ext>
            </a:extLst>
          </p:cNvPr>
          <p:cNvSpPr>
            <a:spLocks xmlns:a="http://schemas.openxmlformats.org/drawingml/2006/main" noGrp="1"/>
          </p:cNvSpPr>
          <p:nvPr/>
        </p:nvSpPr>
        <p:spPr>
          <a:xfrm xmlns:a="http://schemas.openxmlformats.org/drawingml/2006/main">
            <a:off x="666750" y="1790700"/>
            <a:ext cx="3429000" cy="21526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639" name="Google Shape;614;p24"/>
          <p:cNvPicPr>
            <a:picLocks xmlns:a="http://schemas.openxmlformats.org/drawingml/2006/main" noChangeAspect="1"/>
          </p:cNvPicPr>
          <p:nvPr/>
        </p:nvPicPr>
        <p:blipFill rotWithShape="1">
          <a:blip xmlns:r="http://schemas.openxmlformats.org/officeDocument/2006/relationships" xmlns:a="http://schemas.openxmlformats.org/drawingml/2006/main" r:embed="R551e1c5281d64155">
            <a:alphaModFix/>
          </a:blip>
          <a:srcRect xmlns:a="http://schemas.openxmlformats.org/drawingml/2006/main" l="0" t="6801" r="0" b="6801"/>
          <a:stretch xmlns:a="http://schemas.openxmlformats.org/drawingml/2006/main"/>
        </p:blipFill>
        <p:spPr>
          <a:xfrm xmlns:a="http://schemas.openxmlformats.org/drawingml/2006/main">
            <a:off x="666750" y="1790700"/>
            <a:ext cx="3429000" cy="2152650"/>
          </a:xfrm>
          <a:prstGeom xmlns:a="http://schemas.openxmlformats.org/drawingml/2006/main" prst="rect">
            <a:avLst/>
          </a:prstGeom>
          <a:ln xmlns:a="http://schemas.openxmlformats.org/drawingml/2006/main">
            <a:noFill/>
          </a:ln>
        </p:spPr>
      </p:pic>
      <p:sp>
        <p:nvSpPr>
          <p:cNvPr id="615" name="Google Shape;615;p24">
            <a:extLst xmlns:a="http://schemas.openxmlformats.org/drawingml/2006/main">
              <a:ext uri="{FF2B5EF4-FFF2-40B4-BE49-F238E27FC236}">
                <a16:creationId xmlns:a16="http://schemas.microsoft.com/office/drawing/2014/main" id="{A6114320-0701-40F1-B9B5-55D603607E64}"/>
              </a:ext>
            </a:extLst>
          </p:cNvPr>
          <p:cNvSpPr>
            <a:spLocks xmlns:a="http://schemas.openxmlformats.org/drawingml/2006/main" noGrp="1"/>
          </p:cNvSpPr>
          <p:nvPr/>
        </p:nvSpPr>
        <p:spPr>
          <a:xfrm xmlns:a="http://schemas.openxmlformats.org/drawingml/2006/main">
            <a:off x="6667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EXPLORE</a:t>
            </a:r>
            <a:endParaRPr/>
          </a:p>
        </p:txBody>
      </p:sp>
      <p:sp>
        <p:nvSpPr>
          <p:cNvPr id="616" name="Google Shape;616;p24">
            <a:extLst xmlns:a="http://schemas.openxmlformats.org/drawingml/2006/main">
              <a:ext uri="{FF2B5EF4-FFF2-40B4-BE49-F238E27FC236}">
                <a16:creationId xmlns:a16="http://schemas.microsoft.com/office/drawing/2014/main" id="{EB2285F3-9D8D-4813-9C81-1E26B295D482}"/>
              </a:ext>
            </a:extLst>
          </p:cNvPr>
          <p:cNvSpPr>
            <a:spLocks xmlns:a="http://schemas.openxmlformats.org/drawingml/2006/main" noGrp="1"/>
          </p:cNvSpPr>
          <p:nvPr/>
        </p:nvSpPr>
        <p:spPr>
          <a:xfrm xmlns:a="http://schemas.openxmlformats.org/drawingml/2006/main">
            <a:off x="6667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CAVA Platform</a:t>
            </a:r>
            <a:endParaRPr/>
          </a:p>
        </p:txBody>
      </p:sp>
      <p:sp>
        <p:nvSpPr>
          <p:cNvPr id="617" name="Google Shape;617;p24">
            <a:extLst xmlns:a="http://schemas.openxmlformats.org/drawingml/2006/main">
              <a:ext uri="{FF2B5EF4-FFF2-40B4-BE49-F238E27FC236}">
                <a16:creationId xmlns:a16="http://schemas.microsoft.com/office/drawing/2014/main" id="{F16CC023-B8C5-427F-B158-1E4B381E4E0A}"/>
              </a:ext>
            </a:extLst>
          </p:cNvPr>
          <p:cNvSpPr>
            <a:spLocks xmlns:a="http://schemas.openxmlformats.org/drawingml/2006/main" noGrp="1"/>
          </p:cNvSpPr>
          <p:nvPr/>
        </p:nvSpPr>
        <p:spPr>
          <a:xfrm xmlns:a="http://schemas.openxmlformats.org/drawingml/2006/main">
            <a:off x="666750" y="5019675"/>
            <a:ext cx="3238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Explore maps and climate-impact information
cavaplatform.fao.org</a:t>
            </a:r>
            <a:endParaRPr/>
          </a:p>
        </p:txBody>
      </p:sp>
      <p:sp>
        <p:nvSpPr>
          <p:cNvPr id="618" name="Google Shape;618;p24">
            <a:extLst xmlns:a="http://schemas.openxmlformats.org/drawingml/2006/main">
              <a:ext uri="{FF2B5EF4-FFF2-40B4-BE49-F238E27FC236}">
                <a16:creationId xmlns:a16="http://schemas.microsoft.com/office/drawing/2014/main" id="{3E8B86F9-9A87-465A-BA7E-5B874F37FB20}"/>
              </a:ext>
            </a:extLst>
          </p:cNvPr>
          <p:cNvSpPr>
            <a:spLocks xmlns:a="http://schemas.openxmlformats.org/drawingml/2006/main" noGrp="1"/>
          </p:cNvSpPr>
          <p:nvPr/>
        </p:nvSpPr>
        <p:spPr>
          <a:xfrm xmlns:a="http://schemas.openxmlformats.org/drawingml/2006/main">
            <a:off x="4495800" y="1790700"/>
            <a:ext cx="3124200" cy="2152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9" name="Google Shape;619;p24">
            <a:extLst xmlns:a="http://schemas.openxmlformats.org/drawingml/2006/main">
              <a:ext uri="{FF2B5EF4-FFF2-40B4-BE49-F238E27FC236}">
                <a16:creationId xmlns:a16="http://schemas.microsoft.com/office/drawing/2014/main" id="{036B4859-0DF7-4E49-B4CC-CA617B4FC22A}"/>
              </a:ext>
            </a:extLst>
          </p:cNvPr>
          <p:cNvSpPr>
            <a:spLocks xmlns:a="http://schemas.openxmlformats.org/drawingml/2006/main" noGrp="1"/>
          </p:cNvSpPr>
          <p:nvPr/>
        </p:nvSpPr>
        <p:spPr>
          <a:xfrm xmlns:a="http://schemas.openxmlformats.org/drawingml/2006/main">
            <a:off x="4762500" y="2009775"/>
            <a:ext cx="25908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7200"/>
              <a:buFont typeface="Lato"/>
              <a:buNone/>
            </a:pPr>
            <a:r>
              <a:rPr sz="7200" b="1" i="0">
                <a:solidFill>
                  <a:srgbClr val="FFFFFF"/>
                </a:solidFill>
                <a:latin typeface="Lato"/>
                <a:ea typeface="Lato"/>
                <a:cs typeface="Lato"/>
              </a:rPr>
              <a:t>R</a:t>
            </a:r>
            <a:endParaRPr/>
          </a:p>
        </p:txBody>
      </p:sp>
      <p:sp>
        <p:nvSpPr>
          <p:cNvPr id="620" name="Google Shape;620;p24">
            <a:extLst xmlns:a="http://schemas.openxmlformats.org/drawingml/2006/main">
              <a:ext uri="{FF2B5EF4-FFF2-40B4-BE49-F238E27FC236}">
                <a16:creationId xmlns:a16="http://schemas.microsoft.com/office/drawing/2014/main" id="{F69D9DAE-3836-499E-94C2-89ECF6441FC3}"/>
              </a:ext>
            </a:extLst>
          </p:cNvPr>
          <p:cNvSpPr>
            <a:spLocks xmlns:a="http://schemas.openxmlformats.org/drawingml/2006/main" noGrp="1"/>
          </p:cNvSpPr>
          <p:nvPr/>
        </p:nvSpPr>
        <p:spPr>
          <a:xfrm xmlns:a="http://schemas.openxmlformats.org/drawingml/2006/main">
            <a:off x="4762500" y="3200400"/>
            <a:ext cx="2590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950"/>
              <a:buFont typeface="Lato"/>
              <a:buNone/>
            </a:pPr>
            <a:r>
              <a:rPr sz="1950" b="1" i="0">
                <a:solidFill>
                  <a:srgbClr val="FFFFFF"/>
                </a:solidFill>
                <a:latin typeface="Lato"/>
                <a:ea typeface="Lato"/>
                <a:cs typeface="Lato"/>
              </a:rPr>
              <a:t>CAVAanalytics</a:t>
            </a:r>
            <a:endParaRPr/>
          </a:p>
        </p:txBody>
      </p:sp>
      <p:sp>
        <p:nvSpPr>
          <p:cNvPr id="621" name="Google Shape;621;p24">
            <a:extLst xmlns:a="http://schemas.openxmlformats.org/drawingml/2006/main">
              <a:ext uri="{FF2B5EF4-FFF2-40B4-BE49-F238E27FC236}">
                <a16:creationId xmlns:a16="http://schemas.microsoft.com/office/drawing/2014/main" id="{F63682C9-236D-4F79-9BD7-06D26CCB6D4B}"/>
              </a:ext>
            </a:extLst>
          </p:cNvPr>
          <p:cNvSpPr>
            <a:spLocks xmlns:a="http://schemas.openxmlformats.org/drawingml/2006/main" noGrp="1"/>
          </p:cNvSpPr>
          <p:nvPr/>
        </p:nvSpPr>
        <p:spPr>
          <a:xfrm xmlns:a="http://schemas.openxmlformats.org/drawingml/2006/main">
            <a:off x="4495800" y="42100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ANALYSE</a:t>
            </a:r>
            <a:endParaRPr/>
          </a:p>
        </p:txBody>
      </p:sp>
      <p:sp>
        <p:nvSpPr>
          <p:cNvPr id="622" name="Google Shape;622;p24">
            <a:extLst xmlns:a="http://schemas.openxmlformats.org/drawingml/2006/main">
              <a:ext uri="{FF2B5EF4-FFF2-40B4-BE49-F238E27FC236}">
                <a16:creationId xmlns:a16="http://schemas.microsoft.com/office/drawing/2014/main" id="{15FA163F-0EA8-4874-912A-2AEC20AA3986}"/>
              </a:ext>
            </a:extLst>
          </p:cNvPr>
          <p:cNvSpPr>
            <a:spLocks xmlns:a="http://schemas.openxmlformats.org/drawingml/2006/main" noGrp="1"/>
          </p:cNvSpPr>
          <p:nvPr/>
        </p:nvSpPr>
        <p:spPr>
          <a:xfrm xmlns:a="http://schemas.openxmlformats.org/drawingml/2006/main">
            <a:off x="4495800" y="4543425"/>
            <a:ext cx="285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R workflows</a:t>
            </a:r>
            <a:endParaRPr/>
          </a:p>
        </p:txBody>
      </p:sp>
      <p:sp>
        <p:nvSpPr>
          <p:cNvPr id="623" name="Google Shape;623;p24">
            <a:extLst xmlns:a="http://schemas.openxmlformats.org/drawingml/2006/main">
              <a:ext uri="{FF2B5EF4-FFF2-40B4-BE49-F238E27FC236}">
                <a16:creationId xmlns:a16="http://schemas.microsoft.com/office/drawing/2014/main" id="{EB3D84AB-2F8A-4528-9BBF-3F7442C0A128}"/>
              </a:ext>
            </a:extLst>
          </p:cNvPr>
          <p:cNvSpPr>
            <a:spLocks xmlns:a="http://schemas.openxmlformats.org/drawingml/2006/main" noGrp="1"/>
          </p:cNvSpPr>
          <p:nvPr/>
        </p:nvSpPr>
        <p:spPr>
          <a:xfrm xmlns:a="http://schemas.openxmlformats.org/drawingml/2006/main">
            <a:off x="4495800" y="5019675"/>
            <a:ext cx="31242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Process, calculate indicators and visualize
github.com/un-fao/CAVAanalytics</a:t>
            </a:r>
            <a:endParaRPr/>
          </a:p>
        </p:txBody>
      </p:sp>
      <p:sp>
        <p:nvSpPr>
          <p:cNvPr id="624" name="Google Shape;624;p24">
            <a:extLst xmlns:a="http://schemas.openxmlformats.org/drawingml/2006/main">
              <a:ext uri="{FF2B5EF4-FFF2-40B4-BE49-F238E27FC236}">
                <a16:creationId xmlns:a16="http://schemas.microsoft.com/office/drawing/2014/main" id="{3EA2A139-2A6A-4CD4-9372-E5C79B89E78B}"/>
              </a:ext>
            </a:extLst>
          </p:cNvPr>
          <p:cNvSpPr>
            <a:spLocks xmlns:a="http://schemas.openxmlformats.org/drawingml/2006/main" noGrp="1"/>
          </p:cNvSpPr>
          <p:nvPr/>
        </p:nvSpPr>
        <p:spPr>
          <a:xfrm xmlns:a="http://schemas.openxmlformats.org/drawingml/2006/main">
            <a:off x="8020050" y="1790700"/>
            <a:ext cx="3505200" cy="21526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25" name="Google Shape;625;p24">
            <a:extLst xmlns:a="http://schemas.openxmlformats.org/drawingml/2006/main">
              <a:ext uri="{FF2B5EF4-FFF2-40B4-BE49-F238E27FC236}">
                <a16:creationId xmlns:a16="http://schemas.microsoft.com/office/drawing/2014/main" id="{6D02A107-1818-4FCD-A45A-C95440F0C561}"/>
              </a:ext>
            </a:extLst>
          </p:cNvPr>
          <p:cNvSpPr>
            <a:spLocks xmlns:a="http://schemas.openxmlformats.org/drawingml/2006/main" noGrp="1"/>
          </p:cNvSpPr>
          <p:nvPr/>
        </p:nvSpPr>
        <p:spPr>
          <a:xfrm xmlns:a="http://schemas.openxmlformats.org/drawingml/2006/main">
            <a:off x="8305800" y="2009775"/>
            <a:ext cx="29337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6150"/>
              <a:buFont typeface="Lato"/>
              <a:buNone/>
            </a:pPr>
            <a:r>
              <a:rPr sz="6150" b="1" i="0">
                <a:solidFill>
                  <a:srgbClr val="F2B632"/>
                </a:solidFill>
                <a:latin typeface="Lato"/>
                <a:ea typeface="Lato"/>
                <a:cs typeface="Lato"/>
              </a:rPr>
              <a:t>PY</a:t>
            </a:r>
            <a:endParaRPr/>
          </a:p>
        </p:txBody>
      </p:sp>
      <p:sp>
        <p:nvSpPr>
          <p:cNvPr id="626" name="Google Shape;626;p24">
            <a:extLst xmlns:a="http://schemas.openxmlformats.org/drawingml/2006/main">
              <a:ext uri="{FF2B5EF4-FFF2-40B4-BE49-F238E27FC236}">
                <a16:creationId xmlns:a16="http://schemas.microsoft.com/office/drawing/2014/main" id="{2B29DDE7-B616-4B61-BF66-24C1575C85AF}"/>
              </a:ext>
            </a:extLst>
          </p:cNvPr>
          <p:cNvSpPr>
            <a:spLocks xmlns:a="http://schemas.openxmlformats.org/drawingml/2006/main" noGrp="1"/>
          </p:cNvSpPr>
          <p:nvPr/>
        </p:nvSpPr>
        <p:spPr>
          <a:xfrm xmlns:a="http://schemas.openxmlformats.org/drawingml/2006/main">
            <a:off x="8305800" y="3200400"/>
            <a:ext cx="29337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950"/>
              <a:buFont typeface="Lato"/>
              <a:buNone/>
            </a:pPr>
            <a:r>
              <a:rPr sz="1950" b="1" i="0">
                <a:solidFill>
                  <a:srgbClr val="12304E"/>
                </a:solidFill>
                <a:latin typeface="Lato"/>
                <a:ea typeface="Lato"/>
                <a:cs typeface="Lato"/>
              </a:rPr>
              <a:t>cavapy</a:t>
            </a:r>
            <a:endParaRPr/>
          </a:p>
        </p:txBody>
      </p:sp>
      <p:sp>
        <p:nvSpPr>
          <p:cNvPr id="627" name="Google Shape;627;p24">
            <a:extLst xmlns:a="http://schemas.openxmlformats.org/drawingml/2006/main">
              <a:ext uri="{FF2B5EF4-FFF2-40B4-BE49-F238E27FC236}">
                <a16:creationId xmlns:a16="http://schemas.microsoft.com/office/drawing/2014/main" id="{8F1D3055-E1E8-4254-9A1B-85BD96F2E345}"/>
              </a:ext>
            </a:extLst>
          </p:cNvPr>
          <p:cNvSpPr>
            <a:spLocks xmlns:a="http://schemas.openxmlformats.org/drawingml/2006/main" noGrp="1"/>
          </p:cNvSpPr>
          <p:nvPr/>
        </p:nvSpPr>
        <p:spPr>
          <a:xfrm xmlns:a="http://schemas.openxmlformats.org/drawingml/2006/main">
            <a:off x="80200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INTEGRATE</a:t>
            </a:r>
            <a:endParaRPr/>
          </a:p>
        </p:txBody>
      </p:sp>
      <p:sp>
        <p:nvSpPr>
          <p:cNvPr id="628" name="Google Shape;628;p24">
            <a:extLst xmlns:a="http://schemas.openxmlformats.org/drawingml/2006/main">
              <a:ext uri="{FF2B5EF4-FFF2-40B4-BE49-F238E27FC236}">
                <a16:creationId xmlns:a16="http://schemas.microsoft.com/office/drawing/2014/main" id="{F93B0940-171E-46E4-B399-6F6585D6345D}"/>
              </a:ext>
            </a:extLst>
          </p:cNvPr>
          <p:cNvSpPr>
            <a:spLocks xmlns:a="http://schemas.openxmlformats.org/drawingml/2006/main" noGrp="1"/>
          </p:cNvSpPr>
          <p:nvPr/>
        </p:nvSpPr>
        <p:spPr>
          <a:xfrm xmlns:a="http://schemas.openxmlformats.org/drawingml/2006/main">
            <a:off x="80200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Python workflows</a:t>
            </a:r>
            <a:endParaRPr/>
          </a:p>
        </p:txBody>
      </p:sp>
      <p:sp>
        <p:nvSpPr>
          <p:cNvPr id="629" name="Google Shape;629;p24">
            <a:extLst xmlns:a="http://schemas.openxmlformats.org/drawingml/2006/main">
              <a:ext uri="{FF2B5EF4-FFF2-40B4-BE49-F238E27FC236}">
                <a16:creationId xmlns:a16="http://schemas.microsoft.com/office/drawing/2014/main" id="{60ADEDEB-3673-4C01-96B9-C2A4DD55F7B5}"/>
              </a:ext>
            </a:extLst>
          </p:cNvPr>
          <p:cNvSpPr>
            <a:spLocks xmlns:a="http://schemas.openxmlformats.org/drawingml/2006/main" noGrp="1"/>
          </p:cNvSpPr>
          <p:nvPr/>
        </p:nvSpPr>
        <p:spPr>
          <a:xfrm xmlns:a="http://schemas.openxmlformats.org/drawingml/2006/main">
            <a:off x="8020050" y="5019675"/>
            <a:ext cx="328612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Retrieve, subset and integrate programmatically
github.com/un-fao/cavapy</a:t>
            </a:r>
            <a:endParaRPr/>
          </a:p>
        </p:txBody>
      </p:sp>
    </p:spTree>
    <p:extLst>
      <p:ext uri="{BB962C8B-B14F-4D97-AF65-F5344CB8AC3E}">
        <p14:creationId xmlns:p14="http://schemas.microsoft.com/office/powerpoint/2010/main" val="1183066099"/>
      </p:ext>
    </p:extLst>
  </p:cSld>
</p:sld>
</file>

<file path=ppt/slides/slide2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5" name="Google Shape;635;p25">
            <a:extLst xmlns:a="http://schemas.openxmlformats.org/drawingml/2006/main">
              <a:ext uri="{FF2B5EF4-FFF2-40B4-BE49-F238E27FC236}">
                <a16:creationId xmlns:a16="http://schemas.microsoft.com/office/drawing/2014/main" id="{17BA57CC-FE59-4A00-B837-0F5420ED7498}"/>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Coming soon: CAVA Datalab</a:t>
            </a:r>
            <a:endParaRPr sz="2025" b="1">
              <a:solidFill>
                <a:srgbClr val="12304E"/>
              </a:solidFill>
              <a:latin typeface="Lato"/>
              <a:ea typeface="Lato"/>
              <a:cs typeface="Lato"/>
            </a:endParaRPr>
          </a:p>
        </p:txBody>
      </p:sp>
      <p:sp>
        <p:nvSpPr>
          <p:cNvPr id="636" name="Google Shape;636;p25">
            <a:extLst xmlns:a="http://schemas.openxmlformats.org/drawingml/2006/main">
              <a:ext uri="{FF2B5EF4-FFF2-40B4-BE49-F238E27FC236}">
                <a16:creationId xmlns:a16="http://schemas.microsoft.com/office/drawing/2014/main" id="{3F8B65D5-FEEE-4848-9DBD-3448D61EBC53}"/>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A planned cloud workspace for working directly with CAVA data and code</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37" name="Google Shape;637;p25">
            <a:extLst xmlns:a="http://schemas.openxmlformats.org/drawingml/2006/main">
              <a:ext uri="{FF2B5EF4-FFF2-40B4-BE49-F238E27FC236}">
                <a16:creationId xmlns:a16="http://schemas.microsoft.com/office/drawing/2014/main" id="{5D45434F-953D-4FE7-B73A-3C514F392730}"/>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8" name="Google Shape;638;p25">
            <a:extLst xmlns:a="http://schemas.openxmlformats.org/drawingml/2006/main">
              <a:ext uri="{FF2B5EF4-FFF2-40B4-BE49-F238E27FC236}">
                <a16:creationId xmlns:a16="http://schemas.microsoft.com/office/drawing/2014/main" id="{127554AA-F43F-4535-88AD-A84D13D4DC09}"/>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9" name="Google Shape;639;p25">
            <a:extLst xmlns:a="http://schemas.openxmlformats.org/drawingml/2006/main">
              <a:ext uri="{FF2B5EF4-FFF2-40B4-BE49-F238E27FC236}">
                <a16:creationId xmlns:a16="http://schemas.microsoft.com/office/drawing/2014/main" id="{0A4A510B-21E4-479B-B5F7-9A4AF8201228}"/>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40" name="Google Shape;640;p25">
            <a:extLst xmlns:a="http://schemas.openxmlformats.org/drawingml/2006/main">
              <a:ext uri="{FF2B5EF4-FFF2-40B4-BE49-F238E27FC236}">
                <a16:creationId xmlns:a16="http://schemas.microsoft.com/office/drawing/2014/main" id="{7543208B-3F76-44C0-B0B9-3BA89793D3C4}"/>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41" name="Google Shape;641;p25">
            <a:extLst xmlns:a="http://schemas.openxmlformats.org/drawingml/2006/main">
              <a:ext uri="{FF2B5EF4-FFF2-40B4-BE49-F238E27FC236}">
                <a16:creationId xmlns:a16="http://schemas.microsoft.com/office/drawing/2014/main" id="{5824BC43-B72B-451C-A07F-BC92AFE476A8}"/>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25</a:t>
            </a:r>
            <a:endParaRPr/>
          </a:p>
        </p:txBody>
      </p:sp>
      <p:sp>
        <p:nvSpPr>
          <p:cNvPr id="642" name="Google Shape;642;p25">
            <a:extLst xmlns:a="http://schemas.openxmlformats.org/drawingml/2006/main">
              <a:ext uri="{FF2B5EF4-FFF2-40B4-BE49-F238E27FC236}">
                <a16:creationId xmlns:a16="http://schemas.microsoft.com/office/drawing/2014/main" id="{9BBB7E4A-84C9-4BAB-9A74-2FF3B2E305F6}"/>
              </a:ext>
            </a:extLst>
          </p:cNvPr>
          <p:cNvSpPr>
            <a:spLocks xmlns:a="http://schemas.openxmlformats.org/drawingml/2006/main" noGrp="1"/>
          </p:cNvSpPr>
          <p:nvPr/>
        </p:nvSpPr>
        <p:spPr>
          <a:xfrm xmlns:a="http://schemas.openxmlformats.org/drawingml/2006/main">
            <a:off x="647700" y="1726238"/>
            <a:ext cx="6289200" cy="422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None/>
            </a:pPr>
            <a:r>
              <a:rPr sz="2100" b="1">
                <a:solidFill>
                  <a:srgbClr val="12304E"/>
                </a:solidFill>
                <a:latin typeface="Lato"/>
                <a:ea typeface="Lato"/>
                <a:cs typeface="Lato"/>
              </a:rPr>
              <a:t>Coming soon - The CAVA Datalab</a:t>
            </a:r>
            <a:endParaRPr sz="2100" b="1">
              <a:solidFill>
                <a:srgbClr val="12304E"/>
              </a:solidFill>
              <a:latin typeface="Lato"/>
              <a:ea typeface="Lato"/>
              <a:cs typeface="Lato"/>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lnSpc>
                <a:spcPct val="105000"/>
              </a:lnSpc>
              <a:spcBef>
                <a:spcPts val="0"/>
              </a:spcBef>
              <a:spcAft>
                <a:spcPts val="0"/>
              </a:spcAft>
              <a:buClr>
                <a:srgbClr val="687984"/>
              </a:buClr>
              <a:buSzPts val="1275"/>
              <a:buFont typeface="Lato"/>
              <a:buNone/>
            </a:pPr>
            <a:r>
              <a:rPr sz="1575">
                <a:solidFill>
                  <a:srgbClr val="687984"/>
                </a:solidFill>
                <a:latin typeface="Lato"/>
                <a:ea typeface="Lato"/>
                <a:cs typeface="Lato"/>
              </a:rPr>
              <a:t>Single-click analysis-ready cloud environments in the browser for everyone.</a:t>
            </a:r>
            <a:endParaRPr sz="1700"/>
          </a:p>
        </p:txBody>
      </p:sp>
      <p:pic>
        <p:nvPicPr>
          <p:cNvPr id="652" name="Google Shape;643;p25"/>
          <p:cNvPicPr>
            <a:picLocks xmlns:a="http://schemas.openxmlformats.org/drawingml/2006/main" noChangeAspect="1"/>
          </p:cNvPicPr>
          <p:nvPr/>
        </p:nvPicPr>
        <p:blipFill>
          <a:blip xmlns:r="http://schemas.openxmlformats.org/officeDocument/2006/relationships" xmlns:a="http://schemas.openxmlformats.org/drawingml/2006/main" r:embed="R5d7089c7e5d34b5c">
            <a:alphaModFix/>
          </a:blip>
          <a:stretch xmlns:a="http://schemas.openxmlformats.org/drawingml/2006/main">
            <a:fillRect l="0" t="0" r="0" b="0"/>
          </a:stretch>
        </p:blipFill>
        <p:spPr>
          <a:xfrm xmlns:a="http://schemas.openxmlformats.org/drawingml/2006/main">
            <a:off x="7550184" y="1419225"/>
            <a:ext cx="4070242" cy="470542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04288655"/>
      </p:ext>
    </p:extLst>
  </p:cSld>
</p:sld>
</file>

<file path=ppt/slides/slide2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49" name="Google Shape;649;p26">
            <a:extLst xmlns:a="http://schemas.openxmlformats.org/drawingml/2006/main">
              <a:ext uri="{FF2B5EF4-FFF2-40B4-BE49-F238E27FC236}">
                <a16:creationId xmlns:a16="http://schemas.microsoft.com/office/drawing/2014/main" id="{4827AD22-70B5-4711-8051-2A59BF3E847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End-to-end example: extreme heat</a:t>
            </a:r>
            <a:endParaRPr/>
          </a:p>
        </p:txBody>
      </p:sp>
      <p:sp>
        <p:nvSpPr>
          <p:cNvPr id="650" name="Google Shape;650;p26">
            <a:extLst xmlns:a="http://schemas.openxmlformats.org/drawingml/2006/main">
              <a:ext uri="{FF2B5EF4-FFF2-40B4-BE49-F238E27FC236}">
                <a16:creationId xmlns:a16="http://schemas.microsoft.com/office/drawing/2014/main" id="{C0BF94CF-A7F3-4127-9ED5-8600FA5BB092}"/>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workflow keeps the decision question connected to every technical choice</a:t>
            </a:r>
            <a:endParaRPr/>
          </a:p>
        </p:txBody>
      </p:sp>
      <p:sp>
        <p:nvSpPr>
          <p:cNvPr id="651" name="Google Shape;651;p26">
            <a:extLst xmlns:a="http://schemas.openxmlformats.org/drawingml/2006/main">
              <a:ext uri="{FF2B5EF4-FFF2-40B4-BE49-F238E27FC236}">
                <a16:creationId xmlns:a16="http://schemas.microsoft.com/office/drawing/2014/main" id="{F7849AAC-60A9-42FA-B473-CA464E174A2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2" name="Google Shape;652;p26">
            <a:extLst xmlns:a="http://schemas.openxmlformats.org/drawingml/2006/main">
              <a:ext uri="{FF2B5EF4-FFF2-40B4-BE49-F238E27FC236}">
                <a16:creationId xmlns:a16="http://schemas.microsoft.com/office/drawing/2014/main" id="{D300519A-6DD3-4F1D-ABA1-304A1B56C50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3" name="Google Shape;653;p26">
            <a:extLst xmlns:a="http://schemas.openxmlformats.org/drawingml/2006/main">
              <a:ext uri="{FF2B5EF4-FFF2-40B4-BE49-F238E27FC236}">
                <a16:creationId xmlns:a16="http://schemas.microsoft.com/office/drawing/2014/main" id="{24BA0CA8-9F80-445A-B078-A2C181B4552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4" name="Google Shape;654;p26">
            <a:extLst xmlns:a="http://schemas.openxmlformats.org/drawingml/2006/main">
              <a:ext uri="{FF2B5EF4-FFF2-40B4-BE49-F238E27FC236}">
                <a16:creationId xmlns:a16="http://schemas.microsoft.com/office/drawing/2014/main" id="{22A36A73-8F11-474E-AD34-66FBFF722F06}"/>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55" name="Google Shape;655;p26">
            <a:extLst xmlns:a="http://schemas.openxmlformats.org/drawingml/2006/main">
              <a:ext uri="{FF2B5EF4-FFF2-40B4-BE49-F238E27FC236}">
                <a16:creationId xmlns:a16="http://schemas.microsoft.com/office/drawing/2014/main" id="{1C8F5B82-AFF9-4288-98D1-556ED5F5550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26</a:t>
            </a:r>
            <a:endParaRPr/>
          </a:p>
        </p:txBody>
      </p:sp>
      <p:sp>
        <p:nvSpPr>
          <p:cNvPr id="656" name="Google Shape;656;p26">
            <a:extLst xmlns:a="http://schemas.openxmlformats.org/drawingml/2006/main">
              <a:ext uri="{FF2B5EF4-FFF2-40B4-BE49-F238E27FC236}">
                <a16:creationId xmlns:a16="http://schemas.microsoft.com/office/drawing/2014/main" id="{E7DECCF9-A47D-4D4C-AF53-6BE2C5F75CCF}"/>
              </a:ext>
            </a:extLst>
          </p:cNvPr>
          <p:cNvSpPr>
            <a:spLocks xmlns:a="http://schemas.openxmlformats.org/drawingml/2006/main" noGrp="1"/>
          </p:cNvSpPr>
          <p:nvPr/>
        </p:nvSpPr>
        <p:spPr>
          <a:xfrm xmlns:a="http://schemas.openxmlformats.org/drawingml/2006/main">
            <a:off x="866775" y="3305175"/>
            <a:ext cx="10458450" cy="47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7" name="Google Shape;657;p26">
            <a:extLst xmlns:a="http://schemas.openxmlformats.org/drawingml/2006/main">
              <a:ext uri="{FF2B5EF4-FFF2-40B4-BE49-F238E27FC236}">
                <a16:creationId xmlns:a16="http://schemas.microsoft.com/office/drawing/2014/main" id="{680B5BA1-8FBA-4D69-9465-56C9E2CD6CAA}"/>
              </a:ext>
            </a:extLst>
          </p:cNvPr>
          <p:cNvSpPr>
            <a:spLocks xmlns:a="http://schemas.openxmlformats.org/drawingml/2006/main" noGrp="1"/>
          </p:cNvSpPr>
          <p:nvPr/>
        </p:nvSpPr>
        <p:spPr>
          <a:xfrm xmlns:a="http://schemas.openxmlformats.org/drawingml/2006/main">
            <a:off x="8667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01</a:t>
            </a:r>
            <a:endParaRPr/>
          </a:p>
        </p:txBody>
      </p:sp>
      <p:sp>
        <p:nvSpPr>
          <p:cNvPr id="658" name="Google Shape;658;p26">
            <a:extLst xmlns:a="http://schemas.openxmlformats.org/drawingml/2006/main">
              <a:ext uri="{FF2B5EF4-FFF2-40B4-BE49-F238E27FC236}">
                <a16:creationId xmlns:a16="http://schemas.microsoft.com/office/drawing/2014/main" id="{13F34138-7049-4A08-8887-E421A72209A5}"/>
              </a:ext>
            </a:extLst>
          </p:cNvPr>
          <p:cNvSpPr>
            <a:spLocks xmlns:a="http://schemas.openxmlformats.org/drawingml/2006/main" noGrp="1"/>
          </p:cNvSpPr>
          <p:nvPr/>
        </p:nvSpPr>
        <p:spPr>
          <a:xfrm xmlns:a="http://schemas.openxmlformats.org/drawingml/2006/main">
            <a:off x="8477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QUESTION</a:t>
            </a:r>
            <a:endParaRPr/>
          </a:p>
        </p:txBody>
      </p:sp>
      <p:sp>
        <p:nvSpPr>
          <p:cNvPr id="659" name="Google Shape;659;p26">
            <a:extLst xmlns:a="http://schemas.openxmlformats.org/drawingml/2006/main">
              <a:ext uri="{FF2B5EF4-FFF2-40B4-BE49-F238E27FC236}">
                <a16:creationId xmlns:a16="http://schemas.microsoft.com/office/drawing/2014/main" id="{354C8B9C-41AD-41FA-BADE-72536DED6FBD}"/>
              </a:ext>
            </a:extLst>
          </p:cNvPr>
          <p:cNvSpPr>
            <a:spLocks xmlns:a="http://schemas.openxmlformats.org/drawingml/2006/main" noGrp="1"/>
          </p:cNvSpPr>
          <p:nvPr/>
        </p:nvSpPr>
        <p:spPr>
          <a:xfrm xmlns:a="http://schemas.openxmlformats.org/drawingml/2006/main">
            <a:off x="8477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Will extreme heat increase in the project area?</a:t>
            </a:r>
            <a:endParaRPr/>
          </a:p>
        </p:txBody>
      </p:sp>
      <p:sp>
        <p:nvSpPr>
          <p:cNvPr id="660" name="Google Shape;660;p26">
            <a:extLst xmlns:a="http://schemas.openxmlformats.org/drawingml/2006/main">
              <a:ext uri="{FF2B5EF4-FFF2-40B4-BE49-F238E27FC236}">
                <a16:creationId xmlns:a16="http://schemas.microsoft.com/office/drawing/2014/main" id="{999F4B6A-54FF-414E-99FD-4CA1993537C0}"/>
              </a:ext>
            </a:extLst>
          </p:cNvPr>
          <p:cNvSpPr>
            <a:spLocks xmlns:a="http://schemas.openxmlformats.org/drawingml/2006/main" noGrp="1"/>
          </p:cNvSpPr>
          <p:nvPr/>
        </p:nvSpPr>
        <p:spPr>
          <a:xfrm xmlns:a="http://schemas.openxmlformats.org/drawingml/2006/main">
            <a:off x="26098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02</a:t>
            </a:r>
            <a:endParaRPr/>
          </a:p>
        </p:txBody>
      </p:sp>
      <p:sp>
        <p:nvSpPr>
          <p:cNvPr id="661" name="Google Shape;661;p26">
            <a:extLst xmlns:a="http://schemas.openxmlformats.org/drawingml/2006/main">
              <a:ext uri="{FF2B5EF4-FFF2-40B4-BE49-F238E27FC236}">
                <a16:creationId xmlns:a16="http://schemas.microsoft.com/office/drawing/2014/main" id="{6639A535-6ECC-411C-A11F-9B5046F4560C}"/>
              </a:ext>
            </a:extLst>
          </p:cNvPr>
          <p:cNvSpPr>
            <a:spLocks xmlns:a="http://schemas.openxmlformats.org/drawingml/2006/main" noGrp="1"/>
          </p:cNvSpPr>
          <p:nvPr/>
        </p:nvSpPr>
        <p:spPr>
          <a:xfrm xmlns:a="http://schemas.openxmlformats.org/drawingml/2006/main">
            <a:off x="25908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REFERENCE</a:t>
            </a:r>
            <a:endParaRPr/>
          </a:p>
        </p:txBody>
      </p:sp>
      <p:sp>
        <p:nvSpPr>
          <p:cNvPr id="662" name="Google Shape;662;p26">
            <a:extLst xmlns:a="http://schemas.openxmlformats.org/drawingml/2006/main">
              <a:ext uri="{FF2B5EF4-FFF2-40B4-BE49-F238E27FC236}">
                <a16:creationId xmlns:a16="http://schemas.microsoft.com/office/drawing/2014/main" id="{C85BF4D0-5DA0-4040-A5D4-C125315DA80F}"/>
              </a:ext>
            </a:extLst>
          </p:cNvPr>
          <p:cNvSpPr>
            <a:spLocks xmlns:a="http://schemas.openxmlformats.org/drawingml/2006/main" noGrp="1"/>
          </p:cNvSpPr>
          <p:nvPr/>
        </p:nvSpPr>
        <p:spPr>
          <a:xfrm xmlns:a="http://schemas.openxmlformats.org/drawingml/2006/main">
            <a:off x="25908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Choose a baseline and historical dataset</a:t>
            </a:r>
            <a:endParaRPr/>
          </a:p>
        </p:txBody>
      </p:sp>
      <p:sp>
        <p:nvSpPr>
          <p:cNvPr id="663" name="Google Shape;663;p26">
            <a:extLst xmlns:a="http://schemas.openxmlformats.org/drawingml/2006/main">
              <a:ext uri="{FF2B5EF4-FFF2-40B4-BE49-F238E27FC236}">
                <a16:creationId xmlns:a16="http://schemas.microsoft.com/office/drawing/2014/main" id="{97FBF1FD-CD40-48DC-8F41-B7EED44FAD80}"/>
              </a:ext>
            </a:extLst>
          </p:cNvPr>
          <p:cNvSpPr>
            <a:spLocks xmlns:a="http://schemas.openxmlformats.org/drawingml/2006/main" noGrp="1"/>
          </p:cNvSpPr>
          <p:nvPr/>
        </p:nvSpPr>
        <p:spPr>
          <a:xfrm xmlns:a="http://schemas.openxmlformats.org/drawingml/2006/main">
            <a:off x="435292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03</a:t>
            </a:r>
            <a:endParaRPr/>
          </a:p>
        </p:txBody>
      </p:sp>
      <p:sp>
        <p:nvSpPr>
          <p:cNvPr id="664" name="Google Shape;664;p26">
            <a:extLst xmlns:a="http://schemas.openxmlformats.org/drawingml/2006/main">
              <a:ext uri="{FF2B5EF4-FFF2-40B4-BE49-F238E27FC236}">
                <a16:creationId xmlns:a16="http://schemas.microsoft.com/office/drawing/2014/main" id="{01F88C24-096C-48BB-BD55-2256E5393A8E}"/>
              </a:ext>
            </a:extLst>
          </p:cNvPr>
          <p:cNvSpPr>
            <a:spLocks xmlns:a="http://schemas.openxmlformats.org/drawingml/2006/main" noGrp="1"/>
          </p:cNvSpPr>
          <p:nvPr/>
        </p:nvSpPr>
        <p:spPr>
          <a:xfrm xmlns:a="http://schemas.openxmlformats.org/drawingml/2006/main">
            <a:off x="433387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PROJECTIONS</a:t>
            </a:r>
            <a:endParaRPr/>
          </a:p>
        </p:txBody>
      </p:sp>
      <p:sp>
        <p:nvSpPr>
          <p:cNvPr id="665" name="Google Shape;665;p26">
            <a:extLst xmlns:a="http://schemas.openxmlformats.org/drawingml/2006/main">
              <a:ext uri="{FF2B5EF4-FFF2-40B4-BE49-F238E27FC236}">
                <a16:creationId xmlns:a16="http://schemas.microsoft.com/office/drawing/2014/main" id="{07385C90-F016-4978-86A8-B5110A3CDEC6}"/>
              </a:ext>
            </a:extLst>
          </p:cNvPr>
          <p:cNvSpPr>
            <a:spLocks xmlns:a="http://schemas.openxmlformats.org/drawingml/2006/main" noGrp="1"/>
          </p:cNvSpPr>
          <p:nvPr/>
        </p:nvSpPr>
        <p:spPr>
          <a:xfrm xmlns:a="http://schemas.openxmlformats.org/drawingml/2006/main">
            <a:off x="433387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Select scenarios and a multi-model ensemble</a:t>
            </a:r>
            <a:endParaRPr/>
          </a:p>
        </p:txBody>
      </p:sp>
      <p:sp>
        <p:nvSpPr>
          <p:cNvPr id="666" name="Google Shape;666;p26">
            <a:extLst xmlns:a="http://schemas.openxmlformats.org/drawingml/2006/main">
              <a:ext uri="{FF2B5EF4-FFF2-40B4-BE49-F238E27FC236}">
                <a16:creationId xmlns:a16="http://schemas.microsoft.com/office/drawing/2014/main" id="{3CEAEA1D-3515-4AC4-8A08-E0B5265EA4B5}"/>
              </a:ext>
            </a:extLst>
          </p:cNvPr>
          <p:cNvSpPr>
            <a:spLocks xmlns:a="http://schemas.openxmlformats.org/drawingml/2006/main" noGrp="1"/>
          </p:cNvSpPr>
          <p:nvPr/>
        </p:nvSpPr>
        <p:spPr>
          <a:xfrm xmlns:a="http://schemas.openxmlformats.org/drawingml/2006/main">
            <a:off x="609600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04</a:t>
            </a:r>
            <a:endParaRPr/>
          </a:p>
        </p:txBody>
      </p:sp>
      <p:sp>
        <p:nvSpPr>
          <p:cNvPr id="667" name="Google Shape;667;p26">
            <a:extLst xmlns:a="http://schemas.openxmlformats.org/drawingml/2006/main">
              <a:ext uri="{FF2B5EF4-FFF2-40B4-BE49-F238E27FC236}">
                <a16:creationId xmlns:a16="http://schemas.microsoft.com/office/drawing/2014/main" id="{30BA8C27-C613-4EED-A504-7DF7A5B0673E}"/>
              </a:ext>
            </a:extLst>
          </p:cNvPr>
          <p:cNvSpPr>
            <a:spLocks xmlns:a="http://schemas.openxmlformats.org/drawingml/2006/main" noGrp="1"/>
          </p:cNvSpPr>
          <p:nvPr/>
        </p:nvSpPr>
        <p:spPr>
          <a:xfrm xmlns:a="http://schemas.openxmlformats.org/drawingml/2006/main">
            <a:off x="607695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PROCESS</a:t>
            </a:r>
            <a:endParaRPr/>
          </a:p>
        </p:txBody>
      </p:sp>
      <p:sp>
        <p:nvSpPr>
          <p:cNvPr id="668" name="Google Shape;668;p26">
            <a:extLst xmlns:a="http://schemas.openxmlformats.org/drawingml/2006/main">
              <a:ext uri="{FF2B5EF4-FFF2-40B4-BE49-F238E27FC236}">
                <a16:creationId xmlns:a16="http://schemas.microsoft.com/office/drawing/2014/main" id="{D8EC1DDB-A0D6-43F6-8603-6D4D006FC4E2}"/>
              </a:ext>
            </a:extLst>
          </p:cNvPr>
          <p:cNvSpPr>
            <a:spLocks xmlns:a="http://schemas.openxmlformats.org/drawingml/2006/main" noGrp="1"/>
          </p:cNvSpPr>
          <p:nvPr/>
        </p:nvSpPr>
        <p:spPr>
          <a:xfrm xmlns:a="http://schemas.openxmlformats.org/drawingml/2006/main">
            <a:off x="607695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3"/>
              <a:buFont typeface="Lato"/>
              <a:buNone/>
            </a:pPr>
            <a:r>
              <a:rPr sz="1273" b="1" i="0">
                <a:solidFill>
                  <a:srgbClr val="12304E"/>
                </a:solidFill>
                <a:latin typeface="Lato"/>
                <a:ea typeface="Lato"/>
                <a:cs typeface="Lato"/>
              </a:rPr>
              <a:t>Subset, harmonize and apply correction where appropriate</a:t>
            </a:r>
            <a:endParaRPr/>
          </a:p>
        </p:txBody>
      </p:sp>
      <p:sp>
        <p:nvSpPr>
          <p:cNvPr id="669" name="Google Shape;669;p26">
            <a:extLst xmlns:a="http://schemas.openxmlformats.org/drawingml/2006/main">
              <a:ext uri="{FF2B5EF4-FFF2-40B4-BE49-F238E27FC236}">
                <a16:creationId xmlns:a16="http://schemas.microsoft.com/office/drawing/2014/main" id="{8D1194CA-FBF9-4A36-BD34-A1D6F8213469}"/>
              </a:ext>
            </a:extLst>
          </p:cNvPr>
          <p:cNvSpPr>
            <a:spLocks xmlns:a="http://schemas.openxmlformats.org/drawingml/2006/main" noGrp="1"/>
          </p:cNvSpPr>
          <p:nvPr/>
        </p:nvSpPr>
        <p:spPr>
          <a:xfrm xmlns:a="http://schemas.openxmlformats.org/drawingml/2006/main">
            <a:off x="78390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05</a:t>
            </a:r>
            <a:endParaRPr/>
          </a:p>
        </p:txBody>
      </p:sp>
      <p:sp>
        <p:nvSpPr>
          <p:cNvPr id="670" name="Google Shape;670;p26">
            <a:extLst xmlns:a="http://schemas.openxmlformats.org/drawingml/2006/main">
              <a:ext uri="{FF2B5EF4-FFF2-40B4-BE49-F238E27FC236}">
                <a16:creationId xmlns:a16="http://schemas.microsoft.com/office/drawing/2014/main" id="{3808A85F-2C44-476A-8DDF-2104991AE8A5}"/>
              </a:ext>
            </a:extLst>
          </p:cNvPr>
          <p:cNvSpPr>
            <a:spLocks xmlns:a="http://schemas.openxmlformats.org/drawingml/2006/main" noGrp="1"/>
          </p:cNvSpPr>
          <p:nvPr/>
        </p:nvSpPr>
        <p:spPr>
          <a:xfrm xmlns:a="http://schemas.openxmlformats.org/drawingml/2006/main">
            <a:off x="78200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671" name="Google Shape;671;p26">
            <a:extLst xmlns:a="http://schemas.openxmlformats.org/drawingml/2006/main">
              <a:ext uri="{FF2B5EF4-FFF2-40B4-BE49-F238E27FC236}">
                <a16:creationId xmlns:a16="http://schemas.microsoft.com/office/drawing/2014/main" id="{23A4B41F-0BF7-40C0-BC59-717592E4F1E8}"/>
              </a:ext>
            </a:extLst>
          </p:cNvPr>
          <p:cNvSpPr>
            <a:spLocks xmlns:a="http://schemas.openxmlformats.org/drawingml/2006/main" noGrp="1"/>
          </p:cNvSpPr>
          <p:nvPr/>
        </p:nvSpPr>
        <p:spPr>
          <a:xfrm xmlns:a="http://schemas.openxmlformats.org/drawingml/2006/main">
            <a:off x="78200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Calculate days above 35°C</a:t>
            </a:r>
            <a:endParaRPr/>
          </a:p>
        </p:txBody>
      </p:sp>
      <p:sp>
        <p:nvSpPr>
          <p:cNvPr id="672" name="Google Shape;672;p26">
            <a:extLst xmlns:a="http://schemas.openxmlformats.org/drawingml/2006/main">
              <a:ext uri="{FF2B5EF4-FFF2-40B4-BE49-F238E27FC236}">
                <a16:creationId xmlns:a16="http://schemas.microsoft.com/office/drawing/2014/main" id="{FEC93BB7-4A83-4E9D-A3C4-627456458CB0}"/>
              </a:ext>
            </a:extLst>
          </p:cNvPr>
          <p:cNvSpPr>
            <a:spLocks xmlns:a="http://schemas.openxmlformats.org/drawingml/2006/main" noGrp="1"/>
          </p:cNvSpPr>
          <p:nvPr/>
        </p:nvSpPr>
        <p:spPr>
          <a:xfrm xmlns:a="http://schemas.openxmlformats.org/drawingml/2006/main">
            <a:off x="95821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06</a:t>
            </a:r>
            <a:endParaRPr/>
          </a:p>
        </p:txBody>
      </p:sp>
      <p:sp>
        <p:nvSpPr>
          <p:cNvPr id="673" name="Google Shape;673;p26">
            <a:extLst xmlns:a="http://schemas.openxmlformats.org/drawingml/2006/main">
              <a:ext uri="{FF2B5EF4-FFF2-40B4-BE49-F238E27FC236}">
                <a16:creationId xmlns:a16="http://schemas.microsoft.com/office/drawing/2014/main" id="{22EB528C-9C68-46E2-B23C-0638A6EF889E}"/>
              </a:ext>
            </a:extLst>
          </p:cNvPr>
          <p:cNvSpPr>
            <a:spLocks xmlns:a="http://schemas.openxmlformats.org/drawingml/2006/main" noGrp="1"/>
          </p:cNvSpPr>
          <p:nvPr/>
        </p:nvSpPr>
        <p:spPr>
          <a:xfrm xmlns:a="http://schemas.openxmlformats.org/drawingml/2006/main">
            <a:off x="95631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INTERPRET</a:t>
            </a:r>
            <a:endParaRPr/>
          </a:p>
        </p:txBody>
      </p:sp>
      <p:sp>
        <p:nvSpPr>
          <p:cNvPr id="674" name="Google Shape;674;p26">
            <a:extLst xmlns:a="http://schemas.openxmlformats.org/drawingml/2006/main">
              <a:ext uri="{FF2B5EF4-FFF2-40B4-BE49-F238E27FC236}">
                <a16:creationId xmlns:a16="http://schemas.microsoft.com/office/drawing/2014/main" id="{F5446DD1-D327-43FC-B573-0F9586755D5F}"/>
              </a:ext>
            </a:extLst>
          </p:cNvPr>
          <p:cNvSpPr>
            <a:spLocks xmlns:a="http://schemas.openxmlformats.org/drawingml/2006/main" noGrp="1"/>
          </p:cNvSpPr>
          <p:nvPr/>
        </p:nvSpPr>
        <p:spPr>
          <a:xfrm xmlns:a="http://schemas.openxmlformats.org/drawingml/2006/main">
            <a:off x="95631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Compare periods, spread and model agreement</a:t>
            </a:r>
            <a:endParaRPr/>
          </a:p>
        </p:txBody>
      </p:sp>
      <p:sp>
        <p:nvSpPr>
          <p:cNvPr id="675" name="Google Shape;675;p26">
            <a:extLst xmlns:a="http://schemas.openxmlformats.org/drawingml/2006/main">
              <a:ext uri="{FF2B5EF4-FFF2-40B4-BE49-F238E27FC236}">
                <a16:creationId xmlns:a16="http://schemas.microsoft.com/office/drawing/2014/main" id="{202B11B2-AA9E-4BBD-B3EE-200D0E0F6384}"/>
              </a:ext>
            </a:extLst>
          </p:cNvPr>
          <p:cNvSpPr>
            <a:spLocks xmlns:a="http://schemas.openxmlformats.org/drawingml/2006/main" noGrp="1"/>
          </p:cNvSpPr>
          <p:nvPr/>
        </p:nvSpPr>
        <p:spPr>
          <a:xfrm xmlns:a="http://schemas.openxmlformats.org/drawingml/2006/main">
            <a:off x="866775" y="5162550"/>
            <a:ext cx="10458450" cy="5905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76" name="Google Shape;676;p26">
            <a:extLst xmlns:a="http://schemas.openxmlformats.org/drawingml/2006/main">
              <a:ext uri="{FF2B5EF4-FFF2-40B4-BE49-F238E27FC236}">
                <a16:creationId xmlns:a16="http://schemas.microsoft.com/office/drawing/2014/main" id="{408D68A4-A609-4102-87EF-9E26C8C72507}"/>
              </a:ext>
            </a:extLst>
          </p:cNvPr>
          <p:cNvSpPr>
            <a:spLocks xmlns:a="http://schemas.openxmlformats.org/drawingml/2006/main" noGrp="1"/>
          </p:cNvSpPr>
          <p:nvPr/>
        </p:nvSpPr>
        <p:spPr>
          <a:xfrm xmlns:a="http://schemas.openxmlformats.org/drawingml/2006/main">
            <a:off x="1114425" y="5334000"/>
            <a:ext cx="1047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00"/>
              <a:buFont typeface="Lato"/>
              <a:buNone/>
            </a:pPr>
            <a:r>
              <a:rPr sz="1200" b="1" i="0">
                <a:solidFill>
                  <a:srgbClr val="F2B632"/>
                </a:solidFill>
                <a:latin typeface="Lato"/>
                <a:ea typeface="Lato"/>
                <a:cs typeface="Lato"/>
              </a:rPr>
              <a:t>OUTPUT</a:t>
            </a:r>
            <a:endParaRPr/>
          </a:p>
        </p:txBody>
      </p:sp>
      <p:sp>
        <p:nvSpPr>
          <p:cNvPr id="677" name="Google Shape;677;p26">
            <a:extLst xmlns:a="http://schemas.openxmlformats.org/drawingml/2006/main">
              <a:ext uri="{FF2B5EF4-FFF2-40B4-BE49-F238E27FC236}">
                <a16:creationId xmlns:a16="http://schemas.microsoft.com/office/drawing/2014/main" id="{DB135A5E-D765-47A7-A214-C76758AED867}"/>
              </a:ext>
            </a:extLst>
          </p:cNvPr>
          <p:cNvSpPr>
            <a:spLocks xmlns:a="http://schemas.openxmlformats.org/drawingml/2006/main" noGrp="1"/>
          </p:cNvSpPr>
          <p:nvPr/>
        </p:nvSpPr>
        <p:spPr>
          <a:xfrm xmlns:a="http://schemas.openxmlformats.org/drawingml/2006/main">
            <a:off x="2266950" y="5305425"/>
            <a:ext cx="866775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A traceable climate signal for discussion, not a stand-alone project decision</a:t>
            </a:r>
            <a:endParaRPr/>
          </a:p>
        </p:txBody>
      </p:sp>
    </p:spTree>
    <p:extLst>
      <p:ext uri="{BB962C8B-B14F-4D97-AF65-F5344CB8AC3E}">
        <p14:creationId xmlns:p14="http://schemas.microsoft.com/office/powerpoint/2010/main" val="629435717"/>
      </p:ext>
    </p:extLst>
  </p:cSld>
</p:sld>
</file>

<file path=ppt/slides/slide2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3" name="Google Shape;683;p27">
            <a:extLst xmlns:a="http://schemas.openxmlformats.org/drawingml/2006/main">
              <a:ext uri="{FF2B5EF4-FFF2-40B4-BE49-F238E27FC236}">
                <a16:creationId xmlns:a16="http://schemas.microsoft.com/office/drawing/2014/main" id="{BC949B7C-AE13-4565-ABBE-F776C4B0C6E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Interpreting a climate signal</a:t>
            </a:r>
            <a:endParaRPr/>
          </a:p>
        </p:txBody>
      </p:sp>
      <p:sp>
        <p:nvSpPr>
          <p:cNvPr id="684" name="Google Shape;684;p27">
            <a:extLst xmlns:a="http://schemas.openxmlformats.org/drawingml/2006/main">
              <a:ext uri="{FF2B5EF4-FFF2-40B4-BE49-F238E27FC236}">
                <a16:creationId xmlns:a16="http://schemas.microsoft.com/office/drawing/2014/main" id="{EA8B2D37-D96B-42C6-957B-A2D1089E6E3E}"/>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map or chart needs context before it can support a project decision</a:t>
            </a:r>
            <a:endParaRPr/>
          </a:p>
        </p:txBody>
      </p:sp>
      <p:sp>
        <p:nvSpPr>
          <p:cNvPr id="685" name="Google Shape;685;p27">
            <a:extLst xmlns:a="http://schemas.openxmlformats.org/drawingml/2006/main">
              <a:ext uri="{FF2B5EF4-FFF2-40B4-BE49-F238E27FC236}">
                <a16:creationId xmlns:a16="http://schemas.microsoft.com/office/drawing/2014/main" id="{9A63F243-FB06-4787-A44E-E0895AC4484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6" name="Google Shape;686;p27">
            <a:extLst xmlns:a="http://schemas.openxmlformats.org/drawingml/2006/main">
              <a:ext uri="{FF2B5EF4-FFF2-40B4-BE49-F238E27FC236}">
                <a16:creationId xmlns:a16="http://schemas.microsoft.com/office/drawing/2014/main" id="{BE5723E8-8037-41B9-8E02-6DFE7058779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7" name="Google Shape;687;p27">
            <a:extLst xmlns:a="http://schemas.openxmlformats.org/drawingml/2006/main">
              <a:ext uri="{FF2B5EF4-FFF2-40B4-BE49-F238E27FC236}">
                <a16:creationId xmlns:a16="http://schemas.microsoft.com/office/drawing/2014/main" id="{C4762664-74B3-4D4E-9889-F8BD08D1E06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8" name="Google Shape;688;p27">
            <a:extLst xmlns:a="http://schemas.openxmlformats.org/drawingml/2006/main">
              <a:ext uri="{FF2B5EF4-FFF2-40B4-BE49-F238E27FC236}">
                <a16:creationId xmlns:a16="http://schemas.microsoft.com/office/drawing/2014/main" id="{A096CCBA-5586-4DB3-B6C9-62854609FF9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89" name="Google Shape;689;p27">
            <a:extLst xmlns:a="http://schemas.openxmlformats.org/drawingml/2006/main">
              <a:ext uri="{FF2B5EF4-FFF2-40B4-BE49-F238E27FC236}">
                <a16:creationId xmlns:a16="http://schemas.microsoft.com/office/drawing/2014/main" id="{8DFEBB21-7446-405E-9F4F-BAF2EB458E51}"/>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27</a:t>
            </a:r>
            <a:endParaRPr/>
          </a:p>
        </p:txBody>
      </p:sp>
      <p:sp>
        <p:nvSpPr>
          <p:cNvPr id="690" name="Google Shape;690;p27">
            <a:extLst xmlns:a="http://schemas.openxmlformats.org/drawingml/2006/main">
              <a:ext uri="{FF2B5EF4-FFF2-40B4-BE49-F238E27FC236}">
                <a16:creationId xmlns:a16="http://schemas.microsoft.com/office/drawing/2014/main" id="{D84929C1-1108-4814-8430-F55D81EF37C3}"/>
              </a:ext>
            </a:extLst>
          </p:cNvPr>
          <p:cNvSpPr>
            <a:spLocks xmlns:a="http://schemas.openxmlformats.org/drawingml/2006/main" noGrp="1"/>
          </p:cNvSpPr>
          <p:nvPr/>
        </p:nvSpPr>
        <p:spPr>
          <a:xfrm xmlns:a="http://schemas.openxmlformats.org/drawingml/2006/main">
            <a:off x="742950" y="1790700"/>
            <a:ext cx="4572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READ THE SIGNAL</a:t>
            </a:r>
            <a:endParaRPr/>
          </a:p>
        </p:txBody>
      </p:sp>
      <p:sp>
        <p:nvSpPr>
          <p:cNvPr id="691" name="Google Shape;691;p27">
            <a:extLst xmlns:a="http://schemas.openxmlformats.org/drawingml/2006/main">
              <a:ext uri="{FF2B5EF4-FFF2-40B4-BE49-F238E27FC236}">
                <a16:creationId xmlns:a16="http://schemas.microsoft.com/office/drawing/2014/main" id="{565738F5-0E9D-4608-89BA-FB2E70BD34DA}"/>
              </a:ext>
            </a:extLst>
          </p:cNvPr>
          <p:cNvSpPr>
            <a:spLocks xmlns:a="http://schemas.openxmlformats.org/drawingml/2006/main" noGrp="1"/>
          </p:cNvSpPr>
          <p:nvPr/>
        </p:nvSpPr>
        <p:spPr>
          <a:xfrm xmlns:a="http://schemas.openxmlformats.org/drawingml/2006/main">
            <a:off x="6610350" y="17907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TEST THE INTERPRETATION</a:t>
            </a:r>
            <a:endParaRPr/>
          </a:p>
        </p:txBody>
      </p:sp>
      <p:sp>
        <p:nvSpPr>
          <p:cNvPr id="692" name="Google Shape;692;p27">
            <a:extLst xmlns:a="http://schemas.openxmlformats.org/drawingml/2006/main">
              <a:ext uri="{FF2B5EF4-FFF2-40B4-BE49-F238E27FC236}">
                <a16:creationId xmlns:a16="http://schemas.microsoft.com/office/drawing/2014/main" id="{99618464-70CA-4F23-AB3B-A0F24611EEAB}"/>
              </a:ext>
            </a:extLst>
          </p:cNvPr>
          <p:cNvSpPr>
            <a:spLocks xmlns:a="http://schemas.openxmlformats.org/drawingml/2006/main" noGrp="1"/>
          </p:cNvSpPr>
          <p:nvPr/>
        </p:nvSpPr>
        <p:spPr>
          <a:xfrm xmlns:a="http://schemas.openxmlformats.org/drawingml/2006/main">
            <a:off x="6076950" y="1771650"/>
            <a:ext cx="9525" cy="33528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3" name="Google Shape;693;p27">
            <a:extLst xmlns:a="http://schemas.openxmlformats.org/drawingml/2006/main">
              <a:ext uri="{FF2B5EF4-FFF2-40B4-BE49-F238E27FC236}">
                <a16:creationId xmlns:a16="http://schemas.microsoft.com/office/drawing/2014/main" id="{5997816A-363B-4B79-A0DD-F7A369EAE182}"/>
              </a:ext>
            </a:extLst>
          </p:cNvPr>
          <p:cNvSpPr>
            <a:spLocks xmlns:a="http://schemas.openxmlformats.org/drawingml/2006/main" noGrp="1"/>
          </p:cNvSpPr>
          <p:nvPr/>
        </p:nvSpPr>
        <p:spPr>
          <a:xfrm xmlns:a="http://schemas.openxmlformats.org/drawingml/2006/main">
            <a:off x="7429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01</a:t>
            </a:r>
            <a:endParaRPr/>
          </a:p>
        </p:txBody>
      </p:sp>
      <p:sp>
        <p:nvSpPr>
          <p:cNvPr id="694" name="Google Shape;694;p27">
            <a:extLst xmlns:a="http://schemas.openxmlformats.org/drawingml/2006/main">
              <a:ext uri="{FF2B5EF4-FFF2-40B4-BE49-F238E27FC236}">
                <a16:creationId xmlns:a16="http://schemas.microsoft.com/office/drawing/2014/main" id="{C747ABE0-0E59-4E29-9827-E56998921D82}"/>
              </a:ext>
            </a:extLst>
          </p:cNvPr>
          <p:cNvSpPr>
            <a:spLocks xmlns:a="http://schemas.openxmlformats.org/drawingml/2006/main" noGrp="1"/>
          </p:cNvSpPr>
          <p:nvPr/>
        </p:nvSpPr>
        <p:spPr>
          <a:xfrm xmlns:a="http://schemas.openxmlformats.org/drawingml/2006/main">
            <a:off x="13335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MAGNITUDE</a:t>
            </a:r>
            <a:endParaRPr/>
          </a:p>
        </p:txBody>
      </p:sp>
      <p:sp>
        <p:nvSpPr>
          <p:cNvPr id="695" name="Google Shape;695;p27">
            <a:extLst xmlns:a="http://schemas.openxmlformats.org/drawingml/2006/main">
              <a:ext uri="{FF2B5EF4-FFF2-40B4-BE49-F238E27FC236}">
                <a16:creationId xmlns:a16="http://schemas.microsoft.com/office/drawing/2014/main" id="{CDB4E683-8AC5-43C0-A61F-B0FCEB060178}"/>
              </a:ext>
            </a:extLst>
          </p:cNvPr>
          <p:cNvSpPr>
            <a:spLocks xmlns:a="http://schemas.openxmlformats.org/drawingml/2006/main" noGrp="1"/>
          </p:cNvSpPr>
          <p:nvPr/>
        </p:nvSpPr>
        <p:spPr>
          <a:xfrm xmlns:a="http://schemas.openxmlformats.org/drawingml/2006/main">
            <a:off x="13335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large is the change relative to the baseline?</a:t>
            </a:r>
            <a:endParaRPr/>
          </a:p>
        </p:txBody>
      </p:sp>
      <p:sp>
        <p:nvSpPr>
          <p:cNvPr id="696" name="Google Shape;696;p27">
            <a:extLst xmlns:a="http://schemas.openxmlformats.org/drawingml/2006/main">
              <a:ext uri="{FF2B5EF4-FFF2-40B4-BE49-F238E27FC236}">
                <a16:creationId xmlns:a16="http://schemas.microsoft.com/office/drawing/2014/main" id="{407BAB47-02A1-41AE-B3E9-A4F4FD4C3A0D}"/>
              </a:ext>
            </a:extLst>
          </p:cNvPr>
          <p:cNvSpPr>
            <a:spLocks xmlns:a="http://schemas.openxmlformats.org/drawingml/2006/main" noGrp="1"/>
          </p:cNvSpPr>
          <p:nvPr/>
        </p:nvSpPr>
        <p:spPr>
          <a:xfrm xmlns:a="http://schemas.openxmlformats.org/drawingml/2006/main">
            <a:off x="7429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7" name="Google Shape;697;p27">
            <a:extLst xmlns:a="http://schemas.openxmlformats.org/drawingml/2006/main">
              <a:ext uri="{FF2B5EF4-FFF2-40B4-BE49-F238E27FC236}">
                <a16:creationId xmlns:a16="http://schemas.microsoft.com/office/drawing/2014/main" id="{88E72A57-8B13-4459-A453-77AD6FDFF73C}"/>
              </a:ext>
            </a:extLst>
          </p:cNvPr>
          <p:cNvSpPr>
            <a:spLocks xmlns:a="http://schemas.openxmlformats.org/drawingml/2006/main" noGrp="1"/>
          </p:cNvSpPr>
          <p:nvPr/>
        </p:nvSpPr>
        <p:spPr>
          <a:xfrm xmlns:a="http://schemas.openxmlformats.org/drawingml/2006/main">
            <a:off x="7429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02</a:t>
            </a:r>
            <a:endParaRPr/>
          </a:p>
        </p:txBody>
      </p:sp>
      <p:sp>
        <p:nvSpPr>
          <p:cNvPr id="698" name="Google Shape;698;p27">
            <a:extLst xmlns:a="http://schemas.openxmlformats.org/drawingml/2006/main">
              <a:ext uri="{FF2B5EF4-FFF2-40B4-BE49-F238E27FC236}">
                <a16:creationId xmlns:a16="http://schemas.microsoft.com/office/drawing/2014/main" id="{0769A838-5F60-4DF6-BC71-72A18501DE3D}"/>
              </a:ext>
            </a:extLst>
          </p:cNvPr>
          <p:cNvSpPr>
            <a:spLocks xmlns:a="http://schemas.openxmlformats.org/drawingml/2006/main" noGrp="1"/>
          </p:cNvSpPr>
          <p:nvPr/>
        </p:nvSpPr>
        <p:spPr>
          <a:xfrm xmlns:a="http://schemas.openxmlformats.org/drawingml/2006/main">
            <a:off x="13335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PATTERN</a:t>
            </a:r>
            <a:endParaRPr/>
          </a:p>
        </p:txBody>
      </p:sp>
      <p:sp>
        <p:nvSpPr>
          <p:cNvPr id="699" name="Google Shape;699;p27">
            <a:extLst xmlns:a="http://schemas.openxmlformats.org/drawingml/2006/main">
              <a:ext uri="{FF2B5EF4-FFF2-40B4-BE49-F238E27FC236}">
                <a16:creationId xmlns:a16="http://schemas.microsoft.com/office/drawing/2014/main" id="{D88A629D-D9A2-437C-A1B3-3AAC9F39F3A7}"/>
              </a:ext>
            </a:extLst>
          </p:cNvPr>
          <p:cNvSpPr>
            <a:spLocks xmlns:a="http://schemas.openxmlformats.org/drawingml/2006/main" noGrp="1"/>
          </p:cNvSpPr>
          <p:nvPr/>
        </p:nvSpPr>
        <p:spPr>
          <a:xfrm xmlns:a="http://schemas.openxmlformats.org/drawingml/2006/main">
            <a:off x="13335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Where and when does the change occur?</a:t>
            </a:r>
            <a:endParaRPr/>
          </a:p>
        </p:txBody>
      </p:sp>
      <p:sp>
        <p:nvSpPr>
          <p:cNvPr id="700" name="Google Shape;700;p27">
            <a:extLst xmlns:a="http://schemas.openxmlformats.org/drawingml/2006/main">
              <a:ext uri="{FF2B5EF4-FFF2-40B4-BE49-F238E27FC236}">
                <a16:creationId xmlns:a16="http://schemas.microsoft.com/office/drawing/2014/main" id="{1C46F8FC-9569-470B-81BC-B6D23CF9CB40}"/>
              </a:ext>
            </a:extLst>
          </p:cNvPr>
          <p:cNvSpPr>
            <a:spLocks xmlns:a="http://schemas.openxmlformats.org/drawingml/2006/main" noGrp="1"/>
          </p:cNvSpPr>
          <p:nvPr/>
        </p:nvSpPr>
        <p:spPr>
          <a:xfrm xmlns:a="http://schemas.openxmlformats.org/drawingml/2006/main">
            <a:off x="7429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1" name="Google Shape;701;p27">
            <a:extLst xmlns:a="http://schemas.openxmlformats.org/drawingml/2006/main">
              <a:ext uri="{FF2B5EF4-FFF2-40B4-BE49-F238E27FC236}">
                <a16:creationId xmlns:a16="http://schemas.microsoft.com/office/drawing/2014/main" id="{114D5E74-0DC8-40DD-91ED-E53B2C3EFBEE}"/>
              </a:ext>
            </a:extLst>
          </p:cNvPr>
          <p:cNvSpPr>
            <a:spLocks xmlns:a="http://schemas.openxmlformats.org/drawingml/2006/main" noGrp="1"/>
          </p:cNvSpPr>
          <p:nvPr/>
        </p:nvSpPr>
        <p:spPr>
          <a:xfrm xmlns:a="http://schemas.openxmlformats.org/drawingml/2006/main">
            <a:off x="7429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03</a:t>
            </a:r>
            <a:endParaRPr/>
          </a:p>
        </p:txBody>
      </p:sp>
      <p:sp>
        <p:nvSpPr>
          <p:cNvPr id="702" name="Google Shape;702;p27">
            <a:extLst xmlns:a="http://schemas.openxmlformats.org/drawingml/2006/main">
              <a:ext uri="{FF2B5EF4-FFF2-40B4-BE49-F238E27FC236}">
                <a16:creationId xmlns:a16="http://schemas.microsoft.com/office/drawing/2014/main" id="{FB8EDCE1-2AE8-4DBF-B71E-C87993885645}"/>
              </a:ext>
            </a:extLst>
          </p:cNvPr>
          <p:cNvSpPr>
            <a:spLocks xmlns:a="http://schemas.openxmlformats.org/drawingml/2006/main" noGrp="1"/>
          </p:cNvSpPr>
          <p:nvPr/>
        </p:nvSpPr>
        <p:spPr>
          <a:xfrm xmlns:a="http://schemas.openxmlformats.org/drawingml/2006/main">
            <a:off x="13335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AGREEMENT</a:t>
            </a:r>
            <a:endParaRPr/>
          </a:p>
        </p:txBody>
      </p:sp>
      <p:sp>
        <p:nvSpPr>
          <p:cNvPr id="703" name="Google Shape;703;p27">
            <a:extLst xmlns:a="http://schemas.openxmlformats.org/drawingml/2006/main">
              <a:ext uri="{FF2B5EF4-FFF2-40B4-BE49-F238E27FC236}">
                <a16:creationId xmlns:a16="http://schemas.microsoft.com/office/drawing/2014/main" id="{FF227843-B993-4C3E-B2F7-535DF950B499}"/>
              </a:ext>
            </a:extLst>
          </p:cNvPr>
          <p:cNvSpPr>
            <a:spLocks xmlns:a="http://schemas.openxmlformats.org/drawingml/2006/main" noGrp="1"/>
          </p:cNvSpPr>
          <p:nvPr/>
        </p:nvSpPr>
        <p:spPr>
          <a:xfrm xmlns:a="http://schemas.openxmlformats.org/drawingml/2006/main">
            <a:off x="13335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 most models show the same direction of change?</a:t>
            </a:r>
            <a:endParaRPr/>
          </a:p>
        </p:txBody>
      </p:sp>
      <p:sp>
        <p:nvSpPr>
          <p:cNvPr id="704" name="Google Shape;704;p27">
            <a:extLst xmlns:a="http://schemas.openxmlformats.org/drawingml/2006/main">
              <a:ext uri="{FF2B5EF4-FFF2-40B4-BE49-F238E27FC236}">
                <a16:creationId xmlns:a16="http://schemas.microsoft.com/office/drawing/2014/main" id="{9D18F2A2-829B-496E-8149-408B8D4E7D7B}"/>
              </a:ext>
            </a:extLst>
          </p:cNvPr>
          <p:cNvSpPr>
            <a:spLocks xmlns:a="http://schemas.openxmlformats.org/drawingml/2006/main" noGrp="1"/>
          </p:cNvSpPr>
          <p:nvPr/>
        </p:nvSpPr>
        <p:spPr>
          <a:xfrm xmlns:a="http://schemas.openxmlformats.org/drawingml/2006/main">
            <a:off x="66103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04</a:t>
            </a:r>
            <a:endParaRPr/>
          </a:p>
        </p:txBody>
      </p:sp>
      <p:sp>
        <p:nvSpPr>
          <p:cNvPr id="705" name="Google Shape;705;p27">
            <a:extLst xmlns:a="http://schemas.openxmlformats.org/drawingml/2006/main">
              <a:ext uri="{FF2B5EF4-FFF2-40B4-BE49-F238E27FC236}">
                <a16:creationId xmlns:a16="http://schemas.microsoft.com/office/drawing/2014/main" id="{4B2DF73E-5216-4F43-9258-FBCCA172CC40}"/>
              </a:ext>
            </a:extLst>
          </p:cNvPr>
          <p:cNvSpPr>
            <a:spLocks xmlns:a="http://schemas.openxmlformats.org/drawingml/2006/main" noGrp="1"/>
          </p:cNvSpPr>
          <p:nvPr/>
        </p:nvSpPr>
        <p:spPr>
          <a:xfrm xmlns:a="http://schemas.openxmlformats.org/drawingml/2006/main">
            <a:off x="72009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SPREAD</a:t>
            </a:r>
            <a:endParaRPr/>
          </a:p>
        </p:txBody>
      </p:sp>
      <p:sp>
        <p:nvSpPr>
          <p:cNvPr id="706" name="Google Shape;706;p27">
            <a:extLst xmlns:a="http://schemas.openxmlformats.org/drawingml/2006/main">
              <a:ext uri="{FF2B5EF4-FFF2-40B4-BE49-F238E27FC236}">
                <a16:creationId xmlns:a16="http://schemas.microsoft.com/office/drawing/2014/main" id="{06238C6C-E2E4-4DD2-A7F4-B88D556C012C}"/>
              </a:ext>
            </a:extLst>
          </p:cNvPr>
          <p:cNvSpPr>
            <a:spLocks xmlns:a="http://schemas.openxmlformats.org/drawingml/2006/main" noGrp="1"/>
          </p:cNvSpPr>
          <p:nvPr/>
        </p:nvSpPr>
        <p:spPr>
          <a:xfrm xmlns:a="http://schemas.openxmlformats.org/drawingml/2006/main">
            <a:off x="72009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wide is the range across models and scenarios?</a:t>
            </a:r>
            <a:endParaRPr/>
          </a:p>
        </p:txBody>
      </p:sp>
      <p:sp>
        <p:nvSpPr>
          <p:cNvPr id="707" name="Google Shape;707;p27">
            <a:extLst xmlns:a="http://schemas.openxmlformats.org/drawingml/2006/main">
              <a:ext uri="{FF2B5EF4-FFF2-40B4-BE49-F238E27FC236}">
                <a16:creationId xmlns:a16="http://schemas.microsoft.com/office/drawing/2014/main" id="{940B4EBB-2ADF-4BC4-B966-0DADA89AD49A}"/>
              </a:ext>
            </a:extLst>
          </p:cNvPr>
          <p:cNvSpPr>
            <a:spLocks xmlns:a="http://schemas.openxmlformats.org/drawingml/2006/main" noGrp="1"/>
          </p:cNvSpPr>
          <p:nvPr/>
        </p:nvSpPr>
        <p:spPr>
          <a:xfrm xmlns:a="http://schemas.openxmlformats.org/drawingml/2006/main">
            <a:off x="66103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8" name="Google Shape;708;p27">
            <a:extLst xmlns:a="http://schemas.openxmlformats.org/drawingml/2006/main">
              <a:ext uri="{FF2B5EF4-FFF2-40B4-BE49-F238E27FC236}">
                <a16:creationId xmlns:a16="http://schemas.microsoft.com/office/drawing/2014/main" id="{0A553AEB-F535-40A3-BBCC-F5FB1E1178EA}"/>
              </a:ext>
            </a:extLst>
          </p:cNvPr>
          <p:cNvSpPr>
            <a:spLocks xmlns:a="http://schemas.openxmlformats.org/drawingml/2006/main" noGrp="1"/>
          </p:cNvSpPr>
          <p:nvPr/>
        </p:nvSpPr>
        <p:spPr>
          <a:xfrm xmlns:a="http://schemas.openxmlformats.org/drawingml/2006/main">
            <a:off x="66103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05</a:t>
            </a:r>
            <a:endParaRPr/>
          </a:p>
        </p:txBody>
      </p:sp>
      <p:sp>
        <p:nvSpPr>
          <p:cNvPr id="709" name="Google Shape;709;p27">
            <a:extLst xmlns:a="http://schemas.openxmlformats.org/drawingml/2006/main">
              <a:ext uri="{FF2B5EF4-FFF2-40B4-BE49-F238E27FC236}">
                <a16:creationId xmlns:a16="http://schemas.microsoft.com/office/drawing/2014/main" id="{EF080085-C4AD-431A-9D49-5837686229D6}"/>
              </a:ext>
            </a:extLst>
          </p:cNvPr>
          <p:cNvSpPr>
            <a:spLocks xmlns:a="http://schemas.openxmlformats.org/drawingml/2006/main" noGrp="1"/>
          </p:cNvSpPr>
          <p:nvPr/>
        </p:nvSpPr>
        <p:spPr>
          <a:xfrm xmlns:a="http://schemas.openxmlformats.org/drawingml/2006/main">
            <a:off x="72009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RELEVANCE</a:t>
            </a:r>
            <a:endParaRPr/>
          </a:p>
        </p:txBody>
      </p:sp>
      <p:sp>
        <p:nvSpPr>
          <p:cNvPr id="710" name="Google Shape;710;p27">
            <a:extLst xmlns:a="http://schemas.openxmlformats.org/drawingml/2006/main">
              <a:ext uri="{FF2B5EF4-FFF2-40B4-BE49-F238E27FC236}">
                <a16:creationId xmlns:a16="http://schemas.microsoft.com/office/drawing/2014/main" id="{3F7B1C25-8373-4707-95A4-9B73C11743C8}"/>
              </a:ext>
            </a:extLst>
          </p:cNvPr>
          <p:cNvSpPr>
            <a:spLocks xmlns:a="http://schemas.openxmlformats.org/drawingml/2006/main" noGrp="1"/>
          </p:cNvSpPr>
          <p:nvPr/>
        </p:nvSpPr>
        <p:spPr>
          <a:xfrm xmlns:a="http://schemas.openxmlformats.org/drawingml/2006/main">
            <a:off x="72009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49"/>
              <a:buFont typeface="Lato"/>
              <a:buNone/>
            </a:pPr>
            <a:r>
              <a:rPr sz="1250" b="0" i="0">
                <a:solidFill>
                  <a:srgbClr val="687984"/>
                </a:solidFill>
                <a:latin typeface="Lato"/>
                <a:ea typeface="Lato"/>
                <a:cs typeface="Lato"/>
              </a:rPr>
              <a:t>Does the indicator reflect the decision and exposed system?</a:t>
            </a:r>
            <a:endParaRPr/>
          </a:p>
        </p:txBody>
      </p:sp>
      <p:sp>
        <p:nvSpPr>
          <p:cNvPr id="711" name="Google Shape;711;p27">
            <a:extLst xmlns:a="http://schemas.openxmlformats.org/drawingml/2006/main">
              <a:ext uri="{FF2B5EF4-FFF2-40B4-BE49-F238E27FC236}">
                <a16:creationId xmlns:a16="http://schemas.microsoft.com/office/drawing/2014/main" id="{89E64EB1-C712-4EF1-A6C9-143DCB185028}"/>
              </a:ext>
            </a:extLst>
          </p:cNvPr>
          <p:cNvSpPr>
            <a:spLocks xmlns:a="http://schemas.openxmlformats.org/drawingml/2006/main" noGrp="1"/>
          </p:cNvSpPr>
          <p:nvPr/>
        </p:nvSpPr>
        <p:spPr>
          <a:xfrm xmlns:a="http://schemas.openxmlformats.org/drawingml/2006/main">
            <a:off x="66103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2" name="Google Shape;712;p27">
            <a:extLst xmlns:a="http://schemas.openxmlformats.org/drawingml/2006/main">
              <a:ext uri="{FF2B5EF4-FFF2-40B4-BE49-F238E27FC236}">
                <a16:creationId xmlns:a16="http://schemas.microsoft.com/office/drawing/2014/main" id="{A32CA392-D9F8-4389-81D7-F0FB89371048}"/>
              </a:ext>
            </a:extLst>
          </p:cNvPr>
          <p:cNvSpPr>
            <a:spLocks xmlns:a="http://schemas.openxmlformats.org/drawingml/2006/main" noGrp="1"/>
          </p:cNvSpPr>
          <p:nvPr/>
        </p:nvSpPr>
        <p:spPr>
          <a:xfrm xmlns:a="http://schemas.openxmlformats.org/drawingml/2006/main">
            <a:off x="66103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06</a:t>
            </a:r>
            <a:endParaRPr/>
          </a:p>
        </p:txBody>
      </p:sp>
      <p:sp>
        <p:nvSpPr>
          <p:cNvPr id="713" name="Google Shape;713;p27">
            <a:extLst xmlns:a="http://schemas.openxmlformats.org/drawingml/2006/main">
              <a:ext uri="{FF2B5EF4-FFF2-40B4-BE49-F238E27FC236}">
                <a16:creationId xmlns:a16="http://schemas.microsoft.com/office/drawing/2014/main" id="{BF5E039B-C470-4D59-8FE9-F9D2FBFA9CCF}"/>
              </a:ext>
            </a:extLst>
          </p:cNvPr>
          <p:cNvSpPr>
            <a:spLocks xmlns:a="http://schemas.openxmlformats.org/drawingml/2006/main" noGrp="1"/>
          </p:cNvSpPr>
          <p:nvPr/>
        </p:nvSpPr>
        <p:spPr>
          <a:xfrm xmlns:a="http://schemas.openxmlformats.org/drawingml/2006/main">
            <a:off x="72009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LIMITATIONS</a:t>
            </a:r>
            <a:endParaRPr/>
          </a:p>
        </p:txBody>
      </p:sp>
      <p:sp>
        <p:nvSpPr>
          <p:cNvPr id="714" name="Google Shape;714;p27">
            <a:extLst xmlns:a="http://schemas.openxmlformats.org/drawingml/2006/main">
              <a:ext uri="{FF2B5EF4-FFF2-40B4-BE49-F238E27FC236}">
                <a16:creationId xmlns:a16="http://schemas.microsoft.com/office/drawing/2014/main" id="{7DAAFBAA-C122-44DB-8819-6A5A8C59ED62}"/>
              </a:ext>
            </a:extLst>
          </p:cNvPr>
          <p:cNvSpPr>
            <a:spLocks xmlns:a="http://schemas.openxmlformats.org/drawingml/2006/main" noGrp="1"/>
          </p:cNvSpPr>
          <p:nvPr/>
        </p:nvSpPr>
        <p:spPr>
          <a:xfrm xmlns:a="http://schemas.openxmlformats.org/drawingml/2006/main">
            <a:off x="72009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Which assumptions could change the interpretation?</a:t>
            </a:r>
            <a:endParaRPr/>
          </a:p>
        </p:txBody>
      </p:sp>
      <p:sp>
        <p:nvSpPr>
          <p:cNvPr id="715" name="Google Shape;715;p27">
            <a:extLst xmlns:a="http://schemas.openxmlformats.org/drawingml/2006/main">
              <a:ext uri="{FF2B5EF4-FFF2-40B4-BE49-F238E27FC236}">
                <a16:creationId xmlns:a16="http://schemas.microsoft.com/office/drawing/2014/main" id="{4C1EBF05-8CA7-4D15-A1F1-2D2C83182378}"/>
              </a:ext>
            </a:extLst>
          </p:cNvPr>
          <p:cNvSpPr>
            <a:spLocks xmlns:a="http://schemas.openxmlformats.org/drawingml/2006/main" noGrp="1"/>
          </p:cNvSpPr>
          <p:nvPr/>
        </p:nvSpPr>
        <p:spPr>
          <a:xfrm xmlns:a="http://schemas.openxmlformats.org/drawingml/2006/main">
            <a:off x="742950" y="5295900"/>
            <a:ext cx="10629900" cy="4381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6" name="Google Shape;716;p27">
            <a:extLst xmlns:a="http://schemas.openxmlformats.org/drawingml/2006/main">
              <a:ext uri="{FF2B5EF4-FFF2-40B4-BE49-F238E27FC236}">
                <a16:creationId xmlns:a16="http://schemas.microsoft.com/office/drawing/2014/main" id="{0ECFAE08-0F13-4E8E-82D9-37B1179BC9F4}"/>
              </a:ext>
            </a:extLst>
          </p:cNvPr>
          <p:cNvSpPr>
            <a:spLocks xmlns:a="http://schemas.openxmlformats.org/drawingml/2006/main" noGrp="1"/>
          </p:cNvSpPr>
          <p:nvPr/>
        </p:nvSpPr>
        <p:spPr>
          <a:xfrm xmlns:a="http://schemas.openxmlformats.org/drawingml/2006/main">
            <a:off x="990600" y="5400675"/>
            <a:ext cx="10134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informs judgement alongside sector expertise, local knowledge and risk preferences</a:t>
            </a:r>
            <a:endParaRPr/>
          </a:p>
        </p:txBody>
      </p:sp>
    </p:spTree>
    <p:extLst>
      <p:ext uri="{BB962C8B-B14F-4D97-AF65-F5344CB8AC3E}">
        <p14:creationId xmlns:p14="http://schemas.microsoft.com/office/powerpoint/2010/main" val="1348759911"/>
      </p:ext>
    </p:extLst>
  </p:cSld>
</p:sld>
</file>

<file path=ppt/slides/slide2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2" name="Google Shape;722;p28">
            <a:extLst xmlns:a="http://schemas.openxmlformats.org/drawingml/2006/main">
              <a:ext uri="{FF2B5EF4-FFF2-40B4-BE49-F238E27FC236}">
                <a16:creationId xmlns:a16="http://schemas.microsoft.com/office/drawing/2014/main" id="{7EDCB842-C8B2-46C9-9FA6-F5849DEBE4D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Key messages</a:t>
            </a:r>
            <a:endParaRPr/>
          </a:p>
        </p:txBody>
      </p:sp>
      <p:sp>
        <p:nvSpPr>
          <p:cNvPr id="723" name="Google Shape;723;p28">
            <a:extLst xmlns:a="http://schemas.openxmlformats.org/drawingml/2006/main">
              <a:ext uri="{FF2B5EF4-FFF2-40B4-BE49-F238E27FC236}">
                <a16:creationId xmlns:a16="http://schemas.microsoft.com/office/drawing/2014/main" id="{0C728BC6-0232-4AAF-AEC6-EB33F8D44DFF}"/>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ideas to carry into the practical CAVA sessions</a:t>
            </a:r>
            <a:endParaRPr/>
          </a:p>
        </p:txBody>
      </p:sp>
      <p:sp>
        <p:nvSpPr>
          <p:cNvPr id="724" name="Google Shape;724;p28">
            <a:extLst xmlns:a="http://schemas.openxmlformats.org/drawingml/2006/main">
              <a:ext uri="{FF2B5EF4-FFF2-40B4-BE49-F238E27FC236}">
                <a16:creationId xmlns:a16="http://schemas.microsoft.com/office/drawing/2014/main" id="{A226483F-B755-4B87-A2EC-59BB6D61C92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5" name="Google Shape;725;p28">
            <a:extLst xmlns:a="http://schemas.openxmlformats.org/drawingml/2006/main">
              <a:ext uri="{FF2B5EF4-FFF2-40B4-BE49-F238E27FC236}">
                <a16:creationId xmlns:a16="http://schemas.microsoft.com/office/drawing/2014/main" id="{7B3E5563-77B1-4493-B5C6-CCE81012EBE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6" name="Google Shape;726;p28">
            <a:extLst xmlns:a="http://schemas.openxmlformats.org/drawingml/2006/main">
              <a:ext uri="{FF2B5EF4-FFF2-40B4-BE49-F238E27FC236}">
                <a16:creationId xmlns:a16="http://schemas.microsoft.com/office/drawing/2014/main" id="{D754BA8D-6D24-43F6-B13E-D793FBBAC88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7" name="Google Shape;727;p28">
            <a:extLst xmlns:a="http://schemas.openxmlformats.org/drawingml/2006/main">
              <a:ext uri="{FF2B5EF4-FFF2-40B4-BE49-F238E27FC236}">
                <a16:creationId xmlns:a16="http://schemas.microsoft.com/office/drawing/2014/main" id="{D6AC3A82-AB04-4F3A-BCBC-A249BD8ABC5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28" name="Google Shape;728;p28">
            <a:extLst xmlns:a="http://schemas.openxmlformats.org/drawingml/2006/main">
              <a:ext uri="{FF2B5EF4-FFF2-40B4-BE49-F238E27FC236}">
                <a16:creationId xmlns:a16="http://schemas.microsoft.com/office/drawing/2014/main" id="{F0923A9D-690B-4F66-9545-197919588B5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28</a:t>
            </a:r>
            <a:endParaRPr/>
          </a:p>
        </p:txBody>
      </p:sp>
      <p:sp>
        <p:nvSpPr>
          <p:cNvPr id="729" name="Google Shape;729;p28">
            <a:extLst xmlns:a="http://schemas.openxmlformats.org/drawingml/2006/main">
              <a:ext uri="{FF2B5EF4-FFF2-40B4-BE49-F238E27FC236}">
                <a16:creationId xmlns:a16="http://schemas.microsoft.com/office/drawing/2014/main" id="{4E022920-369C-4D16-ACEC-0C4FB1397F27}"/>
              </a:ext>
            </a:extLst>
          </p:cNvPr>
          <p:cNvSpPr>
            <a:spLocks xmlns:a="http://schemas.openxmlformats.org/drawingml/2006/main" noGrp="1"/>
          </p:cNvSpPr>
          <p:nvPr/>
        </p:nvSpPr>
        <p:spPr>
          <a:xfrm xmlns:a="http://schemas.openxmlformats.org/drawingml/2006/main">
            <a:off x="809625" y="18859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01</a:t>
            </a:r>
            <a:endParaRPr/>
          </a:p>
        </p:txBody>
      </p:sp>
      <p:sp>
        <p:nvSpPr>
          <p:cNvPr id="730" name="Google Shape;730;p28">
            <a:extLst xmlns:a="http://schemas.openxmlformats.org/drawingml/2006/main">
              <a:ext uri="{FF2B5EF4-FFF2-40B4-BE49-F238E27FC236}">
                <a16:creationId xmlns:a16="http://schemas.microsoft.com/office/drawing/2014/main" id="{5D946753-45FA-40CA-AA04-C27F94713C16}"/>
              </a:ext>
            </a:extLst>
          </p:cNvPr>
          <p:cNvSpPr>
            <a:spLocks xmlns:a="http://schemas.openxmlformats.org/drawingml/2006/main" noGrp="1"/>
          </p:cNvSpPr>
          <p:nvPr/>
        </p:nvSpPr>
        <p:spPr>
          <a:xfrm xmlns:a="http://schemas.openxmlformats.org/drawingml/2006/main">
            <a:off x="1524000" y="17526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Start with the decision question</a:t>
            </a:r>
            <a:endParaRPr/>
          </a:p>
        </p:txBody>
      </p:sp>
      <p:sp>
        <p:nvSpPr>
          <p:cNvPr id="731" name="Google Shape;731;p28">
            <a:extLst xmlns:a="http://schemas.openxmlformats.org/drawingml/2006/main">
              <a:ext uri="{FF2B5EF4-FFF2-40B4-BE49-F238E27FC236}">
                <a16:creationId xmlns:a16="http://schemas.microsoft.com/office/drawing/2014/main" id="{012BFD3C-4097-46B5-9919-A69AEE87FD3A}"/>
              </a:ext>
            </a:extLst>
          </p:cNvPr>
          <p:cNvSpPr>
            <a:spLocks xmlns:a="http://schemas.openxmlformats.org/drawingml/2006/main" noGrp="1"/>
          </p:cNvSpPr>
          <p:nvPr/>
        </p:nvSpPr>
        <p:spPr>
          <a:xfrm xmlns:a="http://schemas.openxmlformats.org/drawingml/2006/main">
            <a:off x="5629275" y="17526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Geography, variable, period and indicator should follow from the intended use.</a:t>
            </a:r>
            <a:endParaRPr/>
          </a:p>
        </p:txBody>
      </p:sp>
      <p:sp>
        <p:nvSpPr>
          <p:cNvPr id="732" name="Google Shape;732;p28">
            <a:extLst xmlns:a="http://schemas.openxmlformats.org/drawingml/2006/main">
              <a:ext uri="{FF2B5EF4-FFF2-40B4-BE49-F238E27FC236}">
                <a16:creationId xmlns:a16="http://schemas.microsoft.com/office/drawing/2014/main" id="{042C8F31-0DFF-40DA-85DB-E4D94A78DD5B}"/>
              </a:ext>
            </a:extLst>
          </p:cNvPr>
          <p:cNvSpPr>
            <a:spLocks xmlns:a="http://schemas.openxmlformats.org/drawingml/2006/main" noGrp="1"/>
          </p:cNvSpPr>
          <p:nvPr/>
        </p:nvSpPr>
        <p:spPr>
          <a:xfrm xmlns:a="http://schemas.openxmlformats.org/drawingml/2006/main">
            <a:off x="1524000" y="24765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3" name="Google Shape;733;p28">
            <a:extLst xmlns:a="http://schemas.openxmlformats.org/drawingml/2006/main">
              <a:ext uri="{FF2B5EF4-FFF2-40B4-BE49-F238E27FC236}">
                <a16:creationId xmlns:a16="http://schemas.microsoft.com/office/drawing/2014/main" id="{274847F9-A0BC-44E8-A522-D435693A2852}"/>
              </a:ext>
            </a:extLst>
          </p:cNvPr>
          <p:cNvSpPr>
            <a:spLocks xmlns:a="http://schemas.openxmlformats.org/drawingml/2006/main" noGrp="1"/>
          </p:cNvSpPr>
          <p:nvPr/>
        </p:nvSpPr>
        <p:spPr>
          <a:xfrm xmlns:a="http://schemas.openxmlformats.org/drawingml/2006/main">
            <a:off x="809625" y="28575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575"/>
              <a:buFont typeface="Lato"/>
              <a:buNone/>
            </a:pPr>
            <a:r>
              <a:rPr sz="1575" b="1" i="0">
                <a:solidFill>
                  <a:srgbClr val="F2B632"/>
                </a:solidFill>
                <a:latin typeface="Lato"/>
                <a:ea typeface="Lato"/>
                <a:cs typeface="Lato"/>
              </a:rPr>
              <a:t>02</a:t>
            </a:r>
            <a:endParaRPr/>
          </a:p>
        </p:txBody>
      </p:sp>
      <p:sp>
        <p:nvSpPr>
          <p:cNvPr id="734" name="Google Shape;734;p28">
            <a:extLst xmlns:a="http://schemas.openxmlformats.org/drawingml/2006/main">
              <a:ext uri="{FF2B5EF4-FFF2-40B4-BE49-F238E27FC236}">
                <a16:creationId xmlns:a16="http://schemas.microsoft.com/office/drawing/2014/main" id="{109AAFB8-DE6B-40BB-B9C7-20F9D01327F5}"/>
              </a:ext>
            </a:extLst>
          </p:cNvPr>
          <p:cNvSpPr>
            <a:spLocks xmlns:a="http://schemas.openxmlformats.org/drawingml/2006/main" noGrp="1"/>
          </p:cNvSpPr>
          <p:nvPr/>
        </p:nvSpPr>
        <p:spPr>
          <a:xfrm xmlns:a="http://schemas.openxmlformats.org/drawingml/2006/main">
            <a:off x="1524000" y="27241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Treat projections as conditional</a:t>
            </a:r>
            <a:endParaRPr/>
          </a:p>
        </p:txBody>
      </p:sp>
      <p:sp>
        <p:nvSpPr>
          <p:cNvPr id="735" name="Google Shape;735;p28">
            <a:extLst xmlns:a="http://schemas.openxmlformats.org/drawingml/2006/main">
              <a:ext uri="{FF2B5EF4-FFF2-40B4-BE49-F238E27FC236}">
                <a16:creationId xmlns:a16="http://schemas.microsoft.com/office/drawing/2014/main" id="{5426948F-9EA9-459B-B3FF-CA98CE3FCEA7}"/>
              </a:ext>
            </a:extLst>
          </p:cNvPr>
          <p:cNvSpPr>
            <a:spLocks xmlns:a="http://schemas.openxmlformats.org/drawingml/2006/main" noGrp="1"/>
          </p:cNvSpPr>
          <p:nvPr/>
        </p:nvSpPr>
        <p:spPr>
          <a:xfrm xmlns:a="http://schemas.openxmlformats.org/drawingml/2006/main">
            <a:off x="5629275" y="27241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They describe plausible climates under defined model and scenario assumptions.</a:t>
            </a:r>
            <a:endParaRPr/>
          </a:p>
        </p:txBody>
      </p:sp>
      <p:sp>
        <p:nvSpPr>
          <p:cNvPr id="736" name="Google Shape;736;p28">
            <a:extLst xmlns:a="http://schemas.openxmlformats.org/drawingml/2006/main">
              <a:ext uri="{FF2B5EF4-FFF2-40B4-BE49-F238E27FC236}">
                <a16:creationId xmlns:a16="http://schemas.microsoft.com/office/drawing/2014/main" id="{D956764D-5F54-41D0-84E2-9769743BD84E}"/>
              </a:ext>
            </a:extLst>
          </p:cNvPr>
          <p:cNvSpPr>
            <a:spLocks xmlns:a="http://schemas.openxmlformats.org/drawingml/2006/main" noGrp="1"/>
          </p:cNvSpPr>
          <p:nvPr/>
        </p:nvSpPr>
        <p:spPr>
          <a:xfrm xmlns:a="http://schemas.openxmlformats.org/drawingml/2006/main">
            <a:off x="1524000" y="344805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7" name="Google Shape;737;p28">
            <a:extLst xmlns:a="http://schemas.openxmlformats.org/drawingml/2006/main">
              <a:ext uri="{FF2B5EF4-FFF2-40B4-BE49-F238E27FC236}">
                <a16:creationId xmlns:a16="http://schemas.microsoft.com/office/drawing/2014/main" id="{C0F10029-7A7A-4680-A6DC-2E37131B65BE}"/>
              </a:ext>
            </a:extLst>
          </p:cNvPr>
          <p:cNvSpPr>
            <a:spLocks xmlns:a="http://schemas.openxmlformats.org/drawingml/2006/main" noGrp="1"/>
          </p:cNvSpPr>
          <p:nvPr/>
        </p:nvSpPr>
        <p:spPr>
          <a:xfrm xmlns:a="http://schemas.openxmlformats.org/drawingml/2006/main">
            <a:off x="809625" y="38290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03</a:t>
            </a:r>
            <a:endParaRPr/>
          </a:p>
        </p:txBody>
      </p:sp>
      <p:sp>
        <p:nvSpPr>
          <p:cNvPr id="738" name="Google Shape;738;p28">
            <a:extLst xmlns:a="http://schemas.openxmlformats.org/drawingml/2006/main">
              <a:ext uri="{FF2B5EF4-FFF2-40B4-BE49-F238E27FC236}">
                <a16:creationId xmlns:a16="http://schemas.microsoft.com/office/drawing/2014/main" id="{2CFECD88-26CA-4820-B4B4-E04E9ABCDF99}"/>
              </a:ext>
            </a:extLst>
          </p:cNvPr>
          <p:cNvSpPr>
            <a:spLocks xmlns:a="http://schemas.openxmlformats.org/drawingml/2006/main" noGrp="1"/>
          </p:cNvSpPr>
          <p:nvPr/>
        </p:nvSpPr>
        <p:spPr>
          <a:xfrm xmlns:a="http://schemas.openxmlformats.org/drawingml/2006/main">
            <a:off x="1524000" y="36957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6"/>
              <a:buFont typeface="Lato"/>
              <a:buNone/>
            </a:pPr>
            <a:r>
              <a:rPr sz="1507" b="1" i="0">
                <a:solidFill>
                  <a:srgbClr val="12304E"/>
                </a:solidFill>
                <a:latin typeface="Lato"/>
                <a:ea typeface="Lato"/>
                <a:cs typeface="Lato"/>
              </a:rPr>
              <a:t>Access and preparation require a workflow</a:t>
            </a:r>
            <a:endParaRPr/>
          </a:p>
        </p:txBody>
      </p:sp>
      <p:sp>
        <p:nvSpPr>
          <p:cNvPr id="739" name="Google Shape;739;p28">
            <a:extLst xmlns:a="http://schemas.openxmlformats.org/drawingml/2006/main">
              <a:ext uri="{FF2B5EF4-FFF2-40B4-BE49-F238E27FC236}">
                <a16:creationId xmlns:a16="http://schemas.microsoft.com/office/drawing/2014/main" id="{883223DD-20D6-4B30-9D53-37B794626429}"/>
              </a:ext>
            </a:extLst>
          </p:cNvPr>
          <p:cNvSpPr>
            <a:spLocks xmlns:a="http://schemas.openxmlformats.org/drawingml/2006/main" noGrp="1"/>
          </p:cNvSpPr>
          <p:nvPr/>
        </p:nvSpPr>
        <p:spPr>
          <a:xfrm xmlns:a="http://schemas.openxmlformats.org/drawingml/2006/main">
            <a:off x="5629275" y="36957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Users must select, retrieve, harmonize and document data before analysis.</a:t>
            </a:r>
            <a:endParaRPr/>
          </a:p>
        </p:txBody>
      </p:sp>
      <p:sp>
        <p:nvSpPr>
          <p:cNvPr id="740" name="Google Shape;740;p28">
            <a:extLst xmlns:a="http://schemas.openxmlformats.org/drawingml/2006/main">
              <a:ext uri="{FF2B5EF4-FFF2-40B4-BE49-F238E27FC236}">
                <a16:creationId xmlns:a16="http://schemas.microsoft.com/office/drawing/2014/main" id="{CDCDFD31-1EA4-4066-BEF1-A9E4D04FC5A8}"/>
              </a:ext>
            </a:extLst>
          </p:cNvPr>
          <p:cNvSpPr>
            <a:spLocks xmlns:a="http://schemas.openxmlformats.org/drawingml/2006/main" noGrp="1"/>
          </p:cNvSpPr>
          <p:nvPr/>
        </p:nvSpPr>
        <p:spPr>
          <a:xfrm xmlns:a="http://schemas.openxmlformats.org/drawingml/2006/main">
            <a:off x="1524000" y="44196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41" name="Google Shape;741;p28">
            <a:extLst xmlns:a="http://schemas.openxmlformats.org/drawingml/2006/main">
              <a:ext uri="{FF2B5EF4-FFF2-40B4-BE49-F238E27FC236}">
                <a16:creationId xmlns:a16="http://schemas.microsoft.com/office/drawing/2014/main" id="{2B379CDC-BBA8-44BC-A110-E9BD32514F3D}"/>
              </a:ext>
            </a:extLst>
          </p:cNvPr>
          <p:cNvSpPr>
            <a:spLocks xmlns:a="http://schemas.openxmlformats.org/drawingml/2006/main" noGrp="1"/>
          </p:cNvSpPr>
          <p:nvPr/>
        </p:nvSpPr>
        <p:spPr>
          <a:xfrm xmlns:a="http://schemas.openxmlformats.org/drawingml/2006/main">
            <a:off x="809625" y="48006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04</a:t>
            </a:r>
            <a:endParaRPr/>
          </a:p>
        </p:txBody>
      </p:sp>
      <p:sp>
        <p:nvSpPr>
          <p:cNvPr id="742" name="Google Shape;742;p28">
            <a:extLst xmlns:a="http://schemas.openxmlformats.org/drawingml/2006/main">
              <a:ext uri="{FF2B5EF4-FFF2-40B4-BE49-F238E27FC236}">
                <a16:creationId xmlns:a16="http://schemas.microsoft.com/office/drawing/2014/main" id="{3CB2C4EF-B183-4057-89AC-78B16CF80F18}"/>
              </a:ext>
            </a:extLst>
          </p:cNvPr>
          <p:cNvSpPr>
            <a:spLocks xmlns:a="http://schemas.openxmlformats.org/drawingml/2006/main" noGrp="1"/>
          </p:cNvSpPr>
          <p:nvPr/>
        </p:nvSpPr>
        <p:spPr>
          <a:xfrm xmlns:a="http://schemas.openxmlformats.org/drawingml/2006/main">
            <a:off x="1524000" y="46672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CAVA connects the workflow</a:t>
            </a:r>
            <a:endParaRPr/>
          </a:p>
        </p:txBody>
      </p:sp>
      <p:sp>
        <p:nvSpPr>
          <p:cNvPr id="743" name="Google Shape;743;p28">
            <a:extLst xmlns:a="http://schemas.openxmlformats.org/drawingml/2006/main">
              <a:ext uri="{FF2B5EF4-FFF2-40B4-BE49-F238E27FC236}">
                <a16:creationId xmlns:a16="http://schemas.microsoft.com/office/drawing/2014/main" id="{5C99068E-37AD-4C6C-9E63-2907012CBA11}"/>
              </a:ext>
            </a:extLst>
          </p:cNvPr>
          <p:cNvSpPr>
            <a:spLocks xmlns:a="http://schemas.openxmlformats.org/drawingml/2006/main" noGrp="1"/>
          </p:cNvSpPr>
          <p:nvPr/>
        </p:nvSpPr>
        <p:spPr>
          <a:xfrm xmlns:a="http://schemas.openxmlformats.org/drawingml/2006/main">
            <a:off x="5629275" y="46672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 Platform, CAVAanalytics and cavapy provide different routes through shared data and processing.</a:t>
            </a:r>
            <a:endParaRPr/>
          </a:p>
        </p:txBody>
      </p:sp>
    </p:spTree>
    <p:extLst>
      <p:ext uri="{BB962C8B-B14F-4D97-AF65-F5344CB8AC3E}">
        <p14:creationId xmlns:p14="http://schemas.microsoft.com/office/powerpoint/2010/main" val="1069079956"/>
      </p:ext>
    </p:extLst>
  </p:cSld>
</p:sld>
</file>

<file path=ppt/slides/slide29.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749" name="Google Shape;749;p29">
            <a:extLst xmlns:a="http://schemas.openxmlformats.org/drawingml/2006/main">
              <a:ext uri="{FF2B5EF4-FFF2-40B4-BE49-F238E27FC236}">
                <a16:creationId xmlns:a16="http://schemas.microsoft.com/office/drawing/2014/main" id="{69BE8CB0-A9D9-4C1F-86D7-2572261E4C6D}"/>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0" name="Google Shape;750;p29">
            <a:extLst xmlns:a="http://schemas.openxmlformats.org/drawingml/2006/main">
              <a:ext uri="{FF2B5EF4-FFF2-40B4-BE49-F238E27FC236}">
                <a16:creationId xmlns:a16="http://schemas.microsoft.com/office/drawing/2014/main" id="{A0D95D9A-EB46-42BE-B81C-FE33C79A32A0}"/>
              </a:ext>
            </a:extLst>
          </p:cNvPr>
          <p:cNvSpPr>
            <a:spLocks xmlns:a="http://schemas.openxmlformats.org/drawingml/2006/main" noGrp="1"/>
          </p:cNvSpPr>
          <p:nvPr/>
        </p:nvSpPr>
        <p:spPr>
          <a:xfrm xmlns:a="http://schemas.openxmlformats.org/drawingml/2006/main">
            <a:off x="762000" y="895350"/>
            <a:ext cx="81915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3225"/>
              <a:buFont typeface="Lato"/>
              <a:buNone/>
            </a:pPr>
            <a:r>
              <a:rPr sz="3225" b="1" i="0">
                <a:solidFill>
                  <a:srgbClr val="FFFFFF"/>
                </a:solidFill>
                <a:latin typeface="Lato"/>
                <a:ea typeface="Lato"/>
                <a:cs typeface="Lato"/>
              </a:rPr>
              <a:t>Questions and discussion</a:t>
            </a:r>
            <a:endParaRPr/>
          </a:p>
        </p:txBody>
      </p:sp>
      <p:sp>
        <p:nvSpPr>
          <p:cNvPr id="751" name="Google Shape;751;p29">
            <a:extLst xmlns:a="http://schemas.openxmlformats.org/drawingml/2006/main">
              <a:ext uri="{FF2B5EF4-FFF2-40B4-BE49-F238E27FC236}">
                <a16:creationId xmlns:a16="http://schemas.microsoft.com/office/drawing/2014/main" id="{63BEC948-00D3-4D05-8AF4-033893556D42}"/>
              </a:ext>
            </a:extLst>
          </p:cNvPr>
          <p:cNvSpPr>
            <a:spLocks xmlns:a="http://schemas.openxmlformats.org/drawingml/2006/main" noGrp="1"/>
          </p:cNvSpPr>
          <p:nvPr/>
        </p:nvSpPr>
        <p:spPr>
          <a:xfrm xmlns:a="http://schemas.openxmlformats.org/drawingml/2006/main">
            <a:off x="781050" y="20193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9E7EE"/>
              </a:buClr>
              <a:buSzPts val="1875"/>
              <a:buFont typeface="Lato"/>
              <a:buNone/>
            </a:pPr>
            <a:r>
              <a:rPr sz="1875" b="0" i="0">
                <a:solidFill>
                  <a:srgbClr val="D9E7EE"/>
                </a:solidFill>
                <a:latin typeface="Lato"/>
                <a:ea typeface="Lato"/>
                <a:cs typeface="Lato"/>
              </a:rPr>
              <a:t>What remains unclear before we use the CAVA Platform?</a:t>
            </a:r>
            <a:endParaRPr/>
          </a:p>
        </p:txBody>
      </p:sp>
      <p:sp>
        <p:nvSpPr>
          <p:cNvPr id="752" name="Google Shape;752;p29">
            <a:extLst xmlns:a="http://schemas.openxmlformats.org/drawingml/2006/main">
              <a:ext uri="{FF2B5EF4-FFF2-40B4-BE49-F238E27FC236}">
                <a16:creationId xmlns:a16="http://schemas.microsoft.com/office/drawing/2014/main" id="{268C0628-60CA-4E75-BEAC-7F1927013B19}"/>
              </a:ext>
            </a:extLst>
          </p:cNvPr>
          <p:cNvSpPr>
            <a:spLocks xmlns:a="http://schemas.openxmlformats.org/drawingml/2006/main" noGrp="1"/>
          </p:cNvSpPr>
          <p:nvPr/>
        </p:nvSpPr>
        <p:spPr>
          <a:xfrm xmlns:a="http://schemas.openxmlformats.org/drawingml/2006/main">
            <a:off x="781050" y="33718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01</a:t>
            </a:r>
            <a:endParaRPr/>
          </a:p>
        </p:txBody>
      </p:sp>
      <p:sp>
        <p:nvSpPr>
          <p:cNvPr id="753" name="Google Shape;753;p29">
            <a:extLst xmlns:a="http://schemas.openxmlformats.org/drawingml/2006/main">
              <a:ext uri="{FF2B5EF4-FFF2-40B4-BE49-F238E27FC236}">
                <a16:creationId xmlns:a16="http://schemas.microsoft.com/office/drawing/2014/main" id="{21F47F73-233D-4788-9852-F6597BC7199D}"/>
              </a:ext>
            </a:extLst>
          </p:cNvPr>
          <p:cNvSpPr>
            <a:spLocks xmlns:a="http://schemas.openxmlformats.org/drawingml/2006/main" noGrp="1"/>
          </p:cNvSpPr>
          <p:nvPr/>
        </p:nvSpPr>
        <p:spPr>
          <a:xfrm xmlns:a="http://schemas.openxmlformats.org/drawingml/2006/main">
            <a:off x="1371600" y="33242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Climate evidence and model choices</a:t>
            </a:r>
            <a:endParaRPr/>
          </a:p>
        </p:txBody>
      </p:sp>
      <p:sp>
        <p:nvSpPr>
          <p:cNvPr id="754" name="Google Shape;754;p29">
            <a:extLst xmlns:a="http://schemas.openxmlformats.org/drawingml/2006/main">
              <a:ext uri="{FF2B5EF4-FFF2-40B4-BE49-F238E27FC236}">
                <a16:creationId xmlns:a16="http://schemas.microsoft.com/office/drawing/2014/main" id="{DF3AEE06-98E4-49C8-B8BD-DB63F831AC5A}"/>
              </a:ext>
            </a:extLst>
          </p:cNvPr>
          <p:cNvSpPr>
            <a:spLocks xmlns:a="http://schemas.openxmlformats.org/drawingml/2006/main" noGrp="1"/>
          </p:cNvSpPr>
          <p:nvPr/>
        </p:nvSpPr>
        <p:spPr>
          <a:xfrm xmlns:a="http://schemas.openxmlformats.org/drawingml/2006/main">
            <a:off x="781050" y="39814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02</a:t>
            </a:r>
            <a:endParaRPr/>
          </a:p>
        </p:txBody>
      </p:sp>
      <p:sp>
        <p:nvSpPr>
          <p:cNvPr id="755" name="Google Shape;755;p29">
            <a:extLst xmlns:a="http://schemas.openxmlformats.org/drawingml/2006/main">
              <a:ext uri="{FF2B5EF4-FFF2-40B4-BE49-F238E27FC236}">
                <a16:creationId xmlns:a16="http://schemas.microsoft.com/office/drawing/2014/main" id="{E7D0952F-F37E-474B-9C48-EE1DDAA0DF71}"/>
              </a:ext>
            </a:extLst>
          </p:cNvPr>
          <p:cNvSpPr>
            <a:spLocks xmlns:a="http://schemas.openxmlformats.org/drawingml/2006/main" noGrp="1"/>
          </p:cNvSpPr>
          <p:nvPr/>
        </p:nvSpPr>
        <p:spPr>
          <a:xfrm xmlns:a="http://schemas.openxmlformats.org/drawingml/2006/main">
            <a:off x="1371600" y="39338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Data access and preparation workflow</a:t>
            </a:r>
            <a:endParaRPr/>
          </a:p>
        </p:txBody>
      </p:sp>
      <p:sp>
        <p:nvSpPr>
          <p:cNvPr id="756" name="Google Shape;756;p29">
            <a:extLst xmlns:a="http://schemas.openxmlformats.org/drawingml/2006/main">
              <a:ext uri="{FF2B5EF4-FFF2-40B4-BE49-F238E27FC236}">
                <a16:creationId xmlns:a16="http://schemas.microsoft.com/office/drawing/2014/main" id="{DCE9AAF8-652B-48AC-8C00-F139F14D075C}"/>
              </a:ext>
            </a:extLst>
          </p:cNvPr>
          <p:cNvSpPr>
            <a:spLocks xmlns:a="http://schemas.openxmlformats.org/drawingml/2006/main" noGrp="1"/>
          </p:cNvSpPr>
          <p:nvPr/>
        </p:nvSpPr>
        <p:spPr>
          <a:xfrm xmlns:a="http://schemas.openxmlformats.org/drawingml/2006/main">
            <a:off x="781050" y="45910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03</a:t>
            </a:r>
            <a:endParaRPr/>
          </a:p>
        </p:txBody>
      </p:sp>
      <p:sp>
        <p:nvSpPr>
          <p:cNvPr id="757" name="Google Shape;757;p29">
            <a:extLst xmlns:a="http://schemas.openxmlformats.org/drawingml/2006/main">
              <a:ext uri="{FF2B5EF4-FFF2-40B4-BE49-F238E27FC236}">
                <a16:creationId xmlns:a16="http://schemas.microsoft.com/office/drawing/2014/main" id="{032ED633-BB9C-489F-BB89-D45AD19D445D}"/>
              </a:ext>
            </a:extLst>
          </p:cNvPr>
          <p:cNvSpPr>
            <a:spLocks xmlns:a="http://schemas.openxmlformats.org/drawingml/2006/main" noGrp="1"/>
          </p:cNvSpPr>
          <p:nvPr/>
        </p:nvSpPr>
        <p:spPr>
          <a:xfrm xmlns:a="http://schemas.openxmlformats.org/drawingml/2006/main">
            <a:off x="1371600" y="45434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CAVA tools and entry points</a:t>
            </a:r>
            <a:endParaRPr/>
          </a:p>
        </p:txBody>
      </p:sp>
      <p:sp>
        <p:nvSpPr>
          <p:cNvPr id="758" name="Google Shape;758;p29">
            <a:extLst xmlns:a="http://schemas.openxmlformats.org/drawingml/2006/main">
              <a:ext uri="{FF2B5EF4-FFF2-40B4-BE49-F238E27FC236}">
                <a16:creationId xmlns:a16="http://schemas.microsoft.com/office/drawing/2014/main" id="{D3B8330E-6E81-411D-9E93-927D2537EADB}"/>
              </a:ext>
            </a:extLst>
          </p:cNvPr>
          <p:cNvSpPr>
            <a:spLocks xmlns:a="http://schemas.openxmlformats.org/drawingml/2006/main" noGrp="1"/>
          </p:cNvSpPr>
          <p:nvPr/>
        </p:nvSpPr>
        <p:spPr>
          <a:xfrm xmlns:a="http://schemas.openxmlformats.org/drawingml/2006/main">
            <a:off x="781050" y="5715000"/>
            <a:ext cx="4953000" cy="9525"/>
          </a:xfrm>
          <a:prstGeom xmlns:a="http://schemas.openxmlformats.org/drawingml/2006/main" prst="rect">
            <a:avLst/>
          </a:prstGeom>
          <a:solidFill xmlns:a="http://schemas.openxmlformats.org/drawingml/2006/main">
            <a:srgbClr val="647C8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9" name="Google Shape;759;p29">
            <a:extLst xmlns:a="http://schemas.openxmlformats.org/drawingml/2006/main">
              <a:ext uri="{FF2B5EF4-FFF2-40B4-BE49-F238E27FC236}">
                <a16:creationId xmlns:a16="http://schemas.microsoft.com/office/drawing/2014/main" id="{530CC7BF-9915-4870-A2BC-8F022E2C02C6}"/>
              </a:ext>
            </a:extLst>
          </p:cNvPr>
          <p:cNvSpPr>
            <a:spLocks xmlns:a="http://schemas.openxmlformats.org/drawingml/2006/main" noGrp="1"/>
          </p:cNvSpPr>
          <p:nvPr/>
        </p:nvSpPr>
        <p:spPr>
          <a:xfrm xmlns:a="http://schemas.openxmlformats.org/drawingml/2006/main">
            <a:off x="781050" y="5905500"/>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Next: Module 2 · Using the CAVA Platform</a:t>
            </a:r>
            <a:endParaRPr/>
          </a:p>
        </p:txBody>
      </p:sp>
    </p:spTree>
    <p:extLst>
      <p:ext uri="{BB962C8B-B14F-4D97-AF65-F5344CB8AC3E}">
        <p14:creationId xmlns:p14="http://schemas.microsoft.com/office/powerpoint/2010/main" val="20190845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2026-09-23T07:46:19.7480000Z</dcterms:created>
  <dcterms:modified xsi:type="dcterms:W3CDTF">2026-09-23T07:46:19.7480000Z</dcterms:modified>
</coreProperties>
</file>