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8e678b99248fd" /><Relationship Type="http://schemas.openxmlformats.org/officeDocument/2006/relationships/extended-properties" Target="/docProps/app.xml" Id="Rf2de7532717844aa" /><Relationship Type="http://schemas.openxmlformats.org/officeDocument/2006/relationships/officeDocument" Target="/ppt/presentation.xml" Id="R562a6896aea7486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179597a64224eee"/>
  </p:sldMasterIdLst>
  <p:notesMasterIdLst>
    <p:notesMasterId xmlns:r="http://schemas.openxmlformats.org/officeDocument/2006/relationships" r:id="R52b01b12400c45ef"/>
  </p:notesMasterIdLst>
  <p:sldIdLst>
    <p:sldId xmlns:r="http://schemas.openxmlformats.org/officeDocument/2006/relationships" id="256" r:id="Rab7256c8b7d8450b"/>
    <p:sldId xmlns:r="http://schemas.openxmlformats.org/officeDocument/2006/relationships" id="257" r:id="R3fff125c6e6b45f3"/>
    <p:sldId xmlns:r="http://schemas.openxmlformats.org/officeDocument/2006/relationships" id="258" r:id="R3ac0ba41d78043ed"/>
    <p:sldId xmlns:r="http://schemas.openxmlformats.org/officeDocument/2006/relationships" id="259" r:id="Rcf388a493b9840cf"/>
    <p:sldId xmlns:r="http://schemas.openxmlformats.org/officeDocument/2006/relationships" id="260" r:id="Rde32caad8c584711"/>
    <p:sldId xmlns:r="http://schemas.openxmlformats.org/officeDocument/2006/relationships" id="261" r:id="R733c090f62a54936"/>
    <p:sldId xmlns:r="http://schemas.openxmlformats.org/officeDocument/2006/relationships" id="262" r:id="R95af093a0a724d3b"/>
    <p:sldId xmlns:r="http://schemas.openxmlformats.org/officeDocument/2006/relationships" id="263" r:id="R2aa208c8c72c4142"/>
    <p:sldId xmlns:r="http://schemas.openxmlformats.org/officeDocument/2006/relationships" id="264" r:id="R201105907c2d4fb2"/>
    <p:sldId xmlns:r="http://schemas.openxmlformats.org/officeDocument/2006/relationships" id="265" r:id="Ra9c534be42564039"/>
    <p:sldId xmlns:r="http://schemas.openxmlformats.org/officeDocument/2006/relationships" id="266" r:id="R3ffdb3b9c5354354"/>
  </p:sldIdLst>
  <p:sldSz cx="12192000" cy="6858000"/>
  <p:notesSz cx="6858000" cy="9144000"/>
  <p:embeddedFontLst>
    <p:embeddedFont>
      <p:font typeface="Lato"/>
      <p:regular xmlns:r="http://schemas.openxmlformats.org/officeDocument/2006/relationships" r:id="Rda8ac7e9f8fe4d95"/>
      <p:bold xmlns:r="http://schemas.openxmlformats.org/officeDocument/2006/relationships" r:id="R4704362198a249dc"/>
      <p:italic xmlns:r="http://schemas.openxmlformats.org/officeDocument/2006/relationships" r:id="Rcbbcc2bf075f4faf"/>
      <p:boldItalic xmlns:r="http://schemas.openxmlformats.org/officeDocument/2006/relationships" r:id="R3d6d632d8469420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39d48412349a0" /><Relationship Type="http://schemas.openxmlformats.org/officeDocument/2006/relationships/slideMaster" Target="/ppt/slideMasters/slideMaster1.xml" Id="R6179597a64224eee" /><Relationship Type="http://schemas.openxmlformats.org/officeDocument/2006/relationships/notesMaster" Target="/ppt/notesMasters/notesMaster1.xml" Id="R52b01b12400c45ef" /><Relationship Type="http://schemas.openxmlformats.org/officeDocument/2006/relationships/presProps" Target="/ppt/presProps.xml" Id="R1d35ef7c03b24faf" /><Relationship Type="http://schemas.openxmlformats.org/officeDocument/2006/relationships/tableStyles" Target="/ppt/tableStyles.xml" Id="R4b1cdb2a72e34d6f" /><Relationship Type="http://schemas.openxmlformats.org/officeDocument/2006/relationships/font" Target="/ppt/fonts/font.dat" Id="Rda8ac7e9f8fe4d95" /><Relationship Type="http://schemas.openxmlformats.org/officeDocument/2006/relationships/font" Target="/ppt/fonts/font2.dat" Id="R4704362198a249dc" /><Relationship Type="http://schemas.openxmlformats.org/officeDocument/2006/relationships/font" Target="/ppt/fonts/font3.dat" Id="Rcbbcc2bf075f4faf" /><Relationship Type="http://schemas.openxmlformats.org/officeDocument/2006/relationships/font" Target="/ppt/fonts/font4.dat" Id="R3d6d632d84694209" /><Relationship Type="http://schemas.openxmlformats.org/officeDocument/2006/relationships/slide" Target="/ppt/slides/slide1.xml" Id="Rab7256c8b7d8450b" /><Relationship Type="http://schemas.openxmlformats.org/officeDocument/2006/relationships/slide" Target="/ppt/slides/slide2.xml" Id="R3fff125c6e6b45f3" /><Relationship Type="http://schemas.openxmlformats.org/officeDocument/2006/relationships/slide" Target="/ppt/slides/slide3.xml" Id="R3ac0ba41d78043ed" /><Relationship Type="http://schemas.openxmlformats.org/officeDocument/2006/relationships/slide" Target="/ppt/slides/slide4.xml" Id="Rcf388a493b9840cf" /><Relationship Type="http://schemas.openxmlformats.org/officeDocument/2006/relationships/slide" Target="/ppt/slides/slide5.xml" Id="Rde32caad8c584711" /><Relationship Type="http://schemas.openxmlformats.org/officeDocument/2006/relationships/slide" Target="/ppt/slides/slide6.xml" Id="R733c090f62a54936" /><Relationship Type="http://schemas.openxmlformats.org/officeDocument/2006/relationships/slide" Target="/ppt/slides/slide7.xml" Id="R95af093a0a724d3b" /><Relationship Type="http://schemas.openxmlformats.org/officeDocument/2006/relationships/slide" Target="/ppt/slides/slide8.xml" Id="R2aa208c8c72c4142" /><Relationship Type="http://schemas.openxmlformats.org/officeDocument/2006/relationships/slide" Target="/ppt/slides/slide9.xml" Id="R201105907c2d4fb2" /><Relationship Type="http://schemas.openxmlformats.org/officeDocument/2006/relationships/slide" Target="/ppt/slides/slide10.xml" Id="Ra9c534be42564039" /><Relationship Type="http://schemas.openxmlformats.org/officeDocument/2006/relationships/slide" Target="/ppt/slides/slide11.xml" Id="R3ffdb3b9c53543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48438da99d4a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3d43594ae84161" /><Relationship Type="http://schemas.openxmlformats.org/officeDocument/2006/relationships/notesMaster" Target="/ppt/notesMasters/notesMaster1.xml" Id="R5ae0aeae7da045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f5a6cb3c9496d" /><Relationship Type="http://schemas.openxmlformats.org/officeDocument/2006/relationships/notesMaster" Target="/ppt/notesMasters/notesMaster1.xml" Id="Rb901c22201be47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e56570e1d34adc" /><Relationship Type="http://schemas.openxmlformats.org/officeDocument/2006/relationships/notesMaster" Target="/ppt/notesMasters/notesMaster1.xml" Id="Reae233ccde2547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5c9c5d3f054c7a" /><Relationship Type="http://schemas.openxmlformats.org/officeDocument/2006/relationships/notesMaster" Target="/ppt/notesMasters/notesMaster1.xml" Id="Rb5cd4266f3ac40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c9cb1f6bdf4ffb" /><Relationship Type="http://schemas.openxmlformats.org/officeDocument/2006/relationships/notesMaster" Target="/ppt/notesMasters/notesMaster1.xml" Id="R9734edee41df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f75c44b1c84952" /><Relationship Type="http://schemas.openxmlformats.org/officeDocument/2006/relationships/notesMaster" Target="/ppt/notesMasters/notesMaster1.xml" Id="R6fe86427c40141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7c1fec7cb04f66" /><Relationship Type="http://schemas.openxmlformats.org/officeDocument/2006/relationships/notesMaster" Target="/ppt/notesMasters/notesMaster1.xml" Id="R7951ccafa49b4b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c70d27716d49f4" /><Relationship Type="http://schemas.openxmlformats.org/officeDocument/2006/relationships/notesMaster" Target="/ppt/notesMasters/notesMaster1.xml" Id="Ra55a305fb94a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98692350c54b68" /><Relationship Type="http://schemas.openxmlformats.org/officeDocument/2006/relationships/notesMaster" Target="/ppt/notesMasters/notesMaster1.xml" Id="R014fb5f655d34f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19ea9a885f4c8c" /><Relationship Type="http://schemas.openxmlformats.org/officeDocument/2006/relationships/notesMaster" Target="/ppt/notesMasters/notesMaster1.xml" Id="R285d2378ef0e41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50302abc8f4224" /><Relationship Type="http://schemas.openxmlformats.org/officeDocument/2006/relationships/notesMaster" Target="/ppt/notesMasters/notesMaster1.xml" Id="R6f3413cc638542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Screenshot updated for the current CAVA Platform interface on 28 September 2026. Source: https://cavaplatform.fao.org/map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Current public CAVA Platform overview captured for the updated interface. Source: https://cavaplatform.fao.org/map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Current public CAVA Platform state: Climate, Heat &amp; Cold, Hot Tmax days above 35 degrees Celsius, historical observations. Source: https://cavaplatform.fao.org/map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Current public CAVA Platform state: Hot Tmax days above 35 degrees Celsius, future value under RCP 8.5 for 2070–2099. Source: https://cavaplatform.fao.org/map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Current public CAVA Platform state: change in Hot Tmax days above 35 degrees Celsius relative to the 1986–2005 baseline. Source: https://cavaplatform.fao.org/map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bdc4e89dc4ba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eaf229bacf4a6d" /><Relationship Type="http://schemas.openxmlformats.org/officeDocument/2006/relationships/slideLayout" Target="/ppt/slideLayouts/slideLayout1.xml" Id="R16e061d33360403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e061d33360403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f945f535d4c43" /><Relationship Type="http://schemas.openxmlformats.org/officeDocument/2006/relationships/image" Target="/ppt/media/image.jpeg" Id="R7d55c537b1fa40f3" /><Relationship Type="http://schemas.openxmlformats.org/officeDocument/2006/relationships/notesSlide" Target="/ppt/notesSlides/notesSlide1.xml" Id="R4f446c26fea1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ef01027f74eb7" /><Relationship Type="http://schemas.openxmlformats.org/officeDocument/2006/relationships/notesSlide" Target="/ppt/notesSlides/notesSlide2.xml" Id="R05365375489849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f7ba93a7a4c92" /><Relationship Type="http://schemas.openxmlformats.org/officeDocument/2006/relationships/notesSlide" Target="/ppt/notesSlides/notesSlide3.xml" Id="R4722d66ba61643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c1ac510744204" /><Relationship Type="http://schemas.openxmlformats.org/officeDocument/2006/relationships/image" Target="/ppt/media/image2.jpeg" Id="R3326267423444b5f" /><Relationship Type="http://schemas.openxmlformats.org/officeDocument/2006/relationships/notesSlide" Target="/ppt/notesSlides/notesSlide4.xml" Id="R88d1d261ffa742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071a5c189481d" /><Relationship Type="http://schemas.openxmlformats.org/officeDocument/2006/relationships/image" Target="/ppt/media/image.jpeg" Id="R92579e34428548bf" /><Relationship Type="http://schemas.openxmlformats.org/officeDocument/2006/relationships/notesSlide" Target="/ppt/notesSlides/notesSlide5.xml" Id="Rff30bb3ea40e4e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b8cd29cfc4ccf" /><Relationship Type="http://schemas.openxmlformats.org/officeDocument/2006/relationships/image" Target="/ppt/media/image3.jpeg" Id="R45ad682ad0054098" /><Relationship Type="http://schemas.openxmlformats.org/officeDocument/2006/relationships/notesSlide" Target="/ppt/notesSlides/notesSlide6.xml" Id="R7c4aa8ae7b024e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b36f7725646ce" /><Relationship Type="http://schemas.openxmlformats.org/officeDocument/2006/relationships/image" Target="/ppt/media/image4.jpeg" Id="Rde8bc95ace774676" /><Relationship Type="http://schemas.openxmlformats.org/officeDocument/2006/relationships/notesSlide" Target="/ppt/notesSlides/notesSlide7.xml" Id="R5f8b3b6a767a44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c5b5569d64df2" /><Relationship Type="http://schemas.openxmlformats.org/officeDocument/2006/relationships/notesSlide" Target="/ppt/notesSlides/notesSlide8.xml" Id="Rf9d079a4db4943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733ed1c444bb8" /><Relationship Type="http://schemas.openxmlformats.org/officeDocument/2006/relationships/notesSlide" Target="/ppt/notesSlides/notesSlide9.xml" Id="Rebccd62acb7d42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2e942eced42c8" /><Relationship Type="http://schemas.openxmlformats.org/officeDocument/2006/relationships/notesSlide" Target="/ppt/notesSlides/notesSlide10.xml" Id="Ref46563c4de04d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ede1d9b19400b" /><Relationship Type="http://schemas.openxmlformats.org/officeDocument/2006/relationships/notesSlide" Target="/ppt/notesSlides/notesSlide11.xml" Id="R805cdd93ad1d40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Google Shape;16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55c537b1fa40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8A752D64-A881-4DCB-A3ED-CB181421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04E">
                  <a:alpha val="98824"/>
                </a:srgbClr>
              </a:gs>
              <a:gs pos="34000">
                <a:srgbClr val="12304E">
                  <a:alpha val="96078"/>
                </a:srgbClr>
              </a:gs>
              <a:gs pos="55000">
                <a:srgbClr val="12304E">
                  <a:alpha val="74118"/>
                </a:srgbClr>
              </a:gs>
              <a:gs pos="82000">
                <a:srgbClr val="12304E">
                  <a:alpha val="18039"/>
                </a:srgbClr>
              </a:gs>
              <a:gs pos="100000">
                <a:srgbClr val="12304E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B5D76C6C-2506-45B8-B11E-F796E6A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BC708AA1-1392-4C38-8693-5A39FC9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4662752B-F34D-41B9-BD95-9945EBB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38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1050"/>
              <a:buFont typeface="Lato"/>
              <a:buNone/>
            </a:pPr>
            <a:r>
              <a:rPr sz="1050" b="1">
                <a:solidFill>
                  <a:srgbClr val="78D8C8"/>
                </a:solidFill>
                <a:latin typeface="Lato"/>
                <a:ea typeface="Lato"/>
                <a:cs typeface="Lato"/>
              </a:rPr>
              <a:t>CAVA TRAINING SERIES</a:t>
            </a:r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02AD7D33-D377-4AFE-BA0C-6C4A565C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5429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5"/>
              <a:buFont typeface="Lato"/>
              <a:buNone/>
            </a:pPr>
            <a:r>
              <a:rPr sz="3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Using the</a:t>
            </a:r>
            <a:endParaRPr/>
          </a:p>
          <a:p xmlns:a="http://schemas.openxmlformats.org/drawingml/2006/main">
            <a:pPr marL="0" marR="0" lv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5"/>
              <a:buFont typeface="Lato"/>
              <a:buNone/>
            </a:pPr>
            <a:r>
              <a:rPr sz="3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CAVA Platform</a:t>
            </a:r>
            <a:endParaRPr/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EE62EBFF-E8C3-4514-9730-79BB1BC2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57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350"/>
              <a:buFont typeface="Lato"/>
              <a:buNone/>
            </a:pPr>
            <a:r>
              <a:rPr sz="1350" b="1">
                <a:solidFill>
                  <a:srgbClr val="F2B632"/>
                </a:solidFill>
                <a:latin typeface="Lato"/>
                <a:ea typeface="Lato"/>
                <a:cs typeface="Lato"/>
              </a:rPr>
              <a:t>MODULE 2</a:t>
            </a:r>
            <a:endParaRPr/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B474D4D-5E8A-4169-B6C7-04FAFE20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sz="12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29 September 2026</a:t>
            </a:r>
            <a:endParaRPr/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1A4DDD00-D6A3-42DB-9E3D-89253E5D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050"/>
              <a:buFont typeface="Lato"/>
              <a:buNone/>
            </a:pPr>
            <a:r>
              <a:rPr sz="1050" b="0">
                <a:solidFill>
                  <a:srgbClr val="D7E5EC"/>
                </a:solidFill>
                <a:latin typeface="Lato"/>
                <a:ea typeface="Lato"/>
                <a:cs typeface="Lato"/>
              </a:rPr>
              <a:t>10:00–11:30  ·  Online</a:t>
            </a:r>
            <a:endParaRPr/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D7DEBB09-F61A-4073-8246-5AAB75E5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1027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CD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16B9095B-339A-4329-A398-284DD296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162675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900"/>
              <a:buFont typeface="Lato"/>
              <a:buNone/>
            </a:pPr>
            <a:r>
              <a:rPr sz="900" b="0">
                <a:solidFill>
                  <a:srgbClr val="D7E5EC"/>
                </a:solidFill>
                <a:latin typeface="Lato"/>
                <a:ea typeface="Lato"/>
                <a:cs typeface="Lato"/>
              </a:rPr>
              <a:t>From a project question to a usable climate signal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0359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DAE1D8E3-0CB2-4F77-98F1-45A0FEBB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Today’s route</a:t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57BA7A66-2A4C-44A6-821D-DA096974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A guided demonstration, with time to interpret and try the controls</a:t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CF7BF759-7081-47BD-AE89-1ACDDD1A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FE5049E2-AB2F-4D5C-B55C-766DA991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78B91109-F2C6-4A86-B167-255B9777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9BF7A186-B413-471A-8441-9271732E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8FBA1C02-972C-4039-8BFB-1145E4C3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02</a:t>
            </a:r>
            <a:endParaRPr/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E5CE113E-9F90-4771-A329-DFFB6755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0A3BB52C-E597-473D-8F21-FE624A6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sz="195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05</a:t>
            </a:r>
            <a:endParaRPr/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B7FC3757-DA0F-42A1-9109-9688333D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002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min</a:t>
            </a:r>
            <a:endParaRPr/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65E12ABF-9043-4993-9692-9CD46073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859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sz="15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Start with a project question</a:t>
            </a:r>
            <a:endParaRPr/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741AF343-A850-4CB9-8673-3BE41E2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335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Choose the information we need</a:t>
            </a:r>
            <a:endParaRPr/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3A739D68-3A75-4A8C-A25F-013875DE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EEFC2DFE-6683-473A-B8BA-C17D4D99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sz="195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45</a:t>
            </a:r>
            <a:endParaRPr/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AE1599CB-5B88-4281-918B-BD90A77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860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min</a:t>
            </a:r>
            <a:endParaRPr/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0A0825B7-283B-4EDC-BCA4-31DAB557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sz="15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Explore the Platform</a:t>
            </a:r>
            <a:endParaRPr/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9058DD28-F1B0-4A96-8328-D3873F6F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193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Select an indicator, then compare periods and scenarios</a:t>
            </a:r>
            <a:endParaRPr/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9095669E-FAE2-490C-B9E8-7F51487D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>
            <a:extLst xmlns:a="http://schemas.openxmlformats.org/drawingml/2006/main">
              <a:ext uri="{FF2B5EF4-FFF2-40B4-BE49-F238E27FC236}">
                <a16:creationId xmlns:a16="http://schemas.microsoft.com/office/drawing/2014/main" id="{397E2C28-2B72-4BE2-9B10-8973CCA6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sz="195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15</a:t>
            </a:r>
            <a:endParaRPr/>
          </a:p>
        </p:txBody>
      </p:sp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BA52D1FD-7715-48C5-9FDA-B3781BBD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718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min</a:t>
            </a:r>
            <a:endParaRPr/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54422352-0B00-41A3-AC44-690A1095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575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sz="15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Read the climate signal</a:t>
            </a:r>
            <a:endParaRPr/>
          </a:p>
        </p:txBody>
      </p:sp>
      <p:sp>
        <p:nvSpPr>
          <p:cNvPr id="53" name="Google Shape;53;p4">
            <a:extLst xmlns:a="http://schemas.openxmlformats.org/drawingml/2006/main">
              <a:ext uri="{FF2B5EF4-FFF2-40B4-BE49-F238E27FC236}">
                <a16:creationId xmlns:a16="http://schemas.microsoft.com/office/drawing/2014/main" id="{F4977BA3-EBC4-4D57-B11F-55DBE43B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051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Look at magnitude, pattern and uncertainty</a:t>
            </a:r>
            <a:endParaRPr/>
          </a:p>
        </p:txBody>
      </p:sp>
      <p:sp>
        <p:nvSpPr>
          <p:cNvPr id="54" name="Google Shape;54;p4">
            <a:extLst xmlns:a="http://schemas.openxmlformats.org/drawingml/2006/main">
              <a:ext uri="{FF2B5EF4-FFF2-40B4-BE49-F238E27FC236}">
                <a16:creationId xmlns:a16="http://schemas.microsoft.com/office/drawing/2014/main" id="{8AC6D9C6-9218-4596-8340-8D1EEF25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C9B9E4EE-6CB6-47EE-8838-5A033AFA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sz="195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10</a:t>
            </a:r>
            <a:endParaRPr/>
          </a:p>
        </p:txBody>
      </p:sp>
      <p:sp>
        <p:nvSpPr>
          <p:cNvPr id="56" name="Google Shape;56;p4">
            <a:extLst xmlns:a="http://schemas.openxmlformats.org/drawingml/2006/main">
              <a:ext uri="{FF2B5EF4-FFF2-40B4-BE49-F238E27FC236}">
                <a16:creationId xmlns:a16="http://schemas.microsoft.com/office/drawing/2014/main" id="{2A735F2A-DE9D-43B9-90F6-54B7AA78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576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min</a:t>
            </a:r>
            <a:endParaRPr/>
          </a:p>
        </p:txBody>
      </p:sp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09A577CA-CF29-40D3-B7C6-93012A9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433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sz="15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Try it yourself</a:t>
            </a:r>
            <a:endParaRPr/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29EE5115-B57E-4094-8313-692D68BE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909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Repeat the workflow for your own area</a:t>
            </a:r>
            <a:endParaRPr/>
          </a:p>
        </p:txBody>
      </p:sp>
      <p:sp>
        <p:nvSpPr>
          <p:cNvPr id="59" name="Google Shape;59;p4">
            <a:extLst xmlns:a="http://schemas.openxmlformats.org/drawingml/2006/main">
              <a:ext uri="{FF2B5EF4-FFF2-40B4-BE49-F238E27FC236}">
                <a16:creationId xmlns:a16="http://schemas.microsoft.com/office/drawing/2014/main" id="{1F4ECD6A-45A1-4F98-9D49-07AE2F6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>
            <a:extLst xmlns:a="http://schemas.openxmlformats.org/drawingml/2006/main">
              <a:ext uri="{FF2B5EF4-FFF2-40B4-BE49-F238E27FC236}">
                <a16:creationId xmlns:a16="http://schemas.microsoft.com/office/drawing/2014/main" id="{8EA1D566-501C-4C79-AF9A-1EB903C5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950"/>
              <a:buFont typeface="Lato"/>
              <a:buNone/>
            </a:pPr>
            <a:r>
              <a:rPr sz="1950" b="1">
                <a:solidFill>
                  <a:srgbClr val="F2B632"/>
                </a:solidFill>
                <a:latin typeface="Lato"/>
                <a:ea typeface="Lato"/>
                <a:cs typeface="Lato"/>
              </a:rPr>
              <a:t>10</a:t>
            </a:r>
            <a:endParaRPr/>
          </a:p>
        </p:txBody>
      </p:sp>
      <p:sp>
        <p:nvSpPr>
          <p:cNvPr id="61" name="Google Shape;61;p4">
            <a:extLst xmlns:a="http://schemas.openxmlformats.org/drawingml/2006/main">
              <a:ext uri="{FF2B5EF4-FFF2-40B4-BE49-F238E27FC236}">
                <a16:creationId xmlns:a16="http://schemas.microsoft.com/office/drawing/2014/main" id="{B0B2F27C-8598-4F36-B252-862D2234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min</a:t>
            </a:r>
            <a:endParaRPr/>
          </a:p>
        </p:txBody>
      </p:sp>
      <p:sp>
        <p:nvSpPr>
          <p:cNvPr id="62" name="Google Shape;62;p4">
            <a:extLst xmlns:a="http://schemas.openxmlformats.org/drawingml/2006/main">
              <a:ext uri="{FF2B5EF4-FFF2-40B4-BE49-F238E27FC236}">
                <a16:creationId xmlns:a16="http://schemas.microsoft.com/office/drawing/2014/main" id="{0CD53FC1-9C59-4CF3-8EA5-834FB218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291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sz="15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Advanced outputs with Andrea</a:t>
            </a:r>
            <a:endParaRPr/>
          </a:p>
        </p:txBody>
      </p:sp>
      <p:sp>
        <p:nvSpPr>
          <p:cNvPr id="63" name="Google Shape;63;p4">
            <a:extLst xmlns:a="http://schemas.openxmlformats.org/drawingml/2006/main">
              <a:ext uri="{FF2B5EF4-FFF2-40B4-BE49-F238E27FC236}">
                <a16:creationId xmlns:a16="http://schemas.microsoft.com/office/drawing/2014/main" id="{0085878F-CE65-4538-80DE-62C3503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767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report and processed data</a:t>
            </a:r>
            <a:endParaRPr/>
          </a:p>
        </p:txBody>
      </p:sp>
      <p:sp>
        <p:nvSpPr>
          <p:cNvPr id="64" name="Google Shape;64;p4">
            <a:extLst xmlns:a="http://schemas.openxmlformats.org/drawingml/2006/main">
              <a:ext uri="{FF2B5EF4-FFF2-40B4-BE49-F238E27FC236}">
                <a16:creationId xmlns:a16="http://schemas.microsoft.com/office/drawing/2014/main" id="{3AACA027-64E3-47FD-B9AF-3C0702E0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38825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>
            <a:extLst xmlns:a="http://schemas.openxmlformats.org/drawingml/2006/main">
              <a:ext uri="{FF2B5EF4-FFF2-40B4-BE49-F238E27FC236}">
                <a16:creationId xmlns:a16="http://schemas.microsoft.com/office/drawing/2014/main" id="{D5722E98-3927-4FD1-8211-65E2E971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sz="195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05</a:t>
            </a:r>
            <a:endParaRPr/>
          </a:p>
        </p:txBody>
      </p:sp>
      <p:sp>
        <p:nvSpPr>
          <p:cNvPr id="66" name="Google Shape;66;p4">
            <a:extLst xmlns:a="http://schemas.openxmlformats.org/drawingml/2006/main">
              <a:ext uri="{FF2B5EF4-FFF2-40B4-BE49-F238E27FC236}">
                <a16:creationId xmlns:a16="http://schemas.microsoft.com/office/drawing/2014/main" id="{7D8B946E-D25C-42EF-B9D3-363C2F1E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292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min</a:t>
            </a:r>
            <a:endParaRPr/>
          </a:p>
        </p:txBody>
      </p:sp>
      <p:sp>
        <p:nvSpPr>
          <p:cNvPr id="67" name="Google Shape;67;p4">
            <a:extLst xmlns:a="http://schemas.openxmlformats.org/drawingml/2006/main">
              <a:ext uri="{FF2B5EF4-FFF2-40B4-BE49-F238E27FC236}">
                <a16:creationId xmlns:a16="http://schemas.microsoft.com/office/drawing/2014/main" id="{167DA1F0-D4D7-427A-A432-00174685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sz="15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Questions and next steps</a:t>
            </a:r>
            <a:endParaRPr/>
          </a:p>
        </p:txBody>
      </p:sp>
      <p:sp>
        <p:nvSpPr>
          <p:cNvPr id="68" name="Google Shape;68;p4">
            <a:extLst xmlns:a="http://schemas.openxmlformats.org/drawingml/2006/main">
              <a:ext uri="{FF2B5EF4-FFF2-40B4-BE49-F238E27FC236}">
                <a16:creationId xmlns:a16="http://schemas.microsoft.com/office/drawing/2014/main" id="{569B68CF-B15A-4B9A-8D23-A90B189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3625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Connect the map to Module 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4367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5">
            <a:extLst xmlns:a="http://schemas.openxmlformats.org/drawingml/2006/main">
              <a:ext uri="{FF2B5EF4-FFF2-40B4-BE49-F238E27FC236}">
                <a16:creationId xmlns:a16="http://schemas.microsoft.com/office/drawing/2014/main" id="{3D1A57BC-C881-4EC1-9C83-4AFFE61C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A project question becomes five choices</a:t>
            </a:r>
            <a:endParaRPr/>
          </a:p>
        </p:txBody>
      </p:sp>
      <p:sp>
        <p:nvSpPr>
          <p:cNvPr id="75" name="Google Shape;75;p5">
            <a:extLst xmlns:a="http://schemas.openxmlformats.org/drawingml/2006/main">
              <a:ext uri="{FF2B5EF4-FFF2-40B4-BE49-F238E27FC236}">
                <a16:creationId xmlns:a16="http://schemas.microsoft.com/office/drawing/2014/main" id="{E384A819-A578-4E6A-9D38-D0FD8FF0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choices come before the first map click</a:t>
            </a:r>
            <a:endParaRPr/>
          </a:p>
        </p:txBody>
      </p:sp>
      <p:sp>
        <p:nvSpPr>
          <p:cNvPr id="76" name="Google Shape;76;p5">
            <a:extLst xmlns:a="http://schemas.openxmlformats.org/drawingml/2006/main">
              <a:ext uri="{FF2B5EF4-FFF2-40B4-BE49-F238E27FC236}">
                <a16:creationId xmlns:a16="http://schemas.microsoft.com/office/drawing/2014/main" id="{BBFDAAD2-14CD-45F4-9191-FA02D5EC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>
            <a:extLst xmlns:a="http://schemas.openxmlformats.org/drawingml/2006/main">
              <a:ext uri="{FF2B5EF4-FFF2-40B4-BE49-F238E27FC236}">
                <a16:creationId xmlns:a16="http://schemas.microsoft.com/office/drawing/2014/main" id="{FED63225-A1CB-44CC-A4D1-FFD150C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>
            <a:extLst xmlns:a="http://schemas.openxmlformats.org/drawingml/2006/main">
              <a:ext uri="{FF2B5EF4-FFF2-40B4-BE49-F238E27FC236}">
                <a16:creationId xmlns:a16="http://schemas.microsoft.com/office/drawing/2014/main" id="{329890DC-90FF-40C5-B6C2-6AD640D4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>
            <a:extLst xmlns:a="http://schemas.openxmlformats.org/drawingml/2006/main">
              <a:ext uri="{FF2B5EF4-FFF2-40B4-BE49-F238E27FC236}">
                <a16:creationId xmlns:a16="http://schemas.microsoft.com/office/drawing/2014/main" id="{56853A68-52A2-4B22-BA6F-108AFAB4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80" name="Google Shape;80;p5">
            <a:extLst xmlns:a="http://schemas.openxmlformats.org/drawingml/2006/main">
              <a:ext uri="{FF2B5EF4-FFF2-40B4-BE49-F238E27FC236}">
                <a16:creationId xmlns:a16="http://schemas.microsoft.com/office/drawing/2014/main" id="{B3F57E0F-999D-47A4-AEB9-AA39DC2E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03</a:t>
            </a:r>
            <a:endParaRPr/>
          </a:p>
        </p:txBody>
      </p:sp>
      <p:sp>
        <p:nvSpPr>
          <p:cNvPr id="81" name="Google Shape;81;p5">
            <a:extLst xmlns:a="http://schemas.openxmlformats.org/drawingml/2006/main">
              <a:ext uri="{FF2B5EF4-FFF2-40B4-BE49-F238E27FC236}">
                <a16:creationId xmlns:a16="http://schemas.microsoft.com/office/drawing/2014/main" id="{68E41974-6CF5-4ADC-8105-6A16EDE1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1004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550"/>
              <a:buFont typeface="Lato"/>
              <a:buNone/>
            </a:pPr>
            <a:r>
              <a:rPr sz="255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How will extreme heat change in our project area over the next 30 years?</a:t>
            </a:r>
            <a:endParaRPr/>
          </a:p>
        </p:txBody>
      </p:sp>
      <p:sp>
        <p:nvSpPr>
          <p:cNvPr id="82" name="Google Shape;82;p5">
            <a:extLst xmlns:a="http://schemas.openxmlformats.org/drawingml/2006/main">
              <a:ext uri="{FF2B5EF4-FFF2-40B4-BE49-F238E27FC236}">
                <a16:creationId xmlns:a16="http://schemas.microsoft.com/office/drawing/2014/main" id="{F3E72EAD-48A5-4705-A446-7A2384B3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>
            <a:extLst xmlns:a="http://schemas.openxmlformats.org/drawingml/2006/main">
              <a:ext uri="{FF2B5EF4-FFF2-40B4-BE49-F238E27FC236}">
                <a16:creationId xmlns:a16="http://schemas.microsoft.com/office/drawing/2014/main" id="{44550DEA-E4E6-4DAF-9CAB-640AA3F5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sz="210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  <a:endParaRPr/>
          </a:p>
        </p:txBody>
      </p:sp>
      <p:sp>
        <p:nvSpPr>
          <p:cNvPr id="84" name="Google Shape;84;p5">
            <a:extLst xmlns:a="http://schemas.openxmlformats.org/drawingml/2006/main">
              <a:ext uri="{FF2B5EF4-FFF2-40B4-BE49-F238E27FC236}">
                <a16:creationId xmlns:a16="http://schemas.microsoft.com/office/drawing/2014/main" id="{E898DEF6-450E-4F45-B418-5B935274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sz="165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Area</a:t>
            </a:r>
            <a:endParaRPr/>
          </a:p>
        </p:txBody>
      </p:sp>
      <p:sp>
        <p:nvSpPr>
          <p:cNvPr id="85" name="Google Shape;85;p5">
            <a:extLst xmlns:a="http://schemas.openxmlformats.org/drawingml/2006/main">
              <a:ext uri="{FF2B5EF4-FFF2-40B4-BE49-F238E27FC236}">
                <a16:creationId xmlns:a16="http://schemas.microsoft.com/office/drawing/2014/main" id="{E706330B-E164-4EBA-9F1B-A26ACFCD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sz="127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Which geography or project boundary?</a:t>
            </a:r>
            <a:endParaRPr/>
          </a:p>
        </p:txBody>
      </p:sp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18847425-6B7C-4253-9192-4B5DF91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sz="210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  <a:endParaRPr/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16804DF7-A2FF-4D9A-821C-6800D962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95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sz="165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Indicator</a:t>
            </a:r>
            <a:endParaRPr/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CA91EDDE-3451-4EC6-8BB2-46A24E3B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57675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sz="127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What represents extreme heat?</a:t>
            </a:r>
            <a:endParaRPr/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F2930130-EADD-467E-BEE3-EFFE052A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5755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sz="210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  <a:endParaRPr/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6F735E75-2494-4234-AB96-43F2CCE8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95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sz="165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Reference</a:t>
            </a:r>
            <a:endParaRPr/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9DD4B22D-C90F-4216-A47C-16AC64AE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57675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sz="127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What historical period is the comparison?</a:t>
            </a:r>
            <a:endParaRPr/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D2ABB018-D164-4F05-864F-5CCE7FA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sz="210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04</a:t>
            </a:r>
            <a:endParaRPr/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54D86E50-B014-4914-B607-A215C6B4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95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sz="165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Scenario</a:t>
            </a:r>
            <a:endParaRPr/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23DC5656-78C4-40D0-98A9-CFD9B631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57675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sz="127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Which future pathway?</a:t>
            </a:r>
            <a:endParaRPr/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CB8234AE-795F-416B-8059-97A5E2B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2100"/>
              <a:buFont typeface="Lato"/>
              <a:buNone/>
            </a:pPr>
            <a:r>
              <a:rPr sz="2100" b="1">
                <a:solidFill>
                  <a:srgbClr val="F2B632"/>
                </a:solidFill>
                <a:latin typeface="Lato"/>
                <a:ea typeface="Lato"/>
                <a:cs typeface="Lato"/>
              </a:rPr>
              <a:t>05</a:t>
            </a:r>
            <a:endParaRPr/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4CF31F4A-9532-45B0-AF47-BC1A782E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95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sz="165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Horizon</a:t>
            </a:r>
            <a:endParaRPr/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BE8A209A-3D2A-472E-81AB-4D7E6C4D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57675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sz="127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Which future period matters for the decision?</a:t>
            </a:r>
            <a:endParaRPr/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04B90DF9-C4EC-4E10-B697-67DAEB59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3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75"/>
              <a:buFont typeface="Lato"/>
              <a:buNone/>
            </a:pPr>
            <a:r>
              <a:rPr sz="97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Teaching example: the threshold and location should reflect the actual project question.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3787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A71E3CFE-C716-4E40-977C-CAC36C10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The Platform at a glance</a:t>
            </a:r>
            <a:endParaRPr/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531923A1-C6D4-4788-9E33-EAC5C6A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Three places to look before interpreting a map</a:t>
            </a:r>
            <a:endParaRPr/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1F59237C-D849-41FD-8B6C-8E130EE6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9440AC7B-968E-4236-A4A4-902EE97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594299E4-A424-472B-AA23-9F94F7EF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04ED4D55-F4FF-42AB-A24F-FAF9D3A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F0A24C0C-A716-415C-855D-D2458928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04</a:t>
            </a:r>
            <a:endParaRPr/>
          </a:p>
        </p:txBody>
      </p:sp>
      <p:pic>
        <p:nvPicPr>
          <p:cNvPr id="131" name="Google Shape;11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26267423444b5f">
            <a:alphaModFix/>
          </a:blip>
          <a:srcRect xmlns:a="http://schemas.openxmlformats.org/drawingml/2006/main" l="0" t="2740" r="0" b="2740"/>
          <a:stretch xmlns:a="http://schemas.openxmlformats.org/drawingml/2006/main"/>
        </p:blipFill>
        <p:spPr>
          <a:xfrm xmlns:a="http://schemas.openxmlformats.org/drawingml/2006/main" flipH="0" flipV="0">
            <a:off x="3857625" y="1771650"/>
            <a:ext cx="7667625" cy="407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Google Shape;112;p6">
            <a:extLst xmlns:a="http://schemas.openxmlformats.org/drawingml/2006/main">
              <a:ext uri="{FF2B5EF4-FFF2-40B4-BE49-F238E27FC236}">
                <a16:creationId xmlns:a16="http://schemas.microsoft.com/office/drawing/2014/main" id="{59012226-3390-43F9-9CA6-BD18DDE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71650"/>
            <a:ext cx="7667625" cy="407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CE5E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3AF9A61E-0033-4BB1-8B70-C3DB2F16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90550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Public map view captured 22 September 2026</a:t>
            </a:r>
            <a:endParaRPr/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E297CC6C-9DB7-46FE-A2AE-7501DA96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4C672928-9DD3-430B-8C55-4DB0ADB8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LEFT</a:t>
            </a:r>
            <a:endParaRPr/>
          </a:p>
        </p:txBody>
      </p:sp>
      <p:sp>
        <p:nvSpPr>
          <p:cNvPr id="116" name="Google Shape;116;p6">
            <a:extLst xmlns:a="http://schemas.openxmlformats.org/drawingml/2006/main">
              <a:ext uri="{FF2B5EF4-FFF2-40B4-BE49-F238E27FC236}">
                <a16:creationId xmlns:a16="http://schemas.microsoft.com/office/drawing/2014/main" id="{0C3F8982-F0FF-45A2-88F6-2C5970B6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Browse climate and agriculture layers</a:t>
            </a:r>
            <a:endParaRPr/>
          </a:p>
        </p:txBody>
      </p:sp>
      <p:sp>
        <p:nvSpPr>
          <p:cNvPr id="117" name="Google Shape;117;p6">
            <a:extLst xmlns:a="http://schemas.openxmlformats.org/drawingml/2006/main">
              <a:ext uri="{FF2B5EF4-FFF2-40B4-BE49-F238E27FC236}">
                <a16:creationId xmlns:a16="http://schemas.microsoft.com/office/drawing/2014/main" id="{4B8F9FE2-984D-460F-8421-913C05A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DE927997-73B1-4E86-91AE-47E608E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sz="825" b="1">
                <a:solidFill>
                  <a:srgbClr val="F2B632"/>
                </a:solidFill>
                <a:latin typeface="Lato"/>
                <a:ea typeface="Lato"/>
                <a:cs typeface="Lato"/>
              </a:rPr>
              <a:t>CENTRE</a:t>
            </a:r>
            <a:endParaRPr/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50D9DD44-3858-4309-B0A1-480B229C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See the spatial pattern</a:t>
            </a:r>
            <a:endParaRPr/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2D7819B8-92C7-4CD2-8A6F-5B0F681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>
            <a:extLst xmlns:a="http://schemas.openxmlformats.org/drawingml/2006/main">
              <a:ext uri="{FF2B5EF4-FFF2-40B4-BE49-F238E27FC236}">
                <a16:creationId xmlns:a16="http://schemas.microsoft.com/office/drawing/2014/main" id="{C83696BE-10A4-460D-BC5E-5B545E71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RIGHT</a:t>
            </a:r>
            <a:endParaRPr/>
          </a:p>
        </p:txBody>
      </p:sp>
      <p:sp>
        <p:nvSpPr>
          <p:cNvPr id="122" name="Google Shape;122;p6">
            <a:extLst xmlns:a="http://schemas.openxmlformats.org/drawingml/2006/main">
              <a:ext uri="{FF2B5EF4-FFF2-40B4-BE49-F238E27FC236}">
                <a16:creationId xmlns:a16="http://schemas.microsoft.com/office/drawing/2014/main" id="{94DB7EA8-9FB4-4426-8A8E-FED0EE35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Check the legend and units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7448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3B19705A-D843-4010-82F5-BA29138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The indicator and historical reference</a:t>
            </a:r>
            <a:endParaRPr/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C4C606B3-B917-4243-B501-BA03E294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Live demonstration: select the heat layer and read its settings</a:t>
            </a:r>
            <a:endParaRPr/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2AF6B0C2-4699-4150-903A-6B45699D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87051AA4-60E2-490E-B3BA-F978EC01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D89AE7E7-7F62-4C6C-9789-EDC241D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A8ED2FCD-354B-4116-BB55-C3AAD637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E17D44D9-B2F3-4C33-95FE-93D4E61A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05</a:t>
            </a:r>
            <a:endParaRPr/>
          </a:p>
        </p:txBody>
      </p:sp>
      <p:pic>
        <p:nvPicPr>
          <p:cNvPr id="155" name="Google Shape;13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579e34428548bf">
            <a:alphaModFix/>
          </a:blip>
          <a:srcRect xmlns:a="http://schemas.openxmlformats.org/drawingml/2006/main" l="0" t="2740" r="0" b="2740"/>
          <a:stretch xmlns:a="http://schemas.openxmlformats.org/drawingml/2006/main"/>
        </p:blipFill>
        <p:spPr>
          <a:xfrm xmlns:a="http://schemas.openxmlformats.org/drawingml/2006/main" flipH="0" flipV="0">
            <a:off x="3857625" y="1771650"/>
            <a:ext cx="7667625" cy="407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6C876969-E7EC-484F-BBB1-E42C920A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71650"/>
            <a:ext cx="7667625" cy="407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CE5E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2D8AD109-56FA-4DB8-9814-3481E26C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90550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Public map: Hot Tmax days (≥35°C), observations, annual view</a:t>
            </a:r>
            <a:endParaRPr/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BF66EE88-2E82-440F-965C-11D2AF1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2F0F9A8F-3D0E-4870-9055-A4B81240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LAYER</a:t>
            </a:r>
            <a:endParaRPr/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89D5EF4D-541A-4056-9C4B-3FA25B0E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Climate › Heat &amp; Cold</a:t>
            </a:r>
            <a:endParaRPr/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8BBE4202-6535-4596-9B8E-DF7606EE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34BA9A65-415E-42A8-B0F5-E0D60431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sz="825" b="1">
                <a:solidFill>
                  <a:srgbClr val="F2B632"/>
                </a:solidFill>
                <a:latin typeface="Lato"/>
                <a:ea typeface="Lato"/>
                <a:cs typeface="Lato"/>
              </a:rPr>
              <a:t>INDICATOR</a:t>
            </a:r>
            <a:endParaRPr/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CD908F0A-01B3-424C-9F0C-0F52BC69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Hot Tmax days ≥35°C</a:t>
            </a:r>
            <a:endParaRPr/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CD60F0B5-69B1-4BA0-9D53-3D67E597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CFEE28E5-51A5-409B-975D-984AEE84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REFERENCE</a:t>
            </a:r>
            <a:endParaRPr/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C063C81C-DEC7-4115-905F-1BA3B22C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Observations, 1991–2020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0080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8">
            <a:extLst xmlns:a="http://schemas.openxmlformats.org/drawingml/2006/main">
              <a:ext uri="{FF2B5EF4-FFF2-40B4-BE49-F238E27FC236}">
                <a16:creationId xmlns:a16="http://schemas.microsoft.com/office/drawing/2014/main" id="{7BBA9ED9-95C7-4ED4-A490-77F7A9E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A future climate view</a:t>
            </a:r>
            <a:endParaRPr/>
          </a:p>
        </p:txBody>
      </p:sp>
      <p:sp>
        <p:nvSpPr>
          <p:cNvPr id="153" name="Google Shape;153;p8">
            <a:extLst xmlns:a="http://schemas.openxmlformats.org/drawingml/2006/main">
              <a:ext uri="{FF2B5EF4-FFF2-40B4-BE49-F238E27FC236}">
                <a16:creationId xmlns:a16="http://schemas.microsoft.com/office/drawing/2014/main" id="{DA5A4ECA-E6F2-4014-8F6D-D89A882B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Keep the indicator fixed while changing scenario and time horizon</a:t>
            </a:r>
            <a:endParaRPr/>
          </a:p>
        </p:txBody>
      </p:sp>
      <p:sp>
        <p:nvSpPr>
          <p:cNvPr id="154" name="Google Shape;154;p8">
            <a:extLst xmlns:a="http://schemas.openxmlformats.org/drawingml/2006/main">
              <a:ext uri="{FF2B5EF4-FFF2-40B4-BE49-F238E27FC236}">
                <a16:creationId xmlns:a16="http://schemas.microsoft.com/office/drawing/2014/main" id="{477028C7-2908-477C-A09B-DED200F7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>
            <a:extLst xmlns:a="http://schemas.openxmlformats.org/drawingml/2006/main">
              <a:ext uri="{FF2B5EF4-FFF2-40B4-BE49-F238E27FC236}">
                <a16:creationId xmlns:a16="http://schemas.microsoft.com/office/drawing/2014/main" id="{C6945536-FED4-4CD4-91EE-71451187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>
            <a:extLst xmlns:a="http://schemas.openxmlformats.org/drawingml/2006/main">
              <a:ext uri="{FF2B5EF4-FFF2-40B4-BE49-F238E27FC236}">
                <a16:creationId xmlns:a16="http://schemas.microsoft.com/office/drawing/2014/main" id="{9DC6D498-BB60-4250-BAEF-32BE2C5C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>
            <a:extLst xmlns:a="http://schemas.openxmlformats.org/drawingml/2006/main">
              <a:ext uri="{FF2B5EF4-FFF2-40B4-BE49-F238E27FC236}">
                <a16:creationId xmlns:a16="http://schemas.microsoft.com/office/drawing/2014/main" id="{547F0D5F-50C5-466E-B3F4-89B3B665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158" name="Google Shape;158;p8">
            <a:extLst xmlns:a="http://schemas.openxmlformats.org/drawingml/2006/main">
              <a:ext uri="{FF2B5EF4-FFF2-40B4-BE49-F238E27FC236}">
                <a16:creationId xmlns:a16="http://schemas.microsoft.com/office/drawing/2014/main" id="{98976ACE-E7B9-46D4-8735-F50B2347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06</a:t>
            </a:r>
            <a:endParaRPr/>
          </a:p>
        </p:txBody>
      </p:sp>
      <p:pic>
        <p:nvPicPr>
          <p:cNvPr id="179" name="Google Shape;15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ad682ad0054098">
            <a:alphaModFix/>
          </a:blip>
          <a:srcRect xmlns:a="http://schemas.openxmlformats.org/drawingml/2006/main" l="0" t="2740" r="0" b="2740"/>
          <a:stretch xmlns:a="http://schemas.openxmlformats.org/drawingml/2006/main"/>
        </p:blipFill>
        <p:spPr>
          <a:xfrm xmlns:a="http://schemas.openxmlformats.org/drawingml/2006/main" flipH="0" flipV="0">
            <a:off x="3857625" y="1771650"/>
            <a:ext cx="7667625" cy="407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8">
            <a:extLst xmlns:a="http://schemas.openxmlformats.org/drawingml/2006/main">
              <a:ext uri="{FF2B5EF4-FFF2-40B4-BE49-F238E27FC236}">
                <a16:creationId xmlns:a16="http://schemas.microsoft.com/office/drawing/2014/main" id="{5635C7DA-8D79-40D4-8A7B-0A3C6C0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71650"/>
            <a:ext cx="7667625" cy="407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CE5E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>
            <a:extLst xmlns:a="http://schemas.openxmlformats.org/drawingml/2006/main">
              <a:ext uri="{FF2B5EF4-FFF2-40B4-BE49-F238E27FC236}">
                <a16:creationId xmlns:a16="http://schemas.microsoft.com/office/drawing/2014/main" id="{F18084FF-2637-4439-B223-19110A7A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90550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Public map: RCP 8.5, 2070–2099, annual value view</a:t>
            </a:r>
            <a:endParaRPr/>
          </a:p>
        </p:txBody>
      </p:sp>
      <p:sp>
        <p:nvSpPr>
          <p:cNvPr id="162" name="Google Shape;162;p8">
            <a:extLst xmlns:a="http://schemas.openxmlformats.org/drawingml/2006/main">
              <a:ext uri="{FF2B5EF4-FFF2-40B4-BE49-F238E27FC236}">
                <a16:creationId xmlns:a16="http://schemas.microsoft.com/office/drawing/2014/main" id="{1981E442-E9B4-4570-BBD0-C506CD0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>
            <a:extLst xmlns:a="http://schemas.openxmlformats.org/drawingml/2006/main">
              <a:ext uri="{FF2B5EF4-FFF2-40B4-BE49-F238E27FC236}">
                <a16:creationId xmlns:a16="http://schemas.microsoft.com/office/drawing/2014/main" id="{C9339EFC-9E53-4152-B052-A29EA73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SCENARIO</a:t>
            </a:r>
            <a:endParaRPr/>
          </a:p>
        </p:txBody>
      </p:sp>
      <p:sp>
        <p:nvSpPr>
          <p:cNvPr id="164" name="Google Shape;164;p8">
            <a:extLst xmlns:a="http://schemas.openxmlformats.org/drawingml/2006/main">
              <a:ext uri="{FF2B5EF4-FFF2-40B4-BE49-F238E27FC236}">
                <a16:creationId xmlns:a16="http://schemas.microsoft.com/office/drawing/2014/main" id="{168E6E4C-5D79-4D6E-895F-4070DC60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Choose a future pathway</a:t>
            </a:r>
            <a:endParaRPr/>
          </a:p>
        </p:txBody>
      </p:sp>
      <p:sp>
        <p:nvSpPr>
          <p:cNvPr id="165" name="Google Shape;165;p8">
            <a:extLst xmlns:a="http://schemas.openxmlformats.org/drawingml/2006/main">
              <a:ext uri="{FF2B5EF4-FFF2-40B4-BE49-F238E27FC236}">
                <a16:creationId xmlns:a16="http://schemas.microsoft.com/office/drawing/2014/main" id="{8F7EEDB9-4DE8-4622-8F83-82C2C7E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>
            <a:extLst xmlns:a="http://schemas.openxmlformats.org/drawingml/2006/main">
              <a:ext uri="{FF2B5EF4-FFF2-40B4-BE49-F238E27FC236}">
                <a16:creationId xmlns:a16="http://schemas.microsoft.com/office/drawing/2014/main" id="{11611F08-CB39-4E6F-896C-28B6C487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sz="825" b="1">
                <a:solidFill>
                  <a:srgbClr val="F2B632"/>
                </a:solidFill>
                <a:latin typeface="Lato"/>
                <a:ea typeface="Lato"/>
                <a:cs typeface="Lato"/>
              </a:rPr>
              <a:t>PERIOD</a:t>
            </a:r>
            <a:endParaRPr/>
          </a:p>
        </p:txBody>
      </p:sp>
      <p:sp>
        <p:nvSpPr>
          <p:cNvPr id="167" name="Google Shape;167;p8">
            <a:extLst xmlns:a="http://schemas.openxmlformats.org/drawingml/2006/main">
              <a:ext uri="{FF2B5EF4-FFF2-40B4-BE49-F238E27FC236}">
                <a16:creationId xmlns:a16="http://schemas.microsoft.com/office/drawing/2014/main" id="{A1D1A6A3-A760-4450-9835-D7C41C16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Select the project-relevant horizon</a:t>
            </a:r>
            <a:endParaRPr/>
          </a:p>
        </p:txBody>
      </p:sp>
      <p:sp>
        <p:nvSpPr>
          <p:cNvPr id="168" name="Google Shape;168;p8">
            <a:extLst xmlns:a="http://schemas.openxmlformats.org/drawingml/2006/main">
              <a:ext uri="{FF2B5EF4-FFF2-40B4-BE49-F238E27FC236}">
                <a16:creationId xmlns:a16="http://schemas.microsoft.com/office/drawing/2014/main" id="{FC23B5C2-C3E7-4192-95E9-7AC7BE0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>
            <a:extLst xmlns:a="http://schemas.openxmlformats.org/drawingml/2006/main">
              <a:ext uri="{FF2B5EF4-FFF2-40B4-BE49-F238E27FC236}">
                <a16:creationId xmlns:a16="http://schemas.microsoft.com/office/drawing/2014/main" id="{9881FFAD-E4FD-4F08-BCAF-EEBF3983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READING</a:t>
            </a:r>
            <a:endParaRPr/>
          </a:p>
        </p:txBody>
      </p:sp>
      <p:sp>
        <p:nvSpPr>
          <p:cNvPr id="170" name="Google Shape;170;p8">
            <a:extLst xmlns:a="http://schemas.openxmlformats.org/drawingml/2006/main">
              <a:ext uri="{FF2B5EF4-FFF2-40B4-BE49-F238E27FC236}">
                <a16:creationId xmlns:a16="http://schemas.microsoft.com/office/drawing/2014/main" id="{BFF78CF8-0C7B-4FF7-A719-B7717249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The value map shows future conditions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827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9">
            <a:extLst xmlns:a="http://schemas.openxmlformats.org/drawingml/2006/main">
              <a:ext uri="{FF2B5EF4-FFF2-40B4-BE49-F238E27FC236}">
                <a16:creationId xmlns:a16="http://schemas.microsoft.com/office/drawing/2014/main" id="{7E6EFDF3-D883-490E-9C26-1D9C518E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Change needs a reference period</a:t>
            </a:r>
            <a:endParaRPr/>
          </a:p>
        </p:txBody>
      </p:sp>
      <p:sp>
        <p:nvSpPr>
          <p:cNvPr id="177" name="Google Shape;177;p9">
            <a:extLst xmlns:a="http://schemas.openxmlformats.org/drawingml/2006/main">
              <a:ext uri="{FF2B5EF4-FFF2-40B4-BE49-F238E27FC236}">
                <a16:creationId xmlns:a16="http://schemas.microsoft.com/office/drawing/2014/main" id="{D5D5B1A8-2CD0-4660-8FB8-A519654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map changes meaning when “Value” becomes “Change”</a:t>
            </a:r>
            <a:endParaRPr/>
          </a:p>
        </p:txBody>
      </p:sp>
      <p:sp>
        <p:nvSpPr>
          <p:cNvPr id="178" name="Google Shape;178;p9">
            <a:extLst xmlns:a="http://schemas.openxmlformats.org/drawingml/2006/main">
              <a:ext uri="{FF2B5EF4-FFF2-40B4-BE49-F238E27FC236}">
                <a16:creationId xmlns:a16="http://schemas.microsoft.com/office/drawing/2014/main" id="{E608C8FB-E50F-4B53-8C89-F3514814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>
            <a:extLst xmlns:a="http://schemas.openxmlformats.org/drawingml/2006/main">
              <a:ext uri="{FF2B5EF4-FFF2-40B4-BE49-F238E27FC236}">
                <a16:creationId xmlns:a16="http://schemas.microsoft.com/office/drawing/2014/main" id="{8177A32A-2C02-47D2-AEFE-47E15015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>
            <a:extLst xmlns:a="http://schemas.openxmlformats.org/drawingml/2006/main">
              <a:ext uri="{FF2B5EF4-FFF2-40B4-BE49-F238E27FC236}">
                <a16:creationId xmlns:a16="http://schemas.microsoft.com/office/drawing/2014/main" id="{BB8DDC29-D9B8-4881-BACE-69633859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>
            <a:extLst xmlns:a="http://schemas.openxmlformats.org/drawingml/2006/main">
              <a:ext uri="{FF2B5EF4-FFF2-40B4-BE49-F238E27FC236}">
                <a16:creationId xmlns:a16="http://schemas.microsoft.com/office/drawing/2014/main" id="{B822D4EB-28B3-4926-974F-CC47BAC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182" name="Google Shape;182;p9">
            <a:extLst xmlns:a="http://schemas.openxmlformats.org/drawingml/2006/main">
              <a:ext uri="{FF2B5EF4-FFF2-40B4-BE49-F238E27FC236}">
                <a16:creationId xmlns:a16="http://schemas.microsoft.com/office/drawing/2014/main" id="{9EBAF960-764B-4570-AC2A-BA6CAC51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07</a:t>
            </a:r>
            <a:endParaRPr/>
          </a:p>
        </p:txBody>
      </p:sp>
      <p:pic>
        <p:nvPicPr>
          <p:cNvPr id="203" name="Google Shape;18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8bc95ace774676">
            <a:alphaModFix/>
          </a:blip>
          <a:srcRect xmlns:a="http://schemas.openxmlformats.org/drawingml/2006/main" l="0" t="2740" r="0" b="2740"/>
          <a:stretch xmlns:a="http://schemas.openxmlformats.org/drawingml/2006/main"/>
        </p:blipFill>
        <p:spPr>
          <a:xfrm xmlns:a="http://schemas.openxmlformats.org/drawingml/2006/main" flipH="0" flipV="0">
            <a:off x="3857625" y="1771650"/>
            <a:ext cx="7667625" cy="407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4" name="Google Shape;184;p9">
            <a:extLst xmlns:a="http://schemas.openxmlformats.org/drawingml/2006/main">
              <a:ext uri="{FF2B5EF4-FFF2-40B4-BE49-F238E27FC236}">
                <a16:creationId xmlns:a16="http://schemas.microsoft.com/office/drawing/2014/main" id="{621D4294-3BD2-486D-8311-A93D2358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71650"/>
            <a:ext cx="7667625" cy="407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DCE5E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>
            <a:extLst xmlns:a="http://schemas.openxmlformats.org/drawingml/2006/main">
              <a:ext uri="{FF2B5EF4-FFF2-40B4-BE49-F238E27FC236}">
                <a16:creationId xmlns:a16="http://schemas.microsoft.com/office/drawing/2014/main" id="{5B6E3AFA-BC9D-4D34-A58B-5476F5C3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90550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sz="8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Public map: RCP 8.5, 2070–2099 change from 1986–2005</a:t>
            </a:r>
            <a:endParaRPr/>
          </a:p>
        </p:txBody>
      </p:sp>
      <p:sp>
        <p:nvSpPr>
          <p:cNvPr id="186" name="Google Shape;186;p9">
            <a:extLst xmlns:a="http://schemas.openxmlformats.org/drawingml/2006/main">
              <a:ext uri="{FF2B5EF4-FFF2-40B4-BE49-F238E27FC236}">
                <a16:creationId xmlns:a16="http://schemas.microsoft.com/office/drawing/2014/main" id="{00489135-F53A-413F-9561-AA7146C8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>
            <a:extLst xmlns:a="http://schemas.openxmlformats.org/drawingml/2006/main">
              <a:ext uri="{FF2B5EF4-FFF2-40B4-BE49-F238E27FC236}">
                <a16:creationId xmlns:a16="http://schemas.microsoft.com/office/drawing/2014/main" id="{3AEFB47A-4D65-4498-BBE9-1FBDA769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COMPARE</a:t>
            </a:r>
            <a:endParaRPr/>
          </a:p>
        </p:txBody>
      </p:sp>
      <p:sp>
        <p:nvSpPr>
          <p:cNvPr id="188" name="Google Shape;188;p9">
            <a:extLst xmlns:a="http://schemas.openxmlformats.org/drawingml/2006/main">
              <a:ext uri="{FF2B5EF4-FFF2-40B4-BE49-F238E27FC236}">
                <a16:creationId xmlns:a16="http://schemas.microsoft.com/office/drawing/2014/main" id="{E7BE9829-2AFD-4EBF-BFED-BCC7139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Switch from Value to Change</a:t>
            </a:r>
            <a:endParaRPr/>
          </a:p>
        </p:txBody>
      </p:sp>
      <p:sp>
        <p:nvSpPr>
          <p:cNvPr id="189" name="Google Shape;189;p9">
            <a:extLst xmlns:a="http://schemas.openxmlformats.org/drawingml/2006/main">
              <a:ext uri="{FF2B5EF4-FFF2-40B4-BE49-F238E27FC236}">
                <a16:creationId xmlns:a16="http://schemas.microsoft.com/office/drawing/2014/main" id="{BE946FEA-AAB1-4700-B66D-04BE46FF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>
            <a:extLst xmlns:a="http://schemas.openxmlformats.org/drawingml/2006/main">
              <a:ext uri="{FF2B5EF4-FFF2-40B4-BE49-F238E27FC236}">
                <a16:creationId xmlns:a16="http://schemas.microsoft.com/office/drawing/2014/main" id="{7B7FFA6C-8221-41C6-BD3E-7249780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sz="825" b="1">
                <a:solidFill>
                  <a:srgbClr val="F2B632"/>
                </a:solidFill>
                <a:latin typeface="Lato"/>
                <a:ea typeface="Lato"/>
                <a:cs typeface="Lato"/>
              </a:rPr>
              <a:t>BASELINE</a:t>
            </a:r>
            <a:endParaRPr/>
          </a:p>
        </p:txBody>
      </p:sp>
      <p:sp>
        <p:nvSpPr>
          <p:cNvPr id="191" name="Google Shape;191;p9">
            <a:extLst xmlns:a="http://schemas.openxmlformats.org/drawingml/2006/main">
              <a:ext uri="{FF2B5EF4-FFF2-40B4-BE49-F238E27FC236}">
                <a16:creationId xmlns:a16="http://schemas.microsoft.com/office/drawing/2014/main" id="{A0218B56-2111-44AE-A137-260F3AD6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Read the reference period</a:t>
            </a:r>
            <a:endParaRPr/>
          </a:p>
        </p:txBody>
      </p:sp>
      <p:sp>
        <p:nvSpPr>
          <p:cNvPr id="192" name="Google Shape;192;p9">
            <a:extLst xmlns:a="http://schemas.openxmlformats.org/drawingml/2006/main">
              <a:ext uri="{FF2B5EF4-FFF2-40B4-BE49-F238E27FC236}">
                <a16:creationId xmlns:a16="http://schemas.microsoft.com/office/drawing/2014/main" id="{B7A9E1CA-6CD9-436F-BF60-4271F012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>
            <a:extLst xmlns:a="http://schemas.openxmlformats.org/drawingml/2006/main">
              <a:ext uri="{FF2B5EF4-FFF2-40B4-BE49-F238E27FC236}">
                <a16:creationId xmlns:a16="http://schemas.microsoft.com/office/drawing/2014/main" id="{83144AB2-6F16-4375-8254-3AAAD2AF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sz="825" b="1">
                <a:solidFill>
                  <a:srgbClr val="00A88F"/>
                </a:solidFill>
                <a:latin typeface="Lato"/>
                <a:ea typeface="Lato"/>
                <a:cs typeface="Lato"/>
              </a:rPr>
              <a:t>UNITS</a:t>
            </a:r>
            <a:endParaRPr/>
          </a:p>
        </p:txBody>
      </p:sp>
      <p:sp>
        <p:nvSpPr>
          <p:cNvPr id="194" name="Google Shape;194;p9">
            <a:extLst xmlns:a="http://schemas.openxmlformats.org/drawingml/2006/main">
              <a:ext uri="{FF2B5EF4-FFF2-40B4-BE49-F238E27FC236}">
                <a16:creationId xmlns:a16="http://schemas.microsoft.com/office/drawing/2014/main" id="{16B1EA18-1F9E-47A4-8246-4F32190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Check whether the legend shows days or degrees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4982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" name="Google Shape;200;p10">
            <a:extLst xmlns:a="http://schemas.openxmlformats.org/drawingml/2006/main">
              <a:ext uri="{FF2B5EF4-FFF2-40B4-BE49-F238E27FC236}">
                <a16:creationId xmlns:a16="http://schemas.microsoft.com/office/drawing/2014/main" id="{90223C09-B4C4-4D67-98A5-C280C6B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Reading a climate signal</a:t>
            </a:r>
            <a:endParaRPr/>
          </a:p>
        </p:txBody>
      </p:sp>
      <p:sp>
        <p:nvSpPr>
          <p:cNvPr id="201" name="Google Shape;201;p10">
            <a:extLst xmlns:a="http://schemas.openxmlformats.org/drawingml/2006/main">
              <a:ext uri="{FF2B5EF4-FFF2-40B4-BE49-F238E27FC236}">
                <a16:creationId xmlns:a16="http://schemas.microsoft.com/office/drawing/2014/main" id="{0CFFEE2B-91C1-46E4-84A3-F63682CB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A map is the beginning of interpretation</a:t>
            </a:r>
            <a:endParaRPr/>
          </a:p>
        </p:txBody>
      </p:sp>
      <p:sp>
        <p:nvSpPr>
          <p:cNvPr id="202" name="Google Shape;202;p10">
            <a:extLst xmlns:a="http://schemas.openxmlformats.org/drawingml/2006/main">
              <a:ext uri="{FF2B5EF4-FFF2-40B4-BE49-F238E27FC236}">
                <a16:creationId xmlns:a16="http://schemas.microsoft.com/office/drawing/2014/main" id="{59435AB0-ACF3-4B5E-9F71-B4621B7B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>
            <a:extLst xmlns:a="http://schemas.openxmlformats.org/drawingml/2006/main">
              <a:ext uri="{FF2B5EF4-FFF2-40B4-BE49-F238E27FC236}">
                <a16:creationId xmlns:a16="http://schemas.microsoft.com/office/drawing/2014/main" id="{CB2F4629-C4B0-4AC2-9842-0989BC7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>
            <a:extLst xmlns:a="http://schemas.openxmlformats.org/drawingml/2006/main">
              <a:ext uri="{FF2B5EF4-FFF2-40B4-BE49-F238E27FC236}">
                <a16:creationId xmlns:a16="http://schemas.microsoft.com/office/drawing/2014/main" id="{964AD867-E497-4031-B8F0-BF74F38C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>
            <a:extLst xmlns:a="http://schemas.openxmlformats.org/drawingml/2006/main">
              <a:ext uri="{FF2B5EF4-FFF2-40B4-BE49-F238E27FC236}">
                <a16:creationId xmlns:a16="http://schemas.microsoft.com/office/drawing/2014/main" id="{95687DF9-B34B-42CA-8F57-D8FE93CA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206" name="Google Shape;206;p10">
            <a:extLst xmlns:a="http://schemas.openxmlformats.org/drawingml/2006/main">
              <a:ext uri="{FF2B5EF4-FFF2-40B4-BE49-F238E27FC236}">
                <a16:creationId xmlns:a16="http://schemas.microsoft.com/office/drawing/2014/main" id="{C0C5D314-106D-4F1F-A4C8-7DB6A15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08</a:t>
            </a:r>
            <a:endParaRPr/>
          </a:p>
        </p:txBody>
      </p:sp>
      <p:sp>
        <p:nvSpPr>
          <p:cNvPr id="207" name="Google Shape;207;p10">
            <a:extLst xmlns:a="http://schemas.openxmlformats.org/drawingml/2006/main">
              <a:ext uri="{FF2B5EF4-FFF2-40B4-BE49-F238E27FC236}">
                <a16:creationId xmlns:a16="http://schemas.microsoft.com/office/drawing/2014/main" id="{BA7AAA2C-1425-4965-AE96-E1B016E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500"/>
              <a:buFont typeface="Lato"/>
              <a:buNone/>
            </a:pPr>
            <a:r>
              <a:rPr sz="150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  <a:endParaRPr/>
          </a:p>
        </p:txBody>
      </p:sp>
      <p:sp>
        <p:nvSpPr>
          <p:cNvPr id="208" name="Google Shape;208;p10">
            <a:extLst xmlns:a="http://schemas.openxmlformats.org/drawingml/2006/main">
              <a:ext uri="{FF2B5EF4-FFF2-40B4-BE49-F238E27FC236}">
                <a16:creationId xmlns:a16="http://schemas.microsoft.com/office/drawing/2014/main" id="{59B8B0DA-5D9E-455B-B87A-97434416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895475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sz="20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Magnitude</a:t>
            </a:r>
            <a:endParaRPr/>
          </a:p>
        </p:txBody>
      </p:sp>
      <p:sp>
        <p:nvSpPr>
          <p:cNvPr id="209" name="Google Shape;209;p10">
            <a:extLst xmlns:a="http://schemas.openxmlformats.org/drawingml/2006/main">
              <a:ext uri="{FF2B5EF4-FFF2-40B4-BE49-F238E27FC236}">
                <a16:creationId xmlns:a16="http://schemas.microsoft.com/office/drawing/2014/main" id="{D2DEF124-B514-4C6E-95EB-70D58B5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335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sz="1425" b="0">
                <a:solidFill>
                  <a:srgbClr val="17324D"/>
                </a:solidFill>
                <a:latin typeface="Lato"/>
                <a:ea typeface="Lato"/>
                <a:cs typeface="Lato"/>
              </a:rPr>
              <a:t>How large is the difference, in the legend’s units?</a:t>
            </a:r>
            <a:endParaRPr/>
          </a:p>
        </p:txBody>
      </p:sp>
      <p:sp>
        <p:nvSpPr>
          <p:cNvPr id="210" name="Google Shape;210;p10">
            <a:extLst xmlns:a="http://schemas.openxmlformats.org/drawingml/2006/main">
              <a:ext uri="{FF2B5EF4-FFF2-40B4-BE49-F238E27FC236}">
                <a16:creationId xmlns:a16="http://schemas.microsoft.com/office/drawing/2014/main" id="{4900D2CB-8253-4663-9E9F-3EF11CC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82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>
            <a:extLst xmlns:a="http://schemas.openxmlformats.org/drawingml/2006/main">
              <a:ext uri="{FF2B5EF4-FFF2-40B4-BE49-F238E27FC236}">
                <a16:creationId xmlns:a16="http://schemas.microsoft.com/office/drawing/2014/main" id="{0D37E6C6-1647-48EC-85AF-1F470835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500"/>
              <a:buFont typeface="Lato"/>
              <a:buNone/>
            </a:pPr>
            <a:r>
              <a:rPr sz="150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  <a:endParaRPr/>
          </a:p>
        </p:txBody>
      </p:sp>
      <p:sp>
        <p:nvSpPr>
          <p:cNvPr id="212" name="Google Shape;212;p10">
            <a:extLst xmlns:a="http://schemas.openxmlformats.org/drawingml/2006/main">
              <a:ext uri="{FF2B5EF4-FFF2-40B4-BE49-F238E27FC236}">
                <a16:creationId xmlns:a16="http://schemas.microsoft.com/office/drawing/2014/main" id="{FB75000B-4FF9-40D7-8970-B6332756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47975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sz="20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Pattern</a:t>
            </a:r>
            <a:endParaRPr/>
          </a:p>
        </p:txBody>
      </p:sp>
      <p:sp>
        <p:nvSpPr>
          <p:cNvPr id="213" name="Google Shape;213;p10">
            <a:extLst xmlns:a="http://schemas.openxmlformats.org/drawingml/2006/main">
              <a:ext uri="{FF2B5EF4-FFF2-40B4-BE49-F238E27FC236}">
                <a16:creationId xmlns:a16="http://schemas.microsoft.com/office/drawing/2014/main" id="{AC7E499B-E86B-412E-97DF-5687EB80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860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sz="1425" b="0">
                <a:solidFill>
                  <a:srgbClr val="17324D"/>
                </a:solidFill>
                <a:latin typeface="Lato"/>
                <a:ea typeface="Lato"/>
                <a:cs typeface="Lato"/>
              </a:rPr>
              <a:t>Is the signal widespread or localized?</a:t>
            </a:r>
            <a:endParaRPr/>
          </a:p>
        </p:txBody>
      </p:sp>
      <p:sp>
        <p:nvSpPr>
          <p:cNvPr id="214" name="Google Shape;214;p10">
            <a:extLst xmlns:a="http://schemas.openxmlformats.org/drawingml/2006/main">
              <a:ext uri="{FF2B5EF4-FFF2-40B4-BE49-F238E27FC236}">
                <a16:creationId xmlns:a16="http://schemas.microsoft.com/office/drawing/2014/main" id="{748A2322-50AD-426B-BDBD-C1DF43B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82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>
            <a:extLst xmlns:a="http://schemas.openxmlformats.org/drawingml/2006/main">
              <a:ext uri="{FF2B5EF4-FFF2-40B4-BE49-F238E27FC236}">
                <a16:creationId xmlns:a16="http://schemas.microsoft.com/office/drawing/2014/main" id="{C8F819BF-20DB-4A6B-87C5-A11077E3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500"/>
              <a:buFont typeface="Lato"/>
              <a:buNone/>
            </a:pPr>
            <a:r>
              <a:rPr sz="1500" b="1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  <a:endParaRPr/>
          </a:p>
        </p:txBody>
      </p:sp>
      <p:sp>
        <p:nvSpPr>
          <p:cNvPr id="216" name="Google Shape;216;p10">
            <a:extLst xmlns:a="http://schemas.openxmlformats.org/drawingml/2006/main">
              <a:ext uri="{FF2B5EF4-FFF2-40B4-BE49-F238E27FC236}">
                <a16:creationId xmlns:a16="http://schemas.microsoft.com/office/drawing/2014/main" id="{8F3CE286-BB9A-41ED-A5F1-7CB69EE1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00475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sz="20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Comparison</a:t>
            </a:r>
            <a:endParaRPr/>
          </a:p>
        </p:txBody>
      </p:sp>
      <p:sp>
        <p:nvSpPr>
          <p:cNvPr id="217" name="Google Shape;217;p10">
            <a:extLst xmlns:a="http://schemas.openxmlformats.org/drawingml/2006/main">
              <a:ext uri="{FF2B5EF4-FFF2-40B4-BE49-F238E27FC236}">
                <a16:creationId xmlns:a16="http://schemas.microsoft.com/office/drawing/2014/main" id="{ABF35B76-D982-42A7-B4D1-1BED0600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385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sz="1425" b="0">
                <a:solidFill>
                  <a:srgbClr val="17324D"/>
                </a:solidFill>
                <a:latin typeface="Lato"/>
                <a:ea typeface="Lato"/>
                <a:cs typeface="Lato"/>
              </a:rPr>
              <a:t>Which baseline, scenario and future period are selected?</a:t>
            </a:r>
            <a:endParaRPr/>
          </a:p>
        </p:txBody>
      </p:sp>
      <p:sp>
        <p:nvSpPr>
          <p:cNvPr id="218" name="Google Shape;218;p10">
            <a:extLst xmlns:a="http://schemas.openxmlformats.org/drawingml/2006/main">
              <a:ext uri="{FF2B5EF4-FFF2-40B4-BE49-F238E27FC236}">
                <a16:creationId xmlns:a16="http://schemas.microsoft.com/office/drawing/2014/main" id="{777BA653-A5D5-4484-9312-C4E6164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082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>
            <a:extLst xmlns:a="http://schemas.openxmlformats.org/drawingml/2006/main">
              <a:ext uri="{FF2B5EF4-FFF2-40B4-BE49-F238E27FC236}">
                <a16:creationId xmlns:a16="http://schemas.microsoft.com/office/drawing/2014/main" id="{D2DECE3F-AB90-44BA-ABC1-28E631C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500"/>
              <a:buFont typeface="Lato"/>
              <a:buNone/>
            </a:pPr>
            <a:r>
              <a:rPr sz="1500" b="1">
                <a:solidFill>
                  <a:srgbClr val="F2B632"/>
                </a:solidFill>
                <a:latin typeface="Lato"/>
                <a:ea typeface="Lato"/>
                <a:cs typeface="Lato"/>
              </a:rPr>
              <a:t>04</a:t>
            </a:r>
            <a:endParaRPr/>
          </a:p>
        </p:txBody>
      </p:sp>
      <p:sp>
        <p:nvSpPr>
          <p:cNvPr id="220" name="Google Shape;220;p10">
            <a:extLst xmlns:a="http://schemas.openxmlformats.org/drawingml/2006/main">
              <a:ext uri="{FF2B5EF4-FFF2-40B4-BE49-F238E27FC236}">
                <a16:creationId xmlns:a16="http://schemas.microsoft.com/office/drawing/2014/main" id="{51842CD2-8C00-43DE-B40E-AD3E8883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52975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sz="20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Confidence</a:t>
            </a:r>
            <a:endParaRPr/>
          </a:p>
        </p:txBody>
      </p:sp>
      <p:sp>
        <p:nvSpPr>
          <p:cNvPr id="221" name="Google Shape;221;p10">
            <a:extLst xmlns:a="http://schemas.openxmlformats.org/drawingml/2006/main">
              <a:ext uri="{FF2B5EF4-FFF2-40B4-BE49-F238E27FC236}">
                <a16:creationId xmlns:a16="http://schemas.microsoft.com/office/drawing/2014/main" id="{A49FD55C-67AA-493D-9A40-505C276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910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sz="1425" b="0">
                <a:solidFill>
                  <a:srgbClr val="17324D"/>
                </a:solidFill>
                <a:latin typeface="Lato"/>
                <a:ea typeface="Lato"/>
                <a:cs typeface="Lato"/>
              </a:rPr>
              <a:t>What do other models or available analyses show?</a:t>
            </a:r>
            <a:endParaRPr/>
          </a:p>
        </p:txBody>
      </p:sp>
      <p:sp>
        <p:nvSpPr>
          <p:cNvPr id="222" name="Google Shape;222;p10">
            <a:extLst xmlns:a="http://schemas.openxmlformats.org/drawingml/2006/main">
              <a:ext uri="{FF2B5EF4-FFF2-40B4-BE49-F238E27FC236}">
                <a16:creationId xmlns:a16="http://schemas.microsoft.com/office/drawing/2014/main" id="{3EAC8E20-F976-44BD-92D1-6521C73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82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>
            <a:extLst xmlns:a="http://schemas.openxmlformats.org/drawingml/2006/main">
              <a:ext uri="{FF2B5EF4-FFF2-40B4-BE49-F238E27FC236}">
                <a16:creationId xmlns:a16="http://schemas.microsoft.com/office/drawing/2014/main" id="{B015A17A-B5B0-41E1-ACAB-74D3672B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275"/>
              <a:buFont typeface="Lato"/>
              <a:buNone/>
            </a:pPr>
            <a:r>
              <a:rPr sz="1275" b="1">
                <a:solidFill>
                  <a:srgbClr val="008D7A"/>
                </a:solidFill>
                <a:latin typeface="Lato"/>
                <a:ea typeface="Lato"/>
                <a:cs typeface="Lato"/>
              </a:rPr>
              <a:t>Interpret the output alongside the project’s exposure, vulnerability and decision context.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5755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0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Google Shape;229;p11">
            <a:extLst xmlns:a="http://schemas.openxmlformats.org/drawingml/2006/main">
              <a:ext uri="{FF2B5EF4-FFF2-40B4-BE49-F238E27FC236}">
                <a16:creationId xmlns:a16="http://schemas.microsoft.com/office/drawing/2014/main" id="{E0C743DE-8829-4DC4-A301-F33A5B4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>
            <a:extLst xmlns:a="http://schemas.openxmlformats.org/drawingml/2006/main">
              <a:ext uri="{FF2B5EF4-FFF2-40B4-BE49-F238E27FC236}">
                <a16:creationId xmlns:a16="http://schemas.microsoft.com/office/drawing/2014/main" id="{A0E1E4B5-A2C0-4438-A3BC-EDBDF510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77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>
            <a:extLst xmlns:a="http://schemas.openxmlformats.org/drawingml/2006/main">
              <a:ext uri="{FF2B5EF4-FFF2-40B4-BE49-F238E27FC236}">
                <a16:creationId xmlns:a16="http://schemas.microsoft.com/office/drawing/2014/main" id="{85C11800-15F5-4E78-9372-AF832AD1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038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sz="975" b="1">
                <a:solidFill>
                  <a:srgbClr val="78D8C8"/>
                </a:solidFill>
                <a:latin typeface="Lato"/>
                <a:ea typeface="Lato"/>
                <a:cs typeface="Lato"/>
              </a:rPr>
              <a:t>YOUR TURN</a:t>
            </a:r>
            <a:endParaRPr/>
          </a:p>
        </p:txBody>
      </p:sp>
      <p:sp>
        <p:nvSpPr>
          <p:cNvPr id="232" name="Google Shape;232;p11">
            <a:extLst xmlns:a="http://schemas.openxmlformats.org/drawingml/2006/main">
              <a:ext uri="{FF2B5EF4-FFF2-40B4-BE49-F238E27FC236}">
                <a16:creationId xmlns:a16="http://schemas.microsoft.com/office/drawing/2014/main" id="{5B9E1E0B-E444-42CF-BD70-EEEEB92E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04975"/>
            <a:ext cx="9429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5"/>
              <a:buFont typeface="Lato"/>
              <a:buNone/>
            </a:pPr>
            <a:r>
              <a:rPr sz="36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Try the same workflow</a:t>
            </a:r>
            <a:endParaRPr/>
          </a:p>
          <a:p xmlns:a="http://schemas.openxmlformats.org/drawingml/2006/main">
            <a:pPr marL="0" marR="0" lv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5"/>
              <a:buFont typeface="Lato"/>
              <a:buNone/>
            </a:pPr>
            <a:r>
              <a:rPr sz="36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for your area</a:t>
            </a:r>
            <a:endParaRPr/>
          </a:p>
        </p:txBody>
      </p:sp>
      <p:sp>
        <p:nvSpPr>
          <p:cNvPr id="233" name="Google Shape;233;p11">
            <a:extLst xmlns:a="http://schemas.openxmlformats.org/drawingml/2006/main">
              <a:ext uri="{FF2B5EF4-FFF2-40B4-BE49-F238E27FC236}">
                <a16:creationId xmlns:a16="http://schemas.microsoft.com/office/drawing/2014/main" id="{6E8AF034-E571-4BA4-A08C-3AD6B003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sz="975" b="1">
                <a:solidFill>
                  <a:srgbClr val="78D8C8"/>
                </a:solidFill>
                <a:latin typeface="Lato"/>
                <a:ea typeface="Lato"/>
                <a:cs typeface="Lato"/>
              </a:rPr>
              <a:t>01</a:t>
            </a:r>
            <a:endParaRPr/>
          </a:p>
        </p:txBody>
      </p:sp>
      <p:sp>
        <p:nvSpPr>
          <p:cNvPr id="234" name="Google Shape;234;p11">
            <a:extLst xmlns:a="http://schemas.openxmlformats.org/drawingml/2006/main">
              <a:ext uri="{FF2B5EF4-FFF2-40B4-BE49-F238E27FC236}">
                <a16:creationId xmlns:a16="http://schemas.microsoft.com/office/drawing/2014/main" id="{F2A35F9F-83A0-4775-93B0-BF9291B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881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Lato"/>
              <a:buNone/>
            </a:pPr>
            <a:r>
              <a:rPr sz="172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Choose a geography and relevant indicator</a:t>
            </a:r>
            <a:endParaRPr/>
          </a:p>
        </p:txBody>
      </p:sp>
      <p:sp>
        <p:nvSpPr>
          <p:cNvPr id="235" name="Google Shape;235;p11">
            <a:extLst xmlns:a="http://schemas.openxmlformats.org/drawingml/2006/main">
              <a:ext uri="{FF2B5EF4-FFF2-40B4-BE49-F238E27FC236}">
                <a16:creationId xmlns:a16="http://schemas.microsoft.com/office/drawing/2014/main" id="{F21C9940-63CC-4309-BC0F-1661C2A7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sz="975" b="1">
                <a:solidFill>
                  <a:srgbClr val="78D8C8"/>
                </a:solidFill>
                <a:latin typeface="Lato"/>
                <a:ea typeface="Lato"/>
                <a:cs typeface="Lato"/>
              </a:rPr>
              <a:t>02</a:t>
            </a:r>
            <a:endParaRPr/>
          </a:p>
        </p:txBody>
      </p:sp>
      <p:sp>
        <p:nvSpPr>
          <p:cNvPr id="236" name="Google Shape;236;p11">
            <a:extLst xmlns:a="http://schemas.openxmlformats.org/drawingml/2006/main">
              <a:ext uri="{FF2B5EF4-FFF2-40B4-BE49-F238E27FC236}">
                <a16:creationId xmlns:a16="http://schemas.microsoft.com/office/drawing/2014/main" id="{C4BFDCA1-6AC0-49BE-B4EE-39F9B3DA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881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Lato"/>
              <a:buNone/>
            </a:pPr>
            <a:r>
              <a:rPr sz="172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Select a future scenario and period</a:t>
            </a:r>
            <a:endParaRPr/>
          </a:p>
        </p:txBody>
      </p:sp>
      <p:sp>
        <p:nvSpPr>
          <p:cNvPr id="237" name="Google Shape;237;p11">
            <a:extLst xmlns:a="http://schemas.openxmlformats.org/drawingml/2006/main">
              <a:ext uri="{FF2B5EF4-FFF2-40B4-BE49-F238E27FC236}">
                <a16:creationId xmlns:a16="http://schemas.microsoft.com/office/drawing/2014/main" id="{9C0B991F-9193-455F-851C-B58BF78B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75"/>
              <a:buFont typeface="Lato"/>
              <a:buNone/>
            </a:pPr>
            <a:r>
              <a:rPr sz="975" b="1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  <a:endParaRPr/>
          </a:p>
        </p:txBody>
      </p:sp>
      <p:sp>
        <p:nvSpPr>
          <p:cNvPr id="238" name="Google Shape;238;p11">
            <a:extLst xmlns:a="http://schemas.openxmlformats.org/drawingml/2006/main">
              <a:ext uri="{FF2B5EF4-FFF2-40B4-BE49-F238E27FC236}">
                <a16:creationId xmlns:a16="http://schemas.microsoft.com/office/drawing/2014/main" id="{6A200EE8-A14F-4376-BFB3-DA9A011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881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Lato"/>
              <a:buNone/>
            </a:pPr>
            <a:r>
              <a:rPr sz="172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Compare Value and Change, then read the units</a:t>
            </a:r>
            <a:endParaRPr/>
          </a:p>
        </p:txBody>
      </p:sp>
      <p:sp>
        <p:nvSpPr>
          <p:cNvPr id="239" name="Google Shape;239;p11">
            <a:extLst xmlns:a="http://schemas.openxmlformats.org/drawingml/2006/main">
              <a:ext uri="{FF2B5EF4-FFF2-40B4-BE49-F238E27FC236}">
                <a16:creationId xmlns:a16="http://schemas.microsoft.com/office/drawing/2014/main" id="{E2983835-CADE-4A06-9C18-AE6FB79C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275"/>
              <a:buFont typeface="Lato"/>
              <a:buNone/>
            </a:pPr>
            <a:r>
              <a:rPr sz="1275" b="0">
                <a:solidFill>
                  <a:srgbClr val="D7E5EC"/>
                </a:solidFill>
                <a:latin typeface="Lato"/>
                <a:ea typeface="Lato"/>
                <a:cs typeface="Lato"/>
              </a:rPr>
              <a:t>Be ready to describe one pattern and one uncertainty.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7070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Google Shape;245;p12">
            <a:extLst xmlns:a="http://schemas.openxmlformats.org/drawingml/2006/main">
              <a:ext uri="{FF2B5EF4-FFF2-40B4-BE49-F238E27FC236}">
                <a16:creationId xmlns:a16="http://schemas.microsoft.com/office/drawing/2014/main" id="{48F94A67-DEE4-497F-AEE9-FD42CC4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sz="232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Advanced outputs</a:t>
            </a:r>
            <a:endParaRPr/>
          </a:p>
        </p:txBody>
      </p:sp>
      <p:sp>
        <p:nvSpPr>
          <p:cNvPr id="246" name="Google Shape;246;p12">
            <a:extLst xmlns:a="http://schemas.openxmlformats.org/drawingml/2006/main">
              <a:ext uri="{FF2B5EF4-FFF2-40B4-BE49-F238E27FC236}">
                <a16:creationId xmlns:a16="http://schemas.microsoft.com/office/drawing/2014/main" id="{212C42DD-6221-424E-80ED-133D4261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sz="1125" b="0">
                <a:solidFill>
                  <a:srgbClr val="687984"/>
                </a:solidFill>
                <a:latin typeface="Lato"/>
                <a:ea typeface="Lato"/>
                <a:cs typeface="Lato"/>
              </a:rPr>
              <a:t>Andrea’s live demonstration: outputs that travel beyond the map</a:t>
            </a:r>
            <a:endParaRPr/>
          </a:p>
        </p:txBody>
      </p:sp>
      <p:sp>
        <p:nvSpPr>
          <p:cNvPr id="247" name="Google Shape;247;p12">
            <a:extLst xmlns:a="http://schemas.openxmlformats.org/drawingml/2006/main">
              <a:ext uri="{FF2B5EF4-FFF2-40B4-BE49-F238E27FC236}">
                <a16:creationId xmlns:a16="http://schemas.microsoft.com/office/drawing/2014/main" id="{1AFABDC6-9DD8-4875-A714-C8614DC1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>
            <a:extLst xmlns:a="http://schemas.openxmlformats.org/drawingml/2006/main">
              <a:ext uri="{FF2B5EF4-FFF2-40B4-BE49-F238E27FC236}">
                <a16:creationId xmlns:a16="http://schemas.microsoft.com/office/drawing/2014/main" id="{592C0A10-0D8F-4F97-A4D9-8D17AD35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>
            <a:extLst xmlns:a="http://schemas.openxmlformats.org/drawingml/2006/main">
              <a:ext uri="{FF2B5EF4-FFF2-40B4-BE49-F238E27FC236}">
                <a16:creationId xmlns:a16="http://schemas.microsoft.com/office/drawing/2014/main" id="{157DDE84-BCB5-4D54-B861-395C2C7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>
            <a:extLst xmlns:a="http://schemas.openxmlformats.org/drawingml/2006/main">
              <a:ext uri="{FF2B5EF4-FFF2-40B4-BE49-F238E27FC236}">
                <a16:creationId xmlns:a16="http://schemas.microsoft.com/office/drawing/2014/main" id="{FF9C28A4-3B6F-45B8-81E5-443C3604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1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2</a:t>
            </a:r>
            <a:endParaRPr/>
          </a:p>
        </p:txBody>
      </p:sp>
      <p:sp>
        <p:nvSpPr>
          <p:cNvPr id="251" name="Google Shape;251;p12">
            <a:extLst xmlns:a="http://schemas.openxmlformats.org/drawingml/2006/main">
              <a:ext uri="{FF2B5EF4-FFF2-40B4-BE49-F238E27FC236}">
                <a16:creationId xmlns:a16="http://schemas.microsoft.com/office/drawing/2014/main" id="{457FA51F-C3C0-44D3-8C97-049CEBCE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sz="750" b="0">
                <a:solidFill>
                  <a:srgbClr val="687984"/>
                </a:solidFill>
                <a:latin typeface="Lato"/>
                <a:ea typeface="Lato"/>
                <a:cs typeface="Lato"/>
              </a:rPr>
              <a:t>10</a:t>
            </a:r>
            <a:endParaRPr/>
          </a:p>
        </p:txBody>
      </p:sp>
      <p:sp>
        <p:nvSpPr>
          <p:cNvPr id="252" name="Google Shape;252;p12">
            <a:extLst xmlns:a="http://schemas.openxmlformats.org/drawingml/2006/main">
              <a:ext uri="{FF2B5EF4-FFF2-40B4-BE49-F238E27FC236}">
                <a16:creationId xmlns:a16="http://schemas.microsoft.com/office/drawing/2014/main" id="{94C35382-DA0A-43F3-9752-AF9667E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85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>
            <a:extLst xmlns:a="http://schemas.openxmlformats.org/drawingml/2006/main">
              <a:ext uri="{FF2B5EF4-FFF2-40B4-BE49-F238E27FC236}">
                <a16:creationId xmlns:a16="http://schemas.microsoft.com/office/drawing/2014/main" id="{D83CA1D7-D1A8-43C8-AA5C-6296C3E8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61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3300"/>
              <a:buFont typeface="Lato"/>
              <a:buNone/>
            </a:pPr>
            <a:r>
              <a:rPr sz="330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PDF</a:t>
            </a:r>
            <a:endParaRPr/>
          </a:p>
        </p:txBody>
      </p:sp>
      <p:sp>
        <p:nvSpPr>
          <p:cNvPr id="254" name="Google Shape;254;p12">
            <a:extLst xmlns:a="http://schemas.openxmlformats.org/drawingml/2006/main">
              <a:ext uri="{FF2B5EF4-FFF2-40B4-BE49-F238E27FC236}">
                <a16:creationId xmlns:a16="http://schemas.microsoft.com/office/drawing/2014/main" id="{829451E8-43EE-44ED-9694-F3886CE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2100"/>
              <a:buFont typeface="Lato"/>
              <a:buNone/>
            </a:pPr>
            <a:r>
              <a:rPr sz="2100" b="1">
                <a:solidFill>
                  <a:srgbClr val="008D7A"/>
                </a:solidFill>
                <a:latin typeface="Lato"/>
                <a:ea typeface="Lato"/>
                <a:cs typeface="Lato"/>
              </a:rPr>
              <a:t>Climate report</a:t>
            </a:r>
            <a:endParaRPr/>
          </a:p>
        </p:txBody>
      </p:sp>
      <p:sp>
        <p:nvSpPr>
          <p:cNvPr id="255" name="Google Shape;255;p12">
            <a:extLst xmlns:a="http://schemas.openxmlformats.org/drawingml/2006/main">
              <a:ext uri="{FF2B5EF4-FFF2-40B4-BE49-F238E27FC236}">
                <a16:creationId xmlns:a16="http://schemas.microsoft.com/office/drawing/2014/main" id="{75D6FF78-505C-46CB-975E-CCBC95EA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Lato"/>
              <a:buNone/>
            </a:pPr>
            <a:r>
              <a:rPr sz="1500" b="0">
                <a:solidFill>
                  <a:srgbClr val="17324D"/>
                </a:solidFill>
                <a:latin typeface="Lato"/>
                <a:ea typeface="Lato"/>
                <a:cs typeface="Lato"/>
              </a:rPr>
              <a:t>Key climatologies and analyses for discussion and project documentation</a:t>
            </a:r>
            <a:endParaRPr/>
          </a:p>
        </p:txBody>
      </p:sp>
      <p:sp>
        <p:nvSpPr>
          <p:cNvPr id="256" name="Google Shape;256;p12">
            <a:extLst xmlns:a="http://schemas.openxmlformats.org/drawingml/2006/main">
              <a:ext uri="{FF2B5EF4-FFF2-40B4-BE49-F238E27FC236}">
                <a16:creationId xmlns:a16="http://schemas.microsoft.com/office/drawing/2014/main" id="{89C46CC9-FDAF-43FC-881B-AE6E836F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19300"/>
            <a:ext cx="952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>
            <a:extLst xmlns:a="http://schemas.openxmlformats.org/drawingml/2006/main">
              <a:ext uri="{FF2B5EF4-FFF2-40B4-BE49-F238E27FC236}">
                <a16:creationId xmlns:a16="http://schemas.microsoft.com/office/drawing/2014/main" id="{AA6EF26B-0C1A-44CC-92B0-CC3D88A5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24075"/>
            <a:ext cx="4324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3300"/>
              <a:buFont typeface="Lato"/>
              <a:buNone/>
            </a:pPr>
            <a:r>
              <a:rPr sz="3300" b="1">
                <a:solidFill>
                  <a:srgbClr val="12304E"/>
                </a:solidFill>
                <a:latin typeface="Lato"/>
                <a:ea typeface="Lato"/>
                <a:cs typeface="Lato"/>
              </a:rPr>
              <a:t>XLSX</a:t>
            </a:r>
            <a:endParaRPr/>
          </a:p>
        </p:txBody>
      </p:sp>
      <p:sp>
        <p:nvSpPr>
          <p:cNvPr id="258" name="Google Shape;258;p12">
            <a:extLst xmlns:a="http://schemas.openxmlformats.org/drawingml/2006/main">
              <a:ext uri="{FF2B5EF4-FFF2-40B4-BE49-F238E27FC236}">
                <a16:creationId xmlns:a16="http://schemas.microsoft.com/office/drawing/2014/main" id="{28D75564-226D-4F02-AC47-8E09CF77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384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2100"/>
              <a:buFont typeface="Lato"/>
              <a:buNone/>
            </a:pPr>
            <a:r>
              <a:rPr sz="2100" b="1">
                <a:solidFill>
                  <a:srgbClr val="008D7A"/>
                </a:solidFill>
                <a:latin typeface="Lato"/>
                <a:ea typeface="Lato"/>
                <a:cs typeface="Lato"/>
              </a:rPr>
              <a:t>Processed climate data</a:t>
            </a:r>
            <a:endParaRPr/>
          </a:p>
        </p:txBody>
      </p:sp>
      <p:sp>
        <p:nvSpPr>
          <p:cNvPr id="259" name="Google Shape;259;p12">
            <a:extLst xmlns:a="http://schemas.openxmlformats.org/drawingml/2006/main">
              <a:ext uri="{FF2B5EF4-FFF2-40B4-BE49-F238E27FC236}">
                <a16:creationId xmlns:a16="http://schemas.microsoft.com/office/drawing/2014/main" id="{1D93A507-F998-4424-827B-BAB129D3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19475"/>
            <a:ext cx="4333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Lato"/>
              <a:buNone/>
            </a:pPr>
            <a:r>
              <a:rPr sz="1500" b="0">
                <a:solidFill>
                  <a:srgbClr val="17324D"/>
                </a:solidFill>
                <a:latin typeface="Lato"/>
                <a:ea typeface="Lato"/>
                <a:cs typeface="Lato"/>
              </a:rPr>
              <a:t>Structured inputs for further analysis and downstream impact modelling</a:t>
            </a:r>
            <a:endParaRPr/>
          </a:p>
        </p:txBody>
      </p:sp>
      <p:sp>
        <p:nvSpPr>
          <p:cNvPr id="260" name="Google Shape;260;p12">
            <a:extLst xmlns:a="http://schemas.openxmlformats.org/drawingml/2006/main">
              <a:ext uri="{FF2B5EF4-FFF2-40B4-BE49-F238E27FC236}">
                <a16:creationId xmlns:a16="http://schemas.microsoft.com/office/drawing/2014/main" id="{27CAD15D-48E8-440B-9835-3D8BB42F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sz="1275" b="1">
                <a:solidFill>
                  <a:srgbClr val="12304E"/>
                </a:solidFill>
                <a:latin typeface="Lato"/>
                <a:ea typeface="Lato"/>
                <a:cs typeface="Lato"/>
              </a:rPr>
              <a:t>The live demonstration will show the available request and download steps.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12831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0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7BE32210-060B-4B06-9DB8-42199CB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7490FAC0-7E10-4C0A-BEB8-F347674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sz="975" b="1">
                <a:solidFill>
                  <a:srgbClr val="78D8C8"/>
                </a:solidFill>
                <a:latin typeface="Lato"/>
                <a:ea typeface="Lato"/>
                <a:cs typeface="Lato"/>
              </a:rPr>
              <a:t>BEFORE YOU LEAVE</a:t>
            </a:r>
            <a:endParaRPr/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00F3DE18-0DD1-4D27-AB92-ED86D4E4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62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25"/>
              <a:buFont typeface="Lato"/>
              <a:buNone/>
            </a:pPr>
            <a:r>
              <a:rPr sz="352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Can you explain the map</a:t>
            </a:r>
            <a:endParaRPr/>
          </a:p>
          <a:p xmlns:a="http://schemas.openxmlformats.org/drawingml/2006/main">
            <a:pPr marL="0" marR="0" lv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25"/>
              <a:buFont typeface="Lato"/>
              <a:buNone/>
            </a:pPr>
            <a:r>
              <a:rPr sz="352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without the map?</a:t>
            </a:r>
            <a:endParaRPr/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7923973C-91CC-4701-9336-E8CB820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29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sz="975" b="1">
                <a:solidFill>
                  <a:srgbClr val="78D8C8"/>
                </a:solidFill>
                <a:latin typeface="Lato"/>
                <a:ea typeface="Lato"/>
                <a:cs typeface="Lato"/>
              </a:rPr>
              <a:t>01</a:t>
            </a:r>
            <a:endParaRPr/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ADD4299B-0D78-435F-8D1B-EC152BF5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814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sz="18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The indicator and its units</a:t>
            </a:r>
            <a:endParaRPr/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8A1533BF-ABD0-4716-969E-34C595AE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9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sz="975" b="1">
                <a:solidFill>
                  <a:srgbClr val="78D8C8"/>
                </a:solidFill>
                <a:latin typeface="Lato"/>
                <a:ea typeface="Lato"/>
                <a:cs typeface="Lato"/>
              </a:rPr>
              <a:t>02</a:t>
            </a:r>
            <a:endParaRPr/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2DCD336B-2BC3-4700-8040-5C92503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481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sz="18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The scenario, periods and baseline</a:t>
            </a:r>
            <a:endParaRPr/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3261F1C1-D342-4171-AD93-B29EB87B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2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75"/>
              <a:buFont typeface="Lato"/>
              <a:buNone/>
            </a:pPr>
            <a:r>
              <a:rPr sz="975" b="1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  <a:endParaRPr/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1D2B0F87-0A92-4685-B662-A044E7A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9149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sz="18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The signal, and what remains uncertain</a:t>
            </a:r>
            <a:endParaRPr/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5457013D-43DB-41D9-A884-EDF0B2E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CD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52B73B58-789C-4245-8686-36A8481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050"/>
              <a:buFont typeface="Lato"/>
              <a:buNone/>
            </a:pPr>
            <a:r>
              <a:rPr sz="1050" b="0">
                <a:solidFill>
                  <a:srgbClr val="D7E5EC"/>
                </a:solidFill>
                <a:latin typeface="Lato"/>
                <a:ea typeface="Lato"/>
                <a:cs typeface="Lato"/>
              </a:rPr>
              <a:t>Next: Module 3 · Climate data workflows with cavapy and CAVAanalytics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8037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2026-09-28T11:43:54.1080000Z</dcterms:created>
  <dcterms:modified xsi:type="dcterms:W3CDTF">2026-09-28T11:43:54.1080000Z</dcterms:modified>
</coreProperties>
</file>