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5a6a3fade94e28" /><Relationship Type="http://schemas.openxmlformats.org/officeDocument/2006/relationships/extended-properties" Target="/docProps/app.xml" Id="R09baae7f46d640b0" /><Relationship Type="http://schemas.openxmlformats.org/officeDocument/2006/relationships/officeDocument" Target="/ppt/presentation.xml" Id="Rbe3ab38aa8e542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077338ab54f79"/>
  </p:sldMasterIdLst>
  <p:notesMasterIdLst>
    <p:notesMasterId xmlns:r="http://schemas.openxmlformats.org/officeDocument/2006/relationships" r:id="R71150b9376304b40"/>
  </p:notesMasterIdLst>
  <p:sldIdLst>
    <p:sldId xmlns:r="http://schemas.openxmlformats.org/officeDocument/2006/relationships" id="256" r:id="R3657bb6f0e6b4eac"/>
    <p:sldId xmlns:r="http://schemas.openxmlformats.org/officeDocument/2006/relationships" id="257" r:id="R045ac4e4ca744a1f"/>
    <p:sldId xmlns:r="http://schemas.openxmlformats.org/officeDocument/2006/relationships" id="258" r:id="R311d4a062e934500"/>
    <p:sldId xmlns:r="http://schemas.openxmlformats.org/officeDocument/2006/relationships" id="259" r:id="R07526bfd06b24c8a"/>
    <p:sldId xmlns:r="http://schemas.openxmlformats.org/officeDocument/2006/relationships" id="260" r:id="Rcf19d4f758e44fa7"/>
    <p:sldId xmlns:r="http://schemas.openxmlformats.org/officeDocument/2006/relationships" id="261" r:id="R6d80cb10319f415f"/>
    <p:sldId xmlns:r="http://schemas.openxmlformats.org/officeDocument/2006/relationships" id="262" r:id="R396fee47371b4402"/>
    <p:sldId xmlns:r="http://schemas.openxmlformats.org/officeDocument/2006/relationships" id="263" r:id="R97b8815a12e34025"/>
    <p:sldId xmlns:r="http://schemas.openxmlformats.org/officeDocument/2006/relationships" id="264" r:id="R3e72b928da734de3"/>
    <p:sldId xmlns:r="http://schemas.openxmlformats.org/officeDocument/2006/relationships" id="265" r:id="R08944e12021b4d8a"/>
    <p:sldId xmlns:r="http://schemas.openxmlformats.org/officeDocument/2006/relationships" id="266" r:id="R7280cf7f446040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78a97815746d6" /><Relationship Type="http://schemas.openxmlformats.org/officeDocument/2006/relationships/slideMaster" Target="/ppt/slideMasters/slideMaster1.xml" Id="R746077338ab54f79" /><Relationship Type="http://schemas.openxmlformats.org/officeDocument/2006/relationships/notesMaster" Target="/ppt/notesMasters/notesMaster1.xml" Id="R71150b9376304b40" /><Relationship Type="http://schemas.openxmlformats.org/officeDocument/2006/relationships/presProps" Target="/ppt/presProps.xml" Id="Raa028e70cd8b42da" /><Relationship Type="http://schemas.openxmlformats.org/officeDocument/2006/relationships/tableStyles" Target="/ppt/tableStyles.xml" Id="Ra059b7079b2b4cad" /><Relationship Type="http://schemas.openxmlformats.org/officeDocument/2006/relationships/slide" Target="/ppt/slides/slide1.xml" Id="R3657bb6f0e6b4eac" /><Relationship Type="http://schemas.openxmlformats.org/officeDocument/2006/relationships/slide" Target="/ppt/slides/slide2.xml" Id="R045ac4e4ca744a1f" /><Relationship Type="http://schemas.openxmlformats.org/officeDocument/2006/relationships/slide" Target="/ppt/slides/slide3.xml" Id="R311d4a062e934500" /><Relationship Type="http://schemas.openxmlformats.org/officeDocument/2006/relationships/slide" Target="/ppt/slides/slide4.xml" Id="R07526bfd06b24c8a" /><Relationship Type="http://schemas.openxmlformats.org/officeDocument/2006/relationships/slide" Target="/ppt/slides/slide5.xml" Id="Rcf19d4f758e44fa7" /><Relationship Type="http://schemas.openxmlformats.org/officeDocument/2006/relationships/slide" Target="/ppt/slides/slide6.xml" Id="R6d80cb10319f415f" /><Relationship Type="http://schemas.openxmlformats.org/officeDocument/2006/relationships/slide" Target="/ppt/slides/slide7.xml" Id="R396fee47371b4402" /><Relationship Type="http://schemas.openxmlformats.org/officeDocument/2006/relationships/slide" Target="/ppt/slides/slide8.xml" Id="R97b8815a12e34025" /><Relationship Type="http://schemas.openxmlformats.org/officeDocument/2006/relationships/slide" Target="/ppt/slides/slide9.xml" Id="R3e72b928da734de3" /><Relationship Type="http://schemas.openxmlformats.org/officeDocument/2006/relationships/slide" Target="/ppt/slides/slide10.xml" Id="R08944e12021b4d8a" /><Relationship Type="http://schemas.openxmlformats.org/officeDocument/2006/relationships/slide" Target="/ppt/slides/slide11.xml" Id="R7280cf7f446040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8882cf9dc244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292afe6db64e02" /><Relationship Type="http://schemas.openxmlformats.org/officeDocument/2006/relationships/notesMaster" Target="/ppt/notesMasters/notesMaster1.xml" Id="Rf4e071dbfde64d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c1d2f643584826" /><Relationship Type="http://schemas.openxmlformats.org/officeDocument/2006/relationships/notesMaster" Target="/ppt/notesMasters/notesMaster1.xml" Id="R56363b4c0a0c43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1056bc28fa492e" /><Relationship Type="http://schemas.openxmlformats.org/officeDocument/2006/relationships/notesMaster" Target="/ppt/notesMasters/notesMaster1.xml" Id="R0a132d26901043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7e011ce46f491e" /><Relationship Type="http://schemas.openxmlformats.org/officeDocument/2006/relationships/notesMaster" Target="/ppt/notesMasters/notesMaster1.xml" Id="Rd519e45369e84f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e53e45a537416d" /><Relationship Type="http://schemas.openxmlformats.org/officeDocument/2006/relationships/notesMaster" Target="/ppt/notesMasters/notesMaster1.xml" Id="R76085c724e7548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561d2b3a5043fa" /><Relationship Type="http://schemas.openxmlformats.org/officeDocument/2006/relationships/notesMaster" Target="/ppt/notesMasters/notesMaster1.xml" Id="R4c222813605e40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a357df19b54411" /><Relationship Type="http://schemas.openxmlformats.org/officeDocument/2006/relationships/notesMaster" Target="/ppt/notesMasters/notesMaster1.xml" Id="R6f2034a850ae4a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5378c9c3554162" /><Relationship Type="http://schemas.openxmlformats.org/officeDocument/2006/relationships/notesMaster" Target="/ppt/notesMasters/notesMaster1.xml" Id="R1a250172399c45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0cdf90c5b74180" /><Relationship Type="http://schemas.openxmlformats.org/officeDocument/2006/relationships/notesMaster" Target="/ppt/notesMasters/notesMaster1.xml" Id="Rd3a4b261f76d43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d34a6c7a714976" /><Relationship Type="http://schemas.openxmlformats.org/officeDocument/2006/relationships/notesMaster" Target="/ppt/notesMasters/notesMaster1.xml" Id="R4e8a754ef4864a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2d563db448433b" /><Relationship Type="http://schemas.openxmlformats.org/officeDocument/2006/relationships/notesMaster" Target="/ppt/notesMasters/notesMaster1.xml" Id="Rf88f23a6382647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describe how CAVA accesses and processes CORDEX data for FAO investment analysis, including the methodological limits that require expert judgement. Visual source: CAVA Platform public interface, https://cavaplatform.fao.org/.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Institutional context supplied by the user. The approximately 80% figure refers here to the Climate Risk Team's climate-finance funding envelope, not FAO's total funding. Confirm the reporting period, denominator and whether the percentage combines GCF and GEF project preparation before external circulation.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reflects FAO's internal experience supplied in the briefing request. Emphasize that the core problem was not the absence of climate data; it was the absence of a harmonized, repeatable workflow that project teams could trust and reuse.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separate evidence generation from the investment decision. CAVA does not decide which adaptation measure to finance; it makes the climate evidence supporting that choice more consistent, transparent and repeatable.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FAO describes CAVA as an open-source ecosystem combining a web platform with R and Python tools, harmonized climate information and reusable workflows. Country deployments can integrate national datasets and adapt workflows. Sources: https://www.fao.org/agroinformatics/news/news-detail/fao-digital-solutions-now-available-as-open-source--cava-and-ex-act/en ; https://cavaplatform.fao.org/about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CORDEX-CORE provides homogeneous regional climate information at roughly 25 km across major inhabited regions and supports analyses of extremes and global warming levels. CAVA/cavapy addresses recurring technical burdens such as distributed NetCDF access, rotated-pole grids, calendars, subsetting, ensemble handling and bias correction. Sources: https://cordex.org/experiment-guidelines/cordex-cmip5/cordex-core/cordex-core-simulations/ ; https://cordex.org/data-access/cordex-cmip5-data/cordex-cmip5-simulations/ ; https://github.com/un-fao/cavapy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CAVA brings climate, agroclimatic and agricultural-impact datasets into a consistent environment. Users can access the same backbone through the web platform, R and Python tools, or backend services. Country-level deployments can integrate national data and workflows. Sources: https://cavaplatform.fao.org/about ; https://www.fao.org/agroinformatics/news/news-detail/fao-digital-solutions-now-available-as-open-source--cava-and-ex-act/en ; https://github.com/un-fao/cavapy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cavapy can stream only the required spatial slice through OPeNDAP and return analysis-ready data, while handling common CORDEX complexities. The investment interpretation and adaptation decisions remain with the project team. Source: https://github.com/un-fao/cavapy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remain placeholders. Before circulation, define the portfolio denominator and the attribution rule. The strongest count includes only projects where CAVA/CORDEX evidence appears in project documentation or can be linked to a documented design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Insert examples approved for external discussion. Include enough methodological information for the CORDEX audience to understand which simulations were used and how uncertainty was treated. For publications, include a DOI or stable link.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technical questions rather than a partnership proposal. The CORDEX CORE CMIP6 task force links standardized high-resolution projections with application and impact communities; CAVA can contribute evidence from operational use. Sources: https://cordex.org/strategic-activities/taskforces/task-force-on-cordex-core-cmip6/ ; https://cavaplatform.fao.org/about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0c200eb7746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d17c13de324864" /><Relationship Type="http://schemas.openxmlformats.org/officeDocument/2006/relationships/slideLayout" Target="/ppt/slideLayouts/slideLayout1.xml" Id="Rabf2559f15bb40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f2559f15bb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c9f223f7349e7" /><Relationship Type="http://schemas.openxmlformats.org/officeDocument/2006/relationships/image" Target="/ppt/media/image.png" Id="R90ce0642f55d4f00" /><Relationship Type="http://schemas.openxmlformats.org/officeDocument/2006/relationships/notesSlide" Target="/ppt/notesSlides/notesSlide1.xml" Id="R9f985611b79440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2a2db836f4d4f" /><Relationship Type="http://schemas.openxmlformats.org/officeDocument/2006/relationships/notesSlide" Target="/ppt/notesSlides/notesSlide2.xml" Id="R0298d34634b544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2ce7458f44b97" /><Relationship Type="http://schemas.openxmlformats.org/officeDocument/2006/relationships/notesSlide" Target="/ppt/notesSlides/notesSlide3.xml" Id="Rebcaf41d3ef647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2a8b31b1c48b2" /><Relationship Type="http://schemas.openxmlformats.org/officeDocument/2006/relationships/notesSlide" Target="/ppt/notesSlides/notesSlide4.xml" Id="Rc3593a89da4b4c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48e53919d4c67" /><Relationship Type="http://schemas.openxmlformats.org/officeDocument/2006/relationships/notesSlide" Target="/ppt/notesSlides/notesSlide5.xml" Id="R473328903b074c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9e345d91844f3" /><Relationship Type="http://schemas.openxmlformats.org/officeDocument/2006/relationships/notesSlide" Target="/ppt/notesSlides/notesSlide6.xml" Id="R28f928545d984e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849812fd5437a" /><Relationship Type="http://schemas.openxmlformats.org/officeDocument/2006/relationships/notesSlide" Target="/ppt/notesSlides/notesSlide7.xml" Id="Rb34a4627c5544d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8420fd90b472e" /><Relationship Type="http://schemas.openxmlformats.org/officeDocument/2006/relationships/notesSlide" Target="/ppt/notesSlides/notesSlide8.xml" Id="R81a2fe0532ba4f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887fb06b84894" /><Relationship Type="http://schemas.openxmlformats.org/officeDocument/2006/relationships/notesSlide" Target="/ppt/notesSlides/notesSlide9.xml" Id="R1a66cf6a85da45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c8e0fb4454fb5" /><Relationship Type="http://schemas.openxmlformats.org/officeDocument/2006/relationships/notesSlide" Target="/ppt/notesSlides/notesSlide10.xml" Id="R14650e10f93b4d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9ad1076a74748" /><Relationship Type="http://schemas.openxmlformats.org/officeDocument/2006/relationships/notesSlide" Target="/ppt/notesSlides/notesSlide11.xml" Id="R6e2266655bf846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e0642f55d4f00"/>
          <a:srcRect xmlns:a="http://schemas.openxmlformats.org/drawingml/2006/main" l="10642" t="0" r="10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90FD4-0744-4AEE-8712-E5310F27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05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DEB66-B9F8-42B6-998F-AD5DB171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57162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304E">
                  <a:alpha val="100000"/>
                </a:srgbClr>
              </a:gs>
              <a:gs pos="42000">
                <a:srgbClr val="12304E">
                  <a:alpha val="78000"/>
                </a:srgbClr>
              </a:gs>
              <a:gs pos="100000">
                <a:srgbClr val="12304E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11CD5-5EB2-49FA-857F-49DA1837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41541-912E-4C59-86AE-15F615B7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5B727-E1BE-4612-AC91-81A86C9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 i="0">
                <a:solidFill>
                  <a:srgbClr val="78D8C8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78D8C8"/>
                </a:solidFill>
                <a:latin typeface="Lato"/>
                <a:ea typeface="Lato"/>
                <a:cs typeface="Lato"/>
              </a:rPr>
              <a:t>TECHNICAL BRIEFING FOR CORDEX LEADERSHIP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1286C-3143-4ADB-8FF7-AC7DCB34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4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CAVA and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4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CORDEX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A525F-320B-4AD3-A3A3-8B55705A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766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Regional climate data in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FAO investment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9F045-0553-4BD6-A49F-561B12FB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1275" b="0" i="0">
                <a:solidFill>
                  <a:srgbClr val="D7E5EC"/>
                </a:solidFill>
                <a:latin typeface="Lato"/>
                <a:ea typeface="Lato"/>
                <a:cs typeface="Lato"/>
              </a:rPr>
              <a:t>System architecture, analytical workflow and methodological considerations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5C171-42B2-40A8-8437-81DE9AC3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245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0CD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F8498-CB4E-49D6-A4A6-9CCA0590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96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825" b="0" i="0">
                <a:solidFill>
                  <a:srgbClr val="D7E5EC"/>
                </a:solidFill>
                <a:latin typeface="Lato"/>
                <a:ea typeface="Lato"/>
                <a:cs typeface="Lato"/>
              </a:rPr>
              <a:t>Climate and Agriculture Risk Visualization and Assessment</a:t>
            </a:r>
          </a:p>
        </p:txBody>
      </p:sp>
    </p:spTree>
    <p:extLst>
      <p:ext uri="{BB962C8B-B14F-4D97-AF65-F5344CB8AC3E}">
        <p14:creationId xmlns:p14="http://schemas.microsoft.com/office/powerpoint/2010/main" val="800065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F7E3F-67A9-42F8-8A59-3D8AC389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Institutional setting for climate risk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AD0EE-29DC-4879-A8AB-F9784115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FAO uses climate information in the preparation of adaptation investments and climate-resilient projects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C36D4-7448-4A01-BA67-652DEF4B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8E5ED-605F-49F8-8B2B-0728ECCB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25140-1FCF-439C-8E08-C887A4D9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F228B-E791-459A-9448-3C576743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A9B2B-B03B-43FC-AECE-7EAFAB0D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3DFED-E0F6-4B3F-8F87-33C0D18F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FAO CLIMATE RISK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EC1E2-EEA6-4A81-AE8B-0BE47319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Climate analysis within project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6BF4A-5B52-45C8-BB3A-53D59CD3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4476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The team combines observed climate information and projections with sector knowledge to support project formulation.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2AE5A-82CA-4A34-B956-9EBA3F37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3A0A8-E2E0-462B-A8E6-F0C7A14D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Climate rationale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B9FB3-6194-49B3-969A-9613C2BE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71475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Describe relevant historical trends and plausible future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7C154-A31A-474D-B813-F55BB7A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55DD0-D952-4379-B1B4-64A4A23C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33875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Risk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13C50-67A8-4283-99E7-8EAE65DB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33387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Connect hazards with agricultural systems, exposure and vulnerability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24302-5B29-4476-B00C-929A4AAE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E1C17-F53B-4F3F-A2F7-273A9E9B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Project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01718-1BBD-480E-8FA0-5CF2F020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9530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Assess adaptation options and climate resilience of proposed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C8367-A781-4DFE-9DDD-5DCEAF5A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5260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9C6FA-1F90-486C-8C7D-82CD5D59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CLIMATE-FINANCE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3B535-8738-42F6-AA18-12D5ADC7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81225"/>
            <a:ext cx="4572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4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54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≈80%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80B21-9BA5-44BA-81E2-2C4AADA8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09925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3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of the team’s climate-finance funding envelope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87A910-D85E-46C4-904E-AD8E1060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4038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7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is associated with projects prepared for the Green Climate Fund and the Global Environment Facility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B4C3C-EE05-4515-8BCC-8AEF5A75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43475"/>
            <a:ext cx="4524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0EA127-4542-464E-B655-99930634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67300"/>
            <a:ext cx="4010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8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CAVA supplies climate evidence. Socioeconomic analysis, feasibility and institutional assessment remain separate inputs.</a:t>
            </a:r>
          </a:p>
        </p:txBody>
      </p:sp>
    </p:spTree>
    <p:extLst>
      <p:ext uri="{BB962C8B-B14F-4D97-AF65-F5344CB8AC3E}">
        <p14:creationId xmlns:p14="http://schemas.microsoft.com/office/powerpoint/2010/main" val="113548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249A87-BD1C-4BDC-8CFC-944758EF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Initial methodological problem in FAO project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910A9-9C49-4A4B-8878-F06D3081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Climate analyses used heterogeneous access methods, preprocessing choices and indicator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3C87D-C265-4243-8672-950BFEC1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10CFD-9534-4EE7-8E34-AABBF5F3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BE247-782C-4F25-BC9F-F8413114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5C915-6820-49A3-808E-D8EE3752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118AE-FDF4-4B9A-9296-AAEC5F2A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FE1E6-97E3-4B26-8033-CB3C32BB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The recurring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77AD4-AFB1-45A4-99FC-EB04814E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DAD2A-5C46-4058-9B95-0927E6F0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0027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Find and retrieve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E933A-5461-4519-A14B-578FDE27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812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Search catalogues and download large collections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BCA10-1EDA-4854-9504-4EFE6861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D5538-B345-46F0-A637-69039A56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A59D0-530B-44DE-B777-81425F24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Prepare the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D787B-79D9-4A09-AFE0-2CAA6783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Resolve grids, calendars, units and spatial subsets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AAF5C-CC2D-4C30-B755-4CACD7F8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382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E03A7-60E7-4E87-97D1-17BAAB24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25F70-9FDB-4962-BEE3-5E7347D6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291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Rebuild the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5186F-1D91-4A82-A993-31302060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012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Recreate indicators, figures and documentation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BF457-89BD-460C-A9A6-45577D61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752600"/>
            <a:ext cx="95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C8A60-6A3C-4D50-8627-A4B03445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81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C95C54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C95C54"/>
                </a:solidFill>
                <a:latin typeface="Lato"/>
                <a:ea typeface="Lato"/>
                <a:cs typeface="Lato"/>
              </a:rPr>
              <a:t>CONSEQUENCES FOR COMPARABILITY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7B94C-6F5B-4B9B-B247-B972B109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717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14FDC4-DD0B-4D3A-BAF3-575C9E5E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717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C5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240219-F539-4AB6-96C0-1D8BE3A8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3622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Reproducibility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DCA39D-5861-443B-9617-7388326F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762250"/>
            <a:ext cx="48958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205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Input datasets and transformations were not always recorded consistently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28CB03-13FF-4581-B298-F5BA8A02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623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8E6B4D-8E8A-4FDB-87CC-B4FB909A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623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64C42E-93D9-42AA-9215-6FF68442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3528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Comparability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911CF-2BDC-4C30-8B1F-EDC8F944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752850"/>
            <a:ext cx="48958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205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Indicators could differ across projects even when questions were similar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8FE7FF-6265-452E-AD67-AFC654E3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529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61F2BC-8A2A-48C4-A658-91129A5A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529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C5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4E8EBC-51F7-45A6-8E02-5B32256D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434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Interpretation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A77BC2-15AF-4CF0-9925-4BFD25B8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743450"/>
            <a:ext cx="48958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205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Time spent on preparation reduced the time available for uncertainty analysis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E015D0-06CA-472A-A7D8-759A9F23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86375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1E7EB8-9958-45D8-9820-3C50F792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4292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4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The requirement was a documented and repeatable workflow for GCF climate rationales and adaptation analysis.</a:t>
            </a:r>
          </a:p>
        </p:txBody>
      </p:sp>
    </p:spTree>
    <p:extLst>
      <p:ext uri="{BB962C8B-B14F-4D97-AF65-F5344CB8AC3E}">
        <p14:creationId xmlns:p14="http://schemas.microsoft.com/office/powerpoint/2010/main" val="1805362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23864B-8E70-4B94-B174-0A8FC74F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Role of climate information in an investment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6D97F-8E3E-45FD-AEDC-B8BF4727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Climate projections inform part of the evidence chain; they do not determine the investment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F153A-FC8B-46C7-8EB0-1C5D2464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DB1F0-F2F0-4CD1-AA07-80045337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78C8B-143D-403B-804C-10E82333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A520F-CE0F-47E5-9777-1365A737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20512-8631-4CA6-9782-2D0DA602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A8993-B5D4-4834-8B56-A465ABA1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067F4-777F-4605-8907-B73818AC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3DFE3-3AC4-4F7A-83C2-E2AB174B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CLIMATE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52769-26F6-43E8-BEE8-88974ECC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How could hazards change?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F9C97-8C1B-4751-B611-D56CF4C0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000375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A0D41-48F2-4773-B56A-41BCCC15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C8825-DD14-41CF-821A-DA2F6425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D4AB4-7BDB-4CE3-A36E-B1B5226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SYSTEM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9647D-77B7-4694-B8A6-2B239141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What is exposed and vulnerable?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63A55-ABB9-4ED9-BB55-EBA04FCE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0375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78C15-1482-46BF-8ACB-6446C7BF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6ED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7CC9F-9C5A-48FB-8A33-665B652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7C587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67C587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5011F-F934-4EF1-A391-084430D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PEOPLE &amp; ASSETS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78678-52FF-4094-B114-1BB77C2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Who and what may be affected?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567EB1-1A70-4C75-9F86-3F47C48D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0375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4CB20-32A1-40D8-BEA9-3652F49A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69AA1A-D84E-42EC-B6F9-882EDAE6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28C435-0829-429F-82A7-DC174E16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ADAPTATION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38F39-9CBA-462B-AC1F-5FB291F5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Which options reduce the risk?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A9757-600F-4784-869F-D77B4090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0375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938A1F-56D3-43EC-AC21-BAAA4071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304E"/>
          </a:solidFill>
          <a:ln xmlns:a="http://schemas.openxmlformats.org/drawingml/2006/main" w="9525">
            <a:solidFill>
              <a:srgbClr val="12304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31BDC-9030-49D5-8FC4-18F4867D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F9D00C-31E4-437F-8825-099121A8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INVESTMENT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DE5173-FCCD-4899-95E5-597E5E35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D7E5EC"/>
                </a:solidFill>
                <a:latin typeface="Lato"/>
                <a:ea typeface="Lato"/>
                <a:cs typeface="Lato"/>
              </a:rPr>
              <a:t>Why finance action now?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8E76DA-F9EC-4D52-8540-2499944E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896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394DAD-7990-4445-870A-D89D6C42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910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SCOPE OF CAVA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D42428-5920-492E-AAAD-47C0C682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57775"/>
            <a:ext cx="10172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CAVA records data selection and processing from the model ensemble to derived indicators. Exposure, vulnerability, feasibility and financing require additional evidence.</a:t>
            </a:r>
          </a:p>
        </p:txBody>
      </p:sp>
    </p:spTree>
    <p:extLst>
      <p:ext uri="{BB962C8B-B14F-4D97-AF65-F5344CB8AC3E}">
        <p14:creationId xmlns:p14="http://schemas.microsoft.com/office/powerpoint/2010/main" val="1960600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29B71-24A3-40BB-B2BA-23E41BAD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Development of CAVA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813BE-B8E9-46A5-8F9C-B60B5608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The system expanded from internal scripts to shared services while retaining a common processing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A703A-6CCE-445E-8AF0-CB4DD8A6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8DBA4-8642-4934-BDDE-7332AD9E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8AD76-08E6-42D6-971E-7976A04F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C3D41-89D3-4242-B214-C5C29C67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1FE67-F3FD-43DF-AC55-857795AD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AAA48-6012-459A-9F51-72262EE6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343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46662-7EE1-4398-9F40-FCCEB32B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D8DB0-5183-4DC0-8E3E-69A5A3F8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Internal FAO 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9B0DD-C8AB-4437-83D4-946DCF90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Reduce repeated technical work inside the climate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A75C7-FB7F-4E20-AD5E-FD061011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76575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38BBF-BCFD-4EB6-B62E-5C5F981B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343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BFDC9-F904-4E3A-B8F3-2542B96C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295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11220-BF5B-4AE7-A874-E7C1C79B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575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Shared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21DD4-A3EF-4A3E-BBEE-7D06C99D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543300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Standardize access, preparation and indicators across projects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3A097-D723-4A76-B7C8-8C98921D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76575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B2B0E-9ED0-497C-B0CC-5D6C258B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343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8AEE7-DD5B-4F0F-820D-68EAE689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95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0FB54-923D-43AA-B61C-00D6492F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Multiple entry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A8453-1706-404A-A45C-217B34B3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Serve guided users, analysts and developers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670BF-D0ED-417D-A90C-C48A6E3B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76575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EAD82-D546-4226-991E-37878C04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95500"/>
            <a:ext cx="2343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2304E"/>
          </a:solidFill>
          <a:ln xmlns:a="http://schemas.openxmlformats.org/drawingml/2006/main" w="9525">
            <a:solidFill>
              <a:srgbClr val="12304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E4E3B-8951-448D-8962-CAC07939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295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6FBD26-4A19-44ED-9B77-89138E8B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575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Open implementation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D8800-78A0-41FB-943A-8C16EA6E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43300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D7E5EC"/>
                </a:solidFill>
                <a:latin typeface="Lato"/>
                <a:ea typeface="Lato"/>
                <a:cs typeface="Lato"/>
              </a:rPr>
              <a:t>Support external reuse and country-level deployments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387F8-B281-479B-9BFA-12F7449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14900"/>
            <a:ext cx="853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411189-23A1-4BFA-87C1-BD0D284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5875"/>
            <a:ext cx="803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Current components include a web platform, R and Python packages, and shared backend services.</a:t>
            </a:r>
          </a:p>
        </p:txBody>
      </p:sp>
    </p:spTree>
    <p:extLst>
      <p:ext uri="{BB962C8B-B14F-4D97-AF65-F5344CB8AC3E}">
        <p14:creationId xmlns:p14="http://schemas.microsoft.com/office/powerpoint/2010/main" val="9897270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6B7DC8-2162-4B8B-B5E5-50A0A4B9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CORDEX data characteristics relevant to CAVA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1179E-790C-4B52-AD2A-2E3EFBB3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Regional resolution and ensemble structure provide useful information but require explicit processing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A353F-065C-4444-8942-30C164B5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378B3-1CD9-4D6F-80CD-E6B4A7E0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5A14F-94E2-4F74-894E-8AEC5148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9C5CB-83AF-43E3-8784-C3F58C45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3D7EB-2BCF-43B8-B4B3-E16CDC61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57CC6-B7B2-459E-B2A0-1542A2FA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DATASET CHARACTERISTICS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46F7D-4334-4313-80E9-2F3E8781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5265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3600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~25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B2075-4476-4CFB-8B3C-5B103C67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95600"/>
            <a:ext cx="404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8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Coordinated regional climate information across major inhabited regions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252EF-A427-42B5-8A90-1B2B6747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3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AAE19-AAA2-4182-A5D6-5570839D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671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Multi-model regional ensembles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A02FC-2257-4ACA-A866-0D7B11EC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10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913A3-039C-4805-BDED-B360F3D7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4340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Information on extremes and warming levels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16B0B-10A9-4ABF-886C-70D18BD7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86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007E1-33E3-433E-9FB4-141372F2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196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Sustained community and computational investment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7A318-8D32-4782-B39B-FF1652A5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52600"/>
            <a:ext cx="952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8D8CA-4FE1-41B4-AAA2-36568A4A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TECHNICAL REUSE BARRIERS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A80B3-6033-490F-ACB6-27F70A01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ARCHIVE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6D0A4-762B-4FB3-9931-8032E69D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Large NetCDF collections distributed across ESGF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1EAAD-4C9B-4423-8C08-B94F24BD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GRIDS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9F0D6-B9EE-4C0B-8118-A099B3D9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3370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Rotated or curvilinear coordinates require specialist handling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6296B6-CD3C-4A38-98C3-1A8018B1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07948-957C-42E7-973C-DF153B79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Calendars, units and long daily time series must be reconciled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03227-30DF-4534-9237-3608025D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ENSEMBLES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25F19-193E-434C-A530-1B49D980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960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GCM, RCM, scenario and member choices must remain traceable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0D20B-4D42-4A2C-A7CF-71E432BC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38750"/>
            <a:ext cx="5257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881096-66E6-4C3F-91BC-1EFC647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72100"/>
            <a:ext cx="478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8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CAVA standardizes access and preprocessing while retaining the original model and scenario identifiers.</a:t>
            </a:r>
          </a:p>
        </p:txBody>
      </p:sp>
    </p:spTree>
    <p:extLst>
      <p:ext uri="{BB962C8B-B14F-4D97-AF65-F5344CB8AC3E}">
        <p14:creationId xmlns:p14="http://schemas.microsoft.com/office/powerpoint/2010/main" val="634395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83EFD6-E330-47F4-85B3-A1D73D14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CAVA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0F5B6-6EEF-43F2-90D1-8DCBF61A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Data access, processing services and user interfaces are separated but use common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77CDA-45F0-44FE-9291-01976D0D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0273E-7E9E-4DCA-A72B-51DC0CE3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59C71-21F5-4F23-9879-4BF3B214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85C6E-C81B-4759-AFBF-A3CA8FCE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5AAE5-DEF3-46E3-815B-4A8F9C71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307F3-428C-4351-83FB-AFC4980E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8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A8BA4-2038-4176-99FF-F171D4D8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43075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49C11-EC1E-4A36-B781-3EBA723C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52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ERA5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71DBF-3DEF-4D6C-9625-7C51CD63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669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DF254-A9C0-41E1-A732-0DB4A461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52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CORDEX-CORE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33CE0-F153-4F57-B006-DAB496AD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669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36D22-630C-4F2C-A5F0-7B8F379F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CORDEX-CORE-BC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3A68A-5827-4E68-BC11-05162865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5941D-7B46-420B-8B6D-75D57B88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52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Impact datasets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799A7-44E8-413C-881D-1BDAB4CC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2667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6A643-981A-47AF-B620-140FE372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8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SHARED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FB781B-9E2D-494A-AB49-3E94D792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57475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304E"/>
          </a:solidFill>
          <a:ln xmlns:a="http://schemas.openxmlformats.org/drawingml/2006/main" w="9525">
            <a:solidFill>
              <a:srgbClr val="12304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40B3C-DE17-4055-BEAB-94FEA38B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67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Catalogue &amp; inventory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898FD-2DF4-4B2E-B997-97F47826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813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38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EDF58-2A47-483C-B73B-F6B83FD6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67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Remote subsetting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FE145-F0BA-441A-984E-DC7CECA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813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38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FBE301-3ECD-4E49-9337-FDC6E7D7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67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Harmonization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28C7C-2AA9-4EAB-A323-22F2CEDB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7813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38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61FCE-5A43-4AB5-BBCA-8B80F181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67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Indicators &amp; provenance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7B93D-A4CC-4743-9772-F5516106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2667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9142D6-AFAF-4705-B589-D22522B8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8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8D7A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8D7A"/>
                </a:solidFill>
                <a:latin typeface="Lato"/>
                <a:ea typeface="Lato"/>
                <a:cs typeface="Lato"/>
              </a:rPr>
              <a:t>ENTRY POINTS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D8B913-3C58-4B12-A0E0-4A4CD94E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294A92-E4FA-405B-9064-8C9E048B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814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CAVA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00A63A-E5C8-407B-9ACF-97CD4858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6957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964B7D-21B0-4B35-897D-6FD27276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814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 SDK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DFE38E-C5F8-4168-8439-3251D5D5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957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BDCBEB-2FF4-4643-8FB9-637F012F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814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Python SDK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2AF832-33FC-47A6-989B-E4BBD7F8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957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19CCB2-AC70-4FA4-A21F-93D3C633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814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Backend APIs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538D67-E080-4AA4-B228-FBCE5138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86250"/>
            <a:ext cx="2667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0243DF-0D73-4171-83DD-D3D33421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8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PRODUCTS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A890EB-1162-4031-B5BE-48C08C60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86275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324E73-C994-496F-8C20-98E42ECA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95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Maps &amp; reports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064FC3-C6B5-4264-A7FB-68523CD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101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06D6D9-9062-4EF9-A2AE-79A1ACE3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95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Reproducible analysis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16B565-A5E9-43B4-BB39-EE0FAD12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101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81B456-0B9E-4733-B738-797ED9E1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95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Downstream models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439F6B-D899-483D-81A9-4D92ACA4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6101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9D6EAD-84E3-4E5B-ADA0-5E50593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95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Country systems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E921BE-074B-41C6-88B2-AEE4DA15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95925"/>
            <a:ext cx="8991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C0320B-FD87-4DFA-80CA-6732CABE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591175"/>
            <a:ext cx="8553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Interfaces differ by user group; dataset identifiers, processing rules and provenance use the same backend.</a:t>
            </a:r>
          </a:p>
        </p:txBody>
      </p:sp>
    </p:spTree>
    <p:extLst>
      <p:ext uri="{BB962C8B-B14F-4D97-AF65-F5344CB8AC3E}">
        <p14:creationId xmlns:p14="http://schemas.microsoft.com/office/powerpoint/2010/main" val="1203195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014E49-F4B9-4650-A72B-F1912EF4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Analytical workflow for CORDEX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DCF21-6EF3-45E3-8539-3EE19A87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The workflow separates data operations from interpretation and records the main uncertainty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62659-5C93-4294-A0B1-DE986E69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45E16-898B-4431-9179-25555154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2736A-E8D2-4A79-B736-1A6C0493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80DFF-DA83-44B2-97EE-E30AE072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994CB-46BE-403F-82FA-27DEACDB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8E9F5-6736-49A7-A3FE-E9D01545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072EE-5366-4471-8CDA-6AE01FAE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583BE-52ED-4FD6-B913-CD52EEB0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478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E133B-3801-4E77-AC3C-C02CDF7F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Investment geography and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7A873-68E9-4C96-9C5F-D4BA26E0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81250"/>
            <a:ext cx="2952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3148C-9862-4994-9DD3-1F15F3C8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C939B-6DA3-4DBC-AC02-C35E330B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574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BC866-74CE-4418-B16E-1534D800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478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Ensemble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D2C17-810C-4AC3-843D-EB551212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Domain, scenarios, GCMs, RCMs and members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61DB0-9068-4575-842F-3AEBE24E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2952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D82E9-C55B-4BA5-A627-FE6AADDA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97456E-581B-4DCB-BF76-8B66C43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D0DFD-E712-4185-B665-752C67F3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478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Data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99F3C-3529-412D-8B0A-EFFFEBA9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Spatial and temporal subset with source identifiers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5A058-AFFD-4588-BC9C-FFB036A4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152775"/>
            <a:ext cx="2667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D1F8CA-C75B-4A92-84F5-B0912FA9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02BAC-94EF-4598-A622-51666FA3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0ADB98-C234-4485-96C4-B4456DC7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004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Preprocessing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9D919-71FB-4E03-BFC4-7BC31038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Grid, calendar, units and optional bias adjustment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40E187-A45A-478B-B776-6142E13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33850"/>
            <a:ext cx="2952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04F468-4F3C-43F7-B051-A647B11F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8D75EB-59A4-4D1B-A985-1CDF4569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100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4EC424-B6FC-4FAB-8C60-FCB5D776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004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Indicators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1F671B-BCC8-4495-99B4-72FA5166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672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Baseline, future periods and aggregation choices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832B5B-3AF2-4AFB-86D9-B0FB5418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33850"/>
            <a:ext cx="2952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752C8C-8923-45D7-8708-929C4C50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0DDDC6-9A9D-4517-91CF-3E5848F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7B6CB6-6460-429B-BCB3-4319C0F6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004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Interpretation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1544DD-5367-44F6-AE23-2831712D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Signal, spread, limitations and relevance to the decision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7ACDBA-F8EE-4A10-BA94-98CE5717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76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F2C544-BA88-40C3-BCFC-2BF94DA9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14975"/>
            <a:ext cx="1030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Outputs should report ensemble composition, reference period, transformations and uncertainty alongside the indicator.</a:t>
            </a:r>
          </a:p>
        </p:txBody>
      </p:sp>
    </p:spTree>
    <p:extLst>
      <p:ext uri="{BB962C8B-B14F-4D97-AF65-F5344CB8AC3E}">
        <p14:creationId xmlns:p14="http://schemas.microsoft.com/office/powerpoint/2010/main" val="932731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C5AFD-95E1-48AF-B84E-A8AD231D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Current evidence base for investment applications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01718-3484-4AD9-8165-58BE29EA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Portfolio estimates require a defined denominator, time period and attribution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75AA7-8A8D-4A82-B1AB-300480D6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BC288-52D0-432A-B196-4CC64BBF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1A183-F53B-4289-8DA8-A9BAC541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04CFE-4C34-43C9-B899-348B42C6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18CF5-DF25-4431-8084-2FD9CE14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951F3-A93C-414C-AB84-9D0546A3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PROVISIONAL PORTFOLIO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3B561-5E22-4344-A4FE-825F51F1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52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Annual value of projects using CAVA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12F79-4811-4499-9138-954A570B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87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$XX million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DF094-D4B5-49D2-AFE0-898D6610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1717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Specify approval year and 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FE25A-E9DF-4025-AA7A-E9DE50B9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389C3-E5EA-4CF5-A7F2-6B83FB33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43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Geographic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26734-342C-4545-B699-B9EDEF0F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0515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5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187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[XX] countries or regions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A7A2B-38CD-452C-BE0F-062AF78E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623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Distinguish national and multi-country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1F3E5-9B6F-4927-881A-4A8E765F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E9C40-87ED-45D6-AF23-BA545999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3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Investment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2E6E9-665D-4385-8D2F-AA669DE3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9575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187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[XX] projects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A9965-9DAD-43BA-BCA2-D947F85D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1529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Define whether concept notes and approved projects both 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0ACC0-3D7D-48E6-8873-BB2B30BB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BB95F-0B2E-4E00-A364-4CB35B97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ATTRIBUTION CRITERIA TO 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1B5FC-E46E-4206-B8D9-9BAE9F5C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04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75" b="0" i="0">
                <a:solidFill>
                  <a:srgbClr val="12304E"/>
                </a:solidFill>
                <a:latin typeface="Lato"/>
                <a:ea typeface="Lato"/>
                <a:cs typeface="Lato"/>
              </a:rPr>
              <a:t>Minimum criterion: the CAVA/CORDEX analysis appears in the project climate rationale or directly informs an adaptation option. Record the dataset version, analytical period and responsible analysis team.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BF999-B299-4A24-B4A6-63194FDF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076450"/>
            <a:ext cx="381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22450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96B26-9DC9-469F-82D8-02F946FB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Case studies and peer-reviewed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0707D-053A-45A6-9037-09689D98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Each example should report the data configuration, method, uncertainty treatment and decision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D520C-D230-418B-A55F-17AD4457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FC99D-89A1-424F-8B10-E6157875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A6033-FFD1-4CC4-84CB-0251D6CC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7CEEB-F339-4C75-B834-C953933E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ED071-60D4-4F7C-B2A1-7BF4D792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907BA-D476-41C1-9BD6-390A6E10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81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INVESTMENT CASE STUDIES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75F67-A101-4236-99EF-067CB24F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67056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FEE22-1DA6-4F8B-8F64-577F17DF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715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423A8-E824-4BB8-9B27-29C7E540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Case study 01 — [country / programme]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DC9F6-F3D9-4EC4-88A7-09F4119D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626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CORDEX configuration: [domain, GCM–RCM set, scenario]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Method: [indicator, baseline, future period, bias adjustment]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Use in project: [specific decision or analytical conclusion]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F4F5D-12DB-4FF8-9D8C-6912322E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67056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76938-07FE-45FA-9C8D-C1881FC6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5715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7DB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91993-2F0D-4528-B7F8-92745E97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Case study 02 — [country / programme]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40E7B-C225-40CD-A6C2-E5C335F4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626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CORDEX configuration: [domain, GCM–RCM set, scenario]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Method: [indicator, baseline, future period, bias adjustment]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Use in project: [specific decision or analytical conclusion]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0ADAD-F70F-460D-A428-2D87738F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811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PEER-REVIEWED PUBLICATIONS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51B28-0461-48F6-9799-05199F7C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114550"/>
            <a:ext cx="3333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F2B63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17F67-591E-4940-9577-CD16D9B0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[Paper title]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2459E-09AF-4426-9AD0-2CCE5123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9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[Authors, journal, year, DOI]</a:t>
            </a:r>
          </a:p>
          <a:p xmlns:a="http://schemas.openxmlformats.org/drawingml/2006/main">
            <a:pPr algn="l">
              <a:lnSpc>
                <a:spcPct val="109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[Dataset and principal methodological result]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87EAF-7992-4AC1-8342-601AC1D7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90950"/>
            <a:ext cx="3333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137DB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4E119-D216-42D9-B6B3-C3DF0567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19550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[Paper title]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6DCF7-AD26-4153-A9F1-1BD630D6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339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9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[Authors, journal, year, DOI]</a:t>
            </a:r>
          </a:p>
          <a:p xmlns:a="http://schemas.openxmlformats.org/drawingml/2006/main">
            <a:pPr algn="l">
              <a:lnSpc>
                <a:spcPct val="109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[Dataset and principal methodological result]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BEBE2-1BE8-4F43-878C-5E09B8E3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14975"/>
            <a:ext cx="50292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9525">
            <a:solidFill>
              <a:srgbClr val="C95C5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084D5-22E8-4C5B-AF38-C2F96D76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022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00" b="1" i="0">
                <a:solidFill>
                  <a:srgbClr val="C95C54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C95C54"/>
                </a:solidFill>
                <a:latin typeface="Lato"/>
                <a:ea typeface="Lato"/>
                <a:cs typeface="Lato"/>
              </a:rPr>
              <a:t>REPLACE ALL PLACEHOLDERS BEFORE CIRCULATION</a:t>
            </a:r>
          </a:p>
        </p:txBody>
      </p:sp>
    </p:spTree>
    <p:extLst>
      <p:ext uri="{BB962C8B-B14F-4D97-AF65-F5344CB8AC3E}">
        <p14:creationId xmlns:p14="http://schemas.microsoft.com/office/powerpoint/2010/main" val="1420658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AB22B-4229-4960-A1EF-4C9A0476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Topics for scientific coordination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592B0-12E0-4F96-8683-3CD2F376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Potential areas where CAVA implementation experience may inform CORDEX data use and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32E21-7211-49D5-8F90-310E0059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D706E-A4AC-4ADE-BFC0-50CB97DC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3BD49-521E-4FA9-AB59-981827DD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5EEE3-4699-4939-A0AE-D870917F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FFB0A-3C28-4CA1-8D97-9D882AAD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952CA-B026-45BF-80E6-86FDB38C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EXCHANGE OF TECHNICAL INFORMATION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54FC8-5655-4365-80FF-143DF9C4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619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1ECC0-7CD2-4B28-94BD-CDA2D11A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CORDEX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A16E8-509C-4E9E-BD93-D1CE08F2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764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Dataset availability, metadata conventions and interpretation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C282C-9937-4704-A711-5EEA5193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5619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E4F6C-95D3-4743-A71B-04D6068B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CAVA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978D7-550F-420F-A4EA-957A09B1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813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9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Observed access constraints and methodological questions from applied analyses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10150-BB57-4A9E-B93D-6F0593B6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5619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EFE14-051E-4D00-ACAF-4932043A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JOINT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B2D8D0-EB47-4962-8E52-F9887E9D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862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9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Provenance standards, country implementation tests and documented use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1B1CE-E4A5-43A1-B1E0-F8D1EA1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5260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CC6B4-2C31-4935-931F-A250EEF4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811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QUESTIONS FOR DISCUSSION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DC73A-2D3E-4E59-95B4-031CA419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A7242-A716-4E88-9A33-2CC116C5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19325"/>
            <a:ext cx="3276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Which CORDEX ensembles and metadata fields should CAVA prioritize?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D8143-5B92-418A-9E2A-683BD5E3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3914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1B54F-A064-4FCB-83C2-C5D0550F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289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1709E-7125-44F8-A540-388C79A8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9925"/>
            <a:ext cx="3276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What minimum information should accompany derived indicators?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A2FBF-DF14-4B08-9CF7-C819C226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914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1F662-A559-4E9C-87CC-5BC6F34D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195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AF1676-3AEC-42D8-B953-3ABE4E41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00525"/>
            <a:ext cx="3276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How should country products combine CORDEX and national observations?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C78B7-CCAE-47D5-9F02-08FE1FF0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48275"/>
            <a:ext cx="39147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F2EEFA-5991-4405-9554-EB01BD9C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81625"/>
            <a:ext cx="3457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8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Objective: maintain traceability from the CORDEX archive to each derived result used in project analysis.</a:t>
            </a:r>
          </a:p>
        </p:txBody>
      </p:sp>
    </p:spTree>
    <p:extLst>
      <p:ext uri="{BB962C8B-B14F-4D97-AF65-F5344CB8AC3E}">
        <p14:creationId xmlns:p14="http://schemas.microsoft.com/office/powerpoint/2010/main" val="427693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2026-09-23T11:28:39.1970000Z</dcterms:created>
  <dcterms:modified xsi:type="dcterms:W3CDTF">2026-09-23T11:28:39.1970000Z</dcterms:modified>
</coreProperties>
</file>