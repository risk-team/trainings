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dc5e18e49f4ea8" /><Relationship Type="http://schemas.openxmlformats.org/officeDocument/2006/relationships/extended-properties" Target="/docProps/app.xml" Id="R1b8ff4f109a44acc" /><Relationship Type="http://schemas.openxmlformats.org/officeDocument/2006/relationships/officeDocument" Target="/ppt/presentation.xml" Id="Ra0ab6dd3325149c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d44b6a628444f14"/>
  </p:sldMasterIdLst>
  <p:notesMasterIdLst>
    <p:notesMasterId xmlns:r="http://schemas.openxmlformats.org/officeDocument/2006/relationships" r:id="R78578352651c46a5"/>
  </p:notesMasterIdLst>
  <p:sldIdLst>
    <p:sldId xmlns:r="http://schemas.openxmlformats.org/officeDocument/2006/relationships" id="256" r:id="R7bb55f2e344143fb"/>
    <p:sldId xmlns:r="http://schemas.openxmlformats.org/officeDocument/2006/relationships" id="257" r:id="R8bbffb59d4964ddc"/>
    <p:sldId xmlns:r="http://schemas.openxmlformats.org/officeDocument/2006/relationships" id="258" r:id="R736a2eb6f6434dd6"/>
    <p:sldId xmlns:r="http://schemas.openxmlformats.org/officeDocument/2006/relationships" id="259" r:id="R6f686396e8f645e0"/>
    <p:sldId xmlns:r="http://schemas.openxmlformats.org/officeDocument/2006/relationships" id="260" r:id="R4499a22e9da44791"/>
    <p:sldId xmlns:r="http://schemas.openxmlformats.org/officeDocument/2006/relationships" id="261" r:id="R8a991e7f6391401a"/>
    <p:sldId xmlns:r="http://schemas.openxmlformats.org/officeDocument/2006/relationships" id="262" r:id="Ra60cee4e80cd4ef7"/>
    <p:sldId xmlns:r="http://schemas.openxmlformats.org/officeDocument/2006/relationships" id="263" r:id="R50445afad07d4c48"/>
    <p:sldId xmlns:r="http://schemas.openxmlformats.org/officeDocument/2006/relationships" id="264" r:id="R086f0b83085543ab"/>
    <p:sldId xmlns:r="http://schemas.openxmlformats.org/officeDocument/2006/relationships" id="265" r:id="Rc51aac1f5c274f20"/>
    <p:sldId xmlns:r="http://schemas.openxmlformats.org/officeDocument/2006/relationships" id="266" r:id="Rcafa041d24d54378"/>
    <p:sldId xmlns:r="http://schemas.openxmlformats.org/officeDocument/2006/relationships" id="267" r:id="Rfb54e7f3034f44fc"/>
    <p:sldId xmlns:r="http://schemas.openxmlformats.org/officeDocument/2006/relationships" id="268" r:id="R743c5ca5e4154609"/>
    <p:sldId xmlns:r="http://schemas.openxmlformats.org/officeDocument/2006/relationships" id="269" r:id="R66d8ce8aeecd4e45"/>
    <p:sldId xmlns:r="http://schemas.openxmlformats.org/officeDocument/2006/relationships" id="270" r:id="Ra5561a0eae644a81"/>
    <p:sldId xmlns:r="http://schemas.openxmlformats.org/officeDocument/2006/relationships" id="271" r:id="Rba73bb8c5b0a4009"/>
    <p:sldId xmlns:r="http://schemas.openxmlformats.org/officeDocument/2006/relationships" id="272" r:id="R00844824ca7f427d"/>
    <p:sldId xmlns:r="http://schemas.openxmlformats.org/officeDocument/2006/relationships" id="273" r:id="R8b5e6b6c7dff4b3a"/>
    <p:sldId xmlns:r="http://schemas.openxmlformats.org/officeDocument/2006/relationships" id="274" r:id="R73f5afeee4b546d8"/>
    <p:sldId xmlns:r="http://schemas.openxmlformats.org/officeDocument/2006/relationships" id="275" r:id="R86648ec30cad451b"/>
    <p:sldId xmlns:r="http://schemas.openxmlformats.org/officeDocument/2006/relationships" id="276" r:id="R7ffc9e0cfd1e4724"/>
    <p:sldId xmlns:r="http://schemas.openxmlformats.org/officeDocument/2006/relationships" id="277" r:id="Rb977a72d3d42413a"/>
    <p:sldId xmlns:r="http://schemas.openxmlformats.org/officeDocument/2006/relationships" id="278" r:id="R857f067a670a4ea3"/>
    <p:sldId xmlns:r="http://schemas.openxmlformats.org/officeDocument/2006/relationships" id="279" r:id="R3cea136f338e4d03"/>
    <p:sldId xmlns:r="http://schemas.openxmlformats.org/officeDocument/2006/relationships" id="280" r:id="R470282f10b2c4be6"/>
    <p:sldId xmlns:r="http://schemas.openxmlformats.org/officeDocument/2006/relationships" id="281" r:id="Rfd43b01e6f7b4899"/>
    <p:sldId xmlns:r="http://schemas.openxmlformats.org/officeDocument/2006/relationships" id="282" r:id="R8007d789cc7b44d9"/>
  </p:sldIdLst>
  <p:sldSz cx="12192000" cy="6858000"/>
  <p:notesSz cx="6858000" cy="9144000"/>
  <p:embeddedFontLst>
    <p:embeddedFont>
      <p:font typeface="Lato"/>
      <p:regular xmlns:r="http://schemas.openxmlformats.org/officeDocument/2006/relationships" r:id="R311e44452358457b"/>
      <p:bold xmlns:r="http://schemas.openxmlformats.org/officeDocument/2006/relationships" r:id="R5ac5c0be8b4b49f7"/>
      <p:italic xmlns:r="http://schemas.openxmlformats.org/officeDocument/2006/relationships" r:id="R2844689108514b44"/>
      <p:boldItalic xmlns:r="http://schemas.openxmlformats.org/officeDocument/2006/relationships" r:id="R0bafb36016824e3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e4ce91fcf045b5" /><Relationship Type="http://schemas.openxmlformats.org/officeDocument/2006/relationships/slideMaster" Target="/ppt/slideMasters/slideMaster1.xml" Id="R6d44b6a628444f14" /><Relationship Type="http://schemas.openxmlformats.org/officeDocument/2006/relationships/notesMaster" Target="/ppt/notesMasters/notesMaster1.xml" Id="R78578352651c46a5" /><Relationship Type="http://schemas.openxmlformats.org/officeDocument/2006/relationships/presProps" Target="/ppt/presProps.xml" Id="Rf878c012e391482e" /><Relationship Type="http://schemas.openxmlformats.org/officeDocument/2006/relationships/tableStyles" Target="/ppt/tableStyles.xml" Id="R8df30d2deb454716" /><Relationship Type="http://schemas.openxmlformats.org/officeDocument/2006/relationships/font" Target="/ppt/fonts/font.dat" Id="R311e44452358457b" /><Relationship Type="http://schemas.openxmlformats.org/officeDocument/2006/relationships/font" Target="/ppt/fonts/font2.dat" Id="R5ac5c0be8b4b49f7" /><Relationship Type="http://schemas.openxmlformats.org/officeDocument/2006/relationships/font" Target="/ppt/fonts/font3.dat" Id="R2844689108514b44" /><Relationship Type="http://schemas.openxmlformats.org/officeDocument/2006/relationships/font" Target="/ppt/fonts/font4.dat" Id="R0bafb36016824e32" /><Relationship Type="http://schemas.openxmlformats.org/officeDocument/2006/relationships/slide" Target="/ppt/slides/slide1.xml" Id="R7bb55f2e344143fb" /><Relationship Type="http://schemas.openxmlformats.org/officeDocument/2006/relationships/slide" Target="/ppt/slides/slide2.xml" Id="R8bbffb59d4964ddc" /><Relationship Type="http://schemas.openxmlformats.org/officeDocument/2006/relationships/slide" Target="/ppt/slides/slide3.xml" Id="R736a2eb6f6434dd6" /><Relationship Type="http://schemas.openxmlformats.org/officeDocument/2006/relationships/slide" Target="/ppt/slides/slide4.xml" Id="R6f686396e8f645e0" /><Relationship Type="http://schemas.openxmlformats.org/officeDocument/2006/relationships/slide" Target="/ppt/slides/slide5.xml" Id="R4499a22e9da44791" /><Relationship Type="http://schemas.openxmlformats.org/officeDocument/2006/relationships/slide" Target="/ppt/slides/slide6.xml" Id="R8a991e7f6391401a" /><Relationship Type="http://schemas.openxmlformats.org/officeDocument/2006/relationships/slide" Target="/ppt/slides/slide7.xml" Id="Ra60cee4e80cd4ef7" /><Relationship Type="http://schemas.openxmlformats.org/officeDocument/2006/relationships/slide" Target="/ppt/slides/slide8.xml" Id="R50445afad07d4c48" /><Relationship Type="http://schemas.openxmlformats.org/officeDocument/2006/relationships/slide" Target="/ppt/slides/slide9.xml" Id="R086f0b83085543ab" /><Relationship Type="http://schemas.openxmlformats.org/officeDocument/2006/relationships/slide" Target="/ppt/slides/slide10.xml" Id="Rc51aac1f5c274f20" /><Relationship Type="http://schemas.openxmlformats.org/officeDocument/2006/relationships/slide" Target="/ppt/slides/slide11.xml" Id="Rcafa041d24d54378" /><Relationship Type="http://schemas.openxmlformats.org/officeDocument/2006/relationships/slide" Target="/ppt/slides/slide12.xml" Id="Rfb54e7f3034f44fc" /><Relationship Type="http://schemas.openxmlformats.org/officeDocument/2006/relationships/slide" Target="/ppt/slides/slide13.xml" Id="R743c5ca5e4154609" /><Relationship Type="http://schemas.openxmlformats.org/officeDocument/2006/relationships/slide" Target="/ppt/slides/slide14.xml" Id="R66d8ce8aeecd4e45" /><Relationship Type="http://schemas.openxmlformats.org/officeDocument/2006/relationships/slide" Target="/ppt/slides/slide15.xml" Id="Ra5561a0eae644a81" /><Relationship Type="http://schemas.openxmlformats.org/officeDocument/2006/relationships/slide" Target="/ppt/slides/slide16.xml" Id="Rba73bb8c5b0a4009" /><Relationship Type="http://schemas.openxmlformats.org/officeDocument/2006/relationships/slide" Target="/ppt/slides/slide17.xml" Id="R00844824ca7f427d" /><Relationship Type="http://schemas.openxmlformats.org/officeDocument/2006/relationships/slide" Target="/ppt/slides/slide18.xml" Id="R8b5e6b6c7dff4b3a" /><Relationship Type="http://schemas.openxmlformats.org/officeDocument/2006/relationships/slide" Target="/ppt/slides/slide19.xml" Id="R73f5afeee4b546d8" /><Relationship Type="http://schemas.openxmlformats.org/officeDocument/2006/relationships/slide" Target="/ppt/slides/slide20.xml" Id="R86648ec30cad451b" /><Relationship Type="http://schemas.openxmlformats.org/officeDocument/2006/relationships/slide" Target="/ppt/slides/slide21.xml" Id="R7ffc9e0cfd1e4724" /><Relationship Type="http://schemas.openxmlformats.org/officeDocument/2006/relationships/slide" Target="/ppt/slides/slide22.xml" Id="Rb977a72d3d42413a" /><Relationship Type="http://schemas.openxmlformats.org/officeDocument/2006/relationships/slide" Target="/ppt/slides/slide23.xml" Id="R857f067a670a4ea3" /><Relationship Type="http://schemas.openxmlformats.org/officeDocument/2006/relationships/slide" Target="/ppt/slides/slide24.xml" Id="R3cea136f338e4d03" /><Relationship Type="http://schemas.openxmlformats.org/officeDocument/2006/relationships/slide" Target="/ppt/slides/slide25.xml" Id="R470282f10b2c4be6" /><Relationship Type="http://schemas.openxmlformats.org/officeDocument/2006/relationships/slide" Target="/ppt/slides/slide26.xml" Id="Rfd43b01e6f7b4899" /><Relationship Type="http://schemas.openxmlformats.org/officeDocument/2006/relationships/slide" Target="/ppt/slides/slide27.xml" Id="R8007d789cc7b44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9153d5ec624f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b7bf484b1a4e87" /><Relationship Type="http://schemas.openxmlformats.org/officeDocument/2006/relationships/notesMaster" Target="/ppt/notesMasters/notesMaster1.xml" Id="R113e13663b244a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df424e79bb42a3" /><Relationship Type="http://schemas.openxmlformats.org/officeDocument/2006/relationships/notesMaster" Target="/ppt/notesMasters/notesMaster1.xml" Id="Rbe1c243d62864f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40f465654c419d" /><Relationship Type="http://schemas.openxmlformats.org/officeDocument/2006/relationships/notesMaster" Target="/ppt/notesMasters/notesMaster1.xml" Id="R9f9bbda07e5e46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11990c9d564ed9" /><Relationship Type="http://schemas.openxmlformats.org/officeDocument/2006/relationships/notesMaster" Target="/ppt/notesMasters/notesMaster1.xml" Id="R66044adab2a647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ed2aa4ab5e4ff2" /><Relationship Type="http://schemas.openxmlformats.org/officeDocument/2006/relationships/notesMaster" Target="/ppt/notesMasters/notesMaster1.xml" Id="R3c157a84c9b0413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36274ca4cc4827" /><Relationship Type="http://schemas.openxmlformats.org/officeDocument/2006/relationships/notesMaster" Target="/ppt/notesMasters/notesMaster1.xml" Id="R2faa96f2f30b47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c49bb680144aef" /><Relationship Type="http://schemas.openxmlformats.org/officeDocument/2006/relationships/notesMaster" Target="/ppt/notesMasters/notesMaster1.xml" Id="R13f86ce6c7df48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fea7523a1b43ae" /><Relationship Type="http://schemas.openxmlformats.org/officeDocument/2006/relationships/notesMaster" Target="/ppt/notesMasters/notesMaster1.xml" Id="Re2b4e5578ca548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4416050021441d2" /><Relationship Type="http://schemas.openxmlformats.org/officeDocument/2006/relationships/notesMaster" Target="/ppt/notesMasters/notesMaster1.xml" Id="R2e11edca5ba94e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74753c5ed3442d" /><Relationship Type="http://schemas.openxmlformats.org/officeDocument/2006/relationships/notesMaster" Target="/ppt/notesMasters/notesMaster1.xml" Id="Rd47e5ff01d9c46a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903325e9ff4792" /><Relationship Type="http://schemas.openxmlformats.org/officeDocument/2006/relationships/notesMaster" Target="/ppt/notesMasters/notesMaster1.xml" Id="R27ca1dd4236a41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6341aba97db42b9" /><Relationship Type="http://schemas.openxmlformats.org/officeDocument/2006/relationships/notesMaster" Target="/ppt/notesMasters/notesMaster1.xml" Id="R78acf27cd19d49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9e7e48aa3a3408d" /><Relationship Type="http://schemas.openxmlformats.org/officeDocument/2006/relationships/notesMaster" Target="/ppt/notesMasters/notesMaster1.xml" Id="R407976300ff04a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b12c9ead4be486a" /><Relationship Type="http://schemas.openxmlformats.org/officeDocument/2006/relationships/notesMaster" Target="/ppt/notesMasters/notesMaster1.xml" Id="R48bad9a0b0f24a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ecf6c44bb04f2b" /><Relationship Type="http://schemas.openxmlformats.org/officeDocument/2006/relationships/notesMaster" Target="/ppt/notesMasters/notesMaster1.xml" Id="R4d5abbefc46d4ae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80a384f11b4ff9" /><Relationship Type="http://schemas.openxmlformats.org/officeDocument/2006/relationships/notesMaster" Target="/ppt/notesMasters/notesMaster1.xml" Id="R5ccbb15a4e514b1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f9a4992d0ef42de" /><Relationship Type="http://schemas.openxmlformats.org/officeDocument/2006/relationships/notesMaster" Target="/ppt/notesMasters/notesMaster1.xml" Id="R688035c76c7942e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1bb0c4be5b04595" /><Relationship Type="http://schemas.openxmlformats.org/officeDocument/2006/relationships/notesMaster" Target="/ppt/notesMasters/notesMaster1.xml" Id="R1955d54e00c048b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67d121f6be54452" /><Relationship Type="http://schemas.openxmlformats.org/officeDocument/2006/relationships/notesMaster" Target="/ppt/notesMasters/notesMaster1.xml" Id="Rea15a839655c456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06409ca2a344fbd" /><Relationship Type="http://schemas.openxmlformats.org/officeDocument/2006/relationships/notesMaster" Target="/ppt/notesMasters/notesMaster1.xml" Id="Rc4f4db7df9644e2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a09f942374f4205" /><Relationship Type="http://schemas.openxmlformats.org/officeDocument/2006/relationships/notesMaster" Target="/ppt/notesMasters/notesMaster1.xml" Id="Refd60c1efc8c488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b74388b4c414af3" /><Relationship Type="http://schemas.openxmlformats.org/officeDocument/2006/relationships/notesMaster" Target="/ppt/notesMasters/notesMaster1.xml" Id="Re1798bf5a40744c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fa9e516b3974590" /><Relationship Type="http://schemas.openxmlformats.org/officeDocument/2006/relationships/notesMaster" Target="/ppt/notesMasters/notesMaster1.xml" Id="R98ae363dbeca4b5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526bba2da52414d" /><Relationship Type="http://schemas.openxmlformats.org/officeDocument/2006/relationships/notesMaster" Target="/ppt/notesMasters/notesMaster1.xml" Id="R0d579888b8454b2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a6683099fe14a9a" /><Relationship Type="http://schemas.openxmlformats.org/officeDocument/2006/relationships/notesMaster" Target="/ppt/notesMasters/notesMaster1.xml" Id="Rfec5909046754c6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0809538b06c4100" /><Relationship Type="http://schemas.openxmlformats.org/officeDocument/2006/relationships/notesMaster" Target="/ppt/notesMasters/notesMaster1.xml" Id="R1d21ab4e801e490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e4435b178fa4a93" /><Relationship Type="http://schemas.openxmlformats.org/officeDocument/2006/relationships/notesMaster" Target="/ppt/notesMasters/notesMaster1.xml" Id="Rfdfc4fa696284b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Welcome participants and introduce the training series. Explain that Module 1 builds a shared conceptual foundation before the hands-on platform and coding sessions. Sources: CAVA Training Series Concept Note and Module 1 run sheet supplied by the user; CAVA Platform homepage/interface, accessed 21 September 2026, https://cavaplatform.fao.org/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Position Module 1 within the full series. The concept note lists Modules 1 and 2 as online, with Modules 3 and 4 in hybrid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Explain the division of roles: Hideki covers the climate science behind the datasets; Riccardo shows how people currently access and prepare climate data; Riccardo and Ezequiel then introduce what CAVA changes and how the workflow operates.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Ask participants what information they would need before showing the three application contexts. Keep the discussion focused on the decision rather than the software.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2 minutes. Establish the journey that structures the rest of the session. Source: FAO describes CAVA as a climate service that combines a web platform with R and Python tools for harmonized historical and future climate data, indicators and analytical workflows. https://www.fao.org/agroinformatics/news/news-detail/fao-digital-solutions-now-available-as-open-source--cava-and-ex-act/en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Hideki. Invite him to explain what observations, reanalysis and climate projections represent, and why models, scenarios and spatial resolution matter before any dataset is selected.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Hideki to confirm. Explain that station and satellite observations remain essential, while reanalysis combines observations with a model to provide spatially complete estimates. ERA5 covers the global atmosphere from 1940 onward. Sources: https://climate.copernicus.eu/what-copernicus-climate-change-services-era5-reanalysis-dataset and https://climate.copernicus.eu/reanalysis-qas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7 minutes. Draft for Hideki to confirm. Use an intuitive distinction: a forecast depends strongly on the current atmospheric state, while a long-term climate projection examines statistics under assumptions about future forcing. IPCC background: https://www.ipcc.ch/report/ar6/wg1/chapter/chapter-4/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Hideki to confirm. Introduce CMIP5/RCP and CMIP6/SSP terminology only briefly. ScenarioMIP coordinates simulations driven by alternative plausible futures of emissions and land use. Source: https://wcrp-cmip.org/mips/scenariomip/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Draft for Hideki to confirm. CORDEX-CORE provides a coordinated ensemble of high-resolution regional climate information, generally around 25 km, across major inhabited regions. Source: https://cordex.org/experiment-guidelines/cordex-cmip5/cordex-core/cordex-core-simulations/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Show that climate information is already available, but access remains distributed across catalogues and services. Copernicus CDS supports interactive and API access; ESGF distributes climate-model archives; CORDEX provides regional climate information. Sources: https://cds.climate.copernicus.eu/user-guide ; https://esgf.llnl.gov/ ; https://cordex.org/data-access/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back to Riccardo. The science explains why the choices matter. This section focuses on the operational work required to turn archived climate data into usable information.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Build the dimensions one by one. Emphasize that the challenge is not only file size. It is also consistent selection, calendars, units, spatial grids and repeatability. CAVAanalytics documentation describes these preparation burdens: https://un-fao.github.io/CAVAanalytics/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6 minutes. Explain that bias is assessed by comparing a model’s historical simulation with an appropriate historical reference such as observations or reanalysis. The chart is conceptual and contains no real data.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Avoid presenting bias correction as a universal solution. CAVA provides access to pre-computed bias-corrected CORDEX-CORE datasets and supports bias-correction workflows where relevant. Sources: https://github.com/un-fao/cavapy and https://un-fao.github.io/CAVAanalytics/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Ask participants to replace the question ‘Which model is correct?’ with ‘What range of plausible outcomes does the ensemble show?’ IPCC describes ensembles as a way to sample possible outcomes and communicate uncertainty. Source: https://www.ipcc.ch/apps/njlite/srex/njlite_download.php?id=6946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4 minutes. This is a teaching example, not a universal definition of heat hazard. CAVAanalytics supports threshold and consecutive-day indicators, including days above 35°C and heatwave-style definitions. Source: https://un-fao.github.io/CAVAanalytics/reference/observations.html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CAVA addresses recurring operational work between climate archives and usable outputs. It combines a web platform with R and Python tools and provides access to harmonized historical and future climate data, indicators and analytical workflows. Source: https://www.fao.org/agroinformatics/news/news-detail/fao-digital-solutions-now-available-as-open-source--cava-and-ex-act/en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Handover to Ezequiel / University of Cantabria. The following three slides contain draft content based on the module plan and public CAVA documentation. Confirm technical architecture and terminology before delivery.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Public cavapy documentation states that it retrieves, subsets and processes CORDEX-CORE and ERA5 through THREDDS/OPeNDAP and returns analysis-ready xarray objects. Source: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Keep the explanation conceptual and avoid unnecessary infrastructure detail. The diagram reflects public descriptions of the Platform, CAVAanalytics and cavapy, but the operational architecture should be validated by the technical team. Sources: https://www.fao.org/agroinformatics/news/news-detail/fao-digital-solutions-now-available-as-open-source--cava-and-ex-act/en and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Draft for Ezequiel to confirm. FAO describes CAVA as combining an intuitive web platform with programmatic tools in R and Python. Public documentation describes CAVAanalytics as an R framework and cavapy as a Python package. Sources: https://www.fao.org/agroinformatics/news/news-detail/fao-digital-solutions-now-available-as-open-source--cava-and-ex-act/en, https://un-fao.github.io/CAVAanalytics/, https://github.com/un-fao/cavapy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8 minutes. Work through the example with Riccardo and Ezequiel. Ask participants to identify where judgement enters the workflow. The 35°C threshold is illustrative and must be tailored to the context. No quantitative result is claimed on this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Use this checklist to prepare participants for Module 2, where they will interpret maps and comparisons in the CAVA Platform.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3 minutes. Invite one participant to restate each point in their own words. Keep the recap short so there is time for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Timing: 5 minutes. Take questions and collect issues to revisit in Module 2. Close by confirming the next session: 29 September 2026, 10:00–11:30, online.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7fe082a02741aa"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53b9ed062441ba" /><Relationship Type="http://schemas.openxmlformats.org/officeDocument/2006/relationships/slideLayout" Target="/ppt/slideLayouts/slideLayout1.xml" Id="R4692a58b437e45e9"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692a58b437e45e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00aaee08884c5c" /><Relationship Type="http://schemas.openxmlformats.org/officeDocument/2006/relationships/image" Target="/ppt/media/image.png" Id="Rfea56d6af6a54417" /><Relationship Type="http://schemas.openxmlformats.org/officeDocument/2006/relationships/notesSlide" Target="/ppt/notesSlides/notesSlide1.xml" Id="R8b1202a8258546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c3ce8d82904df7" /><Relationship Type="http://schemas.openxmlformats.org/officeDocument/2006/relationships/notesSlide" Target="/ppt/notesSlides/notesSlide2.xml" Id="Rfbfdf1781289457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c4a198549554d8e" /><Relationship Type="http://schemas.openxmlformats.org/officeDocument/2006/relationships/notesSlide" Target="/ppt/notesSlides/notesSlide3.xml" Id="R1288e08b486b4d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657a27708d4244" /><Relationship Type="http://schemas.openxmlformats.org/officeDocument/2006/relationships/notesSlide" Target="/ppt/notesSlides/notesSlide4.xml" Id="R7a5c4dfe3abf45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ed8f7c18df4192" /><Relationship Type="http://schemas.openxmlformats.org/officeDocument/2006/relationships/notesSlide" Target="/ppt/notesSlides/notesSlide5.xml" Id="Ra8b7ab3057d44f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29b2498afd4144" /><Relationship Type="http://schemas.openxmlformats.org/officeDocument/2006/relationships/notesSlide" Target="/ppt/notesSlides/notesSlide6.xml" Id="Rd1f8ec5b4ae644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347b598c724574" /><Relationship Type="http://schemas.openxmlformats.org/officeDocument/2006/relationships/notesSlide" Target="/ppt/notesSlides/notesSlide7.xml" Id="Ra3954fcc49234b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7ddff2811ff483f" /><Relationship Type="http://schemas.openxmlformats.org/officeDocument/2006/relationships/notesSlide" Target="/ppt/notesSlides/notesSlide8.xml" Id="R0dd7c335c38242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921731a2e6145fd" /><Relationship Type="http://schemas.openxmlformats.org/officeDocument/2006/relationships/notesSlide" Target="/ppt/notesSlides/notesSlide9.xml" Id="R756b25df8bd148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c0d5562b2db4870" /><Relationship Type="http://schemas.openxmlformats.org/officeDocument/2006/relationships/notesSlide" Target="/ppt/notesSlides/notesSlide10.xml" Id="Rc5f8ee772fe34a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b56a0cd3c544dfc" /><Relationship Type="http://schemas.openxmlformats.org/officeDocument/2006/relationships/notesSlide" Target="/ppt/notesSlides/notesSlide11.xml" Id="Ra00f353681e849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845678025424b4e" /><Relationship Type="http://schemas.openxmlformats.org/officeDocument/2006/relationships/notesSlide" Target="/ppt/notesSlides/notesSlide12.xml" Id="Rbfba0a865e8940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0c0e382402c4915" /><Relationship Type="http://schemas.openxmlformats.org/officeDocument/2006/relationships/notesSlide" Target="/ppt/notesSlides/notesSlide13.xml" Id="R7a9ca5927ac04ef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01a23304b2f45f6" /><Relationship Type="http://schemas.openxmlformats.org/officeDocument/2006/relationships/notesSlide" Target="/ppt/notesSlides/notesSlide14.xml" Id="R0f7781a824f8453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940045f8faf4285" /><Relationship Type="http://schemas.openxmlformats.org/officeDocument/2006/relationships/notesSlide" Target="/ppt/notesSlides/notesSlide15.xml" Id="R8b0912d16fba41c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afa9004a56044bc" /><Relationship Type="http://schemas.openxmlformats.org/officeDocument/2006/relationships/notesSlide" Target="/ppt/notesSlides/notesSlide16.xml" Id="Rb27799bda54f44b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04128aaf23944f3" /><Relationship Type="http://schemas.openxmlformats.org/officeDocument/2006/relationships/notesSlide" Target="/ppt/notesSlides/notesSlide17.xml" Id="R38f9ba9c99c445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7650f39a133498f" /><Relationship Type="http://schemas.openxmlformats.org/officeDocument/2006/relationships/notesSlide" Target="/ppt/notesSlides/notesSlide18.xml" Id="Reb2a8cf0287641c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3830c9d1cf0442f" /><Relationship Type="http://schemas.openxmlformats.org/officeDocument/2006/relationships/notesSlide" Target="/ppt/notesSlides/notesSlide19.xml" Id="R24dae7424949466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d03d47337744711" /><Relationship Type="http://schemas.openxmlformats.org/officeDocument/2006/relationships/notesSlide" Target="/ppt/notesSlides/notesSlide20.xml" Id="R25753b2633254a2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b80411077ee4743" /><Relationship Type="http://schemas.openxmlformats.org/officeDocument/2006/relationships/notesSlide" Target="/ppt/notesSlides/notesSlide21.xml" Id="R4e74466349e64ff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8cc478bef1246a4" /><Relationship Type="http://schemas.openxmlformats.org/officeDocument/2006/relationships/image" Target="/ppt/media/image.png" Id="R312d56c35cca42b4" /><Relationship Type="http://schemas.openxmlformats.org/officeDocument/2006/relationships/hyperlink" Target="https://cavaplatform.fao.org/" TargetMode="External" Id="Rba82913d7ec84994" /><Relationship Type="http://schemas.openxmlformats.org/officeDocument/2006/relationships/hyperlink" Target="https://github.com/un-fao/CAVAanalytics" TargetMode="External" Id="Rae767e8c4d6d4c2b" /><Relationship Type="http://schemas.openxmlformats.org/officeDocument/2006/relationships/hyperlink" Target="https://github.com/un-fao/cavapy" TargetMode="External" Id="R4a1ba9f416844b0f" /><Relationship Type="http://schemas.openxmlformats.org/officeDocument/2006/relationships/notesSlide" Target="/ppt/notesSlides/notesSlide22.xml" Id="R349e637931144db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f5474dddd584bc6" /><Relationship Type="http://schemas.openxmlformats.org/officeDocument/2006/relationships/image" Target="/ppt/media/image2.png" Id="R7a3b641ec7d74ad7" /><Relationship Type="http://schemas.openxmlformats.org/officeDocument/2006/relationships/notesSlide" Target="/ppt/notesSlides/notesSlide23.xml" Id="R24489b8ec6c9413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9c88d945f744847" /><Relationship Type="http://schemas.openxmlformats.org/officeDocument/2006/relationships/notesSlide" Target="/ppt/notesSlides/notesSlide24.xml" Id="Rf808db9e91da462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7835e1308334b1f" /><Relationship Type="http://schemas.openxmlformats.org/officeDocument/2006/relationships/notesSlide" Target="/ppt/notesSlides/notesSlide25.xml" Id="R743474e7b25d443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703d576583f4fc4" /><Relationship Type="http://schemas.openxmlformats.org/officeDocument/2006/relationships/notesSlide" Target="/ppt/notesSlides/notesSlide26.xml" Id="R45c5a36450ec4e1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6457e4fdd66445c" /><Relationship Type="http://schemas.openxmlformats.org/officeDocument/2006/relationships/notesSlide" Target="/ppt/notesSlides/notesSlide27.xml" Id="Rfdb20e2a8cb14947" /></Relationships>
</file>

<file path=ppt/slides/slide1.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pic>
        <p:nvPicPr>
          <p:cNvPr id="31" name="Google Shape;16;p3"/>
          <p:cNvPicPr>
            <a:picLocks xmlns:a="http://schemas.openxmlformats.org/drawingml/2006/main" noChangeAspect="1"/>
          </p:cNvPicPr>
          <p:nvPr/>
        </p:nvPicPr>
        <p:blipFill rotWithShape="1">
          <a:blip xmlns:r="http://schemas.openxmlformats.org/officeDocument/2006/relationships" xmlns:a="http://schemas.openxmlformats.org/drawingml/2006/main" r:embed="Rfea56d6af6a54417">
            <a:alphaModFix/>
          </a:blip>
          <a:srcRect xmlns:a="http://schemas.openxmlformats.org/drawingml/2006/main" l="0" t="11293" r="0" b="11293"/>
          <a:stretch xmlns:a="http://schemas.openxmlformats.org/drawingml/2006/main"/>
        </p:blipFill>
        <p:spPr>
          <a:xfrm xmlns:a="http://schemas.openxmlformats.org/drawingml/2006/main">
            <a:off x="0" y="0"/>
            <a:ext cx="12192000" cy="6858000"/>
          </a:xfrm>
          <a:prstGeom xmlns:a="http://schemas.openxmlformats.org/drawingml/2006/main" prst="rect">
            <a:avLst/>
          </a:prstGeom>
          <a:ln xmlns:a="http://schemas.openxmlformats.org/drawingml/2006/main">
            <a:noFill/>
          </a:ln>
        </p:spPr>
      </p:pic>
      <p:sp>
        <p:nvSpPr>
          <p:cNvPr id="17" name="Google Shape;17;p3">
            <a:extLst xmlns:a="http://schemas.openxmlformats.org/drawingml/2006/main">
              <a:ext uri="{FF2B5EF4-FFF2-40B4-BE49-F238E27FC236}">
                <a16:creationId xmlns:a16="http://schemas.microsoft.com/office/drawing/2014/main" id="{0132AD3C-F6AB-41B9-8090-462A2C7891A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gs>
              <a:gs pos="28000">
                <a:srgbClr val="12304E">
                  <a:alpha val="98039"/>
                </a:srgbClr>
              </a:gs>
              <a:gs pos="48000">
                <a:srgbClr val="12304E">
                  <a:alpha val="83922"/>
                </a:srgbClr>
              </a:gs>
              <a:gs pos="70000">
                <a:srgbClr val="12304E">
                  <a:alpha val="36078"/>
                </a:srgbClr>
              </a:gs>
              <a:gs pos="100000">
                <a:srgbClr val="12304E">
                  <a:alpha val="10196"/>
                </a:srgbClr>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 name="Google Shape;18;p3">
            <a:extLst xmlns:a="http://schemas.openxmlformats.org/drawingml/2006/main">
              <a:ext uri="{FF2B5EF4-FFF2-40B4-BE49-F238E27FC236}">
                <a16:creationId xmlns:a16="http://schemas.microsoft.com/office/drawing/2014/main" id="{19D60EC2-840D-4682-9686-908B00E1EC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2304E">
                  <a:alpha val="0"/>
                </a:srgbClr>
              </a:gs>
              <a:gs pos="52000">
                <a:srgbClr val="12304E">
                  <a:alpha val="0"/>
                </a:srgbClr>
              </a:gs>
              <a:gs pos="75000">
                <a:srgbClr val="12304E">
                  <a:alpha val="18039"/>
                </a:srgbClr>
              </a:gs>
              <a:gs pos="100000">
                <a:srgbClr val="12304E">
                  <a:alpha val="72157"/>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 name="Google Shape;19;p3">
            <a:extLst xmlns:a="http://schemas.openxmlformats.org/drawingml/2006/main">
              <a:ext uri="{FF2B5EF4-FFF2-40B4-BE49-F238E27FC236}">
                <a16:creationId xmlns:a16="http://schemas.microsoft.com/office/drawing/2014/main" id="{6F8312EF-52C6-4960-AB9C-A0C6B014C1A9}"/>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 name="Google Shape;20;p3">
            <a:extLst xmlns:a="http://schemas.openxmlformats.org/drawingml/2006/main">
              <a:ext uri="{FF2B5EF4-FFF2-40B4-BE49-F238E27FC236}">
                <a16:creationId xmlns:a16="http://schemas.microsoft.com/office/drawing/2014/main" id="{67875692-84F7-486F-A7F9-80162B62DD54}"/>
              </a:ext>
            </a:extLst>
          </p:cNvPr>
          <p:cNvSpPr>
            <a:spLocks xmlns:a="http://schemas.openxmlformats.org/drawingml/2006/main" noGrp="1"/>
          </p:cNvSpPr>
          <p:nvPr/>
        </p:nvSpPr>
        <p:spPr>
          <a:xfrm xmlns:a="http://schemas.openxmlformats.org/drawingml/2006/main">
            <a:off x="704850" y="609600"/>
            <a:ext cx="1028700" cy="381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 name="Google Shape;21;p3">
            <a:extLst xmlns:a="http://schemas.openxmlformats.org/drawingml/2006/main">
              <a:ext uri="{FF2B5EF4-FFF2-40B4-BE49-F238E27FC236}">
                <a16:creationId xmlns:a16="http://schemas.microsoft.com/office/drawing/2014/main" id="{98AE3356-3357-4EAB-A669-EF359B668AFE}"/>
              </a:ext>
            </a:extLst>
          </p:cNvPr>
          <p:cNvSpPr>
            <a:spLocks xmlns:a="http://schemas.openxmlformats.org/drawingml/2006/main" noGrp="1"/>
          </p:cNvSpPr>
          <p:nvPr/>
        </p:nvSpPr>
        <p:spPr>
          <a:xfrm xmlns:a="http://schemas.openxmlformats.org/drawingml/2006/main">
            <a:off x="704850" y="1000125"/>
            <a:ext cx="4095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78D8C8"/>
              </a:buClr>
              <a:buSzPts val="1050"/>
              <a:buFont typeface="Lato"/>
              <a:buNone/>
            </a:pPr>
            <a:r>
              <a:rPr sz="1050" b="1" i="0">
                <a:solidFill>
                  <a:srgbClr val="78D8C8"/>
                </a:solidFill>
                <a:latin typeface="Lato"/>
                <a:ea typeface="Lato"/>
                <a:cs typeface="Lato"/>
              </a:rPr>
              <a:t>CAVA TRAINING SERIES</a:t>
            </a:r>
            <a:endParaRPr/>
          </a:p>
        </p:txBody>
      </p:sp>
      <p:sp>
        <p:nvSpPr>
          <p:cNvPr id="22" name="Google Shape;22;p3">
            <a:extLst xmlns:a="http://schemas.openxmlformats.org/drawingml/2006/main">
              <a:ext uri="{FF2B5EF4-FFF2-40B4-BE49-F238E27FC236}">
                <a16:creationId xmlns:a16="http://schemas.microsoft.com/office/drawing/2014/main" id="{3E37D1A2-8A18-429D-8850-5A7FBFF29EFF}"/>
              </a:ext>
            </a:extLst>
          </p:cNvPr>
          <p:cNvSpPr>
            <a:spLocks xmlns:a="http://schemas.openxmlformats.org/drawingml/2006/main" noGrp="1"/>
          </p:cNvSpPr>
          <p:nvPr/>
        </p:nvSpPr>
        <p:spPr>
          <a:xfrm xmlns:a="http://schemas.openxmlformats.org/drawingml/2006/main">
            <a:off x="704850" y="1743075"/>
            <a:ext cx="5238750" cy="2238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4000"/>
              </a:lnSpc>
              <a:spcBef>
                <a:spcPts val="0"/>
              </a:spcBef>
              <a:spcAft>
                <a:spcPts val="0"/>
              </a:spcAft>
              <a:buClr>
                <a:srgbClr val="FFFFFF"/>
              </a:buClr>
              <a:buSzPts val="3450"/>
              <a:buFont typeface="Lato"/>
              <a:buNone/>
            </a:pPr>
            <a:r>
              <a:rPr sz="3450" b="1" i="0">
                <a:solidFill>
                  <a:srgbClr val="FFFFFF"/>
                </a:solidFill>
                <a:latin typeface="Lato"/>
                <a:ea typeface="Lato"/>
                <a:cs typeface="Lato"/>
              </a:rPr>
              <a:t>Understanding climate information and the CAVA ecosystem</a:t>
            </a:r>
            <a:endParaRPr/>
          </a:p>
        </p:txBody>
      </p:sp>
      <p:sp>
        <p:nvSpPr>
          <p:cNvPr id="23" name="Google Shape;23;p3">
            <a:extLst xmlns:a="http://schemas.openxmlformats.org/drawingml/2006/main">
              <a:ext uri="{FF2B5EF4-FFF2-40B4-BE49-F238E27FC236}">
                <a16:creationId xmlns:a16="http://schemas.microsoft.com/office/drawing/2014/main" id="{674E1379-A4FA-45B9-A892-63CA1F1C77CA}"/>
              </a:ext>
            </a:extLst>
          </p:cNvPr>
          <p:cNvSpPr>
            <a:spLocks xmlns:a="http://schemas.openxmlformats.org/drawingml/2006/main" noGrp="1"/>
          </p:cNvSpPr>
          <p:nvPr/>
        </p:nvSpPr>
        <p:spPr>
          <a:xfrm xmlns:a="http://schemas.openxmlformats.org/drawingml/2006/main">
            <a:off x="714375" y="4457700"/>
            <a:ext cx="1714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MODULE 1</a:t>
            </a:r>
            <a:endParaRPr/>
          </a:p>
        </p:txBody>
      </p:sp>
      <p:sp>
        <p:nvSpPr>
          <p:cNvPr id="24" name="Google Shape;24;p3">
            <a:extLst xmlns:a="http://schemas.openxmlformats.org/drawingml/2006/main">
              <a:ext uri="{FF2B5EF4-FFF2-40B4-BE49-F238E27FC236}">
                <a16:creationId xmlns:a16="http://schemas.microsoft.com/office/drawing/2014/main" id="{D845C296-D200-4523-A321-F089507F1434}"/>
              </a:ext>
            </a:extLst>
          </p:cNvPr>
          <p:cNvSpPr>
            <a:spLocks xmlns:a="http://schemas.openxmlformats.org/drawingml/2006/main" noGrp="1"/>
          </p:cNvSpPr>
          <p:nvPr/>
        </p:nvSpPr>
        <p:spPr>
          <a:xfrm xmlns:a="http://schemas.openxmlformats.org/drawingml/2006/main">
            <a:off x="714375" y="4953000"/>
            <a:ext cx="2095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28 September 2026</a:t>
            </a:r>
            <a:endParaRPr/>
          </a:p>
        </p:txBody>
      </p:sp>
      <p:sp>
        <p:nvSpPr>
          <p:cNvPr id="25" name="Google Shape;25;p3">
            <a:extLst xmlns:a="http://schemas.openxmlformats.org/drawingml/2006/main">
              <a:ext uri="{FF2B5EF4-FFF2-40B4-BE49-F238E27FC236}">
                <a16:creationId xmlns:a16="http://schemas.microsoft.com/office/drawing/2014/main" id="{0E182110-06DB-48AA-B66C-56AC387CA7DC}"/>
              </a:ext>
            </a:extLst>
          </p:cNvPr>
          <p:cNvSpPr>
            <a:spLocks xmlns:a="http://schemas.openxmlformats.org/drawingml/2006/main" noGrp="1"/>
          </p:cNvSpPr>
          <p:nvPr/>
        </p:nvSpPr>
        <p:spPr>
          <a:xfrm xmlns:a="http://schemas.openxmlformats.org/drawingml/2006/main">
            <a:off x="714375" y="5257800"/>
            <a:ext cx="2476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1050"/>
              <a:buFont typeface="Lato"/>
              <a:buNone/>
            </a:pPr>
            <a:r>
              <a:rPr sz="1050" b="0" i="0">
                <a:solidFill>
                  <a:srgbClr val="D7E5EC"/>
                </a:solidFill>
                <a:latin typeface="Lato"/>
                <a:ea typeface="Lato"/>
                <a:cs typeface="Lato"/>
              </a:rPr>
              <a:t>10:00–11:30  ·  Online</a:t>
            </a:r>
            <a:endParaRPr/>
          </a:p>
        </p:txBody>
      </p:sp>
      <p:sp>
        <p:nvSpPr>
          <p:cNvPr id="26" name="Google Shape;26;p3">
            <a:extLst xmlns:a="http://schemas.openxmlformats.org/drawingml/2006/main">
              <a:ext uri="{FF2B5EF4-FFF2-40B4-BE49-F238E27FC236}">
                <a16:creationId xmlns:a16="http://schemas.microsoft.com/office/drawing/2014/main" id="{DF29EF58-139D-43C1-93DB-87C367F8B4D0}"/>
              </a:ext>
            </a:extLst>
          </p:cNvPr>
          <p:cNvSpPr>
            <a:spLocks xmlns:a="http://schemas.openxmlformats.org/drawingml/2006/main" noGrp="1"/>
          </p:cNvSpPr>
          <p:nvPr/>
        </p:nvSpPr>
        <p:spPr>
          <a:xfrm xmlns:a="http://schemas.openxmlformats.org/drawingml/2006/main">
            <a:off x="714375" y="6019800"/>
            <a:ext cx="4381500" cy="9525"/>
          </a:xfrm>
          <a:prstGeom xmlns:a="http://schemas.openxmlformats.org/drawingml/2006/main" prst="rect">
            <a:avLst/>
          </a:prstGeom>
          <a:solidFill xmlns:a="http://schemas.openxmlformats.org/drawingml/2006/main">
            <a:srgbClr val="A8C0CD">
              <a:alpha val="54902"/>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 name="Google Shape;27;p3">
            <a:extLst xmlns:a="http://schemas.openxmlformats.org/drawingml/2006/main">
              <a:ext uri="{FF2B5EF4-FFF2-40B4-BE49-F238E27FC236}">
                <a16:creationId xmlns:a16="http://schemas.microsoft.com/office/drawing/2014/main" id="{33A0E52C-0E5B-420B-8431-67EF026F0F0F}"/>
              </a:ext>
            </a:extLst>
          </p:cNvPr>
          <p:cNvSpPr>
            <a:spLocks xmlns:a="http://schemas.openxmlformats.org/drawingml/2006/main" noGrp="1"/>
          </p:cNvSpPr>
          <p:nvPr/>
        </p:nvSpPr>
        <p:spPr>
          <a:xfrm xmlns:a="http://schemas.openxmlformats.org/drawingml/2006/main">
            <a:off x="714375" y="6172200"/>
            <a:ext cx="4381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7E5EC"/>
              </a:buClr>
              <a:buSzPts val="900"/>
              <a:buFont typeface="Lato"/>
              <a:buNone/>
            </a:pPr>
            <a:r>
              <a:rPr sz="900" b="0" i="0">
                <a:solidFill>
                  <a:srgbClr val="D7E5EC"/>
                </a:solidFill>
                <a:latin typeface="Lato"/>
                <a:ea typeface="Lato"/>
                <a:cs typeface="Lato"/>
              </a:rPr>
              <a:t>From climate information to climate impact analysis</a:t>
            </a:r>
            <a:endParaRPr/>
          </a:p>
        </p:txBody>
      </p:sp>
      <p:sp>
        <p:nvSpPr>
          <p:cNvPr id="28" name="Google Shape;28;p3">
            <a:extLst xmlns:a="http://schemas.openxmlformats.org/drawingml/2006/main">
              <a:ext uri="{FF2B5EF4-FFF2-40B4-BE49-F238E27FC236}">
                <a16:creationId xmlns:a16="http://schemas.microsoft.com/office/drawing/2014/main" id="{340D64E2-2C2B-455E-BEFF-0714106E781F}"/>
              </a:ext>
            </a:extLst>
          </p:cNvPr>
          <p:cNvSpPr>
            <a:spLocks xmlns:a="http://schemas.openxmlformats.org/drawingml/2006/main" noGrp="1"/>
          </p:cNvSpPr>
          <p:nvPr/>
        </p:nvSpPr>
        <p:spPr>
          <a:xfrm xmlns:a="http://schemas.openxmlformats.org/drawingml/2006/main">
            <a:off x="9525000" y="647700"/>
            <a:ext cx="1952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FFFFFF"/>
              </a:buClr>
              <a:buSzPts val="4642"/>
              <a:buFont typeface="Lato"/>
              <a:buNone/>
            </a:pPr>
            <a:r>
              <a:rPr sz="4643" b="1" i="0">
                <a:solidFill>
                  <a:srgbClr val="FFFFFF"/>
                </a:solidFill>
                <a:latin typeface="Lato"/>
                <a:ea typeface="Lato"/>
                <a:cs typeface="Lato"/>
              </a:rPr>
              <a:t>CAVA</a:t>
            </a:r>
            <a:endParaRPr/>
          </a:p>
        </p:txBody>
      </p:sp>
      <p:sp>
        <p:nvSpPr>
          <p:cNvPr id="29" name="Google Shape;29;p3">
            <a:extLst xmlns:a="http://schemas.openxmlformats.org/drawingml/2006/main">
              <a:ext uri="{FF2B5EF4-FFF2-40B4-BE49-F238E27FC236}">
                <a16:creationId xmlns:a16="http://schemas.microsoft.com/office/drawing/2014/main" id="{E358DF4B-4A02-4CD1-9145-539FC0F9E3EF}"/>
              </a:ext>
            </a:extLst>
          </p:cNvPr>
          <p:cNvSpPr>
            <a:spLocks xmlns:a="http://schemas.openxmlformats.org/drawingml/2006/main" noGrp="1"/>
          </p:cNvSpPr>
          <p:nvPr/>
        </p:nvSpPr>
        <p:spPr>
          <a:xfrm xmlns:a="http://schemas.openxmlformats.org/drawingml/2006/main">
            <a:off x="8362950" y="1419225"/>
            <a:ext cx="311467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CLIMATE AND AGRICULTURE RISK</a:t>
            </a:r>
            <a:endParaRPr/>
          </a:p>
          <a:p xmlns:a="http://schemas.openxmlformats.org/drawingml/2006/main">
            <a:pPr marL="0" marR="0" lvl="0" indent="0" algn="r">
              <a:lnSpc>
                <a:spcPct val="115000"/>
              </a:lnSpc>
              <a:spcBef>
                <a:spcPts val="0"/>
              </a:spcBef>
              <a:spcAft>
                <a:spcPts val="0"/>
              </a:spcAft>
              <a:buClr>
                <a:srgbClr val="FFFFFF"/>
              </a:buClr>
              <a:buSzPts val="825"/>
              <a:buFont typeface="Lato"/>
              <a:buNone/>
            </a:pPr>
            <a:r>
              <a:rPr sz="825" b="1" i="0">
                <a:solidFill>
                  <a:srgbClr val="FFFFFF"/>
                </a:solidFill>
                <a:latin typeface="Lato"/>
                <a:ea typeface="Lato"/>
                <a:cs typeface="Lato"/>
              </a:rPr>
              <a:t>VISUALIZATION AND ASSESSMENT</a:t>
            </a:r>
            <a:endParaRPr/>
          </a:p>
        </p:txBody>
      </p:sp>
    </p:spTree>
    <p:extLst>
      <p:ext uri="{BB962C8B-B14F-4D97-AF65-F5344CB8AC3E}">
        <p14:creationId xmlns:p14="http://schemas.microsoft.com/office/powerpoint/2010/main" val="1395468612"/>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5" name="Google Shape;35;p4">
            <a:extLst xmlns:a="http://schemas.openxmlformats.org/drawingml/2006/main">
              <a:ext uri="{FF2B5EF4-FFF2-40B4-BE49-F238E27FC236}">
                <a16:creationId xmlns:a16="http://schemas.microsoft.com/office/drawing/2014/main" id="{319AC1E4-BD3C-4292-ACD0-A1E583E1253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Training series agenda</a:t>
            </a:r>
            <a:endParaRPr/>
          </a:p>
        </p:txBody>
      </p:sp>
      <p:sp>
        <p:nvSpPr>
          <p:cNvPr id="36" name="Google Shape;36;p4">
            <a:extLst xmlns:a="http://schemas.openxmlformats.org/drawingml/2006/main">
              <a:ext uri="{FF2B5EF4-FFF2-40B4-BE49-F238E27FC236}">
                <a16:creationId xmlns:a16="http://schemas.microsoft.com/office/drawing/2014/main" id="{6961BCDE-B3C1-4585-9333-4617D4FB9C82}"/>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modules move from concepts to practical access, technical workflows and impact modelling</a:t>
            </a:r>
            <a:endParaRPr/>
          </a:p>
        </p:txBody>
      </p:sp>
      <p:sp>
        <p:nvSpPr>
          <p:cNvPr id="37" name="Google Shape;37;p4">
            <a:extLst xmlns:a="http://schemas.openxmlformats.org/drawingml/2006/main">
              <a:ext uri="{FF2B5EF4-FFF2-40B4-BE49-F238E27FC236}">
                <a16:creationId xmlns:a16="http://schemas.microsoft.com/office/drawing/2014/main" id="{A6FB25BB-012F-494E-89F7-CE92ECE4AC3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 name="Google Shape;38;p4">
            <a:extLst xmlns:a="http://schemas.openxmlformats.org/drawingml/2006/main">
              <a:ext uri="{FF2B5EF4-FFF2-40B4-BE49-F238E27FC236}">
                <a16:creationId xmlns:a16="http://schemas.microsoft.com/office/drawing/2014/main" id="{21FE13DA-3AAD-44F2-9754-91EE4981662C}"/>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 name="Google Shape;39;p4">
            <a:extLst xmlns:a="http://schemas.openxmlformats.org/drawingml/2006/main">
              <a:ext uri="{FF2B5EF4-FFF2-40B4-BE49-F238E27FC236}">
                <a16:creationId xmlns:a16="http://schemas.microsoft.com/office/drawing/2014/main" id="{7936D1A0-219C-4237-9839-841D5454A0C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 name="Google Shape;40;p4">
            <a:extLst xmlns:a="http://schemas.openxmlformats.org/drawingml/2006/main">
              <a:ext uri="{FF2B5EF4-FFF2-40B4-BE49-F238E27FC236}">
                <a16:creationId xmlns:a16="http://schemas.microsoft.com/office/drawing/2014/main" id="{19DF2422-1015-4282-A77A-04C2BDC758BD}"/>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1" name="Google Shape;41;p4">
            <a:extLst xmlns:a="http://schemas.openxmlformats.org/drawingml/2006/main">
              <a:ext uri="{FF2B5EF4-FFF2-40B4-BE49-F238E27FC236}">
                <a16:creationId xmlns:a16="http://schemas.microsoft.com/office/drawing/2014/main" id="{E4A10481-CA92-4C8D-97F8-F51829C1C7D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02</a:t>
            </a:r>
            <a:endParaRPr/>
          </a:p>
        </p:txBody>
      </p:sp>
      <p:sp>
        <p:nvSpPr>
          <p:cNvPr id="42" name="Google Shape;42;p4">
            <a:extLst xmlns:a="http://schemas.openxmlformats.org/drawingml/2006/main">
              <a:ext uri="{FF2B5EF4-FFF2-40B4-BE49-F238E27FC236}">
                <a16:creationId xmlns:a16="http://schemas.microsoft.com/office/drawing/2014/main" id="{63BFF2A3-E144-46E5-BFDA-0450222C8B6C}"/>
              </a:ext>
            </a:extLst>
          </p:cNvPr>
          <p:cNvSpPr>
            <a:spLocks xmlns:a="http://schemas.openxmlformats.org/drawingml/2006/main" noGrp="1"/>
          </p:cNvSpPr>
          <p:nvPr/>
        </p:nvSpPr>
        <p:spPr>
          <a:xfrm xmlns:a="http://schemas.openxmlformats.org/drawingml/2006/main">
            <a:off x="723900" y="1876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650"/>
              <a:buFont typeface="Lato"/>
              <a:buNone/>
            </a:pPr>
            <a:r>
              <a:rPr sz="1650" b="1" i="0">
                <a:solidFill>
                  <a:srgbClr val="00A88F"/>
                </a:solidFill>
                <a:latin typeface="Lato"/>
                <a:ea typeface="Lato"/>
                <a:cs typeface="Lato"/>
              </a:rPr>
              <a:t>01</a:t>
            </a:r>
            <a:endParaRPr/>
          </a:p>
        </p:txBody>
      </p:sp>
      <p:sp>
        <p:nvSpPr>
          <p:cNvPr id="43" name="Google Shape;43;p4">
            <a:extLst xmlns:a="http://schemas.openxmlformats.org/drawingml/2006/main">
              <a:ext uri="{FF2B5EF4-FFF2-40B4-BE49-F238E27FC236}">
                <a16:creationId xmlns:a16="http://schemas.microsoft.com/office/drawing/2014/main" id="{D0EEA73E-80A8-479C-8A29-2EDF2484B24E}"/>
              </a:ext>
            </a:extLst>
          </p:cNvPr>
          <p:cNvSpPr>
            <a:spLocks xmlns:a="http://schemas.openxmlformats.org/drawingml/2006/main" noGrp="1"/>
          </p:cNvSpPr>
          <p:nvPr/>
        </p:nvSpPr>
        <p:spPr>
          <a:xfrm xmlns:a="http://schemas.openxmlformats.org/drawingml/2006/main">
            <a:off x="1352550" y="1905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28 SEP</a:t>
            </a:r>
            <a:endParaRPr/>
          </a:p>
        </p:txBody>
      </p:sp>
      <p:sp>
        <p:nvSpPr>
          <p:cNvPr id="44" name="Google Shape;44;p4">
            <a:extLst xmlns:a="http://schemas.openxmlformats.org/drawingml/2006/main">
              <a:ext uri="{FF2B5EF4-FFF2-40B4-BE49-F238E27FC236}">
                <a16:creationId xmlns:a16="http://schemas.microsoft.com/office/drawing/2014/main" id="{F30574DB-89DC-46A4-9701-047FF163949B}"/>
              </a:ext>
            </a:extLst>
          </p:cNvPr>
          <p:cNvSpPr>
            <a:spLocks xmlns:a="http://schemas.openxmlformats.org/drawingml/2006/main" noGrp="1"/>
          </p:cNvSpPr>
          <p:nvPr/>
        </p:nvSpPr>
        <p:spPr>
          <a:xfrm xmlns:a="http://schemas.openxmlformats.org/drawingml/2006/main">
            <a:off x="2324100" y="1752600"/>
            <a:ext cx="38100" cy="685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 name="Google Shape;45;p4">
            <a:extLst xmlns:a="http://schemas.openxmlformats.org/drawingml/2006/main">
              <a:ext uri="{FF2B5EF4-FFF2-40B4-BE49-F238E27FC236}">
                <a16:creationId xmlns:a16="http://schemas.microsoft.com/office/drawing/2014/main" id="{64334668-1450-4008-8B68-68CC87ED18BE}"/>
              </a:ext>
            </a:extLst>
          </p:cNvPr>
          <p:cNvSpPr>
            <a:spLocks xmlns:a="http://schemas.openxmlformats.org/drawingml/2006/main" noGrp="1"/>
          </p:cNvSpPr>
          <p:nvPr/>
        </p:nvSpPr>
        <p:spPr>
          <a:xfrm xmlns:a="http://schemas.openxmlformats.org/drawingml/2006/main">
            <a:off x="2590800" y="1790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Introduction to the CAVA ecosystem</a:t>
            </a:r>
            <a:endParaRPr/>
          </a:p>
        </p:txBody>
      </p:sp>
      <p:sp>
        <p:nvSpPr>
          <p:cNvPr id="46" name="Google Shape;46;p4">
            <a:extLst xmlns:a="http://schemas.openxmlformats.org/drawingml/2006/main">
              <a:ext uri="{FF2B5EF4-FFF2-40B4-BE49-F238E27FC236}">
                <a16:creationId xmlns:a16="http://schemas.microsoft.com/office/drawing/2014/main" id="{63DFEC9D-C93E-4415-BA49-6B560F621873}"/>
              </a:ext>
            </a:extLst>
          </p:cNvPr>
          <p:cNvSpPr>
            <a:spLocks xmlns:a="http://schemas.openxmlformats.org/drawingml/2006/main" noGrp="1"/>
          </p:cNvSpPr>
          <p:nvPr/>
        </p:nvSpPr>
        <p:spPr>
          <a:xfrm xmlns:a="http://schemas.openxmlformats.org/drawingml/2006/main">
            <a:off x="2590800" y="2152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47" name="Google Shape;47;p4">
            <a:extLst xmlns:a="http://schemas.openxmlformats.org/drawingml/2006/main">
              <a:ext uri="{FF2B5EF4-FFF2-40B4-BE49-F238E27FC236}">
                <a16:creationId xmlns:a16="http://schemas.microsoft.com/office/drawing/2014/main" id="{44B7BCB1-7B1B-4204-8C0B-7F534EECE21D}"/>
              </a:ext>
            </a:extLst>
          </p:cNvPr>
          <p:cNvSpPr>
            <a:spLocks xmlns:a="http://schemas.openxmlformats.org/drawingml/2006/main" noGrp="1"/>
          </p:cNvSpPr>
          <p:nvPr/>
        </p:nvSpPr>
        <p:spPr>
          <a:xfrm xmlns:a="http://schemas.openxmlformats.org/drawingml/2006/main">
            <a:off x="9715500" y="1924050"/>
            <a:ext cx="1104900" cy="285750"/>
          </a:xfrm>
          <a:prstGeom xmlns:a="http://schemas.openxmlformats.org/drawingml/2006/main" prst="roundRect">
            <a:avLst>
              <a:gd name="adj" fmla="val 26667"/>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76200" tIns="28575" rIns="76200" bIns="2857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900"/>
              <a:buFont typeface="Lato"/>
              <a:buNone/>
            </a:pPr>
            <a:r>
              <a:rPr sz="900" b="1" i="0">
                <a:solidFill>
                  <a:srgbClr val="FFFFFF"/>
                </a:solidFill>
                <a:latin typeface="Lato"/>
                <a:ea typeface="Lato"/>
                <a:cs typeface="Lato"/>
              </a:rPr>
              <a:t>TODAY</a:t>
            </a:r>
            <a:endParaRPr/>
          </a:p>
        </p:txBody>
      </p:sp>
      <p:sp>
        <p:nvSpPr>
          <p:cNvPr id="48" name="Google Shape;48;p4">
            <a:extLst xmlns:a="http://schemas.openxmlformats.org/drawingml/2006/main">
              <a:ext uri="{FF2B5EF4-FFF2-40B4-BE49-F238E27FC236}">
                <a16:creationId xmlns:a16="http://schemas.microsoft.com/office/drawing/2014/main" id="{FB75A9ED-979F-43BD-A225-B7122F4DAD8C}"/>
              </a:ext>
            </a:extLst>
          </p:cNvPr>
          <p:cNvSpPr>
            <a:spLocks xmlns:a="http://schemas.openxmlformats.org/drawingml/2006/main" noGrp="1"/>
          </p:cNvSpPr>
          <p:nvPr/>
        </p:nvSpPr>
        <p:spPr>
          <a:xfrm xmlns:a="http://schemas.openxmlformats.org/drawingml/2006/main">
            <a:off x="723900" y="2828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650"/>
              <a:buFont typeface="Lato"/>
              <a:buNone/>
            </a:pPr>
            <a:r>
              <a:rPr sz="1650" b="1" i="0">
                <a:solidFill>
                  <a:srgbClr val="183A59"/>
                </a:solidFill>
                <a:latin typeface="Lato"/>
                <a:ea typeface="Lato"/>
                <a:cs typeface="Lato"/>
              </a:rPr>
              <a:t>02</a:t>
            </a:r>
            <a:endParaRPr/>
          </a:p>
        </p:txBody>
      </p:sp>
      <p:sp>
        <p:nvSpPr>
          <p:cNvPr id="49" name="Google Shape;49;p4">
            <a:extLst xmlns:a="http://schemas.openxmlformats.org/drawingml/2006/main">
              <a:ext uri="{FF2B5EF4-FFF2-40B4-BE49-F238E27FC236}">
                <a16:creationId xmlns:a16="http://schemas.microsoft.com/office/drawing/2014/main" id="{328A83AE-B0E0-4331-965F-113022D0041E}"/>
              </a:ext>
            </a:extLst>
          </p:cNvPr>
          <p:cNvSpPr>
            <a:spLocks xmlns:a="http://schemas.openxmlformats.org/drawingml/2006/main" noGrp="1"/>
          </p:cNvSpPr>
          <p:nvPr/>
        </p:nvSpPr>
        <p:spPr>
          <a:xfrm xmlns:a="http://schemas.openxmlformats.org/drawingml/2006/main">
            <a:off x="1352550" y="2857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29 SEP</a:t>
            </a:r>
            <a:endParaRPr/>
          </a:p>
        </p:txBody>
      </p:sp>
      <p:sp>
        <p:nvSpPr>
          <p:cNvPr id="50" name="Google Shape;50;p4">
            <a:extLst xmlns:a="http://schemas.openxmlformats.org/drawingml/2006/main">
              <a:ext uri="{FF2B5EF4-FFF2-40B4-BE49-F238E27FC236}">
                <a16:creationId xmlns:a16="http://schemas.microsoft.com/office/drawing/2014/main" id="{300474B5-E532-401F-9D38-C5168460F0A3}"/>
              </a:ext>
            </a:extLst>
          </p:cNvPr>
          <p:cNvSpPr>
            <a:spLocks xmlns:a="http://schemas.openxmlformats.org/drawingml/2006/main" noGrp="1"/>
          </p:cNvSpPr>
          <p:nvPr/>
        </p:nvSpPr>
        <p:spPr>
          <a:xfrm xmlns:a="http://schemas.openxmlformats.org/drawingml/2006/main">
            <a:off x="2324100" y="2705100"/>
            <a:ext cx="38100" cy="68580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 name="Google Shape;51;p4">
            <a:extLst xmlns:a="http://schemas.openxmlformats.org/drawingml/2006/main">
              <a:ext uri="{FF2B5EF4-FFF2-40B4-BE49-F238E27FC236}">
                <a16:creationId xmlns:a16="http://schemas.microsoft.com/office/drawing/2014/main" id="{B85E92A3-E734-4677-B196-D08DAFF06104}"/>
              </a:ext>
            </a:extLst>
          </p:cNvPr>
          <p:cNvSpPr>
            <a:spLocks xmlns:a="http://schemas.openxmlformats.org/drawingml/2006/main" noGrp="1"/>
          </p:cNvSpPr>
          <p:nvPr/>
        </p:nvSpPr>
        <p:spPr>
          <a:xfrm xmlns:a="http://schemas.openxmlformats.org/drawingml/2006/main">
            <a:off x="2590800" y="2743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Using the CAVA Platform</a:t>
            </a:r>
            <a:endParaRPr/>
          </a:p>
        </p:txBody>
      </p:sp>
      <p:sp>
        <p:nvSpPr>
          <p:cNvPr id="52" name="Google Shape;52;p4">
            <a:extLst xmlns:a="http://schemas.openxmlformats.org/drawingml/2006/main">
              <a:ext uri="{FF2B5EF4-FFF2-40B4-BE49-F238E27FC236}">
                <a16:creationId xmlns:a16="http://schemas.microsoft.com/office/drawing/2014/main" id="{B957B5F0-0121-4F7B-B825-BC8507F864ED}"/>
              </a:ext>
            </a:extLst>
          </p:cNvPr>
          <p:cNvSpPr>
            <a:spLocks xmlns:a="http://schemas.openxmlformats.org/drawingml/2006/main" noGrp="1"/>
          </p:cNvSpPr>
          <p:nvPr/>
        </p:nvSpPr>
        <p:spPr>
          <a:xfrm xmlns:a="http://schemas.openxmlformats.org/drawingml/2006/main">
            <a:off x="2590800" y="3105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90 min · online</a:t>
            </a:r>
            <a:endParaRPr/>
          </a:p>
        </p:txBody>
      </p:sp>
      <p:sp>
        <p:nvSpPr>
          <p:cNvPr id="53" name="Google Shape;53;p4">
            <a:extLst xmlns:a="http://schemas.openxmlformats.org/drawingml/2006/main">
              <a:ext uri="{FF2B5EF4-FFF2-40B4-BE49-F238E27FC236}">
                <a16:creationId xmlns:a16="http://schemas.microsoft.com/office/drawing/2014/main" id="{ABD0FB58-9681-4A58-A6F1-C0883F09BB53}"/>
              </a:ext>
            </a:extLst>
          </p:cNvPr>
          <p:cNvSpPr>
            <a:spLocks xmlns:a="http://schemas.openxmlformats.org/drawingml/2006/main" noGrp="1"/>
          </p:cNvSpPr>
          <p:nvPr/>
        </p:nvSpPr>
        <p:spPr>
          <a:xfrm xmlns:a="http://schemas.openxmlformats.org/drawingml/2006/main">
            <a:off x="723900" y="37814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650"/>
              <a:buFont typeface="Lato"/>
              <a:buNone/>
            </a:pPr>
            <a:r>
              <a:rPr sz="1650" b="1" i="0">
                <a:solidFill>
                  <a:srgbClr val="F2B632"/>
                </a:solidFill>
                <a:latin typeface="Lato"/>
                <a:ea typeface="Lato"/>
                <a:cs typeface="Lato"/>
              </a:rPr>
              <a:t>03</a:t>
            </a:r>
            <a:endParaRPr/>
          </a:p>
        </p:txBody>
      </p:sp>
      <p:sp>
        <p:nvSpPr>
          <p:cNvPr id="54" name="Google Shape;54;p4">
            <a:extLst xmlns:a="http://schemas.openxmlformats.org/drawingml/2006/main">
              <a:ext uri="{FF2B5EF4-FFF2-40B4-BE49-F238E27FC236}">
                <a16:creationId xmlns:a16="http://schemas.microsoft.com/office/drawing/2014/main" id="{02D16910-E511-4AE7-9BF9-6C59A2A98678}"/>
              </a:ext>
            </a:extLst>
          </p:cNvPr>
          <p:cNvSpPr>
            <a:spLocks xmlns:a="http://schemas.openxmlformats.org/drawingml/2006/main" noGrp="1"/>
          </p:cNvSpPr>
          <p:nvPr/>
        </p:nvSpPr>
        <p:spPr>
          <a:xfrm xmlns:a="http://schemas.openxmlformats.org/drawingml/2006/main">
            <a:off x="1352550" y="38100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30 SEP</a:t>
            </a:r>
            <a:endParaRPr/>
          </a:p>
        </p:txBody>
      </p:sp>
      <p:sp>
        <p:nvSpPr>
          <p:cNvPr id="55" name="Google Shape;55;p4">
            <a:extLst xmlns:a="http://schemas.openxmlformats.org/drawingml/2006/main">
              <a:ext uri="{FF2B5EF4-FFF2-40B4-BE49-F238E27FC236}">
                <a16:creationId xmlns:a16="http://schemas.microsoft.com/office/drawing/2014/main" id="{B5E7354E-0489-4BE0-B616-DB7F837029F7}"/>
              </a:ext>
            </a:extLst>
          </p:cNvPr>
          <p:cNvSpPr>
            <a:spLocks xmlns:a="http://schemas.openxmlformats.org/drawingml/2006/main" noGrp="1"/>
          </p:cNvSpPr>
          <p:nvPr/>
        </p:nvSpPr>
        <p:spPr>
          <a:xfrm xmlns:a="http://schemas.openxmlformats.org/drawingml/2006/main">
            <a:off x="2324100" y="3657600"/>
            <a:ext cx="38100" cy="6858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 name="Google Shape;56;p4">
            <a:extLst xmlns:a="http://schemas.openxmlformats.org/drawingml/2006/main">
              <a:ext uri="{FF2B5EF4-FFF2-40B4-BE49-F238E27FC236}">
                <a16:creationId xmlns:a16="http://schemas.microsoft.com/office/drawing/2014/main" id="{FFDE3870-E15A-4C70-A33A-A9DC15D3391C}"/>
              </a:ext>
            </a:extLst>
          </p:cNvPr>
          <p:cNvSpPr>
            <a:spLocks xmlns:a="http://schemas.openxmlformats.org/drawingml/2006/main" noGrp="1"/>
          </p:cNvSpPr>
          <p:nvPr/>
        </p:nvSpPr>
        <p:spPr>
          <a:xfrm xmlns:a="http://schemas.openxmlformats.org/drawingml/2006/main">
            <a:off x="2590800" y="36957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workflows with CAVA backend</a:t>
            </a:r>
            <a:endParaRPr sz="1725" b="1" i="0">
              <a:solidFill>
                <a:srgbClr val="12304E"/>
              </a:solidFill>
              <a:latin typeface="Lato"/>
              <a:ea typeface="Lato"/>
              <a:cs typeface="Lato"/>
            </a:endParaRPr>
          </a:p>
        </p:txBody>
      </p:sp>
      <p:sp>
        <p:nvSpPr>
          <p:cNvPr id="57" name="Google Shape;57;p4">
            <a:extLst xmlns:a="http://schemas.openxmlformats.org/drawingml/2006/main">
              <a:ext uri="{FF2B5EF4-FFF2-40B4-BE49-F238E27FC236}">
                <a16:creationId xmlns:a16="http://schemas.microsoft.com/office/drawing/2014/main" id="{A22444FF-D217-4E56-AFFF-A9D4385A08C3}"/>
              </a:ext>
            </a:extLst>
          </p:cNvPr>
          <p:cNvSpPr>
            <a:spLocks xmlns:a="http://schemas.openxmlformats.org/drawingml/2006/main" noGrp="1"/>
          </p:cNvSpPr>
          <p:nvPr/>
        </p:nvSpPr>
        <p:spPr>
          <a:xfrm xmlns:a="http://schemas.openxmlformats.org/drawingml/2006/main">
            <a:off x="2590800" y="40576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
        <p:nvSpPr>
          <p:cNvPr id="58" name="Google Shape;58;p4">
            <a:extLst xmlns:a="http://schemas.openxmlformats.org/drawingml/2006/main">
              <a:ext uri="{FF2B5EF4-FFF2-40B4-BE49-F238E27FC236}">
                <a16:creationId xmlns:a16="http://schemas.microsoft.com/office/drawing/2014/main" id="{4E894BC9-40A6-4E44-A122-311F267A1A8A}"/>
              </a:ext>
            </a:extLst>
          </p:cNvPr>
          <p:cNvSpPr>
            <a:spLocks xmlns:a="http://schemas.openxmlformats.org/drawingml/2006/main" noGrp="1"/>
          </p:cNvSpPr>
          <p:nvPr/>
        </p:nvSpPr>
        <p:spPr>
          <a:xfrm xmlns:a="http://schemas.openxmlformats.org/drawingml/2006/main">
            <a:off x="723900" y="4733925"/>
            <a:ext cx="5143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04</a:t>
            </a:r>
            <a:endParaRPr/>
          </a:p>
        </p:txBody>
      </p:sp>
      <p:sp>
        <p:nvSpPr>
          <p:cNvPr id="59" name="Google Shape;59;p4">
            <a:extLst xmlns:a="http://schemas.openxmlformats.org/drawingml/2006/main">
              <a:ext uri="{FF2B5EF4-FFF2-40B4-BE49-F238E27FC236}">
                <a16:creationId xmlns:a16="http://schemas.microsoft.com/office/drawing/2014/main" id="{0003510B-CC4E-4C28-A50C-4CC44772FA30}"/>
              </a:ext>
            </a:extLst>
          </p:cNvPr>
          <p:cNvSpPr>
            <a:spLocks xmlns:a="http://schemas.openxmlformats.org/drawingml/2006/main" noGrp="1"/>
          </p:cNvSpPr>
          <p:nvPr/>
        </p:nvSpPr>
        <p:spPr>
          <a:xfrm xmlns:a="http://schemas.openxmlformats.org/drawingml/2006/main">
            <a:off x="1352550" y="4762500"/>
            <a:ext cx="8096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975"/>
              <a:buFont typeface="Lato"/>
              <a:buNone/>
            </a:pPr>
            <a:r>
              <a:rPr sz="975" b="1" i="0">
                <a:solidFill>
                  <a:srgbClr val="687984"/>
                </a:solidFill>
                <a:latin typeface="Lato"/>
                <a:ea typeface="Lato"/>
                <a:cs typeface="Lato"/>
              </a:rPr>
              <a:t>01 OCT</a:t>
            </a:r>
            <a:endParaRPr/>
          </a:p>
        </p:txBody>
      </p:sp>
      <p:sp>
        <p:nvSpPr>
          <p:cNvPr id="60" name="Google Shape;60;p4">
            <a:extLst xmlns:a="http://schemas.openxmlformats.org/drawingml/2006/main">
              <a:ext uri="{FF2B5EF4-FFF2-40B4-BE49-F238E27FC236}">
                <a16:creationId xmlns:a16="http://schemas.microsoft.com/office/drawing/2014/main" id="{2BD25D23-910C-4362-A953-CC593E9E1284}"/>
              </a:ext>
            </a:extLst>
          </p:cNvPr>
          <p:cNvSpPr>
            <a:spLocks xmlns:a="http://schemas.openxmlformats.org/drawingml/2006/main" noGrp="1"/>
          </p:cNvSpPr>
          <p:nvPr/>
        </p:nvSpPr>
        <p:spPr>
          <a:xfrm xmlns:a="http://schemas.openxmlformats.org/drawingml/2006/main">
            <a:off x="2324100" y="4610100"/>
            <a:ext cx="38100" cy="685800"/>
          </a:xfrm>
          <a:prstGeom xmlns:a="http://schemas.openxmlformats.org/drawingml/2006/main" prst="rect">
            <a:avLst/>
          </a:prstGeom>
          <a:solidFill xmlns:a="http://schemas.openxmlformats.org/drawingml/2006/main">
            <a:srgbClr val="008D7A"/>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 name="Google Shape;61;p4">
            <a:extLst xmlns:a="http://schemas.openxmlformats.org/drawingml/2006/main">
              <a:ext uri="{FF2B5EF4-FFF2-40B4-BE49-F238E27FC236}">
                <a16:creationId xmlns:a16="http://schemas.microsoft.com/office/drawing/2014/main" id="{69E376C0-5FDA-486F-9ADE-22BD4FAF8BE6}"/>
              </a:ext>
            </a:extLst>
          </p:cNvPr>
          <p:cNvSpPr>
            <a:spLocks xmlns:a="http://schemas.openxmlformats.org/drawingml/2006/main" noGrp="1"/>
          </p:cNvSpPr>
          <p:nvPr/>
        </p:nvSpPr>
        <p:spPr>
          <a:xfrm xmlns:a="http://schemas.openxmlformats.org/drawingml/2006/main">
            <a:off x="2590800" y="4648200"/>
            <a:ext cx="5810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725"/>
              <a:buFont typeface="Lato"/>
              <a:buNone/>
            </a:pPr>
            <a:r>
              <a:rPr sz="1725" b="1" i="0">
                <a:solidFill>
                  <a:srgbClr val="12304E"/>
                </a:solidFill>
                <a:latin typeface="Lato"/>
                <a:ea typeface="Lato"/>
                <a:cs typeface="Lato"/>
              </a:rPr>
              <a:t>Climate data for crop modelling</a:t>
            </a:r>
            <a:endParaRPr/>
          </a:p>
        </p:txBody>
      </p:sp>
      <p:sp>
        <p:nvSpPr>
          <p:cNvPr id="62" name="Google Shape;62;p4">
            <a:extLst xmlns:a="http://schemas.openxmlformats.org/drawingml/2006/main">
              <a:ext uri="{FF2B5EF4-FFF2-40B4-BE49-F238E27FC236}">
                <a16:creationId xmlns:a16="http://schemas.microsoft.com/office/drawing/2014/main" id="{4B4B87E5-55EC-46A3-B44C-07239D952DE3}"/>
              </a:ext>
            </a:extLst>
          </p:cNvPr>
          <p:cNvSpPr>
            <a:spLocks xmlns:a="http://schemas.openxmlformats.org/drawingml/2006/main" noGrp="1"/>
          </p:cNvSpPr>
          <p:nvPr/>
        </p:nvSpPr>
        <p:spPr>
          <a:xfrm xmlns:a="http://schemas.openxmlformats.org/drawingml/2006/main">
            <a:off x="2590800" y="5010150"/>
            <a:ext cx="4762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2 hours + optional hour · hybrid</a:t>
            </a:r>
            <a:endParaRPr/>
          </a:p>
        </p:txBody>
      </p:sp>
    </p:spTree>
    <p:extLst>
      <p:ext uri="{BB962C8B-B14F-4D97-AF65-F5344CB8AC3E}">
        <p14:creationId xmlns:p14="http://schemas.microsoft.com/office/powerpoint/2010/main" val="398955729"/>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 name="Google Shape;68;p5">
            <a:extLst xmlns:a="http://schemas.openxmlformats.org/drawingml/2006/main">
              <a:ext uri="{FF2B5EF4-FFF2-40B4-BE49-F238E27FC236}">
                <a16:creationId xmlns:a16="http://schemas.microsoft.com/office/drawing/2014/main" id="{40AB42BC-BE30-462D-A2DB-CBC57D49B15A}"/>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Today’s learning journey</a:t>
            </a:r>
            <a:endParaRPr/>
          </a:p>
        </p:txBody>
      </p:sp>
      <p:sp>
        <p:nvSpPr>
          <p:cNvPr id="69" name="Google Shape;69;p5">
            <a:extLst xmlns:a="http://schemas.openxmlformats.org/drawingml/2006/main">
              <a:ext uri="{FF2B5EF4-FFF2-40B4-BE49-F238E27FC236}">
                <a16:creationId xmlns:a16="http://schemas.microsoft.com/office/drawing/2014/main" id="{279BC899-3967-4597-B4C3-006D547CFB1D}"/>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Climate science explains the data. The workflow determines how people can use it.</a:t>
            </a:r>
            <a:endParaRPr/>
          </a:p>
        </p:txBody>
      </p:sp>
      <p:sp>
        <p:nvSpPr>
          <p:cNvPr id="70" name="Google Shape;70;p5">
            <a:extLst xmlns:a="http://schemas.openxmlformats.org/drawingml/2006/main">
              <a:ext uri="{FF2B5EF4-FFF2-40B4-BE49-F238E27FC236}">
                <a16:creationId xmlns:a16="http://schemas.microsoft.com/office/drawing/2014/main" id="{53E9D23F-AC72-47BD-9883-3EECE1C9676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 name="Google Shape;71;p5">
            <a:extLst xmlns:a="http://schemas.openxmlformats.org/drawingml/2006/main">
              <a:ext uri="{FF2B5EF4-FFF2-40B4-BE49-F238E27FC236}">
                <a16:creationId xmlns:a16="http://schemas.microsoft.com/office/drawing/2014/main" id="{EDFE4ABE-4159-4A7F-87BC-06E2112CE5BE}"/>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 name="Google Shape;72;p5">
            <a:extLst xmlns:a="http://schemas.openxmlformats.org/drawingml/2006/main">
              <a:ext uri="{FF2B5EF4-FFF2-40B4-BE49-F238E27FC236}">
                <a16:creationId xmlns:a16="http://schemas.microsoft.com/office/drawing/2014/main" id="{EF790C77-9A36-4099-8C0B-0E4A45514E9B}"/>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 name="Google Shape;73;p5">
            <a:extLst xmlns:a="http://schemas.openxmlformats.org/drawingml/2006/main">
              <a:ext uri="{FF2B5EF4-FFF2-40B4-BE49-F238E27FC236}">
                <a16:creationId xmlns:a16="http://schemas.microsoft.com/office/drawing/2014/main" id="{6F12FD0E-9296-44D6-A258-FDB17A24F37D}"/>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4" name="Google Shape;74;p5">
            <a:extLst xmlns:a="http://schemas.openxmlformats.org/drawingml/2006/main">
              <a:ext uri="{FF2B5EF4-FFF2-40B4-BE49-F238E27FC236}">
                <a16:creationId xmlns:a16="http://schemas.microsoft.com/office/drawing/2014/main" id="{16CA3975-F171-452E-8CF9-5CD37757B619}"/>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03</a:t>
            </a:r>
            <a:endParaRPr/>
          </a:p>
        </p:txBody>
      </p:sp>
      <p:sp>
        <p:nvSpPr>
          <p:cNvPr id="75" name="Google Shape;75;p5">
            <a:extLst xmlns:a="http://schemas.openxmlformats.org/drawingml/2006/main">
              <a:ext uri="{FF2B5EF4-FFF2-40B4-BE49-F238E27FC236}">
                <a16:creationId xmlns:a16="http://schemas.microsoft.com/office/drawing/2014/main" id="{EC4CE3FB-416A-4D23-9CFD-5B9381296C43}"/>
              </a:ext>
            </a:extLst>
          </p:cNvPr>
          <p:cNvSpPr>
            <a:spLocks xmlns:a="http://schemas.openxmlformats.org/drawingml/2006/main" noGrp="1"/>
          </p:cNvSpPr>
          <p:nvPr/>
        </p:nvSpPr>
        <p:spPr>
          <a:xfrm xmlns:a="http://schemas.openxmlformats.org/drawingml/2006/main">
            <a:off x="1190625" y="3267075"/>
            <a:ext cx="981075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6" name="Google Shape;76;p5">
            <a:extLst xmlns:a="http://schemas.openxmlformats.org/drawingml/2006/main">
              <a:ext uri="{FF2B5EF4-FFF2-40B4-BE49-F238E27FC236}">
                <a16:creationId xmlns:a16="http://schemas.microsoft.com/office/drawing/2014/main" id="{338129F2-9D9B-4AFA-91CE-82C0C3AF3065}"/>
              </a:ext>
            </a:extLst>
          </p:cNvPr>
          <p:cNvSpPr>
            <a:spLocks xmlns:a="http://schemas.openxmlformats.org/drawingml/2006/main" noGrp="1"/>
          </p:cNvSpPr>
          <p:nvPr/>
        </p:nvSpPr>
        <p:spPr>
          <a:xfrm xmlns:a="http://schemas.openxmlformats.org/drawingml/2006/main">
            <a:off x="121920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7" name="Google Shape;77;p5">
            <a:extLst xmlns:a="http://schemas.openxmlformats.org/drawingml/2006/main">
              <a:ext uri="{FF2B5EF4-FFF2-40B4-BE49-F238E27FC236}">
                <a16:creationId xmlns:a16="http://schemas.microsoft.com/office/drawing/2014/main" id="{045B4F3D-F409-4291-A48B-2E49EB13C0A4}"/>
              </a:ext>
            </a:extLst>
          </p:cNvPr>
          <p:cNvSpPr>
            <a:spLocks xmlns:a="http://schemas.openxmlformats.org/drawingml/2006/main" noGrp="1"/>
          </p:cNvSpPr>
          <p:nvPr/>
        </p:nvSpPr>
        <p:spPr>
          <a:xfrm xmlns:a="http://schemas.openxmlformats.org/drawingml/2006/main">
            <a:off x="102870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1</a:t>
            </a:r>
            <a:endParaRPr/>
          </a:p>
        </p:txBody>
      </p:sp>
      <p:sp>
        <p:nvSpPr>
          <p:cNvPr id="78" name="Google Shape;78;p5">
            <a:extLst xmlns:a="http://schemas.openxmlformats.org/drawingml/2006/main">
              <a:ext uri="{FF2B5EF4-FFF2-40B4-BE49-F238E27FC236}">
                <a16:creationId xmlns:a16="http://schemas.microsoft.com/office/drawing/2014/main" id="{C564C92F-7DD3-412B-8AFB-9F508D14B7CD}"/>
              </a:ext>
            </a:extLst>
          </p:cNvPr>
          <p:cNvSpPr>
            <a:spLocks xmlns:a="http://schemas.openxmlformats.org/drawingml/2006/main" noGrp="1"/>
          </p:cNvSpPr>
          <p:nvPr/>
        </p:nvSpPr>
        <p:spPr>
          <a:xfrm xmlns:a="http://schemas.openxmlformats.org/drawingml/2006/main">
            <a:off x="3619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00–05</a:t>
            </a:r>
            <a:endParaRPr/>
          </a:p>
        </p:txBody>
      </p:sp>
      <p:sp>
        <p:nvSpPr>
          <p:cNvPr id="79" name="Google Shape;79;p5">
            <a:extLst xmlns:a="http://schemas.openxmlformats.org/drawingml/2006/main">
              <a:ext uri="{FF2B5EF4-FFF2-40B4-BE49-F238E27FC236}">
                <a16:creationId xmlns:a16="http://schemas.microsoft.com/office/drawing/2014/main" id="{21E3BCA2-8EA0-4175-93C5-31F80358F977}"/>
              </a:ext>
            </a:extLst>
          </p:cNvPr>
          <p:cNvSpPr>
            <a:spLocks xmlns:a="http://schemas.openxmlformats.org/drawingml/2006/main" noGrp="1"/>
          </p:cNvSpPr>
          <p:nvPr/>
        </p:nvSpPr>
        <p:spPr>
          <a:xfrm xmlns:a="http://schemas.openxmlformats.org/drawingml/2006/main">
            <a:off x="2857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question</a:t>
            </a:r>
            <a:endParaRPr/>
          </a:p>
        </p:txBody>
      </p:sp>
      <p:sp>
        <p:nvSpPr>
          <p:cNvPr id="80" name="Google Shape;80;p5">
            <a:extLst xmlns:a="http://schemas.openxmlformats.org/drawingml/2006/main">
              <a:ext uri="{FF2B5EF4-FFF2-40B4-BE49-F238E27FC236}">
                <a16:creationId xmlns:a16="http://schemas.microsoft.com/office/drawing/2014/main" id="{6C6B2F32-183A-4361-B806-BB21AF69E9A5}"/>
              </a:ext>
            </a:extLst>
          </p:cNvPr>
          <p:cNvSpPr>
            <a:spLocks xmlns:a="http://schemas.openxmlformats.org/drawingml/2006/main" noGrp="1"/>
          </p:cNvSpPr>
          <p:nvPr/>
        </p:nvSpPr>
        <p:spPr>
          <a:xfrm xmlns:a="http://schemas.openxmlformats.org/drawingml/2006/main">
            <a:off x="359229" y="2787423"/>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81" name="Google Shape;81;p5">
            <a:extLst xmlns:a="http://schemas.openxmlformats.org/drawingml/2006/main">
              <a:ext uri="{FF2B5EF4-FFF2-40B4-BE49-F238E27FC236}">
                <a16:creationId xmlns:a16="http://schemas.microsoft.com/office/drawing/2014/main" id="{4468BCA3-09D3-4D95-907F-C18F8DE4F258}"/>
              </a:ext>
            </a:extLst>
          </p:cNvPr>
          <p:cNvSpPr>
            <a:spLocks xmlns:a="http://schemas.openxmlformats.org/drawingml/2006/main" noGrp="1"/>
          </p:cNvSpPr>
          <p:nvPr/>
        </p:nvSpPr>
        <p:spPr>
          <a:xfrm xmlns:a="http://schemas.openxmlformats.org/drawingml/2006/main">
            <a:off x="364807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2" name="Google Shape;82;p5">
            <a:extLst xmlns:a="http://schemas.openxmlformats.org/drawingml/2006/main">
              <a:ext uri="{FF2B5EF4-FFF2-40B4-BE49-F238E27FC236}">
                <a16:creationId xmlns:a16="http://schemas.microsoft.com/office/drawing/2014/main" id="{08775F9C-5EE7-4B20-8723-0DD23185AA0C}"/>
              </a:ext>
            </a:extLst>
          </p:cNvPr>
          <p:cNvSpPr>
            <a:spLocks xmlns:a="http://schemas.openxmlformats.org/drawingml/2006/main" noGrp="1"/>
          </p:cNvSpPr>
          <p:nvPr/>
        </p:nvSpPr>
        <p:spPr>
          <a:xfrm xmlns:a="http://schemas.openxmlformats.org/drawingml/2006/main">
            <a:off x="345757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2</a:t>
            </a:r>
            <a:endParaRPr/>
          </a:p>
        </p:txBody>
      </p:sp>
      <p:sp>
        <p:nvSpPr>
          <p:cNvPr id="83" name="Google Shape;83;p5">
            <a:extLst xmlns:a="http://schemas.openxmlformats.org/drawingml/2006/main">
              <a:ext uri="{FF2B5EF4-FFF2-40B4-BE49-F238E27FC236}">
                <a16:creationId xmlns:a16="http://schemas.microsoft.com/office/drawing/2014/main" id="{EC21C7D6-D763-4044-85C8-C105E2450B2E}"/>
              </a:ext>
            </a:extLst>
          </p:cNvPr>
          <p:cNvSpPr>
            <a:spLocks xmlns:a="http://schemas.openxmlformats.org/drawingml/2006/main" noGrp="1"/>
          </p:cNvSpPr>
          <p:nvPr/>
        </p:nvSpPr>
        <p:spPr>
          <a:xfrm xmlns:a="http://schemas.openxmlformats.org/drawingml/2006/main">
            <a:off x="279082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05–30</a:t>
            </a:r>
            <a:endParaRPr/>
          </a:p>
        </p:txBody>
      </p:sp>
      <p:sp>
        <p:nvSpPr>
          <p:cNvPr id="84" name="Google Shape;84;p5">
            <a:extLst xmlns:a="http://schemas.openxmlformats.org/drawingml/2006/main">
              <a:ext uri="{FF2B5EF4-FFF2-40B4-BE49-F238E27FC236}">
                <a16:creationId xmlns:a16="http://schemas.microsoft.com/office/drawing/2014/main" id="{D2525C45-AE1A-4F2E-90BF-0DB792D02672}"/>
              </a:ext>
            </a:extLst>
          </p:cNvPr>
          <p:cNvSpPr>
            <a:spLocks xmlns:a="http://schemas.openxmlformats.org/drawingml/2006/main" noGrp="1"/>
          </p:cNvSpPr>
          <p:nvPr/>
        </p:nvSpPr>
        <p:spPr>
          <a:xfrm xmlns:a="http://schemas.openxmlformats.org/drawingml/2006/main">
            <a:off x="271462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The climate science behind the data</a:t>
            </a:r>
            <a:endParaRPr/>
          </a:p>
        </p:txBody>
      </p:sp>
      <p:sp>
        <p:nvSpPr>
          <p:cNvPr id="85" name="Google Shape;85;p5">
            <a:extLst xmlns:a="http://schemas.openxmlformats.org/drawingml/2006/main">
              <a:ext uri="{FF2B5EF4-FFF2-40B4-BE49-F238E27FC236}">
                <a16:creationId xmlns:a16="http://schemas.microsoft.com/office/drawing/2014/main" id="{9C11E17F-5EC6-43C3-95F7-12CB75F037CE}"/>
              </a:ext>
            </a:extLst>
          </p:cNvPr>
          <p:cNvSpPr>
            <a:spLocks xmlns:a="http://schemas.openxmlformats.org/drawingml/2006/main" noGrp="1"/>
          </p:cNvSpPr>
          <p:nvPr/>
        </p:nvSpPr>
        <p:spPr>
          <a:xfrm xmlns:a="http://schemas.openxmlformats.org/drawingml/2006/main">
            <a:off x="279082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Hideki</a:t>
            </a:r>
            <a:endParaRPr/>
          </a:p>
        </p:txBody>
      </p:sp>
      <p:sp>
        <p:nvSpPr>
          <p:cNvPr id="86" name="Google Shape;86;p5">
            <a:extLst xmlns:a="http://schemas.openxmlformats.org/drawingml/2006/main">
              <a:ext uri="{FF2B5EF4-FFF2-40B4-BE49-F238E27FC236}">
                <a16:creationId xmlns:a16="http://schemas.microsoft.com/office/drawing/2014/main" id="{5456BF78-606A-4B13-A565-1E0D1541E4FD}"/>
              </a:ext>
            </a:extLst>
          </p:cNvPr>
          <p:cNvSpPr>
            <a:spLocks xmlns:a="http://schemas.openxmlformats.org/drawingml/2006/main" noGrp="1"/>
          </p:cNvSpPr>
          <p:nvPr/>
        </p:nvSpPr>
        <p:spPr>
          <a:xfrm xmlns:a="http://schemas.openxmlformats.org/drawingml/2006/main">
            <a:off x="6076950" y="2962275"/>
            <a:ext cx="38100" cy="3238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87" name="Google Shape;87;p5">
            <a:extLst xmlns:a="http://schemas.openxmlformats.org/drawingml/2006/main">
              <a:ext uri="{FF2B5EF4-FFF2-40B4-BE49-F238E27FC236}">
                <a16:creationId xmlns:a16="http://schemas.microsoft.com/office/drawing/2014/main" id="{AB706B98-9270-4D56-B71E-8A3A18FBBAEC}"/>
              </a:ext>
            </a:extLst>
          </p:cNvPr>
          <p:cNvSpPr>
            <a:spLocks xmlns:a="http://schemas.openxmlformats.org/drawingml/2006/main" noGrp="1"/>
          </p:cNvSpPr>
          <p:nvPr/>
        </p:nvSpPr>
        <p:spPr>
          <a:xfrm xmlns:a="http://schemas.openxmlformats.org/drawingml/2006/main">
            <a:off x="5886450" y="3076575"/>
            <a:ext cx="419100" cy="4191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3</a:t>
            </a:r>
            <a:endParaRPr/>
          </a:p>
        </p:txBody>
      </p:sp>
      <p:sp>
        <p:nvSpPr>
          <p:cNvPr id="88" name="Google Shape;88;p5">
            <a:extLst xmlns:a="http://schemas.openxmlformats.org/drawingml/2006/main">
              <a:ext uri="{FF2B5EF4-FFF2-40B4-BE49-F238E27FC236}">
                <a16:creationId xmlns:a16="http://schemas.microsoft.com/office/drawing/2014/main" id="{844CA2E5-D837-4D63-A43E-A13D05003212}"/>
              </a:ext>
            </a:extLst>
          </p:cNvPr>
          <p:cNvSpPr>
            <a:spLocks xmlns:a="http://schemas.openxmlformats.org/drawingml/2006/main" noGrp="1"/>
          </p:cNvSpPr>
          <p:nvPr/>
        </p:nvSpPr>
        <p:spPr>
          <a:xfrm xmlns:a="http://schemas.openxmlformats.org/drawingml/2006/main">
            <a:off x="521970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30–55</a:t>
            </a:r>
            <a:endParaRPr/>
          </a:p>
        </p:txBody>
      </p:sp>
      <p:sp>
        <p:nvSpPr>
          <p:cNvPr id="89" name="Google Shape;89;p5">
            <a:extLst xmlns:a="http://schemas.openxmlformats.org/drawingml/2006/main">
              <a:ext uri="{FF2B5EF4-FFF2-40B4-BE49-F238E27FC236}">
                <a16:creationId xmlns:a16="http://schemas.microsoft.com/office/drawing/2014/main" id="{900467A1-F60D-4507-92D2-18417FE7F3DC}"/>
              </a:ext>
            </a:extLst>
          </p:cNvPr>
          <p:cNvSpPr>
            <a:spLocks xmlns:a="http://schemas.openxmlformats.org/drawingml/2006/main" noGrp="1"/>
          </p:cNvSpPr>
          <p:nvPr/>
        </p:nvSpPr>
        <p:spPr>
          <a:xfrm xmlns:a="http://schemas.openxmlformats.org/drawingml/2006/main">
            <a:off x="514350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Accessing climate data today</a:t>
            </a:r>
            <a:endParaRPr/>
          </a:p>
        </p:txBody>
      </p:sp>
      <p:sp>
        <p:nvSpPr>
          <p:cNvPr id="90" name="Google Shape;90;p5">
            <a:extLst xmlns:a="http://schemas.openxmlformats.org/drawingml/2006/main">
              <a:ext uri="{FF2B5EF4-FFF2-40B4-BE49-F238E27FC236}">
                <a16:creationId xmlns:a16="http://schemas.microsoft.com/office/drawing/2014/main" id="{C715865E-360E-4BA5-A40D-FF708948C9A9}"/>
              </a:ext>
            </a:extLst>
          </p:cNvPr>
          <p:cNvSpPr>
            <a:spLocks xmlns:a="http://schemas.openxmlformats.org/drawingml/2006/main" noGrp="1"/>
          </p:cNvSpPr>
          <p:nvPr/>
        </p:nvSpPr>
        <p:spPr>
          <a:xfrm xmlns:a="http://schemas.openxmlformats.org/drawingml/2006/main">
            <a:off x="5219700" y="278130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a:t>
            </a:r>
            <a:endParaRPr/>
          </a:p>
        </p:txBody>
      </p:sp>
      <p:sp>
        <p:nvSpPr>
          <p:cNvPr id="91" name="Google Shape;91;p5">
            <a:extLst xmlns:a="http://schemas.openxmlformats.org/drawingml/2006/main">
              <a:ext uri="{FF2B5EF4-FFF2-40B4-BE49-F238E27FC236}">
                <a16:creationId xmlns:a16="http://schemas.microsoft.com/office/drawing/2014/main" id="{C432D660-B7C2-4A88-A893-9BD74494D991}"/>
              </a:ext>
            </a:extLst>
          </p:cNvPr>
          <p:cNvSpPr>
            <a:spLocks xmlns:a="http://schemas.openxmlformats.org/drawingml/2006/main" noGrp="1"/>
          </p:cNvSpPr>
          <p:nvPr/>
        </p:nvSpPr>
        <p:spPr>
          <a:xfrm xmlns:a="http://schemas.openxmlformats.org/drawingml/2006/main">
            <a:off x="8505825" y="3305175"/>
            <a:ext cx="38100" cy="3238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2" name="Google Shape;92;p5">
            <a:extLst xmlns:a="http://schemas.openxmlformats.org/drawingml/2006/main">
              <a:ext uri="{FF2B5EF4-FFF2-40B4-BE49-F238E27FC236}">
                <a16:creationId xmlns:a16="http://schemas.microsoft.com/office/drawing/2014/main" id="{8FC4A703-539F-4E6B-985F-7CCA9F96A446}"/>
              </a:ext>
            </a:extLst>
          </p:cNvPr>
          <p:cNvSpPr>
            <a:spLocks xmlns:a="http://schemas.openxmlformats.org/drawingml/2006/main" noGrp="1"/>
          </p:cNvSpPr>
          <p:nvPr/>
        </p:nvSpPr>
        <p:spPr>
          <a:xfrm xmlns:a="http://schemas.openxmlformats.org/drawingml/2006/main">
            <a:off x="8315325" y="3076575"/>
            <a:ext cx="419100" cy="4191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4</a:t>
            </a:r>
            <a:endParaRPr/>
          </a:p>
        </p:txBody>
      </p:sp>
      <p:sp>
        <p:nvSpPr>
          <p:cNvPr id="93" name="Google Shape;93;p5">
            <a:extLst xmlns:a="http://schemas.openxmlformats.org/drawingml/2006/main">
              <a:ext uri="{FF2B5EF4-FFF2-40B4-BE49-F238E27FC236}">
                <a16:creationId xmlns:a16="http://schemas.microsoft.com/office/drawing/2014/main" id="{58760BAF-9D36-4FFB-8E6A-5013CBDAEAAE}"/>
              </a:ext>
            </a:extLst>
          </p:cNvPr>
          <p:cNvSpPr>
            <a:spLocks xmlns:a="http://schemas.openxmlformats.org/drawingml/2006/main" noGrp="1"/>
          </p:cNvSpPr>
          <p:nvPr/>
        </p:nvSpPr>
        <p:spPr>
          <a:xfrm xmlns:a="http://schemas.openxmlformats.org/drawingml/2006/main">
            <a:off x="7648575" y="3781425"/>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55–75</a:t>
            </a:r>
            <a:endParaRPr/>
          </a:p>
        </p:txBody>
      </p:sp>
      <p:sp>
        <p:nvSpPr>
          <p:cNvPr id="94" name="Google Shape;94;p5">
            <a:extLst xmlns:a="http://schemas.openxmlformats.org/drawingml/2006/main">
              <a:ext uri="{FF2B5EF4-FFF2-40B4-BE49-F238E27FC236}">
                <a16:creationId xmlns:a16="http://schemas.microsoft.com/office/drawing/2014/main" id="{CE13415F-7057-4A56-98BC-33E9063EF96E}"/>
              </a:ext>
            </a:extLst>
          </p:cNvPr>
          <p:cNvSpPr>
            <a:spLocks xmlns:a="http://schemas.openxmlformats.org/drawingml/2006/main" noGrp="1"/>
          </p:cNvSpPr>
          <p:nvPr/>
        </p:nvSpPr>
        <p:spPr>
          <a:xfrm xmlns:a="http://schemas.openxmlformats.org/drawingml/2006/main">
            <a:off x="7572375" y="4086225"/>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What CAVA changes and how it works</a:t>
            </a:r>
            <a:endParaRPr/>
          </a:p>
        </p:txBody>
      </p:sp>
      <p:sp>
        <p:nvSpPr>
          <p:cNvPr id="95" name="Google Shape;95;p5">
            <a:extLst xmlns:a="http://schemas.openxmlformats.org/drawingml/2006/main">
              <a:ext uri="{FF2B5EF4-FFF2-40B4-BE49-F238E27FC236}">
                <a16:creationId xmlns:a16="http://schemas.microsoft.com/office/drawing/2014/main" id="{0BF0082B-B61E-4E39-B42F-36F20697065F}"/>
              </a:ext>
            </a:extLst>
          </p:cNvPr>
          <p:cNvSpPr>
            <a:spLocks xmlns:a="http://schemas.openxmlformats.org/drawingml/2006/main" noGrp="1"/>
          </p:cNvSpPr>
          <p:nvPr/>
        </p:nvSpPr>
        <p:spPr>
          <a:xfrm xmlns:a="http://schemas.openxmlformats.org/drawingml/2006/main">
            <a:off x="7648575" y="4857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Riccardo + Ezequiel</a:t>
            </a:r>
            <a:endParaRPr/>
          </a:p>
        </p:txBody>
      </p:sp>
      <p:sp>
        <p:nvSpPr>
          <p:cNvPr id="96" name="Google Shape;96;p5">
            <a:extLst xmlns:a="http://schemas.openxmlformats.org/drawingml/2006/main">
              <a:ext uri="{FF2B5EF4-FFF2-40B4-BE49-F238E27FC236}">
                <a16:creationId xmlns:a16="http://schemas.microsoft.com/office/drawing/2014/main" id="{BA57EF95-98F6-4698-A442-F4AB40579F1C}"/>
              </a:ext>
            </a:extLst>
          </p:cNvPr>
          <p:cNvSpPr>
            <a:spLocks xmlns:a="http://schemas.openxmlformats.org/drawingml/2006/main" noGrp="1"/>
          </p:cNvSpPr>
          <p:nvPr/>
        </p:nvSpPr>
        <p:spPr>
          <a:xfrm xmlns:a="http://schemas.openxmlformats.org/drawingml/2006/main">
            <a:off x="10934700" y="2962275"/>
            <a:ext cx="38100" cy="323850"/>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97" name="Google Shape;97;p5">
            <a:extLst xmlns:a="http://schemas.openxmlformats.org/drawingml/2006/main">
              <a:ext uri="{FF2B5EF4-FFF2-40B4-BE49-F238E27FC236}">
                <a16:creationId xmlns:a16="http://schemas.microsoft.com/office/drawing/2014/main" id="{DFFAD845-7379-42CC-9319-97F0A96B1214}"/>
              </a:ext>
            </a:extLst>
          </p:cNvPr>
          <p:cNvSpPr>
            <a:spLocks xmlns:a="http://schemas.openxmlformats.org/drawingml/2006/main" noGrp="1"/>
          </p:cNvSpPr>
          <p:nvPr/>
        </p:nvSpPr>
        <p:spPr>
          <a:xfrm xmlns:a="http://schemas.openxmlformats.org/drawingml/2006/main">
            <a:off x="10744200" y="3076575"/>
            <a:ext cx="419100" cy="419100"/>
          </a:xfrm>
          <a:prstGeom xmlns:a="http://schemas.openxmlformats.org/drawingml/2006/main" prst="ellipse">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200"/>
              <a:buFont typeface="Lato"/>
              <a:buNone/>
            </a:pPr>
            <a:r>
              <a:rPr sz="1200" b="1" i="0">
                <a:solidFill>
                  <a:srgbClr val="FFFFFF"/>
                </a:solidFill>
                <a:latin typeface="Lato"/>
                <a:ea typeface="Lato"/>
                <a:cs typeface="Lato"/>
              </a:rPr>
              <a:t>5</a:t>
            </a:r>
            <a:endParaRPr/>
          </a:p>
        </p:txBody>
      </p:sp>
      <p:sp>
        <p:nvSpPr>
          <p:cNvPr id="98" name="Google Shape;98;p5">
            <a:extLst xmlns:a="http://schemas.openxmlformats.org/drawingml/2006/main">
              <a:ext uri="{FF2B5EF4-FFF2-40B4-BE49-F238E27FC236}">
                <a16:creationId xmlns:a16="http://schemas.microsoft.com/office/drawing/2014/main" id="{E0FEB18F-91A9-453E-9CCE-D7555C606ABD}"/>
              </a:ext>
            </a:extLst>
          </p:cNvPr>
          <p:cNvSpPr>
            <a:spLocks xmlns:a="http://schemas.openxmlformats.org/drawingml/2006/main" noGrp="1"/>
          </p:cNvSpPr>
          <p:nvPr/>
        </p:nvSpPr>
        <p:spPr>
          <a:xfrm xmlns:a="http://schemas.openxmlformats.org/drawingml/2006/main">
            <a:off x="10077450" y="1809750"/>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83A59"/>
              </a:buClr>
              <a:buSzPts val="975"/>
              <a:buFont typeface="Lato"/>
              <a:buNone/>
            </a:pPr>
            <a:r>
              <a:rPr sz="975" b="1" i="0">
                <a:solidFill>
                  <a:srgbClr val="183A59"/>
                </a:solidFill>
                <a:latin typeface="Lato"/>
                <a:ea typeface="Lato"/>
                <a:cs typeface="Lato"/>
              </a:rPr>
              <a:t>75–90</a:t>
            </a:r>
            <a:endParaRPr/>
          </a:p>
        </p:txBody>
      </p:sp>
      <p:sp>
        <p:nvSpPr>
          <p:cNvPr id="99" name="Google Shape;99;p5">
            <a:extLst xmlns:a="http://schemas.openxmlformats.org/drawingml/2006/main">
              <a:ext uri="{FF2B5EF4-FFF2-40B4-BE49-F238E27FC236}">
                <a16:creationId xmlns:a16="http://schemas.microsoft.com/office/drawing/2014/main" id="{CDCF1E7C-13B3-41AA-A0E8-65737492D339}"/>
              </a:ext>
            </a:extLst>
          </p:cNvPr>
          <p:cNvSpPr>
            <a:spLocks xmlns:a="http://schemas.openxmlformats.org/drawingml/2006/main" noGrp="1"/>
          </p:cNvSpPr>
          <p:nvPr/>
        </p:nvSpPr>
        <p:spPr>
          <a:xfrm xmlns:a="http://schemas.openxmlformats.org/drawingml/2006/main">
            <a:off x="10001250" y="2114550"/>
            <a:ext cx="1905000" cy="7334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12304E"/>
              </a:buClr>
              <a:buSzPts val="1350"/>
              <a:buFont typeface="Lato"/>
              <a:buNone/>
            </a:pPr>
            <a:r>
              <a:rPr sz="1350" b="1" i="0">
                <a:solidFill>
                  <a:srgbClr val="12304E"/>
                </a:solidFill>
                <a:latin typeface="Lato"/>
                <a:ea typeface="Lato"/>
                <a:cs typeface="Lato"/>
              </a:rPr>
              <a:t>End-to-end example and discussion</a:t>
            </a:r>
            <a:endParaRPr/>
          </a:p>
        </p:txBody>
      </p:sp>
      <p:sp>
        <p:nvSpPr>
          <p:cNvPr id="100" name="Google Shape;100;p5">
            <a:extLst xmlns:a="http://schemas.openxmlformats.org/drawingml/2006/main">
              <a:ext uri="{FF2B5EF4-FFF2-40B4-BE49-F238E27FC236}">
                <a16:creationId xmlns:a16="http://schemas.microsoft.com/office/drawing/2014/main" id="{621FBE86-0005-4053-8524-6371C7E2D089}"/>
              </a:ext>
            </a:extLst>
          </p:cNvPr>
          <p:cNvSpPr>
            <a:spLocks xmlns:a="http://schemas.openxmlformats.org/drawingml/2006/main" noGrp="1"/>
          </p:cNvSpPr>
          <p:nvPr/>
        </p:nvSpPr>
        <p:spPr>
          <a:xfrm xmlns:a="http://schemas.openxmlformats.org/drawingml/2006/main">
            <a:off x="10058400" y="2781299"/>
            <a:ext cx="1752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00"/>
              <a:buFont typeface="Lato"/>
              <a:buNone/>
            </a:pPr>
            <a:r>
              <a:rPr sz="1100" b="1" i="0">
                <a:solidFill>
                  <a:srgbClr val="687984"/>
                </a:solidFill>
                <a:latin typeface="Lato"/>
                <a:ea typeface="Lato"/>
                <a:cs typeface="Lato"/>
              </a:rPr>
              <a:t>All</a:t>
            </a:r>
            <a:endParaRPr/>
          </a:p>
        </p:txBody>
      </p:sp>
      <p:sp>
        <p:nvSpPr>
          <p:cNvPr id="101" name="Google Shape;101;p5">
            <a:extLst xmlns:a="http://schemas.openxmlformats.org/drawingml/2006/main">
              <a:ext uri="{FF2B5EF4-FFF2-40B4-BE49-F238E27FC236}">
                <a16:creationId xmlns:a16="http://schemas.microsoft.com/office/drawing/2014/main" id="{95E0E3AF-35DD-4DC8-AE00-E2A32A10CFBD}"/>
              </a:ext>
            </a:extLst>
          </p:cNvPr>
          <p:cNvSpPr>
            <a:spLocks xmlns:a="http://schemas.openxmlformats.org/drawingml/2006/main" noGrp="1"/>
          </p:cNvSpPr>
          <p:nvPr/>
        </p:nvSpPr>
        <p:spPr>
          <a:xfrm xmlns:a="http://schemas.openxmlformats.org/drawingml/2006/main">
            <a:off x="685800" y="5348512"/>
            <a:ext cx="18096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Learning outcome</a:t>
            </a:r>
            <a:endParaRPr/>
          </a:p>
        </p:txBody>
      </p:sp>
      <p:sp>
        <p:nvSpPr>
          <p:cNvPr id="102" name="Google Shape;102;p5">
            <a:extLst xmlns:a="http://schemas.openxmlformats.org/drawingml/2006/main">
              <a:ext uri="{FF2B5EF4-FFF2-40B4-BE49-F238E27FC236}">
                <a16:creationId xmlns:a16="http://schemas.microsoft.com/office/drawing/2014/main" id="{11E3F3D2-6907-48A6-A1DB-0F431311FD04}"/>
              </a:ext>
            </a:extLst>
          </p:cNvPr>
          <p:cNvSpPr>
            <a:spLocks xmlns:a="http://schemas.openxmlformats.org/drawingml/2006/main" noGrp="1"/>
          </p:cNvSpPr>
          <p:nvPr/>
        </p:nvSpPr>
        <p:spPr>
          <a:xfrm xmlns:a="http://schemas.openxmlformats.org/drawingml/2006/main">
            <a:off x="2381250" y="5310412"/>
            <a:ext cx="82869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23"/>
              <a:buFont typeface="Lato"/>
              <a:buNone/>
            </a:pPr>
            <a:r>
              <a:rPr sz="1524" b="1" i="0">
                <a:solidFill>
                  <a:srgbClr val="12304E"/>
                </a:solidFill>
                <a:latin typeface="Lato"/>
                <a:ea typeface="Lato"/>
                <a:cs typeface="Lato"/>
              </a:rPr>
              <a:t>A clear view of the climate data, the access problem and the role of CAVA</a:t>
            </a:r>
            <a:endParaRPr/>
          </a:p>
        </p:txBody>
      </p:sp>
    </p:spTree>
    <p:extLst>
      <p:ext uri="{BB962C8B-B14F-4D97-AF65-F5344CB8AC3E}">
        <p14:creationId xmlns:p14="http://schemas.microsoft.com/office/powerpoint/2010/main" val="786244308"/>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8" name="Google Shape;108;p6">
            <a:extLst xmlns:a="http://schemas.openxmlformats.org/drawingml/2006/main">
              <a:ext uri="{FF2B5EF4-FFF2-40B4-BE49-F238E27FC236}">
                <a16:creationId xmlns:a16="http://schemas.microsoft.com/office/drawing/2014/main" id="{2F4D975F-E202-4A80-A694-60D28379187C}"/>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practical climate question</a:t>
            </a:r>
            <a:endParaRPr/>
          </a:p>
        </p:txBody>
      </p:sp>
      <p:sp>
        <p:nvSpPr>
          <p:cNvPr id="109" name="Google Shape;109;p6">
            <a:extLst xmlns:a="http://schemas.openxmlformats.org/drawingml/2006/main">
              <a:ext uri="{FF2B5EF4-FFF2-40B4-BE49-F238E27FC236}">
                <a16:creationId xmlns:a16="http://schemas.microsoft.com/office/drawing/2014/main" id="{CE2DA471-733C-4FD0-9D5F-2D7F364A2922}"/>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Begin with the decision, then identify the information needed to support it</a:t>
            </a:r>
            <a:endParaRPr/>
          </a:p>
        </p:txBody>
      </p:sp>
      <p:sp>
        <p:nvSpPr>
          <p:cNvPr id="110" name="Google Shape;110;p6">
            <a:extLst xmlns:a="http://schemas.openxmlformats.org/drawingml/2006/main">
              <a:ext uri="{FF2B5EF4-FFF2-40B4-BE49-F238E27FC236}">
                <a16:creationId xmlns:a16="http://schemas.microsoft.com/office/drawing/2014/main" id="{69264237-0A33-4783-B877-A0166DB10ECD}"/>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1" name="Google Shape;111;p6">
            <a:extLst xmlns:a="http://schemas.openxmlformats.org/drawingml/2006/main">
              <a:ext uri="{FF2B5EF4-FFF2-40B4-BE49-F238E27FC236}">
                <a16:creationId xmlns:a16="http://schemas.microsoft.com/office/drawing/2014/main" id="{8D1691E2-C13F-4137-9925-E5D2AD8CB67E}"/>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2" name="Google Shape;112;p6">
            <a:extLst xmlns:a="http://schemas.openxmlformats.org/drawingml/2006/main">
              <a:ext uri="{FF2B5EF4-FFF2-40B4-BE49-F238E27FC236}">
                <a16:creationId xmlns:a16="http://schemas.microsoft.com/office/drawing/2014/main" id="{32C05873-E00F-4362-B4E8-17B185E70366}"/>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3" name="Google Shape;113;p6">
            <a:extLst xmlns:a="http://schemas.openxmlformats.org/drawingml/2006/main">
              <a:ext uri="{FF2B5EF4-FFF2-40B4-BE49-F238E27FC236}">
                <a16:creationId xmlns:a16="http://schemas.microsoft.com/office/drawing/2014/main" id="{11FBEE44-1CA5-49CE-A68B-43A32F24D9C9}"/>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14" name="Google Shape;114;p6">
            <a:extLst xmlns:a="http://schemas.openxmlformats.org/drawingml/2006/main">
              <a:ext uri="{FF2B5EF4-FFF2-40B4-BE49-F238E27FC236}">
                <a16:creationId xmlns:a16="http://schemas.microsoft.com/office/drawing/2014/main" id="{53B60513-360E-4396-BD85-E7205D03DFFA}"/>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04</a:t>
            </a:r>
            <a:endParaRPr/>
          </a:p>
        </p:txBody>
      </p:sp>
      <p:sp>
        <p:nvSpPr>
          <p:cNvPr id="115" name="Google Shape;115;p6">
            <a:extLst xmlns:a="http://schemas.openxmlformats.org/drawingml/2006/main">
              <a:ext uri="{FF2B5EF4-FFF2-40B4-BE49-F238E27FC236}">
                <a16:creationId xmlns:a16="http://schemas.microsoft.com/office/drawing/2014/main" id="{DF88E68F-BF82-4B85-AEC2-34523DF23C46}"/>
              </a:ext>
            </a:extLst>
          </p:cNvPr>
          <p:cNvSpPr>
            <a:spLocks xmlns:a="http://schemas.openxmlformats.org/drawingml/2006/main" noGrp="1"/>
          </p:cNvSpPr>
          <p:nvPr/>
        </p:nvSpPr>
        <p:spPr>
          <a:xfrm xmlns:a="http://schemas.openxmlformats.org/drawingml/2006/main">
            <a:off x="990600" y="1952625"/>
            <a:ext cx="1019175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2775"/>
              <a:buFont typeface="Lato"/>
              <a:buNone/>
            </a:pPr>
            <a:r>
              <a:rPr sz="2775" b="1" i="0">
                <a:solidFill>
                  <a:srgbClr val="12304E"/>
                </a:solidFill>
                <a:latin typeface="Lato"/>
                <a:ea typeface="Lato"/>
                <a:cs typeface="Lato"/>
              </a:rPr>
              <a:t>How will extreme heat change in our project area over the next 30 years?</a:t>
            </a:r>
            <a:endParaRPr/>
          </a:p>
        </p:txBody>
      </p:sp>
      <p:sp>
        <p:nvSpPr>
          <p:cNvPr id="116" name="Google Shape;116;p6">
            <a:extLst xmlns:a="http://schemas.openxmlformats.org/drawingml/2006/main">
              <a:ext uri="{FF2B5EF4-FFF2-40B4-BE49-F238E27FC236}">
                <a16:creationId xmlns:a16="http://schemas.microsoft.com/office/drawing/2014/main" id="{CA76FEC0-1FF8-4819-9CC2-0AE72C4CEA37}"/>
              </a:ext>
            </a:extLst>
          </p:cNvPr>
          <p:cNvSpPr>
            <a:spLocks xmlns:a="http://schemas.openxmlformats.org/drawingml/2006/main" noGrp="1"/>
          </p:cNvSpPr>
          <p:nvPr/>
        </p:nvSpPr>
        <p:spPr>
          <a:xfrm xmlns:a="http://schemas.openxmlformats.org/drawingml/2006/main">
            <a:off x="7048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7" name="Google Shape;117;p6">
            <a:extLst xmlns:a="http://schemas.openxmlformats.org/drawingml/2006/main">
              <a:ext uri="{FF2B5EF4-FFF2-40B4-BE49-F238E27FC236}">
                <a16:creationId xmlns:a16="http://schemas.microsoft.com/office/drawing/2014/main" id="{4D8C8DE5-3125-40F2-94BE-502B9DA57487}"/>
              </a:ext>
            </a:extLst>
          </p:cNvPr>
          <p:cNvSpPr>
            <a:spLocks xmlns:a="http://schemas.openxmlformats.org/drawingml/2006/main" noGrp="1"/>
          </p:cNvSpPr>
          <p:nvPr/>
        </p:nvSpPr>
        <p:spPr>
          <a:xfrm xmlns:a="http://schemas.openxmlformats.org/drawingml/2006/main">
            <a:off x="704850" y="3790950"/>
            <a:ext cx="38100" cy="1076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18" name="Google Shape;118;p6">
            <a:extLst xmlns:a="http://schemas.openxmlformats.org/drawingml/2006/main">
              <a:ext uri="{FF2B5EF4-FFF2-40B4-BE49-F238E27FC236}">
                <a16:creationId xmlns:a16="http://schemas.microsoft.com/office/drawing/2014/main" id="{23408679-6FED-44E6-88E8-241D59673734}"/>
              </a:ext>
            </a:extLst>
          </p:cNvPr>
          <p:cNvSpPr>
            <a:spLocks xmlns:a="http://schemas.openxmlformats.org/drawingml/2006/main" noGrp="1"/>
          </p:cNvSpPr>
          <p:nvPr/>
        </p:nvSpPr>
        <p:spPr>
          <a:xfrm xmlns:a="http://schemas.openxmlformats.org/drawingml/2006/main">
            <a:off x="9334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a:solidFill>
                  <a:srgbClr val="12304E"/>
                </a:solidFill>
                <a:latin typeface="Lato"/>
                <a:ea typeface="Lato"/>
                <a:cs typeface="Lato"/>
              </a:rPr>
              <a:t>DESIGNING</a:t>
            </a:r>
            <a:r>
              <a:rPr sz="1050" b="1" i="0">
                <a:solidFill>
                  <a:srgbClr val="12304E"/>
                </a:solidFill>
                <a:latin typeface="Lato"/>
                <a:ea typeface="Lato"/>
                <a:cs typeface="Lato"/>
              </a:rPr>
              <a:t> PROJECT ACTIVITIES</a:t>
            </a:r>
            <a:endParaRPr sz="1050" b="1" i="0">
              <a:solidFill>
                <a:srgbClr val="12304E"/>
              </a:solidFill>
              <a:latin typeface="Lato"/>
              <a:ea typeface="Lato"/>
              <a:cs typeface="Lato"/>
            </a:endParaRPr>
          </a:p>
        </p:txBody>
      </p:sp>
      <p:sp>
        <p:nvSpPr>
          <p:cNvPr id="119" name="Google Shape;119;p6">
            <a:extLst xmlns:a="http://schemas.openxmlformats.org/drawingml/2006/main">
              <a:ext uri="{FF2B5EF4-FFF2-40B4-BE49-F238E27FC236}">
                <a16:creationId xmlns:a16="http://schemas.microsoft.com/office/drawing/2014/main" id="{A44C4989-8168-4DB9-AEEF-59D6EBB88C0A}"/>
              </a:ext>
            </a:extLst>
          </p:cNvPr>
          <p:cNvSpPr>
            <a:spLocks xmlns:a="http://schemas.openxmlformats.org/drawingml/2006/main" noGrp="1"/>
          </p:cNvSpPr>
          <p:nvPr/>
        </p:nvSpPr>
        <p:spPr>
          <a:xfrm xmlns:a="http://schemas.openxmlformats.org/drawingml/2006/main">
            <a:off x="9334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Will planned assets and activities remain viable?</a:t>
            </a:r>
            <a:endParaRPr/>
          </a:p>
        </p:txBody>
      </p:sp>
      <p:sp>
        <p:nvSpPr>
          <p:cNvPr id="120" name="Google Shape;120;p6">
            <a:extLst xmlns:a="http://schemas.openxmlformats.org/drawingml/2006/main">
              <a:ext uri="{FF2B5EF4-FFF2-40B4-BE49-F238E27FC236}">
                <a16:creationId xmlns:a16="http://schemas.microsoft.com/office/drawing/2014/main" id="{3426DF52-52A7-4BB7-B192-9E03EFC505BD}"/>
              </a:ext>
            </a:extLst>
          </p:cNvPr>
          <p:cNvSpPr>
            <a:spLocks xmlns:a="http://schemas.openxmlformats.org/drawingml/2006/main" noGrp="1"/>
          </p:cNvSpPr>
          <p:nvPr/>
        </p:nvSpPr>
        <p:spPr>
          <a:xfrm xmlns:a="http://schemas.openxmlformats.org/drawingml/2006/main">
            <a:off x="445770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1" name="Google Shape;121;p6">
            <a:extLst xmlns:a="http://schemas.openxmlformats.org/drawingml/2006/main">
              <a:ext uri="{FF2B5EF4-FFF2-40B4-BE49-F238E27FC236}">
                <a16:creationId xmlns:a16="http://schemas.microsoft.com/office/drawing/2014/main" id="{E17DE596-0EBE-470B-939C-D0CDB5ACD013}"/>
              </a:ext>
            </a:extLst>
          </p:cNvPr>
          <p:cNvSpPr>
            <a:spLocks xmlns:a="http://schemas.openxmlformats.org/drawingml/2006/main" noGrp="1"/>
          </p:cNvSpPr>
          <p:nvPr/>
        </p:nvSpPr>
        <p:spPr>
          <a:xfrm xmlns:a="http://schemas.openxmlformats.org/drawingml/2006/main">
            <a:off x="4457700" y="3790950"/>
            <a:ext cx="38100" cy="107632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2" name="Google Shape;122;p6">
            <a:extLst xmlns:a="http://schemas.openxmlformats.org/drawingml/2006/main">
              <a:ext uri="{FF2B5EF4-FFF2-40B4-BE49-F238E27FC236}">
                <a16:creationId xmlns:a16="http://schemas.microsoft.com/office/drawing/2014/main" id="{BDF0E99D-9406-4906-8FEB-68765D957824}"/>
              </a:ext>
            </a:extLst>
          </p:cNvPr>
          <p:cNvSpPr>
            <a:spLocks xmlns:a="http://schemas.openxmlformats.org/drawingml/2006/main" noGrp="1"/>
          </p:cNvSpPr>
          <p:nvPr/>
        </p:nvSpPr>
        <p:spPr>
          <a:xfrm xmlns:a="http://schemas.openxmlformats.org/drawingml/2006/main">
            <a:off x="468630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CLIMATE RISK</a:t>
            </a:r>
            <a:r>
              <a:rPr sz="1050" b="1">
                <a:solidFill>
                  <a:srgbClr val="12304E"/>
                </a:solidFill>
                <a:latin typeface="Lato"/>
                <a:ea typeface="Lato"/>
                <a:cs typeface="Lato"/>
              </a:rPr>
              <a:t>S </a:t>
            </a:r>
            <a:r>
              <a:rPr sz="1050" b="1">
                <a:solidFill>
                  <a:srgbClr val="12304E"/>
                </a:solidFill>
                <a:latin typeface="Lato"/>
                <a:ea typeface="Lato"/>
                <a:cs typeface="Lato"/>
              </a:rPr>
              <a:t>CONSIDERATIONS</a:t>
            </a:r>
            <a:endParaRPr sz="1050" b="1" i="0">
              <a:solidFill>
                <a:srgbClr val="12304E"/>
              </a:solidFill>
              <a:latin typeface="Lato"/>
              <a:ea typeface="Lato"/>
              <a:cs typeface="Lato"/>
            </a:endParaRPr>
          </a:p>
        </p:txBody>
      </p:sp>
      <p:sp>
        <p:nvSpPr>
          <p:cNvPr id="123" name="Google Shape;123;p6">
            <a:extLst xmlns:a="http://schemas.openxmlformats.org/drawingml/2006/main">
              <a:ext uri="{FF2B5EF4-FFF2-40B4-BE49-F238E27FC236}">
                <a16:creationId xmlns:a16="http://schemas.microsoft.com/office/drawing/2014/main" id="{88C511A0-ED96-43D8-89A2-BE8096E432BC}"/>
              </a:ext>
            </a:extLst>
          </p:cNvPr>
          <p:cNvSpPr>
            <a:spLocks xmlns:a="http://schemas.openxmlformats.org/drawingml/2006/main" noGrp="1"/>
          </p:cNvSpPr>
          <p:nvPr/>
        </p:nvSpPr>
        <p:spPr>
          <a:xfrm xmlns:a="http://schemas.openxmlformats.org/drawingml/2006/main">
            <a:off x="468630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groups or locations may face greater exposure </a:t>
            </a:r>
            <a:r>
              <a:rPr sz="1350">
                <a:solidFill>
                  <a:srgbClr val="687984"/>
                </a:solidFill>
                <a:latin typeface="Lato"/>
                <a:ea typeface="Lato"/>
                <a:cs typeface="Lato"/>
              </a:rPr>
              <a:t>and/or are more vulnerable</a:t>
            </a:r>
            <a:r>
              <a:rPr sz="1350" b="0" i="0">
                <a:solidFill>
                  <a:srgbClr val="687984"/>
                </a:solidFill>
                <a:latin typeface="Lato"/>
                <a:ea typeface="Lato"/>
                <a:cs typeface="Lato"/>
              </a:rPr>
              <a:t>?</a:t>
            </a:r>
            <a:endParaRPr/>
          </a:p>
        </p:txBody>
      </p:sp>
      <p:sp>
        <p:nvSpPr>
          <p:cNvPr id="124" name="Google Shape;124;p6">
            <a:extLst xmlns:a="http://schemas.openxmlformats.org/drawingml/2006/main">
              <a:ext uri="{FF2B5EF4-FFF2-40B4-BE49-F238E27FC236}">
                <a16:creationId xmlns:a16="http://schemas.microsoft.com/office/drawing/2014/main" id="{E3D40014-3AC1-4823-A454-BA2D50D2EE71}"/>
              </a:ext>
            </a:extLst>
          </p:cNvPr>
          <p:cNvSpPr>
            <a:spLocks xmlns:a="http://schemas.openxmlformats.org/drawingml/2006/main" noGrp="1"/>
          </p:cNvSpPr>
          <p:nvPr/>
        </p:nvSpPr>
        <p:spPr>
          <a:xfrm xmlns:a="http://schemas.openxmlformats.org/drawingml/2006/main">
            <a:off x="8210550" y="3638550"/>
            <a:ext cx="3429000"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5" name="Google Shape;125;p6">
            <a:extLst xmlns:a="http://schemas.openxmlformats.org/drawingml/2006/main">
              <a:ext uri="{FF2B5EF4-FFF2-40B4-BE49-F238E27FC236}">
                <a16:creationId xmlns:a16="http://schemas.microsoft.com/office/drawing/2014/main" id="{511A1394-002E-4E72-B6D7-4729D0BDE231}"/>
              </a:ext>
            </a:extLst>
          </p:cNvPr>
          <p:cNvSpPr>
            <a:spLocks xmlns:a="http://schemas.openxmlformats.org/drawingml/2006/main" noGrp="1"/>
          </p:cNvSpPr>
          <p:nvPr/>
        </p:nvSpPr>
        <p:spPr>
          <a:xfrm xmlns:a="http://schemas.openxmlformats.org/drawingml/2006/main">
            <a:off x="8210550" y="3790950"/>
            <a:ext cx="38100" cy="107632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26" name="Google Shape;126;p6">
            <a:extLst xmlns:a="http://schemas.openxmlformats.org/drawingml/2006/main">
              <a:ext uri="{FF2B5EF4-FFF2-40B4-BE49-F238E27FC236}">
                <a16:creationId xmlns:a16="http://schemas.microsoft.com/office/drawing/2014/main" id="{67B031E0-F979-44B7-BB6B-E6E9455EFEB3}"/>
              </a:ext>
            </a:extLst>
          </p:cNvPr>
          <p:cNvSpPr>
            <a:spLocks xmlns:a="http://schemas.openxmlformats.org/drawingml/2006/main" noGrp="1"/>
          </p:cNvSpPr>
          <p:nvPr/>
        </p:nvSpPr>
        <p:spPr>
          <a:xfrm xmlns:a="http://schemas.openxmlformats.org/drawingml/2006/main">
            <a:off x="8439150" y="3810000"/>
            <a:ext cx="300990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050"/>
              <a:buFont typeface="Lato"/>
              <a:buNone/>
            </a:pPr>
            <a:r>
              <a:rPr sz="1050" b="1" i="0">
                <a:solidFill>
                  <a:srgbClr val="12304E"/>
                </a:solidFill>
                <a:latin typeface="Lato"/>
                <a:ea typeface="Lato"/>
                <a:cs typeface="Lato"/>
              </a:rPr>
              <a:t>ADAPTATION</a:t>
            </a:r>
            <a:endParaRPr/>
          </a:p>
        </p:txBody>
      </p:sp>
      <p:sp>
        <p:nvSpPr>
          <p:cNvPr id="127" name="Google Shape;127;p6">
            <a:extLst xmlns:a="http://schemas.openxmlformats.org/drawingml/2006/main">
              <a:ext uri="{FF2B5EF4-FFF2-40B4-BE49-F238E27FC236}">
                <a16:creationId xmlns:a16="http://schemas.microsoft.com/office/drawing/2014/main" id="{2B7AB19F-60AE-45FF-BE97-217903B01425}"/>
              </a:ext>
            </a:extLst>
          </p:cNvPr>
          <p:cNvSpPr>
            <a:spLocks xmlns:a="http://schemas.openxmlformats.org/drawingml/2006/main" noGrp="1"/>
          </p:cNvSpPr>
          <p:nvPr/>
        </p:nvSpPr>
        <p:spPr>
          <a:xfrm xmlns:a="http://schemas.openxmlformats.org/drawingml/2006/main">
            <a:off x="8439150" y="4191000"/>
            <a:ext cx="2971800" cy="6762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350"/>
              <a:buFont typeface="Lato"/>
              <a:buNone/>
            </a:pPr>
            <a:r>
              <a:rPr sz="1350" b="0" i="0">
                <a:solidFill>
                  <a:srgbClr val="687984"/>
                </a:solidFill>
                <a:latin typeface="Lato"/>
                <a:ea typeface="Lato"/>
                <a:cs typeface="Lato"/>
              </a:rPr>
              <a:t>Which options respond to the scale and timing of change?</a:t>
            </a:r>
            <a:endParaRPr/>
          </a:p>
        </p:txBody>
      </p:sp>
      <p:sp>
        <p:nvSpPr>
          <p:cNvPr id="128" name="Google Shape;128;p6">
            <a:extLst xmlns:a="http://schemas.openxmlformats.org/drawingml/2006/main">
              <a:ext uri="{FF2B5EF4-FFF2-40B4-BE49-F238E27FC236}">
                <a16:creationId xmlns:a16="http://schemas.microsoft.com/office/drawing/2014/main" id="{D9A0285B-F9D3-4FA2-AA1A-24DD27A19BE0}"/>
              </a:ext>
            </a:extLst>
          </p:cNvPr>
          <p:cNvSpPr>
            <a:spLocks xmlns:a="http://schemas.openxmlformats.org/drawingml/2006/main" noGrp="1"/>
          </p:cNvSpPr>
          <p:nvPr/>
        </p:nvSpPr>
        <p:spPr>
          <a:xfrm xmlns:a="http://schemas.openxmlformats.org/drawingml/2006/main">
            <a:off x="1628775" y="5438775"/>
            <a:ext cx="890587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The question sounds simple. Answering it requires a chain of choices and processing steps.</a:t>
            </a:r>
            <a:endParaRPr/>
          </a:p>
        </p:txBody>
      </p:sp>
    </p:spTree>
    <p:extLst>
      <p:ext uri="{BB962C8B-B14F-4D97-AF65-F5344CB8AC3E}">
        <p14:creationId xmlns:p14="http://schemas.microsoft.com/office/powerpoint/2010/main" val="279055955"/>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4" name="Google Shape;134;p7">
            <a:extLst xmlns:a="http://schemas.openxmlformats.org/drawingml/2006/main">
              <a:ext uri="{FF2B5EF4-FFF2-40B4-BE49-F238E27FC236}">
                <a16:creationId xmlns:a16="http://schemas.microsoft.com/office/drawing/2014/main" id="{6A8AC91D-CE75-4F2F-A21B-77A1C5883A53}"/>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a decision question to climate information</a:t>
            </a:r>
            <a:endParaRPr/>
          </a:p>
        </p:txBody>
      </p:sp>
      <p:sp>
        <p:nvSpPr>
          <p:cNvPr id="135" name="Google Shape;135;p7">
            <a:extLst xmlns:a="http://schemas.openxmlformats.org/drawingml/2006/main">
              <a:ext uri="{FF2B5EF4-FFF2-40B4-BE49-F238E27FC236}">
                <a16:creationId xmlns:a16="http://schemas.microsoft.com/office/drawing/2014/main" id="{2BC088A2-1CC7-4AC2-9A2D-C4C7695C6719}"/>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Each step adds a choice that affects the final interpretation</a:t>
            </a:r>
            <a:endParaRPr/>
          </a:p>
        </p:txBody>
      </p:sp>
      <p:sp>
        <p:nvSpPr>
          <p:cNvPr id="136" name="Google Shape;136;p7">
            <a:extLst xmlns:a="http://schemas.openxmlformats.org/drawingml/2006/main">
              <a:ext uri="{FF2B5EF4-FFF2-40B4-BE49-F238E27FC236}">
                <a16:creationId xmlns:a16="http://schemas.microsoft.com/office/drawing/2014/main" id="{0E35F051-B3DD-4046-A723-4A2DBA645DF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7" name="Google Shape;137;p7">
            <a:extLst xmlns:a="http://schemas.openxmlformats.org/drawingml/2006/main">
              <a:ext uri="{FF2B5EF4-FFF2-40B4-BE49-F238E27FC236}">
                <a16:creationId xmlns:a16="http://schemas.microsoft.com/office/drawing/2014/main" id="{1834C32A-40E9-4A52-BD10-7E178DDD628A}"/>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8" name="Google Shape;138;p7">
            <a:extLst xmlns:a="http://schemas.openxmlformats.org/drawingml/2006/main">
              <a:ext uri="{FF2B5EF4-FFF2-40B4-BE49-F238E27FC236}">
                <a16:creationId xmlns:a16="http://schemas.microsoft.com/office/drawing/2014/main" id="{93F2D1AC-9FA6-4BF6-B612-D9C0D08AF493}"/>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39" name="Google Shape;139;p7">
            <a:extLst xmlns:a="http://schemas.openxmlformats.org/drawingml/2006/main">
              <a:ext uri="{FF2B5EF4-FFF2-40B4-BE49-F238E27FC236}">
                <a16:creationId xmlns:a16="http://schemas.microsoft.com/office/drawing/2014/main" id="{FDAD9FD6-C183-4F17-88C9-B9745C132B6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40" name="Google Shape;140;p7">
            <a:extLst xmlns:a="http://schemas.openxmlformats.org/drawingml/2006/main">
              <a:ext uri="{FF2B5EF4-FFF2-40B4-BE49-F238E27FC236}">
                <a16:creationId xmlns:a16="http://schemas.microsoft.com/office/drawing/2014/main" id="{7AB37A68-75AC-49C4-A5CA-CA445D928604}"/>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05</a:t>
            </a:r>
            <a:endParaRPr/>
          </a:p>
        </p:txBody>
      </p:sp>
      <p:sp>
        <p:nvSpPr>
          <p:cNvPr id="141" name="Google Shape;141;p7">
            <a:extLst xmlns:a="http://schemas.openxmlformats.org/drawingml/2006/main">
              <a:ext uri="{FF2B5EF4-FFF2-40B4-BE49-F238E27FC236}">
                <a16:creationId xmlns:a16="http://schemas.microsoft.com/office/drawing/2014/main" id="{A01148E6-66F7-474B-9540-80B5D589C291}"/>
              </a:ext>
            </a:extLst>
          </p:cNvPr>
          <p:cNvSpPr>
            <a:spLocks xmlns:a="http://schemas.openxmlformats.org/drawingml/2006/main" noGrp="1"/>
          </p:cNvSpPr>
          <p:nvPr/>
        </p:nvSpPr>
        <p:spPr>
          <a:xfrm xmlns:a="http://schemas.openxmlformats.org/drawingml/2006/main">
            <a:off x="6477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2" name="Google Shape;142;p7">
            <a:extLst xmlns:a="http://schemas.openxmlformats.org/drawingml/2006/main">
              <a:ext uri="{FF2B5EF4-FFF2-40B4-BE49-F238E27FC236}">
                <a16:creationId xmlns:a16="http://schemas.microsoft.com/office/drawing/2014/main" id="{E5EE030E-B553-4CAF-84D3-188B80FE8249}"/>
              </a:ext>
            </a:extLst>
          </p:cNvPr>
          <p:cNvSpPr>
            <a:spLocks xmlns:a="http://schemas.openxmlformats.org/drawingml/2006/main" noGrp="1"/>
          </p:cNvSpPr>
          <p:nvPr/>
        </p:nvSpPr>
        <p:spPr>
          <a:xfrm xmlns:a="http://schemas.openxmlformats.org/drawingml/2006/main">
            <a:off x="8382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01</a:t>
            </a:r>
            <a:endParaRPr/>
          </a:p>
        </p:txBody>
      </p:sp>
      <p:sp>
        <p:nvSpPr>
          <p:cNvPr id="143" name="Google Shape;143;p7">
            <a:extLst xmlns:a="http://schemas.openxmlformats.org/drawingml/2006/main">
              <a:ext uri="{FF2B5EF4-FFF2-40B4-BE49-F238E27FC236}">
                <a16:creationId xmlns:a16="http://schemas.microsoft.com/office/drawing/2014/main" id="{6D0BEE9C-A643-495D-805F-B7D1E0178DDB}"/>
              </a:ext>
            </a:extLst>
          </p:cNvPr>
          <p:cNvSpPr>
            <a:spLocks xmlns:a="http://schemas.openxmlformats.org/drawingml/2006/main" noGrp="1"/>
          </p:cNvSpPr>
          <p:nvPr/>
        </p:nvSpPr>
        <p:spPr>
          <a:xfrm xmlns:a="http://schemas.openxmlformats.org/drawingml/2006/main">
            <a:off x="8382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Decision question</a:t>
            </a:r>
            <a:endParaRPr/>
          </a:p>
        </p:txBody>
      </p:sp>
      <p:sp>
        <p:nvSpPr>
          <p:cNvPr id="144" name="Google Shape;144;p7">
            <a:extLst xmlns:a="http://schemas.openxmlformats.org/drawingml/2006/main">
              <a:ext uri="{FF2B5EF4-FFF2-40B4-BE49-F238E27FC236}">
                <a16:creationId xmlns:a16="http://schemas.microsoft.com/office/drawing/2014/main" id="{909BC11A-28F7-4B7A-905B-A9326B6345BE}"/>
              </a:ext>
            </a:extLst>
          </p:cNvPr>
          <p:cNvSpPr>
            <a:spLocks xmlns:a="http://schemas.openxmlformats.org/drawingml/2006/main" noGrp="1"/>
          </p:cNvSpPr>
          <p:nvPr/>
        </p:nvSpPr>
        <p:spPr>
          <a:xfrm xmlns:a="http://schemas.openxmlformats.org/drawingml/2006/main">
            <a:off x="8382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must the project decide?</a:t>
            </a:r>
            <a:endParaRPr/>
          </a:p>
        </p:txBody>
      </p:sp>
      <p:sp>
        <p:nvSpPr>
          <p:cNvPr id="145" name="Google Shape;145;p7">
            <a:extLst xmlns:a="http://schemas.openxmlformats.org/drawingml/2006/main">
              <a:ext uri="{FF2B5EF4-FFF2-40B4-BE49-F238E27FC236}">
                <a16:creationId xmlns:a16="http://schemas.microsoft.com/office/drawing/2014/main" id="{7E765004-567E-4461-A251-7E0BE173ECDF}"/>
              </a:ext>
            </a:extLst>
          </p:cNvPr>
          <p:cNvSpPr>
            <a:spLocks xmlns:a="http://schemas.openxmlformats.org/drawingml/2006/main" noGrp="1"/>
          </p:cNvSpPr>
          <p:nvPr/>
        </p:nvSpPr>
        <p:spPr>
          <a:xfrm xmlns:a="http://schemas.openxmlformats.org/drawingml/2006/main">
            <a:off x="260032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6" name="Google Shape;146;p7">
            <a:extLst xmlns:a="http://schemas.openxmlformats.org/drawingml/2006/main">
              <a:ext uri="{FF2B5EF4-FFF2-40B4-BE49-F238E27FC236}">
                <a16:creationId xmlns:a16="http://schemas.microsoft.com/office/drawing/2014/main" id="{5013B1A0-BDBD-4090-9DA3-665393257AF9}"/>
              </a:ext>
            </a:extLst>
          </p:cNvPr>
          <p:cNvSpPr>
            <a:spLocks xmlns:a="http://schemas.openxmlformats.org/drawingml/2006/main" noGrp="1"/>
          </p:cNvSpPr>
          <p:nvPr/>
        </p:nvSpPr>
        <p:spPr>
          <a:xfrm xmlns:a="http://schemas.openxmlformats.org/drawingml/2006/main">
            <a:off x="284797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47" name="Google Shape;147;p7">
            <a:extLst xmlns:a="http://schemas.openxmlformats.org/drawingml/2006/main">
              <a:ext uri="{FF2B5EF4-FFF2-40B4-BE49-F238E27FC236}">
                <a16:creationId xmlns:a16="http://schemas.microsoft.com/office/drawing/2014/main" id="{D3E98D61-5D59-4BA2-A120-667C520D3A28}"/>
              </a:ext>
            </a:extLst>
          </p:cNvPr>
          <p:cNvSpPr>
            <a:spLocks xmlns:a="http://schemas.openxmlformats.org/drawingml/2006/main" noGrp="1"/>
          </p:cNvSpPr>
          <p:nvPr/>
        </p:nvSpPr>
        <p:spPr>
          <a:xfrm xmlns:a="http://schemas.openxmlformats.org/drawingml/2006/main">
            <a:off x="303847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148" name="Google Shape;148;p7">
            <a:extLst xmlns:a="http://schemas.openxmlformats.org/drawingml/2006/main">
              <a:ext uri="{FF2B5EF4-FFF2-40B4-BE49-F238E27FC236}">
                <a16:creationId xmlns:a16="http://schemas.microsoft.com/office/drawing/2014/main" id="{559DC67E-A735-43F7-9A60-90FBBDE1F585}"/>
              </a:ext>
            </a:extLst>
          </p:cNvPr>
          <p:cNvSpPr>
            <a:spLocks xmlns:a="http://schemas.openxmlformats.org/drawingml/2006/main" noGrp="1"/>
          </p:cNvSpPr>
          <p:nvPr/>
        </p:nvSpPr>
        <p:spPr>
          <a:xfrm xmlns:a="http://schemas.openxmlformats.org/drawingml/2006/main">
            <a:off x="303847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Information need</a:t>
            </a:r>
            <a:endParaRPr/>
          </a:p>
        </p:txBody>
      </p:sp>
      <p:sp>
        <p:nvSpPr>
          <p:cNvPr id="149" name="Google Shape;149;p7">
            <a:extLst xmlns:a="http://schemas.openxmlformats.org/drawingml/2006/main">
              <a:ext uri="{FF2B5EF4-FFF2-40B4-BE49-F238E27FC236}">
                <a16:creationId xmlns:a16="http://schemas.microsoft.com/office/drawing/2014/main" id="{4B259BFB-D686-4EE4-8BFA-4A861C94FD12}"/>
              </a:ext>
            </a:extLst>
          </p:cNvPr>
          <p:cNvSpPr>
            <a:spLocks xmlns:a="http://schemas.openxmlformats.org/drawingml/2006/main" noGrp="1"/>
          </p:cNvSpPr>
          <p:nvPr/>
        </p:nvSpPr>
        <p:spPr>
          <a:xfrm xmlns:a="http://schemas.openxmlformats.org/drawingml/2006/main">
            <a:off x="303847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hazard, geography and period?</a:t>
            </a:r>
            <a:endParaRPr/>
          </a:p>
        </p:txBody>
      </p:sp>
      <p:sp>
        <p:nvSpPr>
          <p:cNvPr id="150" name="Google Shape;150;p7">
            <a:extLst xmlns:a="http://schemas.openxmlformats.org/drawingml/2006/main">
              <a:ext uri="{FF2B5EF4-FFF2-40B4-BE49-F238E27FC236}">
                <a16:creationId xmlns:a16="http://schemas.microsoft.com/office/drawing/2014/main" id="{153AEB34-CB1A-435C-AAEE-C48328468051}"/>
              </a:ext>
            </a:extLst>
          </p:cNvPr>
          <p:cNvSpPr>
            <a:spLocks xmlns:a="http://schemas.openxmlformats.org/drawingml/2006/main" noGrp="1"/>
          </p:cNvSpPr>
          <p:nvPr/>
        </p:nvSpPr>
        <p:spPr>
          <a:xfrm xmlns:a="http://schemas.openxmlformats.org/drawingml/2006/main">
            <a:off x="480060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1" name="Google Shape;151;p7">
            <a:extLst xmlns:a="http://schemas.openxmlformats.org/drawingml/2006/main">
              <a:ext uri="{FF2B5EF4-FFF2-40B4-BE49-F238E27FC236}">
                <a16:creationId xmlns:a16="http://schemas.microsoft.com/office/drawing/2014/main" id="{892A9FC6-6DE9-4E21-8ABB-67E84022CB39}"/>
              </a:ext>
            </a:extLst>
          </p:cNvPr>
          <p:cNvSpPr>
            <a:spLocks xmlns:a="http://schemas.openxmlformats.org/drawingml/2006/main" noGrp="1"/>
          </p:cNvSpPr>
          <p:nvPr/>
        </p:nvSpPr>
        <p:spPr>
          <a:xfrm xmlns:a="http://schemas.openxmlformats.org/drawingml/2006/main">
            <a:off x="504825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FF000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rgbClr val="FF0000"/>
              </a:solidFill>
              <a:highlight>
                <a:srgbClr val="FF0000"/>
              </a:highlight>
              <a:latin typeface="Calibri"/>
              <a:ea typeface="Calibri"/>
              <a:cs typeface="Calibri"/>
            </a:endParaRPr>
          </a:p>
        </p:txBody>
      </p:sp>
      <p:sp>
        <p:nvSpPr>
          <p:cNvPr id="152" name="Google Shape;152;p7">
            <a:extLst xmlns:a="http://schemas.openxmlformats.org/drawingml/2006/main">
              <a:ext uri="{FF2B5EF4-FFF2-40B4-BE49-F238E27FC236}">
                <a16:creationId xmlns:a16="http://schemas.microsoft.com/office/drawing/2014/main" id="{D1116986-F377-4E82-AF5C-D045E0532A12}"/>
              </a:ext>
            </a:extLst>
          </p:cNvPr>
          <p:cNvSpPr>
            <a:spLocks xmlns:a="http://schemas.openxmlformats.org/drawingml/2006/main" noGrp="1"/>
          </p:cNvSpPr>
          <p:nvPr/>
        </p:nvSpPr>
        <p:spPr>
          <a:xfrm xmlns:a="http://schemas.openxmlformats.org/drawingml/2006/main">
            <a:off x="523875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chemeClr val="dk1"/>
                </a:solidFill>
                <a:latin typeface="Lato"/>
                <a:ea typeface="Lato"/>
                <a:cs typeface="Lato"/>
              </a:rPr>
              <a:t>03</a:t>
            </a:r>
            <a:endParaRPr>
              <a:solidFill>
                <a:schemeClr val="dk1"/>
              </a:solidFill>
            </a:endParaRPr>
          </a:p>
        </p:txBody>
      </p:sp>
      <p:sp>
        <p:nvSpPr>
          <p:cNvPr id="153" name="Google Shape;153;p7">
            <a:extLst xmlns:a="http://schemas.openxmlformats.org/drawingml/2006/main">
              <a:ext uri="{FF2B5EF4-FFF2-40B4-BE49-F238E27FC236}">
                <a16:creationId xmlns:a16="http://schemas.microsoft.com/office/drawing/2014/main" id="{B3720699-2D04-4D30-AD1E-075CA18FEB7E}"/>
              </a:ext>
            </a:extLst>
          </p:cNvPr>
          <p:cNvSpPr>
            <a:spLocks xmlns:a="http://schemas.openxmlformats.org/drawingml/2006/main" noGrp="1"/>
          </p:cNvSpPr>
          <p:nvPr/>
        </p:nvSpPr>
        <p:spPr>
          <a:xfrm xmlns:a="http://schemas.openxmlformats.org/drawingml/2006/main">
            <a:off x="523875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Climate evidence</a:t>
            </a:r>
            <a:endParaRPr/>
          </a:p>
        </p:txBody>
      </p:sp>
      <p:sp>
        <p:nvSpPr>
          <p:cNvPr id="154" name="Google Shape;154;p7">
            <a:extLst xmlns:a="http://schemas.openxmlformats.org/drawingml/2006/main">
              <a:ext uri="{FF2B5EF4-FFF2-40B4-BE49-F238E27FC236}">
                <a16:creationId xmlns:a16="http://schemas.microsoft.com/office/drawing/2014/main" id="{F9C7DE78-C3AF-48C6-A6F4-AC1EB0603677}"/>
              </a:ext>
            </a:extLst>
          </p:cNvPr>
          <p:cNvSpPr>
            <a:spLocks xmlns:a="http://schemas.openxmlformats.org/drawingml/2006/main" noGrp="1"/>
          </p:cNvSpPr>
          <p:nvPr/>
        </p:nvSpPr>
        <p:spPr>
          <a:xfrm xmlns:a="http://schemas.openxmlformats.org/drawingml/2006/main">
            <a:off x="523875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Which reference and projections?</a:t>
            </a:r>
            <a:endParaRPr/>
          </a:p>
        </p:txBody>
      </p:sp>
      <p:sp>
        <p:nvSpPr>
          <p:cNvPr id="155" name="Google Shape;155;p7">
            <a:extLst xmlns:a="http://schemas.openxmlformats.org/drawingml/2006/main">
              <a:ext uri="{FF2B5EF4-FFF2-40B4-BE49-F238E27FC236}">
                <a16:creationId xmlns:a16="http://schemas.microsoft.com/office/drawing/2014/main" id="{3E7FADFE-4D7D-4784-8207-35C353D8287D}"/>
              </a:ext>
            </a:extLst>
          </p:cNvPr>
          <p:cNvSpPr>
            <a:spLocks xmlns:a="http://schemas.openxmlformats.org/drawingml/2006/main" noGrp="1"/>
          </p:cNvSpPr>
          <p:nvPr/>
        </p:nvSpPr>
        <p:spPr>
          <a:xfrm xmlns:a="http://schemas.openxmlformats.org/drawingml/2006/main">
            <a:off x="7000875"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6" name="Google Shape;156;p7">
            <a:extLst xmlns:a="http://schemas.openxmlformats.org/drawingml/2006/main">
              <a:ext uri="{FF2B5EF4-FFF2-40B4-BE49-F238E27FC236}">
                <a16:creationId xmlns:a16="http://schemas.microsoft.com/office/drawing/2014/main" id="{B00FA229-910C-4E52-94A4-C10A3F4FBCC6}"/>
              </a:ext>
            </a:extLst>
          </p:cNvPr>
          <p:cNvSpPr>
            <a:spLocks xmlns:a="http://schemas.openxmlformats.org/drawingml/2006/main" noGrp="1"/>
          </p:cNvSpPr>
          <p:nvPr/>
        </p:nvSpPr>
        <p:spPr>
          <a:xfrm xmlns:a="http://schemas.openxmlformats.org/drawingml/2006/main">
            <a:off x="7248525"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rgbClr val="FF0000"/>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57" name="Google Shape;157;p7">
            <a:extLst xmlns:a="http://schemas.openxmlformats.org/drawingml/2006/main">
              <a:ext uri="{FF2B5EF4-FFF2-40B4-BE49-F238E27FC236}">
                <a16:creationId xmlns:a16="http://schemas.microsoft.com/office/drawing/2014/main" id="{11F2E58F-5B2D-4F58-A33C-8B930493BAE0}"/>
              </a:ext>
            </a:extLst>
          </p:cNvPr>
          <p:cNvSpPr>
            <a:spLocks xmlns:a="http://schemas.openxmlformats.org/drawingml/2006/main" noGrp="1"/>
          </p:cNvSpPr>
          <p:nvPr/>
        </p:nvSpPr>
        <p:spPr>
          <a:xfrm xmlns:a="http://schemas.openxmlformats.org/drawingml/2006/main">
            <a:off x="7439025"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04</a:t>
            </a:r>
            <a:endParaRPr/>
          </a:p>
        </p:txBody>
      </p:sp>
      <p:sp>
        <p:nvSpPr>
          <p:cNvPr id="158" name="Google Shape;158;p7">
            <a:extLst xmlns:a="http://schemas.openxmlformats.org/drawingml/2006/main">
              <a:ext uri="{FF2B5EF4-FFF2-40B4-BE49-F238E27FC236}">
                <a16:creationId xmlns:a16="http://schemas.microsoft.com/office/drawing/2014/main" id="{CDC69341-D2F9-471D-8FD6-59E850838CEA}"/>
              </a:ext>
            </a:extLst>
          </p:cNvPr>
          <p:cNvSpPr>
            <a:spLocks xmlns:a="http://schemas.openxmlformats.org/drawingml/2006/main" noGrp="1"/>
          </p:cNvSpPr>
          <p:nvPr/>
        </p:nvSpPr>
        <p:spPr>
          <a:xfrm xmlns:a="http://schemas.openxmlformats.org/drawingml/2006/main">
            <a:off x="7439025"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Processing</a:t>
            </a:r>
            <a:endParaRPr/>
          </a:p>
        </p:txBody>
      </p:sp>
      <p:sp>
        <p:nvSpPr>
          <p:cNvPr id="159" name="Google Shape;159;p7">
            <a:extLst xmlns:a="http://schemas.openxmlformats.org/drawingml/2006/main">
              <a:ext uri="{FF2B5EF4-FFF2-40B4-BE49-F238E27FC236}">
                <a16:creationId xmlns:a16="http://schemas.microsoft.com/office/drawing/2014/main" id="{776FDF6B-68E2-40D9-BC1B-6B923A2591D8}"/>
              </a:ext>
            </a:extLst>
          </p:cNvPr>
          <p:cNvSpPr>
            <a:spLocks xmlns:a="http://schemas.openxmlformats.org/drawingml/2006/main" noGrp="1"/>
          </p:cNvSpPr>
          <p:nvPr/>
        </p:nvSpPr>
        <p:spPr>
          <a:xfrm xmlns:a="http://schemas.openxmlformats.org/drawingml/2006/main">
            <a:off x="7439025"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How are data made comparable?</a:t>
            </a:r>
            <a:endParaRPr/>
          </a:p>
        </p:txBody>
      </p:sp>
      <p:sp>
        <p:nvSpPr>
          <p:cNvPr id="160" name="Google Shape;160;p7">
            <a:extLst xmlns:a="http://schemas.openxmlformats.org/drawingml/2006/main">
              <a:ext uri="{FF2B5EF4-FFF2-40B4-BE49-F238E27FC236}">
                <a16:creationId xmlns:a16="http://schemas.microsoft.com/office/drawing/2014/main" id="{3F08597C-0C09-4924-B689-BFDFB6CFF8F5}"/>
              </a:ext>
            </a:extLst>
          </p:cNvPr>
          <p:cNvSpPr>
            <a:spLocks xmlns:a="http://schemas.openxmlformats.org/drawingml/2006/main" noGrp="1"/>
          </p:cNvSpPr>
          <p:nvPr/>
        </p:nvSpPr>
        <p:spPr>
          <a:xfrm xmlns:a="http://schemas.openxmlformats.org/drawingml/2006/main">
            <a:off x="9201150" y="3095625"/>
            <a:ext cx="247650" cy="2857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1" name="Google Shape;161;p7">
            <a:extLst xmlns:a="http://schemas.openxmlformats.org/drawingml/2006/main">
              <a:ext uri="{FF2B5EF4-FFF2-40B4-BE49-F238E27FC236}">
                <a16:creationId xmlns:a16="http://schemas.microsoft.com/office/drawing/2014/main" id="{B949D5B3-32A2-47CA-A5DC-1E9844E5EEE0}"/>
              </a:ext>
            </a:extLst>
          </p:cNvPr>
          <p:cNvSpPr>
            <a:spLocks xmlns:a="http://schemas.openxmlformats.org/drawingml/2006/main" noGrp="1"/>
          </p:cNvSpPr>
          <p:nvPr/>
        </p:nvSpPr>
        <p:spPr>
          <a:xfrm xmlns:a="http://schemas.openxmlformats.org/drawingml/2006/main">
            <a:off x="9448800" y="2009775"/>
            <a:ext cx="1952625" cy="2286000"/>
          </a:xfrm>
          <a:prstGeom xmlns:a="http://schemas.openxmlformats.org/drawingml/2006/main" prst="roundRect">
            <a:avLst>
              <a:gd name="adj" fmla="val 3902"/>
            </a:avLst>
          </a:prstGeom>
          <a:solidFill xmlns:a="http://schemas.openxmlformats.org/drawingml/2006/main">
            <a:srgbClr val="FFFFFF"/>
          </a:solidFill>
          <a:ln xmlns:a="http://schemas.openxmlformats.org/drawingml/2006/main" w="9525" cmpd="sng">
            <a:solidFill>
              <a:schemeClr val="lt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2" name="Google Shape;162;p7">
            <a:extLst xmlns:a="http://schemas.openxmlformats.org/drawingml/2006/main">
              <a:ext uri="{FF2B5EF4-FFF2-40B4-BE49-F238E27FC236}">
                <a16:creationId xmlns:a16="http://schemas.microsoft.com/office/drawing/2014/main" id="{055D9126-A033-4D4D-9AFC-266ECF857953}"/>
              </a:ext>
            </a:extLst>
          </p:cNvPr>
          <p:cNvSpPr>
            <a:spLocks xmlns:a="http://schemas.openxmlformats.org/drawingml/2006/main" noGrp="1"/>
          </p:cNvSpPr>
          <p:nvPr/>
        </p:nvSpPr>
        <p:spPr>
          <a:xfrm xmlns:a="http://schemas.openxmlformats.org/drawingml/2006/main">
            <a:off x="9639300" y="2219325"/>
            <a:ext cx="428625"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05</a:t>
            </a:r>
            <a:endParaRPr/>
          </a:p>
        </p:txBody>
      </p:sp>
      <p:sp>
        <p:nvSpPr>
          <p:cNvPr id="163" name="Google Shape;163;p7">
            <a:extLst xmlns:a="http://schemas.openxmlformats.org/drawingml/2006/main">
              <a:ext uri="{FF2B5EF4-FFF2-40B4-BE49-F238E27FC236}">
                <a16:creationId xmlns:a16="http://schemas.microsoft.com/office/drawing/2014/main" id="{675A3EFC-6056-4F71-BC5F-B995188D4461}"/>
              </a:ext>
            </a:extLst>
          </p:cNvPr>
          <p:cNvSpPr>
            <a:spLocks xmlns:a="http://schemas.openxmlformats.org/drawingml/2006/main" noGrp="1"/>
          </p:cNvSpPr>
          <p:nvPr/>
        </p:nvSpPr>
        <p:spPr>
          <a:xfrm xmlns:a="http://schemas.openxmlformats.org/drawingml/2006/main">
            <a:off x="9639300" y="2752725"/>
            <a:ext cx="1571625"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Interpretation</a:t>
            </a:r>
            <a:endParaRPr/>
          </a:p>
        </p:txBody>
      </p:sp>
      <p:sp>
        <p:nvSpPr>
          <p:cNvPr id="164" name="Google Shape;164;p7">
            <a:extLst xmlns:a="http://schemas.openxmlformats.org/drawingml/2006/main">
              <a:ext uri="{FF2B5EF4-FFF2-40B4-BE49-F238E27FC236}">
                <a16:creationId xmlns:a16="http://schemas.microsoft.com/office/drawing/2014/main" id="{AC7D0069-8BF0-469F-BBED-65A092855067}"/>
              </a:ext>
            </a:extLst>
          </p:cNvPr>
          <p:cNvSpPr>
            <a:spLocks xmlns:a="http://schemas.openxmlformats.org/drawingml/2006/main" noGrp="1"/>
          </p:cNvSpPr>
          <p:nvPr/>
        </p:nvSpPr>
        <p:spPr>
          <a:xfrm xmlns:a="http://schemas.openxmlformats.org/drawingml/2006/main">
            <a:off x="9639300" y="3524250"/>
            <a:ext cx="1571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What changes, and how certain is it?</a:t>
            </a:r>
            <a:endParaRPr/>
          </a:p>
        </p:txBody>
      </p:sp>
      <p:sp>
        <p:nvSpPr>
          <p:cNvPr id="165" name="Google Shape;165;p7">
            <a:extLst xmlns:a="http://schemas.openxmlformats.org/drawingml/2006/main">
              <a:ext uri="{FF2B5EF4-FFF2-40B4-BE49-F238E27FC236}">
                <a16:creationId xmlns:a16="http://schemas.microsoft.com/office/drawing/2014/main" id="{3F41D183-A058-4150-8B46-652E1AD83559}"/>
              </a:ext>
            </a:extLst>
          </p:cNvPr>
          <p:cNvSpPr>
            <a:spLocks xmlns:a="http://schemas.openxmlformats.org/drawingml/2006/main" noGrp="1"/>
          </p:cNvSpPr>
          <p:nvPr/>
        </p:nvSpPr>
        <p:spPr>
          <a:xfrm xmlns:a="http://schemas.openxmlformats.org/drawingml/2006/main">
            <a:off x="657225" y="4686300"/>
            <a:ext cx="10715625" cy="952500"/>
          </a:xfrm>
          <a:prstGeom xmlns:a="http://schemas.openxmlformats.org/drawingml/2006/main" prst="roundRect">
            <a:avLst>
              <a:gd name="adj" fmla="val 8000"/>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66" name="Google Shape;166;p7">
            <a:extLst xmlns:a="http://schemas.openxmlformats.org/drawingml/2006/main">
              <a:ext uri="{FF2B5EF4-FFF2-40B4-BE49-F238E27FC236}">
                <a16:creationId xmlns:a16="http://schemas.microsoft.com/office/drawing/2014/main" id="{EA201584-0561-4EDD-BC11-9F2EDB8BDE3C}"/>
              </a:ext>
            </a:extLst>
          </p:cNvPr>
          <p:cNvSpPr>
            <a:spLocks xmlns:a="http://schemas.openxmlformats.org/drawingml/2006/main" noGrp="1"/>
          </p:cNvSpPr>
          <p:nvPr/>
        </p:nvSpPr>
        <p:spPr>
          <a:xfrm xmlns:a="http://schemas.openxmlformats.org/drawingml/2006/main">
            <a:off x="914400" y="4876800"/>
            <a:ext cx="40005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50"/>
              <a:buFont typeface="Lato"/>
              <a:buNone/>
            </a:pPr>
            <a:r>
              <a:rPr sz="1650" b="1" i="0">
                <a:solidFill>
                  <a:srgbClr val="008D7A"/>
                </a:solidFill>
                <a:latin typeface="Lato"/>
                <a:ea typeface="Lato"/>
                <a:cs typeface="Lato"/>
              </a:rPr>
              <a:t>What kind of climate information can answer the question?</a:t>
            </a:r>
            <a:endParaRPr/>
          </a:p>
        </p:txBody>
      </p:sp>
      <p:sp>
        <p:nvSpPr>
          <p:cNvPr id="167" name="Google Shape;167;p7">
            <a:extLst xmlns:a="http://schemas.openxmlformats.org/drawingml/2006/main">
              <a:ext uri="{FF2B5EF4-FFF2-40B4-BE49-F238E27FC236}">
                <a16:creationId xmlns:a16="http://schemas.microsoft.com/office/drawing/2014/main" id="{72680147-7C5F-43FE-AAF4-C65224F83C70}"/>
              </a:ext>
            </a:extLst>
          </p:cNvPr>
          <p:cNvSpPr>
            <a:spLocks xmlns:a="http://schemas.openxmlformats.org/drawingml/2006/main" noGrp="1"/>
          </p:cNvSpPr>
          <p:nvPr/>
        </p:nvSpPr>
        <p:spPr>
          <a:xfrm xmlns:a="http://schemas.openxmlformats.org/drawingml/2006/main">
            <a:off x="5067300" y="4838700"/>
            <a:ext cx="5953125"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0" i="0">
                <a:solidFill>
                  <a:srgbClr val="12304E"/>
                </a:solidFill>
                <a:latin typeface="Lato"/>
                <a:ea typeface="Lato"/>
                <a:cs typeface="Lato"/>
              </a:rPr>
              <a:t>The answer depends on how observations, reanalysis and climate projections differ.</a:t>
            </a:r>
            <a:endParaRPr/>
          </a:p>
        </p:txBody>
      </p:sp>
    </p:spTree>
    <p:extLst>
      <p:ext uri="{BB962C8B-B14F-4D97-AF65-F5344CB8AC3E}">
        <p14:creationId xmlns:p14="http://schemas.microsoft.com/office/powerpoint/2010/main" val="1624171708"/>
      </p:ext>
    </p:extLst>
  </p:cSld>
</p:sld>
</file>

<file path=ppt/slides/slide6.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173" name="Google Shape;173;p8">
            <a:extLst xmlns:a="http://schemas.openxmlformats.org/drawingml/2006/main">
              <a:ext uri="{FF2B5EF4-FFF2-40B4-BE49-F238E27FC236}">
                <a16:creationId xmlns:a16="http://schemas.microsoft.com/office/drawing/2014/main" id="{D6538A1E-99FE-4CBD-8843-C64E9C8D13D4}"/>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4" name="Google Shape;174;p8">
            <a:extLst xmlns:a="http://schemas.openxmlformats.org/drawingml/2006/main">
              <a:ext uri="{FF2B5EF4-FFF2-40B4-BE49-F238E27FC236}">
                <a16:creationId xmlns:a16="http://schemas.microsoft.com/office/drawing/2014/main" id="{B1E7BC8B-E741-4B49-B5EC-302481C667F5}"/>
              </a:ext>
            </a:extLst>
          </p:cNvPr>
          <p:cNvSpPr>
            <a:spLocks xmlns:a="http://schemas.openxmlformats.org/drawingml/2006/main" noGrp="1"/>
          </p:cNvSpPr>
          <p:nvPr/>
        </p:nvSpPr>
        <p:spPr>
          <a:xfrm xmlns:a="http://schemas.openxmlformats.org/drawingml/2006/main">
            <a:off x="762000" y="762000"/>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5" name="Google Shape;175;p8">
            <a:extLst xmlns:a="http://schemas.openxmlformats.org/drawingml/2006/main">
              <a:ext uri="{FF2B5EF4-FFF2-40B4-BE49-F238E27FC236}">
                <a16:creationId xmlns:a16="http://schemas.microsoft.com/office/drawing/2014/main" id="{A3B942CD-3582-4C80-BC4C-982AAE5CBAAA}"/>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a:solidFill>
                  <a:srgbClr val="FFFFFF"/>
                </a:solidFill>
                <a:latin typeface="Lato"/>
                <a:ea typeface="Lato"/>
                <a:cs typeface="Lato"/>
              </a:rPr>
              <a:t>The climate science behind the data</a:t>
            </a:r>
            <a:endParaRPr/>
          </a:p>
        </p:txBody>
      </p:sp>
      <p:sp>
        <p:nvSpPr>
          <p:cNvPr id="176" name="Google Shape;176;p8">
            <a:extLst xmlns:a="http://schemas.openxmlformats.org/drawingml/2006/main">
              <a:ext uri="{FF2B5EF4-FFF2-40B4-BE49-F238E27FC236}">
                <a16:creationId xmlns:a16="http://schemas.microsoft.com/office/drawing/2014/main" id="{9B5EA012-05E7-4698-A62C-1A1683CB7946}"/>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b="0" i="0">
                <a:solidFill>
                  <a:srgbClr val="D7E5EC"/>
                </a:solidFill>
                <a:latin typeface="Lato"/>
                <a:ea typeface="Lato"/>
                <a:cs typeface="Lato"/>
              </a:rPr>
              <a:t>Hideki introduces observations, reanalysis and projections, then explains why models, scenarios and spatial resolution matter.</a:t>
            </a:r>
            <a:endParaRPr/>
          </a:p>
        </p:txBody>
      </p:sp>
      <p:sp>
        <p:nvSpPr>
          <p:cNvPr id="177" name="Google Shape;177;p8">
            <a:extLst xmlns:a="http://schemas.openxmlformats.org/drawingml/2006/main">
              <a:ext uri="{FF2B5EF4-FFF2-40B4-BE49-F238E27FC236}">
                <a16:creationId xmlns:a16="http://schemas.microsoft.com/office/drawing/2014/main" id="{95327847-EC7F-48C5-828F-A3313455EE38}"/>
              </a:ext>
            </a:extLst>
          </p:cNvPr>
          <p:cNvSpPr>
            <a:spLocks xmlns:a="http://schemas.openxmlformats.org/drawingml/2006/main" noGrp="1"/>
          </p:cNvSpPr>
          <p:nvPr/>
        </p:nvSpPr>
        <p:spPr>
          <a:xfrm xmlns:a="http://schemas.openxmlformats.org/drawingml/2006/main">
            <a:off x="781050" y="4953000"/>
            <a:ext cx="40005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HIDEKI · CLIMATE SCIENCE</a:t>
            </a:r>
            <a:endParaRPr/>
          </a:p>
        </p:txBody>
      </p:sp>
      <p:sp>
        <p:nvSpPr>
          <p:cNvPr id="178" name="Google Shape;178;p8">
            <a:extLst xmlns:a="http://schemas.openxmlformats.org/drawingml/2006/main">
              <a:ext uri="{FF2B5EF4-FFF2-40B4-BE49-F238E27FC236}">
                <a16:creationId xmlns:a16="http://schemas.microsoft.com/office/drawing/2014/main" id="{BA8904A3-B191-4E28-B20C-863F238C4ABA}"/>
              </a:ext>
            </a:extLst>
          </p:cNvPr>
          <p:cNvSpPr>
            <a:spLocks xmlns:a="http://schemas.openxmlformats.org/drawingml/2006/main" noGrp="1"/>
          </p:cNvSpPr>
          <p:nvPr/>
        </p:nvSpPr>
        <p:spPr>
          <a:xfrm xmlns:a="http://schemas.openxmlformats.org/drawingml/2006/main">
            <a:off x="781050" y="5905500"/>
            <a:ext cx="4953000" cy="9600"/>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79" name="Google Shape;179;p8">
            <a:extLst xmlns:a="http://schemas.openxmlformats.org/drawingml/2006/main">
              <a:ext uri="{FF2B5EF4-FFF2-40B4-BE49-F238E27FC236}">
                <a16:creationId xmlns:a16="http://schemas.microsoft.com/office/drawing/2014/main" id="{D3475AE6-3177-4D47-BA57-A63928EA86B7}"/>
              </a:ext>
            </a:extLst>
          </p:cNvPr>
          <p:cNvSpPr>
            <a:spLocks xmlns:a="http://schemas.openxmlformats.org/drawingml/2006/main" noGrp="1"/>
          </p:cNvSpPr>
          <p:nvPr/>
        </p:nvSpPr>
        <p:spPr>
          <a:xfrm xmlns:a="http://schemas.openxmlformats.org/drawingml/2006/main">
            <a:off x="11049000" y="6324600"/>
            <a:ext cx="571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06</a:t>
            </a:r>
            <a:endParaRPr/>
          </a:p>
        </p:txBody>
      </p:sp>
    </p:spTree>
    <p:extLst>
      <p:ext uri="{BB962C8B-B14F-4D97-AF65-F5344CB8AC3E}">
        <p14:creationId xmlns:p14="http://schemas.microsoft.com/office/powerpoint/2010/main" val="977300883"/>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85" name="Google Shape;185;p9">
            <a:extLst xmlns:a="http://schemas.openxmlformats.org/drawingml/2006/main">
              <a:ext uri="{FF2B5EF4-FFF2-40B4-BE49-F238E27FC236}">
                <a16:creationId xmlns:a16="http://schemas.microsoft.com/office/drawing/2014/main" id="{40E559C0-5338-4B2F-8BA7-D27FB148425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Three sources of climate information</a:t>
            </a:r>
            <a:endParaRPr/>
          </a:p>
        </p:txBody>
      </p:sp>
      <p:sp>
        <p:nvSpPr>
          <p:cNvPr id="186" name="Google Shape;186;p9">
            <a:extLst xmlns:a="http://schemas.openxmlformats.org/drawingml/2006/main">
              <a:ext uri="{FF2B5EF4-FFF2-40B4-BE49-F238E27FC236}">
                <a16:creationId xmlns:a16="http://schemas.microsoft.com/office/drawing/2014/main" id="{A98FEB74-B1F9-4CED-9287-F5D86909E580}"/>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Historical reference information and future projections answer different questions</a:t>
            </a:r>
            <a:endParaRPr/>
          </a:p>
        </p:txBody>
      </p:sp>
      <p:sp>
        <p:nvSpPr>
          <p:cNvPr id="187" name="Google Shape;187;p9">
            <a:extLst xmlns:a="http://schemas.openxmlformats.org/drawingml/2006/main">
              <a:ext uri="{FF2B5EF4-FFF2-40B4-BE49-F238E27FC236}">
                <a16:creationId xmlns:a16="http://schemas.microsoft.com/office/drawing/2014/main" id="{7B5DE009-16E3-4C9F-AFB2-B86C994EC68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8" name="Google Shape;188;p9">
            <a:extLst xmlns:a="http://schemas.openxmlformats.org/drawingml/2006/main">
              <a:ext uri="{FF2B5EF4-FFF2-40B4-BE49-F238E27FC236}">
                <a16:creationId xmlns:a16="http://schemas.microsoft.com/office/drawing/2014/main" id="{2F262D74-5423-47AF-8573-6062B2B8A8F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89" name="Google Shape;189;p9">
            <a:extLst xmlns:a="http://schemas.openxmlformats.org/drawingml/2006/main">
              <a:ext uri="{FF2B5EF4-FFF2-40B4-BE49-F238E27FC236}">
                <a16:creationId xmlns:a16="http://schemas.microsoft.com/office/drawing/2014/main" id="{876C5726-9400-4852-9C96-6677D6D65C99}"/>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0" name="Google Shape;190;p9">
            <a:extLst xmlns:a="http://schemas.openxmlformats.org/drawingml/2006/main">
              <a:ext uri="{FF2B5EF4-FFF2-40B4-BE49-F238E27FC236}">
                <a16:creationId xmlns:a16="http://schemas.microsoft.com/office/drawing/2014/main" id="{EAC5378C-873B-41FB-BCB6-FB3C92D099B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191" name="Google Shape;191;p9">
            <a:extLst xmlns:a="http://schemas.openxmlformats.org/drawingml/2006/main">
              <a:ext uri="{FF2B5EF4-FFF2-40B4-BE49-F238E27FC236}">
                <a16:creationId xmlns:a16="http://schemas.microsoft.com/office/drawing/2014/main" id="{189F18CD-D1DD-4BB7-B96C-0A1E2004A649}"/>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07</a:t>
            </a:r>
            <a:endParaRPr/>
          </a:p>
        </p:txBody>
      </p:sp>
      <p:sp>
        <p:nvSpPr>
          <p:cNvPr id="192" name="Google Shape;192;p9">
            <a:extLst xmlns:a="http://schemas.openxmlformats.org/drawingml/2006/main">
              <a:ext uri="{FF2B5EF4-FFF2-40B4-BE49-F238E27FC236}">
                <a16:creationId xmlns:a16="http://schemas.microsoft.com/office/drawing/2014/main" id="{0C6CF545-1DCC-41AD-B3C7-34E993D4347F}"/>
              </a:ext>
            </a:extLst>
          </p:cNvPr>
          <p:cNvSpPr>
            <a:spLocks xmlns:a="http://schemas.openxmlformats.org/drawingml/2006/main" noGrp="1"/>
          </p:cNvSpPr>
          <p:nvPr/>
        </p:nvSpPr>
        <p:spPr>
          <a:xfrm xmlns:a="http://schemas.openxmlformats.org/drawingml/2006/main">
            <a:off x="685800" y="1790700"/>
            <a:ext cx="3429000" cy="32766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3" name="Google Shape;193;p9">
            <a:extLst xmlns:a="http://schemas.openxmlformats.org/drawingml/2006/main">
              <a:ext uri="{FF2B5EF4-FFF2-40B4-BE49-F238E27FC236}">
                <a16:creationId xmlns:a16="http://schemas.microsoft.com/office/drawing/2014/main" id="{282EF103-39D6-42B1-9546-188701CDCE81}"/>
              </a:ext>
            </a:extLst>
          </p:cNvPr>
          <p:cNvSpPr>
            <a:spLocks xmlns:a="http://schemas.openxmlformats.org/drawingml/2006/main" noGrp="1"/>
          </p:cNvSpPr>
          <p:nvPr/>
        </p:nvSpPr>
        <p:spPr>
          <a:xfrm xmlns:a="http://schemas.openxmlformats.org/drawingml/2006/main">
            <a:off x="9144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4650"/>
              <a:buFont typeface="Lato"/>
              <a:buNone/>
            </a:pPr>
            <a:r>
              <a:rPr sz="4650" b="1" i="0">
                <a:solidFill>
                  <a:srgbClr val="00A88F"/>
                </a:solidFill>
                <a:latin typeface="Lato"/>
                <a:ea typeface="Lato"/>
                <a:cs typeface="Lato"/>
              </a:rPr>
              <a:t>01</a:t>
            </a:r>
            <a:endParaRPr/>
          </a:p>
        </p:txBody>
      </p:sp>
      <p:sp>
        <p:nvSpPr>
          <p:cNvPr id="194" name="Google Shape;194;p9">
            <a:extLst xmlns:a="http://schemas.openxmlformats.org/drawingml/2006/main">
              <a:ext uri="{FF2B5EF4-FFF2-40B4-BE49-F238E27FC236}">
                <a16:creationId xmlns:a16="http://schemas.microsoft.com/office/drawing/2014/main" id="{79E18978-5CCF-4754-80BD-31753B9AAF64}"/>
              </a:ext>
            </a:extLst>
          </p:cNvPr>
          <p:cNvSpPr>
            <a:spLocks xmlns:a="http://schemas.openxmlformats.org/drawingml/2006/main" noGrp="1"/>
          </p:cNvSpPr>
          <p:nvPr/>
        </p:nvSpPr>
        <p:spPr>
          <a:xfrm xmlns:a="http://schemas.openxmlformats.org/drawingml/2006/main">
            <a:off x="9144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OBSERVATIONS</a:t>
            </a:r>
            <a:endParaRPr/>
          </a:p>
        </p:txBody>
      </p:sp>
      <p:sp>
        <p:nvSpPr>
          <p:cNvPr id="195" name="Google Shape;195;p9">
            <a:extLst xmlns:a="http://schemas.openxmlformats.org/drawingml/2006/main">
              <a:ext uri="{FF2B5EF4-FFF2-40B4-BE49-F238E27FC236}">
                <a16:creationId xmlns:a16="http://schemas.microsoft.com/office/drawing/2014/main" id="{B86B4607-004F-4E87-9088-A480ABA0F282}"/>
              </a:ext>
            </a:extLst>
          </p:cNvPr>
          <p:cNvSpPr>
            <a:spLocks xmlns:a="http://schemas.openxmlformats.org/drawingml/2006/main" noGrp="1"/>
          </p:cNvSpPr>
          <p:nvPr/>
        </p:nvSpPr>
        <p:spPr>
          <a:xfrm xmlns:a="http://schemas.openxmlformats.org/drawingml/2006/main">
            <a:off x="9144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43"/>
              <a:buFont typeface="Lato"/>
              <a:buNone/>
            </a:pPr>
            <a:r>
              <a:rPr sz="1544" b="1" i="0">
                <a:solidFill>
                  <a:srgbClr val="12304E"/>
                </a:solidFill>
                <a:latin typeface="Lato"/>
                <a:ea typeface="Lato"/>
                <a:cs typeface="Lato"/>
              </a:rPr>
              <a:t>Measurements from stations, satellites and other instruments</a:t>
            </a:r>
            <a:endParaRPr/>
          </a:p>
        </p:txBody>
      </p:sp>
      <p:sp>
        <p:nvSpPr>
          <p:cNvPr id="196" name="Google Shape;196;p9">
            <a:extLst xmlns:a="http://schemas.openxmlformats.org/drawingml/2006/main">
              <a:ext uri="{FF2B5EF4-FFF2-40B4-BE49-F238E27FC236}">
                <a16:creationId xmlns:a16="http://schemas.microsoft.com/office/drawing/2014/main" id="{817D43A5-9202-4106-B494-D5839E1E72D9}"/>
              </a:ext>
            </a:extLst>
          </p:cNvPr>
          <p:cNvSpPr>
            <a:spLocks xmlns:a="http://schemas.openxmlformats.org/drawingml/2006/main" noGrp="1"/>
          </p:cNvSpPr>
          <p:nvPr/>
        </p:nvSpPr>
        <p:spPr>
          <a:xfrm xmlns:a="http://schemas.openxmlformats.org/drawingml/2006/main">
            <a:off x="914400" y="4286250"/>
            <a:ext cx="704850"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7" name="Google Shape;197;p9">
            <a:extLst xmlns:a="http://schemas.openxmlformats.org/drawingml/2006/main">
              <a:ext uri="{FF2B5EF4-FFF2-40B4-BE49-F238E27FC236}">
                <a16:creationId xmlns:a16="http://schemas.microsoft.com/office/drawing/2014/main" id="{36917023-8C20-45D1-A0CD-5D2034DCDFEC}"/>
              </a:ext>
            </a:extLst>
          </p:cNvPr>
          <p:cNvSpPr>
            <a:spLocks xmlns:a="http://schemas.openxmlformats.org/drawingml/2006/main" noGrp="1"/>
          </p:cNvSpPr>
          <p:nvPr/>
        </p:nvSpPr>
        <p:spPr>
          <a:xfrm xmlns:a="http://schemas.openxmlformats.org/drawingml/2006/main">
            <a:off x="9144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Recorded conditions at observed locations and times</a:t>
            </a:r>
            <a:endParaRPr/>
          </a:p>
        </p:txBody>
      </p:sp>
      <p:sp>
        <p:nvSpPr>
          <p:cNvPr id="198" name="Google Shape;198;p9">
            <a:extLst xmlns:a="http://schemas.openxmlformats.org/drawingml/2006/main">
              <a:ext uri="{FF2B5EF4-FFF2-40B4-BE49-F238E27FC236}">
                <a16:creationId xmlns:a16="http://schemas.microsoft.com/office/drawing/2014/main" id="{C80E9CCB-574B-4D5B-9B81-1633B7FE559E}"/>
              </a:ext>
            </a:extLst>
          </p:cNvPr>
          <p:cNvSpPr>
            <a:spLocks xmlns:a="http://schemas.openxmlformats.org/drawingml/2006/main" noGrp="1"/>
          </p:cNvSpPr>
          <p:nvPr/>
        </p:nvSpPr>
        <p:spPr>
          <a:xfrm xmlns:a="http://schemas.openxmlformats.org/drawingml/2006/main">
            <a:off x="4419600" y="1790700"/>
            <a:ext cx="3429000" cy="327660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199" name="Google Shape;199;p9">
            <a:extLst xmlns:a="http://schemas.openxmlformats.org/drawingml/2006/main">
              <a:ext uri="{FF2B5EF4-FFF2-40B4-BE49-F238E27FC236}">
                <a16:creationId xmlns:a16="http://schemas.microsoft.com/office/drawing/2014/main" id="{13FD0BAF-9C74-42BE-9358-5B7E163DDBCA}"/>
              </a:ext>
            </a:extLst>
          </p:cNvPr>
          <p:cNvSpPr>
            <a:spLocks xmlns:a="http://schemas.openxmlformats.org/drawingml/2006/main" noGrp="1"/>
          </p:cNvSpPr>
          <p:nvPr/>
        </p:nvSpPr>
        <p:spPr>
          <a:xfrm xmlns:a="http://schemas.openxmlformats.org/drawingml/2006/main">
            <a:off x="46482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4650"/>
              <a:buFont typeface="Lato"/>
              <a:buNone/>
            </a:pPr>
            <a:r>
              <a:rPr sz="4650" b="1" i="0">
                <a:solidFill>
                  <a:srgbClr val="F2B632"/>
                </a:solidFill>
                <a:latin typeface="Lato"/>
                <a:ea typeface="Lato"/>
                <a:cs typeface="Lato"/>
              </a:rPr>
              <a:t>02</a:t>
            </a:r>
            <a:endParaRPr/>
          </a:p>
        </p:txBody>
      </p:sp>
      <p:sp>
        <p:nvSpPr>
          <p:cNvPr id="200" name="Google Shape;200;p9">
            <a:extLst xmlns:a="http://schemas.openxmlformats.org/drawingml/2006/main">
              <a:ext uri="{FF2B5EF4-FFF2-40B4-BE49-F238E27FC236}">
                <a16:creationId xmlns:a16="http://schemas.microsoft.com/office/drawing/2014/main" id="{0C9945FB-B10A-473A-A72A-B4D13615A0FA}"/>
              </a:ext>
            </a:extLst>
          </p:cNvPr>
          <p:cNvSpPr>
            <a:spLocks xmlns:a="http://schemas.openxmlformats.org/drawingml/2006/main" noGrp="1"/>
          </p:cNvSpPr>
          <p:nvPr/>
        </p:nvSpPr>
        <p:spPr>
          <a:xfrm xmlns:a="http://schemas.openxmlformats.org/drawingml/2006/main">
            <a:off x="46482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REANALYSIS</a:t>
            </a:r>
            <a:endParaRPr/>
          </a:p>
        </p:txBody>
      </p:sp>
      <p:sp>
        <p:nvSpPr>
          <p:cNvPr id="201" name="Google Shape;201;p9">
            <a:extLst xmlns:a="http://schemas.openxmlformats.org/drawingml/2006/main">
              <a:ext uri="{FF2B5EF4-FFF2-40B4-BE49-F238E27FC236}">
                <a16:creationId xmlns:a16="http://schemas.microsoft.com/office/drawing/2014/main" id="{33569AA4-71C1-4B4E-BD6F-2BD3BC62420C}"/>
              </a:ext>
            </a:extLst>
          </p:cNvPr>
          <p:cNvSpPr>
            <a:spLocks xmlns:a="http://schemas.openxmlformats.org/drawingml/2006/main" noGrp="1"/>
          </p:cNvSpPr>
          <p:nvPr/>
        </p:nvSpPr>
        <p:spPr>
          <a:xfrm xmlns:a="http://schemas.openxmlformats.org/drawingml/2006/main">
            <a:off x="46482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Observations combined with a numerical model</a:t>
            </a:r>
            <a:endParaRPr/>
          </a:p>
        </p:txBody>
      </p:sp>
      <p:sp>
        <p:nvSpPr>
          <p:cNvPr id="202" name="Google Shape;202;p9">
            <a:extLst xmlns:a="http://schemas.openxmlformats.org/drawingml/2006/main">
              <a:ext uri="{FF2B5EF4-FFF2-40B4-BE49-F238E27FC236}">
                <a16:creationId xmlns:a16="http://schemas.microsoft.com/office/drawing/2014/main" id="{A6CA2D6B-8422-4E15-912A-AB5EFCFE0A2A}"/>
              </a:ext>
            </a:extLst>
          </p:cNvPr>
          <p:cNvSpPr>
            <a:spLocks xmlns:a="http://schemas.openxmlformats.org/drawingml/2006/main" noGrp="1"/>
          </p:cNvSpPr>
          <p:nvPr/>
        </p:nvSpPr>
        <p:spPr>
          <a:xfrm xmlns:a="http://schemas.openxmlformats.org/drawingml/2006/main">
            <a:off x="4648200" y="4286250"/>
            <a:ext cx="70485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3" name="Google Shape;203;p9">
            <a:extLst xmlns:a="http://schemas.openxmlformats.org/drawingml/2006/main">
              <a:ext uri="{FF2B5EF4-FFF2-40B4-BE49-F238E27FC236}">
                <a16:creationId xmlns:a16="http://schemas.microsoft.com/office/drawing/2014/main" id="{5B599B4E-032D-49E1-9AFA-F4F107955DC1}"/>
              </a:ext>
            </a:extLst>
          </p:cNvPr>
          <p:cNvSpPr>
            <a:spLocks xmlns:a="http://schemas.openxmlformats.org/drawingml/2006/main" noGrp="1"/>
          </p:cNvSpPr>
          <p:nvPr/>
        </p:nvSpPr>
        <p:spPr>
          <a:xfrm xmlns:a="http://schemas.openxmlformats.org/drawingml/2006/main">
            <a:off x="46482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A complete gridded reconstruction of past conditions, such as ERA5</a:t>
            </a:r>
            <a:endParaRPr/>
          </a:p>
        </p:txBody>
      </p:sp>
      <p:sp>
        <p:nvSpPr>
          <p:cNvPr id="204" name="Google Shape;204;p9">
            <a:extLst xmlns:a="http://schemas.openxmlformats.org/drawingml/2006/main">
              <a:ext uri="{FF2B5EF4-FFF2-40B4-BE49-F238E27FC236}">
                <a16:creationId xmlns:a16="http://schemas.microsoft.com/office/drawing/2014/main" id="{337FA106-58E9-4593-8542-5774B39BC951}"/>
              </a:ext>
            </a:extLst>
          </p:cNvPr>
          <p:cNvSpPr>
            <a:spLocks xmlns:a="http://schemas.openxmlformats.org/drawingml/2006/main" noGrp="1"/>
          </p:cNvSpPr>
          <p:nvPr/>
        </p:nvSpPr>
        <p:spPr>
          <a:xfrm xmlns:a="http://schemas.openxmlformats.org/drawingml/2006/main">
            <a:off x="8153400" y="1790700"/>
            <a:ext cx="3429000" cy="327660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5" name="Google Shape;205;p9">
            <a:extLst xmlns:a="http://schemas.openxmlformats.org/drawingml/2006/main">
              <a:ext uri="{FF2B5EF4-FFF2-40B4-BE49-F238E27FC236}">
                <a16:creationId xmlns:a16="http://schemas.microsoft.com/office/drawing/2014/main" id="{75CB5976-2BA3-483D-BA97-E61B86BDAF7B}"/>
              </a:ext>
            </a:extLst>
          </p:cNvPr>
          <p:cNvSpPr>
            <a:spLocks xmlns:a="http://schemas.openxmlformats.org/drawingml/2006/main" noGrp="1"/>
          </p:cNvSpPr>
          <p:nvPr/>
        </p:nvSpPr>
        <p:spPr>
          <a:xfrm xmlns:a="http://schemas.openxmlformats.org/drawingml/2006/main">
            <a:off x="8382000" y="2019300"/>
            <a:ext cx="952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4650"/>
              <a:buFont typeface="Lato"/>
              <a:buNone/>
            </a:pPr>
            <a:r>
              <a:rPr sz="4650" b="1" i="0">
                <a:solidFill>
                  <a:srgbClr val="183A59"/>
                </a:solidFill>
                <a:latin typeface="Lato"/>
                <a:ea typeface="Lato"/>
                <a:cs typeface="Lato"/>
              </a:rPr>
              <a:t>03</a:t>
            </a:r>
            <a:endParaRPr/>
          </a:p>
        </p:txBody>
      </p:sp>
      <p:sp>
        <p:nvSpPr>
          <p:cNvPr id="206" name="Google Shape;206;p9">
            <a:extLst xmlns:a="http://schemas.openxmlformats.org/drawingml/2006/main">
              <a:ext uri="{FF2B5EF4-FFF2-40B4-BE49-F238E27FC236}">
                <a16:creationId xmlns:a16="http://schemas.microsoft.com/office/drawing/2014/main" id="{0204DCF9-7109-4A7E-B097-35606DEF7BFB}"/>
              </a:ext>
            </a:extLst>
          </p:cNvPr>
          <p:cNvSpPr>
            <a:spLocks xmlns:a="http://schemas.openxmlformats.org/drawingml/2006/main" noGrp="1"/>
          </p:cNvSpPr>
          <p:nvPr/>
        </p:nvSpPr>
        <p:spPr>
          <a:xfrm xmlns:a="http://schemas.openxmlformats.org/drawingml/2006/main">
            <a:off x="8382000" y="2933700"/>
            <a:ext cx="2971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CLIMATE SIMULATIONS</a:t>
            </a:r>
            <a:endParaRPr/>
          </a:p>
        </p:txBody>
      </p:sp>
      <p:sp>
        <p:nvSpPr>
          <p:cNvPr id="207" name="Google Shape;207;p9">
            <a:extLst xmlns:a="http://schemas.openxmlformats.org/drawingml/2006/main">
              <a:ext uri="{FF2B5EF4-FFF2-40B4-BE49-F238E27FC236}">
                <a16:creationId xmlns:a16="http://schemas.microsoft.com/office/drawing/2014/main" id="{AC046DD9-B6EF-4538-99F4-D21B584A66CB}"/>
              </a:ext>
            </a:extLst>
          </p:cNvPr>
          <p:cNvSpPr>
            <a:spLocks xmlns:a="http://schemas.openxmlformats.org/drawingml/2006/main" noGrp="1"/>
          </p:cNvSpPr>
          <p:nvPr/>
        </p:nvSpPr>
        <p:spPr>
          <a:xfrm xmlns:a="http://schemas.openxmlformats.org/drawingml/2006/main">
            <a:off x="8382000" y="3429000"/>
            <a:ext cx="2952750" cy="666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Model experiments under defined scenarios</a:t>
            </a:r>
            <a:endParaRPr/>
          </a:p>
        </p:txBody>
      </p:sp>
      <p:sp>
        <p:nvSpPr>
          <p:cNvPr id="208" name="Google Shape;208;p9">
            <a:extLst xmlns:a="http://schemas.openxmlformats.org/drawingml/2006/main">
              <a:ext uri="{FF2B5EF4-FFF2-40B4-BE49-F238E27FC236}">
                <a16:creationId xmlns:a16="http://schemas.microsoft.com/office/drawing/2014/main" id="{6A1AC294-FC14-4ADF-8C93-29A35DD0C589}"/>
              </a:ext>
            </a:extLst>
          </p:cNvPr>
          <p:cNvSpPr>
            <a:spLocks xmlns:a="http://schemas.openxmlformats.org/drawingml/2006/main" noGrp="1"/>
          </p:cNvSpPr>
          <p:nvPr/>
        </p:nvSpPr>
        <p:spPr>
          <a:xfrm xmlns:a="http://schemas.openxmlformats.org/drawingml/2006/main">
            <a:off x="8382000" y="4286250"/>
            <a:ext cx="704850" cy="28575"/>
          </a:xfrm>
          <a:prstGeom xmlns:a="http://schemas.openxmlformats.org/drawingml/2006/main" prst="rect">
            <a:avLst/>
          </a:prstGeom>
          <a:solidFill xmlns:a="http://schemas.openxmlformats.org/drawingml/2006/main">
            <a:srgbClr val="183A5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09" name="Google Shape;209;p9">
            <a:extLst xmlns:a="http://schemas.openxmlformats.org/drawingml/2006/main">
              <a:ext uri="{FF2B5EF4-FFF2-40B4-BE49-F238E27FC236}">
                <a16:creationId xmlns:a16="http://schemas.microsoft.com/office/drawing/2014/main" id="{52F4087D-51F4-48CE-BCCB-C5D897C5E7AB}"/>
              </a:ext>
            </a:extLst>
          </p:cNvPr>
          <p:cNvSpPr>
            <a:spLocks xmlns:a="http://schemas.openxmlformats.org/drawingml/2006/main" noGrp="1"/>
          </p:cNvSpPr>
          <p:nvPr/>
        </p:nvSpPr>
        <p:spPr>
          <a:xfrm xmlns:a="http://schemas.openxmlformats.org/drawingml/2006/main">
            <a:off x="8382000" y="4495800"/>
            <a:ext cx="295275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125"/>
              <a:buFont typeface="Lato"/>
              <a:buNone/>
            </a:pPr>
            <a:r>
              <a:rPr sz="1125" b="0" i="0">
                <a:solidFill>
                  <a:srgbClr val="687984"/>
                </a:solidFill>
                <a:latin typeface="Lato"/>
                <a:ea typeface="Lato"/>
                <a:cs typeface="Lato"/>
              </a:rPr>
              <a:t>Long-term change under plausible future conditions</a:t>
            </a:r>
            <a:endParaRPr/>
          </a:p>
        </p:txBody>
      </p:sp>
      <p:sp>
        <p:nvSpPr>
          <p:cNvPr id="210" name="Google Shape;210;p9">
            <a:extLst xmlns:a="http://schemas.openxmlformats.org/drawingml/2006/main">
              <a:ext uri="{FF2B5EF4-FFF2-40B4-BE49-F238E27FC236}">
                <a16:creationId xmlns:a16="http://schemas.microsoft.com/office/drawing/2014/main" id="{0588AD88-E794-4D44-B47B-6DA246E027AE}"/>
              </a:ext>
            </a:extLst>
          </p:cNvPr>
          <p:cNvSpPr>
            <a:spLocks xmlns:a="http://schemas.openxmlformats.org/drawingml/2006/main" noGrp="1"/>
          </p:cNvSpPr>
          <p:nvPr/>
        </p:nvSpPr>
        <p:spPr>
          <a:xfrm xmlns:a="http://schemas.openxmlformats.org/drawingml/2006/main">
            <a:off x="1752600" y="5381625"/>
            <a:ext cx="8686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650"/>
              <a:buFont typeface="Lato"/>
              <a:buNone/>
            </a:pPr>
            <a:r>
              <a:rPr sz="1650" b="1" i="0">
                <a:solidFill>
                  <a:srgbClr val="12304E"/>
                </a:solidFill>
                <a:latin typeface="Lato"/>
                <a:ea typeface="Lato"/>
                <a:cs typeface="Lato"/>
              </a:rPr>
              <a:t>Together, they provide complementary views of the climate system</a:t>
            </a:r>
            <a:endParaRPr/>
          </a:p>
        </p:txBody>
      </p:sp>
    </p:spTree>
    <p:extLst>
      <p:ext uri="{BB962C8B-B14F-4D97-AF65-F5344CB8AC3E}">
        <p14:creationId xmlns:p14="http://schemas.microsoft.com/office/powerpoint/2010/main" val="105314745"/>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16" name="Google Shape;216;p10">
            <a:extLst xmlns:a="http://schemas.openxmlformats.org/drawingml/2006/main">
              <a:ext uri="{FF2B5EF4-FFF2-40B4-BE49-F238E27FC236}">
                <a16:creationId xmlns:a16="http://schemas.microsoft.com/office/drawing/2014/main" id="{867DA777-2639-4FF3-B9E4-9632FB8C4567}"/>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Climate projection and weather forecast</a:t>
            </a:r>
            <a:endParaRPr/>
          </a:p>
        </p:txBody>
      </p:sp>
      <p:sp>
        <p:nvSpPr>
          <p:cNvPr id="217" name="Google Shape;217;p10">
            <a:extLst xmlns:a="http://schemas.openxmlformats.org/drawingml/2006/main">
              <a:ext uri="{FF2B5EF4-FFF2-40B4-BE49-F238E27FC236}">
                <a16:creationId xmlns:a16="http://schemas.microsoft.com/office/drawing/2014/main" id="{563C3367-DFD2-4D01-B4F6-2E811F161F0E}"/>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two products differ in their starting point, time horizon and interpretation</a:t>
            </a:r>
            <a:endParaRPr/>
          </a:p>
        </p:txBody>
      </p:sp>
      <p:sp>
        <p:nvSpPr>
          <p:cNvPr id="218" name="Google Shape;218;p10">
            <a:extLst xmlns:a="http://schemas.openxmlformats.org/drawingml/2006/main">
              <a:ext uri="{FF2B5EF4-FFF2-40B4-BE49-F238E27FC236}">
                <a16:creationId xmlns:a16="http://schemas.microsoft.com/office/drawing/2014/main" id="{A5565E4E-ABC6-40DE-83F5-EDE872855ABB}"/>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19" name="Google Shape;219;p10">
            <a:extLst xmlns:a="http://schemas.openxmlformats.org/drawingml/2006/main">
              <a:ext uri="{FF2B5EF4-FFF2-40B4-BE49-F238E27FC236}">
                <a16:creationId xmlns:a16="http://schemas.microsoft.com/office/drawing/2014/main" id="{E22AA6D5-403D-4B64-A261-046A3609CFAC}"/>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0" name="Google Shape;220;p10">
            <a:extLst xmlns:a="http://schemas.openxmlformats.org/drawingml/2006/main">
              <a:ext uri="{FF2B5EF4-FFF2-40B4-BE49-F238E27FC236}">
                <a16:creationId xmlns:a16="http://schemas.microsoft.com/office/drawing/2014/main" id="{6BFA5E06-00C9-41AA-AEBE-A7D58193F0A0}"/>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1" name="Google Shape;221;p10">
            <a:extLst xmlns:a="http://schemas.openxmlformats.org/drawingml/2006/main">
              <a:ext uri="{FF2B5EF4-FFF2-40B4-BE49-F238E27FC236}">
                <a16:creationId xmlns:a16="http://schemas.microsoft.com/office/drawing/2014/main" id="{68950740-5CBA-4536-9816-B47A006F976C}"/>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22" name="Google Shape;222;p10">
            <a:extLst xmlns:a="http://schemas.openxmlformats.org/drawingml/2006/main">
              <a:ext uri="{FF2B5EF4-FFF2-40B4-BE49-F238E27FC236}">
                <a16:creationId xmlns:a16="http://schemas.microsoft.com/office/drawing/2014/main" id="{97270B46-B3D5-4A18-9766-48B75D4F205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08</a:t>
            </a:r>
            <a:endParaRPr/>
          </a:p>
        </p:txBody>
      </p:sp>
      <p:sp>
        <p:nvSpPr>
          <p:cNvPr id="223" name="Google Shape;223;p10">
            <a:extLst xmlns:a="http://schemas.openxmlformats.org/drawingml/2006/main">
              <a:ext uri="{FF2B5EF4-FFF2-40B4-BE49-F238E27FC236}">
                <a16:creationId xmlns:a16="http://schemas.microsoft.com/office/drawing/2014/main" id="{AD3DA3BE-1FEE-4EEE-9C05-12B44B638B95}"/>
              </a:ext>
            </a:extLst>
          </p:cNvPr>
          <p:cNvSpPr>
            <a:spLocks xmlns:a="http://schemas.openxmlformats.org/drawingml/2006/main" noGrp="1"/>
          </p:cNvSpPr>
          <p:nvPr/>
        </p:nvSpPr>
        <p:spPr>
          <a:xfrm xmlns:a="http://schemas.openxmlformats.org/drawingml/2006/main">
            <a:off x="0" y="1619250"/>
            <a:ext cx="6096000" cy="40957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4" name="Google Shape;224;p10">
            <a:extLst xmlns:a="http://schemas.openxmlformats.org/drawingml/2006/main">
              <a:ext uri="{FF2B5EF4-FFF2-40B4-BE49-F238E27FC236}">
                <a16:creationId xmlns:a16="http://schemas.microsoft.com/office/drawing/2014/main" id="{5D09E04F-B11B-48B3-B9A6-7FD25DBC71D8}"/>
              </a:ext>
            </a:extLst>
          </p:cNvPr>
          <p:cNvSpPr>
            <a:spLocks xmlns:a="http://schemas.openxmlformats.org/drawingml/2006/main" noGrp="1"/>
          </p:cNvSpPr>
          <p:nvPr/>
        </p:nvSpPr>
        <p:spPr>
          <a:xfrm xmlns:a="http://schemas.openxmlformats.org/drawingml/2006/main">
            <a:off x="6096000" y="1619250"/>
            <a:ext cx="6096000" cy="40957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25" name="Google Shape;225;p10">
            <a:extLst xmlns:a="http://schemas.openxmlformats.org/drawingml/2006/main">
              <a:ext uri="{FF2B5EF4-FFF2-40B4-BE49-F238E27FC236}">
                <a16:creationId xmlns:a16="http://schemas.microsoft.com/office/drawing/2014/main" id="{E90AF3CE-C404-4089-9327-08F617DDB061}"/>
              </a:ext>
            </a:extLst>
          </p:cNvPr>
          <p:cNvSpPr>
            <a:spLocks xmlns:a="http://schemas.openxmlformats.org/drawingml/2006/main" noGrp="1"/>
          </p:cNvSpPr>
          <p:nvPr/>
        </p:nvSpPr>
        <p:spPr>
          <a:xfrm xmlns:a="http://schemas.openxmlformats.org/drawingml/2006/main">
            <a:off x="800100" y="2000250"/>
            <a:ext cx="42862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WEATHER FORECAST</a:t>
            </a:r>
            <a:endParaRPr/>
          </a:p>
        </p:txBody>
      </p:sp>
      <p:sp>
        <p:nvSpPr>
          <p:cNvPr id="226" name="Google Shape;226;p10">
            <a:extLst xmlns:a="http://schemas.openxmlformats.org/drawingml/2006/main">
              <a:ext uri="{FF2B5EF4-FFF2-40B4-BE49-F238E27FC236}">
                <a16:creationId xmlns:a16="http://schemas.microsoft.com/office/drawing/2014/main" id="{C418022A-2C96-4300-A8F5-637FE8F8C6E1}"/>
              </a:ext>
            </a:extLst>
          </p:cNvPr>
          <p:cNvSpPr>
            <a:spLocks xmlns:a="http://schemas.openxmlformats.org/drawingml/2006/main" noGrp="1"/>
          </p:cNvSpPr>
          <p:nvPr/>
        </p:nvSpPr>
        <p:spPr>
          <a:xfrm xmlns:a="http://schemas.openxmlformats.org/drawingml/2006/main">
            <a:off x="800100" y="2524125"/>
            <a:ext cx="447675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3225"/>
              <a:buFont typeface="Lato"/>
              <a:buNone/>
            </a:pPr>
            <a:r>
              <a:rPr sz="3225" b="1" i="0">
                <a:solidFill>
                  <a:srgbClr val="12304E"/>
                </a:solidFill>
                <a:latin typeface="Lato"/>
                <a:ea typeface="Lato"/>
                <a:cs typeface="Lato"/>
              </a:rPr>
              <a:t>DAYS TO WEEKS</a:t>
            </a:r>
            <a:endParaRPr/>
          </a:p>
        </p:txBody>
      </p:sp>
      <p:sp>
        <p:nvSpPr>
          <p:cNvPr id="227" name="Google Shape;227;p10">
            <a:extLst xmlns:a="http://schemas.openxmlformats.org/drawingml/2006/main">
              <a:ext uri="{FF2B5EF4-FFF2-40B4-BE49-F238E27FC236}">
                <a16:creationId xmlns:a16="http://schemas.microsoft.com/office/drawing/2014/main" id="{4AE9CEC5-D3A5-4303-8834-A73B501904ED}"/>
              </a:ext>
            </a:extLst>
          </p:cNvPr>
          <p:cNvSpPr>
            <a:spLocks xmlns:a="http://schemas.openxmlformats.org/drawingml/2006/main" noGrp="1"/>
          </p:cNvSpPr>
          <p:nvPr/>
        </p:nvSpPr>
        <p:spPr>
          <a:xfrm xmlns:a="http://schemas.openxmlformats.org/drawingml/2006/main">
            <a:off x="800100" y="3381375"/>
            <a:ext cx="44767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Begins with the observed state of the atmosphere</a:t>
            </a:r>
            <a:endParaRPr/>
          </a:p>
        </p:txBody>
      </p:sp>
      <p:sp>
        <p:nvSpPr>
          <p:cNvPr id="228" name="Google Shape;228;p10">
            <a:extLst xmlns:a="http://schemas.openxmlformats.org/drawingml/2006/main">
              <a:ext uri="{FF2B5EF4-FFF2-40B4-BE49-F238E27FC236}">
                <a16:creationId xmlns:a16="http://schemas.microsoft.com/office/drawing/2014/main" id="{41273CB5-B27E-4D7B-95D2-594C0A984B2A}"/>
              </a:ext>
            </a:extLst>
          </p:cNvPr>
          <p:cNvSpPr>
            <a:spLocks xmlns:a="http://schemas.openxmlformats.org/drawingml/2006/main" noGrp="1"/>
          </p:cNvSpPr>
          <p:nvPr/>
        </p:nvSpPr>
        <p:spPr>
          <a:xfrm xmlns:a="http://schemas.openxmlformats.org/drawingml/2006/main">
            <a:off x="800100" y="4143375"/>
            <a:ext cx="4381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2000"/>
              </a:lnSpc>
              <a:spcBef>
                <a:spcPts val="0"/>
              </a:spcBef>
              <a:spcAft>
                <a:spcPts val="0"/>
              </a:spcAft>
              <a:buClr>
                <a:srgbClr val="687984"/>
              </a:buClr>
              <a:buSzPts val="1350"/>
              <a:buFont typeface="Lato"/>
              <a:buNone/>
            </a:pPr>
            <a:r>
              <a:rPr sz="1350" b="0" i="0">
                <a:solidFill>
                  <a:srgbClr val="687984"/>
                </a:solidFill>
                <a:latin typeface="Lato"/>
                <a:ea typeface="Lato"/>
                <a:cs typeface="Lato"/>
              </a:rPr>
              <a:t>Describes the sequence of weather. Skill declines as the forecast horizon increases.</a:t>
            </a:r>
            <a:endParaRPr/>
          </a:p>
        </p:txBody>
      </p:sp>
      <p:sp>
        <p:nvSpPr>
          <p:cNvPr id="229" name="Google Shape;229;p10">
            <a:extLst xmlns:a="http://schemas.openxmlformats.org/drawingml/2006/main">
              <a:ext uri="{FF2B5EF4-FFF2-40B4-BE49-F238E27FC236}">
                <a16:creationId xmlns:a16="http://schemas.microsoft.com/office/drawing/2014/main" id="{864C9B0C-BC7C-44B3-8A34-7814DD025EFE}"/>
              </a:ext>
            </a:extLst>
          </p:cNvPr>
          <p:cNvSpPr>
            <a:spLocks xmlns:a="http://schemas.openxmlformats.org/drawingml/2006/main" noGrp="1"/>
          </p:cNvSpPr>
          <p:nvPr/>
        </p:nvSpPr>
        <p:spPr>
          <a:xfrm xmlns:a="http://schemas.openxmlformats.org/drawingml/2006/main">
            <a:off x="6705600" y="2000250"/>
            <a:ext cx="4381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75"/>
              <a:buFont typeface="Lato"/>
              <a:buNone/>
            </a:pPr>
            <a:r>
              <a:rPr sz="1275" b="1" i="0">
                <a:solidFill>
                  <a:srgbClr val="F2B632"/>
                </a:solidFill>
                <a:latin typeface="Lato"/>
                <a:ea typeface="Lato"/>
                <a:cs typeface="Lato"/>
              </a:rPr>
              <a:t>CLIMATE PROJECTION</a:t>
            </a:r>
            <a:endParaRPr/>
          </a:p>
        </p:txBody>
      </p:sp>
      <p:sp>
        <p:nvSpPr>
          <p:cNvPr id="230" name="Google Shape;230;p10">
            <a:extLst xmlns:a="http://schemas.openxmlformats.org/drawingml/2006/main">
              <a:ext uri="{FF2B5EF4-FFF2-40B4-BE49-F238E27FC236}">
                <a16:creationId xmlns:a16="http://schemas.microsoft.com/office/drawing/2014/main" id="{B8A0DCE7-431E-4A23-AEA4-1F2BED1F63EB}"/>
              </a:ext>
            </a:extLst>
          </p:cNvPr>
          <p:cNvSpPr>
            <a:spLocks xmlns:a="http://schemas.openxmlformats.org/drawingml/2006/main" noGrp="1"/>
          </p:cNvSpPr>
          <p:nvPr/>
        </p:nvSpPr>
        <p:spPr>
          <a:xfrm xmlns:a="http://schemas.openxmlformats.org/drawingml/2006/main">
            <a:off x="6705600" y="2524125"/>
            <a:ext cx="447675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3225"/>
              <a:buFont typeface="Lato"/>
              <a:buNone/>
            </a:pPr>
            <a:r>
              <a:rPr sz="3225" b="1" i="0">
                <a:solidFill>
                  <a:srgbClr val="12304E"/>
                </a:solidFill>
                <a:latin typeface="Lato"/>
                <a:ea typeface="Lato"/>
                <a:cs typeface="Lato"/>
              </a:rPr>
              <a:t>DECADES</a:t>
            </a:r>
            <a:endParaRPr/>
          </a:p>
        </p:txBody>
      </p:sp>
      <p:sp>
        <p:nvSpPr>
          <p:cNvPr id="231" name="Google Shape;231;p10">
            <a:extLst xmlns:a="http://schemas.openxmlformats.org/drawingml/2006/main">
              <a:ext uri="{FF2B5EF4-FFF2-40B4-BE49-F238E27FC236}">
                <a16:creationId xmlns:a16="http://schemas.microsoft.com/office/drawing/2014/main" id="{154F8233-D725-43ED-82DF-B600B0ACE9D3}"/>
              </a:ext>
            </a:extLst>
          </p:cNvPr>
          <p:cNvSpPr>
            <a:spLocks xmlns:a="http://schemas.openxmlformats.org/drawingml/2006/main" noGrp="1"/>
          </p:cNvSpPr>
          <p:nvPr/>
        </p:nvSpPr>
        <p:spPr>
          <a:xfrm xmlns:a="http://schemas.openxmlformats.org/drawingml/2006/main">
            <a:off x="6705600" y="3381375"/>
            <a:ext cx="44767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Begins with assumptions about future forcing</a:t>
            </a:r>
            <a:endParaRPr/>
          </a:p>
        </p:txBody>
      </p:sp>
      <p:sp>
        <p:nvSpPr>
          <p:cNvPr id="232" name="Google Shape;232;p10">
            <a:extLst xmlns:a="http://schemas.openxmlformats.org/drawingml/2006/main">
              <a:ext uri="{FF2B5EF4-FFF2-40B4-BE49-F238E27FC236}">
                <a16:creationId xmlns:a16="http://schemas.microsoft.com/office/drawing/2014/main" id="{37EFB701-15CB-4A70-8C8B-D807DFC8E694}"/>
              </a:ext>
            </a:extLst>
          </p:cNvPr>
          <p:cNvSpPr>
            <a:spLocks xmlns:a="http://schemas.openxmlformats.org/drawingml/2006/main" noGrp="1"/>
          </p:cNvSpPr>
          <p:nvPr/>
        </p:nvSpPr>
        <p:spPr>
          <a:xfrm xmlns:a="http://schemas.openxmlformats.org/drawingml/2006/main">
            <a:off x="6705600" y="4143375"/>
            <a:ext cx="4381500" cy="819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2000"/>
              </a:lnSpc>
              <a:spcBef>
                <a:spcPts val="0"/>
              </a:spcBef>
              <a:spcAft>
                <a:spcPts val="0"/>
              </a:spcAft>
              <a:buClr>
                <a:srgbClr val="687984"/>
              </a:buClr>
              <a:buSzPts val="1350"/>
              <a:buFont typeface="Lato"/>
              <a:buNone/>
            </a:pPr>
            <a:r>
              <a:rPr sz="1350" b="0" i="0">
                <a:solidFill>
                  <a:srgbClr val="687984"/>
                </a:solidFill>
                <a:latin typeface="Lato"/>
                <a:ea typeface="Lato"/>
                <a:cs typeface="Lato"/>
              </a:rPr>
              <a:t>Describes climate statistics. It does not predict the weather on a specific future day.</a:t>
            </a:r>
            <a:endParaRPr/>
          </a:p>
        </p:txBody>
      </p:sp>
      <p:sp>
        <p:nvSpPr>
          <p:cNvPr id="233" name="Google Shape;233;p10">
            <a:extLst xmlns:a="http://schemas.openxmlformats.org/drawingml/2006/main">
              <a:ext uri="{FF2B5EF4-FFF2-40B4-BE49-F238E27FC236}">
                <a16:creationId xmlns:a16="http://schemas.microsoft.com/office/drawing/2014/main" id="{07321810-3E84-42A5-B27C-8481CAB038A2}"/>
              </a:ext>
            </a:extLst>
          </p:cNvPr>
          <p:cNvSpPr>
            <a:spLocks xmlns:a="http://schemas.openxmlformats.org/drawingml/2006/main" noGrp="1"/>
          </p:cNvSpPr>
          <p:nvPr/>
        </p:nvSpPr>
        <p:spPr>
          <a:xfrm xmlns:a="http://schemas.openxmlformats.org/drawingml/2006/main">
            <a:off x="5962650" y="1952625"/>
            <a:ext cx="266700" cy="3333750"/>
          </a:xfrm>
          <a:prstGeom xmlns:a="http://schemas.openxmlformats.org/drawingml/2006/main" prst="rect">
            <a:avLst/>
          </a:prstGeom>
          <a:gradFill xmlns:a="http://schemas.openxmlformats.org/drawingml/2006/main">
            <a:gsLst>
              <a:gs pos="0">
                <a:srgbClr val="00A88F">
                  <a:alpha val="0"/>
                </a:srgbClr>
              </a:gs>
              <a:gs pos="50000">
                <a:srgbClr val="12304E">
                  <a:alpha val="34902"/>
                </a:srgbClr>
              </a:gs>
              <a:gs pos="100000">
                <a:srgbClr val="F2B632">
                  <a:alpha val="0"/>
                </a:srgbClr>
              </a:gs>
            </a:gsLst>
            <a:lin ang="540000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34" name="Google Shape;234;p10">
            <a:extLst xmlns:a="http://schemas.openxmlformats.org/drawingml/2006/main">
              <a:ext uri="{FF2B5EF4-FFF2-40B4-BE49-F238E27FC236}">
                <a16:creationId xmlns:a16="http://schemas.microsoft.com/office/drawing/2014/main" id="{9F9F28F4-41E6-4E43-8DE7-681699887216}"/>
              </a:ext>
            </a:extLst>
          </p:cNvPr>
          <p:cNvSpPr>
            <a:spLocks xmlns:a="http://schemas.openxmlformats.org/drawingml/2006/main" noGrp="1"/>
          </p:cNvSpPr>
          <p:nvPr/>
        </p:nvSpPr>
        <p:spPr>
          <a:xfrm xmlns:a="http://schemas.openxmlformats.org/drawingml/2006/main">
            <a:off x="1562100" y="5381625"/>
            <a:ext cx="90678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A projection asks what climate could emerge under defined conditions</a:t>
            </a:r>
            <a:endParaRPr/>
          </a:p>
        </p:txBody>
      </p:sp>
    </p:spTree>
    <p:extLst>
      <p:ext uri="{BB962C8B-B14F-4D97-AF65-F5344CB8AC3E}">
        <p14:creationId xmlns:p14="http://schemas.microsoft.com/office/powerpoint/2010/main" val="352336977"/>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40" name="Google Shape;240;p11">
            <a:extLst xmlns:a="http://schemas.openxmlformats.org/drawingml/2006/main">
              <a:ext uri="{FF2B5EF4-FFF2-40B4-BE49-F238E27FC236}">
                <a16:creationId xmlns:a16="http://schemas.microsoft.com/office/drawing/2014/main" id="{DDA55728-CFC8-452A-9B68-39116A20F1FC}"/>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Why many models and scenarios?</a:t>
            </a:r>
            <a:endParaRPr/>
          </a:p>
        </p:txBody>
      </p:sp>
      <p:sp>
        <p:nvSpPr>
          <p:cNvPr id="241" name="Google Shape;241;p11">
            <a:extLst xmlns:a="http://schemas.openxmlformats.org/drawingml/2006/main">
              <a:ext uri="{FF2B5EF4-FFF2-40B4-BE49-F238E27FC236}">
                <a16:creationId xmlns:a16="http://schemas.microsoft.com/office/drawing/2014/main" id="{29586006-928F-4894-AD7C-2BAA21892907}"/>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Models represent the climate system differently, while scenarios represent alternative future conditions</a:t>
            </a:r>
            <a:endParaRPr/>
          </a:p>
        </p:txBody>
      </p:sp>
      <p:sp>
        <p:nvSpPr>
          <p:cNvPr id="242" name="Google Shape;242;p11">
            <a:extLst xmlns:a="http://schemas.openxmlformats.org/drawingml/2006/main">
              <a:ext uri="{FF2B5EF4-FFF2-40B4-BE49-F238E27FC236}">
                <a16:creationId xmlns:a16="http://schemas.microsoft.com/office/drawing/2014/main" id="{8AF21269-76FD-4F7B-AFDA-204689F22E2A}"/>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3" name="Google Shape;243;p11">
            <a:extLst xmlns:a="http://schemas.openxmlformats.org/drawingml/2006/main">
              <a:ext uri="{FF2B5EF4-FFF2-40B4-BE49-F238E27FC236}">
                <a16:creationId xmlns:a16="http://schemas.microsoft.com/office/drawing/2014/main" id="{03FE1118-E434-4995-8BF1-76C7A77226D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4" name="Google Shape;244;p11">
            <a:extLst xmlns:a="http://schemas.openxmlformats.org/drawingml/2006/main">
              <a:ext uri="{FF2B5EF4-FFF2-40B4-BE49-F238E27FC236}">
                <a16:creationId xmlns:a16="http://schemas.microsoft.com/office/drawing/2014/main" id="{ADE79686-56C3-459C-AA2E-A16C7378436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45" name="Google Shape;245;p11">
            <a:extLst xmlns:a="http://schemas.openxmlformats.org/drawingml/2006/main">
              <a:ext uri="{FF2B5EF4-FFF2-40B4-BE49-F238E27FC236}">
                <a16:creationId xmlns:a16="http://schemas.microsoft.com/office/drawing/2014/main" id="{D67BBD8D-E83F-4286-B89E-885632075951}"/>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46" name="Google Shape;246;p11">
            <a:extLst xmlns:a="http://schemas.openxmlformats.org/drawingml/2006/main">
              <a:ext uri="{FF2B5EF4-FFF2-40B4-BE49-F238E27FC236}">
                <a16:creationId xmlns:a16="http://schemas.microsoft.com/office/drawing/2014/main" id="{456F79F1-DDD3-471D-B9F0-00CC27DD5D38}"/>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09</a:t>
            </a:r>
            <a:endParaRPr/>
          </a:p>
        </p:txBody>
      </p:sp>
      <p:sp>
        <p:nvSpPr>
          <p:cNvPr id="247" name="Google Shape;247;p11">
            <a:extLst xmlns:a="http://schemas.openxmlformats.org/drawingml/2006/main">
              <a:ext uri="{FF2B5EF4-FFF2-40B4-BE49-F238E27FC236}">
                <a16:creationId xmlns:a16="http://schemas.microsoft.com/office/drawing/2014/main" id="{DB9AD4A6-9F87-4D7C-82DA-A2F122EDF813}"/>
              </a:ext>
            </a:extLst>
          </p:cNvPr>
          <p:cNvSpPr>
            <a:spLocks xmlns:a="http://schemas.openxmlformats.org/drawingml/2006/main" noGrp="1"/>
          </p:cNvSpPr>
          <p:nvPr/>
        </p:nvSpPr>
        <p:spPr>
          <a:xfrm xmlns:a="http://schemas.openxmlformats.org/drawingml/2006/main">
            <a:off x="819150" y="1790700"/>
            <a:ext cx="1809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MODELS</a:t>
            </a:r>
            <a:endParaRPr/>
          </a:p>
        </p:txBody>
      </p:sp>
      <p:sp>
        <p:nvSpPr>
          <p:cNvPr id="248" name="Google Shape;248;p11">
            <a:extLst xmlns:a="http://schemas.openxmlformats.org/drawingml/2006/main">
              <a:ext uri="{FF2B5EF4-FFF2-40B4-BE49-F238E27FC236}">
                <a16:creationId xmlns:a16="http://schemas.microsoft.com/office/drawing/2014/main" id="{A70E7152-9C6B-444A-BA5A-C29732C3BD7E}"/>
              </a:ext>
            </a:extLst>
          </p:cNvPr>
          <p:cNvSpPr>
            <a:spLocks xmlns:a="http://schemas.openxmlformats.org/drawingml/2006/main" noGrp="1"/>
          </p:cNvSpPr>
          <p:nvPr/>
        </p:nvSpPr>
        <p:spPr>
          <a:xfrm xmlns:a="http://schemas.openxmlformats.org/drawingml/2006/main">
            <a:off x="819150" y="2171700"/>
            <a:ext cx="45720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57"/>
              <a:buFont typeface="Lato"/>
              <a:buNone/>
            </a:pPr>
            <a:r>
              <a:rPr sz="1557" b="1" i="0">
                <a:solidFill>
                  <a:srgbClr val="12304E"/>
                </a:solidFill>
                <a:latin typeface="Lato"/>
                <a:ea typeface="Lato"/>
                <a:cs typeface="Lato"/>
              </a:rPr>
              <a:t>Different scientific teams make different choices about how to represent physical processes.</a:t>
            </a:r>
            <a:endParaRPr/>
          </a:p>
        </p:txBody>
      </p:sp>
      <p:sp>
        <p:nvSpPr>
          <p:cNvPr id="249" name="Google Shape;249;p11">
            <a:extLst xmlns:a="http://schemas.openxmlformats.org/drawingml/2006/main">
              <a:ext uri="{FF2B5EF4-FFF2-40B4-BE49-F238E27FC236}">
                <a16:creationId xmlns:a16="http://schemas.microsoft.com/office/drawing/2014/main" id="{FFF1E14B-3174-4B1E-8C13-34C181A75BBD}"/>
              </a:ext>
            </a:extLst>
          </p:cNvPr>
          <p:cNvSpPr>
            <a:spLocks xmlns:a="http://schemas.openxmlformats.org/drawingml/2006/main" noGrp="1"/>
          </p:cNvSpPr>
          <p:nvPr/>
        </p:nvSpPr>
        <p:spPr>
          <a:xfrm xmlns:a="http://schemas.openxmlformats.org/drawingml/2006/main">
            <a:off x="819150" y="3143250"/>
            <a:ext cx="4572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350"/>
              <a:buFont typeface="Lato"/>
              <a:buNone/>
            </a:pPr>
            <a:r>
              <a:rPr sz="1350" b="0" i="0">
                <a:solidFill>
                  <a:srgbClr val="687984"/>
                </a:solidFill>
                <a:latin typeface="Lato"/>
                <a:ea typeface="Lato"/>
                <a:cs typeface="Lato"/>
              </a:rPr>
              <a:t>A multi-model ensemble samples part of this model uncertainty.</a:t>
            </a:r>
            <a:endParaRPr/>
          </a:p>
        </p:txBody>
      </p:sp>
      <p:sp>
        <p:nvSpPr>
          <p:cNvPr id="250" name="Google Shape;250;p11">
            <a:extLst xmlns:a="http://schemas.openxmlformats.org/drawingml/2006/main">
              <a:ext uri="{FF2B5EF4-FFF2-40B4-BE49-F238E27FC236}">
                <a16:creationId xmlns:a16="http://schemas.microsoft.com/office/drawing/2014/main" id="{4D74F513-44F3-4CE0-9CB2-9BD1336D9CA7}"/>
              </a:ext>
            </a:extLst>
          </p:cNvPr>
          <p:cNvSpPr>
            <a:spLocks xmlns:a="http://schemas.openxmlformats.org/drawingml/2006/main" noGrp="1"/>
          </p:cNvSpPr>
          <p:nvPr/>
        </p:nvSpPr>
        <p:spPr>
          <a:xfrm xmlns:a="http://schemas.openxmlformats.org/drawingml/2006/main">
            <a:off x="6000750" y="1752600"/>
            <a:ext cx="9525" cy="3143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51" name="Google Shape;251;p11">
            <a:extLst xmlns:a="http://schemas.openxmlformats.org/drawingml/2006/main">
              <a:ext uri="{FF2B5EF4-FFF2-40B4-BE49-F238E27FC236}">
                <a16:creationId xmlns:a16="http://schemas.microsoft.com/office/drawing/2014/main" id="{4443F35F-E04C-4BAA-BAAF-E49C34FDADD6}"/>
              </a:ext>
            </a:extLst>
          </p:cNvPr>
          <p:cNvSpPr>
            <a:spLocks xmlns:a="http://schemas.openxmlformats.org/drawingml/2006/main" noGrp="1"/>
          </p:cNvSpPr>
          <p:nvPr/>
        </p:nvSpPr>
        <p:spPr>
          <a:xfrm xmlns:a="http://schemas.openxmlformats.org/drawingml/2006/main">
            <a:off x="6534150" y="1790700"/>
            <a:ext cx="1809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SCENARIOS</a:t>
            </a:r>
            <a:endParaRPr/>
          </a:p>
        </p:txBody>
      </p:sp>
      <p:sp>
        <p:nvSpPr>
          <p:cNvPr id="252" name="Google Shape;252;p11">
            <a:extLst xmlns:a="http://schemas.openxmlformats.org/drawingml/2006/main">
              <a:ext uri="{FF2B5EF4-FFF2-40B4-BE49-F238E27FC236}">
                <a16:creationId xmlns:a16="http://schemas.microsoft.com/office/drawing/2014/main" id="{D0F0A9FC-0626-4FA4-BB20-B2BC1D55E6F0}"/>
              </a:ext>
            </a:extLst>
          </p:cNvPr>
          <p:cNvSpPr>
            <a:spLocks xmlns:a="http://schemas.openxmlformats.org/drawingml/2006/main" noGrp="1"/>
          </p:cNvSpPr>
          <p:nvPr/>
        </p:nvSpPr>
        <p:spPr>
          <a:xfrm xmlns:a="http://schemas.openxmlformats.org/drawingml/2006/main">
            <a:off x="6534150" y="2171700"/>
            <a:ext cx="4572000" cy="723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667"/>
              <a:buFont typeface="Lato"/>
              <a:buNone/>
            </a:pPr>
            <a:r>
              <a:rPr sz="1668" b="1" i="0">
                <a:solidFill>
                  <a:srgbClr val="12304E"/>
                </a:solidFill>
                <a:latin typeface="Lato"/>
                <a:ea typeface="Lato"/>
                <a:cs typeface="Lato"/>
              </a:rPr>
              <a:t>Alternative emissions and land-use pathways produce different levels of climate forcing.</a:t>
            </a:r>
            <a:endParaRPr/>
          </a:p>
        </p:txBody>
      </p:sp>
      <p:sp>
        <p:nvSpPr>
          <p:cNvPr id="253" name="Google Shape;253;p11">
            <a:extLst xmlns:a="http://schemas.openxmlformats.org/drawingml/2006/main">
              <a:ext uri="{FF2B5EF4-FFF2-40B4-BE49-F238E27FC236}">
                <a16:creationId xmlns:a16="http://schemas.microsoft.com/office/drawing/2014/main" id="{658A49C5-AAB0-42A2-B8E8-5A63FFAC14A6}"/>
              </a:ext>
            </a:extLst>
          </p:cNvPr>
          <p:cNvSpPr>
            <a:spLocks xmlns:a="http://schemas.openxmlformats.org/drawingml/2006/main" noGrp="1"/>
          </p:cNvSpPr>
          <p:nvPr/>
        </p:nvSpPr>
        <p:spPr>
          <a:xfrm xmlns:a="http://schemas.openxmlformats.org/drawingml/2006/main">
            <a:off x="6534150" y="3143250"/>
            <a:ext cx="45720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350"/>
              <a:buFont typeface="Lato"/>
              <a:buNone/>
            </a:pPr>
            <a:r>
              <a:rPr sz="1350" b="0" i="0">
                <a:solidFill>
                  <a:srgbClr val="687984"/>
                </a:solidFill>
                <a:latin typeface="Lato"/>
                <a:ea typeface="Lato"/>
                <a:cs typeface="Lato"/>
              </a:rPr>
              <a:t>CMIP coordinates experiments so results can be compared across models and scenarios.</a:t>
            </a:r>
            <a:endParaRPr/>
          </a:p>
        </p:txBody>
      </p:sp>
      <p:sp>
        <p:nvSpPr>
          <p:cNvPr id="254" name="Google Shape;254;p11">
            <a:extLst xmlns:a="http://schemas.openxmlformats.org/drawingml/2006/main">
              <a:ext uri="{FF2B5EF4-FFF2-40B4-BE49-F238E27FC236}">
                <a16:creationId xmlns:a16="http://schemas.microsoft.com/office/drawing/2014/main" id="{FDDE161C-FF5D-4413-BF63-3AF9F662270B}"/>
              </a:ext>
            </a:extLst>
          </p:cNvPr>
          <p:cNvSpPr>
            <a:spLocks xmlns:a="http://schemas.openxmlformats.org/drawingml/2006/main" noGrp="1"/>
          </p:cNvSpPr>
          <p:nvPr/>
        </p:nvSpPr>
        <p:spPr>
          <a:xfrm xmlns:a="http://schemas.openxmlformats.org/drawingml/2006/main">
            <a:off x="809625" y="4229100"/>
            <a:ext cx="10287000" cy="952500"/>
          </a:xfrm>
          <a:prstGeom xmlns:a="http://schemas.openxmlformats.org/drawingml/2006/main" prst="roundRect">
            <a:avLst>
              <a:gd name="adj" fmla="val 8000"/>
            </a:avLst>
          </a:prstGeom>
          <a:solidFill xmlns:a="http://schemas.openxmlformats.org/drawingml/2006/main">
            <a:srgbClr val="EAF3F8"/>
          </a:solidFill>
          <a:ln xmlns:a="http://schemas.openxmlformats.org/drawingml/2006/main" w="9525" cmpd="sng">
            <a:solidFill>
              <a:srgbClr val="EAF3F8"/>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55" name="Google Shape;255;p11">
            <a:extLst xmlns:a="http://schemas.openxmlformats.org/drawingml/2006/main">
              <a:ext uri="{FF2B5EF4-FFF2-40B4-BE49-F238E27FC236}">
                <a16:creationId xmlns:a16="http://schemas.microsoft.com/office/drawing/2014/main" id="{243C195E-5AA9-4436-809C-EAA87ABC7BE0}"/>
              </a:ext>
            </a:extLst>
          </p:cNvPr>
          <p:cNvSpPr>
            <a:spLocks xmlns:a="http://schemas.openxmlformats.org/drawingml/2006/main" noGrp="1"/>
          </p:cNvSpPr>
          <p:nvPr/>
        </p:nvSpPr>
        <p:spPr>
          <a:xfrm xmlns:a="http://schemas.openxmlformats.org/drawingml/2006/main">
            <a:off x="1028700" y="4457700"/>
            <a:ext cx="223837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Interpret the range</a:t>
            </a:r>
            <a:endParaRPr/>
          </a:p>
        </p:txBody>
      </p:sp>
      <p:sp>
        <p:nvSpPr>
          <p:cNvPr id="256" name="Google Shape;256;p11">
            <a:extLst xmlns:a="http://schemas.openxmlformats.org/drawingml/2006/main">
              <a:ext uri="{FF2B5EF4-FFF2-40B4-BE49-F238E27FC236}">
                <a16:creationId xmlns:a16="http://schemas.microsoft.com/office/drawing/2014/main" id="{ECE1599B-5AAD-41F1-9788-88A140940CF1}"/>
              </a:ext>
            </a:extLst>
          </p:cNvPr>
          <p:cNvSpPr>
            <a:spLocks xmlns:a="http://schemas.openxmlformats.org/drawingml/2006/main" noGrp="1"/>
          </p:cNvSpPr>
          <p:nvPr/>
        </p:nvSpPr>
        <p:spPr>
          <a:xfrm xmlns:a="http://schemas.openxmlformats.org/drawingml/2006/main">
            <a:off x="3371850" y="4410075"/>
            <a:ext cx="7448550" cy="4476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98"/>
              <a:buFont typeface="Lato"/>
              <a:buNone/>
            </a:pPr>
            <a:r>
              <a:rPr sz="1399" b="0" i="0">
                <a:solidFill>
                  <a:srgbClr val="12304E"/>
                </a:solidFill>
                <a:latin typeface="Lato"/>
                <a:ea typeface="Lato"/>
                <a:cs typeface="Lato"/>
              </a:rPr>
              <a:t>The spread is information about plausible outcomes, not a reason to select the most convenient model.</a:t>
            </a:r>
            <a:endParaRPr/>
          </a:p>
        </p:txBody>
      </p:sp>
    </p:spTree>
    <p:extLst>
      <p:ext uri="{BB962C8B-B14F-4D97-AF65-F5344CB8AC3E}">
        <p14:creationId xmlns:p14="http://schemas.microsoft.com/office/powerpoint/2010/main" val="368579341"/>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62" name="Google Shape;262;p12">
            <a:extLst xmlns:a="http://schemas.openxmlformats.org/drawingml/2006/main">
              <a:ext uri="{FF2B5EF4-FFF2-40B4-BE49-F238E27FC236}">
                <a16:creationId xmlns:a16="http://schemas.microsoft.com/office/drawing/2014/main" id="{341E3A2C-C00B-4BC2-9D13-E40F02B5442D}"/>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From global to regional climate information</a:t>
            </a:r>
            <a:endParaRPr/>
          </a:p>
        </p:txBody>
      </p:sp>
      <p:sp>
        <p:nvSpPr>
          <p:cNvPr id="263" name="Google Shape;263;p12">
            <a:extLst xmlns:a="http://schemas.openxmlformats.org/drawingml/2006/main">
              <a:ext uri="{FF2B5EF4-FFF2-40B4-BE49-F238E27FC236}">
                <a16:creationId xmlns:a16="http://schemas.microsoft.com/office/drawing/2014/main" id="{03696AC6-BE2C-4583-A225-A7062F25468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Regional models add spatial detail within a global model’s large-scale climate</a:t>
            </a:r>
            <a:endParaRPr/>
          </a:p>
        </p:txBody>
      </p:sp>
      <p:sp>
        <p:nvSpPr>
          <p:cNvPr id="264" name="Google Shape;264;p12">
            <a:extLst xmlns:a="http://schemas.openxmlformats.org/drawingml/2006/main">
              <a:ext uri="{FF2B5EF4-FFF2-40B4-BE49-F238E27FC236}">
                <a16:creationId xmlns:a16="http://schemas.microsoft.com/office/drawing/2014/main" id="{3741A2AE-DD72-4DF2-BDFD-9588562F813D}"/>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5" name="Google Shape;265;p12">
            <a:extLst xmlns:a="http://schemas.openxmlformats.org/drawingml/2006/main">
              <a:ext uri="{FF2B5EF4-FFF2-40B4-BE49-F238E27FC236}">
                <a16:creationId xmlns:a16="http://schemas.microsoft.com/office/drawing/2014/main" id="{BCC53144-2771-475F-8DEB-3B1EE80E8469}"/>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6" name="Google Shape;266;p12">
            <a:extLst xmlns:a="http://schemas.openxmlformats.org/drawingml/2006/main">
              <a:ext uri="{FF2B5EF4-FFF2-40B4-BE49-F238E27FC236}">
                <a16:creationId xmlns:a16="http://schemas.microsoft.com/office/drawing/2014/main" id="{851B36DD-545E-45D0-B0F6-03A14F129D92}"/>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67" name="Google Shape;267;p12">
            <a:extLst xmlns:a="http://schemas.openxmlformats.org/drawingml/2006/main">
              <a:ext uri="{FF2B5EF4-FFF2-40B4-BE49-F238E27FC236}">
                <a16:creationId xmlns:a16="http://schemas.microsoft.com/office/drawing/2014/main" id="{FEC757F8-EA50-4108-A329-636F50FEFC0B}"/>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268" name="Google Shape;268;p12">
            <a:extLst xmlns:a="http://schemas.openxmlformats.org/drawingml/2006/main">
              <a:ext uri="{FF2B5EF4-FFF2-40B4-BE49-F238E27FC236}">
                <a16:creationId xmlns:a16="http://schemas.microsoft.com/office/drawing/2014/main" id="{8EA7D3A7-4C24-41DD-B3F7-2A226745C2E9}"/>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10</a:t>
            </a:r>
            <a:endParaRPr/>
          </a:p>
        </p:txBody>
      </p:sp>
      <p:sp>
        <p:nvSpPr>
          <p:cNvPr id="269" name="Google Shape;269;p12">
            <a:extLst xmlns:a="http://schemas.openxmlformats.org/drawingml/2006/main">
              <a:ext uri="{FF2B5EF4-FFF2-40B4-BE49-F238E27FC236}">
                <a16:creationId xmlns:a16="http://schemas.microsoft.com/office/drawing/2014/main" id="{059C0B0C-155E-4BEC-B567-46DED93214C4}"/>
              </a:ext>
            </a:extLst>
          </p:cNvPr>
          <p:cNvSpPr>
            <a:spLocks xmlns:a="http://schemas.openxmlformats.org/drawingml/2006/main" noGrp="1"/>
          </p:cNvSpPr>
          <p:nvPr/>
        </p:nvSpPr>
        <p:spPr>
          <a:xfrm xmlns:a="http://schemas.openxmlformats.org/drawingml/2006/main">
            <a:off x="800100" y="1952625"/>
            <a:ext cx="2667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0" name="Google Shape;270;p12">
            <a:extLst xmlns:a="http://schemas.openxmlformats.org/drawingml/2006/main">
              <a:ext uri="{FF2B5EF4-FFF2-40B4-BE49-F238E27FC236}">
                <a16:creationId xmlns:a16="http://schemas.microsoft.com/office/drawing/2014/main" id="{5B347B71-169B-49CA-87CC-F71BAB3A4FE3}"/>
              </a:ext>
            </a:extLst>
          </p:cNvPr>
          <p:cNvSpPr>
            <a:spLocks xmlns:a="http://schemas.openxmlformats.org/drawingml/2006/main" noGrp="1"/>
          </p:cNvSpPr>
          <p:nvPr/>
        </p:nvSpPr>
        <p:spPr>
          <a:xfrm xmlns:a="http://schemas.openxmlformats.org/drawingml/2006/main">
            <a:off x="12287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1" name="Google Shape;271;p12">
            <a:extLst xmlns:a="http://schemas.openxmlformats.org/drawingml/2006/main">
              <a:ext uri="{FF2B5EF4-FFF2-40B4-BE49-F238E27FC236}">
                <a16:creationId xmlns:a16="http://schemas.microsoft.com/office/drawing/2014/main" id="{BDC19C11-56DB-429F-AA9B-C70F764F4872}"/>
              </a:ext>
            </a:extLst>
          </p:cNvPr>
          <p:cNvSpPr>
            <a:spLocks xmlns:a="http://schemas.openxmlformats.org/drawingml/2006/main" noGrp="1"/>
          </p:cNvSpPr>
          <p:nvPr/>
        </p:nvSpPr>
        <p:spPr>
          <a:xfrm xmlns:a="http://schemas.openxmlformats.org/drawingml/2006/main">
            <a:off x="1743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2" name="Google Shape;272;p12">
            <a:extLst xmlns:a="http://schemas.openxmlformats.org/drawingml/2006/main">
              <a:ext uri="{FF2B5EF4-FFF2-40B4-BE49-F238E27FC236}">
                <a16:creationId xmlns:a16="http://schemas.microsoft.com/office/drawing/2014/main" id="{4081128C-B90B-496A-B17A-7A744989A52B}"/>
              </a:ext>
            </a:extLst>
          </p:cNvPr>
          <p:cNvSpPr>
            <a:spLocks xmlns:a="http://schemas.openxmlformats.org/drawingml/2006/main" noGrp="1"/>
          </p:cNvSpPr>
          <p:nvPr/>
        </p:nvSpPr>
        <p:spPr>
          <a:xfrm xmlns:a="http://schemas.openxmlformats.org/drawingml/2006/main">
            <a:off x="22574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3" name="Google Shape;273;p12">
            <a:extLst xmlns:a="http://schemas.openxmlformats.org/drawingml/2006/main">
              <a:ext uri="{FF2B5EF4-FFF2-40B4-BE49-F238E27FC236}">
                <a16:creationId xmlns:a16="http://schemas.microsoft.com/office/drawing/2014/main" id="{8CA087C8-3E4A-467F-BE9A-1DDCB351DC0F}"/>
              </a:ext>
            </a:extLst>
          </p:cNvPr>
          <p:cNvSpPr>
            <a:spLocks xmlns:a="http://schemas.openxmlformats.org/drawingml/2006/main" noGrp="1"/>
          </p:cNvSpPr>
          <p:nvPr/>
        </p:nvSpPr>
        <p:spPr>
          <a:xfrm xmlns:a="http://schemas.openxmlformats.org/drawingml/2006/main">
            <a:off x="27717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4" name="Google Shape;274;p12">
            <a:extLst xmlns:a="http://schemas.openxmlformats.org/drawingml/2006/main">
              <a:ext uri="{FF2B5EF4-FFF2-40B4-BE49-F238E27FC236}">
                <a16:creationId xmlns:a16="http://schemas.microsoft.com/office/drawing/2014/main" id="{CA1D8AB6-12AE-477E-A1A4-9D1FFF9111CB}"/>
              </a:ext>
            </a:extLst>
          </p:cNvPr>
          <p:cNvSpPr>
            <a:spLocks xmlns:a="http://schemas.openxmlformats.org/drawingml/2006/main" noGrp="1"/>
          </p:cNvSpPr>
          <p:nvPr/>
        </p:nvSpPr>
        <p:spPr>
          <a:xfrm xmlns:a="http://schemas.openxmlformats.org/drawingml/2006/main">
            <a:off x="1228725" y="21907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5" name="Google Shape;275;p12">
            <a:extLst xmlns:a="http://schemas.openxmlformats.org/drawingml/2006/main">
              <a:ext uri="{FF2B5EF4-FFF2-40B4-BE49-F238E27FC236}">
                <a16:creationId xmlns:a16="http://schemas.microsoft.com/office/drawing/2014/main" id="{AFC44673-3A60-4D35-9591-D60B7489FBAD}"/>
              </a:ext>
            </a:extLst>
          </p:cNvPr>
          <p:cNvSpPr>
            <a:spLocks xmlns:a="http://schemas.openxmlformats.org/drawingml/2006/main" noGrp="1"/>
          </p:cNvSpPr>
          <p:nvPr/>
        </p:nvSpPr>
        <p:spPr>
          <a:xfrm xmlns:a="http://schemas.openxmlformats.org/drawingml/2006/main">
            <a:off x="1228725" y="27051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76" name="Google Shape;276;p12">
            <a:extLst xmlns:a="http://schemas.openxmlformats.org/drawingml/2006/main">
              <a:ext uri="{FF2B5EF4-FFF2-40B4-BE49-F238E27FC236}">
                <a16:creationId xmlns:a16="http://schemas.microsoft.com/office/drawing/2014/main" id="{624DD8E2-4D57-4D39-B55A-77BE10D2ECD5}"/>
              </a:ext>
            </a:extLst>
          </p:cNvPr>
          <p:cNvSpPr>
            <a:spLocks xmlns:a="http://schemas.openxmlformats.org/drawingml/2006/main" noGrp="1"/>
          </p:cNvSpPr>
          <p:nvPr/>
        </p:nvSpPr>
        <p:spPr>
          <a:xfrm xmlns:a="http://schemas.openxmlformats.org/drawingml/2006/main">
            <a:off x="1009650"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GLOBAL MODEL</a:t>
            </a:r>
            <a:endParaRPr/>
          </a:p>
        </p:txBody>
      </p:sp>
      <p:sp>
        <p:nvSpPr>
          <p:cNvPr id="277" name="Google Shape;277;p12">
            <a:extLst xmlns:a="http://schemas.openxmlformats.org/drawingml/2006/main">
              <a:ext uri="{FF2B5EF4-FFF2-40B4-BE49-F238E27FC236}">
                <a16:creationId xmlns:a16="http://schemas.microsoft.com/office/drawing/2014/main" id="{5C008507-549C-4B28-B73B-095C1E74854B}"/>
              </a:ext>
            </a:extLst>
          </p:cNvPr>
          <p:cNvSpPr>
            <a:spLocks xmlns:a="http://schemas.openxmlformats.org/drawingml/2006/main" noGrp="1"/>
          </p:cNvSpPr>
          <p:nvPr/>
        </p:nvSpPr>
        <p:spPr>
          <a:xfrm xmlns:a="http://schemas.openxmlformats.org/drawingml/2006/main">
            <a:off x="1009650"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Represents the whole climate system on a global grid</a:t>
            </a:r>
            <a:endParaRPr/>
          </a:p>
        </p:txBody>
      </p:sp>
      <p:sp>
        <p:nvSpPr>
          <p:cNvPr id="278" name="Google Shape;278;p12">
            <a:extLst xmlns:a="http://schemas.openxmlformats.org/drawingml/2006/main">
              <a:ext uri="{FF2B5EF4-FFF2-40B4-BE49-F238E27FC236}">
                <a16:creationId xmlns:a16="http://schemas.microsoft.com/office/drawing/2014/main" id="{16030F14-290D-4E5C-B3AE-7396683FA7A2}"/>
              </a:ext>
            </a:extLst>
          </p:cNvPr>
          <p:cNvSpPr>
            <a:spLocks xmlns:a="http://schemas.openxmlformats.org/drawingml/2006/main" noGrp="1"/>
          </p:cNvSpPr>
          <p:nvPr/>
        </p:nvSpPr>
        <p:spPr>
          <a:xfrm xmlns:a="http://schemas.openxmlformats.org/drawingml/2006/main">
            <a:off x="3533775" y="2590800"/>
            <a:ext cx="3810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2678"/>
              <a:buFont typeface="Lato"/>
              <a:buNone/>
            </a:pPr>
            <a:r>
              <a:rPr sz="2679" b="1" i="0">
                <a:solidFill>
                  <a:srgbClr val="F2B632"/>
                </a:solidFill>
                <a:latin typeface="Lato"/>
                <a:ea typeface="Lato"/>
                <a:cs typeface="Lato"/>
              </a:rPr>
              <a:t>›</a:t>
            </a:r>
            <a:endParaRPr/>
          </a:p>
        </p:txBody>
      </p:sp>
      <p:sp>
        <p:nvSpPr>
          <p:cNvPr id="279" name="Google Shape;279;p12">
            <a:extLst xmlns:a="http://schemas.openxmlformats.org/drawingml/2006/main">
              <a:ext uri="{FF2B5EF4-FFF2-40B4-BE49-F238E27FC236}">
                <a16:creationId xmlns:a16="http://schemas.microsoft.com/office/drawing/2014/main" id="{A2F662B9-8265-4AF8-AD82-08C8868A7229}"/>
              </a:ext>
            </a:extLst>
          </p:cNvPr>
          <p:cNvSpPr>
            <a:spLocks xmlns:a="http://schemas.openxmlformats.org/drawingml/2006/main" noGrp="1"/>
          </p:cNvSpPr>
          <p:nvPr/>
        </p:nvSpPr>
        <p:spPr>
          <a:xfrm xmlns:a="http://schemas.openxmlformats.org/drawingml/2006/main">
            <a:off x="4010025" y="1952625"/>
            <a:ext cx="2667000" cy="2333625"/>
          </a:xfrm>
          <a:prstGeom xmlns:a="http://schemas.openxmlformats.org/drawingml/2006/main" prst="roundRect">
            <a:avLst>
              <a:gd name="adj" fmla="val 3265"/>
            </a:avLst>
          </a:prstGeom>
          <a:solidFill xmlns:a="http://schemas.openxmlformats.org/drawingml/2006/main">
            <a:srgbClr val="E7F4EF"/>
          </a:solidFill>
          <a:ln xmlns:a="http://schemas.openxmlformats.org/drawingml/2006/main" w="9525" cmpd="sng">
            <a:solidFill>
              <a:srgbClr val="00A88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0" name="Google Shape;280;p12">
            <a:extLst xmlns:a="http://schemas.openxmlformats.org/drawingml/2006/main">
              <a:ext uri="{FF2B5EF4-FFF2-40B4-BE49-F238E27FC236}">
                <a16:creationId xmlns:a16="http://schemas.microsoft.com/office/drawing/2014/main" id="{F9C3891F-29A1-4398-B5F3-7E54C3EC1846}"/>
              </a:ext>
            </a:extLst>
          </p:cNvPr>
          <p:cNvSpPr>
            <a:spLocks xmlns:a="http://schemas.openxmlformats.org/drawingml/2006/main" noGrp="1"/>
          </p:cNvSpPr>
          <p:nvPr/>
        </p:nvSpPr>
        <p:spPr>
          <a:xfrm xmlns:a="http://schemas.openxmlformats.org/drawingml/2006/main">
            <a:off x="44386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1" name="Google Shape;281;p12">
            <a:extLst xmlns:a="http://schemas.openxmlformats.org/drawingml/2006/main">
              <a:ext uri="{FF2B5EF4-FFF2-40B4-BE49-F238E27FC236}">
                <a16:creationId xmlns:a16="http://schemas.microsoft.com/office/drawing/2014/main" id="{7C29807F-7912-48E7-9529-4FA748874036}"/>
              </a:ext>
            </a:extLst>
          </p:cNvPr>
          <p:cNvSpPr>
            <a:spLocks xmlns:a="http://schemas.openxmlformats.org/drawingml/2006/main" noGrp="1"/>
          </p:cNvSpPr>
          <p:nvPr/>
        </p:nvSpPr>
        <p:spPr>
          <a:xfrm xmlns:a="http://schemas.openxmlformats.org/drawingml/2006/main">
            <a:off x="483870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2" name="Google Shape;282;p12">
            <a:extLst xmlns:a="http://schemas.openxmlformats.org/drawingml/2006/main">
              <a:ext uri="{FF2B5EF4-FFF2-40B4-BE49-F238E27FC236}">
                <a16:creationId xmlns:a16="http://schemas.microsoft.com/office/drawing/2014/main" id="{FF3EA288-8506-4974-B926-AAEDB0E49028}"/>
              </a:ext>
            </a:extLst>
          </p:cNvPr>
          <p:cNvSpPr>
            <a:spLocks xmlns:a="http://schemas.openxmlformats.org/drawingml/2006/main" noGrp="1"/>
          </p:cNvSpPr>
          <p:nvPr/>
        </p:nvSpPr>
        <p:spPr>
          <a:xfrm xmlns:a="http://schemas.openxmlformats.org/drawingml/2006/main">
            <a:off x="52387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3" name="Google Shape;283;p12">
            <a:extLst xmlns:a="http://schemas.openxmlformats.org/drawingml/2006/main">
              <a:ext uri="{FF2B5EF4-FFF2-40B4-BE49-F238E27FC236}">
                <a16:creationId xmlns:a16="http://schemas.microsoft.com/office/drawing/2014/main" id="{34AF23FF-0C9E-43A0-906C-03028434B9A3}"/>
              </a:ext>
            </a:extLst>
          </p:cNvPr>
          <p:cNvSpPr>
            <a:spLocks xmlns:a="http://schemas.openxmlformats.org/drawingml/2006/main" noGrp="1"/>
          </p:cNvSpPr>
          <p:nvPr/>
        </p:nvSpPr>
        <p:spPr>
          <a:xfrm xmlns:a="http://schemas.openxmlformats.org/drawingml/2006/main">
            <a:off x="563880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4" name="Google Shape;284;p12">
            <a:extLst xmlns:a="http://schemas.openxmlformats.org/drawingml/2006/main">
              <a:ext uri="{FF2B5EF4-FFF2-40B4-BE49-F238E27FC236}">
                <a16:creationId xmlns:a16="http://schemas.microsoft.com/office/drawing/2014/main" id="{7DE85F13-CCDF-4D52-A490-2166FE95AEA5}"/>
              </a:ext>
            </a:extLst>
          </p:cNvPr>
          <p:cNvSpPr>
            <a:spLocks xmlns:a="http://schemas.openxmlformats.org/drawingml/2006/main" noGrp="1"/>
          </p:cNvSpPr>
          <p:nvPr/>
        </p:nvSpPr>
        <p:spPr>
          <a:xfrm xmlns:a="http://schemas.openxmlformats.org/drawingml/2006/main">
            <a:off x="6038850" y="2190750"/>
            <a:ext cx="9525" cy="857250"/>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5" name="Google Shape;285;p12">
            <a:extLst xmlns:a="http://schemas.openxmlformats.org/drawingml/2006/main">
              <a:ext uri="{FF2B5EF4-FFF2-40B4-BE49-F238E27FC236}">
                <a16:creationId xmlns:a16="http://schemas.microsoft.com/office/drawing/2014/main" id="{E4105B32-55A0-4547-8D08-C780B36E3EDD}"/>
              </a:ext>
            </a:extLst>
          </p:cNvPr>
          <p:cNvSpPr>
            <a:spLocks xmlns:a="http://schemas.openxmlformats.org/drawingml/2006/main" noGrp="1"/>
          </p:cNvSpPr>
          <p:nvPr/>
        </p:nvSpPr>
        <p:spPr>
          <a:xfrm xmlns:a="http://schemas.openxmlformats.org/drawingml/2006/main">
            <a:off x="4438650" y="219075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6" name="Google Shape;286;p12">
            <a:extLst xmlns:a="http://schemas.openxmlformats.org/drawingml/2006/main">
              <a:ext uri="{FF2B5EF4-FFF2-40B4-BE49-F238E27FC236}">
                <a16:creationId xmlns:a16="http://schemas.microsoft.com/office/drawing/2014/main" id="{D45B42B8-BB6D-48C1-BCC3-40798B3A4E2D}"/>
              </a:ext>
            </a:extLst>
          </p:cNvPr>
          <p:cNvSpPr>
            <a:spLocks xmlns:a="http://schemas.openxmlformats.org/drawingml/2006/main" noGrp="1"/>
          </p:cNvSpPr>
          <p:nvPr/>
        </p:nvSpPr>
        <p:spPr>
          <a:xfrm xmlns:a="http://schemas.openxmlformats.org/drawingml/2006/main">
            <a:off x="4438650" y="259080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7" name="Google Shape;287;p12">
            <a:extLst xmlns:a="http://schemas.openxmlformats.org/drawingml/2006/main">
              <a:ext uri="{FF2B5EF4-FFF2-40B4-BE49-F238E27FC236}">
                <a16:creationId xmlns:a16="http://schemas.microsoft.com/office/drawing/2014/main" id="{AB2D2E57-FD27-4E72-82F6-1BFB4FEE2496}"/>
              </a:ext>
            </a:extLst>
          </p:cNvPr>
          <p:cNvSpPr>
            <a:spLocks xmlns:a="http://schemas.openxmlformats.org/drawingml/2006/main" noGrp="1"/>
          </p:cNvSpPr>
          <p:nvPr/>
        </p:nvSpPr>
        <p:spPr>
          <a:xfrm xmlns:a="http://schemas.openxmlformats.org/drawingml/2006/main">
            <a:off x="4438650" y="2990850"/>
            <a:ext cx="1809750" cy="9525"/>
          </a:xfrm>
          <a:prstGeom xmlns:a="http://schemas.openxmlformats.org/drawingml/2006/main" prst="rect">
            <a:avLst/>
          </a:prstGeom>
          <a:solidFill xmlns:a="http://schemas.openxmlformats.org/drawingml/2006/main">
            <a:srgbClr val="8FCFC4"/>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88" name="Google Shape;288;p12">
            <a:extLst xmlns:a="http://schemas.openxmlformats.org/drawingml/2006/main">
              <a:ext uri="{FF2B5EF4-FFF2-40B4-BE49-F238E27FC236}">
                <a16:creationId xmlns:a16="http://schemas.microsoft.com/office/drawing/2014/main" id="{C809FDBB-EFDC-4E6A-B252-5662AA4B6BF7}"/>
              </a:ext>
            </a:extLst>
          </p:cNvPr>
          <p:cNvSpPr>
            <a:spLocks xmlns:a="http://schemas.openxmlformats.org/drawingml/2006/main" noGrp="1"/>
          </p:cNvSpPr>
          <p:nvPr/>
        </p:nvSpPr>
        <p:spPr>
          <a:xfrm xmlns:a="http://schemas.openxmlformats.org/drawingml/2006/main">
            <a:off x="4219575"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8D7A"/>
              </a:buClr>
              <a:buSzPts val="1125"/>
              <a:buFont typeface="Lato"/>
              <a:buNone/>
            </a:pPr>
            <a:r>
              <a:rPr sz="1125" b="1" i="0">
                <a:solidFill>
                  <a:srgbClr val="008D7A"/>
                </a:solidFill>
                <a:latin typeface="Lato"/>
                <a:ea typeface="Lato"/>
                <a:cs typeface="Lato"/>
              </a:rPr>
              <a:t>REGIONAL MODEL</a:t>
            </a:r>
            <a:endParaRPr/>
          </a:p>
        </p:txBody>
      </p:sp>
      <p:sp>
        <p:nvSpPr>
          <p:cNvPr id="289" name="Google Shape;289;p12">
            <a:extLst xmlns:a="http://schemas.openxmlformats.org/drawingml/2006/main">
              <a:ext uri="{FF2B5EF4-FFF2-40B4-BE49-F238E27FC236}">
                <a16:creationId xmlns:a16="http://schemas.microsoft.com/office/drawing/2014/main" id="{00EE4216-6319-4600-94A3-E4BF1869AB2D}"/>
              </a:ext>
            </a:extLst>
          </p:cNvPr>
          <p:cNvSpPr>
            <a:spLocks xmlns:a="http://schemas.openxmlformats.org/drawingml/2006/main" noGrp="1"/>
          </p:cNvSpPr>
          <p:nvPr/>
        </p:nvSpPr>
        <p:spPr>
          <a:xfrm xmlns:a="http://schemas.openxmlformats.org/drawingml/2006/main">
            <a:off x="4219575"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Uses global-model boundary conditions over a defined region</a:t>
            </a:r>
            <a:endParaRPr/>
          </a:p>
        </p:txBody>
      </p:sp>
      <p:sp>
        <p:nvSpPr>
          <p:cNvPr id="290" name="Google Shape;290;p12">
            <a:extLst xmlns:a="http://schemas.openxmlformats.org/drawingml/2006/main">
              <a:ext uri="{FF2B5EF4-FFF2-40B4-BE49-F238E27FC236}">
                <a16:creationId xmlns:a16="http://schemas.microsoft.com/office/drawing/2014/main" id="{C32E93A6-B2D7-4C75-AFC7-66675751AE1A}"/>
              </a:ext>
            </a:extLst>
          </p:cNvPr>
          <p:cNvSpPr>
            <a:spLocks xmlns:a="http://schemas.openxmlformats.org/drawingml/2006/main" noGrp="1"/>
          </p:cNvSpPr>
          <p:nvPr/>
        </p:nvSpPr>
        <p:spPr>
          <a:xfrm xmlns:a="http://schemas.openxmlformats.org/drawingml/2006/main">
            <a:off x="6743700" y="2590800"/>
            <a:ext cx="38100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2678"/>
              <a:buFont typeface="Lato"/>
              <a:buNone/>
            </a:pPr>
            <a:r>
              <a:rPr sz="2679" b="1" i="0">
                <a:solidFill>
                  <a:srgbClr val="F2B632"/>
                </a:solidFill>
                <a:latin typeface="Lato"/>
                <a:ea typeface="Lato"/>
                <a:cs typeface="Lato"/>
              </a:rPr>
              <a:t>›</a:t>
            </a:r>
            <a:endParaRPr/>
          </a:p>
        </p:txBody>
      </p:sp>
      <p:sp>
        <p:nvSpPr>
          <p:cNvPr id="291" name="Google Shape;291;p12">
            <a:extLst xmlns:a="http://schemas.openxmlformats.org/drawingml/2006/main">
              <a:ext uri="{FF2B5EF4-FFF2-40B4-BE49-F238E27FC236}">
                <a16:creationId xmlns:a16="http://schemas.microsoft.com/office/drawing/2014/main" id="{685FD70F-987D-4CD4-99D6-E258D98C3F8B}"/>
              </a:ext>
            </a:extLst>
          </p:cNvPr>
          <p:cNvSpPr>
            <a:spLocks xmlns:a="http://schemas.openxmlformats.org/drawingml/2006/main" noGrp="1"/>
          </p:cNvSpPr>
          <p:nvPr/>
        </p:nvSpPr>
        <p:spPr>
          <a:xfrm xmlns:a="http://schemas.openxmlformats.org/drawingml/2006/main">
            <a:off x="7219950" y="1952625"/>
            <a:ext cx="2667000" cy="2333625"/>
          </a:xfrm>
          <a:prstGeom xmlns:a="http://schemas.openxmlformats.org/drawingml/2006/main" prst="roundRect">
            <a:avLst>
              <a:gd name="adj" fmla="val 3265"/>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2" name="Google Shape;292;p12">
            <a:extLst xmlns:a="http://schemas.openxmlformats.org/drawingml/2006/main">
              <a:ext uri="{FF2B5EF4-FFF2-40B4-BE49-F238E27FC236}">
                <a16:creationId xmlns:a16="http://schemas.microsoft.com/office/drawing/2014/main" id="{753815CB-FE2B-45F5-B24E-3064D0F1F9FB}"/>
              </a:ext>
            </a:extLst>
          </p:cNvPr>
          <p:cNvSpPr>
            <a:spLocks xmlns:a="http://schemas.openxmlformats.org/drawingml/2006/main" noGrp="1"/>
          </p:cNvSpPr>
          <p:nvPr/>
        </p:nvSpPr>
        <p:spPr>
          <a:xfrm xmlns:a="http://schemas.openxmlformats.org/drawingml/2006/main">
            <a:off x="76485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3" name="Google Shape;293;p12">
            <a:extLst xmlns:a="http://schemas.openxmlformats.org/drawingml/2006/main">
              <a:ext uri="{FF2B5EF4-FFF2-40B4-BE49-F238E27FC236}">
                <a16:creationId xmlns:a16="http://schemas.microsoft.com/office/drawing/2014/main" id="{AE3A43FA-7F96-4BD6-96AD-36D202E4A6ED}"/>
              </a:ext>
            </a:extLst>
          </p:cNvPr>
          <p:cNvSpPr>
            <a:spLocks xmlns:a="http://schemas.openxmlformats.org/drawingml/2006/main" noGrp="1"/>
          </p:cNvSpPr>
          <p:nvPr/>
        </p:nvSpPr>
        <p:spPr>
          <a:xfrm xmlns:a="http://schemas.openxmlformats.org/drawingml/2006/main">
            <a:off x="79343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4" name="Google Shape;294;p12">
            <a:extLst xmlns:a="http://schemas.openxmlformats.org/drawingml/2006/main">
              <a:ext uri="{FF2B5EF4-FFF2-40B4-BE49-F238E27FC236}">
                <a16:creationId xmlns:a16="http://schemas.microsoft.com/office/drawing/2014/main" id="{92F7F2CA-9F0B-4DC0-8DDF-4357E0C2D9C0}"/>
              </a:ext>
            </a:extLst>
          </p:cNvPr>
          <p:cNvSpPr>
            <a:spLocks xmlns:a="http://schemas.openxmlformats.org/drawingml/2006/main" noGrp="1"/>
          </p:cNvSpPr>
          <p:nvPr/>
        </p:nvSpPr>
        <p:spPr>
          <a:xfrm xmlns:a="http://schemas.openxmlformats.org/drawingml/2006/main">
            <a:off x="8220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5" name="Google Shape;295;p12">
            <a:extLst xmlns:a="http://schemas.openxmlformats.org/drawingml/2006/main">
              <a:ext uri="{FF2B5EF4-FFF2-40B4-BE49-F238E27FC236}">
                <a16:creationId xmlns:a16="http://schemas.microsoft.com/office/drawing/2014/main" id="{E2C0C8E4-921C-4765-9EB6-8DA3A1CED0F3}"/>
              </a:ext>
            </a:extLst>
          </p:cNvPr>
          <p:cNvSpPr>
            <a:spLocks xmlns:a="http://schemas.openxmlformats.org/drawingml/2006/main" noGrp="1"/>
          </p:cNvSpPr>
          <p:nvPr/>
        </p:nvSpPr>
        <p:spPr>
          <a:xfrm xmlns:a="http://schemas.openxmlformats.org/drawingml/2006/main">
            <a:off x="85058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6" name="Google Shape;296;p12">
            <a:extLst xmlns:a="http://schemas.openxmlformats.org/drawingml/2006/main">
              <a:ext uri="{FF2B5EF4-FFF2-40B4-BE49-F238E27FC236}">
                <a16:creationId xmlns:a16="http://schemas.microsoft.com/office/drawing/2014/main" id="{AEC25E50-A474-40F0-94C6-EE6E2180FE8D}"/>
              </a:ext>
            </a:extLst>
          </p:cNvPr>
          <p:cNvSpPr>
            <a:spLocks xmlns:a="http://schemas.openxmlformats.org/drawingml/2006/main" noGrp="1"/>
          </p:cNvSpPr>
          <p:nvPr/>
        </p:nvSpPr>
        <p:spPr>
          <a:xfrm xmlns:a="http://schemas.openxmlformats.org/drawingml/2006/main">
            <a:off x="87915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7" name="Google Shape;297;p12">
            <a:extLst xmlns:a="http://schemas.openxmlformats.org/drawingml/2006/main">
              <a:ext uri="{FF2B5EF4-FFF2-40B4-BE49-F238E27FC236}">
                <a16:creationId xmlns:a16="http://schemas.microsoft.com/office/drawing/2014/main" id="{A138F402-CB06-4701-A4B5-6FAE25AA0A61}"/>
              </a:ext>
            </a:extLst>
          </p:cNvPr>
          <p:cNvSpPr>
            <a:spLocks xmlns:a="http://schemas.openxmlformats.org/drawingml/2006/main" noGrp="1"/>
          </p:cNvSpPr>
          <p:nvPr/>
        </p:nvSpPr>
        <p:spPr>
          <a:xfrm xmlns:a="http://schemas.openxmlformats.org/drawingml/2006/main">
            <a:off x="907732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8" name="Google Shape;298;p12">
            <a:extLst xmlns:a="http://schemas.openxmlformats.org/drawingml/2006/main">
              <a:ext uri="{FF2B5EF4-FFF2-40B4-BE49-F238E27FC236}">
                <a16:creationId xmlns:a16="http://schemas.microsoft.com/office/drawing/2014/main" id="{4057E236-CC9C-415F-A489-A2D871E76B74}"/>
              </a:ext>
            </a:extLst>
          </p:cNvPr>
          <p:cNvSpPr>
            <a:spLocks xmlns:a="http://schemas.openxmlformats.org/drawingml/2006/main" noGrp="1"/>
          </p:cNvSpPr>
          <p:nvPr/>
        </p:nvSpPr>
        <p:spPr>
          <a:xfrm xmlns:a="http://schemas.openxmlformats.org/drawingml/2006/main">
            <a:off x="9363075" y="2190750"/>
            <a:ext cx="9525" cy="8572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299" name="Google Shape;299;p12">
            <a:extLst xmlns:a="http://schemas.openxmlformats.org/drawingml/2006/main">
              <a:ext uri="{FF2B5EF4-FFF2-40B4-BE49-F238E27FC236}">
                <a16:creationId xmlns:a16="http://schemas.microsoft.com/office/drawing/2014/main" id="{702A88C2-43C5-4C7F-B4D8-09754C704799}"/>
              </a:ext>
            </a:extLst>
          </p:cNvPr>
          <p:cNvSpPr>
            <a:spLocks xmlns:a="http://schemas.openxmlformats.org/drawingml/2006/main" noGrp="1"/>
          </p:cNvSpPr>
          <p:nvPr/>
        </p:nvSpPr>
        <p:spPr>
          <a:xfrm xmlns:a="http://schemas.openxmlformats.org/drawingml/2006/main">
            <a:off x="7648575" y="21907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0" name="Google Shape;300;p12">
            <a:extLst xmlns:a="http://schemas.openxmlformats.org/drawingml/2006/main">
              <a:ext uri="{FF2B5EF4-FFF2-40B4-BE49-F238E27FC236}">
                <a16:creationId xmlns:a16="http://schemas.microsoft.com/office/drawing/2014/main" id="{0FBFAF90-3795-4B6F-943F-A45D4F3C1086}"/>
              </a:ext>
            </a:extLst>
          </p:cNvPr>
          <p:cNvSpPr>
            <a:spLocks xmlns:a="http://schemas.openxmlformats.org/drawingml/2006/main" noGrp="1"/>
          </p:cNvSpPr>
          <p:nvPr/>
        </p:nvSpPr>
        <p:spPr>
          <a:xfrm xmlns:a="http://schemas.openxmlformats.org/drawingml/2006/main">
            <a:off x="7648575" y="24765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1" name="Google Shape;301;p12">
            <a:extLst xmlns:a="http://schemas.openxmlformats.org/drawingml/2006/main">
              <a:ext uri="{FF2B5EF4-FFF2-40B4-BE49-F238E27FC236}">
                <a16:creationId xmlns:a16="http://schemas.microsoft.com/office/drawing/2014/main" id="{88FEBC47-9A28-41A8-8E4E-543B9386D720}"/>
              </a:ext>
            </a:extLst>
          </p:cNvPr>
          <p:cNvSpPr>
            <a:spLocks xmlns:a="http://schemas.openxmlformats.org/drawingml/2006/main" noGrp="1"/>
          </p:cNvSpPr>
          <p:nvPr/>
        </p:nvSpPr>
        <p:spPr>
          <a:xfrm xmlns:a="http://schemas.openxmlformats.org/drawingml/2006/main">
            <a:off x="7648575" y="276225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2" name="Google Shape;302;p12">
            <a:extLst xmlns:a="http://schemas.openxmlformats.org/drawingml/2006/main">
              <a:ext uri="{FF2B5EF4-FFF2-40B4-BE49-F238E27FC236}">
                <a16:creationId xmlns:a16="http://schemas.microsoft.com/office/drawing/2014/main" id="{1C6501CD-7E74-44DF-8A80-EFC603E37C08}"/>
              </a:ext>
            </a:extLst>
          </p:cNvPr>
          <p:cNvSpPr>
            <a:spLocks xmlns:a="http://schemas.openxmlformats.org/drawingml/2006/main" noGrp="1"/>
          </p:cNvSpPr>
          <p:nvPr/>
        </p:nvSpPr>
        <p:spPr>
          <a:xfrm xmlns:a="http://schemas.openxmlformats.org/drawingml/2006/main">
            <a:off x="7648575" y="3048000"/>
            <a:ext cx="18097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3" name="Google Shape;303;p12">
            <a:extLst xmlns:a="http://schemas.openxmlformats.org/drawingml/2006/main">
              <a:ext uri="{FF2B5EF4-FFF2-40B4-BE49-F238E27FC236}">
                <a16:creationId xmlns:a16="http://schemas.microsoft.com/office/drawing/2014/main" id="{86BA3317-1FCF-4FD2-BDAA-5A7527D9AA2F}"/>
              </a:ext>
            </a:extLst>
          </p:cNvPr>
          <p:cNvSpPr>
            <a:spLocks xmlns:a="http://schemas.openxmlformats.org/drawingml/2006/main" noGrp="1"/>
          </p:cNvSpPr>
          <p:nvPr/>
        </p:nvSpPr>
        <p:spPr>
          <a:xfrm xmlns:a="http://schemas.openxmlformats.org/drawingml/2006/main">
            <a:off x="7429500" y="3305175"/>
            <a:ext cx="22479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REGIONAL INFORMATION</a:t>
            </a:r>
            <a:endParaRPr/>
          </a:p>
        </p:txBody>
      </p:sp>
      <p:sp>
        <p:nvSpPr>
          <p:cNvPr id="304" name="Google Shape;304;p12">
            <a:extLst xmlns:a="http://schemas.openxmlformats.org/drawingml/2006/main">
              <a:ext uri="{FF2B5EF4-FFF2-40B4-BE49-F238E27FC236}">
                <a16:creationId xmlns:a16="http://schemas.microsoft.com/office/drawing/2014/main" id="{AD5C70F5-0340-413E-9762-3A2FE3823981}"/>
              </a:ext>
            </a:extLst>
          </p:cNvPr>
          <p:cNvSpPr>
            <a:spLocks xmlns:a="http://schemas.openxmlformats.org/drawingml/2006/main" noGrp="1"/>
          </p:cNvSpPr>
          <p:nvPr/>
        </p:nvSpPr>
        <p:spPr>
          <a:xfrm xmlns:a="http://schemas.openxmlformats.org/drawingml/2006/main">
            <a:off x="7429500" y="3667125"/>
            <a:ext cx="22479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0" i="0">
                <a:solidFill>
                  <a:srgbClr val="687984"/>
                </a:solidFill>
                <a:latin typeface="Lato"/>
                <a:ea typeface="Lato"/>
                <a:cs typeface="Lato"/>
              </a:rPr>
              <a:t>Resolves more regional features at finer grid spacing</a:t>
            </a:r>
            <a:endParaRPr/>
          </a:p>
        </p:txBody>
      </p:sp>
      <p:sp>
        <p:nvSpPr>
          <p:cNvPr id="305" name="Google Shape;305;p12">
            <a:extLst xmlns:a="http://schemas.openxmlformats.org/drawingml/2006/main">
              <a:ext uri="{FF2B5EF4-FFF2-40B4-BE49-F238E27FC236}">
                <a16:creationId xmlns:a16="http://schemas.microsoft.com/office/drawing/2014/main" id="{2BA9F66F-E476-4399-87C2-DC2AECB7F353}"/>
              </a:ext>
            </a:extLst>
          </p:cNvPr>
          <p:cNvSpPr>
            <a:spLocks xmlns:a="http://schemas.openxmlformats.org/drawingml/2006/main" noGrp="1"/>
          </p:cNvSpPr>
          <p:nvPr/>
        </p:nvSpPr>
        <p:spPr>
          <a:xfrm xmlns:a="http://schemas.openxmlformats.org/drawingml/2006/main">
            <a:off x="9906000" y="1952625"/>
            <a:ext cx="1600200" cy="2333625"/>
          </a:xfrm>
          <a:prstGeom xmlns:a="http://schemas.openxmlformats.org/drawingml/2006/main" prst="roundRect">
            <a:avLst>
              <a:gd name="adj" fmla="val 4762"/>
            </a:avLst>
          </a:prstGeom>
          <a:solidFill xmlns:a="http://schemas.openxmlformats.org/drawingml/2006/main">
            <a:srgbClr val="FFF3D1"/>
          </a:solidFill>
          <a:ln xmlns:a="http://schemas.openxmlformats.org/drawingml/2006/main" w="9525" cmpd="sng">
            <a:solidFill>
              <a:srgbClr val="F2B63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06" name="Google Shape;306;p12">
            <a:extLst xmlns:a="http://schemas.openxmlformats.org/drawingml/2006/main">
              <a:ext uri="{FF2B5EF4-FFF2-40B4-BE49-F238E27FC236}">
                <a16:creationId xmlns:a16="http://schemas.microsoft.com/office/drawing/2014/main" id="{53A96B17-256B-46CF-9B63-B91C5A334DD4}"/>
              </a:ext>
            </a:extLst>
          </p:cNvPr>
          <p:cNvSpPr>
            <a:spLocks xmlns:a="http://schemas.openxmlformats.org/drawingml/2006/main" noGrp="1"/>
          </p:cNvSpPr>
          <p:nvPr/>
        </p:nvSpPr>
        <p:spPr>
          <a:xfrm xmlns:a="http://schemas.openxmlformats.org/drawingml/2006/main">
            <a:off x="10048875" y="2324100"/>
            <a:ext cx="1314450" cy="3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CORDEX-CORE</a:t>
            </a:r>
            <a:endParaRPr/>
          </a:p>
        </p:txBody>
      </p:sp>
      <p:sp>
        <p:nvSpPr>
          <p:cNvPr id="307" name="Google Shape;307;p12">
            <a:extLst xmlns:a="http://schemas.openxmlformats.org/drawingml/2006/main">
              <a:ext uri="{FF2B5EF4-FFF2-40B4-BE49-F238E27FC236}">
                <a16:creationId xmlns:a16="http://schemas.microsoft.com/office/drawing/2014/main" id="{EDA51A2B-1FE9-45B7-9C96-5835EFBEB77F}"/>
              </a:ext>
            </a:extLst>
          </p:cNvPr>
          <p:cNvSpPr>
            <a:spLocks xmlns:a="http://schemas.openxmlformats.org/drawingml/2006/main" noGrp="1"/>
          </p:cNvSpPr>
          <p:nvPr/>
        </p:nvSpPr>
        <p:spPr>
          <a:xfrm xmlns:a="http://schemas.openxmlformats.org/drawingml/2006/main">
            <a:off x="10067925" y="2876550"/>
            <a:ext cx="127635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125"/>
              <a:buFont typeface="Lato"/>
              <a:buNone/>
            </a:pPr>
            <a:r>
              <a:rPr sz="1125" b="0" i="0">
                <a:solidFill>
                  <a:srgbClr val="12304E"/>
                </a:solidFill>
                <a:latin typeface="Lato"/>
                <a:ea typeface="Lato"/>
                <a:cs typeface="Lato"/>
              </a:rPr>
              <a:t>Coordinated regional simulations at about 25 km for major inhabited regions</a:t>
            </a:r>
            <a:endParaRPr/>
          </a:p>
        </p:txBody>
      </p:sp>
      <p:sp>
        <p:nvSpPr>
          <p:cNvPr id="308" name="Google Shape;308;p12">
            <a:extLst xmlns:a="http://schemas.openxmlformats.org/drawingml/2006/main">
              <a:ext uri="{FF2B5EF4-FFF2-40B4-BE49-F238E27FC236}">
                <a16:creationId xmlns:a16="http://schemas.microsoft.com/office/drawing/2014/main" id="{62C2A95D-25CD-47C3-93B1-BBBA6FEAECDF}"/>
              </a:ext>
            </a:extLst>
          </p:cNvPr>
          <p:cNvSpPr>
            <a:spLocks xmlns:a="http://schemas.openxmlformats.org/drawingml/2006/main" noGrp="1"/>
          </p:cNvSpPr>
          <p:nvPr/>
        </p:nvSpPr>
        <p:spPr>
          <a:xfrm xmlns:a="http://schemas.openxmlformats.org/drawingml/2006/main">
            <a:off x="1571625" y="5010150"/>
            <a:ext cx="9048750" cy="4857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More detail does not remove uncertainty. It changes what regional processes and patterns the model can represent.</a:t>
            </a:r>
            <a:endParaRPr/>
          </a:p>
        </p:txBody>
      </p:sp>
    </p:spTree>
    <p:extLst>
      <p:ext uri="{BB962C8B-B14F-4D97-AF65-F5344CB8AC3E}">
        <p14:creationId xmlns:p14="http://schemas.microsoft.com/office/powerpoint/2010/main" val="2128662011"/>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14" name="Google Shape;314;p13">
            <a:extLst xmlns:a="http://schemas.openxmlformats.org/drawingml/2006/main">
              <a:ext uri="{FF2B5EF4-FFF2-40B4-BE49-F238E27FC236}">
                <a16:creationId xmlns:a16="http://schemas.microsoft.com/office/drawing/2014/main" id="{061BCCCE-7C07-4992-8528-A1493042472C}"/>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a:solidFill>
                  <a:srgbClr val="12304E"/>
                </a:solidFill>
                <a:latin typeface="Lato"/>
                <a:ea typeface="Lato"/>
                <a:cs typeface="Lato"/>
              </a:rPr>
              <a:t>Where climate information is found today</a:t>
            </a:r>
            <a:endParaRPr/>
          </a:p>
        </p:txBody>
      </p:sp>
      <p:sp>
        <p:nvSpPr>
          <p:cNvPr id="315" name="Google Shape;315;p13">
            <a:extLst xmlns:a="http://schemas.openxmlformats.org/drawingml/2006/main">
              <a:ext uri="{FF2B5EF4-FFF2-40B4-BE49-F238E27FC236}">
                <a16:creationId xmlns:a16="http://schemas.microsoft.com/office/drawing/2014/main" id="{F5698274-899F-4EBE-84CB-0F2BA29D34B9}"/>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Users navigate different catalogues, access methods and file conventions before analysis begins</a:t>
            </a:r>
            <a:endParaRPr/>
          </a:p>
        </p:txBody>
      </p:sp>
      <p:sp>
        <p:nvSpPr>
          <p:cNvPr id="316" name="Google Shape;316;p13">
            <a:extLst xmlns:a="http://schemas.openxmlformats.org/drawingml/2006/main">
              <a:ext uri="{FF2B5EF4-FFF2-40B4-BE49-F238E27FC236}">
                <a16:creationId xmlns:a16="http://schemas.microsoft.com/office/drawing/2014/main" id="{778E6558-D455-4545-A14A-6BF7B2CCAB81}"/>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7" name="Google Shape;317;p13">
            <a:extLst xmlns:a="http://schemas.openxmlformats.org/drawingml/2006/main">
              <a:ext uri="{FF2B5EF4-FFF2-40B4-BE49-F238E27FC236}">
                <a16:creationId xmlns:a16="http://schemas.microsoft.com/office/drawing/2014/main" id="{D26C85E1-3BB2-42B1-B7DB-DA17B1C8C90F}"/>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8" name="Google Shape;318;p13">
            <a:extLst xmlns:a="http://schemas.openxmlformats.org/drawingml/2006/main">
              <a:ext uri="{FF2B5EF4-FFF2-40B4-BE49-F238E27FC236}">
                <a16:creationId xmlns:a16="http://schemas.microsoft.com/office/drawing/2014/main" id="{DAB22C09-0112-4A5E-A142-639DA2659A8A}"/>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19" name="Google Shape;319;p13">
            <a:extLst xmlns:a="http://schemas.openxmlformats.org/drawingml/2006/main">
              <a:ext uri="{FF2B5EF4-FFF2-40B4-BE49-F238E27FC236}">
                <a16:creationId xmlns:a16="http://schemas.microsoft.com/office/drawing/2014/main" id="{3249D746-C4FB-42A4-B44F-975618E29316}"/>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320" name="Google Shape;320;p13">
            <a:extLst xmlns:a="http://schemas.openxmlformats.org/drawingml/2006/main">
              <a:ext uri="{FF2B5EF4-FFF2-40B4-BE49-F238E27FC236}">
                <a16:creationId xmlns:a16="http://schemas.microsoft.com/office/drawing/2014/main" id="{16FF6599-215F-4690-8A04-64A64832C305}"/>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11</a:t>
            </a:r>
            <a:endParaRPr/>
          </a:p>
        </p:txBody>
      </p:sp>
      <p:sp>
        <p:nvSpPr>
          <p:cNvPr id="321" name="">
            <a:extLst xmlns:a="http://schemas.openxmlformats.org/drawingml/2006/main">
              <a:ext uri="{FF2B5EF4-FFF2-40B4-BE49-F238E27FC236}">
                <a16:creationId xmlns:a16="http://schemas.microsoft.com/office/drawing/2014/main" id="{16F28D6D-40F6-4C3A-B8F7-3F08CD7F3349}"/>
              </a:ext>
            </a:extLst>
          </p:cNvPr>
          <p:cNvSpPr>
            <a:spLocks xmlns:a="http://schemas.openxmlformats.org/drawingml/2006/main" noGrp="1"/>
          </p:cNvSpPr>
          <p:nvPr/>
        </p:nvSpPr>
        <p:spPr>
          <a:xfrm xmlns:a="http://schemas.openxmlformats.org/drawingml/2006/main">
            <a:off x="781050" y="1790700"/>
            <a:ext cx="68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a:solidFill>
                  <a:srgbClr val="00A88F"/>
                </a:solidFill>
                <a:latin typeface="Lato"/>
                <a:ea typeface="Lato"/>
                <a:cs typeface="Lato"/>
              </a:defRPr>
            </a:pPr>
            <a:r>
              <a:rPr sz="2550" b="1">
                <a:solidFill>
                  <a:srgbClr val="00A88F"/>
                </a:solidFill>
                <a:latin typeface="Lato"/>
                <a:ea typeface="Lato"/>
                <a:cs typeface="Lato"/>
              </a:rPr>
              <a:t>01</a:t>
            </a:r>
          </a:p>
        </p:txBody>
      </p:sp>
      <p:sp>
        <p:nvSpPr>
          <p:cNvPr id="322" name="">
            <a:extLst xmlns:a="http://schemas.openxmlformats.org/drawingml/2006/main">
              <a:ext uri="{FF2B5EF4-FFF2-40B4-BE49-F238E27FC236}">
                <a16:creationId xmlns:a16="http://schemas.microsoft.com/office/drawing/2014/main" id="{27E4D066-BD4C-452C-B351-887312DCBB8D}"/>
              </a:ext>
            </a:extLst>
          </p:cNvPr>
          <p:cNvSpPr>
            <a:spLocks xmlns:a="http://schemas.openxmlformats.org/drawingml/2006/main" noGrp="1"/>
          </p:cNvSpPr>
          <p:nvPr/>
        </p:nvSpPr>
        <p:spPr>
          <a:xfrm xmlns:a="http://schemas.openxmlformats.org/drawingml/2006/main">
            <a:off x="1524000" y="18859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00A88F"/>
                </a:solidFill>
                <a:latin typeface="Lato"/>
                <a:ea typeface="Lato"/>
                <a:cs typeface="Lato"/>
              </a:defRPr>
            </a:pPr>
            <a:r>
              <a:rPr sz="975" b="1">
                <a:solidFill>
                  <a:srgbClr val="00A88F"/>
                </a:solidFill>
                <a:latin typeface="Lato"/>
                <a:ea typeface="Lato"/>
                <a:cs typeface="Lato"/>
              </a:rPr>
              <a:t>FIND</a:t>
            </a:r>
          </a:p>
        </p:txBody>
      </p:sp>
      <p:sp>
        <p:nvSpPr>
          <p:cNvPr id="323" name="">
            <a:extLst xmlns:a="http://schemas.openxmlformats.org/drawingml/2006/main">
              <a:ext uri="{FF2B5EF4-FFF2-40B4-BE49-F238E27FC236}">
                <a16:creationId xmlns:a16="http://schemas.microsoft.com/office/drawing/2014/main" id="{83E36F44-7731-48BE-A843-2B5EAA2CDAED}"/>
              </a:ext>
            </a:extLst>
          </p:cNvPr>
          <p:cNvSpPr>
            <a:spLocks xmlns:a="http://schemas.openxmlformats.org/drawingml/2006/main" noGrp="1"/>
          </p:cNvSpPr>
          <p:nvPr/>
        </p:nvSpPr>
        <p:spPr>
          <a:xfrm xmlns:a="http://schemas.openxmlformats.org/drawingml/2006/main">
            <a:off x="781050" y="25527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12304E"/>
                </a:solidFill>
                <a:latin typeface="Lato"/>
                <a:ea typeface="Lato"/>
                <a:cs typeface="Lato"/>
              </a:defRPr>
            </a:pPr>
            <a:r>
              <a:rPr sz="1800" b="1">
                <a:solidFill>
                  <a:srgbClr val="12304E"/>
                </a:solidFill>
                <a:latin typeface="Lato"/>
                <a:ea typeface="Lato"/>
                <a:cs typeface="Lato"/>
              </a:rPr>
              <a:t>Portals and catalogues</a:t>
            </a:r>
          </a:p>
        </p:txBody>
      </p:sp>
      <p:sp>
        <p:nvSpPr>
          <p:cNvPr id="324" name="">
            <a:extLst xmlns:a="http://schemas.openxmlformats.org/drawingml/2006/main">
              <a:ext uri="{FF2B5EF4-FFF2-40B4-BE49-F238E27FC236}">
                <a16:creationId xmlns:a16="http://schemas.microsoft.com/office/drawing/2014/main" id="{04539739-0D7E-47A7-ACAB-DCF2563CE7DA}"/>
              </a:ext>
            </a:extLst>
          </p:cNvPr>
          <p:cNvSpPr>
            <a:spLocks xmlns:a="http://schemas.openxmlformats.org/drawingml/2006/main" noGrp="1"/>
          </p:cNvSpPr>
          <p:nvPr/>
        </p:nvSpPr>
        <p:spPr>
          <a:xfrm xmlns:a="http://schemas.openxmlformats.org/drawingml/2006/main">
            <a:off x="781050" y="3105150"/>
            <a:ext cx="2857500" cy="28575"/>
          </a:xfrm>
          <a:prstGeom xmlns:a="http://schemas.openxmlformats.org/drawingml/2006/main" prst="rect">
            <a:avLst/>
          </a:prstGeom>
          <a:solidFill xmlns:a="http://schemas.openxmlformats.org/drawingml/2006/main">
            <a:srgbClr val="00A88F"/>
          </a:solidFill>
          <a:ln xmlns:a="http://schemas.openxmlformats.org/drawingml/2006/main" w="0">
            <a:noFill/>
          </a:ln>
        </p:spPr>
      </p:sp>
      <p:sp>
        <p:nvSpPr>
          <p:cNvPr id="325" name="">
            <a:extLst xmlns:a="http://schemas.openxmlformats.org/drawingml/2006/main">
              <a:ext uri="{FF2B5EF4-FFF2-40B4-BE49-F238E27FC236}">
                <a16:creationId xmlns:a16="http://schemas.microsoft.com/office/drawing/2014/main" id="{72CD17B8-8946-4C71-A6A2-E3ABE7B59A06}"/>
              </a:ext>
            </a:extLst>
          </p:cNvPr>
          <p:cNvSpPr>
            <a:spLocks xmlns:a="http://schemas.openxmlformats.org/drawingml/2006/main" noGrp="1"/>
          </p:cNvSpPr>
          <p:nvPr/>
        </p:nvSpPr>
        <p:spPr>
          <a:xfrm xmlns:a="http://schemas.openxmlformats.org/drawingml/2006/main">
            <a:off x="781050" y="3400425"/>
            <a:ext cx="2857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a:solidFill>
                  <a:srgbClr val="687984"/>
                </a:solidFill>
                <a:latin typeface="Lato"/>
                <a:ea typeface="Lato"/>
                <a:cs typeface="Lato"/>
              </a:defRPr>
            </a:pPr>
            <a:r>
              <a:rPr sz="1350" b="0">
                <a:solidFill>
                  <a:srgbClr val="687984"/>
                </a:solidFill>
                <a:latin typeface="Lato"/>
                <a:ea typeface="Lato"/>
                <a:cs typeface="Lato"/>
              </a:rPr>
              <a:t>Copernicus Climate Data Store</a:t>
            </a:r>
          </a:p>
          <a:p xmlns:a="http://schemas.openxmlformats.org/drawingml/2006/main">
            <a:pPr algn="l">
              <a:lnSpc>
                <a:spcPct val="128000"/>
              </a:lnSpc>
              <a:buNone/>
              <a:defRPr sz="1350" b="0">
                <a:solidFill>
                  <a:srgbClr val="687984"/>
                </a:solidFill>
                <a:latin typeface="Lato"/>
                <a:ea typeface="Lato"/>
                <a:cs typeface="Lato"/>
              </a:defRPr>
            </a:pPr>
            <a:r>
              <a:rPr sz="1350" b="0">
                <a:solidFill>
                  <a:srgbClr val="687984"/>
                </a:solidFill>
                <a:latin typeface="Lato"/>
                <a:ea typeface="Lato"/>
                <a:cs typeface="Lato"/>
              </a:rPr>
              <a:t>ESGF climate model archives</a:t>
            </a:r>
          </a:p>
          <a:p xmlns:a="http://schemas.openxmlformats.org/drawingml/2006/main">
            <a:pPr algn="l">
              <a:lnSpc>
                <a:spcPct val="128000"/>
              </a:lnSpc>
              <a:buNone/>
              <a:defRPr sz="1350" b="0">
                <a:solidFill>
                  <a:srgbClr val="687984"/>
                </a:solidFill>
                <a:latin typeface="Lato"/>
                <a:ea typeface="Lato"/>
                <a:cs typeface="Lato"/>
              </a:defRPr>
            </a:pPr>
            <a:r>
              <a:rPr sz="1350" b="0">
                <a:solidFill>
                  <a:srgbClr val="687984"/>
                </a:solidFill>
                <a:latin typeface="Lato"/>
                <a:ea typeface="Lato"/>
                <a:cs typeface="Lato"/>
              </a:rPr>
              <a:t>CORDEX data portals</a:t>
            </a:r>
          </a:p>
        </p:txBody>
      </p:sp>
      <p:sp>
        <p:nvSpPr>
          <p:cNvPr id="326" name="">
            <a:extLst xmlns:a="http://schemas.openxmlformats.org/drawingml/2006/main">
              <a:ext uri="{FF2B5EF4-FFF2-40B4-BE49-F238E27FC236}">
                <a16:creationId xmlns:a16="http://schemas.microsoft.com/office/drawing/2014/main" id="{02F605E9-80DB-4957-B87A-A2D8CAE417A2}"/>
              </a:ext>
            </a:extLst>
          </p:cNvPr>
          <p:cNvSpPr>
            <a:spLocks xmlns:a="http://schemas.openxmlformats.org/drawingml/2006/main" noGrp="1"/>
          </p:cNvSpPr>
          <p:nvPr/>
        </p:nvSpPr>
        <p:spPr>
          <a:xfrm xmlns:a="http://schemas.openxmlformats.org/drawingml/2006/main">
            <a:off x="4019550" y="1809750"/>
            <a:ext cx="9525" cy="27051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27" name="">
            <a:extLst xmlns:a="http://schemas.openxmlformats.org/drawingml/2006/main">
              <a:ext uri="{FF2B5EF4-FFF2-40B4-BE49-F238E27FC236}">
                <a16:creationId xmlns:a16="http://schemas.microsoft.com/office/drawing/2014/main" id="{D099BDE6-00F1-4A70-A7B8-49CA11D23FD0}"/>
              </a:ext>
            </a:extLst>
          </p:cNvPr>
          <p:cNvSpPr>
            <a:spLocks xmlns:a="http://schemas.openxmlformats.org/drawingml/2006/main" noGrp="1"/>
          </p:cNvSpPr>
          <p:nvPr/>
        </p:nvSpPr>
        <p:spPr>
          <a:xfrm xmlns:a="http://schemas.openxmlformats.org/drawingml/2006/main">
            <a:off x="4057650" y="2905125"/>
            <a:ext cx="28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07"/>
          </a:bodyPr>
          <a:lstStyle xmlns:a="http://schemas.openxmlformats.org/drawingml/2006/main"/>
          <a:p xmlns:a="http://schemas.openxmlformats.org/drawingml/2006/main">
            <a:pPr algn="ctr">
              <a:lnSpc>
                <a:spcPct val="108000"/>
              </a:lnSpc>
              <a:buNone/>
              <a:defRPr sz="2700" b="1">
                <a:solidFill>
                  <a:srgbClr val="F2B632"/>
                </a:solidFill>
                <a:latin typeface="Lato"/>
                <a:ea typeface="Lato"/>
                <a:cs typeface="Lato"/>
              </a:defRPr>
            </a:pPr>
            <a:r>
              <a:rPr sz="2700" b="1">
                <a:solidFill>
                  <a:srgbClr val="F2B632"/>
                </a:solidFill>
                <a:latin typeface="Lato"/>
                <a:ea typeface="Lato"/>
                <a:cs typeface="Lato"/>
              </a:rPr>
              <a:t>›</a:t>
            </a:r>
          </a:p>
        </p:txBody>
      </p:sp>
      <p:sp>
        <p:nvSpPr>
          <p:cNvPr id="328" name="">
            <a:extLst xmlns:a="http://schemas.openxmlformats.org/drawingml/2006/main">
              <a:ext uri="{FF2B5EF4-FFF2-40B4-BE49-F238E27FC236}">
                <a16:creationId xmlns:a16="http://schemas.microsoft.com/office/drawing/2014/main" id="{3158A46E-697D-45BA-8DFF-9F8CBC8C3781}"/>
              </a:ext>
            </a:extLst>
          </p:cNvPr>
          <p:cNvSpPr>
            <a:spLocks xmlns:a="http://schemas.openxmlformats.org/drawingml/2006/main" noGrp="1"/>
          </p:cNvSpPr>
          <p:nvPr/>
        </p:nvSpPr>
        <p:spPr>
          <a:xfrm xmlns:a="http://schemas.openxmlformats.org/drawingml/2006/main">
            <a:off x="4429125" y="1790700"/>
            <a:ext cx="68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a:solidFill>
                  <a:srgbClr val="F2B632"/>
                </a:solidFill>
                <a:latin typeface="Lato"/>
                <a:ea typeface="Lato"/>
                <a:cs typeface="Lato"/>
              </a:defRPr>
            </a:pPr>
            <a:r>
              <a:rPr sz="2550" b="1">
                <a:solidFill>
                  <a:srgbClr val="F2B632"/>
                </a:solidFill>
                <a:latin typeface="Lato"/>
                <a:ea typeface="Lato"/>
                <a:cs typeface="Lato"/>
              </a:rPr>
              <a:t>02</a:t>
            </a:r>
          </a:p>
        </p:txBody>
      </p:sp>
      <p:sp>
        <p:nvSpPr>
          <p:cNvPr id="329" name="">
            <a:extLst xmlns:a="http://schemas.openxmlformats.org/drawingml/2006/main">
              <a:ext uri="{FF2B5EF4-FFF2-40B4-BE49-F238E27FC236}">
                <a16:creationId xmlns:a16="http://schemas.microsoft.com/office/drawing/2014/main" id="{2236CCF7-49D5-4657-8A33-965A6198776C}"/>
              </a:ext>
            </a:extLst>
          </p:cNvPr>
          <p:cNvSpPr>
            <a:spLocks xmlns:a="http://schemas.openxmlformats.org/drawingml/2006/main" noGrp="1"/>
          </p:cNvSpPr>
          <p:nvPr/>
        </p:nvSpPr>
        <p:spPr>
          <a:xfrm xmlns:a="http://schemas.openxmlformats.org/drawingml/2006/main">
            <a:off x="5172075" y="18859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F2B632"/>
                </a:solidFill>
                <a:latin typeface="Lato"/>
                <a:ea typeface="Lato"/>
                <a:cs typeface="Lato"/>
              </a:defRPr>
            </a:pPr>
            <a:r>
              <a:rPr sz="975" b="1">
                <a:solidFill>
                  <a:srgbClr val="F2B632"/>
                </a:solidFill>
                <a:latin typeface="Lato"/>
                <a:ea typeface="Lato"/>
                <a:cs typeface="Lato"/>
              </a:rPr>
              <a:t>SELECT</a:t>
            </a:r>
          </a:p>
        </p:txBody>
      </p:sp>
      <p:sp>
        <p:nvSpPr>
          <p:cNvPr id="330" name="">
            <a:extLst xmlns:a="http://schemas.openxmlformats.org/drawingml/2006/main">
              <a:ext uri="{FF2B5EF4-FFF2-40B4-BE49-F238E27FC236}">
                <a16:creationId xmlns:a16="http://schemas.microsoft.com/office/drawing/2014/main" id="{97D740FC-FA08-402B-8407-B4FA2F5D6A3E}"/>
              </a:ext>
            </a:extLst>
          </p:cNvPr>
          <p:cNvSpPr>
            <a:spLocks xmlns:a="http://schemas.openxmlformats.org/drawingml/2006/main" noGrp="1"/>
          </p:cNvSpPr>
          <p:nvPr/>
        </p:nvSpPr>
        <p:spPr>
          <a:xfrm xmlns:a="http://schemas.openxmlformats.org/drawingml/2006/main">
            <a:off x="4429125" y="25527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12304E"/>
                </a:solidFill>
                <a:latin typeface="Lato"/>
                <a:ea typeface="Lato"/>
                <a:cs typeface="Lato"/>
              </a:defRPr>
            </a:pPr>
            <a:r>
              <a:rPr sz="1800" b="1">
                <a:solidFill>
                  <a:srgbClr val="12304E"/>
                </a:solidFill>
                <a:latin typeface="Lato"/>
                <a:ea typeface="Lato"/>
                <a:cs typeface="Lato"/>
              </a:rPr>
              <a:t>The right dataset</a:t>
            </a:r>
          </a:p>
        </p:txBody>
      </p:sp>
      <p:sp>
        <p:nvSpPr>
          <p:cNvPr id="331" name="">
            <a:extLst xmlns:a="http://schemas.openxmlformats.org/drawingml/2006/main">
              <a:ext uri="{FF2B5EF4-FFF2-40B4-BE49-F238E27FC236}">
                <a16:creationId xmlns:a16="http://schemas.microsoft.com/office/drawing/2014/main" id="{E70C7416-DBC5-49B8-8F3D-073DE9DC0534}"/>
              </a:ext>
            </a:extLst>
          </p:cNvPr>
          <p:cNvSpPr>
            <a:spLocks xmlns:a="http://schemas.openxmlformats.org/drawingml/2006/main" noGrp="1"/>
          </p:cNvSpPr>
          <p:nvPr/>
        </p:nvSpPr>
        <p:spPr>
          <a:xfrm xmlns:a="http://schemas.openxmlformats.org/drawingml/2006/main">
            <a:off x="4429125" y="3105150"/>
            <a:ext cx="2857500" cy="28575"/>
          </a:xfrm>
          <a:prstGeom xmlns:a="http://schemas.openxmlformats.org/drawingml/2006/main" prst="rect">
            <a:avLst/>
          </a:prstGeom>
          <a:solidFill xmlns:a="http://schemas.openxmlformats.org/drawingml/2006/main">
            <a:srgbClr val="F2B632"/>
          </a:solidFill>
          <a:ln xmlns:a="http://schemas.openxmlformats.org/drawingml/2006/main" w="0">
            <a:noFill/>
          </a:ln>
        </p:spPr>
      </p:sp>
      <p:sp>
        <p:nvSpPr>
          <p:cNvPr id="332" name="">
            <a:extLst xmlns:a="http://schemas.openxmlformats.org/drawingml/2006/main">
              <a:ext uri="{FF2B5EF4-FFF2-40B4-BE49-F238E27FC236}">
                <a16:creationId xmlns:a16="http://schemas.microsoft.com/office/drawing/2014/main" id="{0C5A770C-B4EC-4983-97FA-79259753EF45}"/>
              </a:ext>
            </a:extLst>
          </p:cNvPr>
          <p:cNvSpPr>
            <a:spLocks xmlns:a="http://schemas.openxmlformats.org/drawingml/2006/main" noGrp="1"/>
          </p:cNvSpPr>
          <p:nvPr/>
        </p:nvSpPr>
        <p:spPr>
          <a:xfrm xmlns:a="http://schemas.openxmlformats.org/drawingml/2006/main">
            <a:off x="4429125" y="3400425"/>
            <a:ext cx="2857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a:solidFill>
                  <a:srgbClr val="687984"/>
                </a:solidFill>
                <a:latin typeface="Lato"/>
                <a:ea typeface="Lato"/>
                <a:cs typeface="Lato"/>
              </a:defRPr>
            </a:pPr>
            <a:r>
              <a:rPr sz="1350" b="0">
                <a:solidFill>
                  <a:srgbClr val="687984"/>
                </a:solidFill>
                <a:latin typeface="Lato"/>
                <a:ea typeface="Lato"/>
                <a:cs typeface="Lato"/>
              </a:rPr>
              <a:t>Dataset and experiment</a:t>
            </a:r>
          </a:p>
          <a:p xmlns:a="http://schemas.openxmlformats.org/drawingml/2006/main">
            <a:pPr algn="l">
              <a:lnSpc>
                <a:spcPct val="128000"/>
              </a:lnSpc>
              <a:buNone/>
              <a:defRPr sz="1350" b="0">
                <a:solidFill>
                  <a:srgbClr val="687984"/>
                </a:solidFill>
                <a:latin typeface="Lato"/>
                <a:ea typeface="Lato"/>
                <a:cs typeface="Lato"/>
              </a:defRPr>
            </a:pPr>
            <a:r>
              <a:rPr sz="1350" b="0">
                <a:solidFill>
                  <a:srgbClr val="687984"/>
                </a:solidFill>
                <a:latin typeface="Lato"/>
                <a:ea typeface="Lato"/>
                <a:cs typeface="Lato"/>
              </a:rPr>
              <a:t>Model and scenario</a:t>
            </a:r>
          </a:p>
          <a:p xmlns:a="http://schemas.openxmlformats.org/drawingml/2006/main">
            <a:pPr algn="l">
              <a:lnSpc>
                <a:spcPct val="128000"/>
              </a:lnSpc>
              <a:buNone/>
              <a:defRPr sz="1350" b="0">
                <a:solidFill>
                  <a:srgbClr val="687984"/>
                </a:solidFill>
                <a:latin typeface="Lato"/>
                <a:ea typeface="Lato"/>
                <a:cs typeface="Lato"/>
              </a:defRPr>
            </a:pPr>
            <a:r>
              <a:rPr sz="1350" b="0">
                <a:solidFill>
                  <a:srgbClr val="687984"/>
                </a:solidFill>
                <a:latin typeface="Lato"/>
                <a:ea typeface="Lato"/>
                <a:cs typeface="Lato"/>
              </a:rPr>
              <a:t>Variable, period and region</a:t>
            </a:r>
          </a:p>
        </p:txBody>
      </p:sp>
      <p:sp>
        <p:nvSpPr>
          <p:cNvPr id="333" name="">
            <a:extLst xmlns:a="http://schemas.openxmlformats.org/drawingml/2006/main">
              <a:ext uri="{FF2B5EF4-FFF2-40B4-BE49-F238E27FC236}">
                <a16:creationId xmlns:a16="http://schemas.microsoft.com/office/drawing/2014/main" id="{F609CD16-D19F-4069-986E-593A25459189}"/>
              </a:ext>
            </a:extLst>
          </p:cNvPr>
          <p:cNvSpPr>
            <a:spLocks xmlns:a="http://schemas.openxmlformats.org/drawingml/2006/main" noGrp="1"/>
          </p:cNvSpPr>
          <p:nvPr/>
        </p:nvSpPr>
        <p:spPr>
          <a:xfrm xmlns:a="http://schemas.openxmlformats.org/drawingml/2006/main">
            <a:off x="7667625" y="1809750"/>
            <a:ext cx="9525" cy="2705100"/>
          </a:xfrm>
          <a:prstGeom xmlns:a="http://schemas.openxmlformats.org/drawingml/2006/main" prst="rect">
            <a:avLst/>
          </a:prstGeom>
          <a:solidFill xmlns:a="http://schemas.openxmlformats.org/drawingml/2006/main">
            <a:srgbClr val="DCE5E2"/>
          </a:solidFill>
          <a:ln xmlns:a="http://schemas.openxmlformats.org/drawingml/2006/main" w="0">
            <a:noFill/>
          </a:ln>
        </p:spPr>
      </p:sp>
      <p:sp>
        <p:nvSpPr>
          <p:cNvPr id="334" name="">
            <a:extLst xmlns:a="http://schemas.openxmlformats.org/drawingml/2006/main">
              <a:ext uri="{FF2B5EF4-FFF2-40B4-BE49-F238E27FC236}">
                <a16:creationId xmlns:a16="http://schemas.microsoft.com/office/drawing/2014/main" id="{7925D26B-4FA2-424D-9B16-6EDCEDE2844A}"/>
              </a:ext>
            </a:extLst>
          </p:cNvPr>
          <p:cNvSpPr>
            <a:spLocks xmlns:a="http://schemas.openxmlformats.org/drawingml/2006/main" noGrp="1"/>
          </p:cNvSpPr>
          <p:nvPr/>
        </p:nvSpPr>
        <p:spPr>
          <a:xfrm xmlns:a="http://schemas.openxmlformats.org/drawingml/2006/main">
            <a:off x="7705725" y="2905125"/>
            <a:ext cx="28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307"/>
          </a:bodyPr>
          <a:lstStyle xmlns:a="http://schemas.openxmlformats.org/drawingml/2006/main"/>
          <a:p xmlns:a="http://schemas.openxmlformats.org/drawingml/2006/main">
            <a:pPr algn="ctr">
              <a:lnSpc>
                <a:spcPct val="108000"/>
              </a:lnSpc>
              <a:buNone/>
              <a:defRPr sz="2700" b="1">
                <a:solidFill>
                  <a:srgbClr val="F2B632"/>
                </a:solidFill>
                <a:latin typeface="Lato"/>
                <a:ea typeface="Lato"/>
                <a:cs typeface="Lato"/>
              </a:defRPr>
            </a:pPr>
            <a:r>
              <a:rPr sz="2700" b="1">
                <a:solidFill>
                  <a:srgbClr val="F2B632"/>
                </a:solidFill>
                <a:latin typeface="Lato"/>
                <a:ea typeface="Lato"/>
                <a:cs typeface="Lato"/>
              </a:rPr>
              <a:t>›</a:t>
            </a:r>
          </a:p>
        </p:txBody>
      </p:sp>
      <p:sp>
        <p:nvSpPr>
          <p:cNvPr id="335" name="">
            <a:extLst xmlns:a="http://schemas.openxmlformats.org/drawingml/2006/main">
              <a:ext uri="{FF2B5EF4-FFF2-40B4-BE49-F238E27FC236}">
                <a16:creationId xmlns:a16="http://schemas.microsoft.com/office/drawing/2014/main" id="{5F0026A0-B43B-4A58-9207-0ADE2CC00A84}"/>
              </a:ext>
            </a:extLst>
          </p:cNvPr>
          <p:cNvSpPr>
            <a:spLocks xmlns:a="http://schemas.openxmlformats.org/drawingml/2006/main" noGrp="1"/>
          </p:cNvSpPr>
          <p:nvPr/>
        </p:nvSpPr>
        <p:spPr>
          <a:xfrm xmlns:a="http://schemas.openxmlformats.org/drawingml/2006/main">
            <a:off x="8077200" y="1790700"/>
            <a:ext cx="685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1">
                <a:solidFill>
                  <a:srgbClr val="12304E"/>
                </a:solidFill>
                <a:latin typeface="Lato"/>
                <a:ea typeface="Lato"/>
                <a:cs typeface="Lato"/>
              </a:defRPr>
            </a:pPr>
            <a:r>
              <a:rPr sz="2550" b="1">
                <a:solidFill>
                  <a:srgbClr val="12304E"/>
                </a:solidFill>
                <a:latin typeface="Lato"/>
                <a:ea typeface="Lato"/>
                <a:cs typeface="Lato"/>
              </a:rPr>
              <a:t>03</a:t>
            </a:r>
          </a:p>
        </p:txBody>
      </p:sp>
      <p:sp>
        <p:nvSpPr>
          <p:cNvPr id="336" name="">
            <a:extLst xmlns:a="http://schemas.openxmlformats.org/drawingml/2006/main">
              <a:ext uri="{FF2B5EF4-FFF2-40B4-BE49-F238E27FC236}">
                <a16:creationId xmlns:a16="http://schemas.microsoft.com/office/drawing/2014/main" id="{F3A2FDCB-3B87-4D88-AC88-36DAE954F8C2}"/>
              </a:ext>
            </a:extLst>
          </p:cNvPr>
          <p:cNvSpPr>
            <a:spLocks xmlns:a="http://schemas.openxmlformats.org/drawingml/2006/main" noGrp="1"/>
          </p:cNvSpPr>
          <p:nvPr/>
        </p:nvSpPr>
        <p:spPr>
          <a:xfrm xmlns:a="http://schemas.openxmlformats.org/drawingml/2006/main">
            <a:off x="8820150" y="18859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75" b="1">
                <a:solidFill>
                  <a:srgbClr val="12304E"/>
                </a:solidFill>
                <a:latin typeface="Lato"/>
                <a:ea typeface="Lato"/>
                <a:cs typeface="Lato"/>
              </a:defRPr>
            </a:pPr>
            <a:r>
              <a:rPr sz="975" b="1">
                <a:solidFill>
                  <a:srgbClr val="12304E"/>
                </a:solidFill>
                <a:latin typeface="Lato"/>
                <a:ea typeface="Lato"/>
                <a:cs typeface="Lato"/>
              </a:rPr>
              <a:t>PREPARE</a:t>
            </a:r>
          </a:p>
        </p:txBody>
      </p:sp>
      <p:sp>
        <p:nvSpPr>
          <p:cNvPr id="337" name="">
            <a:extLst xmlns:a="http://schemas.openxmlformats.org/drawingml/2006/main">
              <a:ext uri="{FF2B5EF4-FFF2-40B4-BE49-F238E27FC236}">
                <a16:creationId xmlns:a16="http://schemas.microsoft.com/office/drawing/2014/main" id="{E62DD52E-A504-4E82-B62D-8764B6460AFC}"/>
              </a:ext>
            </a:extLst>
          </p:cNvPr>
          <p:cNvSpPr>
            <a:spLocks xmlns:a="http://schemas.openxmlformats.org/drawingml/2006/main" noGrp="1"/>
          </p:cNvSpPr>
          <p:nvPr/>
        </p:nvSpPr>
        <p:spPr>
          <a:xfrm xmlns:a="http://schemas.openxmlformats.org/drawingml/2006/main">
            <a:off x="8077200" y="25527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12304E"/>
                </a:solidFill>
                <a:latin typeface="Lato"/>
                <a:ea typeface="Lato"/>
                <a:cs typeface="Lato"/>
              </a:defRPr>
            </a:pPr>
            <a:r>
              <a:rPr sz="1800" b="1">
                <a:solidFill>
                  <a:srgbClr val="12304E"/>
                </a:solidFill>
                <a:latin typeface="Lato"/>
                <a:ea typeface="Lato"/>
                <a:cs typeface="Lato"/>
              </a:rPr>
              <a:t>A usable subset</a:t>
            </a:r>
          </a:p>
        </p:txBody>
      </p:sp>
      <p:sp>
        <p:nvSpPr>
          <p:cNvPr id="338" name="">
            <a:extLst xmlns:a="http://schemas.openxmlformats.org/drawingml/2006/main">
              <a:ext uri="{FF2B5EF4-FFF2-40B4-BE49-F238E27FC236}">
                <a16:creationId xmlns:a16="http://schemas.microsoft.com/office/drawing/2014/main" id="{9469515A-8A87-4C2C-BEDD-D3892806954A}"/>
              </a:ext>
            </a:extLst>
          </p:cNvPr>
          <p:cNvSpPr>
            <a:spLocks xmlns:a="http://schemas.openxmlformats.org/drawingml/2006/main" noGrp="1"/>
          </p:cNvSpPr>
          <p:nvPr/>
        </p:nvSpPr>
        <p:spPr>
          <a:xfrm xmlns:a="http://schemas.openxmlformats.org/drawingml/2006/main">
            <a:off x="8077200" y="3105150"/>
            <a:ext cx="2857500" cy="28575"/>
          </a:xfrm>
          <a:prstGeom xmlns:a="http://schemas.openxmlformats.org/drawingml/2006/main" prst="rect">
            <a:avLst/>
          </a:prstGeom>
          <a:solidFill xmlns:a="http://schemas.openxmlformats.org/drawingml/2006/main">
            <a:srgbClr val="12304E"/>
          </a:solidFill>
          <a:ln xmlns:a="http://schemas.openxmlformats.org/drawingml/2006/main" w="0">
            <a:noFill/>
          </a:ln>
        </p:spPr>
      </p:sp>
      <p:sp>
        <p:nvSpPr>
          <p:cNvPr id="339" name="">
            <a:extLst xmlns:a="http://schemas.openxmlformats.org/drawingml/2006/main">
              <a:ext uri="{FF2B5EF4-FFF2-40B4-BE49-F238E27FC236}">
                <a16:creationId xmlns:a16="http://schemas.microsoft.com/office/drawing/2014/main" id="{97386E87-E1CE-428D-AC6F-9CFF6E02CD37}"/>
              </a:ext>
            </a:extLst>
          </p:cNvPr>
          <p:cNvSpPr>
            <a:spLocks xmlns:a="http://schemas.openxmlformats.org/drawingml/2006/main" noGrp="1"/>
          </p:cNvSpPr>
          <p:nvPr/>
        </p:nvSpPr>
        <p:spPr>
          <a:xfrm xmlns:a="http://schemas.openxmlformats.org/drawingml/2006/main">
            <a:off x="8077200" y="3400425"/>
            <a:ext cx="2857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8000"/>
              </a:lnSpc>
              <a:buNone/>
              <a:defRPr sz="1350" b="0">
                <a:solidFill>
                  <a:srgbClr val="687984"/>
                </a:solidFill>
                <a:latin typeface="Lato"/>
                <a:ea typeface="Lato"/>
                <a:cs typeface="Lato"/>
              </a:defRPr>
            </a:pPr>
            <a:r>
              <a:rPr sz="1350" b="0">
                <a:solidFill>
                  <a:srgbClr val="687984"/>
                </a:solidFill>
                <a:latin typeface="Lato"/>
                <a:ea typeface="Lato"/>
                <a:cs typeface="Lato"/>
              </a:rPr>
              <a:t>Authenticate and request</a:t>
            </a:r>
          </a:p>
          <a:p xmlns:a="http://schemas.openxmlformats.org/drawingml/2006/main">
            <a:pPr algn="l">
              <a:lnSpc>
                <a:spcPct val="128000"/>
              </a:lnSpc>
              <a:buNone/>
              <a:defRPr sz="1350" b="0">
                <a:solidFill>
                  <a:srgbClr val="687984"/>
                </a:solidFill>
                <a:latin typeface="Lato"/>
                <a:ea typeface="Lato"/>
                <a:cs typeface="Lato"/>
              </a:defRPr>
            </a:pPr>
            <a:r>
              <a:rPr sz="1350" b="0">
                <a:solidFill>
                  <a:srgbClr val="687984"/>
                </a:solidFill>
                <a:latin typeface="Lato"/>
                <a:ea typeface="Lato"/>
                <a:cs typeface="Lato"/>
              </a:rPr>
              <a:t>Download or remotely subset</a:t>
            </a:r>
          </a:p>
          <a:p xmlns:a="http://schemas.openxmlformats.org/drawingml/2006/main">
            <a:pPr algn="l">
              <a:lnSpc>
                <a:spcPct val="128000"/>
              </a:lnSpc>
              <a:buNone/>
              <a:defRPr sz="1350" b="0">
                <a:solidFill>
                  <a:srgbClr val="687984"/>
                </a:solidFill>
                <a:latin typeface="Lato"/>
                <a:ea typeface="Lato"/>
                <a:cs typeface="Lato"/>
              </a:defRPr>
            </a:pPr>
            <a:r>
              <a:rPr sz="1350" b="0">
                <a:solidFill>
                  <a:srgbClr val="687984"/>
                </a:solidFill>
                <a:latin typeface="Lato"/>
                <a:ea typeface="Lato"/>
                <a:cs typeface="Lato"/>
              </a:rPr>
              <a:t>Check formats and metadata</a:t>
            </a:r>
          </a:p>
        </p:txBody>
      </p:sp>
      <p:sp>
        <p:nvSpPr>
          <p:cNvPr id="340" name="">
            <a:extLst xmlns:a="http://schemas.openxmlformats.org/drawingml/2006/main">
              <a:ext uri="{FF2B5EF4-FFF2-40B4-BE49-F238E27FC236}">
                <a16:creationId xmlns:a16="http://schemas.microsoft.com/office/drawing/2014/main" id="{924F2E8D-7C92-4C81-9E00-7D04837857AF}"/>
              </a:ext>
            </a:extLst>
          </p:cNvPr>
          <p:cNvSpPr>
            <a:spLocks xmlns:a="http://schemas.openxmlformats.org/drawingml/2006/main" noGrp="1"/>
          </p:cNvSpPr>
          <p:nvPr/>
        </p:nvSpPr>
        <p:spPr>
          <a:xfrm xmlns:a="http://schemas.openxmlformats.org/drawingml/2006/main">
            <a:off x="781050" y="5000625"/>
            <a:ext cx="10363200" cy="666750"/>
          </a:xfrm>
          <a:prstGeom xmlns:a="http://schemas.openxmlformats.org/drawingml/2006/main" prst="rect">
            <a:avLst/>
          </a:prstGeom>
          <a:solidFill xmlns:a="http://schemas.openxmlformats.org/drawingml/2006/main">
            <a:srgbClr val="EAF3F8"/>
          </a:solidFill>
          <a:ln xmlns:a="http://schemas.openxmlformats.org/drawingml/2006/main" w="0">
            <a:noFill/>
          </a:ln>
        </p:spPr>
      </p:sp>
      <p:sp>
        <p:nvSpPr>
          <p:cNvPr id="341" name="">
            <a:extLst xmlns:a="http://schemas.openxmlformats.org/drawingml/2006/main">
              <a:ext uri="{FF2B5EF4-FFF2-40B4-BE49-F238E27FC236}">
                <a16:creationId xmlns:a16="http://schemas.microsoft.com/office/drawing/2014/main" id="{FFC8ACBB-EADD-413C-9924-79133EAFDD87}"/>
              </a:ext>
            </a:extLst>
          </p:cNvPr>
          <p:cNvSpPr>
            <a:spLocks xmlns:a="http://schemas.openxmlformats.org/drawingml/2006/main" noGrp="1"/>
          </p:cNvSpPr>
          <p:nvPr/>
        </p:nvSpPr>
        <p:spPr>
          <a:xfrm xmlns:a="http://schemas.openxmlformats.org/drawingml/2006/main">
            <a:off x="1066800" y="51816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1">
                <a:solidFill>
                  <a:srgbClr val="12304E"/>
                </a:solidFill>
                <a:latin typeface="Lato"/>
                <a:ea typeface="Lato"/>
                <a:cs typeface="Lato"/>
              </a:defRPr>
            </a:pPr>
            <a:r>
              <a:rPr sz="1725" b="1">
                <a:solidFill>
                  <a:srgbClr val="12304E"/>
                </a:solidFill>
                <a:latin typeface="Lato"/>
                <a:ea typeface="Lato"/>
                <a:cs typeface="Lato"/>
              </a:rPr>
              <a:t>Finding the dataset is only the first step</a:t>
            </a:r>
          </a:p>
        </p:txBody>
      </p:sp>
      <p:sp>
        <p:nvSpPr>
          <p:cNvPr id="342" name="">
            <a:extLst xmlns:a="http://schemas.openxmlformats.org/drawingml/2006/main">
              <a:ext uri="{FF2B5EF4-FFF2-40B4-BE49-F238E27FC236}">
                <a16:creationId xmlns:a16="http://schemas.microsoft.com/office/drawing/2014/main" id="{AE07A735-70B2-4CDB-AFA6-5A197580A448}"/>
              </a:ext>
            </a:extLst>
          </p:cNvPr>
          <p:cNvSpPr>
            <a:spLocks xmlns:a="http://schemas.openxmlformats.org/drawingml/2006/main" noGrp="1"/>
          </p:cNvSpPr>
          <p:nvPr/>
        </p:nvSpPr>
        <p:spPr>
          <a:xfrm xmlns:a="http://schemas.openxmlformats.org/drawingml/2006/main">
            <a:off x="5572125" y="5172075"/>
            <a:ext cx="5286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350" b="0">
                <a:solidFill>
                  <a:srgbClr val="12304E"/>
                </a:solidFill>
                <a:latin typeface="Lato"/>
                <a:ea typeface="Lato"/>
                <a:cs typeface="Lato"/>
              </a:defRPr>
            </a:pPr>
            <a:r>
              <a:rPr sz="1350" b="0">
                <a:solidFill>
                  <a:srgbClr val="12304E"/>
                </a:solidFill>
                <a:latin typeface="Lato"/>
                <a:ea typeface="Lato"/>
                <a:cs typeface="Lato"/>
              </a:rPr>
              <a:t>The user still has to assemble a consistent and repeatable workflow.</a:t>
            </a:r>
          </a:p>
        </p:txBody>
      </p:sp>
    </p:spTree>
    <p:extLst>
      <p:ext uri="{BB962C8B-B14F-4D97-AF65-F5344CB8AC3E}">
        <p14:creationId xmlns:p14="http://schemas.microsoft.com/office/powerpoint/2010/main" val="416503783"/>
      </p:ext>
    </p:extLst>
  </p:cSld>
</p:sld>
</file>

<file path=ppt/slides/slide12.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326" name="Google Shape;326;p14">
            <a:extLst xmlns:a="http://schemas.openxmlformats.org/drawingml/2006/main">
              <a:ext uri="{FF2B5EF4-FFF2-40B4-BE49-F238E27FC236}">
                <a16:creationId xmlns:a16="http://schemas.microsoft.com/office/drawing/2014/main" id="{0F14EA1C-28BF-4FB5-9B47-C0E55B464F77}"/>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27" name="Google Shape;327;p14">
            <a:extLst xmlns:a="http://schemas.openxmlformats.org/drawingml/2006/main">
              <a:ext uri="{FF2B5EF4-FFF2-40B4-BE49-F238E27FC236}">
                <a16:creationId xmlns:a16="http://schemas.microsoft.com/office/drawing/2014/main" id="{06CFF2A4-36E4-44E6-B1A7-E3F1A8A5A22E}"/>
              </a:ext>
            </a:extLst>
          </p:cNvPr>
          <p:cNvSpPr>
            <a:spLocks xmlns:a="http://schemas.openxmlformats.org/drawingml/2006/main" noGrp="1"/>
          </p:cNvSpPr>
          <p:nvPr/>
        </p:nvSpPr>
        <p:spPr>
          <a:xfrm xmlns:a="http://schemas.openxmlformats.org/drawingml/2006/main">
            <a:off x="762000" y="7620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28" name="Google Shape;328;p14">
            <a:extLst xmlns:a="http://schemas.openxmlformats.org/drawingml/2006/main">
              <a:ext uri="{FF2B5EF4-FFF2-40B4-BE49-F238E27FC236}">
                <a16:creationId xmlns:a16="http://schemas.microsoft.com/office/drawing/2014/main" id="{0C298D39-E7AF-48BD-9B59-6D11AE9A4557}"/>
              </a:ext>
            </a:extLst>
          </p:cNvPr>
          <p:cNvSpPr>
            <a:spLocks xmlns:a="http://schemas.openxmlformats.org/drawingml/2006/main" noGrp="1"/>
          </p:cNvSpPr>
          <p:nvPr/>
        </p:nvSpPr>
        <p:spPr>
          <a:xfrm xmlns:a="http://schemas.openxmlformats.org/drawingml/2006/main">
            <a:off x="762000" y="1714500"/>
            <a:ext cx="91440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FFFFFF"/>
              </a:buClr>
              <a:buSzPts val="3225"/>
              <a:buFont typeface="Lato"/>
              <a:buNone/>
            </a:pPr>
            <a:r>
              <a:rPr sz="3225" b="1" i="0">
                <a:solidFill>
                  <a:srgbClr val="FFFFFF"/>
                </a:solidFill>
                <a:latin typeface="Lato"/>
                <a:ea typeface="Lato"/>
                <a:cs typeface="Lato"/>
              </a:rPr>
              <a:t>Access is only the first step</a:t>
            </a:r>
            <a:endParaRPr/>
          </a:p>
        </p:txBody>
      </p:sp>
      <p:sp>
        <p:nvSpPr>
          <p:cNvPr id="329" name="Google Shape;329;p14">
            <a:extLst xmlns:a="http://schemas.openxmlformats.org/drawingml/2006/main">
              <a:ext uri="{FF2B5EF4-FFF2-40B4-BE49-F238E27FC236}">
                <a16:creationId xmlns:a16="http://schemas.microsoft.com/office/drawing/2014/main" id="{471F70E0-87E0-44BA-9E64-8BFAB84105D2}"/>
              </a:ext>
            </a:extLst>
          </p:cNvPr>
          <p:cNvSpPr>
            <a:spLocks xmlns:a="http://schemas.openxmlformats.org/drawingml/2006/main" noGrp="1"/>
          </p:cNvSpPr>
          <p:nvPr/>
        </p:nvSpPr>
        <p:spPr>
          <a:xfrm xmlns:a="http://schemas.openxmlformats.org/drawingml/2006/main">
            <a:off x="781050" y="3143250"/>
            <a:ext cx="87630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D7E5EC"/>
              </a:buClr>
              <a:buSzPts val="1650"/>
              <a:buFont typeface="Lato"/>
              <a:buNone/>
            </a:pPr>
            <a:r>
              <a:rPr sz="1650" b="0" i="0">
                <a:solidFill>
                  <a:srgbClr val="D7E5EC"/>
                </a:solidFill>
                <a:latin typeface="Lato"/>
                <a:ea typeface="Lato"/>
                <a:cs typeface="Lato"/>
              </a:rPr>
              <a:t>After locating the data, users still need to select, subset, harmonize, validate and interpret it.</a:t>
            </a:r>
            <a:endParaRPr/>
          </a:p>
        </p:txBody>
      </p:sp>
      <p:sp>
        <p:nvSpPr>
          <p:cNvPr id="330" name="Google Shape;330;p14">
            <a:extLst xmlns:a="http://schemas.openxmlformats.org/drawingml/2006/main">
              <a:ext uri="{FF2B5EF4-FFF2-40B4-BE49-F238E27FC236}">
                <a16:creationId xmlns:a16="http://schemas.microsoft.com/office/drawing/2014/main" id="{087FD951-89D3-439F-A633-CBDBEC96D5CE}"/>
              </a:ext>
            </a:extLst>
          </p:cNvPr>
          <p:cNvSpPr>
            <a:spLocks xmlns:a="http://schemas.openxmlformats.org/drawingml/2006/main" noGrp="1"/>
          </p:cNvSpPr>
          <p:nvPr/>
        </p:nvSpPr>
        <p:spPr>
          <a:xfrm xmlns:a="http://schemas.openxmlformats.org/drawingml/2006/main">
            <a:off x="781050" y="4953000"/>
            <a:ext cx="400050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RICCARDO · DATA ACCESS AND WORKFLOW</a:t>
            </a:r>
            <a:endParaRPr/>
          </a:p>
        </p:txBody>
      </p:sp>
      <p:sp>
        <p:nvSpPr>
          <p:cNvPr id="331" name="Google Shape;331;p14">
            <a:extLst xmlns:a="http://schemas.openxmlformats.org/drawingml/2006/main">
              <a:ext uri="{FF2B5EF4-FFF2-40B4-BE49-F238E27FC236}">
                <a16:creationId xmlns:a16="http://schemas.microsoft.com/office/drawing/2014/main" id="{A562C2F7-38E7-4614-9228-6E202967CFBE}"/>
              </a:ext>
            </a:extLst>
          </p:cNvPr>
          <p:cNvSpPr>
            <a:spLocks xmlns:a="http://schemas.openxmlformats.org/drawingml/2006/main" noGrp="1"/>
          </p:cNvSpPr>
          <p:nvPr/>
        </p:nvSpPr>
        <p:spPr>
          <a:xfrm xmlns:a="http://schemas.openxmlformats.org/drawingml/2006/main">
            <a:off x="781050" y="5905500"/>
            <a:ext cx="4953000"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32" name="Google Shape;332;p14">
            <a:extLst xmlns:a="http://schemas.openxmlformats.org/drawingml/2006/main">
              <a:ext uri="{FF2B5EF4-FFF2-40B4-BE49-F238E27FC236}">
                <a16:creationId xmlns:a16="http://schemas.microsoft.com/office/drawing/2014/main" id="{B0BEAE70-DE2D-4A7D-9530-95F15BBFDED3}"/>
              </a:ext>
            </a:extLst>
          </p:cNvPr>
          <p:cNvSpPr>
            <a:spLocks xmlns:a="http://schemas.openxmlformats.org/drawingml/2006/main" noGrp="1"/>
          </p:cNvSpPr>
          <p:nvPr/>
        </p:nvSpPr>
        <p:spPr>
          <a:xfrm xmlns:a="http://schemas.openxmlformats.org/drawingml/2006/main">
            <a:off x="11049000" y="6324600"/>
            <a:ext cx="571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12</a:t>
            </a:r>
            <a:endParaRPr/>
          </a:p>
        </p:txBody>
      </p:sp>
    </p:spTree>
    <p:extLst>
      <p:ext uri="{BB962C8B-B14F-4D97-AF65-F5344CB8AC3E}">
        <p14:creationId xmlns:p14="http://schemas.microsoft.com/office/powerpoint/2010/main" val="1026284725"/>
      </p:ext>
    </p:extLst>
  </p:cSld>
</p:sld>
</file>

<file path=ppt/slides/slide1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38" name="Google Shape;338;p15">
            <a:extLst xmlns:a="http://schemas.openxmlformats.org/drawingml/2006/main">
              <a:ext uri="{FF2B5EF4-FFF2-40B4-BE49-F238E27FC236}">
                <a16:creationId xmlns:a16="http://schemas.microsoft.com/office/drawing/2014/main" id="{881BEFA0-6419-41A8-830C-444804B0816B}"/>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A simple question can require a complex dataset</a:t>
            </a:r>
            <a:endParaRPr/>
          </a:p>
        </p:txBody>
      </p:sp>
      <p:sp>
        <p:nvSpPr>
          <p:cNvPr id="339" name="Google Shape;339;p15">
            <a:extLst xmlns:a="http://schemas.openxmlformats.org/drawingml/2006/main">
              <a:ext uri="{FF2B5EF4-FFF2-40B4-BE49-F238E27FC236}">
                <a16:creationId xmlns:a16="http://schemas.microsoft.com/office/drawing/2014/main" id="{A822E0B9-7828-43B5-BAA9-25D12E67524F}"/>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analytical workload grows quickly across dimensions</a:t>
            </a:r>
            <a:endParaRPr/>
          </a:p>
        </p:txBody>
      </p:sp>
      <p:sp>
        <p:nvSpPr>
          <p:cNvPr id="340" name="Google Shape;340;p15">
            <a:extLst xmlns:a="http://schemas.openxmlformats.org/drawingml/2006/main">
              <a:ext uri="{FF2B5EF4-FFF2-40B4-BE49-F238E27FC236}">
                <a16:creationId xmlns:a16="http://schemas.microsoft.com/office/drawing/2014/main" id="{EF32FA97-5975-4A61-8D61-539B9C0F7551}"/>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41" name="Google Shape;341;p15">
            <a:extLst xmlns:a="http://schemas.openxmlformats.org/drawingml/2006/main">
              <a:ext uri="{FF2B5EF4-FFF2-40B4-BE49-F238E27FC236}">
                <a16:creationId xmlns:a16="http://schemas.microsoft.com/office/drawing/2014/main" id="{86CB2F2B-9479-42B2-ADFF-5FA838952758}"/>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42" name="Google Shape;342;p15">
            <a:extLst xmlns:a="http://schemas.openxmlformats.org/drawingml/2006/main">
              <a:ext uri="{FF2B5EF4-FFF2-40B4-BE49-F238E27FC236}">
                <a16:creationId xmlns:a16="http://schemas.microsoft.com/office/drawing/2014/main" id="{F7B3FBB0-89FA-4091-89A3-0C069F658D75}"/>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43" name="Google Shape;343;p15">
            <a:extLst xmlns:a="http://schemas.openxmlformats.org/drawingml/2006/main">
              <a:ext uri="{FF2B5EF4-FFF2-40B4-BE49-F238E27FC236}">
                <a16:creationId xmlns:a16="http://schemas.microsoft.com/office/drawing/2014/main" id="{F300A698-DE6D-4D1D-968B-4EDF6221160D}"/>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344" name="Google Shape;344;p15">
            <a:extLst xmlns:a="http://schemas.openxmlformats.org/drawingml/2006/main">
              <a:ext uri="{FF2B5EF4-FFF2-40B4-BE49-F238E27FC236}">
                <a16:creationId xmlns:a16="http://schemas.microsoft.com/office/drawing/2014/main" id="{1BF5201F-F329-423C-B9A0-85A73D5BD412}"/>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13</a:t>
            </a:r>
            <a:endParaRPr/>
          </a:p>
        </p:txBody>
      </p:sp>
      <p:sp>
        <p:nvSpPr>
          <p:cNvPr id="345" name="Google Shape;345;p15">
            <a:extLst xmlns:a="http://schemas.openxmlformats.org/drawingml/2006/main">
              <a:ext uri="{FF2B5EF4-FFF2-40B4-BE49-F238E27FC236}">
                <a16:creationId xmlns:a16="http://schemas.microsoft.com/office/drawing/2014/main" id="{39F667BB-D667-4577-9A97-6F119C84680D}"/>
              </a:ext>
            </a:extLst>
          </p:cNvPr>
          <p:cNvSpPr>
            <a:spLocks xmlns:a="http://schemas.openxmlformats.org/drawingml/2006/main" noGrp="1"/>
          </p:cNvSpPr>
          <p:nvPr/>
        </p:nvSpPr>
        <p:spPr>
          <a:xfrm xmlns:a="http://schemas.openxmlformats.org/drawingml/2006/main">
            <a:off x="666750" y="1695450"/>
            <a:ext cx="3429000" cy="381000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46" name="Google Shape;346;p15">
            <a:extLst xmlns:a="http://schemas.openxmlformats.org/drawingml/2006/main">
              <a:ext uri="{FF2B5EF4-FFF2-40B4-BE49-F238E27FC236}">
                <a16:creationId xmlns:a16="http://schemas.microsoft.com/office/drawing/2014/main" id="{08A117F5-8194-45A1-9F55-EAC93B6EF1C7}"/>
              </a:ext>
            </a:extLst>
          </p:cNvPr>
          <p:cNvSpPr>
            <a:spLocks xmlns:a="http://schemas.openxmlformats.org/drawingml/2006/main" noGrp="1"/>
          </p:cNvSpPr>
          <p:nvPr/>
        </p:nvSpPr>
        <p:spPr>
          <a:xfrm xmlns:a="http://schemas.openxmlformats.org/drawingml/2006/main">
            <a:off x="971550" y="1924050"/>
            <a:ext cx="1524000" cy="1162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7200"/>
              <a:buFont typeface="Lato"/>
              <a:buNone/>
            </a:pPr>
            <a:r>
              <a:rPr sz="7200" b="1" i="0">
                <a:solidFill>
                  <a:srgbClr val="F2B632"/>
                </a:solidFill>
                <a:latin typeface="Lato"/>
                <a:ea typeface="Lato"/>
                <a:cs typeface="Lato"/>
              </a:rPr>
              <a:t>6</a:t>
            </a:r>
            <a:endParaRPr/>
          </a:p>
        </p:txBody>
      </p:sp>
      <p:sp>
        <p:nvSpPr>
          <p:cNvPr id="347" name="Google Shape;347;p15">
            <a:extLst xmlns:a="http://schemas.openxmlformats.org/drawingml/2006/main">
              <a:ext uri="{FF2B5EF4-FFF2-40B4-BE49-F238E27FC236}">
                <a16:creationId xmlns:a16="http://schemas.microsoft.com/office/drawing/2014/main" id="{80DA1D96-85FB-4F7A-9C75-04098736D51D}"/>
              </a:ext>
            </a:extLst>
          </p:cNvPr>
          <p:cNvSpPr>
            <a:spLocks xmlns:a="http://schemas.openxmlformats.org/drawingml/2006/main" noGrp="1"/>
          </p:cNvSpPr>
          <p:nvPr/>
        </p:nvSpPr>
        <p:spPr>
          <a:xfrm xmlns:a="http://schemas.openxmlformats.org/drawingml/2006/main">
            <a:off x="1028700" y="3028950"/>
            <a:ext cx="238125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400"/>
              <a:buFont typeface="Lato"/>
              <a:buNone/>
            </a:pPr>
            <a:r>
              <a:rPr sz="2400" b="1" i="0">
                <a:solidFill>
                  <a:srgbClr val="FFFFFF"/>
                </a:solidFill>
                <a:latin typeface="Lato"/>
                <a:ea typeface="Lato"/>
                <a:cs typeface="Lato"/>
              </a:rPr>
              <a:t>dimensions</a:t>
            </a:r>
            <a:endParaRPr/>
          </a:p>
        </p:txBody>
      </p:sp>
      <p:sp>
        <p:nvSpPr>
          <p:cNvPr id="348" name="Google Shape;348;p15">
            <a:extLst xmlns:a="http://schemas.openxmlformats.org/drawingml/2006/main">
              <a:ext uri="{FF2B5EF4-FFF2-40B4-BE49-F238E27FC236}">
                <a16:creationId xmlns:a16="http://schemas.microsoft.com/office/drawing/2014/main" id="{2A6BA976-5768-49C0-9F29-D30D2E0A2658}"/>
              </a:ext>
            </a:extLst>
          </p:cNvPr>
          <p:cNvSpPr>
            <a:spLocks xmlns:a="http://schemas.openxmlformats.org/drawingml/2006/main" noGrp="1"/>
          </p:cNvSpPr>
          <p:nvPr/>
        </p:nvSpPr>
        <p:spPr>
          <a:xfrm xmlns:a="http://schemas.openxmlformats.org/drawingml/2006/main">
            <a:off x="1028700" y="3676650"/>
            <a:ext cx="2333625" cy="742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D7E5EC"/>
              </a:buClr>
              <a:buSzPts val="1650"/>
              <a:buFont typeface="Lato"/>
              <a:buNone/>
            </a:pPr>
            <a:r>
              <a:rPr sz="1650" b="0" i="0">
                <a:solidFill>
                  <a:srgbClr val="D7E5EC"/>
                </a:solidFill>
                <a:latin typeface="Lato"/>
                <a:ea typeface="Lato"/>
                <a:cs typeface="Lato"/>
              </a:rPr>
              <a:t>must align before analysis</a:t>
            </a:r>
            <a:endParaRPr/>
          </a:p>
        </p:txBody>
      </p:sp>
      <p:sp>
        <p:nvSpPr>
          <p:cNvPr id="349" name="Google Shape;349;p15">
            <a:extLst xmlns:a="http://schemas.openxmlformats.org/drawingml/2006/main">
              <a:ext uri="{FF2B5EF4-FFF2-40B4-BE49-F238E27FC236}">
                <a16:creationId xmlns:a16="http://schemas.microsoft.com/office/drawing/2014/main" id="{E902246C-C454-4AF8-9543-37E09AEADB78}"/>
              </a:ext>
            </a:extLst>
          </p:cNvPr>
          <p:cNvSpPr>
            <a:spLocks xmlns:a="http://schemas.openxmlformats.org/drawingml/2006/main" noGrp="1"/>
          </p:cNvSpPr>
          <p:nvPr/>
        </p:nvSpPr>
        <p:spPr>
          <a:xfrm xmlns:a="http://schemas.openxmlformats.org/drawingml/2006/main">
            <a:off x="1028700" y="4762500"/>
            <a:ext cx="2047875" cy="2857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50" name="Google Shape;350;p15">
            <a:extLst xmlns:a="http://schemas.openxmlformats.org/drawingml/2006/main">
              <a:ext uri="{FF2B5EF4-FFF2-40B4-BE49-F238E27FC236}">
                <a16:creationId xmlns:a16="http://schemas.microsoft.com/office/drawing/2014/main" id="{42DAB435-135F-496B-9756-73943D705A05}"/>
              </a:ext>
            </a:extLst>
          </p:cNvPr>
          <p:cNvSpPr>
            <a:spLocks xmlns:a="http://schemas.openxmlformats.org/drawingml/2006/main" noGrp="1"/>
          </p:cNvSpPr>
          <p:nvPr/>
        </p:nvSpPr>
        <p:spPr>
          <a:xfrm xmlns:a="http://schemas.openxmlformats.org/drawingml/2006/main">
            <a:off x="1028700" y="4972050"/>
            <a:ext cx="2286000"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Subset, harmonize and combine</a:t>
            </a:r>
            <a:endParaRPr/>
          </a:p>
        </p:txBody>
      </p:sp>
      <p:sp>
        <p:nvSpPr>
          <p:cNvPr id="351" name="Google Shape;351;p15">
            <a:extLst xmlns:a="http://schemas.openxmlformats.org/drawingml/2006/main">
              <a:ext uri="{FF2B5EF4-FFF2-40B4-BE49-F238E27FC236}">
                <a16:creationId xmlns:a16="http://schemas.microsoft.com/office/drawing/2014/main" id="{97BC8921-F2A4-40E4-8E35-F2A1AADB2687}"/>
              </a:ext>
            </a:extLst>
          </p:cNvPr>
          <p:cNvSpPr>
            <a:spLocks xmlns:a="http://schemas.openxmlformats.org/drawingml/2006/main" noGrp="1"/>
          </p:cNvSpPr>
          <p:nvPr/>
        </p:nvSpPr>
        <p:spPr>
          <a:xfrm xmlns:a="http://schemas.openxmlformats.org/drawingml/2006/main">
            <a:off x="4572000" y="178117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01</a:t>
            </a:r>
            <a:endParaRPr/>
          </a:p>
        </p:txBody>
      </p:sp>
      <p:sp>
        <p:nvSpPr>
          <p:cNvPr id="352" name="Google Shape;352;p15">
            <a:extLst xmlns:a="http://schemas.openxmlformats.org/drawingml/2006/main">
              <a:ext uri="{FF2B5EF4-FFF2-40B4-BE49-F238E27FC236}">
                <a16:creationId xmlns:a16="http://schemas.microsoft.com/office/drawing/2014/main" id="{FEA0646D-8094-4357-967B-6E9A2E2E94AB}"/>
              </a:ext>
            </a:extLst>
          </p:cNvPr>
          <p:cNvSpPr>
            <a:spLocks xmlns:a="http://schemas.openxmlformats.org/drawingml/2006/main" noGrp="1"/>
          </p:cNvSpPr>
          <p:nvPr/>
        </p:nvSpPr>
        <p:spPr>
          <a:xfrm xmlns:a="http://schemas.openxmlformats.org/drawingml/2006/main">
            <a:off x="5162550" y="174307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MODELS</a:t>
            </a:r>
            <a:endParaRPr/>
          </a:p>
        </p:txBody>
      </p:sp>
      <p:sp>
        <p:nvSpPr>
          <p:cNvPr id="353" name="Google Shape;353;p15">
            <a:extLst xmlns:a="http://schemas.openxmlformats.org/drawingml/2006/main">
              <a:ext uri="{FF2B5EF4-FFF2-40B4-BE49-F238E27FC236}">
                <a16:creationId xmlns:a16="http://schemas.microsoft.com/office/drawing/2014/main" id="{E56BC6FB-974E-43A5-AA22-5CC8022CD537}"/>
              </a:ext>
            </a:extLst>
          </p:cNvPr>
          <p:cNvSpPr>
            <a:spLocks xmlns:a="http://schemas.openxmlformats.org/drawingml/2006/main" noGrp="1"/>
          </p:cNvSpPr>
          <p:nvPr/>
        </p:nvSpPr>
        <p:spPr>
          <a:xfrm xmlns:a="http://schemas.openxmlformats.org/drawingml/2006/main">
            <a:off x="6953250" y="174307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Several GCM–RCM combinations</a:t>
            </a:r>
            <a:endParaRPr/>
          </a:p>
        </p:txBody>
      </p:sp>
      <p:sp>
        <p:nvSpPr>
          <p:cNvPr id="354" name="Google Shape;354;p15">
            <a:extLst xmlns:a="http://schemas.openxmlformats.org/drawingml/2006/main">
              <a:ext uri="{FF2B5EF4-FFF2-40B4-BE49-F238E27FC236}">
                <a16:creationId xmlns:a16="http://schemas.microsoft.com/office/drawing/2014/main" id="{C83DB26A-16C7-4B9F-8E5B-79E587818B36}"/>
              </a:ext>
            </a:extLst>
          </p:cNvPr>
          <p:cNvSpPr>
            <a:spLocks xmlns:a="http://schemas.openxmlformats.org/drawingml/2006/main" noGrp="1"/>
          </p:cNvSpPr>
          <p:nvPr/>
        </p:nvSpPr>
        <p:spPr>
          <a:xfrm xmlns:a="http://schemas.openxmlformats.org/drawingml/2006/main">
            <a:off x="4572000" y="219075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55" name="Google Shape;355;p15">
            <a:extLst xmlns:a="http://schemas.openxmlformats.org/drawingml/2006/main">
              <a:ext uri="{FF2B5EF4-FFF2-40B4-BE49-F238E27FC236}">
                <a16:creationId xmlns:a16="http://schemas.microsoft.com/office/drawing/2014/main" id="{FFAED48B-86DA-4C32-B738-C5ACC0055D3A}"/>
              </a:ext>
            </a:extLst>
          </p:cNvPr>
          <p:cNvSpPr>
            <a:spLocks xmlns:a="http://schemas.openxmlformats.org/drawingml/2006/main" noGrp="1"/>
          </p:cNvSpPr>
          <p:nvPr/>
        </p:nvSpPr>
        <p:spPr>
          <a:xfrm xmlns:a="http://schemas.openxmlformats.org/drawingml/2006/main">
            <a:off x="4572000" y="240030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02</a:t>
            </a:r>
            <a:endParaRPr/>
          </a:p>
        </p:txBody>
      </p:sp>
      <p:sp>
        <p:nvSpPr>
          <p:cNvPr id="356" name="Google Shape;356;p15">
            <a:extLst xmlns:a="http://schemas.openxmlformats.org/drawingml/2006/main">
              <a:ext uri="{FF2B5EF4-FFF2-40B4-BE49-F238E27FC236}">
                <a16:creationId xmlns:a16="http://schemas.microsoft.com/office/drawing/2014/main" id="{F69A944D-3FC3-4BA2-AD92-0DC6B5A7A9FB}"/>
              </a:ext>
            </a:extLst>
          </p:cNvPr>
          <p:cNvSpPr>
            <a:spLocks xmlns:a="http://schemas.openxmlformats.org/drawingml/2006/main" noGrp="1"/>
          </p:cNvSpPr>
          <p:nvPr/>
        </p:nvSpPr>
        <p:spPr>
          <a:xfrm xmlns:a="http://schemas.openxmlformats.org/drawingml/2006/main">
            <a:off x="5162550" y="236220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SCENARIOS</a:t>
            </a:r>
            <a:endParaRPr/>
          </a:p>
        </p:txBody>
      </p:sp>
      <p:sp>
        <p:nvSpPr>
          <p:cNvPr id="357" name="Google Shape;357;p15">
            <a:extLst xmlns:a="http://schemas.openxmlformats.org/drawingml/2006/main">
              <a:ext uri="{FF2B5EF4-FFF2-40B4-BE49-F238E27FC236}">
                <a16:creationId xmlns:a16="http://schemas.microsoft.com/office/drawing/2014/main" id="{89EA86CB-9FE5-4F97-B59C-5B3613FDC3D1}"/>
              </a:ext>
            </a:extLst>
          </p:cNvPr>
          <p:cNvSpPr>
            <a:spLocks xmlns:a="http://schemas.openxmlformats.org/drawingml/2006/main" noGrp="1"/>
          </p:cNvSpPr>
          <p:nvPr/>
        </p:nvSpPr>
        <p:spPr>
          <a:xfrm xmlns:a="http://schemas.openxmlformats.org/drawingml/2006/main">
            <a:off x="6953250" y="236220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Alternative future pathways</a:t>
            </a:r>
            <a:endParaRPr/>
          </a:p>
        </p:txBody>
      </p:sp>
      <p:sp>
        <p:nvSpPr>
          <p:cNvPr id="358" name="Google Shape;358;p15">
            <a:extLst xmlns:a="http://schemas.openxmlformats.org/drawingml/2006/main">
              <a:ext uri="{FF2B5EF4-FFF2-40B4-BE49-F238E27FC236}">
                <a16:creationId xmlns:a16="http://schemas.microsoft.com/office/drawing/2014/main" id="{634EF448-B900-41B1-8821-F1E1AA1760D3}"/>
              </a:ext>
            </a:extLst>
          </p:cNvPr>
          <p:cNvSpPr>
            <a:spLocks xmlns:a="http://schemas.openxmlformats.org/drawingml/2006/main" noGrp="1"/>
          </p:cNvSpPr>
          <p:nvPr/>
        </p:nvSpPr>
        <p:spPr>
          <a:xfrm xmlns:a="http://schemas.openxmlformats.org/drawingml/2006/main">
            <a:off x="4572000" y="2809875"/>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59" name="Google Shape;359;p15">
            <a:extLst xmlns:a="http://schemas.openxmlformats.org/drawingml/2006/main">
              <a:ext uri="{FF2B5EF4-FFF2-40B4-BE49-F238E27FC236}">
                <a16:creationId xmlns:a16="http://schemas.microsoft.com/office/drawing/2014/main" id="{28991A4E-BD06-4DBA-B1EE-5BF9C36C0A66}"/>
              </a:ext>
            </a:extLst>
          </p:cNvPr>
          <p:cNvSpPr>
            <a:spLocks xmlns:a="http://schemas.openxmlformats.org/drawingml/2006/main" noGrp="1"/>
          </p:cNvSpPr>
          <p:nvPr/>
        </p:nvSpPr>
        <p:spPr>
          <a:xfrm xmlns:a="http://schemas.openxmlformats.org/drawingml/2006/main">
            <a:off x="4572000" y="301942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03</a:t>
            </a:r>
            <a:endParaRPr/>
          </a:p>
        </p:txBody>
      </p:sp>
      <p:sp>
        <p:nvSpPr>
          <p:cNvPr id="360" name="Google Shape;360;p15">
            <a:extLst xmlns:a="http://schemas.openxmlformats.org/drawingml/2006/main">
              <a:ext uri="{FF2B5EF4-FFF2-40B4-BE49-F238E27FC236}">
                <a16:creationId xmlns:a16="http://schemas.microsoft.com/office/drawing/2014/main" id="{E84661F8-FF3F-4C84-AAD6-0DB20B9AD595}"/>
              </a:ext>
            </a:extLst>
          </p:cNvPr>
          <p:cNvSpPr>
            <a:spLocks xmlns:a="http://schemas.openxmlformats.org/drawingml/2006/main" noGrp="1"/>
          </p:cNvSpPr>
          <p:nvPr/>
        </p:nvSpPr>
        <p:spPr>
          <a:xfrm xmlns:a="http://schemas.openxmlformats.org/drawingml/2006/main">
            <a:off x="5162550" y="298132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VARIABLES</a:t>
            </a:r>
            <a:endParaRPr/>
          </a:p>
        </p:txBody>
      </p:sp>
      <p:sp>
        <p:nvSpPr>
          <p:cNvPr id="361" name="Google Shape;361;p15">
            <a:extLst xmlns:a="http://schemas.openxmlformats.org/drawingml/2006/main">
              <a:ext uri="{FF2B5EF4-FFF2-40B4-BE49-F238E27FC236}">
                <a16:creationId xmlns:a16="http://schemas.microsoft.com/office/drawing/2014/main" id="{787E3D0A-0112-45A3-8B78-F283FE62ADFA}"/>
              </a:ext>
            </a:extLst>
          </p:cNvPr>
          <p:cNvSpPr>
            <a:spLocks xmlns:a="http://schemas.openxmlformats.org/drawingml/2006/main" noGrp="1"/>
          </p:cNvSpPr>
          <p:nvPr/>
        </p:nvSpPr>
        <p:spPr>
          <a:xfrm xmlns:a="http://schemas.openxmlformats.org/drawingml/2006/main">
            <a:off x="6953250" y="298132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Temperature, precipitation and more</a:t>
            </a:r>
            <a:endParaRPr/>
          </a:p>
        </p:txBody>
      </p:sp>
      <p:sp>
        <p:nvSpPr>
          <p:cNvPr id="362" name="Google Shape;362;p15">
            <a:extLst xmlns:a="http://schemas.openxmlformats.org/drawingml/2006/main">
              <a:ext uri="{FF2B5EF4-FFF2-40B4-BE49-F238E27FC236}">
                <a16:creationId xmlns:a16="http://schemas.microsoft.com/office/drawing/2014/main" id="{F9B29A0E-8633-4765-A5A6-51ECFB8C83A7}"/>
              </a:ext>
            </a:extLst>
          </p:cNvPr>
          <p:cNvSpPr>
            <a:spLocks xmlns:a="http://schemas.openxmlformats.org/drawingml/2006/main" noGrp="1"/>
          </p:cNvSpPr>
          <p:nvPr/>
        </p:nvSpPr>
        <p:spPr>
          <a:xfrm xmlns:a="http://schemas.openxmlformats.org/drawingml/2006/main">
            <a:off x="4572000" y="342900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3" name="Google Shape;363;p15">
            <a:extLst xmlns:a="http://schemas.openxmlformats.org/drawingml/2006/main">
              <a:ext uri="{FF2B5EF4-FFF2-40B4-BE49-F238E27FC236}">
                <a16:creationId xmlns:a16="http://schemas.microsoft.com/office/drawing/2014/main" id="{20BB4180-92EC-4BCA-BA44-A118E717F6DE}"/>
              </a:ext>
            </a:extLst>
          </p:cNvPr>
          <p:cNvSpPr>
            <a:spLocks xmlns:a="http://schemas.openxmlformats.org/drawingml/2006/main" noGrp="1"/>
          </p:cNvSpPr>
          <p:nvPr/>
        </p:nvSpPr>
        <p:spPr>
          <a:xfrm xmlns:a="http://schemas.openxmlformats.org/drawingml/2006/main">
            <a:off x="4572000" y="363855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04</a:t>
            </a:r>
            <a:endParaRPr/>
          </a:p>
        </p:txBody>
      </p:sp>
      <p:sp>
        <p:nvSpPr>
          <p:cNvPr id="364" name="Google Shape;364;p15">
            <a:extLst xmlns:a="http://schemas.openxmlformats.org/drawingml/2006/main">
              <a:ext uri="{FF2B5EF4-FFF2-40B4-BE49-F238E27FC236}">
                <a16:creationId xmlns:a16="http://schemas.microsoft.com/office/drawing/2014/main" id="{4876C352-CAC7-4BD1-8863-F8AEFC6592C7}"/>
              </a:ext>
            </a:extLst>
          </p:cNvPr>
          <p:cNvSpPr>
            <a:spLocks xmlns:a="http://schemas.openxmlformats.org/drawingml/2006/main" noGrp="1"/>
          </p:cNvSpPr>
          <p:nvPr/>
        </p:nvSpPr>
        <p:spPr>
          <a:xfrm xmlns:a="http://schemas.openxmlformats.org/drawingml/2006/main">
            <a:off x="5162550" y="36004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TIME</a:t>
            </a:r>
            <a:endParaRPr/>
          </a:p>
        </p:txBody>
      </p:sp>
      <p:sp>
        <p:nvSpPr>
          <p:cNvPr id="365" name="Google Shape;365;p15">
            <a:extLst xmlns:a="http://schemas.openxmlformats.org/drawingml/2006/main">
              <a:ext uri="{FF2B5EF4-FFF2-40B4-BE49-F238E27FC236}">
                <a16:creationId xmlns:a16="http://schemas.microsoft.com/office/drawing/2014/main" id="{F4D85E3F-D098-4696-99A2-56C6A257F10B}"/>
              </a:ext>
            </a:extLst>
          </p:cNvPr>
          <p:cNvSpPr>
            <a:spLocks xmlns:a="http://schemas.openxmlformats.org/drawingml/2006/main" noGrp="1"/>
          </p:cNvSpPr>
          <p:nvPr/>
        </p:nvSpPr>
        <p:spPr>
          <a:xfrm xmlns:a="http://schemas.openxmlformats.org/drawingml/2006/main">
            <a:off x="6953250" y="360045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Historical and future periods</a:t>
            </a:r>
            <a:endParaRPr/>
          </a:p>
        </p:txBody>
      </p:sp>
      <p:sp>
        <p:nvSpPr>
          <p:cNvPr id="366" name="Google Shape;366;p15">
            <a:extLst xmlns:a="http://schemas.openxmlformats.org/drawingml/2006/main">
              <a:ext uri="{FF2B5EF4-FFF2-40B4-BE49-F238E27FC236}">
                <a16:creationId xmlns:a16="http://schemas.microsoft.com/office/drawing/2014/main" id="{526980E8-130E-48C4-955E-07C07CED95CE}"/>
              </a:ext>
            </a:extLst>
          </p:cNvPr>
          <p:cNvSpPr>
            <a:spLocks xmlns:a="http://schemas.openxmlformats.org/drawingml/2006/main" noGrp="1"/>
          </p:cNvSpPr>
          <p:nvPr/>
        </p:nvSpPr>
        <p:spPr>
          <a:xfrm xmlns:a="http://schemas.openxmlformats.org/drawingml/2006/main">
            <a:off x="4572000" y="4048125"/>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67" name="Google Shape;367;p15">
            <a:extLst xmlns:a="http://schemas.openxmlformats.org/drawingml/2006/main">
              <a:ext uri="{FF2B5EF4-FFF2-40B4-BE49-F238E27FC236}">
                <a16:creationId xmlns:a16="http://schemas.microsoft.com/office/drawing/2014/main" id="{07547F2D-A378-4030-B361-CC97F5D9F153}"/>
              </a:ext>
            </a:extLst>
          </p:cNvPr>
          <p:cNvSpPr>
            <a:spLocks xmlns:a="http://schemas.openxmlformats.org/drawingml/2006/main" noGrp="1"/>
          </p:cNvSpPr>
          <p:nvPr/>
        </p:nvSpPr>
        <p:spPr>
          <a:xfrm xmlns:a="http://schemas.openxmlformats.org/drawingml/2006/main">
            <a:off x="4572000" y="4257675"/>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05</a:t>
            </a:r>
            <a:endParaRPr/>
          </a:p>
        </p:txBody>
      </p:sp>
      <p:sp>
        <p:nvSpPr>
          <p:cNvPr id="368" name="Google Shape;368;p15">
            <a:extLst xmlns:a="http://schemas.openxmlformats.org/drawingml/2006/main">
              <a:ext uri="{FF2B5EF4-FFF2-40B4-BE49-F238E27FC236}">
                <a16:creationId xmlns:a16="http://schemas.microsoft.com/office/drawing/2014/main" id="{FCFE3A14-2BBA-4BBB-8E8A-118BCC109A07}"/>
              </a:ext>
            </a:extLst>
          </p:cNvPr>
          <p:cNvSpPr>
            <a:spLocks xmlns:a="http://schemas.openxmlformats.org/drawingml/2006/main" noGrp="1"/>
          </p:cNvSpPr>
          <p:nvPr/>
        </p:nvSpPr>
        <p:spPr>
          <a:xfrm xmlns:a="http://schemas.openxmlformats.org/drawingml/2006/main">
            <a:off x="5162550" y="4219575"/>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SPACE</a:t>
            </a:r>
            <a:endParaRPr/>
          </a:p>
        </p:txBody>
      </p:sp>
      <p:sp>
        <p:nvSpPr>
          <p:cNvPr id="369" name="Google Shape;369;p15">
            <a:extLst xmlns:a="http://schemas.openxmlformats.org/drawingml/2006/main">
              <a:ext uri="{FF2B5EF4-FFF2-40B4-BE49-F238E27FC236}">
                <a16:creationId xmlns:a16="http://schemas.microsoft.com/office/drawing/2014/main" id="{A253B681-1D65-443F-93FF-596755A8D44C}"/>
              </a:ext>
            </a:extLst>
          </p:cNvPr>
          <p:cNvSpPr>
            <a:spLocks xmlns:a="http://schemas.openxmlformats.org/drawingml/2006/main" noGrp="1"/>
          </p:cNvSpPr>
          <p:nvPr/>
        </p:nvSpPr>
        <p:spPr>
          <a:xfrm xmlns:a="http://schemas.openxmlformats.org/drawingml/2006/main">
            <a:off x="6953250" y="4219575"/>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Domains, grids and project boundaries</a:t>
            </a:r>
            <a:endParaRPr/>
          </a:p>
        </p:txBody>
      </p:sp>
      <p:sp>
        <p:nvSpPr>
          <p:cNvPr id="370" name="Google Shape;370;p15">
            <a:extLst xmlns:a="http://schemas.openxmlformats.org/drawingml/2006/main">
              <a:ext uri="{FF2B5EF4-FFF2-40B4-BE49-F238E27FC236}">
                <a16:creationId xmlns:a16="http://schemas.microsoft.com/office/drawing/2014/main" id="{3A9AC02A-2FD8-41AE-825A-E09E8AE488DB}"/>
              </a:ext>
            </a:extLst>
          </p:cNvPr>
          <p:cNvSpPr>
            <a:spLocks xmlns:a="http://schemas.openxmlformats.org/drawingml/2006/main" noGrp="1"/>
          </p:cNvSpPr>
          <p:nvPr/>
        </p:nvSpPr>
        <p:spPr>
          <a:xfrm xmlns:a="http://schemas.openxmlformats.org/drawingml/2006/main">
            <a:off x="4572000" y="4667250"/>
            <a:ext cx="6667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71" name="Google Shape;371;p15">
            <a:extLst xmlns:a="http://schemas.openxmlformats.org/drawingml/2006/main">
              <a:ext uri="{FF2B5EF4-FFF2-40B4-BE49-F238E27FC236}">
                <a16:creationId xmlns:a16="http://schemas.microsoft.com/office/drawing/2014/main" id="{FFA96735-99DC-4AF9-AB59-0A0CEF5EEB78}"/>
              </a:ext>
            </a:extLst>
          </p:cNvPr>
          <p:cNvSpPr>
            <a:spLocks xmlns:a="http://schemas.openxmlformats.org/drawingml/2006/main" noGrp="1"/>
          </p:cNvSpPr>
          <p:nvPr/>
        </p:nvSpPr>
        <p:spPr>
          <a:xfrm xmlns:a="http://schemas.openxmlformats.org/drawingml/2006/main">
            <a:off x="4572000" y="4876800"/>
            <a:ext cx="4381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06</a:t>
            </a:r>
            <a:endParaRPr/>
          </a:p>
        </p:txBody>
      </p:sp>
      <p:sp>
        <p:nvSpPr>
          <p:cNvPr id="372" name="Google Shape;372;p15">
            <a:extLst xmlns:a="http://schemas.openxmlformats.org/drawingml/2006/main">
              <a:ext uri="{FF2B5EF4-FFF2-40B4-BE49-F238E27FC236}">
                <a16:creationId xmlns:a16="http://schemas.microsoft.com/office/drawing/2014/main" id="{0A60DE08-EA6C-4F3C-B895-B5D05DCE8560}"/>
              </a:ext>
            </a:extLst>
          </p:cNvPr>
          <p:cNvSpPr>
            <a:spLocks xmlns:a="http://schemas.openxmlformats.org/drawingml/2006/main" noGrp="1"/>
          </p:cNvSpPr>
          <p:nvPr/>
        </p:nvSpPr>
        <p:spPr>
          <a:xfrm xmlns:a="http://schemas.openxmlformats.org/drawingml/2006/main">
            <a:off x="5162550" y="483870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FORMATS</a:t>
            </a:r>
            <a:endParaRPr/>
          </a:p>
        </p:txBody>
      </p:sp>
      <p:sp>
        <p:nvSpPr>
          <p:cNvPr id="373" name="Google Shape;373;p15">
            <a:extLst xmlns:a="http://schemas.openxmlformats.org/drawingml/2006/main">
              <a:ext uri="{FF2B5EF4-FFF2-40B4-BE49-F238E27FC236}">
                <a16:creationId xmlns:a16="http://schemas.microsoft.com/office/drawing/2014/main" id="{1CC4B185-145F-454A-8D63-9D5C186B9BAC}"/>
              </a:ext>
            </a:extLst>
          </p:cNvPr>
          <p:cNvSpPr>
            <a:spLocks xmlns:a="http://schemas.openxmlformats.org/drawingml/2006/main" noGrp="1"/>
          </p:cNvSpPr>
          <p:nvPr/>
        </p:nvSpPr>
        <p:spPr>
          <a:xfrm xmlns:a="http://schemas.openxmlformats.org/drawingml/2006/main">
            <a:off x="6953250" y="4838700"/>
            <a:ext cx="4286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Units, calendars and file conventions</a:t>
            </a:r>
            <a:endParaRPr/>
          </a:p>
        </p:txBody>
      </p:sp>
    </p:spTree>
    <p:extLst>
      <p:ext uri="{BB962C8B-B14F-4D97-AF65-F5344CB8AC3E}">
        <p14:creationId xmlns:p14="http://schemas.microsoft.com/office/powerpoint/2010/main" val="1884128170"/>
      </p:ext>
    </p:extLst>
  </p:cSld>
</p:sld>
</file>

<file path=ppt/slides/slide1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79" name="Google Shape;379;p16">
            <a:extLst xmlns:a="http://schemas.openxmlformats.org/drawingml/2006/main">
              <a:ext uri="{FF2B5EF4-FFF2-40B4-BE49-F238E27FC236}">
                <a16:creationId xmlns:a16="http://schemas.microsoft.com/office/drawing/2014/main" id="{488F89B0-7D36-4991-B568-0DBB9EA520DE}"/>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Historical references and model bias</a:t>
            </a:r>
            <a:endParaRPr/>
          </a:p>
        </p:txBody>
      </p:sp>
      <p:sp>
        <p:nvSpPr>
          <p:cNvPr id="380" name="Google Shape;380;p16">
            <a:extLst xmlns:a="http://schemas.openxmlformats.org/drawingml/2006/main">
              <a:ext uri="{FF2B5EF4-FFF2-40B4-BE49-F238E27FC236}">
                <a16:creationId xmlns:a16="http://schemas.microsoft.com/office/drawing/2014/main" id="{DF11AF43-853D-415A-9F11-742874D93F38}"/>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Models can reproduce the broad climate while differing systematically from observations or reanalysis</a:t>
            </a:r>
            <a:endParaRPr/>
          </a:p>
        </p:txBody>
      </p:sp>
      <p:sp>
        <p:nvSpPr>
          <p:cNvPr id="381" name="Google Shape;381;p16">
            <a:extLst xmlns:a="http://schemas.openxmlformats.org/drawingml/2006/main">
              <a:ext uri="{FF2B5EF4-FFF2-40B4-BE49-F238E27FC236}">
                <a16:creationId xmlns:a16="http://schemas.microsoft.com/office/drawing/2014/main" id="{14E9B525-918B-4D8F-97A0-BDBE02D5F31F}"/>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2" name="Google Shape;382;p16">
            <a:extLst xmlns:a="http://schemas.openxmlformats.org/drawingml/2006/main">
              <a:ext uri="{FF2B5EF4-FFF2-40B4-BE49-F238E27FC236}">
                <a16:creationId xmlns:a16="http://schemas.microsoft.com/office/drawing/2014/main" id="{C1BB1B0F-C4F3-40BF-ABAA-1EC680526112}"/>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3" name="Google Shape;383;p16">
            <a:extLst xmlns:a="http://schemas.openxmlformats.org/drawingml/2006/main">
              <a:ext uri="{FF2B5EF4-FFF2-40B4-BE49-F238E27FC236}">
                <a16:creationId xmlns:a16="http://schemas.microsoft.com/office/drawing/2014/main" id="{EC9AD4A6-C58A-4CA9-92E3-EFDD72FC247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4" name="Google Shape;384;p16">
            <a:extLst xmlns:a="http://schemas.openxmlformats.org/drawingml/2006/main">
              <a:ext uri="{FF2B5EF4-FFF2-40B4-BE49-F238E27FC236}">
                <a16:creationId xmlns:a16="http://schemas.microsoft.com/office/drawing/2014/main" id="{5177FA99-05AE-41CD-8500-2CC469CA817A}"/>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385" name="Google Shape;385;p16">
            <a:extLst xmlns:a="http://schemas.openxmlformats.org/drawingml/2006/main">
              <a:ext uri="{FF2B5EF4-FFF2-40B4-BE49-F238E27FC236}">
                <a16:creationId xmlns:a16="http://schemas.microsoft.com/office/drawing/2014/main" id="{F2CD3A7E-CB4D-470C-8501-AD4BBB5AC850}"/>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14</a:t>
            </a:r>
            <a:endParaRPr/>
          </a:p>
        </p:txBody>
      </p:sp>
      <p:sp>
        <p:nvSpPr>
          <p:cNvPr id="386" name="Google Shape;386;p16">
            <a:extLst xmlns:a="http://schemas.openxmlformats.org/drawingml/2006/main">
              <a:ext uri="{FF2B5EF4-FFF2-40B4-BE49-F238E27FC236}">
                <a16:creationId xmlns:a16="http://schemas.microsoft.com/office/drawing/2014/main" id="{57C199E1-075F-4840-8045-BFFB68407A33}"/>
              </a:ext>
            </a:extLst>
          </p:cNvPr>
          <p:cNvSpPr>
            <a:spLocks xmlns:a="http://schemas.openxmlformats.org/drawingml/2006/main" noGrp="1"/>
          </p:cNvSpPr>
          <p:nvPr/>
        </p:nvSpPr>
        <p:spPr>
          <a:xfrm xmlns:a="http://schemas.openxmlformats.org/drawingml/2006/main">
            <a:off x="952500" y="1905000"/>
            <a:ext cx="4762500" cy="2857500"/>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7" name="Google Shape;387;p16">
            <a:extLst xmlns:a="http://schemas.openxmlformats.org/drawingml/2006/main">
              <a:ext uri="{FF2B5EF4-FFF2-40B4-BE49-F238E27FC236}">
                <a16:creationId xmlns:a16="http://schemas.microsoft.com/office/drawing/2014/main" id="{641EDBB6-71F2-4C2D-8B9D-413B88804562}"/>
              </a:ext>
            </a:extLst>
          </p:cNvPr>
          <p:cNvSpPr>
            <a:spLocks xmlns:a="http://schemas.openxmlformats.org/drawingml/2006/main" noGrp="1"/>
          </p:cNvSpPr>
          <p:nvPr/>
        </p:nvSpPr>
        <p:spPr>
          <a:xfrm xmlns:a="http://schemas.openxmlformats.org/drawingml/2006/main">
            <a:off x="1219200" y="2095500"/>
            <a:ext cx="422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Illustrative historical distribution</a:t>
            </a:r>
            <a:endParaRPr/>
          </a:p>
        </p:txBody>
      </p:sp>
      <p:sp>
        <p:nvSpPr>
          <p:cNvPr id="388" name="Google Shape;388;p16">
            <a:extLst xmlns:a="http://schemas.openxmlformats.org/drawingml/2006/main">
              <a:ext uri="{FF2B5EF4-FFF2-40B4-BE49-F238E27FC236}">
                <a16:creationId xmlns:a16="http://schemas.microsoft.com/office/drawing/2014/main" id="{E31E36D5-3D69-47E8-B359-22614F585B1F}"/>
              </a:ext>
            </a:extLst>
          </p:cNvPr>
          <p:cNvSpPr>
            <a:spLocks xmlns:a="http://schemas.openxmlformats.org/drawingml/2006/main" noGrp="1"/>
          </p:cNvSpPr>
          <p:nvPr/>
        </p:nvSpPr>
        <p:spPr>
          <a:xfrm xmlns:a="http://schemas.openxmlformats.org/drawingml/2006/main">
            <a:off x="1381125" y="4238625"/>
            <a:ext cx="3762375" cy="190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89" name="Google Shape;389;p16">
            <a:extLst xmlns:a="http://schemas.openxmlformats.org/drawingml/2006/main">
              <a:ext uri="{FF2B5EF4-FFF2-40B4-BE49-F238E27FC236}">
                <a16:creationId xmlns:a16="http://schemas.microsoft.com/office/drawing/2014/main" id="{3FB14558-8F7A-4831-B66A-0924CE398C80}"/>
              </a:ext>
            </a:extLst>
          </p:cNvPr>
          <p:cNvSpPr>
            <a:spLocks xmlns:a="http://schemas.openxmlformats.org/drawingml/2006/main" noGrp="1"/>
          </p:cNvSpPr>
          <p:nvPr/>
        </p:nvSpPr>
        <p:spPr>
          <a:xfrm xmlns:a="http://schemas.openxmlformats.org/drawingml/2006/main">
            <a:off x="1381125" y="2667000"/>
            <a:ext cx="19050" cy="1571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0" name="Google Shape;390;p16">
            <a:extLst xmlns:a="http://schemas.openxmlformats.org/drawingml/2006/main">
              <a:ext uri="{FF2B5EF4-FFF2-40B4-BE49-F238E27FC236}">
                <a16:creationId xmlns:a16="http://schemas.microsoft.com/office/drawing/2014/main" id="{DE3748A0-C700-4DF8-AF28-505EFA267319}"/>
              </a:ext>
            </a:extLst>
          </p:cNvPr>
          <p:cNvSpPr>
            <a:spLocks xmlns:a="http://schemas.openxmlformats.org/drawingml/2006/main" noGrp="1"/>
          </p:cNvSpPr>
          <p:nvPr/>
        </p:nvSpPr>
        <p:spPr>
          <a:xfrm xmlns:a="http://schemas.openxmlformats.org/drawingml/2006/main">
            <a:off x="1666875" y="4048125"/>
            <a:ext cx="114300" cy="1905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1" name="Google Shape;391;p16">
            <a:extLst xmlns:a="http://schemas.openxmlformats.org/drawingml/2006/main">
              <a:ext uri="{FF2B5EF4-FFF2-40B4-BE49-F238E27FC236}">
                <a16:creationId xmlns:a16="http://schemas.microsoft.com/office/drawing/2014/main" id="{935DFEF9-A849-4F98-905F-52796034B73A}"/>
              </a:ext>
            </a:extLst>
          </p:cNvPr>
          <p:cNvSpPr>
            <a:spLocks xmlns:a="http://schemas.openxmlformats.org/drawingml/2006/main" noGrp="1"/>
          </p:cNvSpPr>
          <p:nvPr/>
        </p:nvSpPr>
        <p:spPr>
          <a:xfrm xmlns:a="http://schemas.openxmlformats.org/drawingml/2006/main">
            <a:off x="1809750" y="4162425"/>
            <a:ext cx="114300" cy="762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2" name="Google Shape;392;p16">
            <a:extLst xmlns:a="http://schemas.openxmlformats.org/drawingml/2006/main">
              <a:ext uri="{FF2B5EF4-FFF2-40B4-BE49-F238E27FC236}">
                <a16:creationId xmlns:a16="http://schemas.microsoft.com/office/drawing/2014/main" id="{79A5685D-AB69-4330-9060-A7BEC0D74E21}"/>
              </a:ext>
            </a:extLst>
          </p:cNvPr>
          <p:cNvSpPr>
            <a:spLocks xmlns:a="http://schemas.openxmlformats.org/drawingml/2006/main" noGrp="1"/>
          </p:cNvSpPr>
          <p:nvPr/>
        </p:nvSpPr>
        <p:spPr>
          <a:xfrm xmlns:a="http://schemas.openxmlformats.org/drawingml/2006/main">
            <a:off x="2009775" y="3876675"/>
            <a:ext cx="114300" cy="3619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3" name="Google Shape;393;p16">
            <a:extLst xmlns:a="http://schemas.openxmlformats.org/drawingml/2006/main">
              <a:ext uri="{FF2B5EF4-FFF2-40B4-BE49-F238E27FC236}">
                <a16:creationId xmlns:a16="http://schemas.microsoft.com/office/drawing/2014/main" id="{455B824E-776A-4DC8-98CC-15C583524494}"/>
              </a:ext>
            </a:extLst>
          </p:cNvPr>
          <p:cNvSpPr>
            <a:spLocks xmlns:a="http://schemas.openxmlformats.org/drawingml/2006/main" noGrp="1"/>
          </p:cNvSpPr>
          <p:nvPr/>
        </p:nvSpPr>
        <p:spPr>
          <a:xfrm xmlns:a="http://schemas.openxmlformats.org/drawingml/2006/main">
            <a:off x="2152650" y="4057650"/>
            <a:ext cx="114300" cy="1809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4" name="Google Shape;394;p16">
            <a:extLst xmlns:a="http://schemas.openxmlformats.org/drawingml/2006/main">
              <a:ext uri="{FF2B5EF4-FFF2-40B4-BE49-F238E27FC236}">
                <a16:creationId xmlns:a16="http://schemas.microsoft.com/office/drawing/2014/main" id="{E8CCD975-B7DA-474D-8D2D-B61EF48C9B54}"/>
              </a:ext>
            </a:extLst>
          </p:cNvPr>
          <p:cNvSpPr>
            <a:spLocks xmlns:a="http://schemas.openxmlformats.org/drawingml/2006/main" noGrp="1"/>
          </p:cNvSpPr>
          <p:nvPr/>
        </p:nvSpPr>
        <p:spPr>
          <a:xfrm xmlns:a="http://schemas.openxmlformats.org/drawingml/2006/main">
            <a:off x="2352675" y="3609975"/>
            <a:ext cx="114300" cy="6286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5" name="Google Shape;395;p16">
            <a:extLst xmlns:a="http://schemas.openxmlformats.org/drawingml/2006/main">
              <a:ext uri="{FF2B5EF4-FFF2-40B4-BE49-F238E27FC236}">
                <a16:creationId xmlns:a16="http://schemas.microsoft.com/office/drawing/2014/main" id="{685B8781-9DEC-43CB-820F-FF51F1D5F6DB}"/>
              </a:ext>
            </a:extLst>
          </p:cNvPr>
          <p:cNvSpPr>
            <a:spLocks xmlns:a="http://schemas.openxmlformats.org/drawingml/2006/main" noGrp="1"/>
          </p:cNvSpPr>
          <p:nvPr/>
        </p:nvSpPr>
        <p:spPr>
          <a:xfrm xmlns:a="http://schemas.openxmlformats.org/drawingml/2006/main">
            <a:off x="2495550" y="3876675"/>
            <a:ext cx="114300" cy="361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6" name="Google Shape;396;p16">
            <a:extLst xmlns:a="http://schemas.openxmlformats.org/drawingml/2006/main">
              <a:ext uri="{FF2B5EF4-FFF2-40B4-BE49-F238E27FC236}">
                <a16:creationId xmlns:a16="http://schemas.microsoft.com/office/drawing/2014/main" id="{68F7E7C1-2B92-4ABB-848C-E1C93B05FF5F}"/>
              </a:ext>
            </a:extLst>
          </p:cNvPr>
          <p:cNvSpPr>
            <a:spLocks xmlns:a="http://schemas.openxmlformats.org/drawingml/2006/main" noGrp="1"/>
          </p:cNvSpPr>
          <p:nvPr/>
        </p:nvSpPr>
        <p:spPr>
          <a:xfrm xmlns:a="http://schemas.openxmlformats.org/drawingml/2006/main">
            <a:off x="2695575" y="3238500"/>
            <a:ext cx="114300" cy="10001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7" name="Google Shape;397;p16">
            <a:extLst xmlns:a="http://schemas.openxmlformats.org/drawingml/2006/main">
              <a:ext uri="{FF2B5EF4-FFF2-40B4-BE49-F238E27FC236}">
                <a16:creationId xmlns:a16="http://schemas.microsoft.com/office/drawing/2014/main" id="{26069C7A-CA46-4446-8570-E9A1267C6D34}"/>
              </a:ext>
            </a:extLst>
          </p:cNvPr>
          <p:cNvSpPr>
            <a:spLocks xmlns:a="http://schemas.openxmlformats.org/drawingml/2006/main" noGrp="1"/>
          </p:cNvSpPr>
          <p:nvPr/>
        </p:nvSpPr>
        <p:spPr>
          <a:xfrm xmlns:a="http://schemas.openxmlformats.org/drawingml/2006/main">
            <a:off x="2838450" y="3571875"/>
            <a:ext cx="114300" cy="6667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8" name="Google Shape;398;p16">
            <a:extLst xmlns:a="http://schemas.openxmlformats.org/drawingml/2006/main">
              <a:ext uri="{FF2B5EF4-FFF2-40B4-BE49-F238E27FC236}">
                <a16:creationId xmlns:a16="http://schemas.microsoft.com/office/drawing/2014/main" id="{641A4DAD-6246-429C-9ABC-5E958C37E6FE}"/>
              </a:ext>
            </a:extLst>
          </p:cNvPr>
          <p:cNvSpPr>
            <a:spLocks xmlns:a="http://schemas.openxmlformats.org/drawingml/2006/main" noGrp="1"/>
          </p:cNvSpPr>
          <p:nvPr/>
        </p:nvSpPr>
        <p:spPr>
          <a:xfrm xmlns:a="http://schemas.openxmlformats.org/drawingml/2006/main">
            <a:off x="3038475" y="2943225"/>
            <a:ext cx="114300" cy="12954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399" name="Google Shape;399;p16">
            <a:extLst xmlns:a="http://schemas.openxmlformats.org/drawingml/2006/main">
              <a:ext uri="{FF2B5EF4-FFF2-40B4-BE49-F238E27FC236}">
                <a16:creationId xmlns:a16="http://schemas.microsoft.com/office/drawing/2014/main" id="{1D05BC94-9806-48AC-981D-290CA9ABFEA4}"/>
              </a:ext>
            </a:extLst>
          </p:cNvPr>
          <p:cNvSpPr>
            <a:spLocks xmlns:a="http://schemas.openxmlformats.org/drawingml/2006/main" noGrp="1"/>
          </p:cNvSpPr>
          <p:nvPr/>
        </p:nvSpPr>
        <p:spPr>
          <a:xfrm xmlns:a="http://schemas.openxmlformats.org/drawingml/2006/main">
            <a:off x="3181350" y="3209925"/>
            <a:ext cx="114300" cy="10287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0" name="Google Shape;400;p16">
            <a:extLst xmlns:a="http://schemas.openxmlformats.org/drawingml/2006/main">
              <a:ext uri="{FF2B5EF4-FFF2-40B4-BE49-F238E27FC236}">
                <a16:creationId xmlns:a16="http://schemas.microsoft.com/office/drawing/2014/main" id="{10FFA5F3-233F-4C74-94A5-42A1AE4132E2}"/>
              </a:ext>
            </a:extLst>
          </p:cNvPr>
          <p:cNvSpPr>
            <a:spLocks xmlns:a="http://schemas.openxmlformats.org/drawingml/2006/main" noGrp="1"/>
          </p:cNvSpPr>
          <p:nvPr/>
        </p:nvSpPr>
        <p:spPr>
          <a:xfrm xmlns:a="http://schemas.openxmlformats.org/drawingml/2006/main">
            <a:off x="3381375" y="3171825"/>
            <a:ext cx="114300" cy="10668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1" name="Google Shape;401;p16">
            <a:extLst xmlns:a="http://schemas.openxmlformats.org/drawingml/2006/main">
              <a:ext uri="{FF2B5EF4-FFF2-40B4-BE49-F238E27FC236}">
                <a16:creationId xmlns:a16="http://schemas.microsoft.com/office/drawing/2014/main" id="{90948800-30D0-42C8-BCAD-9F276BD126E6}"/>
              </a:ext>
            </a:extLst>
          </p:cNvPr>
          <p:cNvSpPr>
            <a:spLocks xmlns:a="http://schemas.openxmlformats.org/drawingml/2006/main" noGrp="1"/>
          </p:cNvSpPr>
          <p:nvPr/>
        </p:nvSpPr>
        <p:spPr>
          <a:xfrm xmlns:a="http://schemas.openxmlformats.org/drawingml/2006/main">
            <a:off x="3524250" y="2924175"/>
            <a:ext cx="114300" cy="13144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2" name="Google Shape;402;p16">
            <a:extLst xmlns:a="http://schemas.openxmlformats.org/drawingml/2006/main">
              <a:ext uri="{FF2B5EF4-FFF2-40B4-BE49-F238E27FC236}">
                <a16:creationId xmlns:a16="http://schemas.microsoft.com/office/drawing/2014/main" id="{75F63CFD-79F2-48F3-BD9C-EB42A3D3629F}"/>
              </a:ext>
            </a:extLst>
          </p:cNvPr>
          <p:cNvSpPr>
            <a:spLocks xmlns:a="http://schemas.openxmlformats.org/drawingml/2006/main" noGrp="1"/>
          </p:cNvSpPr>
          <p:nvPr/>
        </p:nvSpPr>
        <p:spPr>
          <a:xfrm xmlns:a="http://schemas.openxmlformats.org/drawingml/2006/main">
            <a:off x="3724275" y="3543300"/>
            <a:ext cx="114300" cy="6953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3" name="Google Shape;403;p16">
            <a:extLst xmlns:a="http://schemas.openxmlformats.org/drawingml/2006/main">
              <a:ext uri="{FF2B5EF4-FFF2-40B4-BE49-F238E27FC236}">
                <a16:creationId xmlns:a16="http://schemas.microsoft.com/office/drawing/2014/main" id="{525484EC-37AD-49BB-96E0-476BC3F49E7C}"/>
              </a:ext>
            </a:extLst>
          </p:cNvPr>
          <p:cNvSpPr>
            <a:spLocks xmlns:a="http://schemas.openxmlformats.org/drawingml/2006/main" noGrp="1"/>
          </p:cNvSpPr>
          <p:nvPr/>
        </p:nvSpPr>
        <p:spPr>
          <a:xfrm xmlns:a="http://schemas.openxmlformats.org/drawingml/2006/main">
            <a:off x="3867150" y="3114675"/>
            <a:ext cx="114300" cy="1123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4" name="Google Shape;404;p16">
            <a:extLst xmlns:a="http://schemas.openxmlformats.org/drawingml/2006/main">
              <a:ext uri="{FF2B5EF4-FFF2-40B4-BE49-F238E27FC236}">
                <a16:creationId xmlns:a16="http://schemas.microsoft.com/office/drawing/2014/main" id="{D3F3CE10-186C-40FD-A61E-9969E148A745}"/>
              </a:ext>
            </a:extLst>
          </p:cNvPr>
          <p:cNvSpPr>
            <a:spLocks xmlns:a="http://schemas.openxmlformats.org/drawingml/2006/main" noGrp="1"/>
          </p:cNvSpPr>
          <p:nvPr/>
        </p:nvSpPr>
        <p:spPr>
          <a:xfrm xmlns:a="http://schemas.openxmlformats.org/drawingml/2006/main">
            <a:off x="4067175" y="3848100"/>
            <a:ext cx="114300" cy="390525"/>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5" name="Google Shape;405;p16">
            <a:extLst xmlns:a="http://schemas.openxmlformats.org/drawingml/2006/main">
              <a:ext uri="{FF2B5EF4-FFF2-40B4-BE49-F238E27FC236}">
                <a16:creationId xmlns:a16="http://schemas.microsoft.com/office/drawing/2014/main" id="{08D33712-8EAB-4C1A-BC7A-2BE0613B8213}"/>
              </a:ext>
            </a:extLst>
          </p:cNvPr>
          <p:cNvSpPr>
            <a:spLocks xmlns:a="http://schemas.openxmlformats.org/drawingml/2006/main" noGrp="1"/>
          </p:cNvSpPr>
          <p:nvPr/>
        </p:nvSpPr>
        <p:spPr>
          <a:xfrm xmlns:a="http://schemas.openxmlformats.org/drawingml/2006/main">
            <a:off x="4210050" y="3495675"/>
            <a:ext cx="114300" cy="74295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6" name="Google Shape;406;p16">
            <a:extLst xmlns:a="http://schemas.openxmlformats.org/drawingml/2006/main">
              <a:ext uri="{FF2B5EF4-FFF2-40B4-BE49-F238E27FC236}">
                <a16:creationId xmlns:a16="http://schemas.microsoft.com/office/drawing/2014/main" id="{954F7419-4EB5-4283-BE9D-7740BB1A859A}"/>
              </a:ext>
            </a:extLst>
          </p:cNvPr>
          <p:cNvSpPr>
            <a:spLocks xmlns:a="http://schemas.openxmlformats.org/drawingml/2006/main" noGrp="1"/>
          </p:cNvSpPr>
          <p:nvPr/>
        </p:nvSpPr>
        <p:spPr>
          <a:xfrm xmlns:a="http://schemas.openxmlformats.org/drawingml/2006/main">
            <a:off x="4410075" y="4029075"/>
            <a:ext cx="114300" cy="20955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7" name="Google Shape;407;p16">
            <a:extLst xmlns:a="http://schemas.openxmlformats.org/drawingml/2006/main">
              <a:ext uri="{FF2B5EF4-FFF2-40B4-BE49-F238E27FC236}">
                <a16:creationId xmlns:a16="http://schemas.microsoft.com/office/drawing/2014/main" id="{4519624E-023F-4FA4-85FA-94EC6867B833}"/>
              </a:ext>
            </a:extLst>
          </p:cNvPr>
          <p:cNvSpPr>
            <a:spLocks xmlns:a="http://schemas.openxmlformats.org/drawingml/2006/main" noGrp="1"/>
          </p:cNvSpPr>
          <p:nvPr/>
        </p:nvSpPr>
        <p:spPr>
          <a:xfrm xmlns:a="http://schemas.openxmlformats.org/drawingml/2006/main">
            <a:off x="4552950" y="3829050"/>
            <a:ext cx="114300" cy="409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08" name="Google Shape;408;p16">
            <a:extLst xmlns:a="http://schemas.openxmlformats.org/drawingml/2006/main">
              <a:ext uri="{FF2B5EF4-FFF2-40B4-BE49-F238E27FC236}">
                <a16:creationId xmlns:a16="http://schemas.microsoft.com/office/drawing/2014/main" id="{A68FA1CA-1947-4C3A-A717-5D0591B8C861}"/>
              </a:ext>
            </a:extLst>
          </p:cNvPr>
          <p:cNvSpPr>
            <a:spLocks xmlns:a="http://schemas.openxmlformats.org/drawingml/2006/main" noGrp="1"/>
          </p:cNvSpPr>
          <p:nvPr/>
        </p:nvSpPr>
        <p:spPr>
          <a:xfrm xmlns:a="http://schemas.openxmlformats.org/drawingml/2006/main">
            <a:off x="1809750" y="4410075"/>
            <a:ext cx="11430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975"/>
              <a:buFont typeface="Lato"/>
              <a:buNone/>
            </a:pPr>
            <a:r>
              <a:rPr sz="975" b="1" i="0">
                <a:solidFill>
                  <a:srgbClr val="00A88F"/>
                </a:solidFill>
                <a:latin typeface="Lato"/>
                <a:ea typeface="Lato"/>
                <a:cs typeface="Lato"/>
              </a:rPr>
              <a:t>Reference</a:t>
            </a:r>
            <a:endParaRPr/>
          </a:p>
        </p:txBody>
      </p:sp>
      <p:sp>
        <p:nvSpPr>
          <p:cNvPr id="409" name="Google Shape;409;p16">
            <a:extLst xmlns:a="http://schemas.openxmlformats.org/drawingml/2006/main">
              <a:ext uri="{FF2B5EF4-FFF2-40B4-BE49-F238E27FC236}">
                <a16:creationId xmlns:a16="http://schemas.microsoft.com/office/drawing/2014/main" id="{AF08A868-78BF-49F6-AB28-A2B1967277DC}"/>
              </a:ext>
            </a:extLst>
          </p:cNvPr>
          <p:cNvSpPr>
            <a:spLocks xmlns:a="http://schemas.openxmlformats.org/drawingml/2006/main" noGrp="1"/>
          </p:cNvSpPr>
          <p:nvPr/>
        </p:nvSpPr>
        <p:spPr>
          <a:xfrm xmlns:a="http://schemas.openxmlformats.org/drawingml/2006/main">
            <a:off x="3381375" y="4410075"/>
            <a:ext cx="952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975"/>
              <a:buFont typeface="Lato"/>
              <a:buNone/>
            </a:pPr>
            <a:r>
              <a:rPr sz="975" b="1" i="0">
                <a:solidFill>
                  <a:srgbClr val="F2B632"/>
                </a:solidFill>
                <a:latin typeface="Lato"/>
                <a:ea typeface="Lato"/>
                <a:cs typeface="Lato"/>
              </a:rPr>
              <a:t>Model</a:t>
            </a:r>
            <a:endParaRPr/>
          </a:p>
        </p:txBody>
      </p:sp>
      <p:sp>
        <p:nvSpPr>
          <p:cNvPr id="410" name="Google Shape;410;p16">
            <a:extLst xmlns:a="http://schemas.openxmlformats.org/drawingml/2006/main">
              <a:ext uri="{FF2B5EF4-FFF2-40B4-BE49-F238E27FC236}">
                <a16:creationId xmlns:a16="http://schemas.microsoft.com/office/drawing/2014/main" id="{289A0881-BE29-4FDF-AE97-DDFFBBC6906C}"/>
              </a:ext>
            </a:extLst>
          </p:cNvPr>
          <p:cNvSpPr>
            <a:spLocks xmlns:a="http://schemas.openxmlformats.org/drawingml/2006/main" noGrp="1"/>
          </p:cNvSpPr>
          <p:nvPr/>
        </p:nvSpPr>
        <p:spPr>
          <a:xfrm xmlns:a="http://schemas.openxmlformats.org/drawingml/2006/main">
            <a:off x="6477000" y="2076450"/>
            <a:ext cx="4191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A bias is systematic</a:t>
            </a:r>
            <a:endParaRPr/>
          </a:p>
        </p:txBody>
      </p:sp>
      <p:sp>
        <p:nvSpPr>
          <p:cNvPr id="411" name="Google Shape;411;p16">
            <a:extLst xmlns:a="http://schemas.openxmlformats.org/drawingml/2006/main">
              <a:ext uri="{FF2B5EF4-FFF2-40B4-BE49-F238E27FC236}">
                <a16:creationId xmlns:a16="http://schemas.microsoft.com/office/drawing/2014/main" id="{485B306D-D48B-493D-BCF0-92CA7F283BE0}"/>
              </a:ext>
            </a:extLst>
          </p:cNvPr>
          <p:cNvSpPr>
            <a:spLocks xmlns:a="http://schemas.openxmlformats.org/drawingml/2006/main" noGrp="1"/>
          </p:cNvSpPr>
          <p:nvPr/>
        </p:nvSpPr>
        <p:spPr>
          <a:xfrm xmlns:a="http://schemas.openxmlformats.org/drawingml/2006/main">
            <a:off x="6477000" y="2705100"/>
            <a:ext cx="4305300" cy="1009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687984"/>
              </a:buClr>
              <a:buSzPts val="1650"/>
              <a:buFont typeface="Lato"/>
              <a:buNone/>
            </a:pPr>
            <a:r>
              <a:rPr sz="1650" b="0" i="0">
                <a:solidFill>
                  <a:srgbClr val="687984"/>
                </a:solidFill>
                <a:latin typeface="Lato"/>
                <a:ea typeface="Lato"/>
                <a:cs typeface="Lato"/>
              </a:rPr>
              <a:t>It may affect the mean, variability, seasonality or extremes. Performance can also differ by variable and region.</a:t>
            </a:r>
            <a:endParaRPr/>
          </a:p>
        </p:txBody>
      </p:sp>
      <p:sp>
        <p:nvSpPr>
          <p:cNvPr id="412" name="Google Shape;412;p16">
            <a:extLst xmlns:a="http://schemas.openxmlformats.org/drawingml/2006/main">
              <a:ext uri="{FF2B5EF4-FFF2-40B4-BE49-F238E27FC236}">
                <a16:creationId xmlns:a16="http://schemas.microsoft.com/office/drawing/2014/main" id="{11303094-6442-4391-AC4A-744AA16552CF}"/>
              </a:ext>
            </a:extLst>
          </p:cNvPr>
          <p:cNvSpPr>
            <a:spLocks xmlns:a="http://schemas.openxmlformats.org/drawingml/2006/main" noGrp="1"/>
          </p:cNvSpPr>
          <p:nvPr/>
        </p:nvSpPr>
        <p:spPr>
          <a:xfrm xmlns:a="http://schemas.openxmlformats.org/drawingml/2006/main">
            <a:off x="6477000" y="4038600"/>
            <a:ext cx="4000500" cy="876300"/>
          </a:xfrm>
          <a:prstGeom xmlns:a="http://schemas.openxmlformats.org/drawingml/2006/main" prst="roundRect">
            <a:avLst>
              <a:gd name="adj" fmla="val 8696"/>
            </a:avLst>
          </a:prstGeom>
          <a:solidFill xmlns:a="http://schemas.openxmlformats.org/drawingml/2006/main">
            <a:srgbClr val="FFF3D1"/>
          </a:solidFill>
          <a:ln xmlns:a="http://schemas.openxmlformats.org/drawingml/2006/main" w="9525" cmpd="sng">
            <a:solidFill>
              <a:srgbClr val="FFF3D1"/>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13" name="Google Shape;413;p16">
            <a:extLst xmlns:a="http://schemas.openxmlformats.org/drawingml/2006/main">
              <a:ext uri="{FF2B5EF4-FFF2-40B4-BE49-F238E27FC236}">
                <a16:creationId xmlns:a16="http://schemas.microsoft.com/office/drawing/2014/main" id="{7A65C657-7916-40F6-8375-A43D790539E7}"/>
              </a:ext>
            </a:extLst>
          </p:cNvPr>
          <p:cNvSpPr>
            <a:spLocks xmlns:a="http://schemas.openxmlformats.org/drawingml/2006/main" noGrp="1"/>
          </p:cNvSpPr>
          <p:nvPr/>
        </p:nvSpPr>
        <p:spPr>
          <a:xfrm xmlns:a="http://schemas.openxmlformats.org/drawingml/2006/main">
            <a:off x="6705600" y="4229100"/>
            <a:ext cx="35433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425"/>
              <a:buFont typeface="Lato"/>
              <a:buNone/>
            </a:pPr>
            <a:r>
              <a:rPr sz="1425" b="1" i="0">
                <a:solidFill>
                  <a:srgbClr val="12304E"/>
                </a:solidFill>
                <a:latin typeface="Lato"/>
                <a:ea typeface="Lato"/>
                <a:cs typeface="Lato"/>
              </a:rPr>
              <a:t>Model output should not automatically be treated as observations or truth.</a:t>
            </a:r>
            <a:endParaRPr/>
          </a:p>
        </p:txBody>
      </p:sp>
      <p:sp>
        <p:nvSpPr>
          <p:cNvPr id="414" name="Google Shape;414;p16">
            <a:extLst xmlns:a="http://schemas.openxmlformats.org/drawingml/2006/main">
              <a:ext uri="{FF2B5EF4-FFF2-40B4-BE49-F238E27FC236}">
                <a16:creationId xmlns:a16="http://schemas.microsoft.com/office/drawing/2014/main" id="{935937AD-6865-436D-9878-9D980A5DFBF3}"/>
              </a:ext>
            </a:extLst>
          </p:cNvPr>
          <p:cNvSpPr>
            <a:spLocks xmlns:a="http://schemas.openxmlformats.org/drawingml/2006/main" noGrp="1"/>
          </p:cNvSpPr>
          <p:nvPr/>
        </p:nvSpPr>
        <p:spPr>
          <a:xfrm xmlns:a="http://schemas.openxmlformats.org/drawingml/2006/main">
            <a:off x="952500" y="5000625"/>
            <a:ext cx="4762500" cy="209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825"/>
              <a:buFont typeface="Lato"/>
              <a:buNone/>
            </a:pPr>
            <a:r>
              <a:rPr sz="825" b="0" i="0">
                <a:solidFill>
                  <a:srgbClr val="687984"/>
                </a:solidFill>
                <a:latin typeface="Lato"/>
                <a:ea typeface="Lato"/>
                <a:cs typeface="Lato"/>
              </a:rPr>
              <a:t>Conceptual illustration · no observed data shown</a:t>
            </a:r>
            <a:endParaRPr/>
          </a:p>
        </p:txBody>
      </p:sp>
    </p:spTree>
    <p:extLst>
      <p:ext uri="{BB962C8B-B14F-4D97-AF65-F5344CB8AC3E}">
        <p14:creationId xmlns:p14="http://schemas.microsoft.com/office/powerpoint/2010/main" val="1033399009"/>
      </p:ext>
    </p:extLst>
  </p:cSld>
</p:sld>
</file>

<file path=ppt/slides/slide1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20" name="Google Shape;420;p17">
            <a:extLst xmlns:a="http://schemas.openxmlformats.org/drawingml/2006/main">
              <a:ext uri="{FF2B5EF4-FFF2-40B4-BE49-F238E27FC236}">
                <a16:creationId xmlns:a16="http://schemas.microsoft.com/office/drawing/2014/main" id="{43B3DB92-0EBD-49D7-94C0-6C37A1908C90}"/>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Bias correction in the workflow</a:t>
            </a:r>
            <a:endParaRPr/>
          </a:p>
        </p:txBody>
      </p:sp>
      <p:sp>
        <p:nvSpPr>
          <p:cNvPr id="421" name="Google Shape;421;p17">
            <a:extLst xmlns:a="http://schemas.openxmlformats.org/drawingml/2006/main">
              <a:ext uri="{FF2B5EF4-FFF2-40B4-BE49-F238E27FC236}">
                <a16:creationId xmlns:a16="http://schemas.microsoft.com/office/drawing/2014/main" id="{D52796E2-5C0A-4C87-8B55-79052AA0DAF8}"/>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Statistical adjustment can improve historical agreement, but it does not remove uncertainty</a:t>
            </a:r>
            <a:endParaRPr/>
          </a:p>
        </p:txBody>
      </p:sp>
      <p:sp>
        <p:nvSpPr>
          <p:cNvPr id="422" name="Google Shape;422;p17">
            <a:extLst xmlns:a="http://schemas.openxmlformats.org/drawingml/2006/main">
              <a:ext uri="{FF2B5EF4-FFF2-40B4-BE49-F238E27FC236}">
                <a16:creationId xmlns:a16="http://schemas.microsoft.com/office/drawing/2014/main" id="{E84643A5-B547-4FC4-9F4F-EB685A082A9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3" name="Google Shape;423;p17">
            <a:extLst xmlns:a="http://schemas.openxmlformats.org/drawingml/2006/main">
              <a:ext uri="{FF2B5EF4-FFF2-40B4-BE49-F238E27FC236}">
                <a16:creationId xmlns:a16="http://schemas.microsoft.com/office/drawing/2014/main" id="{48110825-55B9-4B64-918A-03C4BD151939}"/>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4" name="Google Shape;424;p17">
            <a:extLst xmlns:a="http://schemas.openxmlformats.org/drawingml/2006/main">
              <a:ext uri="{FF2B5EF4-FFF2-40B4-BE49-F238E27FC236}">
                <a16:creationId xmlns:a16="http://schemas.microsoft.com/office/drawing/2014/main" id="{F1AD01B9-439F-4DBC-A53D-5B931B86AC7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5" name="Google Shape;425;p17">
            <a:extLst xmlns:a="http://schemas.openxmlformats.org/drawingml/2006/main">
              <a:ext uri="{FF2B5EF4-FFF2-40B4-BE49-F238E27FC236}">
                <a16:creationId xmlns:a16="http://schemas.microsoft.com/office/drawing/2014/main" id="{4B54BB2D-7853-4904-AEDD-4B3DE4A54646}"/>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26" name="Google Shape;426;p17">
            <a:extLst xmlns:a="http://schemas.openxmlformats.org/drawingml/2006/main">
              <a:ext uri="{FF2B5EF4-FFF2-40B4-BE49-F238E27FC236}">
                <a16:creationId xmlns:a16="http://schemas.microsoft.com/office/drawing/2014/main" id="{9AE61B78-6841-44FF-A917-0B169AD9AE37}"/>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15</a:t>
            </a:r>
            <a:endParaRPr/>
          </a:p>
        </p:txBody>
      </p:sp>
      <p:sp>
        <p:nvSpPr>
          <p:cNvPr id="427" name="Google Shape;427;p17">
            <a:extLst xmlns:a="http://schemas.openxmlformats.org/drawingml/2006/main">
              <a:ext uri="{FF2B5EF4-FFF2-40B4-BE49-F238E27FC236}">
                <a16:creationId xmlns:a16="http://schemas.microsoft.com/office/drawing/2014/main" id="{E605A322-20B3-4279-8F28-9CD8D7BB0914}"/>
              </a:ext>
            </a:extLst>
          </p:cNvPr>
          <p:cNvSpPr>
            <a:spLocks xmlns:a="http://schemas.openxmlformats.org/drawingml/2006/main" noGrp="1"/>
          </p:cNvSpPr>
          <p:nvPr/>
        </p:nvSpPr>
        <p:spPr>
          <a:xfrm xmlns:a="http://schemas.openxmlformats.org/drawingml/2006/main">
            <a:off x="1066800" y="2781300"/>
            <a:ext cx="10058400" cy="381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28" name="Google Shape;428;p17">
            <a:extLst xmlns:a="http://schemas.openxmlformats.org/drawingml/2006/main">
              <a:ext uri="{FF2B5EF4-FFF2-40B4-BE49-F238E27FC236}">
                <a16:creationId xmlns:a16="http://schemas.microsoft.com/office/drawing/2014/main" id="{8ACCB7E4-3EA6-4D4A-BF01-6038068C74AA}"/>
              </a:ext>
            </a:extLst>
          </p:cNvPr>
          <p:cNvSpPr>
            <a:spLocks xmlns:a="http://schemas.openxmlformats.org/drawingml/2006/main" noGrp="1"/>
          </p:cNvSpPr>
          <p:nvPr/>
        </p:nvSpPr>
        <p:spPr>
          <a:xfrm xmlns:a="http://schemas.openxmlformats.org/drawingml/2006/main">
            <a:off x="1257300"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1</a:t>
            </a:r>
            <a:endParaRPr/>
          </a:p>
        </p:txBody>
      </p:sp>
      <p:sp>
        <p:nvSpPr>
          <p:cNvPr id="429" name="Google Shape;429;p17">
            <a:extLst xmlns:a="http://schemas.openxmlformats.org/drawingml/2006/main">
              <a:ext uri="{FF2B5EF4-FFF2-40B4-BE49-F238E27FC236}">
                <a16:creationId xmlns:a16="http://schemas.microsoft.com/office/drawing/2014/main" id="{DDF9B3A5-03BA-4D0C-A72F-4D39A323E276}"/>
              </a:ext>
            </a:extLst>
          </p:cNvPr>
          <p:cNvSpPr>
            <a:spLocks xmlns:a="http://schemas.openxmlformats.org/drawingml/2006/main" noGrp="1"/>
          </p:cNvSpPr>
          <p:nvPr/>
        </p:nvSpPr>
        <p:spPr>
          <a:xfrm xmlns:a="http://schemas.openxmlformats.org/drawingml/2006/main">
            <a:off x="1143000"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COMPARE</a:t>
            </a:r>
            <a:endParaRPr/>
          </a:p>
        </p:txBody>
      </p:sp>
      <p:sp>
        <p:nvSpPr>
          <p:cNvPr id="430" name="Google Shape;430;p17">
            <a:extLst xmlns:a="http://schemas.openxmlformats.org/drawingml/2006/main">
              <a:ext uri="{FF2B5EF4-FFF2-40B4-BE49-F238E27FC236}">
                <a16:creationId xmlns:a16="http://schemas.microsoft.com/office/drawing/2014/main" id="{27B0225D-5D95-4918-9FC8-4798FDDA00FB}"/>
              </a:ext>
            </a:extLst>
          </p:cNvPr>
          <p:cNvSpPr>
            <a:spLocks xmlns:a="http://schemas.openxmlformats.org/drawingml/2006/main" noGrp="1"/>
          </p:cNvSpPr>
          <p:nvPr/>
        </p:nvSpPr>
        <p:spPr>
          <a:xfrm xmlns:a="http://schemas.openxmlformats.org/drawingml/2006/main">
            <a:off x="1143000"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Historical model simulation with a reference dataset</a:t>
            </a:r>
            <a:endParaRPr/>
          </a:p>
        </p:txBody>
      </p:sp>
      <p:sp>
        <p:nvSpPr>
          <p:cNvPr id="431" name="Google Shape;431;p17">
            <a:extLst xmlns:a="http://schemas.openxmlformats.org/drawingml/2006/main">
              <a:ext uri="{FF2B5EF4-FFF2-40B4-BE49-F238E27FC236}">
                <a16:creationId xmlns:a16="http://schemas.microsoft.com/office/drawing/2014/main" id="{258D548A-0AE1-4CB0-827B-C595238EA1A4}"/>
              </a:ext>
            </a:extLst>
          </p:cNvPr>
          <p:cNvSpPr>
            <a:spLocks xmlns:a="http://schemas.openxmlformats.org/drawingml/2006/main" noGrp="1"/>
          </p:cNvSpPr>
          <p:nvPr/>
        </p:nvSpPr>
        <p:spPr>
          <a:xfrm xmlns:a="http://schemas.openxmlformats.org/drawingml/2006/main">
            <a:off x="3971925" y="2524125"/>
            <a:ext cx="552450" cy="55245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2</a:t>
            </a:r>
            <a:endParaRPr/>
          </a:p>
        </p:txBody>
      </p:sp>
      <p:sp>
        <p:nvSpPr>
          <p:cNvPr id="432" name="Google Shape;432;p17">
            <a:extLst xmlns:a="http://schemas.openxmlformats.org/drawingml/2006/main">
              <a:ext uri="{FF2B5EF4-FFF2-40B4-BE49-F238E27FC236}">
                <a16:creationId xmlns:a16="http://schemas.microsoft.com/office/drawing/2014/main" id="{61E19224-33DB-401F-9B0B-CDFB7311A61A}"/>
              </a:ext>
            </a:extLst>
          </p:cNvPr>
          <p:cNvSpPr>
            <a:spLocks xmlns:a="http://schemas.openxmlformats.org/drawingml/2006/main" noGrp="1"/>
          </p:cNvSpPr>
          <p:nvPr/>
        </p:nvSpPr>
        <p:spPr>
          <a:xfrm xmlns:a="http://schemas.openxmlformats.org/drawingml/2006/main">
            <a:off x="3857625"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ESTIMATE</a:t>
            </a:r>
            <a:endParaRPr/>
          </a:p>
        </p:txBody>
      </p:sp>
      <p:sp>
        <p:nvSpPr>
          <p:cNvPr id="433" name="Google Shape;433;p17">
            <a:extLst xmlns:a="http://schemas.openxmlformats.org/drawingml/2006/main">
              <a:ext uri="{FF2B5EF4-FFF2-40B4-BE49-F238E27FC236}">
                <a16:creationId xmlns:a16="http://schemas.microsoft.com/office/drawing/2014/main" id="{FFE437D8-2A4D-4285-B201-5C0071F4DE25}"/>
              </a:ext>
            </a:extLst>
          </p:cNvPr>
          <p:cNvSpPr>
            <a:spLocks xmlns:a="http://schemas.openxmlformats.org/drawingml/2006/main" noGrp="1"/>
          </p:cNvSpPr>
          <p:nvPr/>
        </p:nvSpPr>
        <p:spPr>
          <a:xfrm xmlns:a="http://schemas.openxmlformats.org/drawingml/2006/main">
            <a:off x="3857625"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A statistical adjustment for the selected variable and location</a:t>
            </a:r>
            <a:endParaRPr/>
          </a:p>
        </p:txBody>
      </p:sp>
      <p:sp>
        <p:nvSpPr>
          <p:cNvPr id="434" name="Google Shape;434;p17">
            <a:extLst xmlns:a="http://schemas.openxmlformats.org/drawingml/2006/main">
              <a:ext uri="{FF2B5EF4-FFF2-40B4-BE49-F238E27FC236}">
                <a16:creationId xmlns:a16="http://schemas.microsoft.com/office/drawing/2014/main" id="{3B9651BE-4992-4DC6-ACC9-EFD2CFC298AA}"/>
              </a:ext>
            </a:extLst>
          </p:cNvPr>
          <p:cNvSpPr>
            <a:spLocks xmlns:a="http://schemas.openxmlformats.org/drawingml/2006/main" noGrp="1"/>
          </p:cNvSpPr>
          <p:nvPr/>
        </p:nvSpPr>
        <p:spPr>
          <a:xfrm xmlns:a="http://schemas.openxmlformats.org/drawingml/2006/main">
            <a:off x="6686550"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3</a:t>
            </a:r>
            <a:endParaRPr/>
          </a:p>
        </p:txBody>
      </p:sp>
      <p:sp>
        <p:nvSpPr>
          <p:cNvPr id="435" name="Google Shape;435;p17">
            <a:extLst xmlns:a="http://schemas.openxmlformats.org/drawingml/2006/main">
              <a:ext uri="{FF2B5EF4-FFF2-40B4-BE49-F238E27FC236}">
                <a16:creationId xmlns:a16="http://schemas.microsoft.com/office/drawing/2014/main" id="{637E48B4-4C70-43F8-840D-3D58B53329E1}"/>
              </a:ext>
            </a:extLst>
          </p:cNvPr>
          <p:cNvSpPr>
            <a:spLocks xmlns:a="http://schemas.openxmlformats.org/drawingml/2006/main" noGrp="1"/>
          </p:cNvSpPr>
          <p:nvPr/>
        </p:nvSpPr>
        <p:spPr>
          <a:xfrm xmlns:a="http://schemas.openxmlformats.org/drawingml/2006/main">
            <a:off x="6572250"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APPLY</a:t>
            </a:r>
            <a:endParaRPr/>
          </a:p>
        </p:txBody>
      </p:sp>
      <p:sp>
        <p:nvSpPr>
          <p:cNvPr id="436" name="Google Shape;436;p17">
            <a:extLst xmlns:a="http://schemas.openxmlformats.org/drawingml/2006/main">
              <a:ext uri="{FF2B5EF4-FFF2-40B4-BE49-F238E27FC236}">
                <a16:creationId xmlns:a16="http://schemas.microsoft.com/office/drawing/2014/main" id="{5BB8638B-12EB-416B-A31F-70D1E4A9487F}"/>
              </a:ext>
            </a:extLst>
          </p:cNvPr>
          <p:cNvSpPr>
            <a:spLocks xmlns:a="http://schemas.openxmlformats.org/drawingml/2006/main" noGrp="1"/>
          </p:cNvSpPr>
          <p:nvPr/>
        </p:nvSpPr>
        <p:spPr>
          <a:xfrm xmlns:a="http://schemas.openxmlformats.org/drawingml/2006/main">
            <a:off x="6572250"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The adjustment consistently to historical and projected data</a:t>
            </a:r>
            <a:endParaRPr/>
          </a:p>
        </p:txBody>
      </p:sp>
      <p:sp>
        <p:nvSpPr>
          <p:cNvPr id="437" name="Google Shape;437;p17">
            <a:extLst xmlns:a="http://schemas.openxmlformats.org/drawingml/2006/main">
              <a:ext uri="{FF2B5EF4-FFF2-40B4-BE49-F238E27FC236}">
                <a16:creationId xmlns:a16="http://schemas.microsoft.com/office/drawing/2014/main" id="{6D9023E1-664B-4492-B434-50FBCE1DA603}"/>
              </a:ext>
            </a:extLst>
          </p:cNvPr>
          <p:cNvSpPr>
            <a:spLocks xmlns:a="http://schemas.openxmlformats.org/drawingml/2006/main" noGrp="1"/>
          </p:cNvSpPr>
          <p:nvPr/>
        </p:nvSpPr>
        <p:spPr>
          <a:xfrm xmlns:a="http://schemas.openxmlformats.org/drawingml/2006/main">
            <a:off x="9401175" y="2524125"/>
            <a:ext cx="552450" cy="55245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650"/>
              <a:buFont typeface="Lato"/>
              <a:buNone/>
            </a:pPr>
            <a:r>
              <a:rPr sz="1650" b="1" i="0">
                <a:solidFill>
                  <a:srgbClr val="FFFFFF"/>
                </a:solidFill>
                <a:latin typeface="Lato"/>
                <a:ea typeface="Lato"/>
                <a:cs typeface="Lato"/>
              </a:rPr>
              <a:t>4</a:t>
            </a:r>
            <a:endParaRPr/>
          </a:p>
        </p:txBody>
      </p:sp>
      <p:sp>
        <p:nvSpPr>
          <p:cNvPr id="438" name="Google Shape;438;p17">
            <a:extLst xmlns:a="http://schemas.openxmlformats.org/drawingml/2006/main">
              <a:ext uri="{FF2B5EF4-FFF2-40B4-BE49-F238E27FC236}">
                <a16:creationId xmlns:a16="http://schemas.microsoft.com/office/drawing/2014/main" id="{77CD1336-7D76-4CE8-8B39-61FBD20DC902}"/>
              </a:ext>
            </a:extLst>
          </p:cNvPr>
          <p:cNvSpPr>
            <a:spLocks xmlns:a="http://schemas.openxmlformats.org/drawingml/2006/main" noGrp="1"/>
          </p:cNvSpPr>
          <p:nvPr/>
        </p:nvSpPr>
        <p:spPr>
          <a:xfrm xmlns:a="http://schemas.openxmlformats.org/drawingml/2006/main">
            <a:off x="9286875" y="3371850"/>
            <a:ext cx="171450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CHECK</a:t>
            </a:r>
            <a:endParaRPr/>
          </a:p>
        </p:txBody>
      </p:sp>
      <p:sp>
        <p:nvSpPr>
          <p:cNvPr id="439" name="Google Shape;439;p17">
            <a:extLst xmlns:a="http://schemas.openxmlformats.org/drawingml/2006/main">
              <a:ext uri="{FF2B5EF4-FFF2-40B4-BE49-F238E27FC236}">
                <a16:creationId xmlns:a16="http://schemas.microsoft.com/office/drawing/2014/main" id="{02D4530A-B55E-40F6-8BC9-7C83785B621E}"/>
              </a:ext>
            </a:extLst>
          </p:cNvPr>
          <p:cNvSpPr>
            <a:spLocks xmlns:a="http://schemas.openxmlformats.org/drawingml/2006/main" noGrp="1"/>
          </p:cNvSpPr>
          <p:nvPr/>
        </p:nvSpPr>
        <p:spPr>
          <a:xfrm xmlns:a="http://schemas.openxmlformats.org/drawingml/2006/main">
            <a:off x="9286875" y="3790950"/>
            <a:ext cx="219075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0000"/>
              </a:lnSpc>
              <a:spcBef>
                <a:spcPts val="0"/>
              </a:spcBef>
              <a:spcAft>
                <a:spcPts val="0"/>
              </a:spcAft>
              <a:buClr>
                <a:srgbClr val="12304E"/>
              </a:buClr>
              <a:buSzPts val="1350"/>
              <a:buFont typeface="Lato"/>
              <a:buNone/>
            </a:pPr>
            <a:r>
              <a:rPr sz="1350" b="0" i="0">
                <a:solidFill>
                  <a:srgbClr val="12304E"/>
                </a:solidFill>
                <a:latin typeface="Lato"/>
                <a:ea typeface="Lato"/>
                <a:cs typeface="Lato"/>
              </a:rPr>
              <a:t>Whether the corrected data suit the intended application</a:t>
            </a:r>
            <a:endParaRPr/>
          </a:p>
        </p:txBody>
      </p:sp>
      <p:sp>
        <p:nvSpPr>
          <p:cNvPr id="440" name="Google Shape;440;p17">
            <a:extLst xmlns:a="http://schemas.openxmlformats.org/drawingml/2006/main">
              <a:ext uri="{FF2B5EF4-FFF2-40B4-BE49-F238E27FC236}">
                <a16:creationId xmlns:a16="http://schemas.microsoft.com/office/drawing/2014/main" id="{2F969A24-3B8B-443F-8F42-4CFDB9C980BE}"/>
              </a:ext>
            </a:extLst>
          </p:cNvPr>
          <p:cNvSpPr>
            <a:spLocks xmlns:a="http://schemas.openxmlformats.org/drawingml/2006/main" noGrp="1"/>
          </p:cNvSpPr>
          <p:nvPr/>
        </p:nvSpPr>
        <p:spPr>
          <a:xfrm xmlns:a="http://schemas.openxmlformats.org/drawingml/2006/main">
            <a:off x="685800" y="5010150"/>
            <a:ext cx="10820400" cy="628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41" name="Google Shape;441;p17">
            <a:extLst xmlns:a="http://schemas.openxmlformats.org/drawingml/2006/main">
              <a:ext uri="{FF2B5EF4-FFF2-40B4-BE49-F238E27FC236}">
                <a16:creationId xmlns:a16="http://schemas.microsoft.com/office/drawing/2014/main" id="{F3B91F7B-1D00-4DCA-AA52-7F6586F8003E}"/>
              </a:ext>
            </a:extLst>
          </p:cNvPr>
          <p:cNvSpPr>
            <a:spLocks xmlns:a="http://schemas.openxmlformats.org/drawingml/2006/main" noGrp="1"/>
          </p:cNvSpPr>
          <p:nvPr/>
        </p:nvSpPr>
        <p:spPr>
          <a:xfrm xmlns:a="http://schemas.openxmlformats.org/drawingml/2006/main">
            <a:off x="933450" y="5200650"/>
            <a:ext cx="2095500" cy="2571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75"/>
              <a:buFont typeface="Lato"/>
              <a:buNone/>
            </a:pPr>
            <a:r>
              <a:rPr sz="1275" b="1" i="0">
                <a:solidFill>
                  <a:srgbClr val="F2B632"/>
                </a:solidFill>
                <a:latin typeface="Lato"/>
                <a:ea typeface="Lato"/>
                <a:cs typeface="Lato"/>
              </a:rPr>
              <a:t>Limits of correction</a:t>
            </a:r>
            <a:endParaRPr/>
          </a:p>
        </p:txBody>
      </p:sp>
      <p:sp>
        <p:nvSpPr>
          <p:cNvPr id="442" name="Google Shape;442;p17">
            <a:extLst xmlns:a="http://schemas.openxmlformats.org/drawingml/2006/main">
              <a:ext uri="{FF2B5EF4-FFF2-40B4-BE49-F238E27FC236}">
                <a16:creationId xmlns:a16="http://schemas.microsoft.com/office/drawing/2014/main" id="{FFCAB2AF-409E-4D4A-ACE0-CE412D9D98E9}"/>
              </a:ext>
            </a:extLst>
          </p:cNvPr>
          <p:cNvSpPr>
            <a:spLocks xmlns:a="http://schemas.openxmlformats.org/drawingml/2006/main" noGrp="1"/>
          </p:cNvSpPr>
          <p:nvPr/>
        </p:nvSpPr>
        <p:spPr>
          <a:xfrm xmlns:a="http://schemas.openxmlformats.org/drawingml/2006/main">
            <a:off x="3143250" y="5162550"/>
            <a:ext cx="8001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It </a:t>
            </a:r>
            <a:r>
              <a:rPr sz="1350">
                <a:solidFill>
                  <a:srgbClr val="FFFFFF"/>
                </a:solidFill>
                <a:latin typeface="Lato"/>
                <a:ea typeface="Lato"/>
                <a:cs typeface="Lato"/>
              </a:rPr>
              <a:t>does not</a:t>
            </a:r>
            <a:r>
              <a:rPr sz="1350" b="0" i="0">
                <a:solidFill>
                  <a:srgbClr val="FFFFFF"/>
                </a:solidFill>
                <a:latin typeface="Lato"/>
                <a:ea typeface="Lato"/>
                <a:cs typeface="Lato"/>
              </a:rPr>
              <a:t> remove model uncertainty</a:t>
            </a:r>
            <a:r>
              <a:rPr sz="1350">
                <a:solidFill>
                  <a:srgbClr val="FFFFFF"/>
                </a:solidFill>
                <a:latin typeface="Lato"/>
                <a:ea typeface="Lato"/>
                <a:cs typeface="Lato"/>
              </a:rPr>
              <a:t> </a:t>
            </a:r>
            <a:r>
              <a:rPr sz="1350" b="0" i="0">
                <a:solidFill>
                  <a:srgbClr val="FFFFFF"/>
                </a:solidFill>
                <a:latin typeface="Lato"/>
                <a:ea typeface="Lato"/>
                <a:cs typeface="Lato"/>
              </a:rPr>
              <a:t>or repair every simulation weakness</a:t>
            </a:r>
            <a:endParaRPr/>
          </a:p>
        </p:txBody>
      </p:sp>
    </p:spTree>
    <p:extLst>
      <p:ext uri="{BB962C8B-B14F-4D97-AF65-F5344CB8AC3E}">
        <p14:creationId xmlns:p14="http://schemas.microsoft.com/office/powerpoint/2010/main" val="2073780331"/>
      </p:ext>
    </p:extLst>
  </p:cSld>
</p:sld>
</file>

<file path=ppt/slides/slide1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48" name="Google Shape;448;p18">
            <a:extLst xmlns:a="http://schemas.openxmlformats.org/drawingml/2006/main">
              <a:ext uri="{FF2B5EF4-FFF2-40B4-BE49-F238E27FC236}">
                <a16:creationId xmlns:a16="http://schemas.microsoft.com/office/drawing/2014/main" id="{98A01DBD-1015-4A1E-96A2-79E5958EAED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Working with a climate ensemble</a:t>
            </a:r>
            <a:endParaRPr/>
          </a:p>
        </p:txBody>
      </p:sp>
      <p:sp>
        <p:nvSpPr>
          <p:cNvPr id="449" name="Google Shape;449;p18">
            <a:extLst xmlns:a="http://schemas.openxmlformats.org/drawingml/2006/main">
              <a:ext uri="{FF2B5EF4-FFF2-40B4-BE49-F238E27FC236}">
                <a16:creationId xmlns:a16="http://schemas.microsoft.com/office/drawing/2014/main" id="{AAA006C8-D9B6-45D6-A09A-539A2A063B25}"/>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range across models and scenarios forms part of the result</a:t>
            </a:r>
            <a:endParaRPr/>
          </a:p>
        </p:txBody>
      </p:sp>
      <p:sp>
        <p:nvSpPr>
          <p:cNvPr id="450" name="Google Shape;450;p18">
            <a:extLst xmlns:a="http://schemas.openxmlformats.org/drawingml/2006/main">
              <a:ext uri="{FF2B5EF4-FFF2-40B4-BE49-F238E27FC236}">
                <a16:creationId xmlns:a16="http://schemas.microsoft.com/office/drawing/2014/main" id="{E7D05238-A257-4256-87EF-F22BFC46043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1" name="Google Shape;451;p18">
            <a:extLst xmlns:a="http://schemas.openxmlformats.org/drawingml/2006/main">
              <a:ext uri="{FF2B5EF4-FFF2-40B4-BE49-F238E27FC236}">
                <a16:creationId xmlns:a16="http://schemas.microsoft.com/office/drawing/2014/main" id="{20A4F486-0207-4933-9452-234B435BDAB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2" name="Google Shape;452;p18">
            <a:extLst xmlns:a="http://schemas.openxmlformats.org/drawingml/2006/main">
              <a:ext uri="{FF2B5EF4-FFF2-40B4-BE49-F238E27FC236}">
                <a16:creationId xmlns:a16="http://schemas.microsoft.com/office/drawing/2014/main" id="{82B5728F-68B6-4B9A-8AF8-57FFBB8D57C9}"/>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53" name="Google Shape;453;p18">
            <a:extLst xmlns:a="http://schemas.openxmlformats.org/drawingml/2006/main">
              <a:ext uri="{FF2B5EF4-FFF2-40B4-BE49-F238E27FC236}">
                <a16:creationId xmlns:a16="http://schemas.microsoft.com/office/drawing/2014/main" id="{8F69C973-2695-4BD7-8049-79C7E0658C14}"/>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54" name="Google Shape;454;p18">
            <a:extLst xmlns:a="http://schemas.openxmlformats.org/drawingml/2006/main">
              <a:ext uri="{FF2B5EF4-FFF2-40B4-BE49-F238E27FC236}">
                <a16:creationId xmlns:a16="http://schemas.microsoft.com/office/drawing/2014/main" id="{83628D68-3584-4328-BFD5-D7BDF49D5091}"/>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16</a:t>
            </a:r>
            <a:endParaRPr/>
          </a:p>
        </p:txBody>
      </p:sp>
      <p:sp>
        <p:nvSpPr>
          <p:cNvPr id="455" name="Google Shape;455;p18">
            <a:extLst xmlns:a="http://schemas.openxmlformats.org/drawingml/2006/main">
              <a:ext uri="{FF2B5EF4-FFF2-40B4-BE49-F238E27FC236}">
                <a16:creationId xmlns:a16="http://schemas.microsoft.com/office/drawing/2014/main" id="{B03D3002-DBBE-4086-BF8F-00DB79551414}"/>
              </a:ext>
            </a:extLst>
          </p:cNvPr>
          <p:cNvSpPr>
            <a:spLocks xmlns:a="http://schemas.openxmlformats.org/drawingml/2006/main" noGrp="1"/>
          </p:cNvSpPr>
          <p:nvPr/>
        </p:nvSpPr>
        <p:spPr>
          <a:xfrm xmlns:a="http://schemas.openxmlformats.org/drawingml/2006/main">
            <a:off x="83820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425"/>
              <a:buFont typeface="Lato"/>
              <a:buNone/>
            </a:pPr>
            <a:r>
              <a:rPr sz="1425" b="1" i="0">
                <a:solidFill>
                  <a:srgbClr val="00A88F"/>
                </a:solidFill>
                <a:latin typeface="Lato"/>
                <a:ea typeface="Lato"/>
                <a:cs typeface="Lato"/>
              </a:rPr>
              <a:t>01</a:t>
            </a:r>
            <a:endParaRPr/>
          </a:p>
        </p:txBody>
      </p:sp>
      <p:sp>
        <p:nvSpPr>
          <p:cNvPr id="456" name="Google Shape;456;p18">
            <a:extLst xmlns:a="http://schemas.openxmlformats.org/drawingml/2006/main">
              <a:ext uri="{FF2B5EF4-FFF2-40B4-BE49-F238E27FC236}">
                <a16:creationId xmlns:a16="http://schemas.microsoft.com/office/drawing/2014/main" id="{115B8C40-2F9E-4BE6-B5D2-E609676C7F49}"/>
              </a:ext>
            </a:extLst>
          </p:cNvPr>
          <p:cNvSpPr>
            <a:spLocks xmlns:a="http://schemas.openxmlformats.org/drawingml/2006/main" noGrp="1"/>
          </p:cNvSpPr>
          <p:nvPr/>
        </p:nvSpPr>
        <p:spPr>
          <a:xfrm xmlns:a="http://schemas.openxmlformats.org/drawingml/2006/main">
            <a:off x="142875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MODEL RESPONSE</a:t>
            </a:r>
            <a:endParaRPr/>
          </a:p>
        </p:txBody>
      </p:sp>
      <p:sp>
        <p:nvSpPr>
          <p:cNvPr id="457" name="Google Shape;457;p18">
            <a:extLst xmlns:a="http://schemas.openxmlformats.org/drawingml/2006/main">
              <a:ext uri="{FF2B5EF4-FFF2-40B4-BE49-F238E27FC236}">
                <a16:creationId xmlns:a16="http://schemas.microsoft.com/office/drawing/2014/main" id="{689E95E4-83AF-4B43-B8D0-E1CE03FA5435}"/>
              </a:ext>
            </a:extLst>
          </p:cNvPr>
          <p:cNvSpPr>
            <a:spLocks xmlns:a="http://schemas.openxmlformats.org/drawingml/2006/main" noGrp="1"/>
          </p:cNvSpPr>
          <p:nvPr/>
        </p:nvSpPr>
        <p:spPr>
          <a:xfrm xmlns:a="http://schemas.openxmlformats.org/drawingml/2006/main">
            <a:off x="142875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Different representations of the climate system</a:t>
            </a:r>
            <a:endParaRPr/>
          </a:p>
        </p:txBody>
      </p:sp>
      <p:sp>
        <p:nvSpPr>
          <p:cNvPr id="458" name="Google Shape;458;p18">
            <a:extLst xmlns:a="http://schemas.openxmlformats.org/drawingml/2006/main">
              <a:ext uri="{FF2B5EF4-FFF2-40B4-BE49-F238E27FC236}">
                <a16:creationId xmlns:a16="http://schemas.microsoft.com/office/drawing/2014/main" id="{A717A1E9-BA41-434A-8DD7-2EE3BF9C1433}"/>
              </a:ext>
            </a:extLst>
          </p:cNvPr>
          <p:cNvSpPr>
            <a:spLocks xmlns:a="http://schemas.openxmlformats.org/drawingml/2006/main" noGrp="1"/>
          </p:cNvSpPr>
          <p:nvPr/>
        </p:nvSpPr>
        <p:spPr>
          <a:xfrm xmlns:a="http://schemas.openxmlformats.org/drawingml/2006/main">
            <a:off x="455295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425"/>
              <a:buFont typeface="Lato"/>
              <a:buNone/>
            </a:pPr>
            <a:r>
              <a:rPr sz="1425" b="1" i="0">
                <a:solidFill>
                  <a:srgbClr val="F2B632"/>
                </a:solidFill>
                <a:latin typeface="Lato"/>
                <a:ea typeface="Lato"/>
                <a:cs typeface="Lato"/>
              </a:rPr>
              <a:t>02</a:t>
            </a:r>
            <a:endParaRPr/>
          </a:p>
        </p:txBody>
      </p:sp>
      <p:sp>
        <p:nvSpPr>
          <p:cNvPr id="459" name="Google Shape;459;p18">
            <a:extLst xmlns:a="http://schemas.openxmlformats.org/drawingml/2006/main">
              <a:ext uri="{FF2B5EF4-FFF2-40B4-BE49-F238E27FC236}">
                <a16:creationId xmlns:a16="http://schemas.microsoft.com/office/drawing/2014/main" id="{896660FD-F8AE-42C4-BE41-3941A593ABD0}"/>
              </a:ext>
            </a:extLst>
          </p:cNvPr>
          <p:cNvSpPr>
            <a:spLocks xmlns:a="http://schemas.openxmlformats.org/drawingml/2006/main" noGrp="1"/>
          </p:cNvSpPr>
          <p:nvPr/>
        </p:nvSpPr>
        <p:spPr>
          <a:xfrm xmlns:a="http://schemas.openxmlformats.org/drawingml/2006/main">
            <a:off x="514350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FUTURE SCENARIO</a:t>
            </a:r>
            <a:endParaRPr/>
          </a:p>
        </p:txBody>
      </p:sp>
      <p:sp>
        <p:nvSpPr>
          <p:cNvPr id="460" name="Google Shape;460;p18">
            <a:extLst xmlns:a="http://schemas.openxmlformats.org/drawingml/2006/main">
              <a:ext uri="{FF2B5EF4-FFF2-40B4-BE49-F238E27FC236}">
                <a16:creationId xmlns:a16="http://schemas.microsoft.com/office/drawing/2014/main" id="{B9DB4C1C-1353-48BA-9416-013BC82A089B}"/>
              </a:ext>
            </a:extLst>
          </p:cNvPr>
          <p:cNvSpPr>
            <a:spLocks xmlns:a="http://schemas.openxmlformats.org/drawingml/2006/main" noGrp="1"/>
          </p:cNvSpPr>
          <p:nvPr/>
        </p:nvSpPr>
        <p:spPr>
          <a:xfrm xmlns:a="http://schemas.openxmlformats.org/drawingml/2006/main">
            <a:off x="514350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Different future emissions and land-use pathways</a:t>
            </a:r>
            <a:endParaRPr/>
          </a:p>
        </p:txBody>
      </p:sp>
      <p:sp>
        <p:nvSpPr>
          <p:cNvPr id="461" name="Google Shape;461;p18">
            <a:extLst xmlns:a="http://schemas.openxmlformats.org/drawingml/2006/main">
              <a:ext uri="{FF2B5EF4-FFF2-40B4-BE49-F238E27FC236}">
                <a16:creationId xmlns:a16="http://schemas.microsoft.com/office/drawing/2014/main" id="{C42A0854-992B-46AA-A2A8-962CC6A923C1}"/>
              </a:ext>
            </a:extLst>
          </p:cNvPr>
          <p:cNvSpPr>
            <a:spLocks xmlns:a="http://schemas.openxmlformats.org/drawingml/2006/main" noGrp="1"/>
          </p:cNvSpPr>
          <p:nvPr/>
        </p:nvSpPr>
        <p:spPr>
          <a:xfrm xmlns:a="http://schemas.openxmlformats.org/drawingml/2006/main">
            <a:off x="8267700" y="1866900"/>
            <a:ext cx="5143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425"/>
              <a:buFont typeface="Lato"/>
              <a:buNone/>
            </a:pPr>
            <a:r>
              <a:rPr sz="1425" b="1" i="0">
                <a:solidFill>
                  <a:srgbClr val="183A59"/>
                </a:solidFill>
                <a:latin typeface="Lato"/>
                <a:ea typeface="Lato"/>
                <a:cs typeface="Lato"/>
              </a:rPr>
              <a:t>03</a:t>
            </a:r>
            <a:endParaRPr/>
          </a:p>
        </p:txBody>
      </p:sp>
      <p:sp>
        <p:nvSpPr>
          <p:cNvPr id="462" name="Google Shape;462;p18">
            <a:extLst xmlns:a="http://schemas.openxmlformats.org/drawingml/2006/main">
              <a:ext uri="{FF2B5EF4-FFF2-40B4-BE49-F238E27FC236}">
                <a16:creationId xmlns:a16="http://schemas.microsoft.com/office/drawing/2014/main" id="{25D025C4-53D1-4B1A-BBEF-754D4499261A}"/>
              </a:ext>
            </a:extLst>
          </p:cNvPr>
          <p:cNvSpPr>
            <a:spLocks xmlns:a="http://schemas.openxmlformats.org/drawingml/2006/main" noGrp="1"/>
          </p:cNvSpPr>
          <p:nvPr/>
        </p:nvSpPr>
        <p:spPr>
          <a:xfrm xmlns:a="http://schemas.openxmlformats.org/drawingml/2006/main">
            <a:off x="8858250" y="1885950"/>
            <a:ext cx="25717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125"/>
              <a:buFont typeface="Lato"/>
              <a:buNone/>
            </a:pPr>
            <a:r>
              <a:rPr sz="1125" b="1" i="0">
                <a:solidFill>
                  <a:srgbClr val="12304E"/>
                </a:solidFill>
                <a:latin typeface="Lato"/>
                <a:ea typeface="Lato"/>
                <a:cs typeface="Lato"/>
              </a:rPr>
              <a:t>INTERNAL VARIABILITY</a:t>
            </a:r>
            <a:endParaRPr/>
          </a:p>
        </p:txBody>
      </p:sp>
      <p:sp>
        <p:nvSpPr>
          <p:cNvPr id="463" name="Google Shape;463;p18">
            <a:extLst xmlns:a="http://schemas.openxmlformats.org/drawingml/2006/main">
              <a:ext uri="{FF2B5EF4-FFF2-40B4-BE49-F238E27FC236}">
                <a16:creationId xmlns:a16="http://schemas.microsoft.com/office/drawing/2014/main" id="{F69E13BE-26F1-42D1-ABE5-FFC47A930B72}"/>
              </a:ext>
            </a:extLst>
          </p:cNvPr>
          <p:cNvSpPr>
            <a:spLocks xmlns:a="http://schemas.openxmlformats.org/drawingml/2006/main" noGrp="1"/>
          </p:cNvSpPr>
          <p:nvPr/>
        </p:nvSpPr>
        <p:spPr>
          <a:xfrm xmlns:a="http://schemas.openxmlformats.org/drawingml/2006/main">
            <a:off x="8858250" y="2286000"/>
            <a:ext cx="27146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687984"/>
              </a:buClr>
              <a:buSzPts val="1275"/>
              <a:buFont typeface="Lato"/>
              <a:buNone/>
            </a:pPr>
            <a:r>
              <a:rPr sz="1275" b="0" i="0">
                <a:solidFill>
                  <a:srgbClr val="687984"/>
                </a:solidFill>
                <a:latin typeface="Lato"/>
                <a:ea typeface="Lato"/>
                <a:cs typeface="Lato"/>
              </a:rPr>
              <a:t>Natural fluctuations within the climate system</a:t>
            </a:r>
            <a:endParaRPr/>
          </a:p>
        </p:txBody>
      </p:sp>
      <p:sp>
        <p:nvSpPr>
          <p:cNvPr id="464" name="Google Shape;464;p18">
            <a:extLst xmlns:a="http://schemas.openxmlformats.org/drawingml/2006/main">
              <a:ext uri="{FF2B5EF4-FFF2-40B4-BE49-F238E27FC236}">
                <a16:creationId xmlns:a16="http://schemas.microsoft.com/office/drawing/2014/main" id="{6680434F-A1F8-40B9-89C9-F2740F928A93}"/>
              </a:ext>
            </a:extLst>
          </p:cNvPr>
          <p:cNvSpPr>
            <a:spLocks xmlns:a="http://schemas.openxmlformats.org/drawingml/2006/main" noGrp="1"/>
          </p:cNvSpPr>
          <p:nvPr/>
        </p:nvSpPr>
        <p:spPr>
          <a:xfrm xmlns:a="http://schemas.openxmlformats.org/drawingml/2006/main">
            <a:off x="800100" y="3162300"/>
            <a:ext cx="10591800" cy="1009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65" name="Google Shape;465;p18">
            <a:extLst xmlns:a="http://schemas.openxmlformats.org/drawingml/2006/main">
              <a:ext uri="{FF2B5EF4-FFF2-40B4-BE49-F238E27FC236}">
                <a16:creationId xmlns:a16="http://schemas.microsoft.com/office/drawing/2014/main" id="{037B06DE-EB07-4834-BC55-25B143281E20}"/>
              </a:ext>
            </a:extLst>
          </p:cNvPr>
          <p:cNvSpPr>
            <a:spLocks xmlns:a="http://schemas.openxmlformats.org/drawingml/2006/main" noGrp="1"/>
          </p:cNvSpPr>
          <p:nvPr/>
        </p:nvSpPr>
        <p:spPr>
          <a:xfrm xmlns:a="http://schemas.openxmlformats.org/drawingml/2006/main">
            <a:off x="1066800" y="3381375"/>
            <a:ext cx="28575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550"/>
              <a:buFont typeface="Lato"/>
              <a:buNone/>
            </a:pPr>
            <a:r>
              <a:rPr sz="2550" b="1" i="0">
                <a:solidFill>
                  <a:srgbClr val="FFFFFF"/>
                </a:solidFill>
                <a:latin typeface="Lato"/>
                <a:ea typeface="Lato"/>
                <a:cs typeface="Lato"/>
              </a:rPr>
              <a:t>ENSEMBLE</a:t>
            </a:r>
            <a:endParaRPr/>
          </a:p>
        </p:txBody>
      </p:sp>
      <p:sp>
        <p:nvSpPr>
          <p:cNvPr id="466" name="Google Shape;466;p18">
            <a:extLst xmlns:a="http://schemas.openxmlformats.org/drawingml/2006/main">
              <a:ext uri="{FF2B5EF4-FFF2-40B4-BE49-F238E27FC236}">
                <a16:creationId xmlns:a16="http://schemas.microsoft.com/office/drawing/2014/main" id="{2CD3D0F3-CE69-418B-9894-DA1124CC21AD}"/>
              </a:ext>
            </a:extLst>
          </p:cNvPr>
          <p:cNvSpPr>
            <a:spLocks xmlns:a="http://schemas.openxmlformats.org/drawingml/2006/main" noGrp="1"/>
          </p:cNvSpPr>
          <p:nvPr/>
        </p:nvSpPr>
        <p:spPr>
          <a:xfrm xmlns:a="http://schemas.openxmlformats.org/drawingml/2006/main">
            <a:off x="4095750" y="3390900"/>
            <a:ext cx="6762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D7E5EC"/>
              </a:buClr>
              <a:buSzPts val="2025"/>
              <a:buFont typeface="Lato"/>
              <a:buNone/>
            </a:pPr>
            <a:r>
              <a:rPr sz="2025" b="1" i="0">
                <a:solidFill>
                  <a:srgbClr val="D7E5EC"/>
                </a:solidFill>
                <a:latin typeface="Lato"/>
                <a:ea typeface="Lato"/>
                <a:cs typeface="Lato"/>
              </a:rPr>
              <a:t>A range of plausible climate responses</a:t>
            </a:r>
            <a:endParaRPr/>
          </a:p>
        </p:txBody>
      </p:sp>
      <p:sp>
        <p:nvSpPr>
          <p:cNvPr id="467" name="Google Shape;467;p18">
            <a:extLst xmlns:a="http://schemas.openxmlformats.org/drawingml/2006/main">
              <a:ext uri="{FF2B5EF4-FFF2-40B4-BE49-F238E27FC236}">
                <a16:creationId xmlns:a16="http://schemas.microsoft.com/office/drawing/2014/main" id="{00B7BC0C-F59A-4779-B625-154ECD201A7F}"/>
              </a:ext>
            </a:extLst>
          </p:cNvPr>
          <p:cNvSpPr>
            <a:spLocks xmlns:a="http://schemas.openxmlformats.org/drawingml/2006/main" noGrp="1"/>
          </p:cNvSpPr>
          <p:nvPr/>
        </p:nvSpPr>
        <p:spPr>
          <a:xfrm xmlns:a="http://schemas.openxmlformats.org/drawingml/2006/main">
            <a:off x="8763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CENTRE</a:t>
            </a:r>
            <a:endParaRPr/>
          </a:p>
        </p:txBody>
      </p:sp>
      <p:sp>
        <p:nvSpPr>
          <p:cNvPr id="468" name="Google Shape;468;p18">
            <a:extLst xmlns:a="http://schemas.openxmlformats.org/drawingml/2006/main">
              <a:ext uri="{FF2B5EF4-FFF2-40B4-BE49-F238E27FC236}">
                <a16:creationId xmlns:a16="http://schemas.microsoft.com/office/drawing/2014/main" id="{30FE8193-8BEA-4CAA-9E1F-AF65A55F1812}"/>
              </a:ext>
            </a:extLst>
          </p:cNvPr>
          <p:cNvSpPr>
            <a:spLocks xmlns:a="http://schemas.openxmlformats.org/drawingml/2006/main" noGrp="1"/>
          </p:cNvSpPr>
          <p:nvPr/>
        </p:nvSpPr>
        <p:spPr>
          <a:xfrm xmlns:a="http://schemas.openxmlformats.org/drawingml/2006/main">
            <a:off x="8763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Mean or median change</a:t>
            </a:r>
            <a:endParaRPr/>
          </a:p>
        </p:txBody>
      </p:sp>
      <p:sp>
        <p:nvSpPr>
          <p:cNvPr id="469" name="Google Shape;469;p18">
            <a:extLst xmlns:a="http://schemas.openxmlformats.org/drawingml/2006/main">
              <a:ext uri="{FF2B5EF4-FFF2-40B4-BE49-F238E27FC236}">
                <a16:creationId xmlns:a16="http://schemas.microsoft.com/office/drawing/2014/main" id="{46C86866-454C-403C-A390-0F044A2AF31A}"/>
              </a:ext>
            </a:extLst>
          </p:cNvPr>
          <p:cNvSpPr>
            <a:spLocks xmlns:a="http://schemas.openxmlformats.org/drawingml/2006/main" noGrp="1"/>
          </p:cNvSpPr>
          <p:nvPr/>
        </p:nvSpPr>
        <p:spPr>
          <a:xfrm xmlns:a="http://schemas.openxmlformats.org/drawingml/2006/main">
            <a:off x="4210050" y="4552950"/>
            <a:ext cx="9525" cy="8191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70" name="Google Shape;470;p18">
            <a:extLst xmlns:a="http://schemas.openxmlformats.org/drawingml/2006/main">
              <a:ext uri="{FF2B5EF4-FFF2-40B4-BE49-F238E27FC236}">
                <a16:creationId xmlns:a16="http://schemas.microsoft.com/office/drawing/2014/main" id="{0CDF4B39-8753-48A8-BE52-93A230D41155}"/>
              </a:ext>
            </a:extLst>
          </p:cNvPr>
          <p:cNvSpPr>
            <a:spLocks xmlns:a="http://schemas.openxmlformats.org/drawingml/2006/main" noGrp="1"/>
          </p:cNvSpPr>
          <p:nvPr/>
        </p:nvSpPr>
        <p:spPr>
          <a:xfrm xmlns:a="http://schemas.openxmlformats.org/drawingml/2006/main">
            <a:off x="45720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SPREAD</a:t>
            </a:r>
            <a:endParaRPr/>
          </a:p>
        </p:txBody>
      </p:sp>
      <p:sp>
        <p:nvSpPr>
          <p:cNvPr id="471" name="Google Shape;471;p18">
            <a:extLst xmlns:a="http://schemas.openxmlformats.org/drawingml/2006/main">
              <a:ext uri="{FF2B5EF4-FFF2-40B4-BE49-F238E27FC236}">
                <a16:creationId xmlns:a16="http://schemas.microsoft.com/office/drawing/2014/main" id="{190F06E3-B350-4F67-902F-E6F215897797}"/>
              </a:ext>
            </a:extLst>
          </p:cNvPr>
          <p:cNvSpPr>
            <a:spLocks xmlns:a="http://schemas.openxmlformats.org/drawingml/2006/main" noGrp="1"/>
          </p:cNvSpPr>
          <p:nvPr/>
        </p:nvSpPr>
        <p:spPr>
          <a:xfrm xmlns:a="http://schemas.openxmlformats.org/drawingml/2006/main">
            <a:off x="45720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0"/>
              <a:buFont typeface="Lato"/>
              <a:buNone/>
            </a:pPr>
            <a:r>
              <a:rPr sz="1500" b="1" i="0">
                <a:solidFill>
                  <a:srgbClr val="12304E"/>
                </a:solidFill>
                <a:latin typeface="Lato"/>
                <a:ea typeface="Lato"/>
                <a:cs typeface="Lato"/>
              </a:rPr>
              <a:t>Range across models</a:t>
            </a:r>
            <a:endParaRPr/>
          </a:p>
        </p:txBody>
      </p:sp>
      <p:sp>
        <p:nvSpPr>
          <p:cNvPr id="472" name="Google Shape;472;p18">
            <a:extLst xmlns:a="http://schemas.openxmlformats.org/drawingml/2006/main">
              <a:ext uri="{FF2B5EF4-FFF2-40B4-BE49-F238E27FC236}">
                <a16:creationId xmlns:a16="http://schemas.microsoft.com/office/drawing/2014/main" id="{2F15C9BF-0099-41FD-B650-45E5524AD05C}"/>
              </a:ext>
            </a:extLst>
          </p:cNvPr>
          <p:cNvSpPr>
            <a:spLocks xmlns:a="http://schemas.openxmlformats.org/drawingml/2006/main" noGrp="1"/>
          </p:cNvSpPr>
          <p:nvPr/>
        </p:nvSpPr>
        <p:spPr>
          <a:xfrm xmlns:a="http://schemas.openxmlformats.org/drawingml/2006/main">
            <a:off x="7905750" y="4552950"/>
            <a:ext cx="9525" cy="81915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73" name="Google Shape;473;p18">
            <a:extLst xmlns:a="http://schemas.openxmlformats.org/drawingml/2006/main">
              <a:ext uri="{FF2B5EF4-FFF2-40B4-BE49-F238E27FC236}">
                <a16:creationId xmlns:a16="http://schemas.microsoft.com/office/drawing/2014/main" id="{144BA709-A479-404C-8FC6-A7AED8A20074}"/>
              </a:ext>
            </a:extLst>
          </p:cNvPr>
          <p:cNvSpPr>
            <a:spLocks xmlns:a="http://schemas.openxmlformats.org/drawingml/2006/main" noGrp="1"/>
          </p:cNvSpPr>
          <p:nvPr/>
        </p:nvSpPr>
        <p:spPr>
          <a:xfrm xmlns:a="http://schemas.openxmlformats.org/drawingml/2006/main">
            <a:off x="8267700" y="4591050"/>
            <a:ext cx="31432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AGREEMENT</a:t>
            </a:r>
            <a:endParaRPr/>
          </a:p>
        </p:txBody>
      </p:sp>
      <p:sp>
        <p:nvSpPr>
          <p:cNvPr id="474" name="Google Shape;474;p18">
            <a:extLst xmlns:a="http://schemas.openxmlformats.org/drawingml/2006/main">
              <a:ext uri="{FF2B5EF4-FFF2-40B4-BE49-F238E27FC236}">
                <a16:creationId xmlns:a16="http://schemas.microsoft.com/office/drawing/2014/main" id="{4B839E0C-DA27-45D9-968F-CFD190A33332}"/>
              </a:ext>
            </a:extLst>
          </p:cNvPr>
          <p:cNvSpPr>
            <a:spLocks xmlns:a="http://schemas.openxmlformats.org/drawingml/2006/main" noGrp="1"/>
          </p:cNvSpPr>
          <p:nvPr/>
        </p:nvSpPr>
        <p:spPr>
          <a:xfrm xmlns:a="http://schemas.openxmlformats.org/drawingml/2006/main">
            <a:off x="8267700" y="4933950"/>
            <a:ext cx="31432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422"/>
              <a:buFont typeface="Lato"/>
              <a:buNone/>
            </a:pPr>
            <a:r>
              <a:rPr sz="1422" b="1" i="0">
                <a:solidFill>
                  <a:srgbClr val="12304E"/>
                </a:solidFill>
                <a:latin typeface="Lato"/>
                <a:ea typeface="Lato"/>
                <a:cs typeface="Lato"/>
              </a:rPr>
              <a:t>Direction and consistency of change</a:t>
            </a:r>
            <a:endParaRPr/>
          </a:p>
        </p:txBody>
      </p:sp>
    </p:spTree>
    <p:extLst>
      <p:ext uri="{BB962C8B-B14F-4D97-AF65-F5344CB8AC3E}">
        <p14:creationId xmlns:p14="http://schemas.microsoft.com/office/powerpoint/2010/main" val="125626743"/>
      </p:ext>
    </p:extLst>
  </p:cSld>
</p:sld>
</file>

<file path=ppt/slides/slide1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480" name="Google Shape;480;p19">
            <a:extLst xmlns:a="http://schemas.openxmlformats.org/drawingml/2006/main">
              <a:ext uri="{FF2B5EF4-FFF2-40B4-BE49-F238E27FC236}">
                <a16:creationId xmlns:a16="http://schemas.microsoft.com/office/drawing/2014/main" id="{C5E3CAE1-DCAC-4F14-BC3D-F0A81996A4B2}"/>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Variables, indicators and hazards</a:t>
            </a:r>
            <a:endParaRPr/>
          </a:p>
        </p:txBody>
      </p:sp>
      <p:sp>
        <p:nvSpPr>
          <p:cNvPr id="481" name="Google Shape;481;p19">
            <a:extLst xmlns:a="http://schemas.openxmlformats.org/drawingml/2006/main">
              <a:ext uri="{FF2B5EF4-FFF2-40B4-BE49-F238E27FC236}">
                <a16:creationId xmlns:a16="http://schemas.microsoft.com/office/drawing/2014/main" id="{AD01A5CF-FC53-4FC8-BEAA-78B3A020F226}"/>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workflow translates climate variables into quantities that relate to a specific decision</a:t>
            </a:r>
            <a:endParaRPr/>
          </a:p>
        </p:txBody>
      </p:sp>
      <p:sp>
        <p:nvSpPr>
          <p:cNvPr id="482" name="Google Shape;482;p19">
            <a:extLst xmlns:a="http://schemas.openxmlformats.org/drawingml/2006/main">
              <a:ext uri="{FF2B5EF4-FFF2-40B4-BE49-F238E27FC236}">
                <a16:creationId xmlns:a16="http://schemas.microsoft.com/office/drawing/2014/main" id="{D76ED83C-144D-4152-9748-7771A01B9DA8}"/>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3" name="Google Shape;483;p19">
            <a:extLst xmlns:a="http://schemas.openxmlformats.org/drawingml/2006/main">
              <a:ext uri="{FF2B5EF4-FFF2-40B4-BE49-F238E27FC236}">
                <a16:creationId xmlns:a16="http://schemas.microsoft.com/office/drawing/2014/main" id="{31BDC3CD-3B69-4D7E-9C91-C49BD2EFDD70}"/>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4" name="Google Shape;484;p19">
            <a:extLst xmlns:a="http://schemas.openxmlformats.org/drawingml/2006/main">
              <a:ext uri="{FF2B5EF4-FFF2-40B4-BE49-F238E27FC236}">
                <a16:creationId xmlns:a16="http://schemas.microsoft.com/office/drawing/2014/main" id="{F4319127-E88E-4131-99DD-B86CD7A7EF9F}"/>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5" name="Google Shape;485;p19">
            <a:extLst xmlns:a="http://schemas.openxmlformats.org/drawingml/2006/main">
              <a:ext uri="{FF2B5EF4-FFF2-40B4-BE49-F238E27FC236}">
                <a16:creationId xmlns:a16="http://schemas.microsoft.com/office/drawing/2014/main" id="{D37F6950-68C1-47AC-9BD4-5E4EFD85CFF0}"/>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486" name="Google Shape;486;p19">
            <a:extLst xmlns:a="http://schemas.openxmlformats.org/drawingml/2006/main">
              <a:ext uri="{FF2B5EF4-FFF2-40B4-BE49-F238E27FC236}">
                <a16:creationId xmlns:a16="http://schemas.microsoft.com/office/drawing/2014/main" id="{65267447-D309-4516-820E-DDA674800FB8}"/>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17</a:t>
            </a:r>
            <a:endParaRPr/>
          </a:p>
        </p:txBody>
      </p:sp>
      <p:sp>
        <p:nvSpPr>
          <p:cNvPr id="487" name="Google Shape;487;p19">
            <a:extLst xmlns:a="http://schemas.openxmlformats.org/drawingml/2006/main">
              <a:ext uri="{FF2B5EF4-FFF2-40B4-BE49-F238E27FC236}">
                <a16:creationId xmlns:a16="http://schemas.microsoft.com/office/drawing/2014/main" id="{D6170135-BC63-4BE0-972E-E6B0A3B1FC89}"/>
              </a:ext>
            </a:extLst>
          </p:cNvPr>
          <p:cNvSpPr>
            <a:spLocks xmlns:a="http://schemas.openxmlformats.org/drawingml/2006/main" noGrp="1"/>
          </p:cNvSpPr>
          <p:nvPr/>
        </p:nvSpPr>
        <p:spPr>
          <a:xfrm xmlns:a="http://schemas.openxmlformats.org/drawingml/2006/main">
            <a:off x="666750" y="2019300"/>
            <a:ext cx="2781300" cy="22669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88" name="Google Shape;488;p19">
            <a:extLst xmlns:a="http://schemas.openxmlformats.org/drawingml/2006/main">
              <a:ext uri="{FF2B5EF4-FFF2-40B4-BE49-F238E27FC236}">
                <a16:creationId xmlns:a16="http://schemas.microsoft.com/office/drawing/2014/main" id="{634273FA-5505-48CF-BC6E-F4F13470446A}"/>
              </a:ext>
            </a:extLst>
          </p:cNvPr>
          <p:cNvSpPr>
            <a:spLocks xmlns:a="http://schemas.openxmlformats.org/drawingml/2006/main" noGrp="1"/>
          </p:cNvSpPr>
          <p:nvPr/>
        </p:nvSpPr>
        <p:spPr>
          <a:xfrm xmlns:a="http://schemas.openxmlformats.org/drawingml/2006/main">
            <a:off x="8953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350"/>
              <a:buFont typeface="Lato"/>
              <a:buNone/>
            </a:pPr>
            <a:r>
              <a:rPr sz="1350" b="1" i="0">
                <a:solidFill>
                  <a:srgbClr val="183A59"/>
                </a:solidFill>
                <a:latin typeface="Lato"/>
                <a:ea typeface="Lato"/>
                <a:cs typeface="Lato"/>
              </a:rPr>
              <a:t>01</a:t>
            </a:r>
            <a:endParaRPr/>
          </a:p>
        </p:txBody>
      </p:sp>
      <p:sp>
        <p:nvSpPr>
          <p:cNvPr id="489" name="Google Shape;489;p19">
            <a:extLst xmlns:a="http://schemas.openxmlformats.org/drawingml/2006/main">
              <a:ext uri="{FF2B5EF4-FFF2-40B4-BE49-F238E27FC236}">
                <a16:creationId xmlns:a16="http://schemas.microsoft.com/office/drawing/2014/main" id="{3692FF7C-873A-4A7D-8294-445C8989973B}"/>
              </a:ext>
            </a:extLst>
          </p:cNvPr>
          <p:cNvSpPr>
            <a:spLocks xmlns:a="http://schemas.openxmlformats.org/drawingml/2006/main" noGrp="1"/>
          </p:cNvSpPr>
          <p:nvPr/>
        </p:nvSpPr>
        <p:spPr>
          <a:xfrm xmlns:a="http://schemas.openxmlformats.org/drawingml/2006/main">
            <a:off x="8953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VARIABLE</a:t>
            </a:r>
            <a:endParaRPr/>
          </a:p>
        </p:txBody>
      </p:sp>
      <p:sp>
        <p:nvSpPr>
          <p:cNvPr id="490" name="Google Shape;490;p19">
            <a:extLst xmlns:a="http://schemas.openxmlformats.org/drawingml/2006/main">
              <a:ext uri="{FF2B5EF4-FFF2-40B4-BE49-F238E27FC236}">
                <a16:creationId xmlns:a16="http://schemas.microsoft.com/office/drawing/2014/main" id="{70345A88-B700-4105-8FD6-DDE10CBCE834}"/>
              </a:ext>
            </a:extLst>
          </p:cNvPr>
          <p:cNvSpPr>
            <a:spLocks xmlns:a="http://schemas.openxmlformats.org/drawingml/2006/main" noGrp="1"/>
          </p:cNvSpPr>
          <p:nvPr/>
        </p:nvSpPr>
        <p:spPr>
          <a:xfrm xmlns:a="http://schemas.openxmlformats.org/drawingml/2006/main">
            <a:off x="8953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50"/>
              <a:buFont typeface="Lato"/>
              <a:buNone/>
            </a:pPr>
            <a:r>
              <a:rPr sz="1650" b="1" i="0">
                <a:solidFill>
                  <a:srgbClr val="12304E"/>
                </a:solidFill>
                <a:latin typeface="Lato"/>
                <a:ea typeface="Lato"/>
                <a:cs typeface="Lato"/>
              </a:rPr>
              <a:t>Daily maximum temperature</a:t>
            </a:r>
            <a:endParaRPr/>
          </a:p>
        </p:txBody>
      </p:sp>
      <p:sp>
        <p:nvSpPr>
          <p:cNvPr id="491" name="Google Shape;491;p19">
            <a:extLst xmlns:a="http://schemas.openxmlformats.org/drawingml/2006/main">
              <a:ext uri="{FF2B5EF4-FFF2-40B4-BE49-F238E27FC236}">
                <a16:creationId xmlns:a16="http://schemas.microsoft.com/office/drawing/2014/main" id="{5CF3C042-DD4B-46A6-BF78-05729B6BF777}"/>
              </a:ext>
            </a:extLst>
          </p:cNvPr>
          <p:cNvSpPr>
            <a:spLocks xmlns:a="http://schemas.openxmlformats.org/drawingml/2006/main" noGrp="1"/>
          </p:cNvSpPr>
          <p:nvPr/>
        </p:nvSpPr>
        <p:spPr>
          <a:xfrm xmlns:a="http://schemas.openxmlformats.org/drawingml/2006/main">
            <a:off x="3448050" y="2019300"/>
            <a:ext cx="2781300" cy="22669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92" name="Google Shape;492;p19">
            <a:extLst xmlns:a="http://schemas.openxmlformats.org/drawingml/2006/main">
              <a:ext uri="{FF2B5EF4-FFF2-40B4-BE49-F238E27FC236}">
                <a16:creationId xmlns:a16="http://schemas.microsoft.com/office/drawing/2014/main" id="{240EBB50-9CC3-4FBA-9180-31210E44356C}"/>
              </a:ext>
            </a:extLst>
          </p:cNvPr>
          <p:cNvSpPr>
            <a:spLocks xmlns:a="http://schemas.openxmlformats.org/drawingml/2006/main" noGrp="1"/>
          </p:cNvSpPr>
          <p:nvPr/>
        </p:nvSpPr>
        <p:spPr>
          <a:xfrm xmlns:a="http://schemas.openxmlformats.org/drawingml/2006/main">
            <a:off x="36766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350"/>
              <a:buFont typeface="Lato"/>
              <a:buNone/>
            </a:pPr>
            <a:r>
              <a:rPr sz="1350" b="1" i="0">
                <a:solidFill>
                  <a:srgbClr val="00A88F"/>
                </a:solidFill>
                <a:latin typeface="Lato"/>
                <a:ea typeface="Lato"/>
                <a:cs typeface="Lato"/>
              </a:rPr>
              <a:t>02</a:t>
            </a:r>
            <a:endParaRPr/>
          </a:p>
        </p:txBody>
      </p:sp>
      <p:sp>
        <p:nvSpPr>
          <p:cNvPr id="493" name="Google Shape;493;p19">
            <a:extLst xmlns:a="http://schemas.openxmlformats.org/drawingml/2006/main">
              <a:ext uri="{FF2B5EF4-FFF2-40B4-BE49-F238E27FC236}">
                <a16:creationId xmlns:a16="http://schemas.microsoft.com/office/drawing/2014/main" id="{D88E7D36-5868-45AB-B046-B5B6E9DF03ED}"/>
              </a:ext>
            </a:extLst>
          </p:cNvPr>
          <p:cNvSpPr>
            <a:spLocks xmlns:a="http://schemas.openxmlformats.org/drawingml/2006/main" noGrp="1"/>
          </p:cNvSpPr>
          <p:nvPr/>
        </p:nvSpPr>
        <p:spPr>
          <a:xfrm xmlns:a="http://schemas.openxmlformats.org/drawingml/2006/main">
            <a:off x="36766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494" name="Google Shape;494;p19">
            <a:extLst xmlns:a="http://schemas.openxmlformats.org/drawingml/2006/main">
              <a:ext uri="{FF2B5EF4-FFF2-40B4-BE49-F238E27FC236}">
                <a16:creationId xmlns:a16="http://schemas.microsoft.com/office/drawing/2014/main" id="{F0D43651-0389-4628-8C51-8B684A3ADF08}"/>
              </a:ext>
            </a:extLst>
          </p:cNvPr>
          <p:cNvSpPr>
            <a:spLocks xmlns:a="http://schemas.openxmlformats.org/drawingml/2006/main" noGrp="1"/>
          </p:cNvSpPr>
          <p:nvPr/>
        </p:nvSpPr>
        <p:spPr>
          <a:xfrm xmlns:a="http://schemas.openxmlformats.org/drawingml/2006/main">
            <a:off x="36766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50"/>
              <a:buFont typeface="Lato"/>
              <a:buNone/>
            </a:pPr>
            <a:r>
              <a:rPr sz="1650" b="1" i="0">
                <a:solidFill>
                  <a:srgbClr val="12304E"/>
                </a:solidFill>
                <a:latin typeface="Lato"/>
                <a:ea typeface="Lato"/>
                <a:cs typeface="Lato"/>
              </a:rPr>
              <a:t>Days above 35°C</a:t>
            </a:r>
            <a:endParaRPr/>
          </a:p>
        </p:txBody>
      </p:sp>
      <p:sp>
        <p:nvSpPr>
          <p:cNvPr id="495" name="Google Shape;495;p19">
            <a:extLst xmlns:a="http://schemas.openxmlformats.org/drawingml/2006/main">
              <a:ext uri="{FF2B5EF4-FFF2-40B4-BE49-F238E27FC236}">
                <a16:creationId xmlns:a16="http://schemas.microsoft.com/office/drawing/2014/main" id="{98237208-ED91-4443-8F39-B336195591B7}"/>
              </a:ext>
            </a:extLst>
          </p:cNvPr>
          <p:cNvSpPr>
            <a:spLocks xmlns:a="http://schemas.openxmlformats.org/drawingml/2006/main" noGrp="1"/>
          </p:cNvSpPr>
          <p:nvPr/>
        </p:nvSpPr>
        <p:spPr>
          <a:xfrm xmlns:a="http://schemas.openxmlformats.org/drawingml/2006/main">
            <a:off x="6229350" y="2019300"/>
            <a:ext cx="2781300" cy="22669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496" name="Google Shape;496;p19">
            <a:extLst xmlns:a="http://schemas.openxmlformats.org/drawingml/2006/main">
              <a:ext uri="{FF2B5EF4-FFF2-40B4-BE49-F238E27FC236}">
                <a16:creationId xmlns:a16="http://schemas.microsoft.com/office/drawing/2014/main" id="{7A014036-775F-4900-93F2-D4AFA7C3EB54}"/>
              </a:ext>
            </a:extLst>
          </p:cNvPr>
          <p:cNvSpPr>
            <a:spLocks xmlns:a="http://schemas.openxmlformats.org/drawingml/2006/main" noGrp="1"/>
          </p:cNvSpPr>
          <p:nvPr/>
        </p:nvSpPr>
        <p:spPr>
          <a:xfrm xmlns:a="http://schemas.openxmlformats.org/drawingml/2006/main">
            <a:off x="64579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350"/>
              <a:buFont typeface="Lato"/>
              <a:buNone/>
            </a:pPr>
            <a:r>
              <a:rPr sz="1350" b="1" i="0">
                <a:solidFill>
                  <a:srgbClr val="F2B632"/>
                </a:solidFill>
                <a:latin typeface="Lato"/>
                <a:ea typeface="Lato"/>
                <a:cs typeface="Lato"/>
              </a:rPr>
              <a:t>03</a:t>
            </a:r>
            <a:endParaRPr/>
          </a:p>
        </p:txBody>
      </p:sp>
      <p:sp>
        <p:nvSpPr>
          <p:cNvPr id="497" name="Google Shape;497;p19">
            <a:extLst xmlns:a="http://schemas.openxmlformats.org/drawingml/2006/main">
              <a:ext uri="{FF2B5EF4-FFF2-40B4-BE49-F238E27FC236}">
                <a16:creationId xmlns:a16="http://schemas.microsoft.com/office/drawing/2014/main" id="{4C33AAB3-6874-45D1-A022-158964E4562B}"/>
              </a:ext>
            </a:extLst>
          </p:cNvPr>
          <p:cNvSpPr>
            <a:spLocks xmlns:a="http://schemas.openxmlformats.org/drawingml/2006/main" noGrp="1"/>
          </p:cNvSpPr>
          <p:nvPr/>
        </p:nvSpPr>
        <p:spPr>
          <a:xfrm xmlns:a="http://schemas.openxmlformats.org/drawingml/2006/main">
            <a:off x="64579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CHANGE</a:t>
            </a:r>
            <a:endParaRPr/>
          </a:p>
        </p:txBody>
      </p:sp>
      <p:sp>
        <p:nvSpPr>
          <p:cNvPr id="498" name="Google Shape;498;p19">
            <a:extLst xmlns:a="http://schemas.openxmlformats.org/drawingml/2006/main">
              <a:ext uri="{FF2B5EF4-FFF2-40B4-BE49-F238E27FC236}">
                <a16:creationId xmlns:a16="http://schemas.microsoft.com/office/drawing/2014/main" id="{173C36E3-4092-4FF1-9420-76A874BB0D15}"/>
              </a:ext>
            </a:extLst>
          </p:cNvPr>
          <p:cNvSpPr>
            <a:spLocks xmlns:a="http://schemas.openxmlformats.org/drawingml/2006/main" noGrp="1"/>
          </p:cNvSpPr>
          <p:nvPr/>
        </p:nvSpPr>
        <p:spPr>
          <a:xfrm xmlns:a="http://schemas.openxmlformats.org/drawingml/2006/main">
            <a:off x="64579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606"/>
              <a:buFont typeface="Lato"/>
              <a:buNone/>
            </a:pPr>
            <a:r>
              <a:rPr sz="1607" b="1" i="0">
                <a:solidFill>
                  <a:srgbClr val="12304E"/>
                </a:solidFill>
                <a:latin typeface="Lato"/>
                <a:ea typeface="Lato"/>
                <a:cs typeface="Lato"/>
              </a:rPr>
              <a:t>Future period compared with baseline</a:t>
            </a:r>
            <a:endParaRPr/>
          </a:p>
        </p:txBody>
      </p:sp>
      <p:sp>
        <p:nvSpPr>
          <p:cNvPr id="499" name="Google Shape;499;p19">
            <a:extLst xmlns:a="http://schemas.openxmlformats.org/drawingml/2006/main">
              <a:ext uri="{FF2B5EF4-FFF2-40B4-BE49-F238E27FC236}">
                <a16:creationId xmlns:a16="http://schemas.microsoft.com/office/drawing/2014/main" id="{3A33DDA4-38A3-4A52-A0B6-2A800E495555}"/>
              </a:ext>
            </a:extLst>
          </p:cNvPr>
          <p:cNvSpPr>
            <a:spLocks xmlns:a="http://schemas.openxmlformats.org/drawingml/2006/main" noGrp="1"/>
          </p:cNvSpPr>
          <p:nvPr/>
        </p:nvSpPr>
        <p:spPr>
          <a:xfrm xmlns:a="http://schemas.openxmlformats.org/drawingml/2006/main">
            <a:off x="9010650" y="2019300"/>
            <a:ext cx="2781300" cy="2266950"/>
          </a:xfrm>
          <a:prstGeom xmlns:a="http://schemas.openxmlformats.org/drawingml/2006/main" prst="rect">
            <a:avLst/>
          </a:prstGeom>
          <a:solidFill xmlns:a="http://schemas.openxmlformats.org/drawingml/2006/main">
            <a:srgbClr val="DCEBE7"/>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0" name="Google Shape;500;p19">
            <a:extLst xmlns:a="http://schemas.openxmlformats.org/drawingml/2006/main">
              <a:ext uri="{FF2B5EF4-FFF2-40B4-BE49-F238E27FC236}">
                <a16:creationId xmlns:a16="http://schemas.microsoft.com/office/drawing/2014/main" id="{FE57EC7E-EE2D-4318-8096-5713D86F40C6}"/>
              </a:ext>
            </a:extLst>
          </p:cNvPr>
          <p:cNvSpPr>
            <a:spLocks xmlns:a="http://schemas.openxmlformats.org/drawingml/2006/main" noGrp="1"/>
          </p:cNvSpPr>
          <p:nvPr/>
        </p:nvSpPr>
        <p:spPr>
          <a:xfrm xmlns:a="http://schemas.openxmlformats.org/drawingml/2006/main">
            <a:off x="9239250" y="2266950"/>
            <a:ext cx="514350" cy="28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350"/>
              <a:buFont typeface="Lato"/>
              <a:buNone/>
            </a:pPr>
            <a:r>
              <a:rPr sz="1350" b="1" i="0">
                <a:solidFill>
                  <a:srgbClr val="008D7A"/>
                </a:solidFill>
                <a:latin typeface="Lato"/>
                <a:ea typeface="Lato"/>
                <a:cs typeface="Lato"/>
              </a:rPr>
              <a:t>04</a:t>
            </a:r>
            <a:endParaRPr/>
          </a:p>
        </p:txBody>
      </p:sp>
      <p:sp>
        <p:nvSpPr>
          <p:cNvPr id="501" name="Google Shape;501;p19">
            <a:extLst xmlns:a="http://schemas.openxmlformats.org/drawingml/2006/main">
              <a:ext uri="{FF2B5EF4-FFF2-40B4-BE49-F238E27FC236}">
                <a16:creationId xmlns:a16="http://schemas.microsoft.com/office/drawing/2014/main" id="{4C81DFD4-D4D1-4000-BBBE-D0B9C449F1BF}"/>
              </a:ext>
            </a:extLst>
          </p:cNvPr>
          <p:cNvSpPr>
            <a:spLocks xmlns:a="http://schemas.openxmlformats.org/drawingml/2006/main" noGrp="1"/>
          </p:cNvSpPr>
          <p:nvPr/>
        </p:nvSpPr>
        <p:spPr>
          <a:xfrm xmlns:a="http://schemas.openxmlformats.org/drawingml/2006/main">
            <a:off x="9239250" y="2762250"/>
            <a:ext cx="2324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050"/>
              <a:buFont typeface="Lato"/>
              <a:buNone/>
            </a:pPr>
            <a:r>
              <a:rPr sz="1050" b="1" i="0">
                <a:solidFill>
                  <a:srgbClr val="008D7A"/>
                </a:solidFill>
                <a:latin typeface="Lato"/>
                <a:ea typeface="Lato"/>
                <a:cs typeface="Lato"/>
              </a:rPr>
              <a:t>HAZARD SIGNAL</a:t>
            </a:r>
            <a:endParaRPr/>
          </a:p>
        </p:txBody>
      </p:sp>
      <p:sp>
        <p:nvSpPr>
          <p:cNvPr id="502" name="Google Shape;502;p19">
            <a:extLst xmlns:a="http://schemas.openxmlformats.org/drawingml/2006/main">
              <a:ext uri="{FF2B5EF4-FFF2-40B4-BE49-F238E27FC236}">
                <a16:creationId xmlns:a16="http://schemas.microsoft.com/office/drawing/2014/main" id="{59CA92F9-E6DC-4EA2-A18D-37FE04C483FB}"/>
              </a:ext>
            </a:extLst>
          </p:cNvPr>
          <p:cNvSpPr>
            <a:spLocks xmlns:a="http://schemas.openxmlformats.org/drawingml/2006/main" noGrp="1"/>
          </p:cNvSpPr>
          <p:nvPr/>
        </p:nvSpPr>
        <p:spPr>
          <a:xfrm xmlns:a="http://schemas.openxmlformats.org/drawingml/2006/main">
            <a:off x="9239250" y="3314700"/>
            <a:ext cx="23241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2000"/>
              </a:lnSpc>
              <a:spcBef>
                <a:spcPts val="0"/>
              </a:spcBef>
              <a:spcAft>
                <a:spcPts val="0"/>
              </a:spcAft>
              <a:buClr>
                <a:srgbClr val="12304E"/>
              </a:buClr>
              <a:buSzPts val="1593"/>
              <a:buFont typeface="Lato"/>
              <a:buNone/>
            </a:pPr>
            <a:r>
              <a:rPr sz="1594" b="1" i="0">
                <a:solidFill>
                  <a:srgbClr val="12304E"/>
                </a:solidFill>
                <a:latin typeface="Lato"/>
                <a:ea typeface="Lato"/>
                <a:cs typeface="Lato"/>
              </a:rPr>
              <a:t>Change in extreme-heat conditions</a:t>
            </a:r>
            <a:endParaRPr/>
          </a:p>
        </p:txBody>
      </p:sp>
      <p:sp>
        <p:nvSpPr>
          <p:cNvPr id="503" name="Google Shape;503;p19">
            <a:extLst xmlns:a="http://schemas.openxmlformats.org/drawingml/2006/main">
              <a:ext uri="{FF2B5EF4-FFF2-40B4-BE49-F238E27FC236}">
                <a16:creationId xmlns:a16="http://schemas.microsoft.com/office/drawing/2014/main" id="{26DA7511-375D-4341-85D0-19B38E366482}"/>
              </a:ext>
            </a:extLst>
          </p:cNvPr>
          <p:cNvSpPr>
            <a:spLocks xmlns:a="http://schemas.openxmlformats.org/drawingml/2006/main" noGrp="1"/>
          </p:cNvSpPr>
          <p:nvPr/>
        </p:nvSpPr>
        <p:spPr>
          <a:xfrm xmlns:a="http://schemas.openxmlformats.org/drawingml/2006/main">
            <a:off x="666750" y="4286250"/>
            <a:ext cx="11125200" cy="66675"/>
          </a:xfrm>
          <a:prstGeom xmlns:a="http://schemas.openxmlformats.org/drawingml/2006/main" prst="rect">
            <a:avLst/>
          </a:prstGeom>
          <a:gradFill xmlns:a="http://schemas.openxmlformats.org/drawingml/2006/main">
            <a:gsLst>
              <a:gs pos="0">
                <a:srgbClr val="183A59"/>
              </a:gs>
              <a:gs pos="38000">
                <a:srgbClr val="00A88F"/>
              </a:gs>
              <a:gs pos="70000">
                <a:srgbClr val="F2B632"/>
              </a:gs>
              <a:gs pos="100000">
                <a:srgbClr val="008D7A"/>
              </a:gs>
            </a:gsLst>
            <a:lin ang="0" scaled="0"/>
          </a:gra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04" name="Google Shape;504;p19">
            <a:extLst xmlns:a="http://schemas.openxmlformats.org/drawingml/2006/main">
              <a:ext uri="{FF2B5EF4-FFF2-40B4-BE49-F238E27FC236}">
                <a16:creationId xmlns:a16="http://schemas.microsoft.com/office/drawing/2014/main" id="{6E2D211F-54B1-4B50-A276-A1E6251D19DD}"/>
              </a:ext>
            </a:extLst>
          </p:cNvPr>
          <p:cNvSpPr>
            <a:spLocks xmlns:a="http://schemas.openxmlformats.org/drawingml/2006/main" noGrp="1"/>
          </p:cNvSpPr>
          <p:nvPr/>
        </p:nvSpPr>
        <p:spPr>
          <a:xfrm xmlns:a="http://schemas.openxmlformats.org/drawingml/2006/main">
            <a:off x="819150" y="4762500"/>
            <a:ext cx="4953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616"/>
              <a:buFont typeface="Lato"/>
              <a:buNone/>
            </a:pPr>
            <a:r>
              <a:rPr sz="1616" b="1" i="0">
                <a:solidFill>
                  <a:srgbClr val="008D7A"/>
                </a:solidFill>
                <a:latin typeface="Lato"/>
                <a:ea typeface="Lato"/>
                <a:cs typeface="Lato"/>
              </a:rPr>
              <a:t>Context determines how the signal should be used</a:t>
            </a:r>
            <a:endParaRPr/>
          </a:p>
        </p:txBody>
      </p:sp>
      <p:sp>
        <p:nvSpPr>
          <p:cNvPr id="505" name="Google Shape;505;p19">
            <a:extLst xmlns:a="http://schemas.openxmlformats.org/drawingml/2006/main">
              <a:ext uri="{FF2B5EF4-FFF2-40B4-BE49-F238E27FC236}">
                <a16:creationId xmlns:a16="http://schemas.microsoft.com/office/drawing/2014/main" id="{4A813FBB-5569-4FCE-B4BC-F09843FDA3FB}"/>
              </a:ext>
            </a:extLst>
          </p:cNvPr>
          <p:cNvSpPr>
            <a:spLocks xmlns:a="http://schemas.openxmlformats.org/drawingml/2006/main" noGrp="1"/>
          </p:cNvSpPr>
          <p:nvPr/>
        </p:nvSpPr>
        <p:spPr>
          <a:xfrm xmlns:a="http://schemas.openxmlformats.org/drawingml/2006/main">
            <a:off x="6019800" y="4752975"/>
            <a:ext cx="5200650" cy="4286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12304E"/>
              </a:buClr>
              <a:buSzPts val="1339"/>
              <a:buFont typeface="Lato"/>
              <a:buNone/>
            </a:pPr>
            <a:r>
              <a:rPr sz="1339" b="0" i="0">
                <a:solidFill>
                  <a:srgbClr val="12304E"/>
                </a:solidFill>
                <a:latin typeface="Lato"/>
                <a:ea typeface="Lato"/>
                <a:cs typeface="Lato"/>
              </a:rPr>
              <a:t>Threshold, season, baseline, exposure and vulnerability all affect interpretation.</a:t>
            </a:r>
            <a:endParaRPr/>
          </a:p>
        </p:txBody>
      </p:sp>
    </p:spTree>
    <p:extLst>
      <p:ext uri="{BB962C8B-B14F-4D97-AF65-F5344CB8AC3E}">
        <p14:creationId xmlns:p14="http://schemas.microsoft.com/office/powerpoint/2010/main" val="1718668722"/>
      </p:ext>
    </p:extLst>
  </p:cSld>
</p:sld>
</file>

<file path=ppt/slides/slide1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11" name="Google Shape;511;p20">
            <a:extLst xmlns:a="http://schemas.openxmlformats.org/drawingml/2006/main">
              <a:ext uri="{FF2B5EF4-FFF2-40B4-BE49-F238E27FC236}">
                <a16:creationId xmlns:a16="http://schemas.microsoft.com/office/drawing/2014/main" id="{763E604C-28CA-457F-B283-BB448A63879B}"/>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What problem does CAVA solve?</a:t>
            </a:r>
            <a:endParaRPr/>
          </a:p>
        </p:txBody>
      </p:sp>
      <p:sp>
        <p:nvSpPr>
          <p:cNvPr id="512" name="Google Shape;512;p20">
            <a:extLst xmlns:a="http://schemas.openxmlformats.org/drawingml/2006/main">
              <a:ext uri="{FF2B5EF4-FFF2-40B4-BE49-F238E27FC236}">
                <a16:creationId xmlns:a16="http://schemas.microsoft.com/office/drawing/2014/main" id="{2EE7BDF7-66A8-4568-A930-3CCEEA3E09A5}"/>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CAVA replaces repeated data preparation with shared access, harmonized processing and reusable analytical workflows</a:t>
            </a:r>
            <a:endParaRPr/>
          </a:p>
        </p:txBody>
      </p:sp>
      <p:sp>
        <p:nvSpPr>
          <p:cNvPr id="513" name="Google Shape;513;p20">
            <a:extLst xmlns:a="http://schemas.openxmlformats.org/drawingml/2006/main">
              <a:ext uri="{FF2B5EF4-FFF2-40B4-BE49-F238E27FC236}">
                <a16:creationId xmlns:a16="http://schemas.microsoft.com/office/drawing/2014/main" id="{D3127B17-D5DF-45E7-8817-9EDFCC56EF6E}"/>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4" name="Google Shape;514;p20">
            <a:extLst xmlns:a="http://schemas.openxmlformats.org/drawingml/2006/main">
              <a:ext uri="{FF2B5EF4-FFF2-40B4-BE49-F238E27FC236}">
                <a16:creationId xmlns:a16="http://schemas.microsoft.com/office/drawing/2014/main" id="{617EA439-F317-4393-9A4C-27E8A3E4403C}"/>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5" name="Google Shape;515;p20">
            <a:extLst xmlns:a="http://schemas.openxmlformats.org/drawingml/2006/main">
              <a:ext uri="{FF2B5EF4-FFF2-40B4-BE49-F238E27FC236}">
                <a16:creationId xmlns:a16="http://schemas.microsoft.com/office/drawing/2014/main" id="{8624C967-8EE2-42C1-ACD7-76A1C3D26660}"/>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16" name="Google Shape;516;p20">
            <a:extLst xmlns:a="http://schemas.openxmlformats.org/drawingml/2006/main">
              <a:ext uri="{FF2B5EF4-FFF2-40B4-BE49-F238E27FC236}">
                <a16:creationId xmlns:a16="http://schemas.microsoft.com/office/drawing/2014/main" id="{F9238C2D-2138-4D26-BF93-C1809545D6F3}"/>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17" name="Google Shape;517;p20">
            <a:extLst xmlns:a="http://schemas.openxmlformats.org/drawingml/2006/main">
              <a:ext uri="{FF2B5EF4-FFF2-40B4-BE49-F238E27FC236}">
                <a16:creationId xmlns:a16="http://schemas.microsoft.com/office/drawing/2014/main" id="{3B212826-97C0-4DC8-9C35-9BDFC8C6BC03}"/>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b="0" i="0">
                <a:solidFill>
                  <a:srgbClr val="687984"/>
                </a:solidFill>
                <a:latin typeface="Lato"/>
                <a:ea typeface="Lato"/>
                <a:cs typeface="Lato"/>
              </a:rPr>
              <a:t>18</a:t>
            </a:r>
            <a:endParaRPr/>
          </a:p>
        </p:txBody>
      </p:sp>
      <p:sp>
        <p:nvSpPr>
          <p:cNvPr id="518" name="Google Shape;518;p20">
            <a:extLst xmlns:a="http://schemas.openxmlformats.org/drawingml/2006/main">
              <a:ext uri="{FF2B5EF4-FFF2-40B4-BE49-F238E27FC236}">
                <a16:creationId xmlns:a16="http://schemas.microsoft.com/office/drawing/2014/main" id="{3867420D-26D1-4DCB-A2BC-6DE1138B462F}"/>
              </a:ext>
            </a:extLst>
          </p:cNvPr>
          <p:cNvSpPr>
            <a:spLocks xmlns:a="http://schemas.openxmlformats.org/drawingml/2006/main" noGrp="1"/>
          </p:cNvSpPr>
          <p:nvPr/>
        </p:nvSpPr>
        <p:spPr>
          <a:xfrm xmlns:a="http://schemas.openxmlformats.org/drawingml/2006/main">
            <a:off x="81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Search across climate catalogues</a:t>
            </a:r>
            <a:endParaRPr/>
          </a:p>
        </p:txBody>
      </p:sp>
      <p:sp>
        <p:nvSpPr>
          <p:cNvPr id="519" name="Google Shape;519;p20">
            <a:extLst xmlns:a="http://schemas.openxmlformats.org/drawingml/2006/main">
              <a:ext uri="{FF2B5EF4-FFF2-40B4-BE49-F238E27FC236}">
                <a16:creationId xmlns:a16="http://schemas.microsoft.com/office/drawing/2014/main" id="{7B37F332-A975-470E-986A-784FD521BF1E}"/>
              </a:ext>
            </a:extLst>
          </p:cNvPr>
          <p:cNvSpPr>
            <a:spLocks xmlns:a="http://schemas.openxmlformats.org/drawingml/2006/main" noGrp="1"/>
          </p:cNvSpPr>
          <p:nvPr/>
        </p:nvSpPr>
        <p:spPr>
          <a:xfrm xmlns:a="http://schemas.openxmlformats.org/drawingml/2006/main">
            <a:off x="819150" y="25527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Configure access and downloads</a:t>
            </a:r>
            <a:endParaRPr/>
          </a:p>
        </p:txBody>
      </p:sp>
      <p:sp>
        <p:nvSpPr>
          <p:cNvPr id="520" name="Google Shape;520;p20">
            <a:extLst xmlns:a="http://schemas.openxmlformats.org/drawingml/2006/main">
              <a:ext uri="{FF2B5EF4-FFF2-40B4-BE49-F238E27FC236}">
                <a16:creationId xmlns:a16="http://schemas.microsoft.com/office/drawing/2014/main" id="{2041B79C-7384-4778-8EB1-AFC16EC05D33}"/>
              </a:ext>
            </a:extLst>
          </p:cNvPr>
          <p:cNvSpPr>
            <a:spLocks xmlns:a="http://schemas.openxmlformats.org/drawingml/2006/main" noGrp="1"/>
          </p:cNvSpPr>
          <p:nvPr/>
        </p:nvSpPr>
        <p:spPr>
          <a:xfrm xmlns:a="http://schemas.openxmlformats.org/drawingml/2006/main">
            <a:off x="81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Reconcile grids, units and calendars</a:t>
            </a:r>
            <a:endParaRPr/>
          </a:p>
        </p:txBody>
      </p:sp>
      <p:sp>
        <p:nvSpPr>
          <p:cNvPr id="521" name="Google Shape;521;p20">
            <a:extLst xmlns:a="http://schemas.openxmlformats.org/drawingml/2006/main">
              <a:ext uri="{FF2B5EF4-FFF2-40B4-BE49-F238E27FC236}">
                <a16:creationId xmlns:a16="http://schemas.microsoft.com/office/drawing/2014/main" id="{F7ADA699-2354-4BF4-A251-D0823DCB2308}"/>
              </a:ext>
            </a:extLst>
          </p:cNvPr>
          <p:cNvSpPr>
            <a:spLocks xmlns:a="http://schemas.openxmlformats.org/drawingml/2006/main" noGrp="1"/>
          </p:cNvSpPr>
          <p:nvPr/>
        </p:nvSpPr>
        <p:spPr>
          <a:xfrm xmlns:a="http://schemas.openxmlformats.org/drawingml/2006/main">
            <a:off x="81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Repeat the workflow for each analysis</a:t>
            </a:r>
            <a:endParaRPr/>
          </a:p>
        </p:txBody>
      </p:sp>
      <p:sp>
        <p:nvSpPr>
          <p:cNvPr id="522" name="Google Shape;522;p20">
            <a:extLst xmlns:a="http://schemas.openxmlformats.org/drawingml/2006/main">
              <a:ext uri="{FF2B5EF4-FFF2-40B4-BE49-F238E27FC236}">
                <a16:creationId xmlns:a16="http://schemas.microsoft.com/office/drawing/2014/main" id="{D7CCBA18-FF11-4D36-8D38-82A32809A578}"/>
              </a:ext>
            </a:extLst>
          </p:cNvPr>
          <p:cNvSpPr>
            <a:spLocks xmlns:a="http://schemas.openxmlformats.org/drawingml/2006/main" noGrp="1"/>
          </p:cNvSpPr>
          <p:nvPr/>
        </p:nvSpPr>
        <p:spPr>
          <a:xfrm xmlns:a="http://schemas.openxmlformats.org/drawingml/2006/main">
            <a:off x="4438650" y="1866900"/>
            <a:ext cx="3314700" cy="2971800"/>
          </a:xfrm>
          <a:prstGeom xmlns:a="http://schemas.openxmlformats.org/drawingml/2006/main" prst="roundRect">
            <a:avLst>
              <a:gd name="adj" fmla="val 2564"/>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23" name="Google Shape;523;p20">
            <a:extLst xmlns:a="http://schemas.openxmlformats.org/drawingml/2006/main">
              <a:ext uri="{FF2B5EF4-FFF2-40B4-BE49-F238E27FC236}">
                <a16:creationId xmlns:a16="http://schemas.microsoft.com/office/drawing/2014/main" id="{5FC4836F-3132-40D2-934E-221814B83EA2}"/>
              </a:ext>
            </a:extLst>
          </p:cNvPr>
          <p:cNvSpPr>
            <a:spLocks xmlns:a="http://schemas.openxmlformats.org/drawingml/2006/main" noGrp="1"/>
          </p:cNvSpPr>
          <p:nvPr/>
        </p:nvSpPr>
        <p:spPr>
          <a:xfrm xmlns:a="http://schemas.openxmlformats.org/drawingml/2006/main">
            <a:off x="4953000" y="2228850"/>
            <a:ext cx="2286000"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2850"/>
              <a:buFont typeface="Lato"/>
              <a:buNone/>
            </a:pPr>
            <a:r>
              <a:rPr sz="2850" b="1" i="0">
                <a:solidFill>
                  <a:srgbClr val="FFFFFF"/>
                </a:solidFill>
                <a:latin typeface="Lato"/>
                <a:ea typeface="Lato"/>
                <a:cs typeface="Lato"/>
              </a:rPr>
              <a:t>CAVA</a:t>
            </a:r>
            <a:endParaRPr/>
          </a:p>
        </p:txBody>
      </p:sp>
      <p:sp>
        <p:nvSpPr>
          <p:cNvPr id="524" name="Google Shape;524;p20">
            <a:extLst xmlns:a="http://schemas.openxmlformats.org/drawingml/2006/main">
              <a:ext uri="{FF2B5EF4-FFF2-40B4-BE49-F238E27FC236}">
                <a16:creationId xmlns:a16="http://schemas.microsoft.com/office/drawing/2014/main" id="{85A7BBA8-E16E-440B-9890-EF440A14F3CF}"/>
              </a:ext>
            </a:extLst>
          </p:cNvPr>
          <p:cNvSpPr>
            <a:spLocks xmlns:a="http://schemas.openxmlformats.org/drawingml/2006/main" noGrp="1"/>
          </p:cNvSpPr>
          <p:nvPr/>
        </p:nvSpPr>
        <p:spPr>
          <a:xfrm xmlns:a="http://schemas.openxmlformats.org/drawingml/2006/main">
            <a:off x="4914900" y="3086100"/>
            <a:ext cx="23622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Shared data access</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Harmonized processing</a:t>
            </a:r>
            <a:endParaRPr/>
          </a:p>
          <a:p xmlns:a="http://schemas.openxmlformats.org/drawingml/2006/main">
            <a:pPr marL="0" marR="0" lvl="0" indent="0" algn="ctr">
              <a:lnSpc>
                <a:spcPct val="125000"/>
              </a:lnSpc>
              <a:spcBef>
                <a:spcPts val="0"/>
              </a:spcBef>
              <a:spcAft>
                <a:spcPts val="0"/>
              </a:spcAft>
              <a:buClr>
                <a:srgbClr val="DCE8EF"/>
              </a:buClr>
              <a:buSzPts val="1500"/>
              <a:buFont typeface="Lato"/>
              <a:buNone/>
            </a:pPr>
            <a:r>
              <a:rPr sz="1500" b="0" i="0">
                <a:solidFill>
                  <a:srgbClr val="DCE8EF"/>
                </a:solidFill>
                <a:latin typeface="Lato"/>
                <a:ea typeface="Lato"/>
                <a:cs typeface="Lato"/>
              </a:rPr>
              <a:t>Repeatable analytical workflows</a:t>
            </a:r>
            <a:endParaRPr/>
          </a:p>
        </p:txBody>
      </p:sp>
      <p:sp>
        <p:nvSpPr>
          <p:cNvPr id="525" name="Google Shape;525;p20">
            <a:extLst xmlns:a="http://schemas.openxmlformats.org/drawingml/2006/main">
              <a:ext uri="{FF2B5EF4-FFF2-40B4-BE49-F238E27FC236}">
                <a16:creationId xmlns:a16="http://schemas.microsoft.com/office/drawing/2014/main" id="{374A6CEF-DC70-4587-895B-41A66DEA426D}"/>
              </a:ext>
            </a:extLst>
          </p:cNvPr>
          <p:cNvSpPr>
            <a:spLocks xmlns:a="http://schemas.openxmlformats.org/drawingml/2006/main" noGrp="1"/>
          </p:cNvSpPr>
          <p:nvPr/>
        </p:nvSpPr>
        <p:spPr>
          <a:xfrm xmlns:a="http://schemas.openxmlformats.org/drawingml/2006/main">
            <a:off x="8439150" y="19050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96"/>
              <a:buFont typeface="Lato"/>
              <a:buNone/>
            </a:pPr>
            <a:r>
              <a:rPr sz="1296" b="1" i="0">
                <a:solidFill>
                  <a:srgbClr val="12304E"/>
                </a:solidFill>
                <a:latin typeface="Lato"/>
                <a:ea typeface="Lato"/>
                <a:cs typeface="Lato"/>
              </a:rPr>
              <a:t>Historical and future climate data</a:t>
            </a:r>
            <a:endParaRPr/>
          </a:p>
        </p:txBody>
      </p:sp>
      <p:sp>
        <p:nvSpPr>
          <p:cNvPr id="526" name="Google Shape;526;p20">
            <a:extLst xmlns:a="http://schemas.openxmlformats.org/drawingml/2006/main">
              <a:ext uri="{FF2B5EF4-FFF2-40B4-BE49-F238E27FC236}">
                <a16:creationId xmlns:a16="http://schemas.microsoft.com/office/drawing/2014/main" id="{B75B1F2A-DC78-469E-BEB5-C62AC6033ED4}"/>
              </a:ext>
            </a:extLst>
          </p:cNvPr>
          <p:cNvSpPr>
            <a:spLocks xmlns:a="http://schemas.openxmlformats.org/drawingml/2006/main" noGrp="1"/>
          </p:cNvSpPr>
          <p:nvPr/>
        </p:nvSpPr>
        <p:spPr>
          <a:xfrm xmlns:a="http://schemas.openxmlformats.org/drawingml/2006/main">
            <a:off x="8439150" y="2552700"/>
            <a:ext cx="2952750" cy="428625"/>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00A88F"/>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Comparable climate indicators</a:t>
            </a:r>
            <a:endParaRPr/>
          </a:p>
        </p:txBody>
      </p:sp>
      <p:sp>
        <p:nvSpPr>
          <p:cNvPr id="527" name="Google Shape;527;p20">
            <a:extLst xmlns:a="http://schemas.openxmlformats.org/drawingml/2006/main">
              <a:ext uri="{FF2B5EF4-FFF2-40B4-BE49-F238E27FC236}">
                <a16:creationId xmlns:a16="http://schemas.microsoft.com/office/drawing/2014/main" id="{B6D76042-34A4-43B9-B26D-7E64826347C8}"/>
              </a:ext>
            </a:extLst>
          </p:cNvPr>
          <p:cNvSpPr>
            <a:spLocks xmlns:a="http://schemas.openxmlformats.org/drawingml/2006/main" noGrp="1"/>
          </p:cNvSpPr>
          <p:nvPr/>
        </p:nvSpPr>
        <p:spPr>
          <a:xfrm xmlns:a="http://schemas.openxmlformats.org/drawingml/2006/main">
            <a:off x="8439150" y="32004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Maps and analytical outputs</a:t>
            </a:r>
            <a:endParaRPr/>
          </a:p>
        </p:txBody>
      </p:sp>
      <p:sp>
        <p:nvSpPr>
          <p:cNvPr id="528" name="Google Shape;528;p20">
            <a:extLst xmlns:a="http://schemas.openxmlformats.org/drawingml/2006/main">
              <a:ext uri="{FF2B5EF4-FFF2-40B4-BE49-F238E27FC236}">
                <a16:creationId xmlns:a16="http://schemas.microsoft.com/office/drawing/2014/main" id="{A6FF27B5-D360-48B8-9432-8EF1BBB9FDAD}"/>
              </a:ext>
            </a:extLst>
          </p:cNvPr>
          <p:cNvSpPr>
            <a:spLocks xmlns:a="http://schemas.openxmlformats.org/drawingml/2006/main" noGrp="1"/>
          </p:cNvSpPr>
          <p:nvPr/>
        </p:nvSpPr>
        <p:spPr>
          <a:xfrm xmlns:a="http://schemas.openxmlformats.org/drawingml/2006/main">
            <a:off x="8439150" y="3848100"/>
            <a:ext cx="2952750" cy="428625"/>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171450" tIns="76200" rIns="114300" bIns="7620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Inputs for downstream analysis</a:t>
            </a:r>
            <a:endParaRPr/>
          </a:p>
        </p:txBody>
      </p:sp>
      <p:sp>
        <p:nvSpPr>
          <p:cNvPr id="529" name="Google Shape;529;p20">
            <a:extLst xmlns:a="http://schemas.openxmlformats.org/drawingml/2006/main">
              <a:ext uri="{FF2B5EF4-FFF2-40B4-BE49-F238E27FC236}">
                <a16:creationId xmlns:a16="http://schemas.microsoft.com/office/drawing/2014/main" id="{4BECDE06-78BB-43C6-915F-4A6173AC3218}"/>
              </a:ext>
            </a:extLst>
          </p:cNvPr>
          <p:cNvSpPr>
            <a:spLocks xmlns:a="http://schemas.openxmlformats.org/drawingml/2006/main" noGrp="1"/>
          </p:cNvSpPr>
          <p:nvPr/>
        </p:nvSpPr>
        <p:spPr>
          <a:xfrm xmlns:a="http://schemas.openxmlformats.org/drawingml/2006/main">
            <a:off x="3086100" y="5257800"/>
            <a:ext cx="601980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800"/>
              <a:buFont typeface="Lato"/>
              <a:buNone/>
            </a:pPr>
            <a:r>
              <a:rPr sz="1800" b="1" i="0">
                <a:solidFill>
                  <a:srgbClr val="00A88F"/>
                </a:solidFill>
                <a:latin typeface="Lato"/>
                <a:ea typeface="Lato"/>
                <a:cs typeface="Lato"/>
              </a:rPr>
              <a:t>CAVA standardizes recurring technical steps while preserving the choices that shape interpretation</a:t>
            </a:r>
            <a:endParaRPr/>
          </a:p>
        </p:txBody>
      </p:sp>
      <p:sp>
        <p:nvSpPr>
          <p:cNvPr id="530" name="">
            <a:extLst xmlns:a="http://schemas.openxmlformats.org/drawingml/2006/main">
              <a:ext uri="{FF2B5EF4-FFF2-40B4-BE49-F238E27FC236}">
                <a16:creationId xmlns:a16="http://schemas.microsoft.com/office/drawing/2014/main" id="{BFC84D3D-CC9C-4BB0-9CAC-A29A981302BA}"/>
              </a:ext>
            </a:extLst>
          </p:cNvPr>
          <p:cNvSpPr>
            <a:spLocks xmlns:a="http://schemas.openxmlformats.org/drawingml/2006/main" noGrp="1"/>
          </p:cNvSpPr>
          <p:nvPr/>
        </p:nvSpPr>
        <p:spPr>
          <a:xfrm xmlns:a="http://schemas.openxmlformats.org/drawingml/2006/main">
            <a:off x="81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687984"/>
                </a:solidFill>
                <a:latin typeface="Lato"/>
                <a:ea typeface="Lato"/>
                <a:cs typeface="Lato"/>
              </a:defRPr>
            </a:pPr>
            <a:r>
              <a:rPr sz="900" b="1">
                <a:solidFill>
                  <a:srgbClr val="687984"/>
                </a:solidFill>
                <a:latin typeface="Lato"/>
                <a:ea typeface="Lato"/>
                <a:cs typeface="Lato"/>
              </a:rPr>
              <a:t>CURRENT WORKFLOW</a:t>
            </a:r>
          </a:p>
        </p:txBody>
      </p:sp>
      <p:sp>
        <p:nvSpPr>
          <p:cNvPr id="531" name="">
            <a:extLst xmlns:a="http://schemas.openxmlformats.org/drawingml/2006/main">
              <a:ext uri="{FF2B5EF4-FFF2-40B4-BE49-F238E27FC236}">
                <a16:creationId xmlns:a16="http://schemas.microsoft.com/office/drawing/2014/main" id="{DD451608-E1BD-4669-98BC-388F62FD1CAC}"/>
              </a:ext>
            </a:extLst>
          </p:cNvPr>
          <p:cNvSpPr>
            <a:spLocks xmlns:a="http://schemas.openxmlformats.org/drawingml/2006/main" noGrp="1"/>
          </p:cNvSpPr>
          <p:nvPr/>
        </p:nvSpPr>
        <p:spPr>
          <a:xfrm xmlns:a="http://schemas.openxmlformats.org/drawingml/2006/main">
            <a:off x="8439150" y="1581150"/>
            <a:ext cx="2952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00" b="1">
                <a:solidFill>
                  <a:srgbClr val="008D7A"/>
                </a:solidFill>
                <a:latin typeface="Lato"/>
                <a:ea typeface="Lato"/>
                <a:cs typeface="Lato"/>
              </a:defRPr>
            </a:pPr>
            <a:r>
              <a:rPr sz="900" b="1">
                <a:solidFill>
                  <a:srgbClr val="008D7A"/>
                </a:solidFill>
                <a:latin typeface="Lato"/>
                <a:ea typeface="Lato"/>
                <a:cs typeface="Lato"/>
              </a:rPr>
              <a:t>WITH CAVA</a:t>
            </a:r>
          </a:p>
        </p:txBody>
      </p:sp>
    </p:spTree>
    <p:extLst>
      <p:ext uri="{BB962C8B-B14F-4D97-AF65-F5344CB8AC3E}">
        <p14:creationId xmlns:p14="http://schemas.microsoft.com/office/powerpoint/2010/main" val="1606295164"/>
      </p:ext>
    </p:extLst>
  </p:cSld>
</p:sld>
</file>

<file path=ppt/slides/slide1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35" name="Google Shape;535;p21">
            <a:extLst xmlns:a="http://schemas.openxmlformats.org/drawingml/2006/main">
              <a:ext uri="{FF2B5EF4-FFF2-40B4-BE49-F238E27FC236}">
                <a16:creationId xmlns:a16="http://schemas.microsoft.com/office/drawing/2014/main" id="{A0D3346F-7A0A-4F16-A079-AA310A833550}"/>
              </a:ext>
            </a:extLst>
          </p:cNvPr>
          <p:cNvSpPr>
            <a:spLocks xmlns:a="http://schemas.openxmlformats.org/drawingml/2006/main" noGrp="1"/>
          </p:cNvSpPr>
          <p:nvPr/>
        </p:nvSpPr>
        <p:spPr>
          <a:xfrm xmlns:a="http://schemas.openxmlformats.org/drawingml/2006/main">
            <a:off x="0" y="0"/>
            <a:ext cx="4095750" cy="685800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6" name="Google Shape;536;p21">
            <a:extLst xmlns:a="http://schemas.openxmlformats.org/drawingml/2006/main">
              <a:ext uri="{FF2B5EF4-FFF2-40B4-BE49-F238E27FC236}">
                <a16:creationId xmlns:a16="http://schemas.microsoft.com/office/drawing/2014/main" id="{8471AC29-93E4-4160-BCD1-07CC2279A95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7" name="Google Shape;537;p21">
            <a:extLst xmlns:a="http://schemas.openxmlformats.org/drawingml/2006/main">
              <a:ext uri="{FF2B5EF4-FFF2-40B4-BE49-F238E27FC236}">
                <a16:creationId xmlns:a16="http://schemas.microsoft.com/office/drawing/2014/main" id="{DF0BD40F-E32C-4086-8276-ECCF15A5FF2D}"/>
              </a:ext>
            </a:extLst>
          </p:cNvPr>
          <p:cNvSpPr>
            <a:spLocks xmlns:a="http://schemas.openxmlformats.org/drawingml/2006/main" noGrp="1"/>
          </p:cNvSpPr>
          <p:nvPr/>
        </p:nvSpPr>
        <p:spPr>
          <a:xfrm xmlns:a="http://schemas.openxmlformats.org/drawingml/2006/main">
            <a:off x="723900" y="914400"/>
            <a:ext cx="2381250" cy="17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0000"/>
              </a:lnSpc>
              <a:spcBef>
                <a:spcPts val="0"/>
              </a:spcBef>
              <a:spcAft>
                <a:spcPts val="0"/>
              </a:spcAft>
              <a:buClr>
                <a:srgbClr val="A8D9CF"/>
              </a:buClr>
              <a:buSzPts val="8250"/>
              <a:buFont typeface="Lato"/>
              <a:buNone/>
            </a:pPr>
            <a:r>
              <a:rPr sz="8250" b="1" i="0">
                <a:solidFill>
                  <a:srgbClr val="A8D9CF"/>
                </a:solidFill>
                <a:latin typeface="Lato"/>
                <a:ea typeface="Lato"/>
                <a:cs typeface="Lato"/>
              </a:rPr>
              <a:t>19</a:t>
            </a:r>
            <a:endParaRPr/>
          </a:p>
        </p:txBody>
      </p:sp>
      <p:sp>
        <p:nvSpPr>
          <p:cNvPr id="538" name="Google Shape;538;p21">
            <a:extLst xmlns:a="http://schemas.openxmlformats.org/drawingml/2006/main">
              <a:ext uri="{FF2B5EF4-FFF2-40B4-BE49-F238E27FC236}">
                <a16:creationId xmlns:a16="http://schemas.microsoft.com/office/drawing/2014/main" id="{C2CE577E-7268-449D-B99B-52A23D4BB338}"/>
              </a:ext>
            </a:extLst>
          </p:cNvPr>
          <p:cNvSpPr>
            <a:spLocks xmlns:a="http://schemas.openxmlformats.org/drawingml/2006/main" noGrp="1"/>
          </p:cNvSpPr>
          <p:nvPr/>
        </p:nvSpPr>
        <p:spPr>
          <a:xfrm xmlns:a="http://schemas.openxmlformats.org/drawingml/2006/main">
            <a:off x="4724400" y="120015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39" name="Google Shape;539;p21">
            <a:extLst xmlns:a="http://schemas.openxmlformats.org/drawingml/2006/main">
              <a:ext uri="{FF2B5EF4-FFF2-40B4-BE49-F238E27FC236}">
                <a16:creationId xmlns:a16="http://schemas.microsoft.com/office/drawing/2014/main" id="{8690585D-1ADE-4965-ADCC-2627AF65D021}"/>
              </a:ext>
            </a:extLst>
          </p:cNvPr>
          <p:cNvSpPr>
            <a:spLocks xmlns:a="http://schemas.openxmlformats.org/drawingml/2006/main" noGrp="1"/>
          </p:cNvSpPr>
          <p:nvPr/>
        </p:nvSpPr>
        <p:spPr>
          <a:xfrm xmlns:a="http://schemas.openxmlformats.org/drawingml/2006/main">
            <a:off x="4724400" y="1809750"/>
            <a:ext cx="6334125" cy="1428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98000"/>
              </a:lnSpc>
              <a:spcBef>
                <a:spcPts val="0"/>
              </a:spcBef>
              <a:spcAft>
                <a:spcPts val="0"/>
              </a:spcAft>
              <a:buClr>
                <a:srgbClr val="12304E"/>
              </a:buClr>
              <a:buSzPts val="3150"/>
              <a:buFont typeface="Lato"/>
              <a:buNone/>
            </a:pPr>
            <a:r>
              <a:rPr sz="3150" b="1" i="0">
                <a:solidFill>
                  <a:srgbClr val="12304E"/>
                </a:solidFill>
                <a:latin typeface="Lato"/>
                <a:ea typeface="Lato"/>
                <a:cs typeface="Lato"/>
              </a:rPr>
              <a:t>How CAVA operationalizes the workflow</a:t>
            </a:r>
            <a:endParaRPr/>
          </a:p>
        </p:txBody>
      </p:sp>
      <p:sp>
        <p:nvSpPr>
          <p:cNvPr id="540" name="Google Shape;540;p21">
            <a:extLst xmlns:a="http://schemas.openxmlformats.org/drawingml/2006/main">
              <a:ext uri="{FF2B5EF4-FFF2-40B4-BE49-F238E27FC236}">
                <a16:creationId xmlns:a16="http://schemas.microsoft.com/office/drawing/2014/main" id="{24102FEE-08F6-43D2-969A-184BDF5E1581}"/>
              </a:ext>
            </a:extLst>
          </p:cNvPr>
          <p:cNvSpPr>
            <a:spLocks xmlns:a="http://schemas.openxmlformats.org/drawingml/2006/main" noGrp="1"/>
          </p:cNvSpPr>
          <p:nvPr/>
        </p:nvSpPr>
        <p:spPr>
          <a:xfrm xmlns:a="http://schemas.openxmlformats.org/drawingml/2006/main">
            <a:off x="4743450" y="3562350"/>
            <a:ext cx="619125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15000"/>
              </a:lnSpc>
              <a:spcBef>
                <a:spcPts val="0"/>
              </a:spcBef>
              <a:spcAft>
                <a:spcPts val="0"/>
              </a:spcAft>
              <a:buClr>
                <a:srgbClr val="687984"/>
              </a:buClr>
              <a:buSzPts val="1575"/>
              <a:buFont typeface="Lato"/>
              <a:buNone/>
            </a:pPr>
            <a:r>
              <a:rPr sz="1575" b="0" i="0">
                <a:solidFill>
                  <a:srgbClr val="687984"/>
                </a:solidFill>
                <a:latin typeface="Lato"/>
                <a:ea typeface="Lato"/>
                <a:cs typeface="Lato"/>
              </a:rPr>
              <a:t>A common data backbone supports different interfaces for different users and analytical needs.</a:t>
            </a:r>
            <a:endParaRPr/>
          </a:p>
        </p:txBody>
      </p:sp>
      <p:sp>
        <p:nvSpPr>
          <p:cNvPr id="541" name="Google Shape;541;p21">
            <a:extLst xmlns:a="http://schemas.openxmlformats.org/drawingml/2006/main">
              <a:ext uri="{FF2B5EF4-FFF2-40B4-BE49-F238E27FC236}">
                <a16:creationId xmlns:a16="http://schemas.microsoft.com/office/drawing/2014/main" id="{2968CEDC-0DD4-4BA2-BBD0-1D67708D1A9B}"/>
              </a:ext>
            </a:extLst>
          </p:cNvPr>
          <p:cNvSpPr>
            <a:spLocks xmlns:a="http://schemas.openxmlformats.org/drawingml/2006/main" noGrp="1"/>
          </p:cNvSpPr>
          <p:nvPr/>
        </p:nvSpPr>
        <p:spPr>
          <a:xfrm xmlns:a="http://schemas.openxmlformats.org/drawingml/2006/main">
            <a:off x="4743450" y="5905500"/>
            <a:ext cx="619125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Tree>
    <p:extLst>
      <p:ext uri="{BB962C8B-B14F-4D97-AF65-F5344CB8AC3E}">
        <p14:creationId xmlns:p14="http://schemas.microsoft.com/office/powerpoint/2010/main" val="1508361663"/>
      </p:ext>
    </p:extLst>
  </p:cSld>
</p:sld>
</file>

<file path=ppt/slides/slide20.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547" name="Google Shape;547;p22">
            <a:extLst xmlns:a="http://schemas.openxmlformats.org/drawingml/2006/main">
              <a:ext uri="{FF2B5EF4-FFF2-40B4-BE49-F238E27FC236}">
                <a16:creationId xmlns:a16="http://schemas.microsoft.com/office/drawing/2014/main" id="{2D7D38DE-DD7A-494C-894A-C933BDDEC415}"/>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48" name="Google Shape;548;p22">
            <a:extLst xmlns:a="http://schemas.openxmlformats.org/drawingml/2006/main">
              <a:ext uri="{FF2B5EF4-FFF2-40B4-BE49-F238E27FC236}">
                <a16:creationId xmlns:a16="http://schemas.microsoft.com/office/drawing/2014/main" id="{DCCFA518-A73B-4122-AE3E-86F44FDE9C4B}"/>
              </a:ext>
            </a:extLst>
          </p:cNvPr>
          <p:cNvSpPr>
            <a:spLocks xmlns:a="http://schemas.openxmlformats.org/drawingml/2006/main" noGrp="1"/>
          </p:cNvSpPr>
          <p:nvPr/>
        </p:nvSpPr>
        <p:spPr>
          <a:xfrm xmlns:a="http://schemas.openxmlformats.org/drawingml/2006/main">
            <a:off x="723900" y="457200"/>
            <a:ext cx="7620000" cy="476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2325"/>
              <a:buFont typeface="Lato"/>
              <a:buNone/>
            </a:pPr>
            <a:r>
              <a:rPr sz="2325" b="1" i="0">
                <a:solidFill>
                  <a:srgbClr val="FFFFFF"/>
                </a:solidFill>
                <a:latin typeface="Lato"/>
                <a:ea typeface="Lato"/>
                <a:cs typeface="Lato"/>
              </a:rPr>
              <a:t>CAVA data backbone</a:t>
            </a:r>
            <a:endParaRPr/>
          </a:p>
        </p:txBody>
      </p:sp>
      <p:sp>
        <p:nvSpPr>
          <p:cNvPr id="549" name="Google Shape;549;p22">
            <a:extLst xmlns:a="http://schemas.openxmlformats.org/drawingml/2006/main">
              <a:ext uri="{FF2B5EF4-FFF2-40B4-BE49-F238E27FC236}">
                <a16:creationId xmlns:a16="http://schemas.microsoft.com/office/drawing/2014/main" id="{E25120B4-C817-4717-804F-E33703090DCD}"/>
              </a:ext>
            </a:extLst>
          </p:cNvPr>
          <p:cNvSpPr>
            <a:spLocks xmlns:a="http://schemas.openxmlformats.org/drawingml/2006/main" noGrp="1"/>
          </p:cNvSpPr>
          <p:nvPr/>
        </p:nvSpPr>
        <p:spPr>
          <a:xfrm xmlns:a="http://schemas.openxmlformats.org/drawingml/2006/main">
            <a:off x="733425" y="1009650"/>
            <a:ext cx="88582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FD0DA"/>
              </a:buClr>
              <a:buSzPts val="1125"/>
              <a:buFont typeface="Lato"/>
              <a:buNone/>
            </a:pPr>
            <a:r>
              <a:rPr sz="1125" b="0" i="0">
                <a:solidFill>
                  <a:srgbClr val="BFD0DA"/>
                </a:solidFill>
                <a:latin typeface="Lato"/>
                <a:ea typeface="Lato"/>
                <a:cs typeface="Lato"/>
              </a:rPr>
              <a:t>A shared infrastructure connects source datasets, harmonized access and user-facing outputs</a:t>
            </a:r>
            <a:endParaRPr/>
          </a:p>
        </p:txBody>
      </p:sp>
      <p:sp>
        <p:nvSpPr>
          <p:cNvPr id="550" name="Google Shape;550;p22">
            <a:extLst xmlns:a="http://schemas.openxmlformats.org/drawingml/2006/main">
              <a:ext uri="{FF2B5EF4-FFF2-40B4-BE49-F238E27FC236}">
                <a16:creationId xmlns:a16="http://schemas.microsoft.com/office/drawing/2014/main" id="{F0BE43D1-8A1E-412A-89A5-6B3C1776B699}"/>
              </a:ext>
            </a:extLst>
          </p:cNvPr>
          <p:cNvSpPr>
            <a:spLocks xmlns:a="http://schemas.openxmlformats.org/drawingml/2006/main" noGrp="1"/>
          </p:cNvSpPr>
          <p:nvPr/>
        </p:nvSpPr>
        <p:spPr>
          <a:xfrm xmlns:a="http://schemas.openxmlformats.org/drawingml/2006/main">
            <a:off x="733425" y="1447800"/>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1" name="Google Shape;551;p22">
            <a:extLst xmlns:a="http://schemas.openxmlformats.org/drawingml/2006/main">
              <a:ext uri="{FF2B5EF4-FFF2-40B4-BE49-F238E27FC236}">
                <a16:creationId xmlns:a16="http://schemas.microsoft.com/office/drawing/2014/main" id="{B82D3969-2A98-47D2-AC18-C25F68D1D0C0}"/>
              </a:ext>
            </a:extLst>
          </p:cNvPr>
          <p:cNvSpPr>
            <a:spLocks xmlns:a="http://schemas.openxmlformats.org/drawingml/2006/main" noGrp="1"/>
          </p:cNvSpPr>
          <p:nvPr/>
        </p:nvSpPr>
        <p:spPr>
          <a:xfrm xmlns:a="http://schemas.openxmlformats.org/drawingml/2006/main">
            <a:off x="971550" y="1847850"/>
            <a:ext cx="10248900" cy="628650"/>
          </a:xfrm>
          <a:prstGeom xmlns:a="http://schemas.openxmlformats.org/drawingml/2006/main" prst="rect">
            <a:avLst/>
          </a:prstGeom>
          <a:solidFill xmlns:a="http://schemas.openxmlformats.org/drawingml/2006/main">
            <a:srgbClr val="EAF3F8">
              <a:alpha val="14118"/>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2" name="Google Shape;552;p22">
            <a:extLst xmlns:a="http://schemas.openxmlformats.org/drawingml/2006/main">
              <a:ext uri="{FF2B5EF4-FFF2-40B4-BE49-F238E27FC236}">
                <a16:creationId xmlns:a16="http://schemas.microsoft.com/office/drawing/2014/main" id="{70BF6CC0-5C5E-46EF-9E0E-18DCBFF0C9A4}"/>
              </a:ext>
            </a:extLst>
          </p:cNvPr>
          <p:cNvSpPr>
            <a:spLocks xmlns:a="http://schemas.openxmlformats.org/drawingml/2006/main" noGrp="1"/>
          </p:cNvSpPr>
          <p:nvPr/>
        </p:nvSpPr>
        <p:spPr>
          <a:xfrm xmlns:a="http://schemas.openxmlformats.org/drawingml/2006/main">
            <a:off x="1200150" y="20097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01</a:t>
            </a:r>
            <a:endParaRPr/>
          </a:p>
        </p:txBody>
      </p:sp>
      <p:sp>
        <p:nvSpPr>
          <p:cNvPr id="553" name="Google Shape;553;p22">
            <a:extLst xmlns:a="http://schemas.openxmlformats.org/drawingml/2006/main">
              <a:ext uri="{FF2B5EF4-FFF2-40B4-BE49-F238E27FC236}">
                <a16:creationId xmlns:a16="http://schemas.microsoft.com/office/drawing/2014/main" id="{3943BFB9-31DE-4F02-B206-4E5587BFE788}"/>
              </a:ext>
            </a:extLst>
          </p:cNvPr>
          <p:cNvSpPr>
            <a:spLocks xmlns:a="http://schemas.openxmlformats.org/drawingml/2006/main" noGrp="1"/>
          </p:cNvSpPr>
          <p:nvPr/>
        </p:nvSpPr>
        <p:spPr>
          <a:xfrm xmlns:a="http://schemas.openxmlformats.org/drawingml/2006/main">
            <a:off x="1809750" y="20097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SOURCE DATA</a:t>
            </a:r>
            <a:endParaRPr/>
          </a:p>
        </p:txBody>
      </p:sp>
      <p:sp>
        <p:nvSpPr>
          <p:cNvPr id="554" name="Google Shape;554;p22">
            <a:extLst xmlns:a="http://schemas.openxmlformats.org/drawingml/2006/main">
              <a:ext uri="{FF2B5EF4-FFF2-40B4-BE49-F238E27FC236}">
                <a16:creationId xmlns:a16="http://schemas.microsoft.com/office/drawing/2014/main" id="{85532AC0-C909-4B3D-99A7-7E4222868EE4}"/>
              </a:ext>
            </a:extLst>
          </p:cNvPr>
          <p:cNvSpPr>
            <a:spLocks xmlns:a="http://schemas.openxmlformats.org/drawingml/2006/main" noGrp="1"/>
          </p:cNvSpPr>
          <p:nvPr/>
        </p:nvSpPr>
        <p:spPr>
          <a:xfrm xmlns:a="http://schemas.openxmlformats.org/drawingml/2006/main">
            <a:off x="4095750" y="1962150"/>
            <a:ext cx="64770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ERA5 and CORDEX-CORE climate datasets </a:t>
            </a:r>
            <a:r>
              <a:rPr sz="1350">
                <a:solidFill>
                  <a:srgbClr val="FFFFFF"/>
                </a:solidFill>
                <a:latin typeface="Lato"/>
                <a:ea typeface="Lato"/>
                <a:cs typeface="Lato"/>
              </a:rPr>
              <a:t>(NetCDF, ~20 TB)</a:t>
            </a:r>
            <a:endParaRPr/>
          </a:p>
        </p:txBody>
      </p:sp>
      <p:sp>
        <p:nvSpPr>
          <p:cNvPr id="555" name="Google Shape;555;p22">
            <a:extLst xmlns:a="http://schemas.openxmlformats.org/drawingml/2006/main">
              <a:ext uri="{FF2B5EF4-FFF2-40B4-BE49-F238E27FC236}">
                <a16:creationId xmlns:a16="http://schemas.microsoft.com/office/drawing/2014/main" id="{02BA1DB6-9E58-4F43-8CC8-62CBF56662F2}"/>
              </a:ext>
            </a:extLst>
          </p:cNvPr>
          <p:cNvSpPr>
            <a:spLocks xmlns:a="http://schemas.openxmlformats.org/drawingml/2006/main" noGrp="1"/>
          </p:cNvSpPr>
          <p:nvPr/>
        </p:nvSpPr>
        <p:spPr>
          <a:xfrm xmlns:a="http://schemas.openxmlformats.org/drawingml/2006/main">
            <a:off x="1333500" y="2724150"/>
            <a:ext cx="9525000" cy="628650"/>
          </a:xfrm>
          <a:prstGeom xmlns:a="http://schemas.openxmlformats.org/drawingml/2006/main" prst="rect">
            <a:avLst/>
          </a:prstGeom>
          <a:solidFill xmlns:a="http://schemas.openxmlformats.org/drawingml/2006/main">
            <a:srgbClr val="00A88F">
              <a:alpha val="21961"/>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56" name="Google Shape;556;p22">
            <a:extLst xmlns:a="http://schemas.openxmlformats.org/drawingml/2006/main">
              <a:ext uri="{FF2B5EF4-FFF2-40B4-BE49-F238E27FC236}">
                <a16:creationId xmlns:a16="http://schemas.microsoft.com/office/drawing/2014/main" id="{7E13D800-FCA2-47DB-AB4A-01FCB9F789E0}"/>
              </a:ext>
            </a:extLst>
          </p:cNvPr>
          <p:cNvSpPr>
            <a:spLocks xmlns:a="http://schemas.openxmlformats.org/drawingml/2006/main" noGrp="1"/>
          </p:cNvSpPr>
          <p:nvPr/>
        </p:nvSpPr>
        <p:spPr>
          <a:xfrm xmlns:a="http://schemas.openxmlformats.org/drawingml/2006/main">
            <a:off x="1562100" y="28860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125"/>
              <a:buFont typeface="Lato"/>
              <a:buNone/>
            </a:pPr>
            <a:r>
              <a:rPr sz="1125" b="1" i="0">
                <a:solidFill>
                  <a:srgbClr val="8BE0D2"/>
                </a:solidFill>
                <a:latin typeface="Lato"/>
                <a:ea typeface="Lato"/>
                <a:cs typeface="Lato"/>
              </a:rPr>
              <a:t>02</a:t>
            </a:r>
            <a:endParaRPr/>
          </a:p>
        </p:txBody>
      </p:sp>
      <p:sp>
        <p:nvSpPr>
          <p:cNvPr id="557" name="Google Shape;557;p22">
            <a:extLst xmlns:a="http://schemas.openxmlformats.org/drawingml/2006/main">
              <a:ext uri="{FF2B5EF4-FFF2-40B4-BE49-F238E27FC236}">
                <a16:creationId xmlns:a16="http://schemas.microsoft.com/office/drawing/2014/main" id="{DD984E30-D629-41B0-899F-5A7A64540105}"/>
              </a:ext>
            </a:extLst>
          </p:cNvPr>
          <p:cNvSpPr>
            <a:spLocks xmlns:a="http://schemas.openxmlformats.org/drawingml/2006/main" noGrp="1"/>
          </p:cNvSpPr>
          <p:nvPr/>
        </p:nvSpPr>
        <p:spPr>
          <a:xfrm xmlns:a="http://schemas.openxmlformats.org/drawingml/2006/main">
            <a:off x="2171700" y="28860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8BE0D2"/>
              </a:buClr>
              <a:buSzPts val="1050"/>
              <a:buFont typeface="Lato"/>
              <a:buNone/>
            </a:pPr>
            <a:r>
              <a:rPr sz="1050" b="1" i="0">
                <a:solidFill>
                  <a:srgbClr val="8BE0D2"/>
                </a:solidFill>
                <a:latin typeface="Lato"/>
                <a:ea typeface="Lato"/>
                <a:cs typeface="Lato"/>
              </a:rPr>
              <a:t>REMOTE SERVICES</a:t>
            </a:r>
            <a:endParaRPr/>
          </a:p>
        </p:txBody>
      </p:sp>
      <p:sp>
        <p:nvSpPr>
          <p:cNvPr id="558" name="Google Shape;558;p22">
            <a:extLst xmlns:a="http://schemas.openxmlformats.org/drawingml/2006/main">
              <a:ext uri="{FF2B5EF4-FFF2-40B4-BE49-F238E27FC236}">
                <a16:creationId xmlns:a16="http://schemas.microsoft.com/office/drawing/2014/main" id="{6D975822-197E-4DE7-9F35-6EE5A44B3453}"/>
              </a:ext>
            </a:extLst>
          </p:cNvPr>
          <p:cNvSpPr>
            <a:spLocks xmlns:a="http://schemas.openxmlformats.org/drawingml/2006/main" noGrp="1"/>
          </p:cNvSpPr>
          <p:nvPr/>
        </p:nvSpPr>
        <p:spPr>
          <a:xfrm xmlns:a="http://schemas.openxmlformats.org/drawingml/2006/main">
            <a:off x="4457700" y="2838450"/>
            <a:ext cx="57531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THREDDS and OPeNDAP deliver only the requested subset</a:t>
            </a:r>
            <a:endParaRPr/>
          </a:p>
        </p:txBody>
      </p:sp>
      <p:sp>
        <p:nvSpPr>
          <p:cNvPr id="559" name="Google Shape;559;p22">
            <a:extLst xmlns:a="http://schemas.openxmlformats.org/drawingml/2006/main">
              <a:ext uri="{FF2B5EF4-FFF2-40B4-BE49-F238E27FC236}">
                <a16:creationId xmlns:a16="http://schemas.microsoft.com/office/drawing/2014/main" id="{FD30C8C6-2AE5-4314-ABA3-7A16491E7A92}"/>
              </a:ext>
            </a:extLst>
          </p:cNvPr>
          <p:cNvSpPr>
            <a:spLocks xmlns:a="http://schemas.openxmlformats.org/drawingml/2006/main" noGrp="1"/>
          </p:cNvSpPr>
          <p:nvPr/>
        </p:nvSpPr>
        <p:spPr>
          <a:xfrm xmlns:a="http://schemas.openxmlformats.org/drawingml/2006/main">
            <a:off x="1695450" y="3600450"/>
            <a:ext cx="8801100" cy="628650"/>
          </a:xfrm>
          <a:prstGeom xmlns:a="http://schemas.openxmlformats.org/drawingml/2006/main" prst="rect">
            <a:avLst/>
          </a:prstGeom>
          <a:solidFill xmlns:a="http://schemas.openxmlformats.org/drawingml/2006/main">
            <a:srgbClr val="FFFFFF">
              <a:alpha val="10196"/>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0" name="Google Shape;560;p22">
            <a:extLst xmlns:a="http://schemas.openxmlformats.org/drawingml/2006/main">
              <a:ext uri="{FF2B5EF4-FFF2-40B4-BE49-F238E27FC236}">
                <a16:creationId xmlns:a16="http://schemas.microsoft.com/office/drawing/2014/main" id="{7365C24A-22DD-4D5B-9068-B493465FAF7C}"/>
              </a:ext>
            </a:extLst>
          </p:cNvPr>
          <p:cNvSpPr>
            <a:spLocks xmlns:a="http://schemas.openxmlformats.org/drawingml/2006/main" noGrp="1"/>
          </p:cNvSpPr>
          <p:nvPr/>
        </p:nvSpPr>
        <p:spPr>
          <a:xfrm xmlns:a="http://schemas.openxmlformats.org/drawingml/2006/main">
            <a:off x="1924050" y="37623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125"/>
              <a:buFont typeface="Lato"/>
              <a:buNone/>
            </a:pPr>
            <a:r>
              <a:rPr sz="1125" b="1" i="0">
                <a:solidFill>
                  <a:srgbClr val="FFFFFF"/>
                </a:solidFill>
                <a:latin typeface="Lato"/>
                <a:ea typeface="Lato"/>
                <a:cs typeface="Lato"/>
              </a:rPr>
              <a:t>03</a:t>
            </a:r>
            <a:endParaRPr/>
          </a:p>
        </p:txBody>
      </p:sp>
      <p:sp>
        <p:nvSpPr>
          <p:cNvPr id="561" name="Google Shape;561;p22">
            <a:extLst xmlns:a="http://schemas.openxmlformats.org/drawingml/2006/main">
              <a:ext uri="{FF2B5EF4-FFF2-40B4-BE49-F238E27FC236}">
                <a16:creationId xmlns:a16="http://schemas.microsoft.com/office/drawing/2014/main" id="{DAE8C82D-A52C-47F9-A13C-DC97914E4A42}"/>
              </a:ext>
            </a:extLst>
          </p:cNvPr>
          <p:cNvSpPr>
            <a:spLocks xmlns:a="http://schemas.openxmlformats.org/drawingml/2006/main" noGrp="1"/>
          </p:cNvSpPr>
          <p:nvPr/>
        </p:nvSpPr>
        <p:spPr>
          <a:xfrm xmlns:a="http://schemas.openxmlformats.org/drawingml/2006/main">
            <a:off x="2533650" y="37623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050"/>
              <a:buFont typeface="Lato"/>
              <a:buNone/>
            </a:pPr>
            <a:r>
              <a:rPr sz="1050" b="1" i="0">
                <a:solidFill>
                  <a:srgbClr val="FFFFFF"/>
                </a:solidFill>
                <a:latin typeface="Lato"/>
                <a:ea typeface="Lato"/>
                <a:cs typeface="Lato"/>
              </a:rPr>
              <a:t>HARMONIZATION</a:t>
            </a:r>
            <a:endParaRPr/>
          </a:p>
        </p:txBody>
      </p:sp>
      <p:sp>
        <p:nvSpPr>
          <p:cNvPr id="562" name="Google Shape;562;p22">
            <a:extLst xmlns:a="http://schemas.openxmlformats.org/drawingml/2006/main">
              <a:ext uri="{FF2B5EF4-FFF2-40B4-BE49-F238E27FC236}">
                <a16:creationId xmlns:a16="http://schemas.microsoft.com/office/drawing/2014/main" id="{1F827568-6097-4567-A0D4-1C0435ED038D}"/>
              </a:ext>
            </a:extLst>
          </p:cNvPr>
          <p:cNvSpPr>
            <a:spLocks xmlns:a="http://schemas.openxmlformats.org/drawingml/2006/main" noGrp="1"/>
          </p:cNvSpPr>
          <p:nvPr/>
        </p:nvSpPr>
        <p:spPr>
          <a:xfrm xmlns:a="http://schemas.openxmlformats.org/drawingml/2006/main">
            <a:off x="4819650" y="3714750"/>
            <a:ext cx="50292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350"/>
              <a:buFont typeface="Lato"/>
              <a:buNone/>
            </a:pPr>
            <a:r>
              <a:rPr sz="1350" b="0" i="0">
                <a:solidFill>
                  <a:srgbClr val="FFFFFF"/>
                </a:solidFill>
                <a:latin typeface="Lato"/>
                <a:ea typeface="Lato"/>
                <a:cs typeface="Lato"/>
              </a:rPr>
              <a:t>Spatial selection, calendars, units and analysis-ready structures</a:t>
            </a:r>
            <a:endParaRPr/>
          </a:p>
        </p:txBody>
      </p:sp>
      <p:sp>
        <p:nvSpPr>
          <p:cNvPr id="563" name="Google Shape;563;p22">
            <a:extLst xmlns:a="http://schemas.openxmlformats.org/drawingml/2006/main">
              <a:ext uri="{FF2B5EF4-FFF2-40B4-BE49-F238E27FC236}">
                <a16:creationId xmlns:a16="http://schemas.microsoft.com/office/drawing/2014/main" id="{5F848AC6-3C1D-4E0C-9394-993CA3F41EFB}"/>
              </a:ext>
            </a:extLst>
          </p:cNvPr>
          <p:cNvSpPr>
            <a:spLocks xmlns:a="http://schemas.openxmlformats.org/drawingml/2006/main" noGrp="1"/>
          </p:cNvSpPr>
          <p:nvPr/>
        </p:nvSpPr>
        <p:spPr>
          <a:xfrm xmlns:a="http://schemas.openxmlformats.org/drawingml/2006/main">
            <a:off x="2057400" y="4476750"/>
            <a:ext cx="8077200" cy="628650"/>
          </a:xfrm>
          <a:prstGeom xmlns:a="http://schemas.openxmlformats.org/drawingml/2006/main" prst="rect">
            <a:avLst/>
          </a:prstGeom>
          <a:solidFill xmlns:a="http://schemas.openxmlformats.org/drawingml/2006/main">
            <a:srgbClr val="F2B632">
              <a:alpha val="20000"/>
            </a:srgbClr>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4" name="Google Shape;564;p22">
            <a:extLst xmlns:a="http://schemas.openxmlformats.org/drawingml/2006/main">
              <a:ext uri="{FF2B5EF4-FFF2-40B4-BE49-F238E27FC236}">
                <a16:creationId xmlns:a16="http://schemas.microsoft.com/office/drawing/2014/main" id="{6C57330C-ECC3-427E-8B6B-4B4123C5A799}"/>
              </a:ext>
            </a:extLst>
          </p:cNvPr>
          <p:cNvSpPr>
            <a:spLocks xmlns:a="http://schemas.openxmlformats.org/drawingml/2006/main" noGrp="1"/>
          </p:cNvSpPr>
          <p:nvPr/>
        </p:nvSpPr>
        <p:spPr>
          <a:xfrm xmlns:a="http://schemas.openxmlformats.org/drawingml/2006/main">
            <a:off x="2286000" y="46386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125"/>
              <a:buFont typeface="Lato"/>
              <a:buNone/>
            </a:pPr>
            <a:r>
              <a:rPr sz="1125" b="1" i="0">
                <a:solidFill>
                  <a:srgbClr val="FFD879"/>
                </a:solidFill>
                <a:latin typeface="Lato"/>
                <a:ea typeface="Lato"/>
                <a:cs typeface="Lato"/>
              </a:rPr>
              <a:t>04</a:t>
            </a:r>
            <a:endParaRPr/>
          </a:p>
        </p:txBody>
      </p:sp>
      <p:sp>
        <p:nvSpPr>
          <p:cNvPr id="565" name="Google Shape;565;p22">
            <a:extLst xmlns:a="http://schemas.openxmlformats.org/drawingml/2006/main">
              <a:ext uri="{FF2B5EF4-FFF2-40B4-BE49-F238E27FC236}">
                <a16:creationId xmlns:a16="http://schemas.microsoft.com/office/drawing/2014/main" id="{9216C041-8667-485D-9A20-0A32586CD973}"/>
              </a:ext>
            </a:extLst>
          </p:cNvPr>
          <p:cNvSpPr>
            <a:spLocks xmlns:a="http://schemas.openxmlformats.org/drawingml/2006/main" noGrp="1"/>
          </p:cNvSpPr>
          <p:nvPr/>
        </p:nvSpPr>
        <p:spPr>
          <a:xfrm xmlns:a="http://schemas.openxmlformats.org/drawingml/2006/main">
            <a:off x="2895600" y="4638675"/>
            <a:ext cx="2143125"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D879"/>
              </a:buClr>
              <a:buSzPts val="1050"/>
              <a:buFont typeface="Lato"/>
              <a:buNone/>
            </a:pPr>
            <a:r>
              <a:rPr sz="1050" b="1" i="0">
                <a:solidFill>
                  <a:srgbClr val="FFD879"/>
                </a:solidFill>
                <a:latin typeface="Lato"/>
                <a:ea typeface="Lato"/>
                <a:cs typeface="Lato"/>
              </a:rPr>
              <a:t>ANALYTICAL OUTPUTS</a:t>
            </a:r>
            <a:endParaRPr/>
          </a:p>
        </p:txBody>
      </p:sp>
      <p:sp>
        <p:nvSpPr>
          <p:cNvPr id="566" name="Google Shape;566;p22">
            <a:extLst xmlns:a="http://schemas.openxmlformats.org/drawingml/2006/main">
              <a:ext uri="{FF2B5EF4-FFF2-40B4-BE49-F238E27FC236}">
                <a16:creationId xmlns:a16="http://schemas.microsoft.com/office/drawing/2014/main" id="{3BE30208-CD18-443C-9563-F10825830089}"/>
              </a:ext>
            </a:extLst>
          </p:cNvPr>
          <p:cNvSpPr>
            <a:spLocks xmlns:a="http://schemas.openxmlformats.org/drawingml/2006/main" noGrp="1"/>
          </p:cNvSpPr>
          <p:nvPr/>
        </p:nvSpPr>
        <p:spPr>
          <a:xfrm xmlns:a="http://schemas.openxmlformats.org/drawingml/2006/main">
            <a:off x="5181600" y="4591050"/>
            <a:ext cx="430530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250"/>
              <a:buFont typeface="Lato"/>
              <a:buNone/>
            </a:pPr>
            <a:r>
              <a:rPr sz="1250" b="0" i="0">
                <a:solidFill>
                  <a:srgbClr val="FFFFFF"/>
                </a:solidFill>
                <a:latin typeface="Lato"/>
                <a:ea typeface="Lato"/>
                <a:cs typeface="Lato"/>
              </a:rPr>
              <a:t>Indicators, maps, time series and data for downstream workflows</a:t>
            </a:r>
            <a:endParaRPr/>
          </a:p>
        </p:txBody>
      </p:sp>
      <p:sp>
        <p:nvSpPr>
          <p:cNvPr id="567" name="Google Shape;567;p22">
            <a:extLst xmlns:a="http://schemas.openxmlformats.org/drawingml/2006/main">
              <a:ext uri="{FF2B5EF4-FFF2-40B4-BE49-F238E27FC236}">
                <a16:creationId xmlns:a16="http://schemas.microsoft.com/office/drawing/2014/main" id="{0FDDF836-BDA5-4661-8A59-23EAB26E1CE1}"/>
              </a:ext>
            </a:extLst>
          </p:cNvPr>
          <p:cNvSpPr>
            <a:spLocks xmlns:a="http://schemas.openxmlformats.org/drawingml/2006/main" noGrp="1"/>
          </p:cNvSpPr>
          <p:nvPr/>
        </p:nvSpPr>
        <p:spPr>
          <a:xfrm xmlns:a="http://schemas.openxmlformats.org/drawingml/2006/main">
            <a:off x="2381250" y="5648325"/>
            <a:ext cx="74295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Confirm production services, dataset catalogue and responsibilities with Cantabria</a:t>
            </a:r>
            <a:endParaRPr/>
          </a:p>
        </p:txBody>
      </p:sp>
      <p:sp>
        <p:nvSpPr>
          <p:cNvPr id="568" name="Google Shape;568;p22">
            <a:extLst xmlns:a="http://schemas.openxmlformats.org/drawingml/2006/main">
              <a:ext uri="{FF2B5EF4-FFF2-40B4-BE49-F238E27FC236}">
                <a16:creationId xmlns:a16="http://schemas.microsoft.com/office/drawing/2014/main" id="{7B8488EA-51FF-46CA-86A0-CA6FC7052803}"/>
              </a:ext>
            </a:extLst>
          </p:cNvPr>
          <p:cNvSpPr>
            <a:spLocks xmlns:a="http://schemas.openxmlformats.org/drawingml/2006/main" noGrp="1"/>
          </p:cNvSpPr>
          <p:nvPr/>
        </p:nvSpPr>
        <p:spPr>
          <a:xfrm xmlns:a="http://schemas.openxmlformats.org/drawingml/2006/main">
            <a:off x="733425" y="6229350"/>
            <a:ext cx="10810875" cy="9525"/>
          </a:xfrm>
          <a:prstGeom xmlns:a="http://schemas.openxmlformats.org/drawingml/2006/main" prst="rect">
            <a:avLst/>
          </a:prstGeom>
          <a:solidFill xmlns:a="http://schemas.openxmlformats.org/drawingml/2006/main">
            <a:srgbClr val="61788B"/>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69" name="Google Shape;569;p22">
            <a:extLst xmlns:a="http://schemas.openxmlformats.org/drawingml/2006/main">
              <a:ext uri="{FF2B5EF4-FFF2-40B4-BE49-F238E27FC236}">
                <a16:creationId xmlns:a16="http://schemas.microsoft.com/office/drawing/2014/main" id="{A9BF2D25-0F82-4A21-BB5B-E103F2D64C2C}"/>
              </a:ext>
            </a:extLst>
          </p:cNvPr>
          <p:cNvSpPr>
            <a:spLocks xmlns:a="http://schemas.openxmlformats.org/drawingml/2006/main" noGrp="1"/>
          </p:cNvSpPr>
          <p:nvPr/>
        </p:nvSpPr>
        <p:spPr>
          <a:xfrm xmlns:a="http://schemas.openxmlformats.org/drawingml/2006/main">
            <a:off x="742950" y="6353175"/>
            <a:ext cx="2381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B6C5CF"/>
              </a:buClr>
              <a:buSzPts val="750"/>
              <a:buFont typeface="Lato"/>
              <a:buNone/>
            </a:pPr>
            <a:r>
              <a:rPr sz="750" b="1" i="0">
                <a:solidFill>
                  <a:srgbClr val="B6C5CF"/>
                </a:solidFill>
                <a:latin typeface="Lato"/>
                <a:ea typeface="Lato"/>
                <a:cs typeface="Lato"/>
              </a:rPr>
              <a:t>CAVA MODULE 1</a:t>
            </a:r>
            <a:endParaRPr/>
          </a:p>
        </p:txBody>
      </p:sp>
      <p:sp>
        <p:nvSpPr>
          <p:cNvPr id="570" name="Google Shape;570;p22">
            <a:extLst xmlns:a="http://schemas.openxmlformats.org/drawingml/2006/main">
              <a:ext uri="{FF2B5EF4-FFF2-40B4-BE49-F238E27FC236}">
                <a16:creationId xmlns:a16="http://schemas.microsoft.com/office/drawing/2014/main" id="{2F6AF41A-D699-40BE-B953-3E90A7D92380}"/>
              </a:ext>
            </a:extLst>
          </p:cNvPr>
          <p:cNvSpPr>
            <a:spLocks xmlns:a="http://schemas.openxmlformats.org/drawingml/2006/main" noGrp="1"/>
          </p:cNvSpPr>
          <p:nvPr/>
        </p:nvSpPr>
        <p:spPr>
          <a:xfrm xmlns:a="http://schemas.openxmlformats.org/drawingml/2006/main">
            <a:off x="11049000" y="6353175"/>
            <a:ext cx="47625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B6C5CF"/>
              </a:buClr>
              <a:buSzPts val="750"/>
              <a:buFont typeface="Lato"/>
              <a:buNone/>
            </a:pPr>
            <a:r>
              <a:rPr sz="750" b="0" i="0">
                <a:solidFill>
                  <a:srgbClr val="B6C5CF"/>
                </a:solidFill>
                <a:latin typeface="Lato"/>
                <a:ea typeface="Lato"/>
                <a:cs typeface="Lato"/>
              </a:rPr>
              <a:t>20</a:t>
            </a:r>
            <a:endParaRPr/>
          </a:p>
        </p:txBody>
      </p:sp>
    </p:spTree>
    <p:extLst>
      <p:ext uri="{BB962C8B-B14F-4D97-AF65-F5344CB8AC3E}">
        <p14:creationId xmlns:p14="http://schemas.microsoft.com/office/powerpoint/2010/main" val="29532431"/>
      </p:ext>
    </p:extLst>
  </p:cSld>
</p:sld>
</file>

<file path=ppt/slides/slide2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76" name="Google Shape;576;p23">
            <a:extLst xmlns:a="http://schemas.openxmlformats.org/drawingml/2006/main">
              <a:ext uri="{FF2B5EF4-FFF2-40B4-BE49-F238E27FC236}">
                <a16:creationId xmlns:a16="http://schemas.microsoft.com/office/drawing/2014/main" id="{1190D4AC-FA0E-44AF-887C-0A4410E656D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Source data and remote services</a:t>
            </a:r>
            <a:endParaRPr/>
          </a:p>
        </p:txBody>
      </p:sp>
      <p:sp>
        <p:nvSpPr>
          <p:cNvPr id="577" name="Google Shape;577;p23">
            <a:extLst xmlns:a="http://schemas.openxmlformats.org/drawingml/2006/main">
              <a:ext uri="{FF2B5EF4-FFF2-40B4-BE49-F238E27FC236}">
                <a16:creationId xmlns:a16="http://schemas.microsoft.com/office/drawing/2014/main" id="{15D31BF2-2187-49A2-AB90-D135A085E0D4}"/>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same underlying data services can support no-code, R and Python workflows</a:t>
            </a:r>
            <a:endParaRPr/>
          </a:p>
        </p:txBody>
      </p:sp>
      <p:sp>
        <p:nvSpPr>
          <p:cNvPr id="578" name="Google Shape;578;p23">
            <a:extLst xmlns:a="http://schemas.openxmlformats.org/drawingml/2006/main">
              <a:ext uri="{FF2B5EF4-FFF2-40B4-BE49-F238E27FC236}">
                <a16:creationId xmlns:a16="http://schemas.microsoft.com/office/drawing/2014/main" id="{9A61D1D7-01DF-46B4-BF50-FBFF9B8DFEB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79" name="Google Shape;579;p23">
            <a:extLst xmlns:a="http://schemas.openxmlformats.org/drawingml/2006/main">
              <a:ext uri="{FF2B5EF4-FFF2-40B4-BE49-F238E27FC236}">
                <a16:creationId xmlns:a16="http://schemas.microsoft.com/office/drawing/2014/main" id="{3595D194-F1C0-42C9-99B6-F555157B2F93}"/>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0" name="Google Shape;580;p23">
            <a:extLst xmlns:a="http://schemas.openxmlformats.org/drawingml/2006/main">
              <a:ext uri="{FF2B5EF4-FFF2-40B4-BE49-F238E27FC236}">
                <a16:creationId xmlns:a16="http://schemas.microsoft.com/office/drawing/2014/main" id="{6F0DDB4A-3400-4057-BEDB-904A1F2A8F5D}"/>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1" name="Google Shape;581;p23">
            <a:extLst xmlns:a="http://schemas.openxmlformats.org/drawingml/2006/main">
              <a:ext uri="{FF2B5EF4-FFF2-40B4-BE49-F238E27FC236}">
                <a16:creationId xmlns:a16="http://schemas.microsoft.com/office/drawing/2014/main" id="{BBCD49B1-5F79-41D4-A5E3-F5B9EE6A2BD4}"/>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582" name="Google Shape;582;p23">
            <a:extLst xmlns:a="http://schemas.openxmlformats.org/drawingml/2006/main">
              <a:ext uri="{FF2B5EF4-FFF2-40B4-BE49-F238E27FC236}">
                <a16:creationId xmlns:a16="http://schemas.microsoft.com/office/drawing/2014/main" id="{B23751F2-90B6-4BB7-87D0-15416211B446}"/>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21</a:t>
            </a:r>
            <a:endParaRPr/>
          </a:p>
        </p:txBody>
      </p:sp>
      <p:sp>
        <p:nvSpPr>
          <p:cNvPr id="583" name="Google Shape;583;p23">
            <a:extLst xmlns:a="http://schemas.openxmlformats.org/drawingml/2006/main">
              <a:ext uri="{FF2B5EF4-FFF2-40B4-BE49-F238E27FC236}">
                <a16:creationId xmlns:a16="http://schemas.microsoft.com/office/drawing/2014/main" id="{2704F36E-98EA-4A85-9365-04505C1CC3E4}"/>
              </a:ext>
            </a:extLst>
          </p:cNvPr>
          <p:cNvSpPr>
            <a:spLocks xmlns:a="http://schemas.openxmlformats.org/drawingml/2006/main" noGrp="1"/>
          </p:cNvSpPr>
          <p:nvPr/>
        </p:nvSpPr>
        <p:spPr>
          <a:xfrm xmlns:a="http://schemas.openxmlformats.org/drawingml/2006/main">
            <a:off x="88106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CLIMATE ARCHIVES</a:t>
            </a:r>
            <a:endParaRPr/>
          </a:p>
        </p:txBody>
      </p:sp>
      <p:sp>
        <p:nvSpPr>
          <p:cNvPr id="584" name="Google Shape;584;p23">
            <a:extLst xmlns:a="http://schemas.openxmlformats.org/drawingml/2006/main">
              <a:ext uri="{FF2B5EF4-FFF2-40B4-BE49-F238E27FC236}">
                <a16:creationId xmlns:a16="http://schemas.microsoft.com/office/drawing/2014/main" id="{2AF5F8EA-68EA-4D76-BFE2-A2C499E377E4}"/>
              </a:ext>
            </a:extLst>
          </p:cNvPr>
          <p:cNvSpPr>
            <a:spLocks xmlns:a="http://schemas.openxmlformats.org/drawingml/2006/main" noGrp="1"/>
          </p:cNvSpPr>
          <p:nvPr/>
        </p:nvSpPr>
        <p:spPr>
          <a:xfrm xmlns:a="http://schemas.openxmlformats.org/drawingml/2006/main">
            <a:off x="881063" y="2315050"/>
            <a:ext cx="2333700" cy="1543200"/>
          </a:xfrm>
          <a:prstGeom xmlns:a="http://schemas.openxmlformats.org/drawingml/2006/main" prst="roundRect">
            <a:avLst>
              <a:gd name="adj" fmla="val 4938"/>
            </a:avLst>
          </a:prstGeom>
          <a:solidFill xmlns:a="http://schemas.openxmlformats.org/drawingml/2006/main">
            <a:srgbClr val="EAF3F8"/>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5" name="Google Shape;585;p23">
            <a:extLst xmlns:a="http://schemas.openxmlformats.org/drawingml/2006/main">
              <a:ext uri="{FF2B5EF4-FFF2-40B4-BE49-F238E27FC236}">
                <a16:creationId xmlns:a16="http://schemas.microsoft.com/office/drawing/2014/main" id="{0127CB3D-D015-4998-82FC-D0C914EEE19A}"/>
              </a:ext>
            </a:extLst>
          </p:cNvPr>
          <p:cNvSpPr>
            <a:spLocks xmlns:a="http://schemas.openxmlformats.org/drawingml/2006/main" noGrp="1"/>
          </p:cNvSpPr>
          <p:nvPr/>
        </p:nvSpPr>
        <p:spPr>
          <a:xfrm xmlns:a="http://schemas.openxmlformats.org/drawingml/2006/main">
            <a:off x="1052525" y="2487100"/>
            <a:ext cx="1990800" cy="116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ERA5</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a:t>
            </a:r>
            <a:endParaRPr sz="1600"/>
          </a:p>
          <a:p xmlns:a="http://schemas.openxmlformats.org/drawingml/2006/main">
            <a:pPr marL="0" marR="0" lvl="0" indent="0" algn="ctr">
              <a:lnSpc>
                <a:spcPct val="125000"/>
              </a:lnSpc>
              <a:spcBef>
                <a:spcPts val="0"/>
              </a:spcBef>
              <a:spcAft>
                <a:spcPts val="0"/>
              </a:spcAft>
              <a:buClr>
                <a:srgbClr val="12304E"/>
              </a:buClr>
              <a:buSzPts val="1200"/>
              <a:buFont typeface="Lato"/>
              <a:buNone/>
            </a:pPr>
            <a:r>
              <a:rPr b="1" i="0">
                <a:solidFill>
                  <a:srgbClr val="12304E"/>
                </a:solidFill>
                <a:latin typeface="Lato"/>
                <a:ea typeface="Lato"/>
                <a:cs typeface="Lato"/>
              </a:rPr>
              <a:t>CORDEX-CORE-BC</a:t>
            </a:r>
            <a:endParaRPr b="1" i="0">
              <a:solidFill>
                <a:srgbClr val="12304E"/>
              </a:solidFill>
              <a:latin typeface="Lato"/>
              <a:ea typeface="Lato"/>
              <a:cs typeface="Lato"/>
            </a:endParaRPr>
          </a:p>
          <a:p xmlns:a="http://schemas.openxmlformats.org/drawingml/2006/main">
            <a:pPr marL="0" marR="0" lvl="0" indent="0" algn="ctr">
              <a:lnSpc>
                <a:spcPct val="125000"/>
              </a:lnSpc>
              <a:spcBef>
                <a:spcPts val="0"/>
              </a:spcBef>
              <a:spcAft>
                <a:spcPts val="0"/>
              </a:spcAft>
              <a:buClr>
                <a:srgbClr val="12304E"/>
              </a:buClr>
              <a:buSzPts val="1200"/>
              <a:buFont typeface="Lato"/>
              <a:buNone/>
            </a:pPr>
            <a:r>
              <a:rPr sz="1200" b="1">
                <a:solidFill>
                  <a:srgbClr val="12304E"/>
                </a:solidFill>
                <a:latin typeface="Lato"/>
                <a:ea typeface="Lato"/>
                <a:cs typeface="Lato"/>
              </a:rPr>
              <a:t>(&gt;200,000 NetCDF files)</a:t>
            </a:r>
            <a:endParaRPr sz="1200" b="1">
              <a:solidFill>
                <a:srgbClr val="12304E"/>
              </a:solidFill>
              <a:latin typeface="Lato"/>
              <a:ea typeface="Lato"/>
              <a:cs typeface="Lato"/>
            </a:endParaRPr>
          </a:p>
        </p:txBody>
      </p:sp>
      <p:sp>
        <p:nvSpPr>
          <p:cNvPr id="586" name="Google Shape;586;p23">
            <a:extLst xmlns:a="http://schemas.openxmlformats.org/drawingml/2006/main">
              <a:ext uri="{FF2B5EF4-FFF2-40B4-BE49-F238E27FC236}">
                <a16:creationId xmlns:a16="http://schemas.microsoft.com/office/drawing/2014/main" id="{2716AB4D-161E-4853-B1EF-F0F259C4295B}"/>
              </a:ext>
            </a:extLst>
          </p:cNvPr>
          <p:cNvSpPr>
            <a:spLocks xmlns:a="http://schemas.openxmlformats.org/drawingml/2006/main" noGrp="1"/>
          </p:cNvSpPr>
          <p:nvPr/>
        </p:nvSpPr>
        <p:spPr>
          <a:xfrm xmlns:a="http://schemas.openxmlformats.org/drawingml/2006/main">
            <a:off x="4624388" y="1838800"/>
            <a:ext cx="29529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00A88F"/>
              </a:buClr>
              <a:buSzPts val="1125"/>
              <a:buFont typeface="Lato"/>
              <a:buNone/>
            </a:pPr>
            <a:r>
              <a:rPr sz="1125" b="1">
                <a:solidFill>
                  <a:srgbClr val="00A88F"/>
                </a:solidFill>
                <a:latin typeface="Lato"/>
                <a:ea typeface="Lato"/>
                <a:cs typeface="Lato"/>
              </a:rPr>
              <a:t>DATA SERVICES</a:t>
            </a:r>
            <a:r>
              <a:rPr sz="1125" b="1" i="0">
                <a:solidFill>
                  <a:srgbClr val="00A88F"/>
                </a:solidFill>
                <a:latin typeface="Lato"/>
                <a:ea typeface="Lato"/>
                <a:cs typeface="Lato"/>
              </a:rPr>
              <a:t> + PROCESSING</a:t>
            </a:r>
            <a:endParaRPr/>
          </a:p>
        </p:txBody>
      </p:sp>
      <p:sp>
        <p:nvSpPr>
          <p:cNvPr id="587" name="Google Shape;587;p23">
            <a:extLst xmlns:a="http://schemas.openxmlformats.org/drawingml/2006/main">
              <a:ext uri="{FF2B5EF4-FFF2-40B4-BE49-F238E27FC236}">
                <a16:creationId xmlns:a16="http://schemas.microsoft.com/office/drawing/2014/main" id="{70ACCBC0-329A-4DA8-8DEE-53C47F14679D}"/>
              </a:ext>
            </a:extLst>
          </p:cNvPr>
          <p:cNvSpPr>
            <a:spLocks xmlns:a="http://schemas.openxmlformats.org/drawingml/2006/main" noGrp="1"/>
          </p:cNvSpPr>
          <p:nvPr/>
        </p:nvSpPr>
        <p:spPr>
          <a:xfrm xmlns:a="http://schemas.openxmlformats.org/drawingml/2006/main">
            <a:off x="4433888" y="2315050"/>
            <a:ext cx="3333900" cy="1543200"/>
          </a:xfrm>
          <a:prstGeom xmlns:a="http://schemas.openxmlformats.org/drawingml/2006/main" prst="roundRect">
            <a:avLst>
              <a:gd name="adj" fmla="val 4938"/>
            </a:avLst>
          </a:prstGeom>
          <a:solidFill xmlns:a="http://schemas.openxmlformats.org/drawingml/2006/main">
            <a:srgbClr val="12304E"/>
          </a:solidFill>
          <a:ln xmlns:a="http://schemas.openxmlformats.org/drawingml/2006/main" w="9525" cmpd="sng">
            <a:solidFill>
              <a:srgbClr val="12304E"/>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88" name="Google Shape;588;p23">
            <a:extLst xmlns:a="http://schemas.openxmlformats.org/drawingml/2006/main">
              <a:ext uri="{FF2B5EF4-FFF2-40B4-BE49-F238E27FC236}">
                <a16:creationId xmlns:a16="http://schemas.microsoft.com/office/drawing/2014/main" id="{DCA0E1F7-9098-4967-A4FD-30172CF73FE5}"/>
              </a:ext>
            </a:extLst>
          </p:cNvPr>
          <p:cNvSpPr>
            <a:spLocks xmlns:a="http://schemas.openxmlformats.org/drawingml/2006/main" noGrp="1"/>
          </p:cNvSpPr>
          <p:nvPr/>
        </p:nvSpPr>
        <p:spPr>
          <a:xfrm xmlns:a="http://schemas.openxmlformats.org/drawingml/2006/main">
            <a:off x="4814888" y="2600800"/>
            <a:ext cx="2571900" cy="9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Remote subset</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Harmonize</a:t>
            </a:r>
            <a:endParaRPr/>
          </a:p>
          <a:p xmlns:a="http://schemas.openxmlformats.org/drawingml/2006/main">
            <a:pPr marL="0" marR="0" lvl="0" indent="0" algn="ctr">
              <a:lnSpc>
                <a:spcPct val="125000"/>
              </a:lnSpc>
              <a:spcBef>
                <a:spcPts val="0"/>
              </a:spcBef>
              <a:spcAft>
                <a:spcPts val="0"/>
              </a:spcAft>
              <a:buClr>
                <a:srgbClr val="FFFFFF"/>
              </a:buClr>
              <a:buSzPts val="1575"/>
              <a:buFont typeface="Lato"/>
              <a:buNone/>
            </a:pPr>
            <a:r>
              <a:rPr sz="1575" b="1" i="0">
                <a:solidFill>
                  <a:srgbClr val="FFFFFF"/>
                </a:solidFill>
                <a:latin typeface="Lato"/>
                <a:ea typeface="Lato"/>
                <a:cs typeface="Lato"/>
              </a:rPr>
              <a:t>Aggregate and calculate</a:t>
            </a:r>
            <a:endParaRPr/>
          </a:p>
        </p:txBody>
      </p:sp>
      <p:sp>
        <p:nvSpPr>
          <p:cNvPr id="589" name="Google Shape;589;p23">
            <a:extLst xmlns:a="http://schemas.openxmlformats.org/drawingml/2006/main">
              <a:ext uri="{FF2B5EF4-FFF2-40B4-BE49-F238E27FC236}">
                <a16:creationId xmlns:a16="http://schemas.microsoft.com/office/drawing/2014/main" id="{A748C403-BB25-4666-8B9E-87D248086DBF}"/>
              </a:ext>
            </a:extLst>
          </p:cNvPr>
          <p:cNvSpPr>
            <a:spLocks xmlns:a="http://schemas.openxmlformats.org/drawingml/2006/main" noGrp="1"/>
          </p:cNvSpPr>
          <p:nvPr/>
        </p:nvSpPr>
        <p:spPr>
          <a:xfrm xmlns:a="http://schemas.openxmlformats.org/drawingml/2006/main">
            <a:off x="9129713" y="1838800"/>
            <a:ext cx="23337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687984"/>
              </a:buClr>
              <a:buSzPts val="1125"/>
              <a:buFont typeface="Lato"/>
              <a:buNone/>
            </a:pPr>
            <a:r>
              <a:rPr sz="1125" b="1" i="0">
                <a:solidFill>
                  <a:srgbClr val="687984"/>
                </a:solidFill>
                <a:latin typeface="Lato"/>
                <a:ea typeface="Lato"/>
                <a:cs typeface="Lato"/>
              </a:rPr>
              <a:t>USER ENTRY POINTS</a:t>
            </a:r>
            <a:endParaRPr/>
          </a:p>
        </p:txBody>
      </p:sp>
      <p:sp>
        <p:nvSpPr>
          <p:cNvPr id="590" name="Google Shape;590;p23">
            <a:extLst xmlns:a="http://schemas.openxmlformats.org/drawingml/2006/main">
              <a:ext uri="{FF2B5EF4-FFF2-40B4-BE49-F238E27FC236}">
                <a16:creationId xmlns:a16="http://schemas.microsoft.com/office/drawing/2014/main" id="{2D6F6C89-C644-430E-828A-5CCE8271CBE4}"/>
              </a:ext>
            </a:extLst>
          </p:cNvPr>
          <p:cNvSpPr>
            <a:spLocks xmlns:a="http://schemas.openxmlformats.org/drawingml/2006/main" noGrp="1"/>
          </p:cNvSpPr>
          <p:nvPr/>
        </p:nvSpPr>
        <p:spPr>
          <a:xfrm xmlns:a="http://schemas.openxmlformats.org/drawingml/2006/main">
            <a:off x="8939213" y="2315050"/>
            <a:ext cx="2524200" cy="428700"/>
          </a:xfrm>
          <a:prstGeom xmlns:a="http://schemas.openxmlformats.org/drawingml/2006/main" prst="roundRect">
            <a:avLst>
              <a:gd name="adj" fmla="val 17778"/>
            </a:avLst>
          </a:prstGeom>
          <a:solidFill xmlns:a="http://schemas.openxmlformats.org/drawingml/2006/main">
            <a:srgbClr val="E7F4E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 Platform (W</a:t>
            </a:r>
            <a:r>
              <a:rPr sz="1350" b="1">
                <a:solidFill>
                  <a:srgbClr val="12304E"/>
                </a:solidFill>
                <a:latin typeface="Lato"/>
                <a:ea typeface="Lato"/>
                <a:cs typeface="Lato"/>
              </a:rPr>
              <a:t>eb)</a:t>
            </a:r>
            <a:endParaRPr/>
          </a:p>
        </p:txBody>
      </p:sp>
      <p:sp>
        <p:nvSpPr>
          <p:cNvPr id="591" name="Google Shape;591;p23">
            <a:extLst xmlns:a="http://schemas.openxmlformats.org/drawingml/2006/main">
              <a:ext uri="{FF2B5EF4-FFF2-40B4-BE49-F238E27FC236}">
                <a16:creationId xmlns:a16="http://schemas.microsoft.com/office/drawing/2014/main" id="{A4D8DEB2-BCDE-4C05-8D10-4D4FEBB08C3A}"/>
              </a:ext>
            </a:extLst>
          </p:cNvPr>
          <p:cNvSpPr>
            <a:spLocks xmlns:a="http://schemas.openxmlformats.org/drawingml/2006/main" noGrp="1"/>
          </p:cNvSpPr>
          <p:nvPr/>
        </p:nvSpPr>
        <p:spPr>
          <a:xfrm xmlns:a="http://schemas.openxmlformats.org/drawingml/2006/main">
            <a:off x="8939213" y="2867500"/>
            <a:ext cx="2524200" cy="428700"/>
          </a:xfrm>
          <a:prstGeom xmlns:a="http://schemas.openxmlformats.org/drawingml/2006/main" prst="roundRect">
            <a:avLst>
              <a:gd name="adj" fmla="val 17778"/>
            </a:avLst>
          </a:prstGeom>
          <a:solidFill xmlns:a="http://schemas.openxmlformats.org/drawingml/2006/main">
            <a:srgbClr val="FFFFFF"/>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CAVAanalytics </a:t>
            </a:r>
            <a:r>
              <a:rPr sz="1350" b="1">
                <a:solidFill>
                  <a:srgbClr val="12304E"/>
                </a:solidFill>
                <a:latin typeface="Lato"/>
                <a:ea typeface="Lato"/>
                <a:cs typeface="Lato"/>
              </a:rPr>
              <a:t>(R)</a:t>
            </a:r>
            <a:endParaRPr/>
          </a:p>
        </p:txBody>
      </p:sp>
      <p:sp>
        <p:nvSpPr>
          <p:cNvPr id="592" name="Google Shape;592;p23">
            <a:extLst xmlns:a="http://schemas.openxmlformats.org/drawingml/2006/main">
              <a:ext uri="{FF2B5EF4-FFF2-40B4-BE49-F238E27FC236}">
                <a16:creationId xmlns:a16="http://schemas.microsoft.com/office/drawing/2014/main" id="{869A1164-2AA0-4D4F-A28C-FC7C8084386C}"/>
              </a:ext>
            </a:extLst>
          </p:cNvPr>
          <p:cNvSpPr>
            <a:spLocks xmlns:a="http://schemas.openxmlformats.org/drawingml/2006/main" noGrp="1"/>
          </p:cNvSpPr>
          <p:nvPr/>
        </p:nvSpPr>
        <p:spPr>
          <a:xfrm xmlns:a="http://schemas.openxmlformats.org/drawingml/2006/main">
            <a:off x="8939213" y="3419950"/>
            <a:ext cx="2524200" cy="428700"/>
          </a:xfrm>
          <a:prstGeom xmlns:a="http://schemas.openxmlformats.org/drawingml/2006/main" prst="roundRect">
            <a:avLst>
              <a:gd name="adj" fmla="val 17778"/>
            </a:avLst>
          </a:prstGeom>
          <a:solidFill xmlns:a="http://schemas.openxmlformats.org/drawingml/2006/main">
            <a:srgbClr val="FFF3D1"/>
          </a:solidFill>
          <a:ln xmlns:a="http://schemas.openxmlformats.org/drawingml/2006/main" w="9525" cmpd="sng">
            <a:solidFill>
              <a:srgbClr val="DCE5E2"/>
            </a:solidFill>
            <a:prstDash val="solid"/>
            <a:headEnd type="none" w="sm" len="sm"/>
            <a:tailEnd type="none" w="sm" len="sm"/>
          </a:ln>
        </p:spPr>
        <p:txBody>
          <a:bodyPr xmlns:a="http://schemas.openxmlformats.org/drawingml/2006/main" spcFirstLastPara="1" wrap="square" lIns="76200" tIns="47625" rIns="76200" bIns="47625"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cavapy </a:t>
            </a:r>
            <a:r>
              <a:rPr sz="1350" b="1">
                <a:solidFill>
                  <a:srgbClr val="12304E"/>
                </a:solidFill>
                <a:latin typeface="Lato"/>
                <a:ea typeface="Lato"/>
                <a:cs typeface="Lato"/>
              </a:rPr>
              <a:t>(Python)</a:t>
            </a:r>
            <a:endParaRPr/>
          </a:p>
        </p:txBody>
      </p:sp>
      <p:sp>
        <p:nvSpPr>
          <p:cNvPr id="593" name="Google Shape;593;p23">
            <a:extLst xmlns:a="http://schemas.openxmlformats.org/drawingml/2006/main">
              <a:ext uri="{FF2B5EF4-FFF2-40B4-BE49-F238E27FC236}">
                <a16:creationId xmlns:a16="http://schemas.microsoft.com/office/drawing/2014/main" id="{8CED410E-313A-4A39-946B-35F2C35873F0}"/>
              </a:ext>
            </a:extLst>
          </p:cNvPr>
          <p:cNvSpPr>
            <a:spLocks xmlns:a="http://schemas.openxmlformats.org/drawingml/2006/main" noGrp="1"/>
          </p:cNvSpPr>
          <p:nvPr/>
        </p:nvSpPr>
        <p:spPr>
          <a:xfrm xmlns:a="http://schemas.openxmlformats.org/drawingml/2006/main">
            <a:off x="3214688" y="3067525"/>
            <a:ext cx="12192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4" name="Google Shape;594;p23">
            <a:extLst xmlns:a="http://schemas.openxmlformats.org/drawingml/2006/main">
              <a:ext uri="{FF2B5EF4-FFF2-40B4-BE49-F238E27FC236}">
                <a16:creationId xmlns:a16="http://schemas.microsoft.com/office/drawing/2014/main" id="{CECF2FB4-36F9-4821-A5DC-BC735735CCCA}"/>
              </a:ext>
            </a:extLst>
          </p:cNvPr>
          <p:cNvSpPr>
            <a:spLocks xmlns:a="http://schemas.openxmlformats.org/drawingml/2006/main" noGrp="1"/>
          </p:cNvSpPr>
          <p:nvPr/>
        </p:nvSpPr>
        <p:spPr>
          <a:xfrm xmlns:a="http://schemas.openxmlformats.org/drawingml/2006/main">
            <a:off x="7767638" y="3067525"/>
            <a:ext cx="1171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5" name="Google Shape;595;p23">
            <a:extLst xmlns:a="http://schemas.openxmlformats.org/drawingml/2006/main">
              <a:ext uri="{FF2B5EF4-FFF2-40B4-BE49-F238E27FC236}">
                <a16:creationId xmlns:a16="http://schemas.microsoft.com/office/drawing/2014/main" id="{F85F34CD-6C01-4EED-AAA0-9F3FF20ECAE7}"/>
              </a:ext>
            </a:extLst>
          </p:cNvPr>
          <p:cNvSpPr>
            <a:spLocks xmlns:a="http://schemas.openxmlformats.org/drawingml/2006/main" noGrp="1"/>
          </p:cNvSpPr>
          <p:nvPr/>
        </p:nvSpPr>
        <p:spPr>
          <a:xfrm xmlns:a="http://schemas.openxmlformats.org/drawingml/2006/main">
            <a:off x="1481138" y="408717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6" name="Google Shape;596;p23">
            <a:extLst xmlns:a="http://schemas.openxmlformats.org/drawingml/2006/main">
              <a:ext uri="{FF2B5EF4-FFF2-40B4-BE49-F238E27FC236}">
                <a16:creationId xmlns:a16="http://schemas.microsoft.com/office/drawing/2014/main" id="{296F6D68-9908-44E2-AFA3-63C6B617CC32}"/>
              </a:ext>
            </a:extLst>
          </p:cNvPr>
          <p:cNvSpPr>
            <a:spLocks xmlns:a="http://schemas.openxmlformats.org/drawingml/2006/main" noGrp="1"/>
          </p:cNvSpPr>
          <p:nvPr/>
        </p:nvSpPr>
        <p:spPr>
          <a:xfrm xmlns:a="http://schemas.openxmlformats.org/drawingml/2006/main">
            <a:off x="1738313" y="431577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i="0">
                <a:solidFill>
                  <a:srgbClr val="008D7A"/>
                </a:solidFill>
                <a:latin typeface="Lato"/>
                <a:ea typeface="Lato"/>
                <a:cs typeface="Lato"/>
              </a:rPr>
              <a:t>Design principle</a:t>
            </a:r>
            <a:endParaRPr/>
          </a:p>
        </p:txBody>
      </p:sp>
      <p:sp>
        <p:nvSpPr>
          <p:cNvPr id="597" name="Google Shape;597;p23">
            <a:extLst xmlns:a="http://schemas.openxmlformats.org/drawingml/2006/main">
              <a:ext uri="{FF2B5EF4-FFF2-40B4-BE49-F238E27FC236}">
                <a16:creationId xmlns:a16="http://schemas.microsoft.com/office/drawing/2014/main" id="{1D01D6B8-7B02-4992-BA77-6FC4250DB53C}"/>
              </a:ext>
            </a:extLst>
          </p:cNvPr>
          <p:cNvSpPr>
            <a:spLocks xmlns:a="http://schemas.openxmlformats.org/drawingml/2006/main" noGrp="1"/>
          </p:cNvSpPr>
          <p:nvPr/>
        </p:nvSpPr>
        <p:spPr>
          <a:xfrm xmlns:a="http://schemas.openxmlformats.org/drawingml/2006/main">
            <a:off x="3643313" y="4249100"/>
            <a:ext cx="66867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309"/>
              <a:buFont typeface="Lato"/>
              <a:buNone/>
            </a:pPr>
            <a:r>
              <a:rPr sz="1310" b="0" i="0">
                <a:solidFill>
                  <a:srgbClr val="12304E"/>
                </a:solidFill>
                <a:latin typeface="Lato"/>
                <a:ea typeface="Lato"/>
                <a:cs typeface="Lato"/>
              </a:rPr>
              <a:t>Users choose an interface that matches their task and technical skills without rebuilding the data pipeline.</a:t>
            </a:r>
            <a:endParaRPr/>
          </a:p>
        </p:txBody>
      </p:sp>
      <p:sp>
        <p:nvSpPr>
          <p:cNvPr id="598" name="Google Shape;598;p23">
            <a:extLst xmlns:a="http://schemas.openxmlformats.org/drawingml/2006/main">
              <a:ext uri="{FF2B5EF4-FFF2-40B4-BE49-F238E27FC236}">
                <a16:creationId xmlns:a16="http://schemas.microsoft.com/office/drawing/2014/main" id="{F7C688A8-C2EA-499C-9FE7-548DC90B4F7F}"/>
              </a:ext>
            </a:extLst>
          </p:cNvPr>
          <p:cNvSpPr>
            <a:spLocks xmlns:a="http://schemas.openxmlformats.org/drawingml/2006/main" noGrp="1"/>
          </p:cNvSpPr>
          <p:nvPr/>
        </p:nvSpPr>
        <p:spPr>
          <a:xfrm xmlns:a="http://schemas.openxmlformats.org/drawingml/2006/main">
            <a:off x="1481150" y="5086825"/>
            <a:ext cx="9229800" cy="838200"/>
          </a:xfrm>
          <a:prstGeom xmlns:a="http://schemas.openxmlformats.org/drawingml/2006/main" prst="roundRect">
            <a:avLst>
              <a:gd name="adj" fmla="val 9091"/>
            </a:avLst>
          </a:prstGeom>
          <a:solidFill xmlns:a="http://schemas.openxmlformats.org/drawingml/2006/main">
            <a:srgbClr val="E7F4EF"/>
          </a:solidFill>
          <a:ln xmlns:a="http://schemas.openxmlformats.org/drawingml/2006/main" w="9525" cmpd="sng">
            <a:solidFill>
              <a:srgbClr val="E7F4EF"/>
            </a:solidFill>
            <a:prstDash val="solid"/>
            <a:headEnd type="none" w="sm" len="sm"/>
            <a:tailEnd type="none" w="sm" len="sm"/>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599" name="Google Shape;599;p23">
            <a:extLst xmlns:a="http://schemas.openxmlformats.org/drawingml/2006/main">
              <a:ext uri="{FF2B5EF4-FFF2-40B4-BE49-F238E27FC236}">
                <a16:creationId xmlns:a16="http://schemas.microsoft.com/office/drawing/2014/main" id="{75F7BAEE-D24D-4B47-990D-E6BF637DB5AF}"/>
              </a:ext>
            </a:extLst>
          </p:cNvPr>
          <p:cNvSpPr>
            <a:spLocks xmlns:a="http://schemas.openxmlformats.org/drawingml/2006/main" noGrp="1"/>
          </p:cNvSpPr>
          <p:nvPr/>
        </p:nvSpPr>
        <p:spPr>
          <a:xfrm xmlns:a="http://schemas.openxmlformats.org/drawingml/2006/main">
            <a:off x="1738325" y="5315425"/>
            <a:ext cx="18096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8D7A"/>
              </a:buClr>
              <a:buSzPts val="1275"/>
              <a:buFont typeface="Lato"/>
              <a:buNone/>
            </a:pPr>
            <a:r>
              <a:rPr sz="1275" b="1">
                <a:solidFill>
                  <a:srgbClr val="008D7A"/>
                </a:solidFill>
                <a:latin typeface="Lato"/>
                <a:ea typeface="Lato"/>
                <a:cs typeface="Lato"/>
              </a:rPr>
              <a:t>Remote data access enabled</a:t>
            </a:r>
            <a:endParaRPr/>
          </a:p>
        </p:txBody>
      </p:sp>
      <p:sp>
        <p:nvSpPr>
          <p:cNvPr id="600" name="Google Shape;600;p23">
            <a:extLst xmlns:a="http://schemas.openxmlformats.org/drawingml/2006/main">
              <a:ext uri="{FF2B5EF4-FFF2-40B4-BE49-F238E27FC236}">
                <a16:creationId xmlns:a16="http://schemas.microsoft.com/office/drawing/2014/main" id="{2587FBC8-8410-484E-AF0B-CD669D48BE39}"/>
              </a:ext>
            </a:extLst>
          </p:cNvPr>
          <p:cNvSpPr>
            <a:spLocks xmlns:a="http://schemas.openxmlformats.org/drawingml/2006/main" noGrp="1"/>
          </p:cNvSpPr>
          <p:nvPr/>
        </p:nvSpPr>
        <p:spPr>
          <a:xfrm xmlns:a="http://schemas.openxmlformats.org/drawingml/2006/main">
            <a:off x="3643325" y="5248750"/>
            <a:ext cx="6686700" cy="538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1309"/>
              <a:buFont typeface="Lato"/>
              <a:buNone/>
            </a:pPr>
            <a:r>
              <a:rPr sz="1310">
                <a:solidFill>
                  <a:srgbClr val="12304E"/>
                </a:solidFill>
                <a:latin typeface="Lato"/>
                <a:ea typeface="Lato"/>
                <a:cs typeface="Lato"/>
              </a:rPr>
              <a:t>No need to download thousands of NetCDF files, URLs provide transparent access to analysis ready data (ARD) and data cubes.</a:t>
            </a:r>
            <a:endParaRPr>
              <a:solidFill>
                <a:schemeClr val="dk1"/>
              </a:solidFill>
            </a:endParaRPr>
          </a:p>
          <a:p xmlns:a="http://schemas.openxmlformats.org/drawingml/2006/main">
            <a:pPr marL="0" marR="0" lvl="0" indent="0" algn="l">
              <a:lnSpc>
                <a:spcPct val="105000"/>
              </a:lnSpc>
              <a:spcBef>
                <a:spcPts val="0"/>
              </a:spcBef>
              <a:spcAft>
                <a:spcPts val="0"/>
              </a:spcAft>
              <a:buClr>
                <a:srgbClr val="12304E"/>
              </a:buClr>
              <a:buSzPts val="1309"/>
              <a:buFont typeface="Lato"/>
              <a:buNone/>
            </a:pPr>
            <a:r>
              <a:t/>
            </a:r>
            <a:endParaRPr sz="1310">
              <a:solidFill>
                <a:srgbClr val="12304E"/>
              </a:solidFill>
              <a:latin typeface="Lato"/>
              <a:ea typeface="Lato"/>
              <a:cs typeface="Lato"/>
            </a:endParaRPr>
          </a:p>
        </p:txBody>
      </p:sp>
    </p:spTree>
    <p:extLst>
      <p:ext uri="{BB962C8B-B14F-4D97-AF65-F5344CB8AC3E}">
        <p14:creationId xmlns:p14="http://schemas.microsoft.com/office/powerpoint/2010/main" val="726005990"/>
      </p:ext>
    </p:extLst>
  </p:cSld>
</p:sld>
</file>

<file path=ppt/slides/slide2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06" name="Google Shape;606;p24">
            <a:extLst xmlns:a="http://schemas.openxmlformats.org/drawingml/2006/main">
              <a:ext uri="{FF2B5EF4-FFF2-40B4-BE49-F238E27FC236}">
                <a16:creationId xmlns:a16="http://schemas.microsoft.com/office/drawing/2014/main" id="{0FD2B7B9-EACA-4A19-B4DB-7419CE82B786}"/>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Harmonization and analytical outputs</a:t>
            </a:r>
            <a:endParaRPr sz="2250" b="1">
              <a:solidFill>
                <a:srgbClr val="12304E"/>
              </a:solidFill>
              <a:latin typeface="Lato"/>
              <a:ea typeface="Lato"/>
              <a:cs typeface="Lato"/>
            </a:endParaRPr>
          </a:p>
        </p:txBody>
      </p:sp>
      <p:sp>
        <p:nvSpPr>
          <p:cNvPr id="607" name="Google Shape;607;p24">
            <a:extLst xmlns:a="http://schemas.openxmlformats.org/drawingml/2006/main">
              <a:ext uri="{FF2B5EF4-FFF2-40B4-BE49-F238E27FC236}">
                <a16:creationId xmlns:a16="http://schemas.microsoft.com/office/drawing/2014/main" id="{6BA526F2-A14E-435A-9030-4C153FE44F82}"/>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The same underlying data services can support no-code, R and Python workflows</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08" name="Google Shape;608;p24">
            <a:extLst xmlns:a="http://schemas.openxmlformats.org/drawingml/2006/main">
              <a:ext uri="{FF2B5EF4-FFF2-40B4-BE49-F238E27FC236}">
                <a16:creationId xmlns:a16="http://schemas.microsoft.com/office/drawing/2014/main" id="{D42B4DCB-5FE0-455C-8796-6CC85AB89B7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09" name="Google Shape;609;p24">
            <a:extLst xmlns:a="http://schemas.openxmlformats.org/drawingml/2006/main">
              <a:ext uri="{FF2B5EF4-FFF2-40B4-BE49-F238E27FC236}">
                <a16:creationId xmlns:a16="http://schemas.microsoft.com/office/drawing/2014/main" id="{68ADB3AA-90A8-4A03-85A5-6641B08F5399}"/>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0" name="Google Shape;610;p24">
            <a:extLst xmlns:a="http://schemas.openxmlformats.org/drawingml/2006/main">
              <a:ext uri="{FF2B5EF4-FFF2-40B4-BE49-F238E27FC236}">
                <a16:creationId xmlns:a16="http://schemas.microsoft.com/office/drawing/2014/main" id="{C4E66900-DB0F-4972-8360-904F354E0F04}"/>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1" name="Google Shape;611;p24">
            <a:extLst xmlns:a="http://schemas.openxmlformats.org/drawingml/2006/main">
              <a:ext uri="{FF2B5EF4-FFF2-40B4-BE49-F238E27FC236}">
                <a16:creationId xmlns:a16="http://schemas.microsoft.com/office/drawing/2014/main" id="{0DDF4DB0-2C38-48F5-AA53-D6779950EC9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12" name="Google Shape;612;p24">
            <a:extLst xmlns:a="http://schemas.openxmlformats.org/drawingml/2006/main">
              <a:ext uri="{FF2B5EF4-FFF2-40B4-BE49-F238E27FC236}">
                <a16:creationId xmlns:a16="http://schemas.microsoft.com/office/drawing/2014/main" id="{6BF62EDB-D718-4890-A393-F1C53E3C2A20}"/>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22</a:t>
            </a:r>
            <a:endParaRPr/>
          </a:p>
        </p:txBody>
      </p:sp>
      <p:sp>
        <p:nvSpPr>
          <p:cNvPr id="613" name="Google Shape;613;p24">
            <a:extLst xmlns:a="http://schemas.openxmlformats.org/drawingml/2006/main">
              <a:ext uri="{FF2B5EF4-FFF2-40B4-BE49-F238E27FC236}">
                <a16:creationId xmlns:a16="http://schemas.microsoft.com/office/drawing/2014/main" id="{A7527E71-820A-4665-BD86-ADDA18AD0DFE}"/>
              </a:ext>
            </a:extLst>
          </p:cNvPr>
          <p:cNvSpPr>
            <a:spLocks xmlns:a="http://schemas.openxmlformats.org/drawingml/2006/main" noGrp="1"/>
          </p:cNvSpPr>
          <p:nvPr/>
        </p:nvSpPr>
        <p:spPr>
          <a:xfrm xmlns:a="http://schemas.openxmlformats.org/drawingml/2006/main">
            <a:off x="666750" y="1790700"/>
            <a:ext cx="3429000" cy="2152650"/>
          </a:xfrm>
          <a:prstGeom xmlns:a="http://schemas.openxmlformats.org/drawingml/2006/main" prst="rect">
            <a:avLst/>
          </a:prstGeom>
          <a:solidFill xmlns:a="http://schemas.openxmlformats.org/drawingml/2006/main">
            <a:srgbClr val="EAF3F8"/>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pic>
        <p:nvPicPr>
          <p:cNvPr id="639" name="Google Shape;614;p24"/>
          <p:cNvPicPr>
            <a:picLocks xmlns:a="http://schemas.openxmlformats.org/drawingml/2006/main" noChangeAspect="1"/>
          </p:cNvPicPr>
          <p:nvPr/>
        </p:nvPicPr>
        <p:blipFill rotWithShape="1">
          <a:blip xmlns:r="http://schemas.openxmlformats.org/officeDocument/2006/relationships" xmlns:a="http://schemas.openxmlformats.org/drawingml/2006/main" r:embed="R312d56c35cca42b4">
            <a:alphaModFix/>
          </a:blip>
          <a:srcRect xmlns:a="http://schemas.openxmlformats.org/drawingml/2006/main" l="0" t="6801" r="0" b="6801"/>
          <a:stretch xmlns:a="http://schemas.openxmlformats.org/drawingml/2006/main"/>
        </p:blipFill>
        <p:spPr>
          <a:xfrm xmlns:a="http://schemas.openxmlformats.org/drawingml/2006/main">
            <a:off x="666750" y="1790700"/>
            <a:ext cx="3429000" cy="2152650"/>
          </a:xfrm>
          <a:prstGeom xmlns:a="http://schemas.openxmlformats.org/drawingml/2006/main" prst="rect">
            <a:avLst/>
          </a:prstGeom>
          <a:ln xmlns:a="http://schemas.openxmlformats.org/drawingml/2006/main">
            <a:noFill/>
          </a:ln>
        </p:spPr>
      </p:pic>
      <p:sp>
        <p:nvSpPr>
          <p:cNvPr id="615" name="Google Shape;615;p24">
            <a:extLst xmlns:a="http://schemas.openxmlformats.org/drawingml/2006/main">
              <a:ext uri="{FF2B5EF4-FFF2-40B4-BE49-F238E27FC236}">
                <a16:creationId xmlns:a16="http://schemas.microsoft.com/office/drawing/2014/main" id="{88CB0201-42A2-4AC2-A3E1-B5BB0CCAA8D3}"/>
              </a:ext>
            </a:extLst>
          </p:cNvPr>
          <p:cNvSpPr>
            <a:spLocks xmlns:a="http://schemas.openxmlformats.org/drawingml/2006/main" noGrp="1"/>
          </p:cNvSpPr>
          <p:nvPr/>
        </p:nvSpPr>
        <p:spPr>
          <a:xfrm xmlns:a="http://schemas.openxmlformats.org/drawingml/2006/main">
            <a:off x="6667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EXPLORE</a:t>
            </a:r>
            <a:endParaRPr/>
          </a:p>
        </p:txBody>
      </p:sp>
      <p:sp>
        <p:nvSpPr>
          <p:cNvPr id="616" name="Google Shape;616;p24">
            <a:extLst xmlns:a="http://schemas.openxmlformats.org/drawingml/2006/main">
              <a:ext uri="{FF2B5EF4-FFF2-40B4-BE49-F238E27FC236}">
                <a16:creationId xmlns:a16="http://schemas.microsoft.com/office/drawing/2014/main" id="{B7C733DD-5A75-488F-967F-E5EF8DC28779}"/>
              </a:ext>
            </a:extLst>
          </p:cNvPr>
          <p:cNvSpPr>
            <a:spLocks xmlns:a="http://schemas.openxmlformats.org/drawingml/2006/main" noGrp="1"/>
          </p:cNvSpPr>
          <p:nvPr/>
        </p:nvSpPr>
        <p:spPr>
          <a:xfrm xmlns:a="http://schemas.openxmlformats.org/drawingml/2006/main">
            <a:off x="6667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CAVA Platform</a:t>
            </a:r>
            <a:endParaRPr/>
          </a:p>
        </p:txBody>
      </p:sp>
      <p:sp>
        <p:nvSpPr>
          <p:cNvPr id="617" name="Google Shape;617;p24">
            <a:extLst xmlns:a="http://schemas.openxmlformats.org/drawingml/2006/main">
              <a:ext uri="{FF2B5EF4-FFF2-40B4-BE49-F238E27FC236}">
                <a16:creationId xmlns:a16="http://schemas.microsoft.com/office/drawing/2014/main" id="{89ED7D14-6A0D-465C-A672-6D87F6731E22}"/>
              </a:ext>
            </a:extLst>
          </p:cNvPr>
          <p:cNvSpPr>
            <a:spLocks xmlns:a="http://schemas.openxmlformats.org/drawingml/2006/main" noGrp="1"/>
          </p:cNvSpPr>
          <p:nvPr/>
        </p:nvSpPr>
        <p:spPr>
          <a:xfrm xmlns:a="http://schemas.openxmlformats.org/drawingml/2006/main">
            <a:off x="666750" y="5019675"/>
            <a:ext cx="32385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Web access for maps and climate-impact information (</a:t>
            </a:r>
            <a:r>
              <a:rPr sz="1275" b="0" i="0" u="sng">
                <a:solidFill>
                  <a:schemeClr val="hlink"/>
                </a:solidFill>
                <a:latin typeface="Lato"/>
                <a:ea typeface="Lato"/>
                <a:cs typeface="Lato"/>
                <a:hlinkClick xmlns:r="http://schemas.openxmlformats.org/officeDocument/2006/relationships" r:id="Rba82913d7ec84994"/>
              </a:rPr>
              <a:t>https://cavaplatform.fao.org</a:t>
            </a:r>
            <a:r>
              <a:rPr sz="1275" b="0" i="0">
                <a:solidFill>
                  <a:srgbClr val="687984"/>
                </a:solidFill>
                <a:latin typeface="Lato"/>
                <a:ea typeface="Lato"/>
                <a:cs typeface="Lato"/>
              </a:rPr>
              <a:t>)</a:t>
            </a:r>
            <a:endParaRPr/>
          </a:p>
        </p:txBody>
      </p:sp>
      <p:sp>
        <p:nvSpPr>
          <p:cNvPr id="618" name="Google Shape;618;p24">
            <a:extLst xmlns:a="http://schemas.openxmlformats.org/drawingml/2006/main">
              <a:ext uri="{FF2B5EF4-FFF2-40B4-BE49-F238E27FC236}">
                <a16:creationId xmlns:a16="http://schemas.microsoft.com/office/drawing/2014/main" id="{717B1A09-5F73-40BD-9A03-4452149F7135}"/>
              </a:ext>
            </a:extLst>
          </p:cNvPr>
          <p:cNvSpPr>
            <a:spLocks xmlns:a="http://schemas.openxmlformats.org/drawingml/2006/main" noGrp="1"/>
          </p:cNvSpPr>
          <p:nvPr/>
        </p:nvSpPr>
        <p:spPr>
          <a:xfrm xmlns:a="http://schemas.openxmlformats.org/drawingml/2006/main">
            <a:off x="4495800" y="1790700"/>
            <a:ext cx="3124200" cy="21526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19" name="Google Shape;619;p24">
            <a:extLst xmlns:a="http://schemas.openxmlformats.org/drawingml/2006/main">
              <a:ext uri="{FF2B5EF4-FFF2-40B4-BE49-F238E27FC236}">
                <a16:creationId xmlns:a16="http://schemas.microsoft.com/office/drawing/2014/main" id="{B3057CB5-0558-414A-A62A-FBF279B3658B}"/>
              </a:ext>
            </a:extLst>
          </p:cNvPr>
          <p:cNvSpPr>
            <a:spLocks xmlns:a="http://schemas.openxmlformats.org/drawingml/2006/main" noGrp="1"/>
          </p:cNvSpPr>
          <p:nvPr/>
        </p:nvSpPr>
        <p:spPr>
          <a:xfrm xmlns:a="http://schemas.openxmlformats.org/drawingml/2006/main">
            <a:off x="4762500" y="2009775"/>
            <a:ext cx="25908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7200"/>
              <a:buFont typeface="Lato"/>
              <a:buNone/>
            </a:pPr>
            <a:r>
              <a:rPr sz="7200" b="1" i="0">
                <a:solidFill>
                  <a:srgbClr val="FFFFFF"/>
                </a:solidFill>
                <a:latin typeface="Lato"/>
                <a:ea typeface="Lato"/>
                <a:cs typeface="Lato"/>
              </a:rPr>
              <a:t>R</a:t>
            </a:r>
            <a:endParaRPr/>
          </a:p>
        </p:txBody>
      </p:sp>
      <p:sp>
        <p:nvSpPr>
          <p:cNvPr id="620" name="Google Shape;620;p24">
            <a:extLst xmlns:a="http://schemas.openxmlformats.org/drawingml/2006/main">
              <a:ext uri="{FF2B5EF4-FFF2-40B4-BE49-F238E27FC236}">
                <a16:creationId xmlns:a16="http://schemas.microsoft.com/office/drawing/2014/main" id="{C4D1599C-DC44-49B2-B54D-F881726D5522}"/>
              </a:ext>
            </a:extLst>
          </p:cNvPr>
          <p:cNvSpPr>
            <a:spLocks xmlns:a="http://schemas.openxmlformats.org/drawingml/2006/main" noGrp="1"/>
          </p:cNvSpPr>
          <p:nvPr/>
        </p:nvSpPr>
        <p:spPr>
          <a:xfrm xmlns:a="http://schemas.openxmlformats.org/drawingml/2006/main">
            <a:off x="4762500" y="3200400"/>
            <a:ext cx="25908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950"/>
              <a:buFont typeface="Lato"/>
              <a:buNone/>
            </a:pPr>
            <a:r>
              <a:rPr sz="1950" b="1" i="0">
                <a:solidFill>
                  <a:srgbClr val="FFFFFF"/>
                </a:solidFill>
                <a:latin typeface="Lato"/>
                <a:ea typeface="Lato"/>
                <a:cs typeface="Lato"/>
              </a:rPr>
              <a:t>CAVAanalytics</a:t>
            </a:r>
            <a:endParaRPr/>
          </a:p>
        </p:txBody>
      </p:sp>
      <p:sp>
        <p:nvSpPr>
          <p:cNvPr id="621" name="Google Shape;621;p24">
            <a:extLst xmlns:a="http://schemas.openxmlformats.org/drawingml/2006/main">
              <a:ext uri="{FF2B5EF4-FFF2-40B4-BE49-F238E27FC236}">
                <a16:creationId xmlns:a16="http://schemas.microsoft.com/office/drawing/2014/main" id="{6381C6DA-4886-4582-A34B-7041B68431E0}"/>
              </a:ext>
            </a:extLst>
          </p:cNvPr>
          <p:cNvSpPr>
            <a:spLocks xmlns:a="http://schemas.openxmlformats.org/drawingml/2006/main" noGrp="1"/>
          </p:cNvSpPr>
          <p:nvPr/>
        </p:nvSpPr>
        <p:spPr>
          <a:xfrm xmlns:a="http://schemas.openxmlformats.org/drawingml/2006/main">
            <a:off x="4495800" y="4210050"/>
            <a:ext cx="2857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83A59"/>
              </a:buClr>
              <a:buSzPts val="1050"/>
              <a:buFont typeface="Lato"/>
              <a:buNone/>
            </a:pPr>
            <a:r>
              <a:rPr sz="1050" b="1" i="0">
                <a:solidFill>
                  <a:srgbClr val="183A59"/>
                </a:solidFill>
                <a:latin typeface="Lato"/>
                <a:ea typeface="Lato"/>
                <a:cs typeface="Lato"/>
              </a:rPr>
              <a:t>ANALYSE</a:t>
            </a:r>
            <a:endParaRPr/>
          </a:p>
        </p:txBody>
      </p:sp>
      <p:sp>
        <p:nvSpPr>
          <p:cNvPr id="622" name="Google Shape;622;p24">
            <a:extLst xmlns:a="http://schemas.openxmlformats.org/drawingml/2006/main">
              <a:ext uri="{FF2B5EF4-FFF2-40B4-BE49-F238E27FC236}">
                <a16:creationId xmlns:a16="http://schemas.microsoft.com/office/drawing/2014/main" id="{BFB13C70-9447-4960-9B0A-CD125BD9734A}"/>
              </a:ext>
            </a:extLst>
          </p:cNvPr>
          <p:cNvSpPr>
            <a:spLocks xmlns:a="http://schemas.openxmlformats.org/drawingml/2006/main" noGrp="1"/>
          </p:cNvSpPr>
          <p:nvPr/>
        </p:nvSpPr>
        <p:spPr>
          <a:xfrm xmlns:a="http://schemas.openxmlformats.org/drawingml/2006/main">
            <a:off x="4495800" y="4543425"/>
            <a:ext cx="285750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R workflows</a:t>
            </a:r>
            <a:endParaRPr/>
          </a:p>
        </p:txBody>
      </p:sp>
      <p:sp>
        <p:nvSpPr>
          <p:cNvPr id="623" name="Google Shape;623;p24">
            <a:extLst xmlns:a="http://schemas.openxmlformats.org/drawingml/2006/main">
              <a:ext uri="{FF2B5EF4-FFF2-40B4-BE49-F238E27FC236}">
                <a16:creationId xmlns:a16="http://schemas.microsoft.com/office/drawing/2014/main" id="{C07960D1-628D-48B7-9CD2-8570DBD27F64}"/>
              </a:ext>
            </a:extLst>
          </p:cNvPr>
          <p:cNvSpPr>
            <a:spLocks xmlns:a="http://schemas.openxmlformats.org/drawingml/2006/main" noGrp="1"/>
          </p:cNvSpPr>
          <p:nvPr/>
        </p:nvSpPr>
        <p:spPr>
          <a:xfrm xmlns:a="http://schemas.openxmlformats.org/drawingml/2006/main">
            <a:off x="4495800" y="5019675"/>
            <a:ext cx="3124200"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Processing, indicators and visualization (</a:t>
            </a:r>
            <a:r>
              <a:rPr sz="1275" u="sng">
                <a:solidFill>
                  <a:schemeClr val="hlink"/>
                </a:solidFill>
                <a:latin typeface="Lato"/>
                <a:ea typeface="Lato"/>
                <a:cs typeface="Lato"/>
                <a:hlinkClick xmlns:r="http://schemas.openxmlformats.org/officeDocument/2006/relationships" r:id="Rae767e8c4d6d4c2b"/>
              </a:rPr>
              <a:t>https://github.com/un-fao/CAVAanalytics</a:t>
            </a:r>
            <a:r>
              <a:rPr sz="1275">
                <a:solidFill>
                  <a:srgbClr val="687984"/>
                </a:solidFill>
                <a:latin typeface="Lato"/>
                <a:ea typeface="Lato"/>
                <a:cs typeface="Lato"/>
              </a:rPr>
              <a:t>)</a:t>
            </a:r>
            <a:endParaRPr/>
          </a:p>
        </p:txBody>
      </p:sp>
      <p:sp>
        <p:nvSpPr>
          <p:cNvPr id="624" name="Google Shape;624;p24">
            <a:extLst xmlns:a="http://schemas.openxmlformats.org/drawingml/2006/main">
              <a:ext uri="{FF2B5EF4-FFF2-40B4-BE49-F238E27FC236}">
                <a16:creationId xmlns:a16="http://schemas.microsoft.com/office/drawing/2014/main" id="{7214DAEA-9315-4F7A-BE28-438D17B7AA99}"/>
              </a:ext>
            </a:extLst>
          </p:cNvPr>
          <p:cNvSpPr>
            <a:spLocks xmlns:a="http://schemas.openxmlformats.org/drawingml/2006/main" noGrp="1"/>
          </p:cNvSpPr>
          <p:nvPr/>
        </p:nvSpPr>
        <p:spPr>
          <a:xfrm xmlns:a="http://schemas.openxmlformats.org/drawingml/2006/main">
            <a:off x="8020050" y="1790700"/>
            <a:ext cx="3505200" cy="2152650"/>
          </a:xfrm>
          <a:prstGeom xmlns:a="http://schemas.openxmlformats.org/drawingml/2006/main" prst="rect">
            <a:avLst/>
          </a:prstGeom>
          <a:solidFill xmlns:a="http://schemas.openxmlformats.org/drawingml/2006/main">
            <a:srgbClr val="FFF3D1"/>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25" name="Google Shape;625;p24">
            <a:extLst xmlns:a="http://schemas.openxmlformats.org/drawingml/2006/main">
              <a:ext uri="{FF2B5EF4-FFF2-40B4-BE49-F238E27FC236}">
                <a16:creationId xmlns:a16="http://schemas.microsoft.com/office/drawing/2014/main" id="{19A3F5EA-4F2A-4A1A-843A-9E0E9CBBE3C2}"/>
              </a:ext>
            </a:extLst>
          </p:cNvPr>
          <p:cNvSpPr>
            <a:spLocks xmlns:a="http://schemas.openxmlformats.org/drawingml/2006/main" noGrp="1"/>
          </p:cNvSpPr>
          <p:nvPr/>
        </p:nvSpPr>
        <p:spPr>
          <a:xfrm xmlns:a="http://schemas.openxmlformats.org/drawingml/2006/main">
            <a:off x="8305800" y="2009775"/>
            <a:ext cx="2933700" cy="12001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2B632"/>
              </a:buClr>
              <a:buSzPts val="6150"/>
              <a:buFont typeface="Lato"/>
              <a:buNone/>
            </a:pPr>
            <a:r>
              <a:rPr sz="6150" b="1" i="0">
                <a:solidFill>
                  <a:srgbClr val="F2B632"/>
                </a:solidFill>
                <a:latin typeface="Lato"/>
                <a:ea typeface="Lato"/>
                <a:cs typeface="Lato"/>
              </a:rPr>
              <a:t>PY</a:t>
            </a:r>
            <a:endParaRPr/>
          </a:p>
        </p:txBody>
      </p:sp>
      <p:sp>
        <p:nvSpPr>
          <p:cNvPr id="626" name="Google Shape;626;p24">
            <a:extLst xmlns:a="http://schemas.openxmlformats.org/drawingml/2006/main">
              <a:ext uri="{FF2B5EF4-FFF2-40B4-BE49-F238E27FC236}">
                <a16:creationId xmlns:a16="http://schemas.microsoft.com/office/drawing/2014/main" id="{C8396CBF-D67F-4EE4-9BEB-7F87B19083FC}"/>
              </a:ext>
            </a:extLst>
          </p:cNvPr>
          <p:cNvSpPr>
            <a:spLocks xmlns:a="http://schemas.openxmlformats.org/drawingml/2006/main" noGrp="1"/>
          </p:cNvSpPr>
          <p:nvPr/>
        </p:nvSpPr>
        <p:spPr>
          <a:xfrm xmlns:a="http://schemas.openxmlformats.org/drawingml/2006/main">
            <a:off x="8305800" y="3200400"/>
            <a:ext cx="29337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950"/>
              <a:buFont typeface="Lato"/>
              <a:buNone/>
            </a:pPr>
            <a:r>
              <a:rPr sz="1950" b="1" i="0">
                <a:solidFill>
                  <a:srgbClr val="12304E"/>
                </a:solidFill>
                <a:latin typeface="Lato"/>
                <a:ea typeface="Lato"/>
                <a:cs typeface="Lato"/>
              </a:rPr>
              <a:t>cavapy</a:t>
            </a:r>
            <a:endParaRPr/>
          </a:p>
        </p:txBody>
      </p:sp>
      <p:sp>
        <p:nvSpPr>
          <p:cNvPr id="627" name="Google Shape;627;p24">
            <a:extLst xmlns:a="http://schemas.openxmlformats.org/drawingml/2006/main">
              <a:ext uri="{FF2B5EF4-FFF2-40B4-BE49-F238E27FC236}">
                <a16:creationId xmlns:a16="http://schemas.microsoft.com/office/drawing/2014/main" id="{60D8C532-FCCC-4230-B960-8FDD6B0290C9}"/>
              </a:ext>
            </a:extLst>
          </p:cNvPr>
          <p:cNvSpPr>
            <a:spLocks xmlns:a="http://schemas.openxmlformats.org/drawingml/2006/main" noGrp="1"/>
          </p:cNvSpPr>
          <p:nvPr/>
        </p:nvSpPr>
        <p:spPr>
          <a:xfrm xmlns:a="http://schemas.openxmlformats.org/drawingml/2006/main">
            <a:off x="8020050" y="4210050"/>
            <a:ext cx="314325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INTEGRATE</a:t>
            </a:r>
            <a:endParaRPr/>
          </a:p>
        </p:txBody>
      </p:sp>
      <p:sp>
        <p:nvSpPr>
          <p:cNvPr id="628" name="Google Shape;628;p24">
            <a:extLst xmlns:a="http://schemas.openxmlformats.org/drawingml/2006/main">
              <a:ext uri="{FF2B5EF4-FFF2-40B4-BE49-F238E27FC236}">
                <a16:creationId xmlns:a16="http://schemas.microsoft.com/office/drawing/2014/main" id="{438C2109-DB69-48A9-9820-44EE0C87201D}"/>
              </a:ext>
            </a:extLst>
          </p:cNvPr>
          <p:cNvSpPr>
            <a:spLocks xmlns:a="http://schemas.openxmlformats.org/drawingml/2006/main" noGrp="1"/>
          </p:cNvSpPr>
          <p:nvPr/>
        </p:nvSpPr>
        <p:spPr>
          <a:xfrm xmlns:a="http://schemas.openxmlformats.org/drawingml/2006/main">
            <a:off x="8020050" y="4543425"/>
            <a:ext cx="3143250" cy="3619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100"/>
              <a:buFont typeface="Lato"/>
              <a:buNone/>
            </a:pPr>
            <a:r>
              <a:rPr sz="2100" b="1" i="0">
                <a:solidFill>
                  <a:srgbClr val="12304E"/>
                </a:solidFill>
                <a:latin typeface="Lato"/>
                <a:ea typeface="Lato"/>
                <a:cs typeface="Lato"/>
              </a:rPr>
              <a:t>Python workflows</a:t>
            </a:r>
            <a:endParaRPr/>
          </a:p>
        </p:txBody>
      </p:sp>
      <p:sp>
        <p:nvSpPr>
          <p:cNvPr id="629" name="Google Shape;629;p24">
            <a:extLst xmlns:a="http://schemas.openxmlformats.org/drawingml/2006/main">
              <a:ext uri="{FF2B5EF4-FFF2-40B4-BE49-F238E27FC236}">
                <a16:creationId xmlns:a16="http://schemas.microsoft.com/office/drawing/2014/main" id="{403B02B4-6C73-4390-9F45-47690E06352A}"/>
              </a:ext>
            </a:extLst>
          </p:cNvPr>
          <p:cNvSpPr>
            <a:spLocks xmlns:a="http://schemas.openxmlformats.org/drawingml/2006/main" noGrp="1"/>
          </p:cNvSpPr>
          <p:nvPr/>
        </p:nvSpPr>
        <p:spPr>
          <a:xfrm xmlns:a="http://schemas.openxmlformats.org/drawingml/2006/main">
            <a:off x="8020050" y="5019675"/>
            <a:ext cx="3286125" cy="4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Programmatic retrieval, subsetting and processing (</a:t>
            </a:r>
            <a:r>
              <a:rPr sz="1275" b="0" i="0" u="sng">
                <a:solidFill>
                  <a:schemeClr val="hlink"/>
                </a:solidFill>
                <a:latin typeface="Lato"/>
                <a:ea typeface="Lato"/>
                <a:cs typeface="Lato"/>
                <a:hlinkClick xmlns:r="http://schemas.openxmlformats.org/officeDocument/2006/relationships" r:id="R4a1ba9f416844b0f"/>
              </a:rPr>
              <a:t>https://github.com/un-fao/cavapy</a:t>
            </a:r>
            <a:r>
              <a:rPr sz="1275" b="0" i="0">
                <a:solidFill>
                  <a:srgbClr val="687984"/>
                </a:solidFill>
                <a:latin typeface="Lato"/>
                <a:ea typeface="Lato"/>
                <a:cs typeface="Lato"/>
              </a:rPr>
              <a:t>)</a:t>
            </a:r>
            <a:endParaRPr/>
          </a:p>
        </p:txBody>
      </p:sp>
    </p:spTree>
    <p:extLst>
      <p:ext uri="{BB962C8B-B14F-4D97-AF65-F5344CB8AC3E}">
        <p14:creationId xmlns:p14="http://schemas.microsoft.com/office/powerpoint/2010/main" val="1028567599"/>
      </p:ext>
    </p:extLst>
  </p:cSld>
</p:sld>
</file>

<file path=ppt/slides/slide2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5" name="Google Shape;635;p25">
            <a:extLst xmlns:a="http://schemas.openxmlformats.org/drawingml/2006/main">
              <a:ext uri="{FF2B5EF4-FFF2-40B4-BE49-F238E27FC236}">
                <a16:creationId xmlns:a16="http://schemas.microsoft.com/office/drawing/2014/main" id="{16F7CCF0-FACD-494B-B583-49D5B62A2C2D}"/>
              </a:ext>
            </a:extLst>
          </p:cNvPr>
          <p:cNvSpPr>
            <a:spLocks xmlns:a="http://schemas.openxmlformats.org/drawingml/2006/main" noGrp="1"/>
          </p:cNvSpPr>
          <p:nvPr/>
        </p:nvSpPr>
        <p:spPr>
          <a:xfrm xmlns:a="http://schemas.openxmlformats.org/drawingml/2006/main">
            <a:off x="647700" y="400050"/>
            <a:ext cx="10839600" cy="514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12304E"/>
              </a:buClr>
              <a:buSzPts val="2025"/>
              <a:buFont typeface="Lato"/>
              <a:buNone/>
            </a:pPr>
            <a:r>
              <a:rPr sz="2025" b="1">
                <a:solidFill>
                  <a:srgbClr val="12304E"/>
                </a:solidFill>
                <a:latin typeface="Lato"/>
                <a:ea typeface="Lato"/>
                <a:cs typeface="Lato"/>
              </a:rPr>
              <a:t>CAVA data backbone</a:t>
            </a:r>
            <a:endParaRPr sz="2025" b="1">
              <a:solidFill>
                <a:srgbClr val="12304E"/>
              </a:solidFill>
              <a:latin typeface="Lato"/>
              <a:ea typeface="Lato"/>
              <a:cs typeface="Lato"/>
            </a:endParaRPr>
          </a:p>
        </p:txBody>
      </p:sp>
      <p:sp>
        <p:nvSpPr>
          <p:cNvPr id="636" name="Google Shape;636;p25">
            <a:extLst xmlns:a="http://schemas.openxmlformats.org/drawingml/2006/main">
              <a:ext uri="{FF2B5EF4-FFF2-40B4-BE49-F238E27FC236}">
                <a16:creationId xmlns:a16="http://schemas.microsoft.com/office/drawing/2014/main" id="{9CADE2DD-D5A3-4162-94BC-9A72BB2DDAAD}"/>
              </a:ext>
            </a:extLst>
          </p:cNvPr>
          <p:cNvSpPr>
            <a:spLocks xmlns:a="http://schemas.openxmlformats.org/drawingml/2006/main" noGrp="1"/>
          </p:cNvSpPr>
          <p:nvPr/>
        </p:nvSpPr>
        <p:spPr>
          <a:xfrm xmlns:a="http://schemas.openxmlformats.org/drawingml/2006/main">
            <a:off x="657225" y="962025"/>
            <a:ext cx="10572900" cy="2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lnSpc>
                <a:spcPct val="105000"/>
              </a:lnSpc>
              <a:spcBef>
                <a:spcPts val="0"/>
              </a:spcBef>
              <a:spcAft>
                <a:spcPts val="0"/>
              </a:spcAft>
              <a:buClr>
                <a:srgbClr val="687984"/>
              </a:buClr>
              <a:buSzPts val="1050"/>
              <a:buFont typeface="Lato"/>
              <a:buNone/>
            </a:pPr>
            <a:r>
              <a:rPr sz="1050">
                <a:solidFill>
                  <a:srgbClr val="687984"/>
                </a:solidFill>
                <a:latin typeface="Lato"/>
                <a:ea typeface="Lato"/>
                <a:cs typeface="Lato"/>
              </a:rPr>
              <a:t>The same underlying data services can support no-code, R and Python workflows</a:t>
            </a:r>
            <a:endParaRPr>
              <a:solidFill>
                <a:schemeClr val="dk1"/>
              </a:solidFill>
            </a:endParaRPr>
          </a:p>
          <a:p xmlns:a="http://schemas.openxmlformats.org/drawingml/2006/main">
            <a:pPr marL="0" marR="0" lvl="0" indent="0" algn="l">
              <a:lnSpc>
                <a:spcPct val="105000"/>
              </a:lnSpc>
              <a:spcBef>
                <a:spcPts val="0"/>
              </a:spcBef>
              <a:spcAft>
                <a:spcPts val="0"/>
              </a:spcAft>
              <a:buClr>
                <a:srgbClr val="687984"/>
              </a:buClr>
              <a:buSzPts val="1050"/>
              <a:buFont typeface="Lato"/>
              <a:buNone/>
            </a:pPr>
            <a:r>
              <a:t/>
            </a:r>
            <a:endParaRPr sz="1050">
              <a:solidFill>
                <a:srgbClr val="687984"/>
              </a:solidFill>
              <a:latin typeface="Lato"/>
              <a:ea typeface="Lato"/>
              <a:cs typeface="Lato"/>
            </a:endParaRPr>
          </a:p>
        </p:txBody>
      </p:sp>
      <p:sp>
        <p:nvSpPr>
          <p:cNvPr id="637" name="Google Shape;637;p25">
            <a:extLst xmlns:a="http://schemas.openxmlformats.org/drawingml/2006/main">
              <a:ext uri="{FF2B5EF4-FFF2-40B4-BE49-F238E27FC236}">
                <a16:creationId xmlns:a16="http://schemas.microsoft.com/office/drawing/2014/main" id="{1FA7991E-F183-4E3E-AD3B-455715531522}"/>
              </a:ext>
            </a:extLst>
          </p:cNvPr>
          <p:cNvSpPr>
            <a:spLocks xmlns:a="http://schemas.openxmlformats.org/drawingml/2006/main" noGrp="1"/>
          </p:cNvSpPr>
          <p:nvPr/>
        </p:nvSpPr>
        <p:spPr>
          <a:xfrm xmlns:a="http://schemas.openxmlformats.org/drawingml/2006/main">
            <a:off x="647700" y="1295400"/>
            <a:ext cx="108966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8" name="Google Shape;638;p25">
            <a:extLst xmlns:a="http://schemas.openxmlformats.org/drawingml/2006/main">
              <a:ext uri="{FF2B5EF4-FFF2-40B4-BE49-F238E27FC236}">
                <a16:creationId xmlns:a16="http://schemas.microsoft.com/office/drawing/2014/main" id="{9F731458-B4F9-42DB-8BAE-D9CDB64E5A01}"/>
              </a:ext>
            </a:extLst>
          </p:cNvPr>
          <p:cNvSpPr>
            <a:spLocks xmlns:a="http://schemas.openxmlformats.org/drawingml/2006/main" noGrp="1"/>
          </p:cNvSpPr>
          <p:nvPr/>
        </p:nvSpPr>
        <p:spPr>
          <a:xfrm xmlns:a="http://schemas.openxmlformats.org/drawingml/2006/main">
            <a:off x="666750" y="1419225"/>
            <a:ext cx="952500" cy="28500"/>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39" name="Google Shape;639;p25">
            <a:extLst xmlns:a="http://schemas.openxmlformats.org/drawingml/2006/main">
              <a:ext uri="{FF2B5EF4-FFF2-40B4-BE49-F238E27FC236}">
                <a16:creationId xmlns:a16="http://schemas.microsoft.com/office/drawing/2014/main" id="{54097821-D196-4F99-B0F7-BA40CBFC5538}"/>
              </a:ext>
            </a:extLst>
          </p:cNvPr>
          <p:cNvSpPr>
            <a:spLocks xmlns:a="http://schemas.openxmlformats.org/drawingml/2006/main" noGrp="1"/>
          </p:cNvSpPr>
          <p:nvPr/>
        </p:nvSpPr>
        <p:spPr>
          <a:xfrm xmlns:a="http://schemas.openxmlformats.org/drawingml/2006/main">
            <a:off x="609600" y="6229350"/>
            <a:ext cx="11125200" cy="96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40" name="Google Shape;640;p25">
            <a:extLst xmlns:a="http://schemas.openxmlformats.org/drawingml/2006/main">
              <a:ext uri="{FF2B5EF4-FFF2-40B4-BE49-F238E27FC236}">
                <a16:creationId xmlns:a16="http://schemas.microsoft.com/office/drawing/2014/main" id="{1FBF33F1-3F17-4B8C-B689-CA53863A2976}"/>
              </a:ext>
            </a:extLst>
          </p:cNvPr>
          <p:cNvSpPr>
            <a:spLocks xmlns:a="http://schemas.openxmlformats.org/drawingml/2006/main" noGrp="1"/>
          </p:cNvSpPr>
          <p:nvPr/>
        </p:nvSpPr>
        <p:spPr>
          <a:xfrm xmlns:a="http://schemas.openxmlformats.org/drawingml/2006/main">
            <a:off x="647700" y="6343650"/>
            <a:ext cx="40005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41" name="Google Shape;641;p25">
            <a:extLst xmlns:a="http://schemas.openxmlformats.org/drawingml/2006/main">
              <a:ext uri="{FF2B5EF4-FFF2-40B4-BE49-F238E27FC236}">
                <a16:creationId xmlns:a16="http://schemas.microsoft.com/office/drawing/2014/main" id="{6068A715-0C2B-4065-8604-C84611D47BCB}"/>
              </a:ext>
            </a:extLst>
          </p:cNvPr>
          <p:cNvSpPr>
            <a:spLocks xmlns:a="http://schemas.openxmlformats.org/drawingml/2006/main" noGrp="1"/>
          </p:cNvSpPr>
          <p:nvPr/>
        </p:nvSpPr>
        <p:spPr>
          <a:xfrm xmlns:a="http://schemas.openxmlformats.org/drawingml/2006/main">
            <a:off x="11096625" y="6343650"/>
            <a:ext cx="523800" cy="171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23</a:t>
            </a:r>
            <a:endParaRPr/>
          </a:p>
        </p:txBody>
      </p:sp>
      <p:sp>
        <p:nvSpPr>
          <p:cNvPr id="642" name="Google Shape;642;p25">
            <a:extLst xmlns:a="http://schemas.openxmlformats.org/drawingml/2006/main">
              <a:ext uri="{FF2B5EF4-FFF2-40B4-BE49-F238E27FC236}">
                <a16:creationId xmlns:a16="http://schemas.microsoft.com/office/drawing/2014/main" id="{8B06AF85-5218-41C1-9921-1302CBD692FB}"/>
              </a:ext>
            </a:extLst>
          </p:cNvPr>
          <p:cNvSpPr>
            <a:spLocks xmlns:a="http://schemas.openxmlformats.org/drawingml/2006/main" noGrp="1"/>
          </p:cNvSpPr>
          <p:nvPr/>
        </p:nvSpPr>
        <p:spPr>
          <a:xfrm xmlns:a="http://schemas.openxmlformats.org/drawingml/2006/main">
            <a:off x="647700" y="1726238"/>
            <a:ext cx="6289200" cy="4224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lnSpc>
                <a:spcPct val="105000"/>
              </a:lnSpc>
              <a:spcBef>
                <a:spcPts val="0"/>
              </a:spcBef>
              <a:spcAft>
                <a:spcPts val="0"/>
              </a:spcAft>
              <a:buNone/>
            </a:pPr>
            <a:r>
              <a:rPr sz="2100" b="1">
                <a:solidFill>
                  <a:srgbClr val="12304E"/>
                </a:solidFill>
                <a:latin typeface="Lato"/>
                <a:ea typeface="Lato"/>
                <a:cs typeface="Lato"/>
              </a:rPr>
              <a:t>Coming soon - The CAVA Datalab</a:t>
            </a:r>
            <a:endParaRPr sz="2100" b="1">
              <a:solidFill>
                <a:srgbClr val="12304E"/>
              </a:solidFill>
              <a:latin typeface="Lato"/>
              <a:ea typeface="Lato"/>
              <a:cs typeface="Lato"/>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lnSpc>
                <a:spcPct val="105000"/>
              </a:lnSpc>
              <a:spcBef>
                <a:spcPts val="0"/>
              </a:spcBef>
              <a:spcAft>
                <a:spcPts val="0"/>
              </a:spcAft>
              <a:buClr>
                <a:srgbClr val="687984"/>
              </a:buClr>
              <a:buSzPts val="1275"/>
              <a:buFont typeface="Lato"/>
              <a:buNone/>
            </a:pPr>
            <a:r>
              <a:rPr sz="1575">
                <a:solidFill>
                  <a:srgbClr val="687984"/>
                </a:solidFill>
                <a:latin typeface="Lato"/>
                <a:ea typeface="Lato"/>
                <a:cs typeface="Lato"/>
              </a:rPr>
              <a:t>Single-click analysis-ready cloud environments in the browser for everyone.</a:t>
            </a:r>
            <a:endParaRPr sz="1700"/>
          </a:p>
        </p:txBody>
      </p:sp>
      <p:pic>
        <p:nvPicPr>
          <p:cNvPr id="652" name="Google Shape;643;p25"/>
          <p:cNvPicPr>
            <a:picLocks xmlns:a="http://schemas.openxmlformats.org/drawingml/2006/main" noChangeAspect="1"/>
          </p:cNvPicPr>
          <p:nvPr/>
        </p:nvPicPr>
        <p:blipFill>
          <a:blip xmlns:r="http://schemas.openxmlformats.org/officeDocument/2006/relationships" xmlns:a="http://schemas.openxmlformats.org/drawingml/2006/main" r:embed="R7a3b641ec7d74ad7">
            <a:alphaModFix/>
          </a:blip>
          <a:stretch xmlns:a="http://schemas.openxmlformats.org/drawingml/2006/main">
            <a:fillRect l="0" t="0" r="0" b="0"/>
          </a:stretch>
        </p:blipFill>
        <p:spPr>
          <a:xfrm xmlns:a="http://schemas.openxmlformats.org/drawingml/2006/main">
            <a:off x="7550184" y="1419225"/>
            <a:ext cx="4070242" cy="470542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066319833"/>
      </p:ext>
    </p:extLst>
  </p:cSld>
</p:sld>
</file>

<file path=ppt/slides/slide2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49" name="Google Shape;649;p26">
            <a:extLst xmlns:a="http://schemas.openxmlformats.org/drawingml/2006/main">
              <a:ext uri="{FF2B5EF4-FFF2-40B4-BE49-F238E27FC236}">
                <a16:creationId xmlns:a16="http://schemas.microsoft.com/office/drawing/2014/main" id="{DBB8207F-F4A4-4C74-90B6-960D71A81374}"/>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End-to-end example: extreme heat</a:t>
            </a:r>
            <a:endParaRPr/>
          </a:p>
        </p:txBody>
      </p:sp>
      <p:sp>
        <p:nvSpPr>
          <p:cNvPr id="650" name="Google Shape;650;p26">
            <a:extLst xmlns:a="http://schemas.openxmlformats.org/drawingml/2006/main">
              <a:ext uri="{FF2B5EF4-FFF2-40B4-BE49-F238E27FC236}">
                <a16:creationId xmlns:a16="http://schemas.microsoft.com/office/drawing/2014/main" id="{7B1B0BB7-9304-44FE-8760-C1A8A92AB7E9}"/>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The workflow keeps the decision question connected to every technical choice</a:t>
            </a:r>
            <a:endParaRPr/>
          </a:p>
        </p:txBody>
      </p:sp>
      <p:sp>
        <p:nvSpPr>
          <p:cNvPr id="651" name="Google Shape;651;p26">
            <a:extLst xmlns:a="http://schemas.openxmlformats.org/drawingml/2006/main">
              <a:ext uri="{FF2B5EF4-FFF2-40B4-BE49-F238E27FC236}">
                <a16:creationId xmlns:a16="http://schemas.microsoft.com/office/drawing/2014/main" id="{F70581E5-1273-4FD8-8855-D9AE9C0B265B}"/>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2" name="Google Shape;652;p26">
            <a:extLst xmlns:a="http://schemas.openxmlformats.org/drawingml/2006/main">
              <a:ext uri="{FF2B5EF4-FFF2-40B4-BE49-F238E27FC236}">
                <a16:creationId xmlns:a16="http://schemas.microsoft.com/office/drawing/2014/main" id="{7F532AE5-8574-418B-9201-CA1C41161167}"/>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3" name="Google Shape;653;p26">
            <a:extLst xmlns:a="http://schemas.openxmlformats.org/drawingml/2006/main">
              <a:ext uri="{FF2B5EF4-FFF2-40B4-BE49-F238E27FC236}">
                <a16:creationId xmlns:a16="http://schemas.microsoft.com/office/drawing/2014/main" id="{C6483276-FC91-4B5C-A944-DDA365AFB83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4" name="Google Shape;654;p26">
            <a:extLst xmlns:a="http://schemas.openxmlformats.org/drawingml/2006/main">
              <a:ext uri="{FF2B5EF4-FFF2-40B4-BE49-F238E27FC236}">
                <a16:creationId xmlns:a16="http://schemas.microsoft.com/office/drawing/2014/main" id="{BA6F564A-570A-4A87-9FE7-A72FC8C9FCB0}"/>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55" name="Google Shape;655;p26">
            <a:extLst xmlns:a="http://schemas.openxmlformats.org/drawingml/2006/main">
              <a:ext uri="{FF2B5EF4-FFF2-40B4-BE49-F238E27FC236}">
                <a16:creationId xmlns:a16="http://schemas.microsoft.com/office/drawing/2014/main" id="{FB2113B1-65AD-427A-9CE0-3AE8AA32019F}"/>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24</a:t>
            </a:r>
            <a:endParaRPr/>
          </a:p>
        </p:txBody>
      </p:sp>
      <p:sp>
        <p:nvSpPr>
          <p:cNvPr id="656" name="Google Shape;656;p26">
            <a:extLst xmlns:a="http://schemas.openxmlformats.org/drawingml/2006/main">
              <a:ext uri="{FF2B5EF4-FFF2-40B4-BE49-F238E27FC236}">
                <a16:creationId xmlns:a16="http://schemas.microsoft.com/office/drawing/2014/main" id="{31CC710E-20AA-459A-B7D2-D7A102F58D41}"/>
              </a:ext>
            </a:extLst>
          </p:cNvPr>
          <p:cNvSpPr>
            <a:spLocks xmlns:a="http://schemas.openxmlformats.org/drawingml/2006/main" noGrp="1"/>
          </p:cNvSpPr>
          <p:nvPr/>
        </p:nvSpPr>
        <p:spPr>
          <a:xfrm xmlns:a="http://schemas.openxmlformats.org/drawingml/2006/main">
            <a:off x="866775" y="3305175"/>
            <a:ext cx="10458450" cy="476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57" name="Google Shape;657;p26">
            <a:extLst xmlns:a="http://schemas.openxmlformats.org/drawingml/2006/main">
              <a:ext uri="{FF2B5EF4-FFF2-40B4-BE49-F238E27FC236}">
                <a16:creationId xmlns:a16="http://schemas.microsoft.com/office/drawing/2014/main" id="{AFB4DA02-1643-4DA3-B787-2D57FA4DE6DC}"/>
              </a:ext>
            </a:extLst>
          </p:cNvPr>
          <p:cNvSpPr>
            <a:spLocks xmlns:a="http://schemas.openxmlformats.org/drawingml/2006/main" noGrp="1"/>
          </p:cNvSpPr>
          <p:nvPr/>
        </p:nvSpPr>
        <p:spPr>
          <a:xfrm xmlns:a="http://schemas.openxmlformats.org/drawingml/2006/main">
            <a:off x="8667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01</a:t>
            </a:r>
            <a:endParaRPr/>
          </a:p>
        </p:txBody>
      </p:sp>
      <p:sp>
        <p:nvSpPr>
          <p:cNvPr id="658" name="Google Shape;658;p26">
            <a:extLst xmlns:a="http://schemas.openxmlformats.org/drawingml/2006/main">
              <a:ext uri="{FF2B5EF4-FFF2-40B4-BE49-F238E27FC236}">
                <a16:creationId xmlns:a16="http://schemas.microsoft.com/office/drawing/2014/main" id="{33FE1635-B081-4A7A-87DC-E70AD511D3FC}"/>
              </a:ext>
            </a:extLst>
          </p:cNvPr>
          <p:cNvSpPr>
            <a:spLocks xmlns:a="http://schemas.openxmlformats.org/drawingml/2006/main" noGrp="1"/>
          </p:cNvSpPr>
          <p:nvPr/>
        </p:nvSpPr>
        <p:spPr>
          <a:xfrm xmlns:a="http://schemas.openxmlformats.org/drawingml/2006/main">
            <a:off x="8477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QUESTION</a:t>
            </a:r>
            <a:endParaRPr/>
          </a:p>
        </p:txBody>
      </p:sp>
      <p:sp>
        <p:nvSpPr>
          <p:cNvPr id="659" name="Google Shape;659;p26">
            <a:extLst xmlns:a="http://schemas.openxmlformats.org/drawingml/2006/main">
              <a:ext uri="{FF2B5EF4-FFF2-40B4-BE49-F238E27FC236}">
                <a16:creationId xmlns:a16="http://schemas.microsoft.com/office/drawing/2014/main" id="{C9B5D556-7BB6-4140-BC04-18C432EDE6A4}"/>
              </a:ext>
            </a:extLst>
          </p:cNvPr>
          <p:cNvSpPr>
            <a:spLocks xmlns:a="http://schemas.openxmlformats.org/drawingml/2006/main" noGrp="1"/>
          </p:cNvSpPr>
          <p:nvPr/>
        </p:nvSpPr>
        <p:spPr>
          <a:xfrm xmlns:a="http://schemas.openxmlformats.org/drawingml/2006/main">
            <a:off x="8477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Will extreme heat increase in the project area?</a:t>
            </a:r>
            <a:endParaRPr/>
          </a:p>
        </p:txBody>
      </p:sp>
      <p:sp>
        <p:nvSpPr>
          <p:cNvPr id="660" name="Google Shape;660;p26">
            <a:extLst xmlns:a="http://schemas.openxmlformats.org/drawingml/2006/main">
              <a:ext uri="{FF2B5EF4-FFF2-40B4-BE49-F238E27FC236}">
                <a16:creationId xmlns:a16="http://schemas.microsoft.com/office/drawing/2014/main" id="{465598A4-CCA1-41E7-A79E-AD8F943DEDA4}"/>
              </a:ext>
            </a:extLst>
          </p:cNvPr>
          <p:cNvSpPr>
            <a:spLocks xmlns:a="http://schemas.openxmlformats.org/drawingml/2006/main" noGrp="1"/>
          </p:cNvSpPr>
          <p:nvPr/>
        </p:nvSpPr>
        <p:spPr>
          <a:xfrm xmlns:a="http://schemas.openxmlformats.org/drawingml/2006/main">
            <a:off x="26098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02</a:t>
            </a:r>
            <a:endParaRPr/>
          </a:p>
        </p:txBody>
      </p:sp>
      <p:sp>
        <p:nvSpPr>
          <p:cNvPr id="661" name="Google Shape;661;p26">
            <a:extLst xmlns:a="http://schemas.openxmlformats.org/drawingml/2006/main">
              <a:ext uri="{FF2B5EF4-FFF2-40B4-BE49-F238E27FC236}">
                <a16:creationId xmlns:a16="http://schemas.microsoft.com/office/drawing/2014/main" id="{8D7922E8-2F34-4D63-80F2-01EDD0244BE8}"/>
              </a:ext>
            </a:extLst>
          </p:cNvPr>
          <p:cNvSpPr>
            <a:spLocks xmlns:a="http://schemas.openxmlformats.org/drawingml/2006/main" noGrp="1"/>
          </p:cNvSpPr>
          <p:nvPr/>
        </p:nvSpPr>
        <p:spPr>
          <a:xfrm xmlns:a="http://schemas.openxmlformats.org/drawingml/2006/main">
            <a:off x="25908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REFERENCE</a:t>
            </a:r>
            <a:endParaRPr/>
          </a:p>
        </p:txBody>
      </p:sp>
      <p:sp>
        <p:nvSpPr>
          <p:cNvPr id="662" name="Google Shape;662;p26">
            <a:extLst xmlns:a="http://schemas.openxmlformats.org/drawingml/2006/main">
              <a:ext uri="{FF2B5EF4-FFF2-40B4-BE49-F238E27FC236}">
                <a16:creationId xmlns:a16="http://schemas.microsoft.com/office/drawing/2014/main" id="{04535DF2-D131-4B39-8F99-F47C0665B567}"/>
              </a:ext>
            </a:extLst>
          </p:cNvPr>
          <p:cNvSpPr>
            <a:spLocks xmlns:a="http://schemas.openxmlformats.org/drawingml/2006/main" noGrp="1"/>
          </p:cNvSpPr>
          <p:nvPr/>
        </p:nvSpPr>
        <p:spPr>
          <a:xfrm xmlns:a="http://schemas.openxmlformats.org/drawingml/2006/main">
            <a:off x="25908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Choose a baseline and historical dataset</a:t>
            </a:r>
            <a:endParaRPr/>
          </a:p>
        </p:txBody>
      </p:sp>
      <p:sp>
        <p:nvSpPr>
          <p:cNvPr id="663" name="Google Shape;663;p26">
            <a:extLst xmlns:a="http://schemas.openxmlformats.org/drawingml/2006/main">
              <a:ext uri="{FF2B5EF4-FFF2-40B4-BE49-F238E27FC236}">
                <a16:creationId xmlns:a16="http://schemas.microsoft.com/office/drawing/2014/main" id="{4441DC05-06EA-48E0-BAC9-B08B6787C5D9}"/>
              </a:ext>
            </a:extLst>
          </p:cNvPr>
          <p:cNvSpPr>
            <a:spLocks xmlns:a="http://schemas.openxmlformats.org/drawingml/2006/main" noGrp="1"/>
          </p:cNvSpPr>
          <p:nvPr/>
        </p:nvSpPr>
        <p:spPr>
          <a:xfrm xmlns:a="http://schemas.openxmlformats.org/drawingml/2006/main">
            <a:off x="435292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03</a:t>
            </a:r>
            <a:endParaRPr/>
          </a:p>
        </p:txBody>
      </p:sp>
      <p:sp>
        <p:nvSpPr>
          <p:cNvPr id="664" name="Google Shape;664;p26">
            <a:extLst xmlns:a="http://schemas.openxmlformats.org/drawingml/2006/main">
              <a:ext uri="{FF2B5EF4-FFF2-40B4-BE49-F238E27FC236}">
                <a16:creationId xmlns:a16="http://schemas.microsoft.com/office/drawing/2014/main" id="{26187287-F358-480E-A3D8-DDD4A57D2A59}"/>
              </a:ext>
            </a:extLst>
          </p:cNvPr>
          <p:cNvSpPr>
            <a:spLocks xmlns:a="http://schemas.openxmlformats.org/drawingml/2006/main" noGrp="1"/>
          </p:cNvSpPr>
          <p:nvPr/>
        </p:nvSpPr>
        <p:spPr>
          <a:xfrm xmlns:a="http://schemas.openxmlformats.org/drawingml/2006/main">
            <a:off x="433387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PROJECTIONS</a:t>
            </a:r>
            <a:endParaRPr/>
          </a:p>
        </p:txBody>
      </p:sp>
      <p:sp>
        <p:nvSpPr>
          <p:cNvPr id="665" name="Google Shape;665;p26">
            <a:extLst xmlns:a="http://schemas.openxmlformats.org/drawingml/2006/main">
              <a:ext uri="{FF2B5EF4-FFF2-40B4-BE49-F238E27FC236}">
                <a16:creationId xmlns:a16="http://schemas.microsoft.com/office/drawing/2014/main" id="{F02E83F2-0879-4707-A28E-9156BB3A6ED7}"/>
              </a:ext>
            </a:extLst>
          </p:cNvPr>
          <p:cNvSpPr>
            <a:spLocks xmlns:a="http://schemas.openxmlformats.org/drawingml/2006/main" noGrp="1"/>
          </p:cNvSpPr>
          <p:nvPr/>
        </p:nvSpPr>
        <p:spPr>
          <a:xfrm xmlns:a="http://schemas.openxmlformats.org/drawingml/2006/main">
            <a:off x="433387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Select scenarios and a multi-model ensemble</a:t>
            </a:r>
            <a:endParaRPr/>
          </a:p>
        </p:txBody>
      </p:sp>
      <p:sp>
        <p:nvSpPr>
          <p:cNvPr id="666" name="Google Shape;666;p26">
            <a:extLst xmlns:a="http://schemas.openxmlformats.org/drawingml/2006/main">
              <a:ext uri="{FF2B5EF4-FFF2-40B4-BE49-F238E27FC236}">
                <a16:creationId xmlns:a16="http://schemas.microsoft.com/office/drawing/2014/main" id="{950A74EC-D5EF-4583-A416-B0104915C693}"/>
              </a:ext>
            </a:extLst>
          </p:cNvPr>
          <p:cNvSpPr>
            <a:spLocks xmlns:a="http://schemas.openxmlformats.org/drawingml/2006/main" noGrp="1"/>
          </p:cNvSpPr>
          <p:nvPr/>
        </p:nvSpPr>
        <p:spPr>
          <a:xfrm xmlns:a="http://schemas.openxmlformats.org/drawingml/2006/main">
            <a:off x="609600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04</a:t>
            </a:r>
            <a:endParaRPr/>
          </a:p>
        </p:txBody>
      </p:sp>
      <p:sp>
        <p:nvSpPr>
          <p:cNvPr id="667" name="Google Shape;667;p26">
            <a:extLst xmlns:a="http://schemas.openxmlformats.org/drawingml/2006/main">
              <a:ext uri="{FF2B5EF4-FFF2-40B4-BE49-F238E27FC236}">
                <a16:creationId xmlns:a16="http://schemas.microsoft.com/office/drawing/2014/main" id="{8CD4502C-3A99-4547-B659-AFE8A116B7FA}"/>
              </a:ext>
            </a:extLst>
          </p:cNvPr>
          <p:cNvSpPr>
            <a:spLocks xmlns:a="http://schemas.openxmlformats.org/drawingml/2006/main" noGrp="1"/>
          </p:cNvSpPr>
          <p:nvPr/>
        </p:nvSpPr>
        <p:spPr>
          <a:xfrm xmlns:a="http://schemas.openxmlformats.org/drawingml/2006/main">
            <a:off x="607695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PROCESS</a:t>
            </a:r>
            <a:endParaRPr/>
          </a:p>
        </p:txBody>
      </p:sp>
      <p:sp>
        <p:nvSpPr>
          <p:cNvPr id="668" name="Google Shape;668;p26">
            <a:extLst xmlns:a="http://schemas.openxmlformats.org/drawingml/2006/main">
              <a:ext uri="{FF2B5EF4-FFF2-40B4-BE49-F238E27FC236}">
                <a16:creationId xmlns:a16="http://schemas.microsoft.com/office/drawing/2014/main" id="{3C44EDAA-CE22-432B-92D6-92F9BB7F49A7}"/>
              </a:ext>
            </a:extLst>
          </p:cNvPr>
          <p:cNvSpPr>
            <a:spLocks xmlns:a="http://schemas.openxmlformats.org/drawingml/2006/main" noGrp="1"/>
          </p:cNvSpPr>
          <p:nvPr/>
        </p:nvSpPr>
        <p:spPr>
          <a:xfrm xmlns:a="http://schemas.openxmlformats.org/drawingml/2006/main">
            <a:off x="607695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3"/>
              <a:buFont typeface="Lato"/>
              <a:buNone/>
            </a:pPr>
            <a:r>
              <a:rPr sz="1273" b="1" i="0">
                <a:solidFill>
                  <a:srgbClr val="12304E"/>
                </a:solidFill>
                <a:latin typeface="Lato"/>
                <a:ea typeface="Lato"/>
                <a:cs typeface="Lato"/>
              </a:rPr>
              <a:t>Subset, harmonize and apply correction where appropriate</a:t>
            </a:r>
            <a:endParaRPr/>
          </a:p>
        </p:txBody>
      </p:sp>
      <p:sp>
        <p:nvSpPr>
          <p:cNvPr id="669" name="Google Shape;669;p26">
            <a:extLst xmlns:a="http://schemas.openxmlformats.org/drawingml/2006/main">
              <a:ext uri="{FF2B5EF4-FFF2-40B4-BE49-F238E27FC236}">
                <a16:creationId xmlns:a16="http://schemas.microsoft.com/office/drawing/2014/main" id="{54B3155B-1ACF-472C-ACEA-2342FAFAEC9F}"/>
              </a:ext>
            </a:extLst>
          </p:cNvPr>
          <p:cNvSpPr>
            <a:spLocks xmlns:a="http://schemas.openxmlformats.org/drawingml/2006/main" noGrp="1"/>
          </p:cNvSpPr>
          <p:nvPr/>
        </p:nvSpPr>
        <p:spPr>
          <a:xfrm xmlns:a="http://schemas.openxmlformats.org/drawingml/2006/main">
            <a:off x="7839075" y="3067050"/>
            <a:ext cx="533400" cy="533400"/>
          </a:xfrm>
          <a:prstGeom xmlns:a="http://schemas.openxmlformats.org/drawingml/2006/main" prst="ellipse">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05</a:t>
            </a:r>
            <a:endParaRPr/>
          </a:p>
        </p:txBody>
      </p:sp>
      <p:sp>
        <p:nvSpPr>
          <p:cNvPr id="670" name="Google Shape;670;p26">
            <a:extLst xmlns:a="http://schemas.openxmlformats.org/drawingml/2006/main">
              <a:ext uri="{FF2B5EF4-FFF2-40B4-BE49-F238E27FC236}">
                <a16:creationId xmlns:a16="http://schemas.microsoft.com/office/drawing/2014/main" id="{C272FA4D-0227-4A1D-B8E2-0175ACAD8CCC}"/>
              </a:ext>
            </a:extLst>
          </p:cNvPr>
          <p:cNvSpPr>
            <a:spLocks xmlns:a="http://schemas.openxmlformats.org/drawingml/2006/main" noGrp="1"/>
          </p:cNvSpPr>
          <p:nvPr/>
        </p:nvSpPr>
        <p:spPr>
          <a:xfrm xmlns:a="http://schemas.openxmlformats.org/drawingml/2006/main">
            <a:off x="7820025" y="1790700"/>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050"/>
              <a:buFont typeface="Lato"/>
              <a:buNone/>
            </a:pPr>
            <a:r>
              <a:rPr sz="1050" b="1" i="0">
                <a:solidFill>
                  <a:srgbClr val="00A88F"/>
                </a:solidFill>
                <a:latin typeface="Lato"/>
                <a:ea typeface="Lato"/>
                <a:cs typeface="Lato"/>
              </a:rPr>
              <a:t>INDICATOR</a:t>
            </a:r>
            <a:endParaRPr/>
          </a:p>
        </p:txBody>
      </p:sp>
      <p:sp>
        <p:nvSpPr>
          <p:cNvPr id="671" name="Google Shape;671;p26">
            <a:extLst xmlns:a="http://schemas.openxmlformats.org/drawingml/2006/main">
              <a:ext uri="{FF2B5EF4-FFF2-40B4-BE49-F238E27FC236}">
                <a16:creationId xmlns:a16="http://schemas.microsoft.com/office/drawing/2014/main" id="{F7827FC9-0442-430B-B8FA-8D44C63C1128}"/>
              </a:ext>
            </a:extLst>
          </p:cNvPr>
          <p:cNvSpPr>
            <a:spLocks xmlns:a="http://schemas.openxmlformats.org/drawingml/2006/main" noGrp="1"/>
          </p:cNvSpPr>
          <p:nvPr/>
        </p:nvSpPr>
        <p:spPr>
          <a:xfrm xmlns:a="http://schemas.openxmlformats.org/drawingml/2006/main">
            <a:off x="7820025" y="2133600"/>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Calculate days above 35°C</a:t>
            </a:r>
            <a:endParaRPr/>
          </a:p>
        </p:txBody>
      </p:sp>
      <p:sp>
        <p:nvSpPr>
          <p:cNvPr id="672" name="Google Shape;672;p26">
            <a:extLst xmlns:a="http://schemas.openxmlformats.org/drawingml/2006/main">
              <a:ext uri="{FF2B5EF4-FFF2-40B4-BE49-F238E27FC236}">
                <a16:creationId xmlns:a16="http://schemas.microsoft.com/office/drawing/2014/main" id="{95C1402D-1FED-425D-9D08-44C1AE8950AD}"/>
              </a:ext>
            </a:extLst>
          </p:cNvPr>
          <p:cNvSpPr>
            <a:spLocks xmlns:a="http://schemas.openxmlformats.org/drawingml/2006/main" noGrp="1"/>
          </p:cNvSpPr>
          <p:nvPr/>
        </p:nvSpPr>
        <p:spPr>
          <a:xfrm xmlns:a="http://schemas.openxmlformats.org/drawingml/2006/main">
            <a:off x="9582150" y="3067050"/>
            <a:ext cx="533400" cy="533400"/>
          </a:xfrm>
          <a:prstGeom xmlns:a="http://schemas.openxmlformats.org/drawingml/2006/main" prst="ellipse">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FFFFFF"/>
              </a:buClr>
              <a:buSzPts val="1350"/>
              <a:buFont typeface="Lato"/>
              <a:buNone/>
            </a:pPr>
            <a:r>
              <a:rPr sz="1350" b="1" i="0">
                <a:solidFill>
                  <a:srgbClr val="FFFFFF"/>
                </a:solidFill>
                <a:latin typeface="Lato"/>
                <a:ea typeface="Lato"/>
                <a:cs typeface="Lato"/>
              </a:rPr>
              <a:t>06</a:t>
            </a:r>
            <a:endParaRPr/>
          </a:p>
        </p:txBody>
      </p:sp>
      <p:sp>
        <p:nvSpPr>
          <p:cNvPr id="673" name="Google Shape;673;p26">
            <a:extLst xmlns:a="http://schemas.openxmlformats.org/drawingml/2006/main">
              <a:ext uri="{FF2B5EF4-FFF2-40B4-BE49-F238E27FC236}">
                <a16:creationId xmlns:a16="http://schemas.microsoft.com/office/drawing/2014/main" id="{3657CA40-925D-4521-B3C1-49949A1E7342}"/>
              </a:ext>
            </a:extLst>
          </p:cNvPr>
          <p:cNvSpPr>
            <a:spLocks xmlns:a="http://schemas.openxmlformats.org/drawingml/2006/main" noGrp="1"/>
          </p:cNvSpPr>
          <p:nvPr/>
        </p:nvSpPr>
        <p:spPr>
          <a:xfrm xmlns:a="http://schemas.openxmlformats.org/drawingml/2006/main">
            <a:off x="9563100" y="3781425"/>
            <a:ext cx="14668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050"/>
              <a:buFont typeface="Lato"/>
              <a:buNone/>
            </a:pPr>
            <a:r>
              <a:rPr sz="1050" b="1" i="0">
                <a:solidFill>
                  <a:srgbClr val="F2B632"/>
                </a:solidFill>
                <a:latin typeface="Lato"/>
                <a:ea typeface="Lato"/>
                <a:cs typeface="Lato"/>
              </a:rPr>
              <a:t>INTERPRET</a:t>
            </a:r>
            <a:endParaRPr/>
          </a:p>
        </p:txBody>
      </p:sp>
      <p:sp>
        <p:nvSpPr>
          <p:cNvPr id="674" name="Google Shape;674;p26">
            <a:extLst xmlns:a="http://schemas.openxmlformats.org/drawingml/2006/main">
              <a:ext uri="{FF2B5EF4-FFF2-40B4-BE49-F238E27FC236}">
                <a16:creationId xmlns:a16="http://schemas.microsoft.com/office/drawing/2014/main" id="{FB9B8607-2DA1-474A-9975-5A24546113A8}"/>
              </a:ext>
            </a:extLst>
          </p:cNvPr>
          <p:cNvSpPr>
            <a:spLocks xmlns:a="http://schemas.openxmlformats.org/drawingml/2006/main" noGrp="1"/>
          </p:cNvSpPr>
          <p:nvPr/>
        </p:nvSpPr>
        <p:spPr>
          <a:xfrm xmlns:a="http://schemas.openxmlformats.org/drawingml/2006/main">
            <a:off x="9563100" y="4124325"/>
            <a:ext cx="158115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4000"/>
              </a:lnSpc>
              <a:spcBef>
                <a:spcPts val="0"/>
              </a:spcBef>
              <a:spcAft>
                <a:spcPts val="0"/>
              </a:spcAft>
              <a:buClr>
                <a:srgbClr val="12304E"/>
              </a:buClr>
              <a:buSzPts val="1275"/>
              <a:buFont typeface="Lato"/>
              <a:buNone/>
            </a:pPr>
            <a:r>
              <a:rPr sz="1275" b="1" i="0">
                <a:solidFill>
                  <a:srgbClr val="12304E"/>
                </a:solidFill>
                <a:latin typeface="Lato"/>
                <a:ea typeface="Lato"/>
                <a:cs typeface="Lato"/>
              </a:rPr>
              <a:t>Compare periods, spread and model agreement</a:t>
            </a:r>
            <a:endParaRPr/>
          </a:p>
        </p:txBody>
      </p:sp>
      <p:sp>
        <p:nvSpPr>
          <p:cNvPr id="675" name="Google Shape;675;p26">
            <a:extLst xmlns:a="http://schemas.openxmlformats.org/drawingml/2006/main">
              <a:ext uri="{FF2B5EF4-FFF2-40B4-BE49-F238E27FC236}">
                <a16:creationId xmlns:a16="http://schemas.microsoft.com/office/drawing/2014/main" id="{D6CDBDF4-9075-4B7B-ABBA-5D69AB5D4AAF}"/>
              </a:ext>
            </a:extLst>
          </p:cNvPr>
          <p:cNvSpPr>
            <a:spLocks xmlns:a="http://schemas.openxmlformats.org/drawingml/2006/main" noGrp="1"/>
          </p:cNvSpPr>
          <p:nvPr/>
        </p:nvSpPr>
        <p:spPr>
          <a:xfrm xmlns:a="http://schemas.openxmlformats.org/drawingml/2006/main">
            <a:off x="866775" y="5162550"/>
            <a:ext cx="10458450" cy="590550"/>
          </a:xfrm>
          <a:prstGeom xmlns:a="http://schemas.openxmlformats.org/drawingml/2006/main" prst="rect">
            <a:avLst/>
          </a:prstGeom>
          <a:solidFill xmlns:a="http://schemas.openxmlformats.org/drawingml/2006/main">
            <a:srgbClr val="12304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76" name="Google Shape;676;p26">
            <a:extLst xmlns:a="http://schemas.openxmlformats.org/drawingml/2006/main">
              <a:ext uri="{FF2B5EF4-FFF2-40B4-BE49-F238E27FC236}">
                <a16:creationId xmlns:a16="http://schemas.microsoft.com/office/drawing/2014/main" id="{EF7256B6-D03B-47AA-99FE-BE80A2B4AA07}"/>
              </a:ext>
            </a:extLst>
          </p:cNvPr>
          <p:cNvSpPr>
            <a:spLocks xmlns:a="http://schemas.openxmlformats.org/drawingml/2006/main" noGrp="1"/>
          </p:cNvSpPr>
          <p:nvPr/>
        </p:nvSpPr>
        <p:spPr>
          <a:xfrm xmlns:a="http://schemas.openxmlformats.org/drawingml/2006/main">
            <a:off x="1114425" y="5334000"/>
            <a:ext cx="1047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200"/>
              <a:buFont typeface="Lato"/>
              <a:buNone/>
            </a:pPr>
            <a:r>
              <a:rPr sz="1200" b="1" i="0">
                <a:solidFill>
                  <a:srgbClr val="F2B632"/>
                </a:solidFill>
                <a:latin typeface="Lato"/>
                <a:ea typeface="Lato"/>
                <a:cs typeface="Lato"/>
              </a:rPr>
              <a:t>OUTPUT</a:t>
            </a:r>
            <a:endParaRPr/>
          </a:p>
        </p:txBody>
      </p:sp>
      <p:sp>
        <p:nvSpPr>
          <p:cNvPr id="677" name="Google Shape;677;p26">
            <a:extLst xmlns:a="http://schemas.openxmlformats.org/drawingml/2006/main">
              <a:ext uri="{FF2B5EF4-FFF2-40B4-BE49-F238E27FC236}">
                <a16:creationId xmlns:a16="http://schemas.microsoft.com/office/drawing/2014/main" id="{D2566BD8-581A-4689-9171-2FB9761F9258}"/>
              </a:ext>
            </a:extLst>
          </p:cNvPr>
          <p:cNvSpPr>
            <a:spLocks xmlns:a="http://schemas.openxmlformats.org/drawingml/2006/main" noGrp="1"/>
          </p:cNvSpPr>
          <p:nvPr/>
        </p:nvSpPr>
        <p:spPr>
          <a:xfrm xmlns:a="http://schemas.openxmlformats.org/drawingml/2006/main">
            <a:off x="2266950" y="5305425"/>
            <a:ext cx="8667750" cy="3333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A traceable climate signal for discussion, not a stand-alone project decision</a:t>
            </a:r>
            <a:endParaRPr/>
          </a:p>
        </p:txBody>
      </p:sp>
    </p:spTree>
    <p:extLst>
      <p:ext uri="{BB962C8B-B14F-4D97-AF65-F5344CB8AC3E}">
        <p14:creationId xmlns:p14="http://schemas.microsoft.com/office/powerpoint/2010/main" val="1862043984"/>
      </p:ext>
    </p:extLst>
  </p:cSld>
</p:sld>
</file>

<file path=ppt/slides/slide2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83" name="Google Shape;683;p27">
            <a:extLst xmlns:a="http://schemas.openxmlformats.org/drawingml/2006/main">
              <a:ext uri="{FF2B5EF4-FFF2-40B4-BE49-F238E27FC236}">
                <a16:creationId xmlns:a16="http://schemas.microsoft.com/office/drawing/2014/main" id="{9E0E1F8B-559A-477F-A15D-72C0CE2BE2FE}"/>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Interpreting a climate signal</a:t>
            </a:r>
            <a:endParaRPr/>
          </a:p>
        </p:txBody>
      </p:sp>
      <p:sp>
        <p:nvSpPr>
          <p:cNvPr id="684" name="Google Shape;684;p27">
            <a:extLst xmlns:a="http://schemas.openxmlformats.org/drawingml/2006/main">
              <a:ext uri="{FF2B5EF4-FFF2-40B4-BE49-F238E27FC236}">
                <a16:creationId xmlns:a16="http://schemas.microsoft.com/office/drawing/2014/main" id="{F10D502E-898E-47CD-96A6-DF7FB937C2C8}"/>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A map or chart needs context before it can support a project decision</a:t>
            </a:r>
            <a:endParaRPr/>
          </a:p>
        </p:txBody>
      </p:sp>
      <p:sp>
        <p:nvSpPr>
          <p:cNvPr id="685" name="Google Shape;685;p27">
            <a:extLst xmlns:a="http://schemas.openxmlformats.org/drawingml/2006/main">
              <a:ext uri="{FF2B5EF4-FFF2-40B4-BE49-F238E27FC236}">
                <a16:creationId xmlns:a16="http://schemas.microsoft.com/office/drawing/2014/main" id="{8060FC18-85E3-454A-B801-9180FCE1D1B0}"/>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6" name="Google Shape;686;p27">
            <a:extLst xmlns:a="http://schemas.openxmlformats.org/drawingml/2006/main">
              <a:ext uri="{FF2B5EF4-FFF2-40B4-BE49-F238E27FC236}">
                <a16:creationId xmlns:a16="http://schemas.microsoft.com/office/drawing/2014/main" id="{8CFE9CFA-39C6-4AFD-AD5E-6DE328542BF4}"/>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7" name="Google Shape;687;p27">
            <a:extLst xmlns:a="http://schemas.openxmlformats.org/drawingml/2006/main">
              <a:ext uri="{FF2B5EF4-FFF2-40B4-BE49-F238E27FC236}">
                <a16:creationId xmlns:a16="http://schemas.microsoft.com/office/drawing/2014/main" id="{7D5E8065-F0A4-4BEA-8A84-959C5D1B028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88" name="Google Shape;688;p27">
            <a:extLst xmlns:a="http://schemas.openxmlformats.org/drawingml/2006/main">
              <a:ext uri="{FF2B5EF4-FFF2-40B4-BE49-F238E27FC236}">
                <a16:creationId xmlns:a16="http://schemas.microsoft.com/office/drawing/2014/main" id="{43F55865-F788-4984-9930-C5955E8D1F3E}"/>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689" name="Google Shape;689;p27">
            <a:extLst xmlns:a="http://schemas.openxmlformats.org/drawingml/2006/main">
              <a:ext uri="{FF2B5EF4-FFF2-40B4-BE49-F238E27FC236}">
                <a16:creationId xmlns:a16="http://schemas.microsoft.com/office/drawing/2014/main" id="{0F92A6BE-BDF3-469B-8A50-875A7D3AB93E}"/>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25</a:t>
            </a:r>
            <a:endParaRPr/>
          </a:p>
        </p:txBody>
      </p:sp>
      <p:sp>
        <p:nvSpPr>
          <p:cNvPr id="690" name="Google Shape;690;p27">
            <a:extLst xmlns:a="http://schemas.openxmlformats.org/drawingml/2006/main">
              <a:ext uri="{FF2B5EF4-FFF2-40B4-BE49-F238E27FC236}">
                <a16:creationId xmlns:a16="http://schemas.microsoft.com/office/drawing/2014/main" id="{8D3227F4-8371-4525-9A8D-CF7D14DE5F58}"/>
              </a:ext>
            </a:extLst>
          </p:cNvPr>
          <p:cNvSpPr>
            <a:spLocks xmlns:a="http://schemas.openxmlformats.org/drawingml/2006/main" noGrp="1"/>
          </p:cNvSpPr>
          <p:nvPr/>
        </p:nvSpPr>
        <p:spPr>
          <a:xfrm xmlns:a="http://schemas.openxmlformats.org/drawingml/2006/main">
            <a:off x="742950" y="1790700"/>
            <a:ext cx="45720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READ THE SIGNAL</a:t>
            </a:r>
            <a:endParaRPr/>
          </a:p>
        </p:txBody>
      </p:sp>
      <p:sp>
        <p:nvSpPr>
          <p:cNvPr id="691" name="Google Shape;691;p27">
            <a:extLst xmlns:a="http://schemas.openxmlformats.org/drawingml/2006/main">
              <a:ext uri="{FF2B5EF4-FFF2-40B4-BE49-F238E27FC236}">
                <a16:creationId xmlns:a16="http://schemas.microsoft.com/office/drawing/2014/main" id="{FE23BA86-290B-4768-9DA0-1B0788FF9CC1}"/>
              </a:ext>
            </a:extLst>
          </p:cNvPr>
          <p:cNvSpPr>
            <a:spLocks xmlns:a="http://schemas.openxmlformats.org/drawingml/2006/main" noGrp="1"/>
          </p:cNvSpPr>
          <p:nvPr/>
        </p:nvSpPr>
        <p:spPr>
          <a:xfrm xmlns:a="http://schemas.openxmlformats.org/drawingml/2006/main">
            <a:off x="6610350" y="1790700"/>
            <a:ext cx="4762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TEST THE INTERPRETATION</a:t>
            </a:r>
            <a:endParaRPr/>
          </a:p>
        </p:txBody>
      </p:sp>
      <p:sp>
        <p:nvSpPr>
          <p:cNvPr id="692" name="Google Shape;692;p27">
            <a:extLst xmlns:a="http://schemas.openxmlformats.org/drawingml/2006/main">
              <a:ext uri="{FF2B5EF4-FFF2-40B4-BE49-F238E27FC236}">
                <a16:creationId xmlns:a16="http://schemas.microsoft.com/office/drawing/2014/main" id="{3E3A4203-8AE6-4577-8927-518BB46B780F}"/>
              </a:ext>
            </a:extLst>
          </p:cNvPr>
          <p:cNvSpPr>
            <a:spLocks xmlns:a="http://schemas.openxmlformats.org/drawingml/2006/main" noGrp="1"/>
          </p:cNvSpPr>
          <p:nvPr/>
        </p:nvSpPr>
        <p:spPr>
          <a:xfrm xmlns:a="http://schemas.openxmlformats.org/drawingml/2006/main">
            <a:off x="6076950" y="1771650"/>
            <a:ext cx="9525" cy="3352800"/>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3" name="Google Shape;693;p27">
            <a:extLst xmlns:a="http://schemas.openxmlformats.org/drawingml/2006/main">
              <a:ext uri="{FF2B5EF4-FFF2-40B4-BE49-F238E27FC236}">
                <a16:creationId xmlns:a16="http://schemas.microsoft.com/office/drawing/2014/main" id="{64869F2F-DCD0-423D-8483-6692147CABC2}"/>
              </a:ext>
            </a:extLst>
          </p:cNvPr>
          <p:cNvSpPr>
            <a:spLocks xmlns:a="http://schemas.openxmlformats.org/drawingml/2006/main" noGrp="1"/>
          </p:cNvSpPr>
          <p:nvPr/>
        </p:nvSpPr>
        <p:spPr>
          <a:xfrm xmlns:a="http://schemas.openxmlformats.org/drawingml/2006/main">
            <a:off x="7429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01</a:t>
            </a:r>
            <a:endParaRPr/>
          </a:p>
        </p:txBody>
      </p:sp>
      <p:sp>
        <p:nvSpPr>
          <p:cNvPr id="694" name="Google Shape;694;p27">
            <a:extLst xmlns:a="http://schemas.openxmlformats.org/drawingml/2006/main">
              <a:ext uri="{FF2B5EF4-FFF2-40B4-BE49-F238E27FC236}">
                <a16:creationId xmlns:a16="http://schemas.microsoft.com/office/drawing/2014/main" id="{F1319FE0-C14F-423B-947E-B506BF24D676}"/>
              </a:ext>
            </a:extLst>
          </p:cNvPr>
          <p:cNvSpPr>
            <a:spLocks xmlns:a="http://schemas.openxmlformats.org/drawingml/2006/main" noGrp="1"/>
          </p:cNvSpPr>
          <p:nvPr/>
        </p:nvSpPr>
        <p:spPr>
          <a:xfrm xmlns:a="http://schemas.openxmlformats.org/drawingml/2006/main">
            <a:off x="13335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MAGNITUDE</a:t>
            </a:r>
            <a:endParaRPr/>
          </a:p>
        </p:txBody>
      </p:sp>
      <p:sp>
        <p:nvSpPr>
          <p:cNvPr id="695" name="Google Shape;695;p27">
            <a:extLst xmlns:a="http://schemas.openxmlformats.org/drawingml/2006/main">
              <a:ext uri="{FF2B5EF4-FFF2-40B4-BE49-F238E27FC236}">
                <a16:creationId xmlns:a16="http://schemas.microsoft.com/office/drawing/2014/main" id="{422F4FEA-7791-457B-B170-4BCA72D9B343}"/>
              </a:ext>
            </a:extLst>
          </p:cNvPr>
          <p:cNvSpPr>
            <a:spLocks xmlns:a="http://schemas.openxmlformats.org/drawingml/2006/main" noGrp="1"/>
          </p:cNvSpPr>
          <p:nvPr/>
        </p:nvSpPr>
        <p:spPr>
          <a:xfrm xmlns:a="http://schemas.openxmlformats.org/drawingml/2006/main">
            <a:off x="13335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large is the change relative to the baseline?</a:t>
            </a:r>
            <a:endParaRPr/>
          </a:p>
        </p:txBody>
      </p:sp>
      <p:sp>
        <p:nvSpPr>
          <p:cNvPr id="696" name="Google Shape;696;p27">
            <a:extLst xmlns:a="http://schemas.openxmlformats.org/drawingml/2006/main">
              <a:ext uri="{FF2B5EF4-FFF2-40B4-BE49-F238E27FC236}">
                <a16:creationId xmlns:a16="http://schemas.microsoft.com/office/drawing/2014/main" id="{00179E51-6A2B-4EEE-8F9B-FCADD37B52CA}"/>
              </a:ext>
            </a:extLst>
          </p:cNvPr>
          <p:cNvSpPr>
            <a:spLocks xmlns:a="http://schemas.openxmlformats.org/drawingml/2006/main" noGrp="1"/>
          </p:cNvSpPr>
          <p:nvPr/>
        </p:nvSpPr>
        <p:spPr>
          <a:xfrm xmlns:a="http://schemas.openxmlformats.org/drawingml/2006/main">
            <a:off x="7429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697" name="Google Shape;697;p27">
            <a:extLst xmlns:a="http://schemas.openxmlformats.org/drawingml/2006/main">
              <a:ext uri="{FF2B5EF4-FFF2-40B4-BE49-F238E27FC236}">
                <a16:creationId xmlns:a16="http://schemas.microsoft.com/office/drawing/2014/main" id="{2BF1C36E-6AF1-4D32-9F5E-416019817D12}"/>
              </a:ext>
            </a:extLst>
          </p:cNvPr>
          <p:cNvSpPr>
            <a:spLocks xmlns:a="http://schemas.openxmlformats.org/drawingml/2006/main" noGrp="1"/>
          </p:cNvSpPr>
          <p:nvPr/>
        </p:nvSpPr>
        <p:spPr>
          <a:xfrm xmlns:a="http://schemas.openxmlformats.org/drawingml/2006/main">
            <a:off x="7429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02</a:t>
            </a:r>
            <a:endParaRPr/>
          </a:p>
        </p:txBody>
      </p:sp>
      <p:sp>
        <p:nvSpPr>
          <p:cNvPr id="698" name="Google Shape;698;p27">
            <a:extLst xmlns:a="http://schemas.openxmlformats.org/drawingml/2006/main">
              <a:ext uri="{FF2B5EF4-FFF2-40B4-BE49-F238E27FC236}">
                <a16:creationId xmlns:a16="http://schemas.microsoft.com/office/drawing/2014/main" id="{CCD175B1-51C9-4291-BA7B-77D8EC29A545}"/>
              </a:ext>
            </a:extLst>
          </p:cNvPr>
          <p:cNvSpPr>
            <a:spLocks xmlns:a="http://schemas.openxmlformats.org/drawingml/2006/main" noGrp="1"/>
          </p:cNvSpPr>
          <p:nvPr/>
        </p:nvSpPr>
        <p:spPr>
          <a:xfrm xmlns:a="http://schemas.openxmlformats.org/drawingml/2006/main">
            <a:off x="13335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PATTERN</a:t>
            </a:r>
            <a:endParaRPr/>
          </a:p>
        </p:txBody>
      </p:sp>
      <p:sp>
        <p:nvSpPr>
          <p:cNvPr id="699" name="Google Shape;699;p27">
            <a:extLst xmlns:a="http://schemas.openxmlformats.org/drawingml/2006/main">
              <a:ext uri="{FF2B5EF4-FFF2-40B4-BE49-F238E27FC236}">
                <a16:creationId xmlns:a16="http://schemas.microsoft.com/office/drawing/2014/main" id="{AF6BE033-C556-444C-8591-8B80E4B252EC}"/>
              </a:ext>
            </a:extLst>
          </p:cNvPr>
          <p:cNvSpPr>
            <a:spLocks xmlns:a="http://schemas.openxmlformats.org/drawingml/2006/main" noGrp="1"/>
          </p:cNvSpPr>
          <p:nvPr/>
        </p:nvSpPr>
        <p:spPr>
          <a:xfrm xmlns:a="http://schemas.openxmlformats.org/drawingml/2006/main">
            <a:off x="13335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Where and when does the change occur?</a:t>
            </a:r>
            <a:endParaRPr/>
          </a:p>
        </p:txBody>
      </p:sp>
      <p:sp>
        <p:nvSpPr>
          <p:cNvPr id="700" name="Google Shape;700;p27">
            <a:extLst xmlns:a="http://schemas.openxmlformats.org/drawingml/2006/main">
              <a:ext uri="{FF2B5EF4-FFF2-40B4-BE49-F238E27FC236}">
                <a16:creationId xmlns:a16="http://schemas.microsoft.com/office/drawing/2014/main" id="{5A24CB10-2CBB-4EB4-80D8-A1EBD0B9C8F7}"/>
              </a:ext>
            </a:extLst>
          </p:cNvPr>
          <p:cNvSpPr>
            <a:spLocks xmlns:a="http://schemas.openxmlformats.org/drawingml/2006/main" noGrp="1"/>
          </p:cNvSpPr>
          <p:nvPr/>
        </p:nvSpPr>
        <p:spPr>
          <a:xfrm xmlns:a="http://schemas.openxmlformats.org/drawingml/2006/main">
            <a:off x="7429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1" name="Google Shape;701;p27">
            <a:extLst xmlns:a="http://schemas.openxmlformats.org/drawingml/2006/main">
              <a:ext uri="{FF2B5EF4-FFF2-40B4-BE49-F238E27FC236}">
                <a16:creationId xmlns:a16="http://schemas.microsoft.com/office/drawing/2014/main" id="{B5B1CA47-9D76-4C90-9E92-60A7837157B5}"/>
              </a:ext>
            </a:extLst>
          </p:cNvPr>
          <p:cNvSpPr>
            <a:spLocks xmlns:a="http://schemas.openxmlformats.org/drawingml/2006/main" noGrp="1"/>
          </p:cNvSpPr>
          <p:nvPr/>
        </p:nvSpPr>
        <p:spPr>
          <a:xfrm xmlns:a="http://schemas.openxmlformats.org/drawingml/2006/main">
            <a:off x="7429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03</a:t>
            </a:r>
            <a:endParaRPr/>
          </a:p>
        </p:txBody>
      </p:sp>
      <p:sp>
        <p:nvSpPr>
          <p:cNvPr id="702" name="Google Shape;702;p27">
            <a:extLst xmlns:a="http://schemas.openxmlformats.org/drawingml/2006/main">
              <a:ext uri="{FF2B5EF4-FFF2-40B4-BE49-F238E27FC236}">
                <a16:creationId xmlns:a16="http://schemas.microsoft.com/office/drawing/2014/main" id="{0C2F9FF3-3BA5-46EB-BF60-2E16DC4F792C}"/>
              </a:ext>
            </a:extLst>
          </p:cNvPr>
          <p:cNvSpPr>
            <a:spLocks xmlns:a="http://schemas.openxmlformats.org/drawingml/2006/main" noGrp="1"/>
          </p:cNvSpPr>
          <p:nvPr/>
        </p:nvSpPr>
        <p:spPr>
          <a:xfrm xmlns:a="http://schemas.openxmlformats.org/drawingml/2006/main">
            <a:off x="13335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AGREEMENT</a:t>
            </a:r>
            <a:endParaRPr/>
          </a:p>
        </p:txBody>
      </p:sp>
      <p:sp>
        <p:nvSpPr>
          <p:cNvPr id="703" name="Google Shape;703;p27">
            <a:extLst xmlns:a="http://schemas.openxmlformats.org/drawingml/2006/main">
              <a:ext uri="{FF2B5EF4-FFF2-40B4-BE49-F238E27FC236}">
                <a16:creationId xmlns:a16="http://schemas.microsoft.com/office/drawing/2014/main" id="{93C2DAE5-426E-4ED9-9433-AAF570DAB654}"/>
              </a:ext>
            </a:extLst>
          </p:cNvPr>
          <p:cNvSpPr>
            <a:spLocks xmlns:a="http://schemas.openxmlformats.org/drawingml/2006/main" noGrp="1"/>
          </p:cNvSpPr>
          <p:nvPr/>
        </p:nvSpPr>
        <p:spPr>
          <a:xfrm xmlns:a="http://schemas.openxmlformats.org/drawingml/2006/main">
            <a:off x="13335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Do most models show the same direction of change?</a:t>
            </a:r>
            <a:endParaRPr/>
          </a:p>
        </p:txBody>
      </p:sp>
      <p:sp>
        <p:nvSpPr>
          <p:cNvPr id="704" name="Google Shape;704;p27">
            <a:extLst xmlns:a="http://schemas.openxmlformats.org/drawingml/2006/main">
              <a:ext uri="{FF2B5EF4-FFF2-40B4-BE49-F238E27FC236}">
                <a16:creationId xmlns:a16="http://schemas.microsoft.com/office/drawing/2014/main" id="{E792C891-B425-4598-97CD-922A20A2EEBA}"/>
              </a:ext>
            </a:extLst>
          </p:cNvPr>
          <p:cNvSpPr>
            <a:spLocks xmlns:a="http://schemas.openxmlformats.org/drawingml/2006/main" noGrp="1"/>
          </p:cNvSpPr>
          <p:nvPr/>
        </p:nvSpPr>
        <p:spPr>
          <a:xfrm xmlns:a="http://schemas.openxmlformats.org/drawingml/2006/main">
            <a:off x="6610350" y="230505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04</a:t>
            </a:r>
            <a:endParaRPr/>
          </a:p>
        </p:txBody>
      </p:sp>
      <p:sp>
        <p:nvSpPr>
          <p:cNvPr id="705" name="Google Shape;705;p27">
            <a:extLst xmlns:a="http://schemas.openxmlformats.org/drawingml/2006/main">
              <a:ext uri="{FF2B5EF4-FFF2-40B4-BE49-F238E27FC236}">
                <a16:creationId xmlns:a16="http://schemas.microsoft.com/office/drawing/2014/main" id="{A01DD686-5269-4CA6-9838-080F4F0B6D4D}"/>
              </a:ext>
            </a:extLst>
          </p:cNvPr>
          <p:cNvSpPr>
            <a:spLocks xmlns:a="http://schemas.openxmlformats.org/drawingml/2006/main" noGrp="1"/>
          </p:cNvSpPr>
          <p:nvPr/>
        </p:nvSpPr>
        <p:spPr>
          <a:xfrm xmlns:a="http://schemas.openxmlformats.org/drawingml/2006/main">
            <a:off x="7200900" y="230505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SPREAD</a:t>
            </a:r>
            <a:endParaRPr/>
          </a:p>
        </p:txBody>
      </p:sp>
      <p:sp>
        <p:nvSpPr>
          <p:cNvPr id="706" name="Google Shape;706;p27">
            <a:extLst xmlns:a="http://schemas.openxmlformats.org/drawingml/2006/main">
              <a:ext uri="{FF2B5EF4-FFF2-40B4-BE49-F238E27FC236}">
                <a16:creationId xmlns:a16="http://schemas.microsoft.com/office/drawing/2014/main" id="{253622C2-16F8-4691-9B06-7CD9DE8A50EF}"/>
              </a:ext>
            </a:extLst>
          </p:cNvPr>
          <p:cNvSpPr>
            <a:spLocks xmlns:a="http://schemas.openxmlformats.org/drawingml/2006/main" noGrp="1"/>
          </p:cNvSpPr>
          <p:nvPr/>
        </p:nvSpPr>
        <p:spPr>
          <a:xfrm xmlns:a="http://schemas.openxmlformats.org/drawingml/2006/main">
            <a:off x="7200900" y="262890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How wide is the range across models and scenarios?</a:t>
            </a:r>
            <a:endParaRPr/>
          </a:p>
        </p:txBody>
      </p:sp>
      <p:sp>
        <p:nvSpPr>
          <p:cNvPr id="707" name="Google Shape;707;p27">
            <a:extLst xmlns:a="http://schemas.openxmlformats.org/drawingml/2006/main">
              <a:ext uri="{FF2B5EF4-FFF2-40B4-BE49-F238E27FC236}">
                <a16:creationId xmlns:a16="http://schemas.microsoft.com/office/drawing/2014/main" id="{E5248CEC-AE82-4964-BEDA-F8B5A1A087B5}"/>
              </a:ext>
            </a:extLst>
          </p:cNvPr>
          <p:cNvSpPr>
            <a:spLocks xmlns:a="http://schemas.openxmlformats.org/drawingml/2006/main" noGrp="1"/>
          </p:cNvSpPr>
          <p:nvPr/>
        </p:nvSpPr>
        <p:spPr>
          <a:xfrm xmlns:a="http://schemas.openxmlformats.org/drawingml/2006/main">
            <a:off x="6610350" y="3086100"/>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08" name="Google Shape;708;p27">
            <a:extLst xmlns:a="http://schemas.openxmlformats.org/drawingml/2006/main">
              <a:ext uri="{FF2B5EF4-FFF2-40B4-BE49-F238E27FC236}">
                <a16:creationId xmlns:a16="http://schemas.microsoft.com/office/drawing/2014/main" id="{66776CFE-ACE9-4159-9B96-6E627C04A06C}"/>
              </a:ext>
            </a:extLst>
          </p:cNvPr>
          <p:cNvSpPr>
            <a:spLocks xmlns:a="http://schemas.openxmlformats.org/drawingml/2006/main" noGrp="1"/>
          </p:cNvSpPr>
          <p:nvPr/>
        </p:nvSpPr>
        <p:spPr>
          <a:xfrm xmlns:a="http://schemas.openxmlformats.org/drawingml/2006/main">
            <a:off x="6610350" y="3228975"/>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05</a:t>
            </a:r>
            <a:endParaRPr/>
          </a:p>
        </p:txBody>
      </p:sp>
      <p:sp>
        <p:nvSpPr>
          <p:cNvPr id="709" name="Google Shape;709;p27">
            <a:extLst xmlns:a="http://schemas.openxmlformats.org/drawingml/2006/main">
              <a:ext uri="{FF2B5EF4-FFF2-40B4-BE49-F238E27FC236}">
                <a16:creationId xmlns:a16="http://schemas.microsoft.com/office/drawing/2014/main" id="{0128D7AB-5646-4B6E-A451-82ECFE6765A7}"/>
              </a:ext>
            </a:extLst>
          </p:cNvPr>
          <p:cNvSpPr>
            <a:spLocks xmlns:a="http://schemas.openxmlformats.org/drawingml/2006/main" noGrp="1"/>
          </p:cNvSpPr>
          <p:nvPr/>
        </p:nvSpPr>
        <p:spPr>
          <a:xfrm xmlns:a="http://schemas.openxmlformats.org/drawingml/2006/main">
            <a:off x="7200900" y="3228975"/>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RELEVANCE</a:t>
            </a:r>
            <a:endParaRPr/>
          </a:p>
        </p:txBody>
      </p:sp>
      <p:sp>
        <p:nvSpPr>
          <p:cNvPr id="710" name="Google Shape;710;p27">
            <a:extLst xmlns:a="http://schemas.openxmlformats.org/drawingml/2006/main">
              <a:ext uri="{FF2B5EF4-FFF2-40B4-BE49-F238E27FC236}">
                <a16:creationId xmlns:a16="http://schemas.microsoft.com/office/drawing/2014/main" id="{93451568-996C-4556-BEFB-85341932C358}"/>
              </a:ext>
            </a:extLst>
          </p:cNvPr>
          <p:cNvSpPr>
            <a:spLocks xmlns:a="http://schemas.openxmlformats.org/drawingml/2006/main" noGrp="1"/>
          </p:cNvSpPr>
          <p:nvPr/>
        </p:nvSpPr>
        <p:spPr>
          <a:xfrm xmlns:a="http://schemas.openxmlformats.org/drawingml/2006/main">
            <a:off x="7200900" y="3552825"/>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49"/>
              <a:buFont typeface="Lato"/>
              <a:buNone/>
            </a:pPr>
            <a:r>
              <a:rPr sz="1250" b="0" i="0">
                <a:solidFill>
                  <a:srgbClr val="687984"/>
                </a:solidFill>
                <a:latin typeface="Lato"/>
                <a:ea typeface="Lato"/>
                <a:cs typeface="Lato"/>
              </a:rPr>
              <a:t>Does the indicator reflect the decision and exposed system?</a:t>
            </a:r>
            <a:endParaRPr/>
          </a:p>
        </p:txBody>
      </p:sp>
      <p:sp>
        <p:nvSpPr>
          <p:cNvPr id="711" name="Google Shape;711;p27">
            <a:extLst xmlns:a="http://schemas.openxmlformats.org/drawingml/2006/main">
              <a:ext uri="{FF2B5EF4-FFF2-40B4-BE49-F238E27FC236}">
                <a16:creationId xmlns:a16="http://schemas.microsoft.com/office/drawing/2014/main" id="{797C59D4-4CF3-47A7-9CA0-C631445AD871}"/>
              </a:ext>
            </a:extLst>
          </p:cNvPr>
          <p:cNvSpPr>
            <a:spLocks xmlns:a="http://schemas.openxmlformats.org/drawingml/2006/main" noGrp="1"/>
          </p:cNvSpPr>
          <p:nvPr/>
        </p:nvSpPr>
        <p:spPr>
          <a:xfrm xmlns:a="http://schemas.openxmlformats.org/drawingml/2006/main">
            <a:off x="6610350" y="4010025"/>
            <a:ext cx="47625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2" name="Google Shape;712;p27">
            <a:extLst xmlns:a="http://schemas.openxmlformats.org/drawingml/2006/main">
              <a:ext uri="{FF2B5EF4-FFF2-40B4-BE49-F238E27FC236}">
                <a16:creationId xmlns:a16="http://schemas.microsoft.com/office/drawing/2014/main" id="{D7879D92-E48C-443E-8E8A-FAE4D48DB492}"/>
              </a:ext>
            </a:extLst>
          </p:cNvPr>
          <p:cNvSpPr>
            <a:spLocks xmlns:a="http://schemas.openxmlformats.org/drawingml/2006/main" noGrp="1"/>
          </p:cNvSpPr>
          <p:nvPr/>
        </p:nvSpPr>
        <p:spPr>
          <a:xfrm xmlns:a="http://schemas.openxmlformats.org/drawingml/2006/main">
            <a:off x="6610350" y="4152900"/>
            <a:ext cx="4572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125"/>
              <a:buFont typeface="Lato"/>
              <a:buNone/>
            </a:pPr>
            <a:r>
              <a:rPr sz="1125" b="1" i="0">
                <a:solidFill>
                  <a:srgbClr val="00A88F"/>
                </a:solidFill>
                <a:latin typeface="Lato"/>
                <a:ea typeface="Lato"/>
                <a:cs typeface="Lato"/>
              </a:rPr>
              <a:t>06</a:t>
            </a:r>
            <a:endParaRPr/>
          </a:p>
        </p:txBody>
      </p:sp>
      <p:sp>
        <p:nvSpPr>
          <p:cNvPr id="713" name="Google Shape;713;p27">
            <a:extLst xmlns:a="http://schemas.openxmlformats.org/drawingml/2006/main">
              <a:ext uri="{FF2B5EF4-FFF2-40B4-BE49-F238E27FC236}">
                <a16:creationId xmlns:a16="http://schemas.microsoft.com/office/drawing/2014/main" id="{40B25903-FEEA-4572-BA90-6621F69E2EA4}"/>
              </a:ext>
            </a:extLst>
          </p:cNvPr>
          <p:cNvSpPr>
            <a:spLocks xmlns:a="http://schemas.openxmlformats.org/drawingml/2006/main" noGrp="1"/>
          </p:cNvSpPr>
          <p:nvPr/>
        </p:nvSpPr>
        <p:spPr>
          <a:xfrm xmlns:a="http://schemas.openxmlformats.org/drawingml/2006/main">
            <a:off x="7200900" y="4152900"/>
            <a:ext cx="180975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275"/>
              <a:buFont typeface="Lato"/>
              <a:buNone/>
            </a:pPr>
            <a:r>
              <a:rPr sz="1275" b="1" i="0">
                <a:solidFill>
                  <a:srgbClr val="12304E"/>
                </a:solidFill>
                <a:latin typeface="Lato"/>
                <a:ea typeface="Lato"/>
                <a:cs typeface="Lato"/>
              </a:rPr>
              <a:t>LIMITATIONS</a:t>
            </a:r>
            <a:endParaRPr/>
          </a:p>
        </p:txBody>
      </p:sp>
      <p:sp>
        <p:nvSpPr>
          <p:cNvPr id="714" name="Google Shape;714;p27">
            <a:extLst xmlns:a="http://schemas.openxmlformats.org/drawingml/2006/main">
              <a:ext uri="{FF2B5EF4-FFF2-40B4-BE49-F238E27FC236}">
                <a16:creationId xmlns:a16="http://schemas.microsoft.com/office/drawing/2014/main" id="{F2A1F546-76F6-43FB-B693-4E98FC4EE4D5}"/>
              </a:ext>
            </a:extLst>
          </p:cNvPr>
          <p:cNvSpPr>
            <a:spLocks xmlns:a="http://schemas.openxmlformats.org/drawingml/2006/main" noGrp="1"/>
          </p:cNvSpPr>
          <p:nvPr/>
        </p:nvSpPr>
        <p:spPr>
          <a:xfrm xmlns:a="http://schemas.openxmlformats.org/drawingml/2006/main">
            <a:off x="7200900" y="4476750"/>
            <a:ext cx="4095750" cy="400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Which assumptions could change the interpretation?</a:t>
            </a:r>
            <a:endParaRPr/>
          </a:p>
        </p:txBody>
      </p:sp>
      <p:sp>
        <p:nvSpPr>
          <p:cNvPr id="715" name="Google Shape;715;p27">
            <a:extLst xmlns:a="http://schemas.openxmlformats.org/drawingml/2006/main">
              <a:ext uri="{FF2B5EF4-FFF2-40B4-BE49-F238E27FC236}">
                <a16:creationId xmlns:a16="http://schemas.microsoft.com/office/drawing/2014/main" id="{75F08CE4-3666-4DE1-BDE2-E6DA7A4BBB6C}"/>
              </a:ext>
            </a:extLst>
          </p:cNvPr>
          <p:cNvSpPr>
            <a:spLocks xmlns:a="http://schemas.openxmlformats.org/drawingml/2006/main" noGrp="1"/>
          </p:cNvSpPr>
          <p:nvPr/>
        </p:nvSpPr>
        <p:spPr>
          <a:xfrm xmlns:a="http://schemas.openxmlformats.org/drawingml/2006/main">
            <a:off x="742950" y="5295900"/>
            <a:ext cx="10629900" cy="438150"/>
          </a:xfrm>
          <a:prstGeom xmlns:a="http://schemas.openxmlformats.org/drawingml/2006/main" prst="rect">
            <a:avLst/>
          </a:prstGeom>
          <a:solidFill xmlns:a="http://schemas.openxmlformats.org/drawingml/2006/main">
            <a:srgbClr val="E7F4E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16" name="Google Shape;716;p27">
            <a:extLst xmlns:a="http://schemas.openxmlformats.org/drawingml/2006/main">
              <a:ext uri="{FF2B5EF4-FFF2-40B4-BE49-F238E27FC236}">
                <a16:creationId xmlns:a16="http://schemas.microsoft.com/office/drawing/2014/main" id="{D3FB88FC-D62F-4DCB-B5E1-903D0CBB219E}"/>
              </a:ext>
            </a:extLst>
          </p:cNvPr>
          <p:cNvSpPr>
            <a:spLocks xmlns:a="http://schemas.openxmlformats.org/drawingml/2006/main" noGrp="1"/>
          </p:cNvSpPr>
          <p:nvPr/>
        </p:nvSpPr>
        <p:spPr>
          <a:xfrm xmlns:a="http://schemas.openxmlformats.org/drawingml/2006/main">
            <a:off x="990600" y="5400675"/>
            <a:ext cx="1013460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ctr">
              <a:lnSpc>
                <a:spcPct val="105000"/>
              </a:lnSpc>
              <a:spcBef>
                <a:spcPts val="0"/>
              </a:spcBef>
              <a:spcAft>
                <a:spcPts val="0"/>
              </a:spcAft>
              <a:buClr>
                <a:srgbClr val="12304E"/>
              </a:buClr>
              <a:buSzPts val="1350"/>
              <a:buFont typeface="Lato"/>
              <a:buNone/>
            </a:pPr>
            <a:r>
              <a:rPr sz="1350" b="1" i="0">
                <a:solidFill>
                  <a:srgbClr val="12304E"/>
                </a:solidFill>
                <a:latin typeface="Lato"/>
                <a:ea typeface="Lato"/>
                <a:cs typeface="Lato"/>
              </a:rPr>
              <a:t>Climate information informs judgement alongside sector expertise, local knowledge and risk preferences</a:t>
            </a:r>
            <a:endParaRPr/>
          </a:p>
        </p:txBody>
      </p:sp>
    </p:spTree>
    <p:extLst>
      <p:ext uri="{BB962C8B-B14F-4D97-AF65-F5344CB8AC3E}">
        <p14:creationId xmlns:p14="http://schemas.microsoft.com/office/powerpoint/2010/main" val="1020673105"/>
      </p:ext>
    </p:extLst>
  </p:cSld>
</p:sld>
</file>

<file path=ppt/slides/slide2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22" name="Google Shape;722;p28">
            <a:extLst xmlns:a="http://schemas.openxmlformats.org/drawingml/2006/main">
              <a:ext uri="{FF2B5EF4-FFF2-40B4-BE49-F238E27FC236}">
                <a16:creationId xmlns:a16="http://schemas.microsoft.com/office/drawing/2014/main" id="{319C286A-B1B7-41BD-8AE9-C81B2A83DDD1}"/>
              </a:ext>
            </a:extLst>
          </p:cNvPr>
          <p:cNvSpPr>
            <a:spLocks xmlns:a="http://schemas.openxmlformats.org/drawingml/2006/main" noGrp="1"/>
          </p:cNvSpPr>
          <p:nvPr/>
        </p:nvSpPr>
        <p:spPr>
          <a:xfrm xmlns:a="http://schemas.openxmlformats.org/drawingml/2006/main">
            <a:off x="647700" y="400050"/>
            <a:ext cx="10839450" cy="5143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2250"/>
              <a:buFont typeface="Lato"/>
              <a:buNone/>
            </a:pPr>
            <a:r>
              <a:rPr sz="2250" b="1" i="0">
                <a:solidFill>
                  <a:srgbClr val="12304E"/>
                </a:solidFill>
                <a:latin typeface="Lato"/>
                <a:ea typeface="Lato"/>
                <a:cs typeface="Lato"/>
              </a:rPr>
              <a:t>Key messages</a:t>
            </a:r>
            <a:endParaRPr/>
          </a:p>
        </p:txBody>
      </p:sp>
      <p:sp>
        <p:nvSpPr>
          <p:cNvPr id="723" name="Google Shape;723;p28">
            <a:extLst xmlns:a="http://schemas.openxmlformats.org/drawingml/2006/main">
              <a:ext uri="{FF2B5EF4-FFF2-40B4-BE49-F238E27FC236}">
                <a16:creationId xmlns:a16="http://schemas.microsoft.com/office/drawing/2014/main" id="{2EB7A06D-268D-4460-AD84-7F05F78EBD3B}"/>
              </a:ext>
            </a:extLst>
          </p:cNvPr>
          <p:cNvSpPr>
            <a:spLocks xmlns:a="http://schemas.openxmlformats.org/drawingml/2006/main" noGrp="1"/>
          </p:cNvSpPr>
          <p:nvPr/>
        </p:nvSpPr>
        <p:spPr>
          <a:xfrm xmlns:a="http://schemas.openxmlformats.org/drawingml/2006/main">
            <a:off x="657225" y="962025"/>
            <a:ext cx="10572750" cy="2476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050"/>
              <a:buFont typeface="Lato"/>
              <a:buNone/>
            </a:pPr>
            <a:r>
              <a:rPr sz="1050" b="0" i="0">
                <a:solidFill>
                  <a:srgbClr val="687984"/>
                </a:solidFill>
                <a:latin typeface="Lato"/>
                <a:ea typeface="Lato"/>
                <a:cs typeface="Lato"/>
              </a:rPr>
              <a:t>Four ideas to carry into the practical CAVA sessions</a:t>
            </a:r>
            <a:endParaRPr/>
          </a:p>
        </p:txBody>
      </p:sp>
      <p:sp>
        <p:nvSpPr>
          <p:cNvPr id="724" name="Google Shape;724;p28">
            <a:extLst xmlns:a="http://schemas.openxmlformats.org/drawingml/2006/main">
              <a:ext uri="{FF2B5EF4-FFF2-40B4-BE49-F238E27FC236}">
                <a16:creationId xmlns:a16="http://schemas.microsoft.com/office/drawing/2014/main" id="{8B5BC812-9B8E-4175-A544-7CFD43416F42}"/>
              </a:ext>
            </a:extLst>
          </p:cNvPr>
          <p:cNvSpPr>
            <a:spLocks xmlns:a="http://schemas.openxmlformats.org/drawingml/2006/main" noGrp="1"/>
          </p:cNvSpPr>
          <p:nvPr/>
        </p:nvSpPr>
        <p:spPr>
          <a:xfrm xmlns:a="http://schemas.openxmlformats.org/drawingml/2006/main">
            <a:off x="647700" y="1295400"/>
            <a:ext cx="108966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5" name="Google Shape;725;p28">
            <a:extLst xmlns:a="http://schemas.openxmlformats.org/drawingml/2006/main">
              <a:ext uri="{FF2B5EF4-FFF2-40B4-BE49-F238E27FC236}">
                <a16:creationId xmlns:a16="http://schemas.microsoft.com/office/drawing/2014/main" id="{0B8C04D1-EDF4-44AB-9CA9-E8E7308918B6}"/>
              </a:ext>
            </a:extLst>
          </p:cNvPr>
          <p:cNvSpPr>
            <a:spLocks xmlns:a="http://schemas.openxmlformats.org/drawingml/2006/main" noGrp="1"/>
          </p:cNvSpPr>
          <p:nvPr/>
        </p:nvSpPr>
        <p:spPr>
          <a:xfrm xmlns:a="http://schemas.openxmlformats.org/drawingml/2006/main">
            <a:off x="666750" y="1419225"/>
            <a:ext cx="952500" cy="28575"/>
          </a:xfrm>
          <a:prstGeom xmlns:a="http://schemas.openxmlformats.org/drawingml/2006/main" prst="rect">
            <a:avLst/>
          </a:prstGeom>
          <a:solidFill xmlns:a="http://schemas.openxmlformats.org/drawingml/2006/main">
            <a:srgbClr val="F2B63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6" name="Google Shape;726;p28">
            <a:extLst xmlns:a="http://schemas.openxmlformats.org/drawingml/2006/main">
              <a:ext uri="{FF2B5EF4-FFF2-40B4-BE49-F238E27FC236}">
                <a16:creationId xmlns:a16="http://schemas.microsoft.com/office/drawing/2014/main" id="{883AE04A-ED0C-46C3-AE87-EC5BBE3EE61C}"/>
              </a:ext>
            </a:extLst>
          </p:cNvPr>
          <p:cNvSpPr>
            <a:spLocks xmlns:a="http://schemas.openxmlformats.org/drawingml/2006/main" noGrp="1"/>
          </p:cNvSpPr>
          <p:nvPr/>
        </p:nvSpPr>
        <p:spPr>
          <a:xfrm xmlns:a="http://schemas.openxmlformats.org/drawingml/2006/main">
            <a:off x="609600" y="6229350"/>
            <a:ext cx="111252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27" name="Google Shape;727;p28">
            <a:extLst xmlns:a="http://schemas.openxmlformats.org/drawingml/2006/main">
              <a:ext uri="{FF2B5EF4-FFF2-40B4-BE49-F238E27FC236}">
                <a16:creationId xmlns:a16="http://schemas.microsoft.com/office/drawing/2014/main" id="{D0A2938C-EBF9-4419-9CC9-633E09FE4477}"/>
              </a:ext>
            </a:extLst>
          </p:cNvPr>
          <p:cNvSpPr>
            <a:spLocks xmlns:a="http://schemas.openxmlformats.org/drawingml/2006/main" noGrp="1"/>
          </p:cNvSpPr>
          <p:nvPr/>
        </p:nvSpPr>
        <p:spPr>
          <a:xfrm xmlns:a="http://schemas.openxmlformats.org/drawingml/2006/main">
            <a:off x="647700" y="6343650"/>
            <a:ext cx="4000500"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750"/>
              <a:buFont typeface="Lato"/>
              <a:buNone/>
            </a:pPr>
            <a:r>
              <a:rPr sz="750" b="1" i="0">
                <a:solidFill>
                  <a:srgbClr val="687984"/>
                </a:solidFill>
                <a:latin typeface="Lato"/>
                <a:ea typeface="Lato"/>
                <a:cs typeface="Lato"/>
              </a:rPr>
              <a:t>CAVA MODULE 1</a:t>
            </a:r>
            <a:endParaRPr/>
          </a:p>
        </p:txBody>
      </p:sp>
      <p:sp>
        <p:nvSpPr>
          <p:cNvPr id="728" name="Google Shape;728;p28">
            <a:extLst xmlns:a="http://schemas.openxmlformats.org/drawingml/2006/main">
              <a:ext uri="{FF2B5EF4-FFF2-40B4-BE49-F238E27FC236}">
                <a16:creationId xmlns:a16="http://schemas.microsoft.com/office/drawing/2014/main" id="{9A98099B-C822-4B6E-B577-249FC82879BB}"/>
              </a:ext>
            </a:extLst>
          </p:cNvPr>
          <p:cNvSpPr>
            <a:spLocks xmlns:a="http://schemas.openxmlformats.org/drawingml/2006/main" noGrp="1"/>
          </p:cNvSpPr>
          <p:nvPr/>
        </p:nvSpPr>
        <p:spPr>
          <a:xfrm xmlns:a="http://schemas.openxmlformats.org/drawingml/2006/main">
            <a:off x="11096625" y="6343650"/>
            <a:ext cx="523875" cy="171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5000"/>
              </a:lnSpc>
              <a:spcBef>
                <a:spcPts val="0"/>
              </a:spcBef>
              <a:spcAft>
                <a:spcPts val="0"/>
              </a:spcAft>
              <a:buClr>
                <a:srgbClr val="687984"/>
              </a:buClr>
              <a:buSzPts val="750"/>
              <a:buFont typeface="Lato"/>
              <a:buNone/>
            </a:pPr>
            <a:r>
              <a:rPr sz="750">
                <a:solidFill>
                  <a:srgbClr val="687984"/>
                </a:solidFill>
                <a:latin typeface="Lato"/>
                <a:ea typeface="Lato"/>
                <a:cs typeface="Lato"/>
              </a:rPr>
              <a:t>26</a:t>
            </a:r>
            <a:endParaRPr/>
          </a:p>
        </p:txBody>
      </p:sp>
      <p:sp>
        <p:nvSpPr>
          <p:cNvPr id="729" name="Google Shape;729;p28">
            <a:extLst xmlns:a="http://schemas.openxmlformats.org/drawingml/2006/main">
              <a:ext uri="{FF2B5EF4-FFF2-40B4-BE49-F238E27FC236}">
                <a16:creationId xmlns:a16="http://schemas.microsoft.com/office/drawing/2014/main" id="{6DFBECEA-2D63-48E3-AF1C-972ACF652CC2}"/>
              </a:ext>
            </a:extLst>
          </p:cNvPr>
          <p:cNvSpPr>
            <a:spLocks xmlns:a="http://schemas.openxmlformats.org/drawingml/2006/main" noGrp="1"/>
          </p:cNvSpPr>
          <p:nvPr/>
        </p:nvSpPr>
        <p:spPr>
          <a:xfrm xmlns:a="http://schemas.openxmlformats.org/drawingml/2006/main">
            <a:off x="809625" y="18859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01</a:t>
            </a:r>
            <a:endParaRPr/>
          </a:p>
        </p:txBody>
      </p:sp>
      <p:sp>
        <p:nvSpPr>
          <p:cNvPr id="730" name="Google Shape;730;p28">
            <a:extLst xmlns:a="http://schemas.openxmlformats.org/drawingml/2006/main">
              <a:ext uri="{FF2B5EF4-FFF2-40B4-BE49-F238E27FC236}">
                <a16:creationId xmlns:a16="http://schemas.microsoft.com/office/drawing/2014/main" id="{B955C57D-BCFD-4743-812B-A5056D5562F3}"/>
              </a:ext>
            </a:extLst>
          </p:cNvPr>
          <p:cNvSpPr>
            <a:spLocks xmlns:a="http://schemas.openxmlformats.org/drawingml/2006/main" noGrp="1"/>
          </p:cNvSpPr>
          <p:nvPr/>
        </p:nvSpPr>
        <p:spPr>
          <a:xfrm xmlns:a="http://schemas.openxmlformats.org/drawingml/2006/main">
            <a:off x="1524000" y="17526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Start with the decision question</a:t>
            </a:r>
            <a:endParaRPr/>
          </a:p>
        </p:txBody>
      </p:sp>
      <p:sp>
        <p:nvSpPr>
          <p:cNvPr id="731" name="Google Shape;731;p28">
            <a:extLst xmlns:a="http://schemas.openxmlformats.org/drawingml/2006/main">
              <a:ext uri="{FF2B5EF4-FFF2-40B4-BE49-F238E27FC236}">
                <a16:creationId xmlns:a16="http://schemas.microsoft.com/office/drawing/2014/main" id="{404B1705-5939-4A83-907C-7FC098791245}"/>
              </a:ext>
            </a:extLst>
          </p:cNvPr>
          <p:cNvSpPr>
            <a:spLocks xmlns:a="http://schemas.openxmlformats.org/drawingml/2006/main" noGrp="1"/>
          </p:cNvSpPr>
          <p:nvPr/>
        </p:nvSpPr>
        <p:spPr>
          <a:xfrm xmlns:a="http://schemas.openxmlformats.org/drawingml/2006/main">
            <a:off x="5629275" y="17526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Geography, variable, period and indicator should follow from the intended use.</a:t>
            </a:r>
            <a:endParaRPr/>
          </a:p>
        </p:txBody>
      </p:sp>
      <p:sp>
        <p:nvSpPr>
          <p:cNvPr id="732" name="Google Shape;732;p28">
            <a:extLst xmlns:a="http://schemas.openxmlformats.org/drawingml/2006/main">
              <a:ext uri="{FF2B5EF4-FFF2-40B4-BE49-F238E27FC236}">
                <a16:creationId xmlns:a16="http://schemas.microsoft.com/office/drawing/2014/main" id="{53B859D2-C393-4490-B9CE-F536857BFF2F}"/>
              </a:ext>
            </a:extLst>
          </p:cNvPr>
          <p:cNvSpPr>
            <a:spLocks xmlns:a="http://schemas.openxmlformats.org/drawingml/2006/main" noGrp="1"/>
          </p:cNvSpPr>
          <p:nvPr/>
        </p:nvSpPr>
        <p:spPr>
          <a:xfrm xmlns:a="http://schemas.openxmlformats.org/drawingml/2006/main">
            <a:off x="1524000" y="24765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3" name="Google Shape;733;p28">
            <a:extLst xmlns:a="http://schemas.openxmlformats.org/drawingml/2006/main">
              <a:ext uri="{FF2B5EF4-FFF2-40B4-BE49-F238E27FC236}">
                <a16:creationId xmlns:a16="http://schemas.microsoft.com/office/drawing/2014/main" id="{C11248D8-8A5E-4AEA-BCE3-FA8765104126}"/>
              </a:ext>
            </a:extLst>
          </p:cNvPr>
          <p:cNvSpPr>
            <a:spLocks xmlns:a="http://schemas.openxmlformats.org/drawingml/2006/main" noGrp="1"/>
          </p:cNvSpPr>
          <p:nvPr/>
        </p:nvSpPr>
        <p:spPr>
          <a:xfrm xmlns:a="http://schemas.openxmlformats.org/drawingml/2006/main">
            <a:off x="809625" y="28575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575"/>
              <a:buFont typeface="Lato"/>
              <a:buNone/>
            </a:pPr>
            <a:r>
              <a:rPr sz="1575" b="1" i="0">
                <a:solidFill>
                  <a:srgbClr val="F2B632"/>
                </a:solidFill>
                <a:latin typeface="Lato"/>
                <a:ea typeface="Lato"/>
                <a:cs typeface="Lato"/>
              </a:rPr>
              <a:t>02</a:t>
            </a:r>
            <a:endParaRPr/>
          </a:p>
        </p:txBody>
      </p:sp>
      <p:sp>
        <p:nvSpPr>
          <p:cNvPr id="734" name="Google Shape;734;p28">
            <a:extLst xmlns:a="http://schemas.openxmlformats.org/drawingml/2006/main">
              <a:ext uri="{FF2B5EF4-FFF2-40B4-BE49-F238E27FC236}">
                <a16:creationId xmlns:a16="http://schemas.microsoft.com/office/drawing/2014/main" id="{F5F4ACA6-DDA4-4A6E-B56C-FD65C9CDF3E5}"/>
              </a:ext>
            </a:extLst>
          </p:cNvPr>
          <p:cNvSpPr>
            <a:spLocks xmlns:a="http://schemas.openxmlformats.org/drawingml/2006/main" noGrp="1"/>
          </p:cNvSpPr>
          <p:nvPr/>
        </p:nvSpPr>
        <p:spPr>
          <a:xfrm xmlns:a="http://schemas.openxmlformats.org/drawingml/2006/main">
            <a:off x="1524000" y="27241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Treat projections as conditional</a:t>
            </a:r>
            <a:endParaRPr/>
          </a:p>
        </p:txBody>
      </p:sp>
      <p:sp>
        <p:nvSpPr>
          <p:cNvPr id="735" name="Google Shape;735;p28">
            <a:extLst xmlns:a="http://schemas.openxmlformats.org/drawingml/2006/main">
              <a:ext uri="{FF2B5EF4-FFF2-40B4-BE49-F238E27FC236}">
                <a16:creationId xmlns:a16="http://schemas.microsoft.com/office/drawing/2014/main" id="{75E8AE01-EB2B-4974-AFAD-EEBFACF4F8EB}"/>
              </a:ext>
            </a:extLst>
          </p:cNvPr>
          <p:cNvSpPr>
            <a:spLocks xmlns:a="http://schemas.openxmlformats.org/drawingml/2006/main" noGrp="1"/>
          </p:cNvSpPr>
          <p:nvPr/>
        </p:nvSpPr>
        <p:spPr>
          <a:xfrm xmlns:a="http://schemas.openxmlformats.org/drawingml/2006/main">
            <a:off x="5629275" y="27241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They describe plausible climates under defined model and scenario assumptions.</a:t>
            </a:r>
            <a:endParaRPr/>
          </a:p>
        </p:txBody>
      </p:sp>
      <p:sp>
        <p:nvSpPr>
          <p:cNvPr id="736" name="Google Shape;736;p28">
            <a:extLst xmlns:a="http://schemas.openxmlformats.org/drawingml/2006/main">
              <a:ext uri="{FF2B5EF4-FFF2-40B4-BE49-F238E27FC236}">
                <a16:creationId xmlns:a16="http://schemas.microsoft.com/office/drawing/2014/main" id="{8058E3F6-5F3F-4B31-B340-12D63A33E9EE}"/>
              </a:ext>
            </a:extLst>
          </p:cNvPr>
          <p:cNvSpPr>
            <a:spLocks xmlns:a="http://schemas.openxmlformats.org/drawingml/2006/main" noGrp="1"/>
          </p:cNvSpPr>
          <p:nvPr/>
        </p:nvSpPr>
        <p:spPr>
          <a:xfrm xmlns:a="http://schemas.openxmlformats.org/drawingml/2006/main">
            <a:off x="1524000" y="344805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37" name="Google Shape;737;p28">
            <a:extLst xmlns:a="http://schemas.openxmlformats.org/drawingml/2006/main">
              <a:ext uri="{FF2B5EF4-FFF2-40B4-BE49-F238E27FC236}">
                <a16:creationId xmlns:a16="http://schemas.microsoft.com/office/drawing/2014/main" id="{5A9F1027-0347-4AE0-A252-2677E25A886A}"/>
              </a:ext>
            </a:extLst>
          </p:cNvPr>
          <p:cNvSpPr>
            <a:spLocks xmlns:a="http://schemas.openxmlformats.org/drawingml/2006/main" noGrp="1"/>
          </p:cNvSpPr>
          <p:nvPr/>
        </p:nvSpPr>
        <p:spPr>
          <a:xfrm xmlns:a="http://schemas.openxmlformats.org/drawingml/2006/main">
            <a:off x="809625" y="382905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03</a:t>
            </a:r>
            <a:endParaRPr/>
          </a:p>
        </p:txBody>
      </p:sp>
      <p:sp>
        <p:nvSpPr>
          <p:cNvPr id="738" name="Google Shape;738;p28">
            <a:extLst xmlns:a="http://schemas.openxmlformats.org/drawingml/2006/main">
              <a:ext uri="{FF2B5EF4-FFF2-40B4-BE49-F238E27FC236}">
                <a16:creationId xmlns:a16="http://schemas.microsoft.com/office/drawing/2014/main" id="{BAE99247-804C-4C11-91DB-B8EBEB945369}"/>
              </a:ext>
            </a:extLst>
          </p:cNvPr>
          <p:cNvSpPr>
            <a:spLocks xmlns:a="http://schemas.openxmlformats.org/drawingml/2006/main" noGrp="1"/>
          </p:cNvSpPr>
          <p:nvPr/>
        </p:nvSpPr>
        <p:spPr>
          <a:xfrm xmlns:a="http://schemas.openxmlformats.org/drawingml/2006/main">
            <a:off x="1524000" y="369570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06"/>
              <a:buFont typeface="Lato"/>
              <a:buNone/>
            </a:pPr>
            <a:r>
              <a:rPr sz="1507" b="1" i="0">
                <a:solidFill>
                  <a:srgbClr val="12304E"/>
                </a:solidFill>
                <a:latin typeface="Lato"/>
                <a:ea typeface="Lato"/>
                <a:cs typeface="Lato"/>
              </a:rPr>
              <a:t>Interpret ensembles, not a preferred model</a:t>
            </a:r>
            <a:endParaRPr/>
          </a:p>
        </p:txBody>
      </p:sp>
      <p:sp>
        <p:nvSpPr>
          <p:cNvPr id="739" name="Google Shape;739;p28">
            <a:extLst xmlns:a="http://schemas.openxmlformats.org/drawingml/2006/main">
              <a:ext uri="{FF2B5EF4-FFF2-40B4-BE49-F238E27FC236}">
                <a16:creationId xmlns:a16="http://schemas.microsoft.com/office/drawing/2014/main" id="{E2250E4C-EEB1-4B6B-903C-40B86EBDBAED}"/>
              </a:ext>
            </a:extLst>
          </p:cNvPr>
          <p:cNvSpPr>
            <a:spLocks xmlns:a="http://schemas.openxmlformats.org/drawingml/2006/main" noGrp="1"/>
          </p:cNvSpPr>
          <p:nvPr/>
        </p:nvSpPr>
        <p:spPr>
          <a:xfrm xmlns:a="http://schemas.openxmlformats.org/drawingml/2006/main">
            <a:off x="5629275" y="369570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Centre, spread and agreement provide complementary information.</a:t>
            </a:r>
            <a:endParaRPr/>
          </a:p>
        </p:txBody>
      </p:sp>
      <p:sp>
        <p:nvSpPr>
          <p:cNvPr id="740" name="Google Shape;740;p28">
            <a:extLst xmlns:a="http://schemas.openxmlformats.org/drawingml/2006/main">
              <a:ext uri="{FF2B5EF4-FFF2-40B4-BE49-F238E27FC236}">
                <a16:creationId xmlns:a16="http://schemas.microsoft.com/office/drawing/2014/main" id="{10DDCF50-0265-4748-B2F1-E26E77EFC283}"/>
              </a:ext>
            </a:extLst>
          </p:cNvPr>
          <p:cNvSpPr>
            <a:spLocks xmlns:a="http://schemas.openxmlformats.org/drawingml/2006/main" noGrp="1"/>
          </p:cNvSpPr>
          <p:nvPr/>
        </p:nvSpPr>
        <p:spPr>
          <a:xfrm xmlns:a="http://schemas.openxmlformats.org/drawingml/2006/main">
            <a:off x="1524000" y="4419600"/>
            <a:ext cx="9677400" cy="9525"/>
          </a:xfrm>
          <a:prstGeom xmlns:a="http://schemas.openxmlformats.org/drawingml/2006/main" prst="rect">
            <a:avLst/>
          </a:prstGeom>
          <a:solidFill xmlns:a="http://schemas.openxmlformats.org/drawingml/2006/main">
            <a:srgbClr val="DCE5E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41" name="Google Shape;741;p28">
            <a:extLst xmlns:a="http://schemas.openxmlformats.org/drawingml/2006/main">
              <a:ext uri="{FF2B5EF4-FFF2-40B4-BE49-F238E27FC236}">
                <a16:creationId xmlns:a16="http://schemas.microsoft.com/office/drawing/2014/main" id="{490C57E4-9EEA-4639-B7DE-CFD6EAFC95AF}"/>
              </a:ext>
            </a:extLst>
          </p:cNvPr>
          <p:cNvSpPr>
            <a:spLocks xmlns:a="http://schemas.openxmlformats.org/drawingml/2006/main" noGrp="1"/>
          </p:cNvSpPr>
          <p:nvPr/>
        </p:nvSpPr>
        <p:spPr>
          <a:xfrm xmlns:a="http://schemas.openxmlformats.org/drawingml/2006/main">
            <a:off x="809625" y="4800600"/>
            <a:ext cx="523875" cy="34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575"/>
              <a:buFont typeface="Lato"/>
              <a:buNone/>
            </a:pPr>
            <a:r>
              <a:rPr sz="1575" b="1" i="0">
                <a:solidFill>
                  <a:srgbClr val="00A88F"/>
                </a:solidFill>
                <a:latin typeface="Lato"/>
                <a:ea typeface="Lato"/>
                <a:cs typeface="Lato"/>
              </a:rPr>
              <a:t>04</a:t>
            </a:r>
            <a:endParaRPr/>
          </a:p>
        </p:txBody>
      </p:sp>
      <p:sp>
        <p:nvSpPr>
          <p:cNvPr id="742" name="Google Shape;742;p28">
            <a:extLst xmlns:a="http://schemas.openxmlformats.org/drawingml/2006/main">
              <a:ext uri="{FF2B5EF4-FFF2-40B4-BE49-F238E27FC236}">
                <a16:creationId xmlns:a16="http://schemas.microsoft.com/office/drawing/2014/main" id="{6EEECECF-B1EF-46CF-B38B-983CFDF6693E}"/>
              </a:ext>
            </a:extLst>
          </p:cNvPr>
          <p:cNvSpPr>
            <a:spLocks xmlns:a="http://schemas.openxmlformats.org/drawingml/2006/main" noGrp="1"/>
          </p:cNvSpPr>
          <p:nvPr/>
        </p:nvSpPr>
        <p:spPr>
          <a:xfrm xmlns:a="http://schemas.openxmlformats.org/drawingml/2006/main">
            <a:off x="1524000" y="4667250"/>
            <a:ext cx="390525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12304E"/>
              </a:buClr>
              <a:buSzPts val="1575"/>
              <a:buFont typeface="Lato"/>
              <a:buNone/>
            </a:pPr>
            <a:r>
              <a:rPr sz="1575" b="1" i="0">
                <a:solidFill>
                  <a:srgbClr val="12304E"/>
                </a:solidFill>
                <a:latin typeface="Lato"/>
                <a:ea typeface="Lato"/>
                <a:cs typeface="Lato"/>
              </a:rPr>
              <a:t>Use CAVA as a connected ecosystem</a:t>
            </a:r>
            <a:endParaRPr/>
          </a:p>
        </p:txBody>
      </p:sp>
      <p:sp>
        <p:nvSpPr>
          <p:cNvPr id="743" name="Google Shape;743;p28">
            <a:extLst xmlns:a="http://schemas.openxmlformats.org/drawingml/2006/main">
              <a:ext uri="{FF2B5EF4-FFF2-40B4-BE49-F238E27FC236}">
                <a16:creationId xmlns:a16="http://schemas.microsoft.com/office/drawing/2014/main" id="{BC6E681A-2195-4846-92ED-A639618BC3E7}"/>
              </a:ext>
            </a:extLst>
          </p:cNvPr>
          <p:cNvSpPr>
            <a:spLocks xmlns:a="http://schemas.openxmlformats.org/drawingml/2006/main" noGrp="1"/>
          </p:cNvSpPr>
          <p:nvPr/>
        </p:nvSpPr>
        <p:spPr>
          <a:xfrm xmlns:a="http://schemas.openxmlformats.org/drawingml/2006/main">
            <a:off x="5629275" y="4667250"/>
            <a:ext cx="5572125" cy="5524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687984"/>
              </a:buClr>
              <a:buSzPts val="1275"/>
              <a:buFont typeface="Lato"/>
              <a:buNone/>
            </a:pPr>
            <a:r>
              <a:rPr sz="1275" b="0" i="0">
                <a:solidFill>
                  <a:srgbClr val="687984"/>
                </a:solidFill>
                <a:latin typeface="Lato"/>
                <a:ea typeface="Lato"/>
                <a:cs typeface="Lato"/>
              </a:rPr>
              <a:t>The Platform, CAVAanalytics and cavapy provide different routes through a shared workflow.</a:t>
            </a:r>
            <a:endParaRPr/>
          </a:p>
        </p:txBody>
      </p:sp>
    </p:spTree>
    <p:extLst>
      <p:ext uri="{BB962C8B-B14F-4D97-AF65-F5344CB8AC3E}">
        <p14:creationId xmlns:p14="http://schemas.microsoft.com/office/powerpoint/2010/main" val="1644354143"/>
      </p:ext>
    </p:extLst>
  </p:cSld>
</p:sld>
</file>

<file path=ppt/slides/slide27.xml><?xml version="1.0" encoding="utf-8"?>
<p:sld xmlns:p="http://schemas.openxmlformats.org/presentationml/2006/main">
  <p:cSld>
    <p:bg>
      <p:bgPr>
        <a:solidFill xmlns:a="http://schemas.openxmlformats.org/drawingml/2006/main">
          <a:srgbClr val="12304E"/>
        </a:solidFill>
      </p:bgPr>
    </p:bg>
    <p:spTree>
      <p:nvGrpSpPr>
        <p:cNvPr id="1" name=""/>
        <p:cNvGrpSpPr/>
        <p:nvPr/>
      </p:nvGrpSpPr>
      <p:grpSpPr>
        <a:xfrm xmlns:a="http://schemas.openxmlformats.org/drawingml/2006/main"/>
      </p:grpSpPr>
      <p:sp>
        <p:nvSpPr>
          <p:cNvPr id="749" name="Google Shape;749;p29">
            <a:extLst xmlns:a="http://schemas.openxmlformats.org/drawingml/2006/main">
              <a:ext uri="{FF2B5EF4-FFF2-40B4-BE49-F238E27FC236}">
                <a16:creationId xmlns:a16="http://schemas.microsoft.com/office/drawing/2014/main" id="{878CC346-C466-44D9-BEEE-6491F8A293C3}"/>
              </a:ext>
            </a:extLst>
          </p:cNvPr>
          <p:cNvSpPr>
            <a:spLocks xmlns:a="http://schemas.openxmlformats.org/drawingml/2006/main" noGrp="1"/>
          </p:cNvSpPr>
          <p:nvPr/>
        </p:nvSpPr>
        <p:spPr>
          <a:xfrm xmlns:a="http://schemas.openxmlformats.org/drawingml/2006/main">
            <a:off x="0" y="0"/>
            <a:ext cx="76200" cy="6858000"/>
          </a:xfrm>
          <a:prstGeom xmlns:a="http://schemas.openxmlformats.org/drawingml/2006/main" prst="rect">
            <a:avLst/>
          </a:prstGeom>
          <a:solidFill xmlns:a="http://schemas.openxmlformats.org/drawingml/2006/main">
            <a:srgbClr val="00A88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0" name="Google Shape;750;p29">
            <a:extLst xmlns:a="http://schemas.openxmlformats.org/drawingml/2006/main">
              <a:ext uri="{FF2B5EF4-FFF2-40B4-BE49-F238E27FC236}">
                <a16:creationId xmlns:a16="http://schemas.microsoft.com/office/drawing/2014/main" id="{58638BB0-6289-4CC3-9662-E189C7B390DC}"/>
              </a:ext>
            </a:extLst>
          </p:cNvPr>
          <p:cNvSpPr>
            <a:spLocks xmlns:a="http://schemas.openxmlformats.org/drawingml/2006/main" noGrp="1"/>
          </p:cNvSpPr>
          <p:nvPr/>
        </p:nvSpPr>
        <p:spPr>
          <a:xfrm xmlns:a="http://schemas.openxmlformats.org/drawingml/2006/main">
            <a:off x="762000" y="895350"/>
            <a:ext cx="8191500" cy="647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3225"/>
              <a:buFont typeface="Lato"/>
              <a:buNone/>
            </a:pPr>
            <a:r>
              <a:rPr sz="3225" b="1" i="0">
                <a:solidFill>
                  <a:srgbClr val="FFFFFF"/>
                </a:solidFill>
                <a:latin typeface="Lato"/>
                <a:ea typeface="Lato"/>
                <a:cs typeface="Lato"/>
              </a:rPr>
              <a:t>Questions and discussion</a:t>
            </a:r>
            <a:endParaRPr/>
          </a:p>
        </p:txBody>
      </p:sp>
      <p:sp>
        <p:nvSpPr>
          <p:cNvPr id="751" name="Google Shape;751;p29">
            <a:extLst xmlns:a="http://schemas.openxmlformats.org/drawingml/2006/main">
              <a:ext uri="{FF2B5EF4-FFF2-40B4-BE49-F238E27FC236}">
                <a16:creationId xmlns:a16="http://schemas.microsoft.com/office/drawing/2014/main" id="{2224EE8F-B2F9-497C-8A6D-9604BDE7C966}"/>
              </a:ext>
            </a:extLst>
          </p:cNvPr>
          <p:cNvSpPr>
            <a:spLocks xmlns:a="http://schemas.openxmlformats.org/drawingml/2006/main" noGrp="1"/>
          </p:cNvSpPr>
          <p:nvPr/>
        </p:nvSpPr>
        <p:spPr>
          <a:xfrm xmlns:a="http://schemas.openxmlformats.org/drawingml/2006/main">
            <a:off x="781050" y="2019300"/>
            <a:ext cx="7810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D9E7EE"/>
              </a:buClr>
              <a:buSzPts val="1875"/>
              <a:buFont typeface="Lato"/>
              <a:buNone/>
            </a:pPr>
            <a:r>
              <a:rPr sz="1875" b="0" i="0">
                <a:solidFill>
                  <a:srgbClr val="D9E7EE"/>
                </a:solidFill>
                <a:latin typeface="Lato"/>
                <a:ea typeface="Lato"/>
                <a:cs typeface="Lato"/>
              </a:rPr>
              <a:t>What remains unclear before we use the CAVA Platform?</a:t>
            </a:r>
            <a:endParaRPr/>
          </a:p>
        </p:txBody>
      </p:sp>
      <p:sp>
        <p:nvSpPr>
          <p:cNvPr id="752" name="Google Shape;752;p29">
            <a:extLst xmlns:a="http://schemas.openxmlformats.org/drawingml/2006/main">
              <a:ext uri="{FF2B5EF4-FFF2-40B4-BE49-F238E27FC236}">
                <a16:creationId xmlns:a16="http://schemas.microsoft.com/office/drawing/2014/main" id="{4E86E372-7A55-4D28-B92E-6CAD9F3AC915}"/>
              </a:ext>
            </a:extLst>
          </p:cNvPr>
          <p:cNvSpPr>
            <a:spLocks xmlns:a="http://schemas.openxmlformats.org/drawingml/2006/main" noGrp="1"/>
          </p:cNvSpPr>
          <p:nvPr/>
        </p:nvSpPr>
        <p:spPr>
          <a:xfrm xmlns:a="http://schemas.openxmlformats.org/drawingml/2006/main">
            <a:off x="781050" y="33718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01</a:t>
            </a:r>
            <a:endParaRPr/>
          </a:p>
        </p:txBody>
      </p:sp>
      <p:sp>
        <p:nvSpPr>
          <p:cNvPr id="753" name="Google Shape;753;p29">
            <a:extLst xmlns:a="http://schemas.openxmlformats.org/drawingml/2006/main">
              <a:ext uri="{FF2B5EF4-FFF2-40B4-BE49-F238E27FC236}">
                <a16:creationId xmlns:a16="http://schemas.microsoft.com/office/drawing/2014/main" id="{93A6C2FE-8A99-4311-AD8D-5AC57AD8A065}"/>
              </a:ext>
            </a:extLst>
          </p:cNvPr>
          <p:cNvSpPr>
            <a:spLocks xmlns:a="http://schemas.openxmlformats.org/drawingml/2006/main" noGrp="1"/>
          </p:cNvSpPr>
          <p:nvPr/>
        </p:nvSpPr>
        <p:spPr>
          <a:xfrm xmlns:a="http://schemas.openxmlformats.org/drawingml/2006/main">
            <a:off x="1371600" y="33242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Data sources and models</a:t>
            </a:r>
            <a:endParaRPr/>
          </a:p>
        </p:txBody>
      </p:sp>
      <p:sp>
        <p:nvSpPr>
          <p:cNvPr id="754" name="Google Shape;754;p29">
            <a:extLst xmlns:a="http://schemas.openxmlformats.org/drawingml/2006/main">
              <a:ext uri="{FF2B5EF4-FFF2-40B4-BE49-F238E27FC236}">
                <a16:creationId xmlns:a16="http://schemas.microsoft.com/office/drawing/2014/main" id="{29DC991D-A027-4A8F-A321-D17E16A6ECFD}"/>
              </a:ext>
            </a:extLst>
          </p:cNvPr>
          <p:cNvSpPr>
            <a:spLocks xmlns:a="http://schemas.openxmlformats.org/drawingml/2006/main" noGrp="1"/>
          </p:cNvSpPr>
          <p:nvPr/>
        </p:nvSpPr>
        <p:spPr>
          <a:xfrm xmlns:a="http://schemas.openxmlformats.org/drawingml/2006/main">
            <a:off x="781050" y="39814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02</a:t>
            </a:r>
            <a:endParaRPr/>
          </a:p>
        </p:txBody>
      </p:sp>
      <p:sp>
        <p:nvSpPr>
          <p:cNvPr id="755" name="Google Shape;755;p29">
            <a:extLst xmlns:a="http://schemas.openxmlformats.org/drawingml/2006/main">
              <a:ext uri="{FF2B5EF4-FFF2-40B4-BE49-F238E27FC236}">
                <a16:creationId xmlns:a16="http://schemas.microsoft.com/office/drawing/2014/main" id="{8F543750-AF16-49C8-BE43-07FA71051C19}"/>
              </a:ext>
            </a:extLst>
          </p:cNvPr>
          <p:cNvSpPr>
            <a:spLocks xmlns:a="http://schemas.openxmlformats.org/drawingml/2006/main" noGrp="1"/>
          </p:cNvSpPr>
          <p:nvPr/>
        </p:nvSpPr>
        <p:spPr>
          <a:xfrm xmlns:a="http://schemas.openxmlformats.org/drawingml/2006/main">
            <a:off x="1371600" y="39338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Bias correction and ensembles</a:t>
            </a:r>
            <a:endParaRPr/>
          </a:p>
        </p:txBody>
      </p:sp>
      <p:sp>
        <p:nvSpPr>
          <p:cNvPr id="756" name="Google Shape;756;p29">
            <a:extLst xmlns:a="http://schemas.openxmlformats.org/drawingml/2006/main">
              <a:ext uri="{FF2B5EF4-FFF2-40B4-BE49-F238E27FC236}">
                <a16:creationId xmlns:a16="http://schemas.microsoft.com/office/drawing/2014/main" id="{4A776B8B-A89B-4488-9590-3307A2AC90D2}"/>
              </a:ext>
            </a:extLst>
          </p:cNvPr>
          <p:cNvSpPr>
            <a:spLocks xmlns:a="http://schemas.openxmlformats.org/drawingml/2006/main" noGrp="1"/>
          </p:cNvSpPr>
          <p:nvPr/>
        </p:nvSpPr>
        <p:spPr>
          <a:xfrm xmlns:a="http://schemas.openxmlformats.org/drawingml/2006/main">
            <a:off x="781050" y="4591050"/>
            <a:ext cx="4191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00A88F"/>
              </a:buClr>
              <a:buSzPts val="1200"/>
              <a:buFont typeface="Lato"/>
              <a:buNone/>
            </a:pPr>
            <a:r>
              <a:rPr sz="1200" b="1" i="0">
                <a:solidFill>
                  <a:srgbClr val="00A88F"/>
                </a:solidFill>
                <a:latin typeface="Lato"/>
                <a:ea typeface="Lato"/>
                <a:cs typeface="Lato"/>
              </a:rPr>
              <a:t>03</a:t>
            </a:r>
            <a:endParaRPr/>
          </a:p>
        </p:txBody>
      </p:sp>
      <p:sp>
        <p:nvSpPr>
          <p:cNvPr id="757" name="Google Shape;757;p29">
            <a:extLst xmlns:a="http://schemas.openxmlformats.org/drawingml/2006/main">
              <a:ext uri="{FF2B5EF4-FFF2-40B4-BE49-F238E27FC236}">
                <a16:creationId xmlns:a16="http://schemas.microsoft.com/office/drawing/2014/main" id="{41FDF28B-254A-424B-91E7-C6D555E8EC90}"/>
              </a:ext>
            </a:extLst>
          </p:cNvPr>
          <p:cNvSpPr>
            <a:spLocks xmlns:a="http://schemas.openxmlformats.org/drawingml/2006/main" noGrp="1"/>
          </p:cNvSpPr>
          <p:nvPr/>
        </p:nvSpPr>
        <p:spPr>
          <a:xfrm xmlns:a="http://schemas.openxmlformats.org/drawingml/2006/main">
            <a:off x="1371600" y="4543425"/>
            <a:ext cx="5334000" cy="3238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FFFFF"/>
              </a:buClr>
              <a:buSzPts val="1425"/>
              <a:buFont typeface="Lato"/>
              <a:buNone/>
            </a:pPr>
            <a:r>
              <a:rPr sz="1425" b="1" i="0">
                <a:solidFill>
                  <a:srgbClr val="FFFFFF"/>
                </a:solidFill>
                <a:latin typeface="Lato"/>
                <a:ea typeface="Lato"/>
                <a:cs typeface="Lato"/>
              </a:rPr>
              <a:t>CAVA tools and entry points</a:t>
            </a:r>
            <a:endParaRPr/>
          </a:p>
        </p:txBody>
      </p:sp>
      <p:sp>
        <p:nvSpPr>
          <p:cNvPr id="758" name="Google Shape;758;p29">
            <a:extLst xmlns:a="http://schemas.openxmlformats.org/drawingml/2006/main">
              <a:ext uri="{FF2B5EF4-FFF2-40B4-BE49-F238E27FC236}">
                <a16:creationId xmlns:a16="http://schemas.microsoft.com/office/drawing/2014/main" id="{FDC344BD-1B04-4EA9-B256-E9134B0E2876}"/>
              </a:ext>
            </a:extLst>
          </p:cNvPr>
          <p:cNvSpPr>
            <a:spLocks xmlns:a="http://schemas.openxmlformats.org/drawingml/2006/main" noGrp="1"/>
          </p:cNvSpPr>
          <p:nvPr/>
        </p:nvSpPr>
        <p:spPr>
          <a:xfrm xmlns:a="http://schemas.openxmlformats.org/drawingml/2006/main">
            <a:off x="781050" y="5715000"/>
            <a:ext cx="4953000" cy="9525"/>
          </a:xfrm>
          <a:prstGeom xmlns:a="http://schemas.openxmlformats.org/drawingml/2006/main" prst="rect">
            <a:avLst/>
          </a:prstGeom>
          <a:solidFill xmlns:a="http://schemas.openxmlformats.org/drawingml/2006/main">
            <a:srgbClr val="647C8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spcBef>
                <a:spcPts val="0"/>
              </a:spcBef>
              <a:spcAft>
                <a:spcPts val="0"/>
              </a:spcAft>
              <a:buNone/>
            </a:pPr>
            <a:r>
              <a:t/>
            </a:r>
            <a:endParaRPr sz="1800">
              <a:solidFill>
                <a:schemeClr val="dk1"/>
              </a:solidFill>
              <a:latin typeface="Calibri"/>
              <a:ea typeface="Calibri"/>
              <a:cs typeface="Calibri"/>
            </a:endParaRPr>
          </a:p>
        </p:txBody>
      </p:sp>
      <p:sp>
        <p:nvSpPr>
          <p:cNvPr id="759" name="Google Shape;759;p29">
            <a:extLst xmlns:a="http://schemas.openxmlformats.org/drawingml/2006/main">
              <a:ext uri="{FF2B5EF4-FFF2-40B4-BE49-F238E27FC236}">
                <a16:creationId xmlns:a16="http://schemas.microsoft.com/office/drawing/2014/main" id="{DB7607D2-6B85-422F-AF35-BE77348730A5}"/>
              </a:ext>
            </a:extLst>
          </p:cNvPr>
          <p:cNvSpPr>
            <a:spLocks xmlns:a="http://schemas.openxmlformats.org/drawingml/2006/main" noGrp="1"/>
          </p:cNvSpPr>
          <p:nvPr/>
        </p:nvSpPr>
        <p:spPr>
          <a:xfrm xmlns:a="http://schemas.openxmlformats.org/drawingml/2006/main">
            <a:off x="781050" y="5905500"/>
            <a:ext cx="5238750" cy="238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5000"/>
              </a:lnSpc>
              <a:spcBef>
                <a:spcPts val="0"/>
              </a:spcBef>
              <a:spcAft>
                <a:spcPts val="0"/>
              </a:spcAft>
              <a:buClr>
                <a:srgbClr val="F2B632"/>
              </a:buClr>
              <a:buSzPts val="1125"/>
              <a:buFont typeface="Lato"/>
              <a:buNone/>
            </a:pPr>
            <a:r>
              <a:rPr sz="1125" b="1" i="0">
                <a:solidFill>
                  <a:srgbClr val="F2B632"/>
                </a:solidFill>
                <a:latin typeface="Lato"/>
                <a:ea typeface="Lato"/>
                <a:cs typeface="Lato"/>
              </a:rPr>
              <a:t>Next: Module 2 · Using the CAVA Platform</a:t>
            </a:r>
            <a:endParaRPr/>
          </a:p>
        </p:txBody>
      </p:sp>
    </p:spTree>
    <p:extLst>
      <p:ext uri="{BB962C8B-B14F-4D97-AF65-F5344CB8AC3E}">
        <p14:creationId xmlns:p14="http://schemas.microsoft.com/office/powerpoint/2010/main" val="17194154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2026-09-23T07:16:59.8410000Z</dcterms:created>
  <dcterms:modified xsi:type="dcterms:W3CDTF">2026-09-23T07:16:59.8410000Z</dcterms:modified>
</coreProperties>
</file>