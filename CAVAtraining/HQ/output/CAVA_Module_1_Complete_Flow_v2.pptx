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db608a51f54d8a" /><Relationship Type="http://schemas.openxmlformats.org/officeDocument/2006/relationships/extended-properties" Target="/docProps/app.xml" Id="R35edb81a665e4c0c" /><Relationship Type="http://schemas.openxmlformats.org/officeDocument/2006/relationships/officeDocument" Target="/ppt/presentation.xml" Id="R8bf7eae8465846e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77fc1d8455142db"/>
  </p:sldMasterIdLst>
  <p:notesMasterIdLst>
    <p:notesMasterId xmlns:r="http://schemas.openxmlformats.org/officeDocument/2006/relationships" r:id="R4b68a7cd4e294579"/>
  </p:notesMasterIdLst>
  <p:sldIdLst>
    <p:sldId xmlns:r="http://schemas.openxmlformats.org/officeDocument/2006/relationships" id="256" r:id="Rbda1671a0dcd42ef"/>
    <p:sldId xmlns:r="http://schemas.openxmlformats.org/officeDocument/2006/relationships" id="257" r:id="R16e76b902ed44027"/>
    <p:sldId xmlns:r="http://schemas.openxmlformats.org/officeDocument/2006/relationships" id="258" r:id="R96fe12c56c1a40d7"/>
    <p:sldId xmlns:r="http://schemas.openxmlformats.org/officeDocument/2006/relationships" id="259" r:id="Rc5226d77dfd24a3f"/>
    <p:sldId xmlns:r="http://schemas.openxmlformats.org/officeDocument/2006/relationships" id="260" r:id="Rd75577a34bf04320"/>
    <p:sldId xmlns:r="http://schemas.openxmlformats.org/officeDocument/2006/relationships" id="261" r:id="R10b91c4179b642f9"/>
    <p:sldId xmlns:r="http://schemas.openxmlformats.org/officeDocument/2006/relationships" id="262" r:id="R75608ccd489b4bfe"/>
    <p:sldId xmlns:r="http://schemas.openxmlformats.org/officeDocument/2006/relationships" id="263" r:id="R17a88b5fe7ea4cd4"/>
    <p:sldId xmlns:r="http://schemas.openxmlformats.org/officeDocument/2006/relationships" id="264" r:id="R3d87d4718aff4e46"/>
    <p:sldId xmlns:r="http://schemas.openxmlformats.org/officeDocument/2006/relationships" id="265" r:id="R1c5abf5024e446df"/>
    <p:sldId xmlns:r="http://schemas.openxmlformats.org/officeDocument/2006/relationships" id="266" r:id="R2a5d229721fb4cef"/>
    <p:sldId xmlns:r="http://schemas.openxmlformats.org/officeDocument/2006/relationships" id="267" r:id="Ra275963fedf841fe"/>
    <p:sldId xmlns:r="http://schemas.openxmlformats.org/officeDocument/2006/relationships" id="268" r:id="R184591700f984931"/>
    <p:sldId xmlns:r="http://schemas.openxmlformats.org/officeDocument/2006/relationships" id="269" r:id="Rf84e542f6f7a4674"/>
    <p:sldId xmlns:r="http://schemas.openxmlformats.org/officeDocument/2006/relationships" id="270" r:id="R1b4ecac3e14a4da6"/>
    <p:sldId xmlns:r="http://schemas.openxmlformats.org/officeDocument/2006/relationships" id="271" r:id="Rd22101c2a93c4ea4"/>
    <p:sldId xmlns:r="http://schemas.openxmlformats.org/officeDocument/2006/relationships" id="272" r:id="R15075a7a521547df"/>
    <p:sldId xmlns:r="http://schemas.openxmlformats.org/officeDocument/2006/relationships" id="273" r:id="R1d67581fe439420c"/>
    <p:sldId xmlns:r="http://schemas.openxmlformats.org/officeDocument/2006/relationships" id="274" r:id="R1b2bae3588e0423c"/>
    <p:sldId xmlns:r="http://schemas.openxmlformats.org/officeDocument/2006/relationships" id="275" r:id="R6fe7db7b45de4417"/>
    <p:sldId xmlns:r="http://schemas.openxmlformats.org/officeDocument/2006/relationships" id="276" r:id="R0351b51ea0ff4bb5"/>
    <p:sldId xmlns:r="http://schemas.openxmlformats.org/officeDocument/2006/relationships" id="277" r:id="R640b6aea72914a23"/>
    <p:sldId xmlns:r="http://schemas.openxmlformats.org/officeDocument/2006/relationships" id="278" r:id="R2f40127ec31c455c"/>
    <p:sldId xmlns:r="http://schemas.openxmlformats.org/officeDocument/2006/relationships" id="279" r:id="Rfcf513fa29894a2f"/>
    <p:sldId xmlns:r="http://schemas.openxmlformats.org/officeDocument/2006/relationships" id="280" r:id="R56e027010f5249da"/>
    <p:sldId xmlns:r="http://schemas.openxmlformats.org/officeDocument/2006/relationships" id="281" r:id="R90242af8f10e40c6"/>
    <p:sldId xmlns:r="http://schemas.openxmlformats.org/officeDocument/2006/relationships" id="282" r:id="R777088215552420f"/>
    <p:sldId xmlns:r="http://schemas.openxmlformats.org/officeDocument/2006/relationships" id="283" r:id="R579f67185a304cc2"/>
    <p:sldId xmlns:r="http://schemas.openxmlformats.org/officeDocument/2006/relationships" id="284" r:id="R4e1e4872631f46e6"/>
  </p:sldIdLst>
  <p:sldSz cx="12192000" cy="6858000"/>
  <p:notesSz cx="6858000" cy="9144000"/>
  <p:embeddedFontLst>
    <p:embeddedFont>
      <p:font typeface="Lato"/>
      <p:regular xmlns:r="http://schemas.openxmlformats.org/officeDocument/2006/relationships" r:id="Ref0a7f060fad4e81"/>
      <p:bold xmlns:r="http://schemas.openxmlformats.org/officeDocument/2006/relationships" r:id="R18cc8aad8bf94675"/>
      <p:italic xmlns:r="http://schemas.openxmlformats.org/officeDocument/2006/relationships" r:id="R10fc7dff63754ae0"/>
      <p:boldItalic xmlns:r="http://schemas.openxmlformats.org/officeDocument/2006/relationships" r:id="R6756943a3b144ca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f5f18beb0449d7" /><Relationship Type="http://schemas.openxmlformats.org/officeDocument/2006/relationships/slideMaster" Target="/ppt/slideMasters/slideMaster1.xml" Id="Rf77fc1d8455142db" /><Relationship Type="http://schemas.openxmlformats.org/officeDocument/2006/relationships/notesMaster" Target="/ppt/notesMasters/notesMaster1.xml" Id="R4b68a7cd4e294579" /><Relationship Type="http://schemas.openxmlformats.org/officeDocument/2006/relationships/presProps" Target="/ppt/presProps.xml" Id="R4cfd6104a7734a31" /><Relationship Type="http://schemas.openxmlformats.org/officeDocument/2006/relationships/tableStyles" Target="/ppt/tableStyles.xml" Id="Rcbd55ea7320b46ac" /><Relationship Type="http://schemas.openxmlformats.org/officeDocument/2006/relationships/font" Target="/ppt/fonts/font.dat" Id="Ref0a7f060fad4e81" /><Relationship Type="http://schemas.openxmlformats.org/officeDocument/2006/relationships/font" Target="/ppt/fonts/font2.dat" Id="R18cc8aad8bf94675" /><Relationship Type="http://schemas.openxmlformats.org/officeDocument/2006/relationships/font" Target="/ppt/fonts/font3.dat" Id="R10fc7dff63754ae0" /><Relationship Type="http://schemas.openxmlformats.org/officeDocument/2006/relationships/font" Target="/ppt/fonts/font4.dat" Id="R6756943a3b144caf" /><Relationship Type="http://schemas.openxmlformats.org/officeDocument/2006/relationships/slide" Target="/ppt/slides/slide1.xml" Id="Rbda1671a0dcd42ef" /><Relationship Type="http://schemas.openxmlformats.org/officeDocument/2006/relationships/slide" Target="/ppt/slides/slide2.xml" Id="R16e76b902ed44027" /><Relationship Type="http://schemas.openxmlformats.org/officeDocument/2006/relationships/slide" Target="/ppt/slides/slide3.xml" Id="R96fe12c56c1a40d7" /><Relationship Type="http://schemas.openxmlformats.org/officeDocument/2006/relationships/slide" Target="/ppt/slides/slide4.xml" Id="Rc5226d77dfd24a3f" /><Relationship Type="http://schemas.openxmlformats.org/officeDocument/2006/relationships/slide" Target="/ppt/slides/slide5.xml" Id="Rd75577a34bf04320" /><Relationship Type="http://schemas.openxmlformats.org/officeDocument/2006/relationships/slide" Target="/ppt/slides/slide6.xml" Id="R10b91c4179b642f9" /><Relationship Type="http://schemas.openxmlformats.org/officeDocument/2006/relationships/slide" Target="/ppt/slides/slide7.xml" Id="R75608ccd489b4bfe" /><Relationship Type="http://schemas.openxmlformats.org/officeDocument/2006/relationships/slide" Target="/ppt/slides/slide8.xml" Id="R17a88b5fe7ea4cd4" /><Relationship Type="http://schemas.openxmlformats.org/officeDocument/2006/relationships/slide" Target="/ppt/slides/slide9.xml" Id="R3d87d4718aff4e46" /><Relationship Type="http://schemas.openxmlformats.org/officeDocument/2006/relationships/slide" Target="/ppt/slides/slide10.xml" Id="R1c5abf5024e446df" /><Relationship Type="http://schemas.openxmlformats.org/officeDocument/2006/relationships/slide" Target="/ppt/slides/slide11.xml" Id="R2a5d229721fb4cef" /><Relationship Type="http://schemas.openxmlformats.org/officeDocument/2006/relationships/slide" Target="/ppt/slides/slide12.xml" Id="Ra275963fedf841fe" /><Relationship Type="http://schemas.openxmlformats.org/officeDocument/2006/relationships/slide" Target="/ppt/slides/slide13.xml" Id="R184591700f984931" /><Relationship Type="http://schemas.openxmlformats.org/officeDocument/2006/relationships/slide" Target="/ppt/slides/slide14.xml" Id="Rf84e542f6f7a4674" /><Relationship Type="http://schemas.openxmlformats.org/officeDocument/2006/relationships/slide" Target="/ppt/slides/slide15.xml" Id="R1b4ecac3e14a4da6" /><Relationship Type="http://schemas.openxmlformats.org/officeDocument/2006/relationships/slide" Target="/ppt/slides/slide16.xml" Id="Rd22101c2a93c4ea4" /><Relationship Type="http://schemas.openxmlformats.org/officeDocument/2006/relationships/slide" Target="/ppt/slides/slide17.xml" Id="R15075a7a521547df" /><Relationship Type="http://schemas.openxmlformats.org/officeDocument/2006/relationships/slide" Target="/ppt/slides/slide18.xml" Id="R1d67581fe439420c" /><Relationship Type="http://schemas.openxmlformats.org/officeDocument/2006/relationships/slide" Target="/ppt/slides/slide19.xml" Id="R1b2bae3588e0423c" /><Relationship Type="http://schemas.openxmlformats.org/officeDocument/2006/relationships/slide" Target="/ppt/slides/slide20.xml" Id="R6fe7db7b45de4417" /><Relationship Type="http://schemas.openxmlformats.org/officeDocument/2006/relationships/slide" Target="/ppt/slides/slide21.xml" Id="R0351b51ea0ff4bb5" /><Relationship Type="http://schemas.openxmlformats.org/officeDocument/2006/relationships/slide" Target="/ppt/slides/slide22.xml" Id="R640b6aea72914a23" /><Relationship Type="http://schemas.openxmlformats.org/officeDocument/2006/relationships/slide" Target="/ppt/slides/slide23.xml" Id="R2f40127ec31c455c" /><Relationship Type="http://schemas.openxmlformats.org/officeDocument/2006/relationships/slide" Target="/ppt/slides/slide24.xml" Id="Rfcf513fa29894a2f" /><Relationship Type="http://schemas.openxmlformats.org/officeDocument/2006/relationships/slide" Target="/ppt/slides/slide25.xml" Id="R56e027010f5249da" /><Relationship Type="http://schemas.openxmlformats.org/officeDocument/2006/relationships/slide" Target="/ppt/slides/slide26.xml" Id="R90242af8f10e40c6" /><Relationship Type="http://schemas.openxmlformats.org/officeDocument/2006/relationships/slide" Target="/ppt/slides/slide27.xml" Id="R777088215552420f" /><Relationship Type="http://schemas.openxmlformats.org/officeDocument/2006/relationships/slide" Target="/ppt/slides/slide28.xml" Id="R579f67185a304cc2" /><Relationship Type="http://schemas.openxmlformats.org/officeDocument/2006/relationships/slide" Target="/ppt/slides/slide29.xml" Id="R4e1e4872631f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db4e4b222149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c6359ffd6e45f7" /><Relationship Type="http://schemas.openxmlformats.org/officeDocument/2006/relationships/notesMaster" Target="/ppt/notesMasters/notesMaster1.xml" Id="Rc37d4ddde21643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4b4c64f59b4c66" /><Relationship Type="http://schemas.openxmlformats.org/officeDocument/2006/relationships/notesMaster" Target="/ppt/notesMasters/notesMaster1.xml" Id="Ra4d6274a02d643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f34e7dfe5e48de" /><Relationship Type="http://schemas.openxmlformats.org/officeDocument/2006/relationships/notesMaster" Target="/ppt/notesMasters/notesMaster1.xml" Id="R5d285d34eb284b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3dd5434b1242e2" /><Relationship Type="http://schemas.openxmlformats.org/officeDocument/2006/relationships/notesMaster" Target="/ppt/notesMasters/notesMaster1.xml" Id="Rafc0f072106a4a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03706b1db0406c" /><Relationship Type="http://schemas.openxmlformats.org/officeDocument/2006/relationships/notesMaster" Target="/ppt/notesMasters/notesMaster1.xml" Id="Rce835233376b4a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30407ffed544a1" /><Relationship Type="http://schemas.openxmlformats.org/officeDocument/2006/relationships/notesMaster" Target="/ppt/notesMasters/notesMaster1.xml" Id="R67ff2ce036eb44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582277e3c84a09" /><Relationship Type="http://schemas.openxmlformats.org/officeDocument/2006/relationships/notesMaster" Target="/ppt/notesMasters/notesMaster1.xml" Id="Rc65267c8625a47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4643360bcd4490" /><Relationship Type="http://schemas.openxmlformats.org/officeDocument/2006/relationships/notesMaster" Target="/ppt/notesMasters/notesMaster1.xml" Id="Ra0d1549a003f40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a3f94de3a04462" /><Relationship Type="http://schemas.openxmlformats.org/officeDocument/2006/relationships/notesMaster" Target="/ppt/notesMasters/notesMaster1.xml" Id="R541cba89425342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159147cee9480c" /><Relationship Type="http://schemas.openxmlformats.org/officeDocument/2006/relationships/notesMaster" Target="/ppt/notesMasters/notesMaster1.xml" Id="R2e83981eb27a41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5c056c0e974fdd" /><Relationship Type="http://schemas.openxmlformats.org/officeDocument/2006/relationships/notesMaster" Target="/ppt/notesMasters/notesMaster1.xml" Id="R675bf29a574d4f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ef8e76b1444b23" /><Relationship Type="http://schemas.openxmlformats.org/officeDocument/2006/relationships/notesMaster" Target="/ppt/notesMasters/notesMaster1.xml" Id="Ra579bbd799004a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6a89445c5145dd" /><Relationship Type="http://schemas.openxmlformats.org/officeDocument/2006/relationships/notesMaster" Target="/ppt/notesMasters/notesMaster1.xml" Id="R9405e37e10084f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e8919ae4c44701" /><Relationship Type="http://schemas.openxmlformats.org/officeDocument/2006/relationships/notesMaster" Target="/ppt/notesMasters/notesMaster1.xml" Id="Rc8fab7b9ae474e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620e99eaf74994" /><Relationship Type="http://schemas.openxmlformats.org/officeDocument/2006/relationships/notesMaster" Target="/ppt/notesMasters/notesMaster1.xml" Id="R6f15e3b585e14d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07582b209e48a8" /><Relationship Type="http://schemas.openxmlformats.org/officeDocument/2006/relationships/notesMaster" Target="/ppt/notesMasters/notesMaster1.xml" Id="R1caf0c5f56ee4e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48281d43174784" /><Relationship Type="http://schemas.openxmlformats.org/officeDocument/2006/relationships/notesMaster" Target="/ppt/notesMasters/notesMaster1.xml" Id="R9c048798f9034d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28796c0b8b47a5" /><Relationship Type="http://schemas.openxmlformats.org/officeDocument/2006/relationships/notesMaster" Target="/ppt/notesMasters/notesMaster1.xml" Id="R6552d9ac52694e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4da949019f4564" /><Relationship Type="http://schemas.openxmlformats.org/officeDocument/2006/relationships/notesMaster" Target="/ppt/notesMasters/notesMaster1.xml" Id="Rdd5a3a97d8e74a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8ad44f176a4ce1" /><Relationship Type="http://schemas.openxmlformats.org/officeDocument/2006/relationships/notesMaster" Target="/ppt/notesMasters/notesMaster1.xml" Id="R0b6f277ac26541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463a64de424fb9" /><Relationship Type="http://schemas.openxmlformats.org/officeDocument/2006/relationships/notesMaster" Target="/ppt/notesMasters/notesMaster1.xml" Id="R06f19dfc1beb458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eaffd8d6c1405d" /><Relationship Type="http://schemas.openxmlformats.org/officeDocument/2006/relationships/notesMaster" Target="/ppt/notesMasters/notesMaster1.xml" Id="R8eecdab185f34a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31f0da6db24c4d" /><Relationship Type="http://schemas.openxmlformats.org/officeDocument/2006/relationships/notesMaster" Target="/ppt/notesMasters/notesMaster1.xml" Id="Re0659e6eb3da43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b87cfb2f17145e5" /><Relationship Type="http://schemas.openxmlformats.org/officeDocument/2006/relationships/notesMaster" Target="/ppt/notesMasters/notesMaster1.xml" Id="Rb7bda4e098ac40e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5b2d121d694e17" /><Relationship Type="http://schemas.openxmlformats.org/officeDocument/2006/relationships/notesMaster" Target="/ppt/notesMasters/notesMaster1.xml" Id="R4a2899adc719493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4a0113496bb42f6" /><Relationship Type="http://schemas.openxmlformats.org/officeDocument/2006/relationships/notesMaster" Target="/ppt/notesMasters/notesMaster1.xml" Id="Raf3a5f18943f4b0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3c0ed304c042dc" /><Relationship Type="http://schemas.openxmlformats.org/officeDocument/2006/relationships/notesMaster" Target="/ppt/notesMasters/notesMaster1.xml" Id="Rcae0ef1c7b38480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8d9d0d096a45d2" /><Relationship Type="http://schemas.openxmlformats.org/officeDocument/2006/relationships/notesMaster" Target="/ppt/notesMasters/notesMaster1.xml" Id="Rf3e35c0f3ad14e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7c7f017b934a65" /><Relationship Type="http://schemas.openxmlformats.org/officeDocument/2006/relationships/notesMaster" Target="/ppt/notesMasters/notesMaster1.xml" Id="R7c0a14a273f743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This section covers observations, reanalysis, projections, model and scenario choices, regional modelling, data complexity, bias, ensembles and indicators.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Explain that station and satellite observations remain essential, while reanalysis combines observations with a model to provide spatially complete estimates. ERA5 covers the global atmosphere from 1940 onward. Sources: https://climate.copernicus.eu/what-copernicus-climate-change-services-era5-reanalysis-dataset and https://climate.copernicus.eu/reanalysis-qas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7 minutes. Draft for Hideki to confirm. Use an intuitive distinction: a forecast depends strongly on the current atmospheric state, while a long-term climate projection examines statistics under assumptions about future forcing. IPCC background: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Introduce CMIP5/RCP and CMIP6/SSP terminology only briefly. ScenarioMIP coordinates simulations driven by alternative plausible futures of emissions and land use. Source: https://wcrp-cmip.org/mips/scenariomip/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Draft for Hideki to confirm. CORDEX-CORE provides a coordinated ensemble of high-resolution regional climate information, generally around 25 km, across major inhabited regions. Source: https://cordex.org/experiment-guidelines/cordex-cmip5/cordex-core/cordex-core-simulations/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Build the dimensions one by one. Emphasize that the challenge is not only file size. It is also consistent selection, calendars, units, spatial grids and repeatability. CAVAanalytics documentation describes these preparation burdens: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6 minutes. Explain that bias is assessed by comparing a model’s historical simulation with an appropriate historical reference such as observations or reanalysis. The chart is conceptual and contains no real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Avoid presenting bias correction as a universal solution. CAVA provides access to pre-computed bias-corrected CORDEX-CORE datasets and supports bias-correction workflows where relevant. Sources: https://github.com/un-fao/cavapy and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Ask participants to replace the question ‘Which model is correct?’ with ‘What range of plausible outcomes does the ensemble show?’ IPCC describes ensembles as a way to sample possible outcomes and communicate uncertainty. Source: https://www.ipcc.ch/apps/njlite/srex/njlite_download.php?id=6946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This is a teaching example, not a universal definition of heat hazard. CAVAanalytics supports threshold and consecutive-day indicators, including days above 35°C and heatwave-style definitions. Source: https://un-fao.github.io/CAVAanalytics/reference/observations.html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The science explains why dataset choices matter. This section focuses on where the data are found and the operational work required before analysis.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Reveal CAVA only after establishing the current workflow. CAVA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established the user problem and CAVA's role. Ezequiel now explains the shared data backbone and the interfaces that operationalize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331a8eb99b4459"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3ddd8ab154401c" /><Relationship Type="http://schemas.openxmlformats.org/officeDocument/2006/relationships/slideLayout" Target="/ppt/slideLayouts/slideLayout1.xml" Id="R8a37a01640d4415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a37a01640d4415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4366f82f104152" /><Relationship Type="http://schemas.openxmlformats.org/officeDocument/2006/relationships/image" Target="/ppt/media/image.png" Id="R25cd61e695a14859" /><Relationship Type="http://schemas.openxmlformats.org/officeDocument/2006/relationships/notesSlide" Target="/ppt/notesSlides/notesSlide1.xml" Id="R0410f02b3cfe47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4a5612b26a4fa8" /><Relationship Type="http://schemas.openxmlformats.org/officeDocument/2006/relationships/notesSlide" Target="/ppt/notesSlides/notesSlide2.xml" Id="Rb78c21f227244a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5ab9f404454a1f" /><Relationship Type="http://schemas.openxmlformats.org/officeDocument/2006/relationships/notesSlide" Target="/ppt/notesSlides/notesSlide3.xml" Id="R613aef656d054e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f8a81be95d4956" /><Relationship Type="http://schemas.openxmlformats.org/officeDocument/2006/relationships/notesSlide" Target="/ppt/notesSlides/notesSlide4.xml" Id="Ra43e4ce6c83941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95260b677d4b43" /><Relationship Type="http://schemas.openxmlformats.org/officeDocument/2006/relationships/notesSlide" Target="/ppt/notesSlides/notesSlide5.xml" Id="Radeaacf5098046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1ba2982303439f" /><Relationship Type="http://schemas.openxmlformats.org/officeDocument/2006/relationships/notesSlide" Target="/ppt/notesSlides/notesSlide6.xml" Id="Re7358ee0cbad4a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1380c81b464de1" /><Relationship Type="http://schemas.openxmlformats.org/officeDocument/2006/relationships/notesSlide" Target="/ppt/notesSlides/notesSlide7.xml" Id="Rc1d13d5e3b5e42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9ef3d5369044cb" /><Relationship Type="http://schemas.openxmlformats.org/officeDocument/2006/relationships/notesSlide" Target="/ppt/notesSlides/notesSlide8.xml" Id="Rcb64130bd2f041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b236caa5174366" /><Relationship Type="http://schemas.openxmlformats.org/officeDocument/2006/relationships/notesSlide" Target="/ppt/notesSlides/notesSlide9.xml" Id="R04039ad0795d4a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6f935a49bf41c7" /><Relationship Type="http://schemas.openxmlformats.org/officeDocument/2006/relationships/notesSlide" Target="/ppt/notesSlides/notesSlide10.xml" Id="R245799f350e84c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eb2a2ab7924669" /><Relationship Type="http://schemas.openxmlformats.org/officeDocument/2006/relationships/notesSlide" Target="/ppt/notesSlides/notesSlide11.xml" Id="R81c74a33509046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29f0a49e2f498c" /><Relationship Type="http://schemas.openxmlformats.org/officeDocument/2006/relationships/notesSlide" Target="/ppt/notesSlides/notesSlide12.xml" Id="R0af39cad87bf47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7b116c3570435a" /><Relationship Type="http://schemas.openxmlformats.org/officeDocument/2006/relationships/notesSlide" Target="/ppt/notesSlides/notesSlide13.xml" Id="R44c849201ad74f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8d46cb83ea424a" /><Relationship Type="http://schemas.openxmlformats.org/officeDocument/2006/relationships/notesSlide" Target="/ppt/notesSlides/notesSlide14.xml" Id="R0848a699cd674b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7d3836cdbc04b36" /><Relationship Type="http://schemas.openxmlformats.org/officeDocument/2006/relationships/notesSlide" Target="/ppt/notesSlides/notesSlide15.xml" Id="R1e76b488a0954a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80401e2ed4d43d3" /><Relationship Type="http://schemas.openxmlformats.org/officeDocument/2006/relationships/notesSlide" Target="/ppt/notesSlides/notesSlide16.xml" Id="Rc0df999e28854f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9ef9e6ee6b74409" /><Relationship Type="http://schemas.openxmlformats.org/officeDocument/2006/relationships/notesSlide" Target="/ppt/notesSlides/notesSlide17.xml" Id="Rd0a598b593ae4e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e34ee3c68af4051" /><Relationship Type="http://schemas.openxmlformats.org/officeDocument/2006/relationships/notesSlide" Target="/ppt/notesSlides/notesSlide18.xml" Id="Ra78e3c221e5d41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1c564790ba846d3" /><Relationship Type="http://schemas.openxmlformats.org/officeDocument/2006/relationships/notesSlide" Target="/ppt/notesSlides/notesSlide19.xml" Id="R43d451e544f34e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ef93f09bdf4376" /><Relationship Type="http://schemas.openxmlformats.org/officeDocument/2006/relationships/notesSlide" Target="/ppt/notesSlides/notesSlide20.xml" Id="R276e3f5c99fb4d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75d667b9f804a96" /><Relationship Type="http://schemas.openxmlformats.org/officeDocument/2006/relationships/notesSlide" Target="/ppt/notesSlides/notesSlide21.xml" Id="R5a21150a81a642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33f502482be4781" /><Relationship Type="http://schemas.openxmlformats.org/officeDocument/2006/relationships/notesSlide" Target="/ppt/notesSlides/notesSlide22.xml" Id="R3c28b899353e44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ad8497c9a144dd8" /><Relationship Type="http://schemas.openxmlformats.org/officeDocument/2006/relationships/notesSlide" Target="/ppt/notesSlides/notesSlide23.xml" Id="R2f09bb1e291d479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06ec5224c884a7c" /><Relationship Type="http://schemas.openxmlformats.org/officeDocument/2006/relationships/image" Target="/ppt/media/image.png" Id="Re45e1af4dfb64c19" /><Relationship Type="http://schemas.openxmlformats.org/officeDocument/2006/relationships/notesSlide" Target="/ppt/notesSlides/notesSlide24.xml" Id="R515036df4cc0448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dd20f0720f44a7a" /><Relationship Type="http://schemas.openxmlformats.org/officeDocument/2006/relationships/image" Target="/ppt/media/image2.png" Id="Rdf04fc9a018a48d3" /><Relationship Type="http://schemas.openxmlformats.org/officeDocument/2006/relationships/notesSlide" Target="/ppt/notesSlides/notesSlide25.xml" Id="R7398a1ed70ab496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15dec4dec8b4aeb" /><Relationship Type="http://schemas.openxmlformats.org/officeDocument/2006/relationships/notesSlide" Target="/ppt/notesSlides/notesSlide26.xml" Id="R6752f86184b3486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2bcfaf0e7cb4856" /><Relationship Type="http://schemas.openxmlformats.org/officeDocument/2006/relationships/notesSlide" Target="/ppt/notesSlides/notesSlide27.xml" Id="R3400ef3b3a1144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0cece71c5fa4374" /><Relationship Type="http://schemas.openxmlformats.org/officeDocument/2006/relationships/notesSlide" Target="/ppt/notesSlides/notesSlide28.xml" Id="Rd6d3ad4a146845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2a4e04e94074504" /><Relationship Type="http://schemas.openxmlformats.org/officeDocument/2006/relationships/notesSlide" Target="/ppt/notesSlides/notesSlide29.xml" Id="R0bbde96315764c1e"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25cd61e695a14859">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AEE8F86A-4215-4B95-99AC-0047686585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9255C210-7A0E-4508-97F6-22E2CEA01A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BAE02303-1346-4892-B908-75693BE236C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2EEA7C91-B2E6-4B46-BDA5-B1A138599ED4}"/>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B1210463-3FA1-4D60-946F-4314AAF6FC35}"/>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4FFD2A84-DBAA-448C-915D-121EC340C8BF}"/>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7E0F3071-D13F-4901-A98C-E3801CB0886A}"/>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54FB30FB-348C-4DC6-8963-6A62781706A4}"/>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712DCE3-F799-4564-8BD5-6F7A903392C8}"/>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0E66F8EF-86DC-446E-85E7-B65EC3C93C8F}"/>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F0001FEE-04B9-449A-9AAA-7CEA02A1D853}"/>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DC991DB6-6087-4B6F-BE32-5FE603DCE942}"/>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3DCE8AF6-2F4E-41FA-8549-EA8A983A4F54}"/>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391529960"/>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D44C19E1-D974-45FC-8F96-E227B8DF389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16DCA9AA-2A6B-42C5-89AA-60CE0F6EE28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77E32578-0C3A-4F2B-8FB3-251CC9F74BA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B04A3DAA-8262-4F5C-9660-6BBA937B3DD0}"/>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A74ECF94-07BA-46C3-AC08-17FA0ACC2CD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32C6C2A1-44F9-4696-927E-C34D2B2EFF5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7C64D5C8-9282-44D5-9F0F-09E3DBA5CFA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AC110800-DD08-41C3-A58E-3964EF16B0C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D89FB38F-C64F-4DD0-9548-76ACC1487D56}"/>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DD8B2309-FBA2-445D-8D16-95946FC3BDB5}"/>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0CE94962-0024-44A3-B843-22B9B85871E6}"/>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F29E1C43-AC05-4F04-8EE1-0082BB2B4099}"/>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B2A981BA-3225-4F53-85E3-A12D1A2947FD}"/>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215FACB3-747C-46BA-B740-210C87EBACA6}"/>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EB79BE76-AFC5-487B-8470-372EE6F30D4A}"/>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C3CBA69-037B-4FE9-A816-2398ABEFC60D}"/>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A7C07464-8297-4B05-8161-55AA89CCCF74}"/>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78920680-FDF2-4105-9A6C-B54A74F22855}"/>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3FDBED3C-81DB-4CC4-8704-14E526B73DD0}"/>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7B84506A-81FD-45BA-97DC-EA51D708C7A7}"/>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ABAD02CD-DD9A-410D-94BA-0B8738E70225}"/>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4D06900B-4420-4F21-96FA-8D6ABC5D8FAC}"/>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4B83C21D-CB4C-4F8D-A803-446AB9D010F6}"/>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1F618619-32FE-4C4B-8B1B-766D3724005E}"/>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B8C50EE4-C4BC-4FEE-881A-452E4C0315C8}"/>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9E2ADBCF-33D3-47F7-9B79-4E4D26174B36}"/>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50CBF0E7-2938-4299-BD5E-1DC21238E6C7}"/>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D355072D-8808-48CB-B3E6-5B6B1A615D7D}"/>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138173912"/>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89DE44EC-0477-4962-A228-C96871D1C7F8}"/>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2AC65A83-B642-46F9-AA97-70235CC5F1A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2CB842DA-7ED3-4E09-9324-3EA421A62A7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D2C6538B-3386-46E9-8C48-D8BFC8124D7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6411680E-EFD4-49CE-AC19-E98328211B1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F3FA1280-D649-465D-9B2E-7038396100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D70ED089-8DF1-4B73-BE17-384F5D648EB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62EDC190-A7FF-4BFB-9572-AFDA5EF4A4AF}"/>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3AEA6639-8B17-4226-A6C7-906E56AD3B06}"/>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48F369AD-E89C-44FF-AAD4-63B27718B8F0}"/>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86C801DF-FE21-4735-9BFC-8BDD2DCB9A6C}"/>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B0299840-021E-41E3-ABD7-ACE02703A6BB}"/>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7E861ACB-9208-4D45-892C-E7BFEF3614B5}"/>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A55119B7-345A-4592-B8ED-4F201DC0CDB0}"/>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A7624E67-F746-4438-92D2-F13A0CBF3B15}"/>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CEA7D648-F07E-4EC7-99A7-1AA36BA0BFBB}"/>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C7803280-65D6-4AA0-BCF5-617AAD0C3AAE}"/>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science behind the data</a:t>
            </a:r>
            <a:endParaRPr/>
          </a:p>
        </p:txBody>
      </p:sp>
      <p:sp>
        <p:nvSpPr>
          <p:cNvPr id="85" name="Google Shape;85;p5">
            <a:extLst xmlns:a="http://schemas.openxmlformats.org/drawingml/2006/main">
              <a:ext uri="{FF2B5EF4-FFF2-40B4-BE49-F238E27FC236}">
                <a16:creationId xmlns:a16="http://schemas.microsoft.com/office/drawing/2014/main" id="{10E6A0D8-F746-4A24-84C3-6C6E42E3A13D}"/>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D1A28780-8E06-4040-84FA-37A79F11603A}"/>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32F0593C-9EF7-42C2-9A7D-D029F9B7E0B4}"/>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4C190048-D507-4D93-B5E8-430F20BB279F}"/>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BD130CF8-CC0F-41DA-82B5-2298E83BBB07}"/>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4DE068DC-1E28-4665-A65E-44E464A4E465}"/>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6952C5E0-DB1D-4891-A665-988EF0948EC0}"/>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9BCD8FDD-21D1-4F76-BE65-3658E8E6736C}"/>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FCF935C1-5AAD-4166-B728-F1E3FC5EAB62}"/>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C269C6DD-575E-43F4-B276-1A13D48B6BAB}"/>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67F28EF9-CC99-40F7-8149-52C6D575F3C1}"/>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0CA87F74-ECB6-4C5E-9878-FAA8D2197839}"/>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881936B3-7264-47CE-AB67-45DF1EB50BF5}"/>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4FEF71FD-385F-40D8-AE38-D2058945607A}"/>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D8571A47-F587-4F2C-A2E7-9E299CE01B24}"/>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165F9B89-47CB-436C-86C9-0696AF7EED5D}"/>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02DFBB37-B7E3-478F-A8AE-F31AAD1A3BCE}"/>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E25986EC-011E-4CC4-94F6-7858119AF228}"/>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055338452"/>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58C40204-17A9-4997-A066-5B16CD9C2BFE}"/>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6DB69A66-9DCB-4B55-AF2B-C132C4B3599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482822C1-A1AC-47B4-98BB-90E377FC330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F0EFD52C-BD17-43A7-AFF0-FAD0CF400A8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D1C4B379-FE65-437E-A10F-9F512DFADB9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69A6AF3D-EF86-46A4-BB8E-800FA66CBED0}"/>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3F771336-2B79-4777-A9E7-CBA41B719EF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81C5E29F-3507-4B70-B356-336DFD838E1D}"/>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18BE3287-4A45-4E2A-B52B-38BB9EAC08A1}"/>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20871C5E-8B23-4C50-BF1E-AA339E442C2A}"/>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66BAC0BA-CAF5-4A3C-9D1A-0F795ECD9586}"/>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17A14EFC-3F21-4669-93E5-B6AE6EA7049D}"/>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76FC98BE-E470-46C2-BB77-933B83A12935}"/>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3F9618FD-1FB0-41AB-958B-644B8DFED081}"/>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81E04F1B-FF9A-440C-BCE2-8460688AB6CF}"/>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9014AA2F-A3E8-43F2-A2E2-C06CDD0789C3}"/>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3D980922-BA60-436A-A932-F4D6E131B545}"/>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09C894BC-CEE0-4413-9BEE-E5E0B3E1C033}"/>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F2724E3D-A410-4F9D-BE01-B4977139876F}"/>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10B84606-5FA0-4EAB-B4AA-81C900779189}"/>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B1550EF8-4B6B-4A9A-B66E-893555C8CC5A}"/>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1063620228"/>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567BEADB-96DA-42A6-A8D4-98006C9EF8D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0332EEC2-2F84-49BB-8649-3A24A76F1BCC}"/>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D01D6F39-3AD0-444F-A3D8-308FC75961D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9B6C93A0-28E3-4503-9CD5-0982318433F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CAF7ADF3-9744-46C5-8139-06DB1D08404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CCDBB438-24F3-47DC-B5D1-16FB5FC0989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ACC2B712-CADA-4F70-A2D9-200D909DD9B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7C8562F2-AE7D-4EEE-9627-FC22EF3819B0}"/>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7B8F21B7-846C-4200-9D61-25B2A88C346F}"/>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A34C1094-161B-491C-89A2-044085728365}"/>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971329D1-BE99-48D4-99B0-69A56F6ADD5F}"/>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EFE1BD86-42B5-419E-AD14-83B013F4122E}"/>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3E78C5B4-D893-463F-A895-6ECAED1659F7}"/>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54524AC0-3DEB-4A88-A6B0-6163E2D0FD43}"/>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BF568603-C56D-43B8-BE0E-CDDF219BCB89}"/>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0ECAD7CE-9498-4162-8ABF-AC664DF0E903}"/>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B9409663-766E-4B90-BD5B-830EFEF27E38}"/>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0B4F3663-8C69-40C6-9572-48C748405340}"/>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9E534657-3951-4666-9B6A-F2ACD2A2CDA9}"/>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FDFE8DB1-9E50-46EF-B277-B8D1B7D9474D}"/>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D4883415-DECF-4623-9E5B-4AF95DBE4FF6}"/>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981337F7-D66C-4571-B8C5-D446FAFFDC04}"/>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2C55D1B9-F401-44FF-9042-CF423B2C2588}"/>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835DBFFA-2DB5-4B64-B0EA-E83335C9962A}"/>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0C474449-4F0A-4C25-A013-6D5C7E5A6081}"/>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1B42AE2F-479D-4527-9AD7-7E92C29EB0F9}"/>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821A7E74-6B12-4DB4-9C8A-F29F83983C46}"/>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D0DB716D-C767-4F68-840D-2FE72CAD7345}"/>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9BA223D1-9673-4C52-8A79-9FCA901B78DD}"/>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E784B519-80CF-40AB-825D-3FDD66BF310D}"/>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9229CA1D-D47A-4537-B5D5-74E8B2929D25}"/>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45D940F5-963C-45E9-B4B4-F3865D1E7983}"/>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EFAC461F-CCDA-4641-AACD-CC1A2561BA5E}"/>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982C038B-9592-46DA-80DC-950E7BCBE7E7}"/>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the datasets differ and why model bias, ensembles and indicators matter.</a:t>
            </a:r>
            <a:endParaRPr/>
          </a:p>
        </p:txBody>
      </p:sp>
    </p:spTree>
    <p:extLst>
      <p:ext uri="{BB962C8B-B14F-4D97-AF65-F5344CB8AC3E}">
        <p14:creationId xmlns:p14="http://schemas.microsoft.com/office/powerpoint/2010/main" val="782207069"/>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96FCEEFC-334A-4B0E-9FE2-52A1862B6BBD}"/>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82A9FE14-4E2F-4A30-9964-3069B7E5A1D3}"/>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3C9575C1-5199-4E22-81E4-B39D80438435}"/>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The climate science behind the data</a:t>
            </a:r>
            <a:endParaRPr/>
          </a:p>
        </p:txBody>
      </p:sp>
      <p:sp>
        <p:nvSpPr>
          <p:cNvPr id="176" name="Google Shape;176;p8">
            <a:extLst xmlns:a="http://schemas.openxmlformats.org/drawingml/2006/main">
              <a:ext uri="{FF2B5EF4-FFF2-40B4-BE49-F238E27FC236}">
                <a16:creationId xmlns:a16="http://schemas.microsoft.com/office/drawing/2014/main" id="{E494D9FE-C7AD-4B80-8D2A-9963681E1125}"/>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what the datasets represent, how projections differ and why bias, ensembles and indicators matter.</a:t>
            </a:r>
            <a:endParaRPr/>
          </a:p>
        </p:txBody>
      </p:sp>
      <p:sp>
        <p:nvSpPr>
          <p:cNvPr id="177" name="Google Shape;177;p8">
            <a:extLst xmlns:a="http://schemas.openxmlformats.org/drawingml/2006/main">
              <a:ext uri="{FF2B5EF4-FFF2-40B4-BE49-F238E27FC236}">
                <a16:creationId xmlns:a16="http://schemas.microsoft.com/office/drawing/2014/main" id="{C4DEF6B6-F28F-4052-80E3-FEB5A5EB1143}"/>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B10E82BA-E643-4E93-B8BA-CD8E198B5E98}"/>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777C18C1-5B14-4611-98A2-5392EDE2EFA5}"/>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1795474933"/>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5" name="Google Shape;185;p9">
            <a:extLst xmlns:a="http://schemas.openxmlformats.org/drawingml/2006/main">
              <a:ext uri="{FF2B5EF4-FFF2-40B4-BE49-F238E27FC236}">
                <a16:creationId xmlns:a16="http://schemas.microsoft.com/office/drawing/2014/main" id="{7B6B586F-74CE-470B-A0BE-CEB3D610204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Three sources of climate information</a:t>
            </a:r>
            <a:endParaRPr/>
          </a:p>
        </p:txBody>
      </p:sp>
      <p:sp>
        <p:nvSpPr>
          <p:cNvPr id="186" name="Google Shape;186;p9">
            <a:extLst xmlns:a="http://schemas.openxmlformats.org/drawingml/2006/main">
              <a:ext uri="{FF2B5EF4-FFF2-40B4-BE49-F238E27FC236}">
                <a16:creationId xmlns:a16="http://schemas.microsoft.com/office/drawing/2014/main" id="{4D02A40F-45F7-4C4D-9AC0-D53DE329D78E}"/>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Historical reference information and future projections answer different questions</a:t>
            </a:r>
            <a:endParaRPr/>
          </a:p>
        </p:txBody>
      </p:sp>
      <p:sp>
        <p:nvSpPr>
          <p:cNvPr id="187" name="Google Shape;187;p9">
            <a:extLst xmlns:a="http://schemas.openxmlformats.org/drawingml/2006/main">
              <a:ext uri="{FF2B5EF4-FFF2-40B4-BE49-F238E27FC236}">
                <a16:creationId xmlns:a16="http://schemas.microsoft.com/office/drawing/2014/main" id="{C14F8EC3-C458-4874-901D-CE218496DFA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8" name="Google Shape;188;p9">
            <a:extLst xmlns:a="http://schemas.openxmlformats.org/drawingml/2006/main">
              <a:ext uri="{FF2B5EF4-FFF2-40B4-BE49-F238E27FC236}">
                <a16:creationId xmlns:a16="http://schemas.microsoft.com/office/drawing/2014/main" id="{17D90491-3D16-43C1-AE72-3CA8C6D5F59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9" name="Google Shape;189;p9">
            <a:extLst xmlns:a="http://schemas.openxmlformats.org/drawingml/2006/main">
              <a:ext uri="{FF2B5EF4-FFF2-40B4-BE49-F238E27FC236}">
                <a16:creationId xmlns:a16="http://schemas.microsoft.com/office/drawing/2014/main" id="{0671ABEF-4A7B-4925-9A80-5B1C87043293}"/>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0" name="Google Shape;190;p9">
            <a:extLst xmlns:a="http://schemas.openxmlformats.org/drawingml/2006/main">
              <a:ext uri="{FF2B5EF4-FFF2-40B4-BE49-F238E27FC236}">
                <a16:creationId xmlns:a16="http://schemas.microsoft.com/office/drawing/2014/main" id="{06E140D5-679B-4313-9075-968AFA10FB9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91" name="Google Shape;191;p9">
            <a:extLst xmlns:a="http://schemas.openxmlformats.org/drawingml/2006/main">
              <a:ext uri="{FF2B5EF4-FFF2-40B4-BE49-F238E27FC236}">
                <a16:creationId xmlns:a16="http://schemas.microsoft.com/office/drawing/2014/main" id="{9D68CE11-B85D-4BA1-A3EF-C8072FC5409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07</a:t>
            </a:r>
            <a:endParaRPr/>
          </a:p>
        </p:txBody>
      </p:sp>
      <p:sp>
        <p:nvSpPr>
          <p:cNvPr id="192" name="Google Shape;192;p9">
            <a:extLst xmlns:a="http://schemas.openxmlformats.org/drawingml/2006/main">
              <a:ext uri="{FF2B5EF4-FFF2-40B4-BE49-F238E27FC236}">
                <a16:creationId xmlns:a16="http://schemas.microsoft.com/office/drawing/2014/main" id="{F77BF247-BB24-4A18-A31A-6CF174AFCABC}"/>
              </a:ext>
            </a:extLst>
          </p:cNvPr>
          <p:cNvSpPr>
            <a:spLocks xmlns:a="http://schemas.openxmlformats.org/drawingml/2006/main" noGrp="1"/>
          </p:cNvSpPr>
          <p:nvPr/>
        </p:nvSpPr>
        <p:spPr>
          <a:xfrm xmlns:a="http://schemas.openxmlformats.org/drawingml/2006/main">
            <a:off x="685800" y="1790700"/>
            <a:ext cx="3429000" cy="32766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3" name="Google Shape;193;p9">
            <a:extLst xmlns:a="http://schemas.openxmlformats.org/drawingml/2006/main">
              <a:ext uri="{FF2B5EF4-FFF2-40B4-BE49-F238E27FC236}">
                <a16:creationId xmlns:a16="http://schemas.microsoft.com/office/drawing/2014/main" id="{14E7F865-79AF-4AB3-AC4C-EC08DB4EFE32}"/>
              </a:ext>
            </a:extLst>
          </p:cNvPr>
          <p:cNvSpPr>
            <a:spLocks xmlns:a="http://schemas.openxmlformats.org/drawingml/2006/main" noGrp="1"/>
          </p:cNvSpPr>
          <p:nvPr/>
        </p:nvSpPr>
        <p:spPr>
          <a:xfrm xmlns:a="http://schemas.openxmlformats.org/drawingml/2006/main">
            <a:off x="9144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4650"/>
              <a:buFont typeface="Lato"/>
              <a:buNone/>
            </a:pPr>
            <a:r>
              <a:rPr sz="4650" b="1" i="0">
                <a:solidFill>
                  <a:srgbClr val="00A88F"/>
                </a:solidFill>
                <a:latin typeface="Lato"/>
                <a:ea typeface="Lato"/>
                <a:cs typeface="Lato"/>
              </a:rPr>
              <a:t>01</a:t>
            </a:r>
            <a:endParaRPr/>
          </a:p>
        </p:txBody>
      </p:sp>
      <p:sp>
        <p:nvSpPr>
          <p:cNvPr id="194" name="Google Shape;194;p9">
            <a:extLst xmlns:a="http://schemas.openxmlformats.org/drawingml/2006/main">
              <a:ext uri="{FF2B5EF4-FFF2-40B4-BE49-F238E27FC236}">
                <a16:creationId xmlns:a16="http://schemas.microsoft.com/office/drawing/2014/main" id="{8C1839EE-763F-4ECE-B586-11761B3DA65B}"/>
              </a:ext>
            </a:extLst>
          </p:cNvPr>
          <p:cNvSpPr>
            <a:spLocks xmlns:a="http://schemas.openxmlformats.org/drawingml/2006/main" noGrp="1"/>
          </p:cNvSpPr>
          <p:nvPr/>
        </p:nvSpPr>
        <p:spPr>
          <a:xfrm xmlns:a="http://schemas.openxmlformats.org/drawingml/2006/main">
            <a:off x="9144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OBSERVATIONS</a:t>
            </a:r>
            <a:endParaRPr/>
          </a:p>
        </p:txBody>
      </p:sp>
      <p:sp>
        <p:nvSpPr>
          <p:cNvPr id="195" name="Google Shape;195;p9">
            <a:extLst xmlns:a="http://schemas.openxmlformats.org/drawingml/2006/main">
              <a:ext uri="{FF2B5EF4-FFF2-40B4-BE49-F238E27FC236}">
                <a16:creationId xmlns:a16="http://schemas.microsoft.com/office/drawing/2014/main" id="{7660BA03-0C98-4C4F-8819-7BB2E7088447}"/>
              </a:ext>
            </a:extLst>
          </p:cNvPr>
          <p:cNvSpPr>
            <a:spLocks xmlns:a="http://schemas.openxmlformats.org/drawingml/2006/main" noGrp="1"/>
          </p:cNvSpPr>
          <p:nvPr/>
        </p:nvSpPr>
        <p:spPr>
          <a:xfrm xmlns:a="http://schemas.openxmlformats.org/drawingml/2006/main">
            <a:off x="9144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43"/>
              <a:buFont typeface="Lato"/>
              <a:buNone/>
            </a:pPr>
            <a:r>
              <a:rPr sz="1544" b="1" i="0">
                <a:solidFill>
                  <a:srgbClr val="12304E"/>
                </a:solidFill>
                <a:latin typeface="Lato"/>
                <a:ea typeface="Lato"/>
                <a:cs typeface="Lato"/>
              </a:rPr>
              <a:t>Measurements from stations, satellites and other instruments</a:t>
            </a:r>
            <a:endParaRPr/>
          </a:p>
        </p:txBody>
      </p:sp>
      <p:sp>
        <p:nvSpPr>
          <p:cNvPr id="196" name="Google Shape;196;p9">
            <a:extLst xmlns:a="http://schemas.openxmlformats.org/drawingml/2006/main">
              <a:ext uri="{FF2B5EF4-FFF2-40B4-BE49-F238E27FC236}">
                <a16:creationId xmlns:a16="http://schemas.microsoft.com/office/drawing/2014/main" id="{0E430085-465F-45F5-94FF-5DF703223078}"/>
              </a:ext>
            </a:extLst>
          </p:cNvPr>
          <p:cNvSpPr>
            <a:spLocks xmlns:a="http://schemas.openxmlformats.org/drawingml/2006/main" noGrp="1"/>
          </p:cNvSpPr>
          <p:nvPr/>
        </p:nvSpPr>
        <p:spPr>
          <a:xfrm xmlns:a="http://schemas.openxmlformats.org/drawingml/2006/main">
            <a:off x="914400" y="4286250"/>
            <a:ext cx="70485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7" name="Google Shape;197;p9">
            <a:extLst xmlns:a="http://schemas.openxmlformats.org/drawingml/2006/main">
              <a:ext uri="{FF2B5EF4-FFF2-40B4-BE49-F238E27FC236}">
                <a16:creationId xmlns:a16="http://schemas.microsoft.com/office/drawing/2014/main" id="{B9EB63CF-1F0C-4519-BF36-7AF64383F572}"/>
              </a:ext>
            </a:extLst>
          </p:cNvPr>
          <p:cNvSpPr>
            <a:spLocks xmlns:a="http://schemas.openxmlformats.org/drawingml/2006/main" noGrp="1"/>
          </p:cNvSpPr>
          <p:nvPr/>
        </p:nvSpPr>
        <p:spPr>
          <a:xfrm xmlns:a="http://schemas.openxmlformats.org/drawingml/2006/main">
            <a:off x="9144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Recorded conditions at observed locations and times</a:t>
            </a:r>
            <a:endParaRPr/>
          </a:p>
        </p:txBody>
      </p:sp>
      <p:sp>
        <p:nvSpPr>
          <p:cNvPr id="198" name="Google Shape;198;p9">
            <a:extLst xmlns:a="http://schemas.openxmlformats.org/drawingml/2006/main">
              <a:ext uri="{FF2B5EF4-FFF2-40B4-BE49-F238E27FC236}">
                <a16:creationId xmlns:a16="http://schemas.microsoft.com/office/drawing/2014/main" id="{B2A58C4F-7D8A-4DF9-9847-891F1956E2AE}"/>
              </a:ext>
            </a:extLst>
          </p:cNvPr>
          <p:cNvSpPr>
            <a:spLocks xmlns:a="http://schemas.openxmlformats.org/drawingml/2006/main" noGrp="1"/>
          </p:cNvSpPr>
          <p:nvPr/>
        </p:nvSpPr>
        <p:spPr>
          <a:xfrm xmlns:a="http://schemas.openxmlformats.org/drawingml/2006/main">
            <a:off x="4419600" y="1790700"/>
            <a:ext cx="3429000" cy="327660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9" name="Google Shape;199;p9">
            <a:extLst xmlns:a="http://schemas.openxmlformats.org/drawingml/2006/main">
              <a:ext uri="{FF2B5EF4-FFF2-40B4-BE49-F238E27FC236}">
                <a16:creationId xmlns:a16="http://schemas.microsoft.com/office/drawing/2014/main" id="{471004FB-FC76-4AAA-8FC9-6E72A754D872}"/>
              </a:ext>
            </a:extLst>
          </p:cNvPr>
          <p:cNvSpPr>
            <a:spLocks xmlns:a="http://schemas.openxmlformats.org/drawingml/2006/main" noGrp="1"/>
          </p:cNvSpPr>
          <p:nvPr/>
        </p:nvSpPr>
        <p:spPr>
          <a:xfrm xmlns:a="http://schemas.openxmlformats.org/drawingml/2006/main">
            <a:off x="46482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4650"/>
              <a:buFont typeface="Lato"/>
              <a:buNone/>
            </a:pPr>
            <a:r>
              <a:rPr sz="4650" b="1" i="0">
                <a:solidFill>
                  <a:srgbClr val="F2B632"/>
                </a:solidFill>
                <a:latin typeface="Lato"/>
                <a:ea typeface="Lato"/>
                <a:cs typeface="Lato"/>
              </a:rPr>
              <a:t>02</a:t>
            </a:r>
            <a:endParaRPr/>
          </a:p>
        </p:txBody>
      </p:sp>
      <p:sp>
        <p:nvSpPr>
          <p:cNvPr id="200" name="Google Shape;200;p9">
            <a:extLst xmlns:a="http://schemas.openxmlformats.org/drawingml/2006/main">
              <a:ext uri="{FF2B5EF4-FFF2-40B4-BE49-F238E27FC236}">
                <a16:creationId xmlns:a16="http://schemas.microsoft.com/office/drawing/2014/main" id="{CE85CF15-4A88-4424-9A1B-DE5D05A8C532}"/>
              </a:ext>
            </a:extLst>
          </p:cNvPr>
          <p:cNvSpPr>
            <a:spLocks xmlns:a="http://schemas.openxmlformats.org/drawingml/2006/main" noGrp="1"/>
          </p:cNvSpPr>
          <p:nvPr/>
        </p:nvSpPr>
        <p:spPr>
          <a:xfrm xmlns:a="http://schemas.openxmlformats.org/drawingml/2006/main">
            <a:off x="46482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REANALYSIS</a:t>
            </a:r>
            <a:endParaRPr/>
          </a:p>
        </p:txBody>
      </p:sp>
      <p:sp>
        <p:nvSpPr>
          <p:cNvPr id="201" name="Google Shape;201;p9">
            <a:extLst xmlns:a="http://schemas.openxmlformats.org/drawingml/2006/main">
              <a:ext uri="{FF2B5EF4-FFF2-40B4-BE49-F238E27FC236}">
                <a16:creationId xmlns:a16="http://schemas.microsoft.com/office/drawing/2014/main" id="{E1ED1E28-D3BE-49EF-B73B-457F137EB30F}"/>
              </a:ext>
            </a:extLst>
          </p:cNvPr>
          <p:cNvSpPr>
            <a:spLocks xmlns:a="http://schemas.openxmlformats.org/drawingml/2006/main" noGrp="1"/>
          </p:cNvSpPr>
          <p:nvPr/>
        </p:nvSpPr>
        <p:spPr>
          <a:xfrm xmlns:a="http://schemas.openxmlformats.org/drawingml/2006/main">
            <a:off x="46482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Observations combined with a numerical model</a:t>
            </a:r>
            <a:endParaRPr/>
          </a:p>
        </p:txBody>
      </p:sp>
      <p:sp>
        <p:nvSpPr>
          <p:cNvPr id="202" name="Google Shape;202;p9">
            <a:extLst xmlns:a="http://schemas.openxmlformats.org/drawingml/2006/main">
              <a:ext uri="{FF2B5EF4-FFF2-40B4-BE49-F238E27FC236}">
                <a16:creationId xmlns:a16="http://schemas.microsoft.com/office/drawing/2014/main" id="{62227B58-01C1-4BFE-BE58-D5150ED0CF93}"/>
              </a:ext>
            </a:extLst>
          </p:cNvPr>
          <p:cNvSpPr>
            <a:spLocks xmlns:a="http://schemas.openxmlformats.org/drawingml/2006/main" noGrp="1"/>
          </p:cNvSpPr>
          <p:nvPr/>
        </p:nvSpPr>
        <p:spPr>
          <a:xfrm xmlns:a="http://schemas.openxmlformats.org/drawingml/2006/main">
            <a:off x="4648200" y="4286250"/>
            <a:ext cx="70485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3" name="Google Shape;203;p9">
            <a:extLst xmlns:a="http://schemas.openxmlformats.org/drawingml/2006/main">
              <a:ext uri="{FF2B5EF4-FFF2-40B4-BE49-F238E27FC236}">
                <a16:creationId xmlns:a16="http://schemas.microsoft.com/office/drawing/2014/main" id="{66EA5392-5197-400C-B5EC-2EFE4A291FEC}"/>
              </a:ext>
            </a:extLst>
          </p:cNvPr>
          <p:cNvSpPr>
            <a:spLocks xmlns:a="http://schemas.openxmlformats.org/drawingml/2006/main" noGrp="1"/>
          </p:cNvSpPr>
          <p:nvPr/>
        </p:nvSpPr>
        <p:spPr>
          <a:xfrm xmlns:a="http://schemas.openxmlformats.org/drawingml/2006/main">
            <a:off x="46482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A complete gridded reconstruction of past conditions, such as ERA5</a:t>
            </a:r>
            <a:endParaRPr/>
          </a:p>
        </p:txBody>
      </p:sp>
      <p:sp>
        <p:nvSpPr>
          <p:cNvPr id="204" name="Google Shape;204;p9">
            <a:extLst xmlns:a="http://schemas.openxmlformats.org/drawingml/2006/main">
              <a:ext uri="{FF2B5EF4-FFF2-40B4-BE49-F238E27FC236}">
                <a16:creationId xmlns:a16="http://schemas.microsoft.com/office/drawing/2014/main" id="{1924E529-48FC-4984-94D3-D1983674DACB}"/>
              </a:ext>
            </a:extLst>
          </p:cNvPr>
          <p:cNvSpPr>
            <a:spLocks xmlns:a="http://schemas.openxmlformats.org/drawingml/2006/main" noGrp="1"/>
          </p:cNvSpPr>
          <p:nvPr/>
        </p:nvSpPr>
        <p:spPr>
          <a:xfrm xmlns:a="http://schemas.openxmlformats.org/drawingml/2006/main">
            <a:off x="8153400" y="1790700"/>
            <a:ext cx="3429000" cy="327660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5" name="Google Shape;205;p9">
            <a:extLst xmlns:a="http://schemas.openxmlformats.org/drawingml/2006/main">
              <a:ext uri="{FF2B5EF4-FFF2-40B4-BE49-F238E27FC236}">
                <a16:creationId xmlns:a16="http://schemas.microsoft.com/office/drawing/2014/main" id="{17107B67-6D12-4BCC-A216-46455869BE92}"/>
              </a:ext>
            </a:extLst>
          </p:cNvPr>
          <p:cNvSpPr>
            <a:spLocks xmlns:a="http://schemas.openxmlformats.org/drawingml/2006/main" noGrp="1"/>
          </p:cNvSpPr>
          <p:nvPr/>
        </p:nvSpPr>
        <p:spPr>
          <a:xfrm xmlns:a="http://schemas.openxmlformats.org/drawingml/2006/main">
            <a:off x="83820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4650"/>
              <a:buFont typeface="Lato"/>
              <a:buNone/>
            </a:pPr>
            <a:r>
              <a:rPr sz="4650" b="1" i="0">
                <a:solidFill>
                  <a:srgbClr val="183A59"/>
                </a:solidFill>
                <a:latin typeface="Lato"/>
                <a:ea typeface="Lato"/>
                <a:cs typeface="Lato"/>
              </a:rPr>
              <a:t>03</a:t>
            </a:r>
            <a:endParaRPr/>
          </a:p>
        </p:txBody>
      </p:sp>
      <p:sp>
        <p:nvSpPr>
          <p:cNvPr id="206" name="Google Shape;206;p9">
            <a:extLst xmlns:a="http://schemas.openxmlformats.org/drawingml/2006/main">
              <a:ext uri="{FF2B5EF4-FFF2-40B4-BE49-F238E27FC236}">
                <a16:creationId xmlns:a16="http://schemas.microsoft.com/office/drawing/2014/main" id="{B77C34DF-305D-4F69-8577-E572B06572C3}"/>
              </a:ext>
            </a:extLst>
          </p:cNvPr>
          <p:cNvSpPr>
            <a:spLocks xmlns:a="http://schemas.openxmlformats.org/drawingml/2006/main" noGrp="1"/>
          </p:cNvSpPr>
          <p:nvPr/>
        </p:nvSpPr>
        <p:spPr>
          <a:xfrm xmlns:a="http://schemas.openxmlformats.org/drawingml/2006/main">
            <a:off x="83820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CLIMATE SIMULATIONS</a:t>
            </a:r>
            <a:endParaRPr/>
          </a:p>
        </p:txBody>
      </p:sp>
      <p:sp>
        <p:nvSpPr>
          <p:cNvPr id="207" name="Google Shape;207;p9">
            <a:extLst xmlns:a="http://schemas.openxmlformats.org/drawingml/2006/main">
              <a:ext uri="{FF2B5EF4-FFF2-40B4-BE49-F238E27FC236}">
                <a16:creationId xmlns:a16="http://schemas.microsoft.com/office/drawing/2014/main" id="{4FC4E08E-13FD-45EA-8C70-0E72245C44C9}"/>
              </a:ext>
            </a:extLst>
          </p:cNvPr>
          <p:cNvSpPr>
            <a:spLocks xmlns:a="http://schemas.openxmlformats.org/drawingml/2006/main" noGrp="1"/>
          </p:cNvSpPr>
          <p:nvPr/>
        </p:nvSpPr>
        <p:spPr>
          <a:xfrm xmlns:a="http://schemas.openxmlformats.org/drawingml/2006/main">
            <a:off x="83820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Model experiments under defined scenarios</a:t>
            </a:r>
            <a:endParaRPr/>
          </a:p>
        </p:txBody>
      </p:sp>
      <p:sp>
        <p:nvSpPr>
          <p:cNvPr id="208" name="Google Shape;208;p9">
            <a:extLst xmlns:a="http://schemas.openxmlformats.org/drawingml/2006/main">
              <a:ext uri="{FF2B5EF4-FFF2-40B4-BE49-F238E27FC236}">
                <a16:creationId xmlns:a16="http://schemas.microsoft.com/office/drawing/2014/main" id="{3F1BD5B9-4962-459F-8E2F-B14C454D6853}"/>
              </a:ext>
            </a:extLst>
          </p:cNvPr>
          <p:cNvSpPr>
            <a:spLocks xmlns:a="http://schemas.openxmlformats.org/drawingml/2006/main" noGrp="1"/>
          </p:cNvSpPr>
          <p:nvPr/>
        </p:nvSpPr>
        <p:spPr>
          <a:xfrm xmlns:a="http://schemas.openxmlformats.org/drawingml/2006/main">
            <a:off x="8382000" y="4286250"/>
            <a:ext cx="704850" cy="2857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9" name="Google Shape;209;p9">
            <a:extLst xmlns:a="http://schemas.openxmlformats.org/drawingml/2006/main">
              <a:ext uri="{FF2B5EF4-FFF2-40B4-BE49-F238E27FC236}">
                <a16:creationId xmlns:a16="http://schemas.microsoft.com/office/drawing/2014/main" id="{7FED96E4-63C4-42D9-B421-6C0D65E7B20B}"/>
              </a:ext>
            </a:extLst>
          </p:cNvPr>
          <p:cNvSpPr>
            <a:spLocks xmlns:a="http://schemas.openxmlformats.org/drawingml/2006/main" noGrp="1"/>
          </p:cNvSpPr>
          <p:nvPr/>
        </p:nvSpPr>
        <p:spPr>
          <a:xfrm xmlns:a="http://schemas.openxmlformats.org/drawingml/2006/main">
            <a:off x="83820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Long-term change under plausible future conditions</a:t>
            </a:r>
            <a:endParaRPr/>
          </a:p>
        </p:txBody>
      </p:sp>
      <p:sp>
        <p:nvSpPr>
          <p:cNvPr id="210" name="Google Shape;210;p9">
            <a:extLst xmlns:a="http://schemas.openxmlformats.org/drawingml/2006/main">
              <a:ext uri="{FF2B5EF4-FFF2-40B4-BE49-F238E27FC236}">
                <a16:creationId xmlns:a16="http://schemas.microsoft.com/office/drawing/2014/main" id="{DB847CE2-DAC8-4A79-A4E6-B3091B5265ED}"/>
              </a:ext>
            </a:extLst>
          </p:cNvPr>
          <p:cNvSpPr>
            <a:spLocks xmlns:a="http://schemas.openxmlformats.org/drawingml/2006/main" noGrp="1"/>
          </p:cNvSpPr>
          <p:nvPr/>
        </p:nvSpPr>
        <p:spPr>
          <a:xfrm xmlns:a="http://schemas.openxmlformats.org/drawingml/2006/main">
            <a:off x="1752600" y="5381625"/>
            <a:ext cx="8686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650"/>
              <a:buFont typeface="Lato"/>
              <a:buNone/>
            </a:pPr>
            <a:r>
              <a:rPr sz="1650" b="1" i="0">
                <a:solidFill>
                  <a:srgbClr val="12304E"/>
                </a:solidFill>
                <a:latin typeface="Lato"/>
                <a:ea typeface="Lato"/>
                <a:cs typeface="Lato"/>
              </a:rPr>
              <a:t>Together, they provide complementary views of the climate system</a:t>
            </a:r>
            <a:endParaRPr/>
          </a:p>
        </p:txBody>
      </p:sp>
    </p:spTree>
    <p:extLst>
      <p:ext uri="{BB962C8B-B14F-4D97-AF65-F5344CB8AC3E}">
        <p14:creationId xmlns:p14="http://schemas.microsoft.com/office/powerpoint/2010/main" val="1043950326"/>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774C2DA1-07AA-4D96-896C-911CC64904C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Climate projection and weather forecast</a:t>
            </a:r>
            <a:endParaRPr/>
          </a:p>
        </p:txBody>
      </p:sp>
      <p:sp>
        <p:nvSpPr>
          <p:cNvPr id="217" name="Google Shape;217;p10">
            <a:extLst xmlns:a="http://schemas.openxmlformats.org/drawingml/2006/main">
              <a:ext uri="{FF2B5EF4-FFF2-40B4-BE49-F238E27FC236}">
                <a16:creationId xmlns:a16="http://schemas.microsoft.com/office/drawing/2014/main" id="{59996173-5545-47D9-A9FD-6A730DADAB6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two products differ in their starting point, time horizon and interpretation</a:t>
            </a:r>
            <a:endParaRPr/>
          </a:p>
        </p:txBody>
      </p:sp>
      <p:sp>
        <p:nvSpPr>
          <p:cNvPr id="218" name="Google Shape;218;p10">
            <a:extLst xmlns:a="http://schemas.openxmlformats.org/drawingml/2006/main">
              <a:ext uri="{FF2B5EF4-FFF2-40B4-BE49-F238E27FC236}">
                <a16:creationId xmlns:a16="http://schemas.microsoft.com/office/drawing/2014/main" id="{DAFF0174-67EF-49E7-8CE7-D4E439A6E19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9" name="Google Shape;219;p10">
            <a:extLst xmlns:a="http://schemas.openxmlformats.org/drawingml/2006/main">
              <a:ext uri="{FF2B5EF4-FFF2-40B4-BE49-F238E27FC236}">
                <a16:creationId xmlns:a16="http://schemas.microsoft.com/office/drawing/2014/main" id="{FC24C04B-E701-4670-9734-20185732E0E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0" name="Google Shape;220;p10">
            <a:extLst xmlns:a="http://schemas.openxmlformats.org/drawingml/2006/main">
              <a:ext uri="{FF2B5EF4-FFF2-40B4-BE49-F238E27FC236}">
                <a16:creationId xmlns:a16="http://schemas.microsoft.com/office/drawing/2014/main" id="{096C7BF4-B14B-48AD-BCC6-5F34E95A888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1" name="Google Shape;221;p10">
            <a:extLst xmlns:a="http://schemas.openxmlformats.org/drawingml/2006/main">
              <a:ext uri="{FF2B5EF4-FFF2-40B4-BE49-F238E27FC236}">
                <a16:creationId xmlns:a16="http://schemas.microsoft.com/office/drawing/2014/main" id="{2D13C4EB-A9DB-4FCB-AA7C-476EB958F0A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22" name="Google Shape;222;p10">
            <a:extLst xmlns:a="http://schemas.openxmlformats.org/drawingml/2006/main">
              <a:ext uri="{FF2B5EF4-FFF2-40B4-BE49-F238E27FC236}">
                <a16:creationId xmlns:a16="http://schemas.microsoft.com/office/drawing/2014/main" id="{66BA2B8D-E252-4B0E-8D45-EFDF387FF81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08</a:t>
            </a:r>
            <a:endParaRPr/>
          </a:p>
        </p:txBody>
      </p:sp>
      <p:sp>
        <p:nvSpPr>
          <p:cNvPr id="223" name="Google Shape;223;p10">
            <a:extLst xmlns:a="http://schemas.openxmlformats.org/drawingml/2006/main">
              <a:ext uri="{FF2B5EF4-FFF2-40B4-BE49-F238E27FC236}">
                <a16:creationId xmlns:a16="http://schemas.microsoft.com/office/drawing/2014/main" id="{9F8B619B-0D36-4D3C-97BA-5804AEA3B8FD}"/>
              </a:ext>
            </a:extLst>
          </p:cNvPr>
          <p:cNvSpPr>
            <a:spLocks xmlns:a="http://schemas.openxmlformats.org/drawingml/2006/main" noGrp="1"/>
          </p:cNvSpPr>
          <p:nvPr/>
        </p:nvSpPr>
        <p:spPr>
          <a:xfrm xmlns:a="http://schemas.openxmlformats.org/drawingml/2006/main">
            <a:off x="0" y="1619250"/>
            <a:ext cx="6096000" cy="40957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4" name="Google Shape;224;p10">
            <a:extLst xmlns:a="http://schemas.openxmlformats.org/drawingml/2006/main">
              <a:ext uri="{FF2B5EF4-FFF2-40B4-BE49-F238E27FC236}">
                <a16:creationId xmlns:a16="http://schemas.microsoft.com/office/drawing/2014/main" id="{E1CCD0C5-3BC9-4F16-B267-068F6238A1D7}"/>
              </a:ext>
            </a:extLst>
          </p:cNvPr>
          <p:cNvSpPr>
            <a:spLocks xmlns:a="http://schemas.openxmlformats.org/drawingml/2006/main" noGrp="1"/>
          </p:cNvSpPr>
          <p:nvPr/>
        </p:nvSpPr>
        <p:spPr>
          <a:xfrm xmlns:a="http://schemas.openxmlformats.org/drawingml/2006/main">
            <a:off x="6096000" y="1619250"/>
            <a:ext cx="6096000" cy="40957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5" name="Google Shape;225;p10">
            <a:extLst xmlns:a="http://schemas.openxmlformats.org/drawingml/2006/main">
              <a:ext uri="{FF2B5EF4-FFF2-40B4-BE49-F238E27FC236}">
                <a16:creationId xmlns:a16="http://schemas.microsoft.com/office/drawing/2014/main" id="{A389423D-5CEB-482D-80C2-42047C053AB7}"/>
              </a:ext>
            </a:extLst>
          </p:cNvPr>
          <p:cNvSpPr>
            <a:spLocks xmlns:a="http://schemas.openxmlformats.org/drawingml/2006/main" noGrp="1"/>
          </p:cNvSpPr>
          <p:nvPr/>
        </p:nvSpPr>
        <p:spPr>
          <a:xfrm xmlns:a="http://schemas.openxmlformats.org/drawingml/2006/main">
            <a:off x="800100" y="2000250"/>
            <a:ext cx="4286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WEATHER FORECAST</a:t>
            </a:r>
            <a:endParaRPr/>
          </a:p>
        </p:txBody>
      </p:sp>
      <p:sp>
        <p:nvSpPr>
          <p:cNvPr id="226" name="Google Shape;226;p10">
            <a:extLst xmlns:a="http://schemas.openxmlformats.org/drawingml/2006/main">
              <a:ext uri="{FF2B5EF4-FFF2-40B4-BE49-F238E27FC236}">
                <a16:creationId xmlns:a16="http://schemas.microsoft.com/office/drawing/2014/main" id="{F87D226F-BD49-4282-9500-99BDD3EF0A54}"/>
              </a:ext>
            </a:extLst>
          </p:cNvPr>
          <p:cNvSpPr>
            <a:spLocks xmlns:a="http://schemas.openxmlformats.org/drawingml/2006/main" noGrp="1"/>
          </p:cNvSpPr>
          <p:nvPr/>
        </p:nvSpPr>
        <p:spPr>
          <a:xfrm xmlns:a="http://schemas.openxmlformats.org/drawingml/2006/main">
            <a:off x="8001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DAYS TO WEEKS</a:t>
            </a:r>
            <a:endParaRPr/>
          </a:p>
        </p:txBody>
      </p:sp>
      <p:sp>
        <p:nvSpPr>
          <p:cNvPr id="227" name="Google Shape;227;p10">
            <a:extLst xmlns:a="http://schemas.openxmlformats.org/drawingml/2006/main">
              <a:ext uri="{FF2B5EF4-FFF2-40B4-BE49-F238E27FC236}">
                <a16:creationId xmlns:a16="http://schemas.microsoft.com/office/drawing/2014/main" id="{58A276C2-B8CC-4200-9991-1772D4D7DCE8}"/>
              </a:ext>
            </a:extLst>
          </p:cNvPr>
          <p:cNvSpPr>
            <a:spLocks xmlns:a="http://schemas.openxmlformats.org/drawingml/2006/main" noGrp="1"/>
          </p:cNvSpPr>
          <p:nvPr/>
        </p:nvSpPr>
        <p:spPr>
          <a:xfrm xmlns:a="http://schemas.openxmlformats.org/drawingml/2006/main">
            <a:off x="8001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the observed state of the atmosphere</a:t>
            </a:r>
            <a:endParaRPr/>
          </a:p>
        </p:txBody>
      </p:sp>
      <p:sp>
        <p:nvSpPr>
          <p:cNvPr id="228" name="Google Shape;228;p10">
            <a:extLst xmlns:a="http://schemas.openxmlformats.org/drawingml/2006/main">
              <a:ext uri="{FF2B5EF4-FFF2-40B4-BE49-F238E27FC236}">
                <a16:creationId xmlns:a16="http://schemas.microsoft.com/office/drawing/2014/main" id="{2E33196C-FCE9-4475-A4C6-35B6CFB673B3}"/>
              </a:ext>
            </a:extLst>
          </p:cNvPr>
          <p:cNvSpPr>
            <a:spLocks xmlns:a="http://schemas.openxmlformats.org/drawingml/2006/main" noGrp="1"/>
          </p:cNvSpPr>
          <p:nvPr/>
        </p:nvSpPr>
        <p:spPr>
          <a:xfrm xmlns:a="http://schemas.openxmlformats.org/drawingml/2006/main">
            <a:off x="8001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the sequence of weather. Skill declines as the forecast horizon increases.</a:t>
            </a:r>
            <a:endParaRPr/>
          </a:p>
        </p:txBody>
      </p:sp>
      <p:sp>
        <p:nvSpPr>
          <p:cNvPr id="229" name="Google Shape;229;p10">
            <a:extLst xmlns:a="http://schemas.openxmlformats.org/drawingml/2006/main">
              <a:ext uri="{FF2B5EF4-FFF2-40B4-BE49-F238E27FC236}">
                <a16:creationId xmlns:a16="http://schemas.microsoft.com/office/drawing/2014/main" id="{9C0E5B72-A50D-4681-B8D5-70310A8D51D2}"/>
              </a:ext>
            </a:extLst>
          </p:cNvPr>
          <p:cNvSpPr>
            <a:spLocks xmlns:a="http://schemas.openxmlformats.org/drawingml/2006/main" noGrp="1"/>
          </p:cNvSpPr>
          <p:nvPr/>
        </p:nvSpPr>
        <p:spPr>
          <a:xfrm xmlns:a="http://schemas.openxmlformats.org/drawingml/2006/main">
            <a:off x="6705600" y="2000250"/>
            <a:ext cx="438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CLIMATE PROJECTION</a:t>
            </a:r>
            <a:endParaRPr/>
          </a:p>
        </p:txBody>
      </p:sp>
      <p:sp>
        <p:nvSpPr>
          <p:cNvPr id="230" name="Google Shape;230;p10">
            <a:extLst xmlns:a="http://schemas.openxmlformats.org/drawingml/2006/main">
              <a:ext uri="{FF2B5EF4-FFF2-40B4-BE49-F238E27FC236}">
                <a16:creationId xmlns:a16="http://schemas.microsoft.com/office/drawing/2014/main" id="{6656A765-46FA-4087-A622-40423D6B344B}"/>
              </a:ext>
            </a:extLst>
          </p:cNvPr>
          <p:cNvSpPr>
            <a:spLocks xmlns:a="http://schemas.openxmlformats.org/drawingml/2006/main" noGrp="1"/>
          </p:cNvSpPr>
          <p:nvPr/>
        </p:nvSpPr>
        <p:spPr>
          <a:xfrm xmlns:a="http://schemas.openxmlformats.org/drawingml/2006/main">
            <a:off x="67056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DECADES</a:t>
            </a:r>
            <a:endParaRPr/>
          </a:p>
        </p:txBody>
      </p:sp>
      <p:sp>
        <p:nvSpPr>
          <p:cNvPr id="231" name="Google Shape;231;p10">
            <a:extLst xmlns:a="http://schemas.openxmlformats.org/drawingml/2006/main">
              <a:ext uri="{FF2B5EF4-FFF2-40B4-BE49-F238E27FC236}">
                <a16:creationId xmlns:a16="http://schemas.microsoft.com/office/drawing/2014/main" id="{5FC2C8DF-A1C2-43F3-B28B-D26FB0060E11}"/>
              </a:ext>
            </a:extLst>
          </p:cNvPr>
          <p:cNvSpPr>
            <a:spLocks xmlns:a="http://schemas.openxmlformats.org/drawingml/2006/main" noGrp="1"/>
          </p:cNvSpPr>
          <p:nvPr/>
        </p:nvSpPr>
        <p:spPr>
          <a:xfrm xmlns:a="http://schemas.openxmlformats.org/drawingml/2006/main">
            <a:off x="67056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assumptions about future forcing</a:t>
            </a:r>
            <a:endParaRPr/>
          </a:p>
        </p:txBody>
      </p:sp>
      <p:sp>
        <p:nvSpPr>
          <p:cNvPr id="232" name="Google Shape;232;p10">
            <a:extLst xmlns:a="http://schemas.openxmlformats.org/drawingml/2006/main">
              <a:ext uri="{FF2B5EF4-FFF2-40B4-BE49-F238E27FC236}">
                <a16:creationId xmlns:a16="http://schemas.microsoft.com/office/drawing/2014/main" id="{5D037C17-EBC3-4AE5-B474-14CD6F9401FD}"/>
              </a:ext>
            </a:extLst>
          </p:cNvPr>
          <p:cNvSpPr>
            <a:spLocks xmlns:a="http://schemas.openxmlformats.org/drawingml/2006/main" noGrp="1"/>
          </p:cNvSpPr>
          <p:nvPr/>
        </p:nvSpPr>
        <p:spPr>
          <a:xfrm xmlns:a="http://schemas.openxmlformats.org/drawingml/2006/main">
            <a:off x="67056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climate statistics. It does not predict the weather on a specific future day.</a:t>
            </a:r>
            <a:endParaRPr/>
          </a:p>
        </p:txBody>
      </p:sp>
      <p:sp>
        <p:nvSpPr>
          <p:cNvPr id="233" name="Google Shape;233;p10">
            <a:extLst xmlns:a="http://schemas.openxmlformats.org/drawingml/2006/main">
              <a:ext uri="{FF2B5EF4-FFF2-40B4-BE49-F238E27FC236}">
                <a16:creationId xmlns:a16="http://schemas.microsoft.com/office/drawing/2014/main" id="{066F035C-F830-482E-B366-B32463F56F08}"/>
              </a:ext>
            </a:extLst>
          </p:cNvPr>
          <p:cNvSpPr>
            <a:spLocks xmlns:a="http://schemas.openxmlformats.org/drawingml/2006/main" noGrp="1"/>
          </p:cNvSpPr>
          <p:nvPr/>
        </p:nvSpPr>
        <p:spPr>
          <a:xfrm xmlns:a="http://schemas.openxmlformats.org/drawingml/2006/main">
            <a:off x="5962650" y="1952625"/>
            <a:ext cx="266700" cy="3333750"/>
          </a:xfrm>
          <a:prstGeom xmlns:a="http://schemas.openxmlformats.org/drawingml/2006/main" prst="rect">
            <a:avLst/>
          </a:prstGeom>
          <a:gradFill xmlns:a="http://schemas.openxmlformats.org/drawingml/2006/main">
            <a:gsLst>
              <a:gs pos="0">
                <a:srgbClr val="00A88F">
                  <a:alpha val="0"/>
                </a:srgbClr>
              </a:gs>
              <a:gs pos="50000">
                <a:srgbClr val="12304E">
                  <a:alpha val="34902"/>
                </a:srgbClr>
              </a:gs>
              <a:gs pos="100000">
                <a:srgbClr val="F2B632">
                  <a:alpha val="0"/>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34" name="Google Shape;234;p10">
            <a:extLst xmlns:a="http://schemas.openxmlformats.org/drawingml/2006/main">
              <a:ext uri="{FF2B5EF4-FFF2-40B4-BE49-F238E27FC236}">
                <a16:creationId xmlns:a16="http://schemas.microsoft.com/office/drawing/2014/main" id="{BEB6A493-B90C-486A-912F-84BB9425277C}"/>
              </a:ext>
            </a:extLst>
          </p:cNvPr>
          <p:cNvSpPr>
            <a:spLocks xmlns:a="http://schemas.openxmlformats.org/drawingml/2006/main" noGrp="1"/>
          </p:cNvSpPr>
          <p:nvPr/>
        </p:nvSpPr>
        <p:spPr>
          <a:xfrm xmlns:a="http://schemas.openxmlformats.org/drawingml/2006/main">
            <a:off x="1562100" y="5381625"/>
            <a:ext cx="906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A projection asks what climate could emerge under defined conditions</a:t>
            </a:r>
            <a:endParaRPr/>
          </a:p>
        </p:txBody>
      </p:sp>
    </p:spTree>
    <p:extLst>
      <p:ext uri="{BB962C8B-B14F-4D97-AF65-F5344CB8AC3E}">
        <p14:creationId xmlns:p14="http://schemas.microsoft.com/office/powerpoint/2010/main" val="1678647905"/>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0" name="Google Shape;240;p11">
            <a:extLst xmlns:a="http://schemas.openxmlformats.org/drawingml/2006/main">
              <a:ext uri="{FF2B5EF4-FFF2-40B4-BE49-F238E27FC236}">
                <a16:creationId xmlns:a16="http://schemas.microsoft.com/office/drawing/2014/main" id="{7D6EFCE9-2C6F-455E-BE4F-B9E126D000F8}"/>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Why many models and scenarios?</a:t>
            </a:r>
            <a:endParaRPr/>
          </a:p>
        </p:txBody>
      </p:sp>
      <p:sp>
        <p:nvSpPr>
          <p:cNvPr id="241" name="Google Shape;241;p11">
            <a:extLst xmlns:a="http://schemas.openxmlformats.org/drawingml/2006/main">
              <a:ext uri="{FF2B5EF4-FFF2-40B4-BE49-F238E27FC236}">
                <a16:creationId xmlns:a16="http://schemas.microsoft.com/office/drawing/2014/main" id="{BC4EDA93-4909-45A9-9B05-5ECC4F2AB66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Models represent the climate system differently, while scenarios represent alternative future conditions</a:t>
            </a:r>
            <a:endParaRPr/>
          </a:p>
        </p:txBody>
      </p:sp>
      <p:sp>
        <p:nvSpPr>
          <p:cNvPr id="242" name="Google Shape;242;p11">
            <a:extLst xmlns:a="http://schemas.openxmlformats.org/drawingml/2006/main">
              <a:ext uri="{FF2B5EF4-FFF2-40B4-BE49-F238E27FC236}">
                <a16:creationId xmlns:a16="http://schemas.microsoft.com/office/drawing/2014/main" id="{BB326E0E-39AD-4253-8E26-349B181487F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3" name="Google Shape;243;p11">
            <a:extLst xmlns:a="http://schemas.openxmlformats.org/drawingml/2006/main">
              <a:ext uri="{FF2B5EF4-FFF2-40B4-BE49-F238E27FC236}">
                <a16:creationId xmlns:a16="http://schemas.microsoft.com/office/drawing/2014/main" id="{AFDDE2F4-6880-42B9-B3B9-987C28080C0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4" name="Google Shape;244;p11">
            <a:extLst xmlns:a="http://schemas.openxmlformats.org/drawingml/2006/main">
              <a:ext uri="{FF2B5EF4-FFF2-40B4-BE49-F238E27FC236}">
                <a16:creationId xmlns:a16="http://schemas.microsoft.com/office/drawing/2014/main" id="{8037A9D1-53CA-4156-8AAE-82793E4F7B4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5" name="Google Shape;245;p11">
            <a:extLst xmlns:a="http://schemas.openxmlformats.org/drawingml/2006/main">
              <a:ext uri="{FF2B5EF4-FFF2-40B4-BE49-F238E27FC236}">
                <a16:creationId xmlns:a16="http://schemas.microsoft.com/office/drawing/2014/main" id="{DAB61E3A-6540-44E5-93CE-1358067ABF7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46" name="Google Shape;246;p11">
            <a:extLst xmlns:a="http://schemas.openxmlformats.org/drawingml/2006/main">
              <a:ext uri="{FF2B5EF4-FFF2-40B4-BE49-F238E27FC236}">
                <a16:creationId xmlns:a16="http://schemas.microsoft.com/office/drawing/2014/main" id="{0C878D37-2270-4F0E-96D4-009E14DED166}"/>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09</a:t>
            </a:r>
            <a:endParaRPr/>
          </a:p>
        </p:txBody>
      </p:sp>
      <p:sp>
        <p:nvSpPr>
          <p:cNvPr id="247" name="Google Shape;247;p11">
            <a:extLst xmlns:a="http://schemas.openxmlformats.org/drawingml/2006/main">
              <a:ext uri="{FF2B5EF4-FFF2-40B4-BE49-F238E27FC236}">
                <a16:creationId xmlns:a16="http://schemas.microsoft.com/office/drawing/2014/main" id="{CC7B894C-4ECA-45A2-B608-A4C7D6D0ABBB}"/>
              </a:ext>
            </a:extLst>
          </p:cNvPr>
          <p:cNvSpPr>
            <a:spLocks xmlns:a="http://schemas.openxmlformats.org/drawingml/2006/main" noGrp="1"/>
          </p:cNvSpPr>
          <p:nvPr/>
        </p:nvSpPr>
        <p:spPr>
          <a:xfrm xmlns:a="http://schemas.openxmlformats.org/drawingml/2006/main">
            <a:off x="819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MODELS</a:t>
            </a:r>
            <a:endParaRPr/>
          </a:p>
        </p:txBody>
      </p:sp>
      <p:sp>
        <p:nvSpPr>
          <p:cNvPr id="248" name="Google Shape;248;p11">
            <a:extLst xmlns:a="http://schemas.openxmlformats.org/drawingml/2006/main">
              <a:ext uri="{FF2B5EF4-FFF2-40B4-BE49-F238E27FC236}">
                <a16:creationId xmlns:a16="http://schemas.microsoft.com/office/drawing/2014/main" id="{673791C0-9A67-4142-B707-25B02663CD83}"/>
              </a:ext>
            </a:extLst>
          </p:cNvPr>
          <p:cNvSpPr>
            <a:spLocks xmlns:a="http://schemas.openxmlformats.org/drawingml/2006/main" noGrp="1"/>
          </p:cNvSpPr>
          <p:nvPr/>
        </p:nvSpPr>
        <p:spPr>
          <a:xfrm xmlns:a="http://schemas.openxmlformats.org/drawingml/2006/main">
            <a:off x="819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57"/>
              <a:buFont typeface="Lato"/>
              <a:buNone/>
            </a:pPr>
            <a:r>
              <a:rPr sz="1557" b="1" i="0">
                <a:solidFill>
                  <a:srgbClr val="12304E"/>
                </a:solidFill>
                <a:latin typeface="Lato"/>
                <a:ea typeface="Lato"/>
                <a:cs typeface="Lato"/>
              </a:rPr>
              <a:t>Different scientific teams make different choices about how to represent physical processes.</a:t>
            </a:r>
            <a:endParaRPr/>
          </a:p>
        </p:txBody>
      </p:sp>
      <p:sp>
        <p:nvSpPr>
          <p:cNvPr id="249" name="Google Shape;249;p11">
            <a:extLst xmlns:a="http://schemas.openxmlformats.org/drawingml/2006/main">
              <a:ext uri="{FF2B5EF4-FFF2-40B4-BE49-F238E27FC236}">
                <a16:creationId xmlns:a16="http://schemas.microsoft.com/office/drawing/2014/main" id="{C6DFC15D-424D-447B-B2CF-C70811A8D5B0}"/>
              </a:ext>
            </a:extLst>
          </p:cNvPr>
          <p:cNvSpPr>
            <a:spLocks xmlns:a="http://schemas.openxmlformats.org/drawingml/2006/main" noGrp="1"/>
          </p:cNvSpPr>
          <p:nvPr/>
        </p:nvSpPr>
        <p:spPr>
          <a:xfrm xmlns:a="http://schemas.openxmlformats.org/drawingml/2006/main">
            <a:off x="819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A multi-model ensemble samples part of this model uncertainty.</a:t>
            </a:r>
            <a:endParaRPr/>
          </a:p>
        </p:txBody>
      </p:sp>
      <p:sp>
        <p:nvSpPr>
          <p:cNvPr id="250" name="Google Shape;250;p11">
            <a:extLst xmlns:a="http://schemas.openxmlformats.org/drawingml/2006/main">
              <a:ext uri="{FF2B5EF4-FFF2-40B4-BE49-F238E27FC236}">
                <a16:creationId xmlns:a16="http://schemas.microsoft.com/office/drawing/2014/main" id="{20887889-40F5-432D-ACE2-315C7D16FA30}"/>
              </a:ext>
            </a:extLst>
          </p:cNvPr>
          <p:cNvSpPr>
            <a:spLocks xmlns:a="http://schemas.openxmlformats.org/drawingml/2006/main" noGrp="1"/>
          </p:cNvSpPr>
          <p:nvPr/>
        </p:nvSpPr>
        <p:spPr>
          <a:xfrm xmlns:a="http://schemas.openxmlformats.org/drawingml/2006/main">
            <a:off x="6000750" y="1752600"/>
            <a:ext cx="9525" cy="3143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1" name="Google Shape;251;p11">
            <a:extLst xmlns:a="http://schemas.openxmlformats.org/drawingml/2006/main">
              <a:ext uri="{FF2B5EF4-FFF2-40B4-BE49-F238E27FC236}">
                <a16:creationId xmlns:a16="http://schemas.microsoft.com/office/drawing/2014/main" id="{4342B8B6-9D75-44F3-9909-597243C5FB1F}"/>
              </a:ext>
            </a:extLst>
          </p:cNvPr>
          <p:cNvSpPr>
            <a:spLocks xmlns:a="http://schemas.openxmlformats.org/drawingml/2006/main" noGrp="1"/>
          </p:cNvSpPr>
          <p:nvPr/>
        </p:nvSpPr>
        <p:spPr>
          <a:xfrm xmlns:a="http://schemas.openxmlformats.org/drawingml/2006/main">
            <a:off x="6534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SCENARIOS</a:t>
            </a:r>
            <a:endParaRPr/>
          </a:p>
        </p:txBody>
      </p:sp>
      <p:sp>
        <p:nvSpPr>
          <p:cNvPr id="252" name="Google Shape;252;p11">
            <a:extLst xmlns:a="http://schemas.openxmlformats.org/drawingml/2006/main">
              <a:ext uri="{FF2B5EF4-FFF2-40B4-BE49-F238E27FC236}">
                <a16:creationId xmlns:a16="http://schemas.microsoft.com/office/drawing/2014/main" id="{B3804241-2C7B-4339-BEE0-45D64B8A1258}"/>
              </a:ext>
            </a:extLst>
          </p:cNvPr>
          <p:cNvSpPr>
            <a:spLocks xmlns:a="http://schemas.openxmlformats.org/drawingml/2006/main" noGrp="1"/>
          </p:cNvSpPr>
          <p:nvPr/>
        </p:nvSpPr>
        <p:spPr>
          <a:xfrm xmlns:a="http://schemas.openxmlformats.org/drawingml/2006/main">
            <a:off x="6534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667"/>
              <a:buFont typeface="Lato"/>
              <a:buNone/>
            </a:pPr>
            <a:r>
              <a:rPr sz="1668" b="1" i="0">
                <a:solidFill>
                  <a:srgbClr val="12304E"/>
                </a:solidFill>
                <a:latin typeface="Lato"/>
                <a:ea typeface="Lato"/>
                <a:cs typeface="Lato"/>
              </a:rPr>
              <a:t>Alternative emissions and land-use pathways produce different levels of climate forcing.</a:t>
            </a:r>
            <a:endParaRPr/>
          </a:p>
        </p:txBody>
      </p:sp>
      <p:sp>
        <p:nvSpPr>
          <p:cNvPr id="253" name="Google Shape;253;p11">
            <a:extLst xmlns:a="http://schemas.openxmlformats.org/drawingml/2006/main">
              <a:ext uri="{FF2B5EF4-FFF2-40B4-BE49-F238E27FC236}">
                <a16:creationId xmlns:a16="http://schemas.microsoft.com/office/drawing/2014/main" id="{44119144-4958-4207-AB3B-1ACC9D1EE947}"/>
              </a:ext>
            </a:extLst>
          </p:cNvPr>
          <p:cNvSpPr>
            <a:spLocks xmlns:a="http://schemas.openxmlformats.org/drawingml/2006/main" noGrp="1"/>
          </p:cNvSpPr>
          <p:nvPr/>
        </p:nvSpPr>
        <p:spPr>
          <a:xfrm xmlns:a="http://schemas.openxmlformats.org/drawingml/2006/main">
            <a:off x="6534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CMIP coordinates experiments so results can be compared across models and scenarios.</a:t>
            </a:r>
            <a:endParaRPr/>
          </a:p>
        </p:txBody>
      </p:sp>
      <p:sp>
        <p:nvSpPr>
          <p:cNvPr id="254" name="Google Shape;254;p11">
            <a:extLst xmlns:a="http://schemas.openxmlformats.org/drawingml/2006/main">
              <a:ext uri="{FF2B5EF4-FFF2-40B4-BE49-F238E27FC236}">
                <a16:creationId xmlns:a16="http://schemas.microsoft.com/office/drawing/2014/main" id="{783E7BB7-6223-4000-B9E3-A74BE2BF2E95}"/>
              </a:ext>
            </a:extLst>
          </p:cNvPr>
          <p:cNvSpPr>
            <a:spLocks xmlns:a="http://schemas.openxmlformats.org/drawingml/2006/main" noGrp="1"/>
          </p:cNvSpPr>
          <p:nvPr/>
        </p:nvSpPr>
        <p:spPr>
          <a:xfrm xmlns:a="http://schemas.openxmlformats.org/drawingml/2006/main">
            <a:off x="809625" y="4229100"/>
            <a:ext cx="10287000" cy="952500"/>
          </a:xfrm>
          <a:prstGeom xmlns:a="http://schemas.openxmlformats.org/drawingml/2006/main" prst="roundRect">
            <a:avLst>
              <a:gd name="adj" fmla="val 8000"/>
            </a:avLst>
          </a:prstGeom>
          <a:solidFill xmlns:a="http://schemas.openxmlformats.org/drawingml/2006/main">
            <a:srgbClr val="EAF3F8"/>
          </a:solidFill>
          <a:ln xmlns:a="http://schemas.openxmlformats.org/drawingml/2006/main" w="9525" cmpd="sng">
            <a:solidFill>
              <a:srgbClr val="EAF3F8"/>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5" name="Google Shape;255;p11">
            <a:extLst xmlns:a="http://schemas.openxmlformats.org/drawingml/2006/main">
              <a:ext uri="{FF2B5EF4-FFF2-40B4-BE49-F238E27FC236}">
                <a16:creationId xmlns:a16="http://schemas.microsoft.com/office/drawing/2014/main" id="{EB877984-3B6C-4053-A8A9-E1B91716CF93}"/>
              </a:ext>
            </a:extLst>
          </p:cNvPr>
          <p:cNvSpPr>
            <a:spLocks xmlns:a="http://schemas.openxmlformats.org/drawingml/2006/main" noGrp="1"/>
          </p:cNvSpPr>
          <p:nvPr/>
        </p:nvSpPr>
        <p:spPr>
          <a:xfrm xmlns:a="http://schemas.openxmlformats.org/drawingml/2006/main">
            <a:off x="1028700" y="4457700"/>
            <a:ext cx="22383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 the range</a:t>
            </a:r>
            <a:endParaRPr/>
          </a:p>
        </p:txBody>
      </p:sp>
      <p:sp>
        <p:nvSpPr>
          <p:cNvPr id="256" name="Google Shape;256;p11">
            <a:extLst xmlns:a="http://schemas.openxmlformats.org/drawingml/2006/main">
              <a:ext uri="{FF2B5EF4-FFF2-40B4-BE49-F238E27FC236}">
                <a16:creationId xmlns:a16="http://schemas.microsoft.com/office/drawing/2014/main" id="{5928312C-5B88-4C05-9D29-F117CB15BE19}"/>
              </a:ext>
            </a:extLst>
          </p:cNvPr>
          <p:cNvSpPr>
            <a:spLocks xmlns:a="http://schemas.openxmlformats.org/drawingml/2006/main" noGrp="1"/>
          </p:cNvSpPr>
          <p:nvPr/>
        </p:nvSpPr>
        <p:spPr>
          <a:xfrm xmlns:a="http://schemas.openxmlformats.org/drawingml/2006/main">
            <a:off x="3371850" y="4410075"/>
            <a:ext cx="7448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98"/>
              <a:buFont typeface="Lato"/>
              <a:buNone/>
            </a:pPr>
            <a:r>
              <a:rPr sz="1399" b="0" i="0">
                <a:solidFill>
                  <a:srgbClr val="12304E"/>
                </a:solidFill>
                <a:latin typeface="Lato"/>
                <a:ea typeface="Lato"/>
                <a:cs typeface="Lato"/>
              </a:rPr>
              <a:t>The spread is information about plausible outcomes, not a reason to select the most convenient model.</a:t>
            </a:r>
            <a:endParaRPr/>
          </a:p>
        </p:txBody>
      </p:sp>
    </p:spTree>
    <p:extLst>
      <p:ext uri="{BB962C8B-B14F-4D97-AF65-F5344CB8AC3E}">
        <p14:creationId xmlns:p14="http://schemas.microsoft.com/office/powerpoint/2010/main" val="2024498756"/>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2" name="Google Shape;262;p12">
            <a:extLst xmlns:a="http://schemas.openxmlformats.org/drawingml/2006/main">
              <a:ext uri="{FF2B5EF4-FFF2-40B4-BE49-F238E27FC236}">
                <a16:creationId xmlns:a16="http://schemas.microsoft.com/office/drawing/2014/main" id="{E3D2DE2B-C915-40EB-9BB4-76E47E07088A}"/>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global to regional climate information</a:t>
            </a:r>
            <a:endParaRPr/>
          </a:p>
        </p:txBody>
      </p:sp>
      <p:sp>
        <p:nvSpPr>
          <p:cNvPr id="263" name="Google Shape;263;p12">
            <a:extLst xmlns:a="http://schemas.openxmlformats.org/drawingml/2006/main">
              <a:ext uri="{FF2B5EF4-FFF2-40B4-BE49-F238E27FC236}">
                <a16:creationId xmlns:a16="http://schemas.microsoft.com/office/drawing/2014/main" id="{BA2B0257-E302-421D-89D6-E9EF5AC28006}"/>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Regional models add spatial detail within a global model’s large-scale climate</a:t>
            </a:r>
            <a:endParaRPr/>
          </a:p>
        </p:txBody>
      </p:sp>
      <p:sp>
        <p:nvSpPr>
          <p:cNvPr id="264" name="Google Shape;264;p12">
            <a:extLst xmlns:a="http://schemas.openxmlformats.org/drawingml/2006/main">
              <a:ext uri="{FF2B5EF4-FFF2-40B4-BE49-F238E27FC236}">
                <a16:creationId xmlns:a16="http://schemas.microsoft.com/office/drawing/2014/main" id="{27F13EC2-1DAD-4324-9BCF-C6F8090A72F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5" name="Google Shape;265;p12">
            <a:extLst xmlns:a="http://schemas.openxmlformats.org/drawingml/2006/main">
              <a:ext uri="{FF2B5EF4-FFF2-40B4-BE49-F238E27FC236}">
                <a16:creationId xmlns:a16="http://schemas.microsoft.com/office/drawing/2014/main" id="{9EF29850-E6AA-488B-AF89-9C606034B17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6" name="Google Shape;266;p12">
            <a:extLst xmlns:a="http://schemas.openxmlformats.org/drawingml/2006/main">
              <a:ext uri="{FF2B5EF4-FFF2-40B4-BE49-F238E27FC236}">
                <a16:creationId xmlns:a16="http://schemas.microsoft.com/office/drawing/2014/main" id="{45071817-0636-451A-B81C-0015B179E46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7" name="Google Shape;267;p12">
            <a:extLst xmlns:a="http://schemas.openxmlformats.org/drawingml/2006/main">
              <a:ext uri="{FF2B5EF4-FFF2-40B4-BE49-F238E27FC236}">
                <a16:creationId xmlns:a16="http://schemas.microsoft.com/office/drawing/2014/main" id="{417EFC7B-7601-4920-B120-C1697B7175F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68" name="Google Shape;268;p12">
            <a:extLst xmlns:a="http://schemas.openxmlformats.org/drawingml/2006/main">
              <a:ext uri="{FF2B5EF4-FFF2-40B4-BE49-F238E27FC236}">
                <a16:creationId xmlns:a16="http://schemas.microsoft.com/office/drawing/2014/main" id="{654C21A7-8F30-4AEB-A190-BA5A317623D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10</a:t>
            </a:r>
            <a:endParaRPr/>
          </a:p>
        </p:txBody>
      </p:sp>
      <p:sp>
        <p:nvSpPr>
          <p:cNvPr id="269" name="Google Shape;269;p12">
            <a:extLst xmlns:a="http://schemas.openxmlformats.org/drawingml/2006/main">
              <a:ext uri="{FF2B5EF4-FFF2-40B4-BE49-F238E27FC236}">
                <a16:creationId xmlns:a16="http://schemas.microsoft.com/office/drawing/2014/main" id="{50707853-9032-4942-8915-093EC1BCC523}"/>
              </a:ext>
            </a:extLst>
          </p:cNvPr>
          <p:cNvSpPr>
            <a:spLocks xmlns:a="http://schemas.openxmlformats.org/drawingml/2006/main" noGrp="1"/>
          </p:cNvSpPr>
          <p:nvPr/>
        </p:nvSpPr>
        <p:spPr>
          <a:xfrm xmlns:a="http://schemas.openxmlformats.org/drawingml/2006/main">
            <a:off x="80010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0" name="Google Shape;270;p12">
            <a:extLst xmlns:a="http://schemas.openxmlformats.org/drawingml/2006/main">
              <a:ext uri="{FF2B5EF4-FFF2-40B4-BE49-F238E27FC236}">
                <a16:creationId xmlns:a16="http://schemas.microsoft.com/office/drawing/2014/main" id="{D6877A50-632F-42EE-84AE-335F1C2886F8}"/>
              </a:ext>
            </a:extLst>
          </p:cNvPr>
          <p:cNvSpPr>
            <a:spLocks xmlns:a="http://schemas.openxmlformats.org/drawingml/2006/main" noGrp="1"/>
          </p:cNvSpPr>
          <p:nvPr/>
        </p:nvSpPr>
        <p:spPr>
          <a:xfrm xmlns:a="http://schemas.openxmlformats.org/drawingml/2006/main">
            <a:off x="12287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1" name="Google Shape;271;p12">
            <a:extLst xmlns:a="http://schemas.openxmlformats.org/drawingml/2006/main">
              <a:ext uri="{FF2B5EF4-FFF2-40B4-BE49-F238E27FC236}">
                <a16:creationId xmlns:a16="http://schemas.microsoft.com/office/drawing/2014/main" id="{69CB35AD-50D5-4EAC-BA1B-3593CCBD1698}"/>
              </a:ext>
            </a:extLst>
          </p:cNvPr>
          <p:cNvSpPr>
            <a:spLocks xmlns:a="http://schemas.openxmlformats.org/drawingml/2006/main" noGrp="1"/>
          </p:cNvSpPr>
          <p:nvPr/>
        </p:nvSpPr>
        <p:spPr>
          <a:xfrm xmlns:a="http://schemas.openxmlformats.org/drawingml/2006/main">
            <a:off x="174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2" name="Google Shape;272;p12">
            <a:extLst xmlns:a="http://schemas.openxmlformats.org/drawingml/2006/main">
              <a:ext uri="{FF2B5EF4-FFF2-40B4-BE49-F238E27FC236}">
                <a16:creationId xmlns:a16="http://schemas.microsoft.com/office/drawing/2014/main" id="{BEFF5FEA-E08E-48AC-94C1-79E35AFD5B84}"/>
              </a:ext>
            </a:extLst>
          </p:cNvPr>
          <p:cNvSpPr>
            <a:spLocks xmlns:a="http://schemas.openxmlformats.org/drawingml/2006/main" noGrp="1"/>
          </p:cNvSpPr>
          <p:nvPr/>
        </p:nvSpPr>
        <p:spPr>
          <a:xfrm xmlns:a="http://schemas.openxmlformats.org/drawingml/2006/main">
            <a:off x="22574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3" name="Google Shape;273;p12">
            <a:extLst xmlns:a="http://schemas.openxmlformats.org/drawingml/2006/main">
              <a:ext uri="{FF2B5EF4-FFF2-40B4-BE49-F238E27FC236}">
                <a16:creationId xmlns:a16="http://schemas.microsoft.com/office/drawing/2014/main" id="{D3A9DEB7-5355-4144-BFDE-977FAF69B0DD}"/>
              </a:ext>
            </a:extLst>
          </p:cNvPr>
          <p:cNvSpPr>
            <a:spLocks xmlns:a="http://schemas.openxmlformats.org/drawingml/2006/main" noGrp="1"/>
          </p:cNvSpPr>
          <p:nvPr/>
        </p:nvSpPr>
        <p:spPr>
          <a:xfrm xmlns:a="http://schemas.openxmlformats.org/drawingml/2006/main">
            <a:off x="27717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4" name="Google Shape;274;p12">
            <a:extLst xmlns:a="http://schemas.openxmlformats.org/drawingml/2006/main">
              <a:ext uri="{FF2B5EF4-FFF2-40B4-BE49-F238E27FC236}">
                <a16:creationId xmlns:a16="http://schemas.microsoft.com/office/drawing/2014/main" id="{D91C9C38-059E-45E6-8356-D4B7A94B3340}"/>
              </a:ext>
            </a:extLst>
          </p:cNvPr>
          <p:cNvSpPr>
            <a:spLocks xmlns:a="http://schemas.openxmlformats.org/drawingml/2006/main" noGrp="1"/>
          </p:cNvSpPr>
          <p:nvPr/>
        </p:nvSpPr>
        <p:spPr>
          <a:xfrm xmlns:a="http://schemas.openxmlformats.org/drawingml/2006/main">
            <a:off x="122872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5" name="Google Shape;275;p12">
            <a:extLst xmlns:a="http://schemas.openxmlformats.org/drawingml/2006/main">
              <a:ext uri="{FF2B5EF4-FFF2-40B4-BE49-F238E27FC236}">
                <a16:creationId xmlns:a16="http://schemas.microsoft.com/office/drawing/2014/main" id="{F543EEFA-C778-48E8-BDA7-E35C72A47B13}"/>
              </a:ext>
            </a:extLst>
          </p:cNvPr>
          <p:cNvSpPr>
            <a:spLocks xmlns:a="http://schemas.openxmlformats.org/drawingml/2006/main" noGrp="1"/>
          </p:cNvSpPr>
          <p:nvPr/>
        </p:nvSpPr>
        <p:spPr>
          <a:xfrm xmlns:a="http://schemas.openxmlformats.org/drawingml/2006/main">
            <a:off x="1228725" y="27051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6" name="Google Shape;276;p12">
            <a:extLst xmlns:a="http://schemas.openxmlformats.org/drawingml/2006/main">
              <a:ext uri="{FF2B5EF4-FFF2-40B4-BE49-F238E27FC236}">
                <a16:creationId xmlns:a16="http://schemas.microsoft.com/office/drawing/2014/main" id="{0927C139-E806-4DBE-9D33-7B26AE9E49AE}"/>
              </a:ext>
            </a:extLst>
          </p:cNvPr>
          <p:cNvSpPr>
            <a:spLocks xmlns:a="http://schemas.openxmlformats.org/drawingml/2006/main" noGrp="1"/>
          </p:cNvSpPr>
          <p:nvPr/>
        </p:nvSpPr>
        <p:spPr>
          <a:xfrm xmlns:a="http://schemas.openxmlformats.org/drawingml/2006/main">
            <a:off x="100965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GLOBAL MODEL</a:t>
            </a:r>
            <a:endParaRPr/>
          </a:p>
        </p:txBody>
      </p:sp>
      <p:sp>
        <p:nvSpPr>
          <p:cNvPr id="277" name="Google Shape;277;p12">
            <a:extLst xmlns:a="http://schemas.openxmlformats.org/drawingml/2006/main">
              <a:ext uri="{FF2B5EF4-FFF2-40B4-BE49-F238E27FC236}">
                <a16:creationId xmlns:a16="http://schemas.microsoft.com/office/drawing/2014/main" id="{E682136E-79C6-4C25-A05B-7406A9D9F8AC}"/>
              </a:ext>
            </a:extLst>
          </p:cNvPr>
          <p:cNvSpPr>
            <a:spLocks xmlns:a="http://schemas.openxmlformats.org/drawingml/2006/main" noGrp="1"/>
          </p:cNvSpPr>
          <p:nvPr/>
        </p:nvSpPr>
        <p:spPr>
          <a:xfrm xmlns:a="http://schemas.openxmlformats.org/drawingml/2006/main">
            <a:off x="100965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Represents the whole climate system on a global grid</a:t>
            </a:r>
            <a:endParaRPr/>
          </a:p>
        </p:txBody>
      </p:sp>
      <p:sp>
        <p:nvSpPr>
          <p:cNvPr id="278" name="Google Shape;278;p12">
            <a:extLst xmlns:a="http://schemas.openxmlformats.org/drawingml/2006/main">
              <a:ext uri="{FF2B5EF4-FFF2-40B4-BE49-F238E27FC236}">
                <a16:creationId xmlns:a16="http://schemas.microsoft.com/office/drawing/2014/main" id="{8EB53E7B-A6FB-4102-A92A-BA842179A919}"/>
              </a:ext>
            </a:extLst>
          </p:cNvPr>
          <p:cNvSpPr>
            <a:spLocks xmlns:a="http://schemas.openxmlformats.org/drawingml/2006/main" noGrp="1"/>
          </p:cNvSpPr>
          <p:nvPr/>
        </p:nvSpPr>
        <p:spPr>
          <a:xfrm xmlns:a="http://schemas.openxmlformats.org/drawingml/2006/main">
            <a:off x="3533775"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79" name="Google Shape;279;p12">
            <a:extLst xmlns:a="http://schemas.openxmlformats.org/drawingml/2006/main">
              <a:ext uri="{FF2B5EF4-FFF2-40B4-BE49-F238E27FC236}">
                <a16:creationId xmlns:a16="http://schemas.microsoft.com/office/drawing/2014/main" id="{31F1F99E-AE0E-42E9-8165-B5DBF2D99AAF}"/>
              </a:ext>
            </a:extLst>
          </p:cNvPr>
          <p:cNvSpPr>
            <a:spLocks xmlns:a="http://schemas.openxmlformats.org/drawingml/2006/main" noGrp="1"/>
          </p:cNvSpPr>
          <p:nvPr/>
        </p:nvSpPr>
        <p:spPr>
          <a:xfrm xmlns:a="http://schemas.openxmlformats.org/drawingml/2006/main">
            <a:off x="4010025" y="1952625"/>
            <a:ext cx="2667000" cy="2333625"/>
          </a:xfrm>
          <a:prstGeom xmlns:a="http://schemas.openxmlformats.org/drawingml/2006/main" prst="roundRect">
            <a:avLst>
              <a:gd name="adj" fmla="val 3265"/>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0" name="Google Shape;280;p12">
            <a:extLst xmlns:a="http://schemas.openxmlformats.org/drawingml/2006/main">
              <a:ext uri="{FF2B5EF4-FFF2-40B4-BE49-F238E27FC236}">
                <a16:creationId xmlns:a16="http://schemas.microsoft.com/office/drawing/2014/main" id="{2E4BB46C-4118-42E9-BE61-7F8B7F5E1BC3}"/>
              </a:ext>
            </a:extLst>
          </p:cNvPr>
          <p:cNvSpPr>
            <a:spLocks xmlns:a="http://schemas.openxmlformats.org/drawingml/2006/main" noGrp="1"/>
          </p:cNvSpPr>
          <p:nvPr/>
        </p:nvSpPr>
        <p:spPr>
          <a:xfrm xmlns:a="http://schemas.openxmlformats.org/drawingml/2006/main">
            <a:off x="44386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1" name="Google Shape;281;p12">
            <a:extLst xmlns:a="http://schemas.openxmlformats.org/drawingml/2006/main">
              <a:ext uri="{FF2B5EF4-FFF2-40B4-BE49-F238E27FC236}">
                <a16:creationId xmlns:a16="http://schemas.microsoft.com/office/drawing/2014/main" id="{D059D473-E4D6-4DD8-ACEA-81DF63606602}"/>
              </a:ext>
            </a:extLst>
          </p:cNvPr>
          <p:cNvSpPr>
            <a:spLocks xmlns:a="http://schemas.openxmlformats.org/drawingml/2006/main" noGrp="1"/>
          </p:cNvSpPr>
          <p:nvPr/>
        </p:nvSpPr>
        <p:spPr>
          <a:xfrm xmlns:a="http://schemas.openxmlformats.org/drawingml/2006/main">
            <a:off x="48387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2" name="Google Shape;282;p12">
            <a:extLst xmlns:a="http://schemas.openxmlformats.org/drawingml/2006/main">
              <a:ext uri="{FF2B5EF4-FFF2-40B4-BE49-F238E27FC236}">
                <a16:creationId xmlns:a16="http://schemas.microsoft.com/office/drawing/2014/main" id="{BBDA0505-62E1-4C3A-9E26-7124D2566C45}"/>
              </a:ext>
            </a:extLst>
          </p:cNvPr>
          <p:cNvSpPr>
            <a:spLocks xmlns:a="http://schemas.openxmlformats.org/drawingml/2006/main" noGrp="1"/>
          </p:cNvSpPr>
          <p:nvPr/>
        </p:nvSpPr>
        <p:spPr>
          <a:xfrm xmlns:a="http://schemas.openxmlformats.org/drawingml/2006/main">
            <a:off x="52387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3" name="Google Shape;283;p12">
            <a:extLst xmlns:a="http://schemas.openxmlformats.org/drawingml/2006/main">
              <a:ext uri="{FF2B5EF4-FFF2-40B4-BE49-F238E27FC236}">
                <a16:creationId xmlns:a16="http://schemas.microsoft.com/office/drawing/2014/main" id="{298DB768-0F76-4697-8DB7-3C9F7EA57006}"/>
              </a:ext>
            </a:extLst>
          </p:cNvPr>
          <p:cNvSpPr>
            <a:spLocks xmlns:a="http://schemas.openxmlformats.org/drawingml/2006/main" noGrp="1"/>
          </p:cNvSpPr>
          <p:nvPr/>
        </p:nvSpPr>
        <p:spPr>
          <a:xfrm xmlns:a="http://schemas.openxmlformats.org/drawingml/2006/main">
            <a:off x="56388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4" name="Google Shape;284;p12">
            <a:extLst xmlns:a="http://schemas.openxmlformats.org/drawingml/2006/main">
              <a:ext uri="{FF2B5EF4-FFF2-40B4-BE49-F238E27FC236}">
                <a16:creationId xmlns:a16="http://schemas.microsoft.com/office/drawing/2014/main" id="{CA9DB2ED-4148-4C3C-8278-42502483A1C4}"/>
              </a:ext>
            </a:extLst>
          </p:cNvPr>
          <p:cNvSpPr>
            <a:spLocks xmlns:a="http://schemas.openxmlformats.org/drawingml/2006/main" noGrp="1"/>
          </p:cNvSpPr>
          <p:nvPr/>
        </p:nvSpPr>
        <p:spPr>
          <a:xfrm xmlns:a="http://schemas.openxmlformats.org/drawingml/2006/main">
            <a:off x="60388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5" name="Google Shape;285;p12">
            <a:extLst xmlns:a="http://schemas.openxmlformats.org/drawingml/2006/main">
              <a:ext uri="{FF2B5EF4-FFF2-40B4-BE49-F238E27FC236}">
                <a16:creationId xmlns:a16="http://schemas.microsoft.com/office/drawing/2014/main" id="{A074243F-7C5E-46BC-987F-C10F135ED678}"/>
              </a:ext>
            </a:extLst>
          </p:cNvPr>
          <p:cNvSpPr>
            <a:spLocks xmlns:a="http://schemas.openxmlformats.org/drawingml/2006/main" noGrp="1"/>
          </p:cNvSpPr>
          <p:nvPr/>
        </p:nvSpPr>
        <p:spPr>
          <a:xfrm xmlns:a="http://schemas.openxmlformats.org/drawingml/2006/main">
            <a:off x="4438650" y="21907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6" name="Google Shape;286;p12">
            <a:extLst xmlns:a="http://schemas.openxmlformats.org/drawingml/2006/main">
              <a:ext uri="{FF2B5EF4-FFF2-40B4-BE49-F238E27FC236}">
                <a16:creationId xmlns:a16="http://schemas.microsoft.com/office/drawing/2014/main" id="{97DCE6D4-184A-4339-8915-4917D90A5854}"/>
              </a:ext>
            </a:extLst>
          </p:cNvPr>
          <p:cNvSpPr>
            <a:spLocks xmlns:a="http://schemas.openxmlformats.org/drawingml/2006/main" noGrp="1"/>
          </p:cNvSpPr>
          <p:nvPr/>
        </p:nvSpPr>
        <p:spPr>
          <a:xfrm xmlns:a="http://schemas.openxmlformats.org/drawingml/2006/main">
            <a:off x="4438650" y="259080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7" name="Google Shape;287;p12">
            <a:extLst xmlns:a="http://schemas.openxmlformats.org/drawingml/2006/main">
              <a:ext uri="{FF2B5EF4-FFF2-40B4-BE49-F238E27FC236}">
                <a16:creationId xmlns:a16="http://schemas.microsoft.com/office/drawing/2014/main" id="{F803D26A-0C49-4DAA-BE06-1846E9DED147}"/>
              </a:ext>
            </a:extLst>
          </p:cNvPr>
          <p:cNvSpPr>
            <a:spLocks xmlns:a="http://schemas.openxmlformats.org/drawingml/2006/main" noGrp="1"/>
          </p:cNvSpPr>
          <p:nvPr/>
        </p:nvSpPr>
        <p:spPr>
          <a:xfrm xmlns:a="http://schemas.openxmlformats.org/drawingml/2006/main">
            <a:off x="4438650" y="29908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8" name="Google Shape;288;p12">
            <a:extLst xmlns:a="http://schemas.openxmlformats.org/drawingml/2006/main">
              <a:ext uri="{FF2B5EF4-FFF2-40B4-BE49-F238E27FC236}">
                <a16:creationId xmlns:a16="http://schemas.microsoft.com/office/drawing/2014/main" id="{57F5B852-6BE4-4B71-9BC9-0B11C97E921C}"/>
              </a:ext>
            </a:extLst>
          </p:cNvPr>
          <p:cNvSpPr>
            <a:spLocks xmlns:a="http://schemas.openxmlformats.org/drawingml/2006/main" noGrp="1"/>
          </p:cNvSpPr>
          <p:nvPr/>
        </p:nvSpPr>
        <p:spPr>
          <a:xfrm xmlns:a="http://schemas.openxmlformats.org/drawingml/2006/main">
            <a:off x="4219575"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8D7A"/>
              </a:buClr>
              <a:buSzPts val="1125"/>
              <a:buFont typeface="Lato"/>
              <a:buNone/>
            </a:pPr>
            <a:r>
              <a:rPr sz="1125" b="1" i="0">
                <a:solidFill>
                  <a:srgbClr val="008D7A"/>
                </a:solidFill>
                <a:latin typeface="Lato"/>
                <a:ea typeface="Lato"/>
                <a:cs typeface="Lato"/>
              </a:rPr>
              <a:t>REGIONAL MODEL</a:t>
            </a:r>
            <a:endParaRPr/>
          </a:p>
        </p:txBody>
      </p:sp>
      <p:sp>
        <p:nvSpPr>
          <p:cNvPr id="289" name="Google Shape;289;p12">
            <a:extLst xmlns:a="http://schemas.openxmlformats.org/drawingml/2006/main">
              <a:ext uri="{FF2B5EF4-FFF2-40B4-BE49-F238E27FC236}">
                <a16:creationId xmlns:a16="http://schemas.microsoft.com/office/drawing/2014/main" id="{55F9BAB3-839D-4EF4-BE67-CACFD2308464}"/>
              </a:ext>
            </a:extLst>
          </p:cNvPr>
          <p:cNvSpPr>
            <a:spLocks xmlns:a="http://schemas.openxmlformats.org/drawingml/2006/main" noGrp="1"/>
          </p:cNvSpPr>
          <p:nvPr/>
        </p:nvSpPr>
        <p:spPr>
          <a:xfrm xmlns:a="http://schemas.openxmlformats.org/drawingml/2006/main">
            <a:off x="4219575"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Uses global-model boundary conditions over a defined region</a:t>
            </a:r>
            <a:endParaRPr/>
          </a:p>
        </p:txBody>
      </p:sp>
      <p:sp>
        <p:nvSpPr>
          <p:cNvPr id="290" name="Google Shape;290;p12">
            <a:extLst xmlns:a="http://schemas.openxmlformats.org/drawingml/2006/main">
              <a:ext uri="{FF2B5EF4-FFF2-40B4-BE49-F238E27FC236}">
                <a16:creationId xmlns:a16="http://schemas.microsoft.com/office/drawing/2014/main" id="{7CDBD3E0-F20B-4907-ABB0-124BB0648E52}"/>
              </a:ext>
            </a:extLst>
          </p:cNvPr>
          <p:cNvSpPr>
            <a:spLocks xmlns:a="http://schemas.openxmlformats.org/drawingml/2006/main" noGrp="1"/>
          </p:cNvSpPr>
          <p:nvPr/>
        </p:nvSpPr>
        <p:spPr>
          <a:xfrm xmlns:a="http://schemas.openxmlformats.org/drawingml/2006/main">
            <a:off x="6743700"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91" name="Google Shape;291;p12">
            <a:extLst xmlns:a="http://schemas.openxmlformats.org/drawingml/2006/main">
              <a:ext uri="{FF2B5EF4-FFF2-40B4-BE49-F238E27FC236}">
                <a16:creationId xmlns:a16="http://schemas.microsoft.com/office/drawing/2014/main" id="{5AD7B109-F08F-4DD2-9C9F-C5ACE53293F5}"/>
              </a:ext>
            </a:extLst>
          </p:cNvPr>
          <p:cNvSpPr>
            <a:spLocks xmlns:a="http://schemas.openxmlformats.org/drawingml/2006/main" noGrp="1"/>
          </p:cNvSpPr>
          <p:nvPr/>
        </p:nvSpPr>
        <p:spPr>
          <a:xfrm xmlns:a="http://schemas.openxmlformats.org/drawingml/2006/main">
            <a:off x="721995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2" name="Google Shape;292;p12">
            <a:extLst xmlns:a="http://schemas.openxmlformats.org/drawingml/2006/main">
              <a:ext uri="{FF2B5EF4-FFF2-40B4-BE49-F238E27FC236}">
                <a16:creationId xmlns:a16="http://schemas.microsoft.com/office/drawing/2014/main" id="{0B356B17-CCBB-4320-9EE6-4E31366DC51F}"/>
              </a:ext>
            </a:extLst>
          </p:cNvPr>
          <p:cNvSpPr>
            <a:spLocks xmlns:a="http://schemas.openxmlformats.org/drawingml/2006/main" noGrp="1"/>
          </p:cNvSpPr>
          <p:nvPr/>
        </p:nvSpPr>
        <p:spPr>
          <a:xfrm xmlns:a="http://schemas.openxmlformats.org/drawingml/2006/main">
            <a:off x="7648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3" name="Google Shape;293;p12">
            <a:extLst xmlns:a="http://schemas.openxmlformats.org/drawingml/2006/main">
              <a:ext uri="{FF2B5EF4-FFF2-40B4-BE49-F238E27FC236}">
                <a16:creationId xmlns:a16="http://schemas.microsoft.com/office/drawing/2014/main" id="{69B7FDE3-4FCB-4718-BACA-4814E2335589}"/>
              </a:ext>
            </a:extLst>
          </p:cNvPr>
          <p:cNvSpPr>
            <a:spLocks xmlns:a="http://schemas.openxmlformats.org/drawingml/2006/main" noGrp="1"/>
          </p:cNvSpPr>
          <p:nvPr/>
        </p:nvSpPr>
        <p:spPr>
          <a:xfrm xmlns:a="http://schemas.openxmlformats.org/drawingml/2006/main">
            <a:off x="7934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4" name="Google Shape;294;p12">
            <a:extLst xmlns:a="http://schemas.openxmlformats.org/drawingml/2006/main">
              <a:ext uri="{FF2B5EF4-FFF2-40B4-BE49-F238E27FC236}">
                <a16:creationId xmlns:a16="http://schemas.microsoft.com/office/drawing/2014/main" id="{57DB2B05-2390-4CEA-B24D-C2EB8B4C7907}"/>
              </a:ext>
            </a:extLst>
          </p:cNvPr>
          <p:cNvSpPr>
            <a:spLocks xmlns:a="http://schemas.openxmlformats.org/drawingml/2006/main" noGrp="1"/>
          </p:cNvSpPr>
          <p:nvPr/>
        </p:nvSpPr>
        <p:spPr>
          <a:xfrm xmlns:a="http://schemas.openxmlformats.org/drawingml/2006/main">
            <a:off x="8220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5" name="Google Shape;295;p12">
            <a:extLst xmlns:a="http://schemas.openxmlformats.org/drawingml/2006/main">
              <a:ext uri="{FF2B5EF4-FFF2-40B4-BE49-F238E27FC236}">
                <a16:creationId xmlns:a16="http://schemas.microsoft.com/office/drawing/2014/main" id="{C0D27E7B-B9EE-4E19-B0DA-F105EAD6B863}"/>
              </a:ext>
            </a:extLst>
          </p:cNvPr>
          <p:cNvSpPr>
            <a:spLocks xmlns:a="http://schemas.openxmlformats.org/drawingml/2006/main" noGrp="1"/>
          </p:cNvSpPr>
          <p:nvPr/>
        </p:nvSpPr>
        <p:spPr>
          <a:xfrm xmlns:a="http://schemas.openxmlformats.org/drawingml/2006/main">
            <a:off x="85058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6" name="Google Shape;296;p12">
            <a:extLst xmlns:a="http://schemas.openxmlformats.org/drawingml/2006/main">
              <a:ext uri="{FF2B5EF4-FFF2-40B4-BE49-F238E27FC236}">
                <a16:creationId xmlns:a16="http://schemas.microsoft.com/office/drawing/2014/main" id="{2A93FC9E-3CE0-40F3-8EE4-A0FE82AC13F1}"/>
              </a:ext>
            </a:extLst>
          </p:cNvPr>
          <p:cNvSpPr>
            <a:spLocks xmlns:a="http://schemas.openxmlformats.org/drawingml/2006/main" noGrp="1"/>
          </p:cNvSpPr>
          <p:nvPr/>
        </p:nvSpPr>
        <p:spPr>
          <a:xfrm xmlns:a="http://schemas.openxmlformats.org/drawingml/2006/main">
            <a:off x="8791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7" name="Google Shape;297;p12">
            <a:extLst xmlns:a="http://schemas.openxmlformats.org/drawingml/2006/main">
              <a:ext uri="{FF2B5EF4-FFF2-40B4-BE49-F238E27FC236}">
                <a16:creationId xmlns:a16="http://schemas.microsoft.com/office/drawing/2014/main" id="{9D45C6B4-2004-4CA2-BE76-BDCBFA38F98D}"/>
              </a:ext>
            </a:extLst>
          </p:cNvPr>
          <p:cNvSpPr>
            <a:spLocks xmlns:a="http://schemas.openxmlformats.org/drawingml/2006/main" noGrp="1"/>
          </p:cNvSpPr>
          <p:nvPr/>
        </p:nvSpPr>
        <p:spPr>
          <a:xfrm xmlns:a="http://schemas.openxmlformats.org/drawingml/2006/main">
            <a:off x="9077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8" name="Google Shape;298;p12">
            <a:extLst xmlns:a="http://schemas.openxmlformats.org/drawingml/2006/main">
              <a:ext uri="{FF2B5EF4-FFF2-40B4-BE49-F238E27FC236}">
                <a16:creationId xmlns:a16="http://schemas.microsoft.com/office/drawing/2014/main" id="{5E269B1B-B41A-4B15-B447-99F65B25CB25}"/>
              </a:ext>
            </a:extLst>
          </p:cNvPr>
          <p:cNvSpPr>
            <a:spLocks xmlns:a="http://schemas.openxmlformats.org/drawingml/2006/main" noGrp="1"/>
          </p:cNvSpPr>
          <p:nvPr/>
        </p:nvSpPr>
        <p:spPr>
          <a:xfrm xmlns:a="http://schemas.openxmlformats.org/drawingml/2006/main">
            <a:off x="936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9" name="Google Shape;299;p12">
            <a:extLst xmlns:a="http://schemas.openxmlformats.org/drawingml/2006/main">
              <a:ext uri="{FF2B5EF4-FFF2-40B4-BE49-F238E27FC236}">
                <a16:creationId xmlns:a16="http://schemas.microsoft.com/office/drawing/2014/main" id="{8BF0632E-7553-439C-8BB5-302E1E88A96B}"/>
              </a:ext>
            </a:extLst>
          </p:cNvPr>
          <p:cNvSpPr>
            <a:spLocks xmlns:a="http://schemas.openxmlformats.org/drawingml/2006/main" noGrp="1"/>
          </p:cNvSpPr>
          <p:nvPr/>
        </p:nvSpPr>
        <p:spPr>
          <a:xfrm xmlns:a="http://schemas.openxmlformats.org/drawingml/2006/main">
            <a:off x="764857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0" name="Google Shape;300;p12">
            <a:extLst xmlns:a="http://schemas.openxmlformats.org/drawingml/2006/main">
              <a:ext uri="{FF2B5EF4-FFF2-40B4-BE49-F238E27FC236}">
                <a16:creationId xmlns:a16="http://schemas.microsoft.com/office/drawing/2014/main" id="{E84E6913-CBBB-49A1-A997-0B9807E5D838}"/>
              </a:ext>
            </a:extLst>
          </p:cNvPr>
          <p:cNvSpPr>
            <a:spLocks xmlns:a="http://schemas.openxmlformats.org/drawingml/2006/main" noGrp="1"/>
          </p:cNvSpPr>
          <p:nvPr/>
        </p:nvSpPr>
        <p:spPr>
          <a:xfrm xmlns:a="http://schemas.openxmlformats.org/drawingml/2006/main">
            <a:off x="7648575" y="24765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1" name="Google Shape;301;p12">
            <a:extLst xmlns:a="http://schemas.openxmlformats.org/drawingml/2006/main">
              <a:ext uri="{FF2B5EF4-FFF2-40B4-BE49-F238E27FC236}">
                <a16:creationId xmlns:a16="http://schemas.microsoft.com/office/drawing/2014/main" id="{D88EAE29-C874-4CEB-911D-3C27870168E9}"/>
              </a:ext>
            </a:extLst>
          </p:cNvPr>
          <p:cNvSpPr>
            <a:spLocks xmlns:a="http://schemas.openxmlformats.org/drawingml/2006/main" noGrp="1"/>
          </p:cNvSpPr>
          <p:nvPr/>
        </p:nvSpPr>
        <p:spPr>
          <a:xfrm xmlns:a="http://schemas.openxmlformats.org/drawingml/2006/main">
            <a:off x="7648575" y="27622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2" name="Google Shape;302;p12">
            <a:extLst xmlns:a="http://schemas.openxmlformats.org/drawingml/2006/main">
              <a:ext uri="{FF2B5EF4-FFF2-40B4-BE49-F238E27FC236}">
                <a16:creationId xmlns:a16="http://schemas.microsoft.com/office/drawing/2014/main" id="{3AAABDE8-1CAF-4912-897E-3BACFF9D850B}"/>
              </a:ext>
            </a:extLst>
          </p:cNvPr>
          <p:cNvSpPr>
            <a:spLocks xmlns:a="http://schemas.openxmlformats.org/drawingml/2006/main" noGrp="1"/>
          </p:cNvSpPr>
          <p:nvPr/>
        </p:nvSpPr>
        <p:spPr>
          <a:xfrm xmlns:a="http://schemas.openxmlformats.org/drawingml/2006/main">
            <a:off x="7648575" y="30480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3" name="Google Shape;303;p12">
            <a:extLst xmlns:a="http://schemas.openxmlformats.org/drawingml/2006/main">
              <a:ext uri="{FF2B5EF4-FFF2-40B4-BE49-F238E27FC236}">
                <a16:creationId xmlns:a16="http://schemas.microsoft.com/office/drawing/2014/main" id="{48988B40-F060-45F4-BEE4-B095F33988D8}"/>
              </a:ext>
            </a:extLst>
          </p:cNvPr>
          <p:cNvSpPr>
            <a:spLocks xmlns:a="http://schemas.openxmlformats.org/drawingml/2006/main" noGrp="1"/>
          </p:cNvSpPr>
          <p:nvPr/>
        </p:nvSpPr>
        <p:spPr>
          <a:xfrm xmlns:a="http://schemas.openxmlformats.org/drawingml/2006/main">
            <a:off x="742950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REGIONAL INFORMATION</a:t>
            </a:r>
            <a:endParaRPr/>
          </a:p>
        </p:txBody>
      </p:sp>
      <p:sp>
        <p:nvSpPr>
          <p:cNvPr id="304" name="Google Shape;304;p12">
            <a:extLst xmlns:a="http://schemas.openxmlformats.org/drawingml/2006/main">
              <a:ext uri="{FF2B5EF4-FFF2-40B4-BE49-F238E27FC236}">
                <a16:creationId xmlns:a16="http://schemas.microsoft.com/office/drawing/2014/main" id="{0D142B1B-6AEC-433C-8DA5-5C4A835D1878}"/>
              </a:ext>
            </a:extLst>
          </p:cNvPr>
          <p:cNvSpPr>
            <a:spLocks xmlns:a="http://schemas.openxmlformats.org/drawingml/2006/main" noGrp="1"/>
          </p:cNvSpPr>
          <p:nvPr/>
        </p:nvSpPr>
        <p:spPr>
          <a:xfrm xmlns:a="http://schemas.openxmlformats.org/drawingml/2006/main">
            <a:off x="742950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Resolves more regional features at finer grid spacing</a:t>
            </a:r>
            <a:endParaRPr/>
          </a:p>
        </p:txBody>
      </p:sp>
      <p:sp>
        <p:nvSpPr>
          <p:cNvPr id="305" name="Google Shape;305;p12">
            <a:extLst xmlns:a="http://schemas.openxmlformats.org/drawingml/2006/main">
              <a:ext uri="{FF2B5EF4-FFF2-40B4-BE49-F238E27FC236}">
                <a16:creationId xmlns:a16="http://schemas.microsoft.com/office/drawing/2014/main" id="{EF2FCC56-BBCA-4697-B186-1535A06C9C0E}"/>
              </a:ext>
            </a:extLst>
          </p:cNvPr>
          <p:cNvSpPr>
            <a:spLocks xmlns:a="http://schemas.openxmlformats.org/drawingml/2006/main" noGrp="1"/>
          </p:cNvSpPr>
          <p:nvPr/>
        </p:nvSpPr>
        <p:spPr>
          <a:xfrm xmlns:a="http://schemas.openxmlformats.org/drawingml/2006/main">
            <a:off x="9906000" y="1952625"/>
            <a:ext cx="1600200" cy="2333625"/>
          </a:xfrm>
          <a:prstGeom xmlns:a="http://schemas.openxmlformats.org/drawingml/2006/main" prst="roundRect">
            <a:avLst>
              <a:gd name="adj" fmla="val 4762"/>
            </a:avLst>
          </a:prstGeom>
          <a:solidFill xmlns:a="http://schemas.openxmlformats.org/drawingml/2006/main">
            <a:srgbClr val="FFF3D1"/>
          </a:solidFill>
          <a:ln xmlns:a="http://schemas.openxmlformats.org/drawingml/2006/main" w="9525" cmpd="sng">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6" name="Google Shape;306;p12">
            <a:extLst xmlns:a="http://schemas.openxmlformats.org/drawingml/2006/main">
              <a:ext uri="{FF2B5EF4-FFF2-40B4-BE49-F238E27FC236}">
                <a16:creationId xmlns:a16="http://schemas.microsoft.com/office/drawing/2014/main" id="{E1D48B06-6715-452D-86A0-651A6552AF74}"/>
              </a:ext>
            </a:extLst>
          </p:cNvPr>
          <p:cNvSpPr>
            <a:spLocks xmlns:a="http://schemas.openxmlformats.org/drawingml/2006/main" noGrp="1"/>
          </p:cNvSpPr>
          <p:nvPr/>
        </p:nvSpPr>
        <p:spPr>
          <a:xfrm xmlns:a="http://schemas.openxmlformats.org/drawingml/2006/main">
            <a:off x="10048875" y="2324100"/>
            <a:ext cx="1314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CORDEX-CORE</a:t>
            </a:r>
            <a:endParaRPr/>
          </a:p>
        </p:txBody>
      </p:sp>
      <p:sp>
        <p:nvSpPr>
          <p:cNvPr id="307" name="Google Shape;307;p12">
            <a:extLst xmlns:a="http://schemas.openxmlformats.org/drawingml/2006/main">
              <a:ext uri="{FF2B5EF4-FFF2-40B4-BE49-F238E27FC236}">
                <a16:creationId xmlns:a16="http://schemas.microsoft.com/office/drawing/2014/main" id="{CD604C77-668E-4BF3-8659-9A66CEA4B5A7}"/>
              </a:ext>
            </a:extLst>
          </p:cNvPr>
          <p:cNvSpPr>
            <a:spLocks xmlns:a="http://schemas.openxmlformats.org/drawingml/2006/main" noGrp="1"/>
          </p:cNvSpPr>
          <p:nvPr/>
        </p:nvSpPr>
        <p:spPr>
          <a:xfrm xmlns:a="http://schemas.openxmlformats.org/drawingml/2006/main">
            <a:off x="10067925" y="2876550"/>
            <a:ext cx="127635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0" i="0">
                <a:solidFill>
                  <a:srgbClr val="12304E"/>
                </a:solidFill>
                <a:latin typeface="Lato"/>
                <a:ea typeface="Lato"/>
                <a:cs typeface="Lato"/>
              </a:rPr>
              <a:t>Coordinated regional simulations at about 25 km for major inhabited regions</a:t>
            </a:r>
            <a:endParaRPr/>
          </a:p>
        </p:txBody>
      </p:sp>
      <p:sp>
        <p:nvSpPr>
          <p:cNvPr id="308" name="Google Shape;308;p12">
            <a:extLst xmlns:a="http://schemas.openxmlformats.org/drawingml/2006/main">
              <a:ext uri="{FF2B5EF4-FFF2-40B4-BE49-F238E27FC236}">
                <a16:creationId xmlns:a16="http://schemas.microsoft.com/office/drawing/2014/main" id="{98D169E7-E20F-4CC9-80E6-ECAD9315B7F2}"/>
              </a:ext>
            </a:extLst>
          </p:cNvPr>
          <p:cNvSpPr>
            <a:spLocks xmlns:a="http://schemas.openxmlformats.org/drawingml/2006/main" noGrp="1"/>
          </p:cNvSpPr>
          <p:nvPr/>
        </p:nvSpPr>
        <p:spPr>
          <a:xfrm xmlns:a="http://schemas.openxmlformats.org/drawingml/2006/main">
            <a:off x="1571625" y="5010150"/>
            <a:ext cx="904875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More detail does not remove uncertainty. It changes what regional processes and patterns the model can represent.</a:t>
            </a:r>
            <a:endParaRPr/>
          </a:p>
        </p:txBody>
      </p:sp>
    </p:spTree>
    <p:extLst>
      <p:ext uri="{BB962C8B-B14F-4D97-AF65-F5344CB8AC3E}">
        <p14:creationId xmlns:p14="http://schemas.microsoft.com/office/powerpoint/2010/main" val="647379060"/>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4" name="Google Shape;314;p13">
            <a:extLst xmlns:a="http://schemas.openxmlformats.org/drawingml/2006/main">
              <a:ext uri="{FF2B5EF4-FFF2-40B4-BE49-F238E27FC236}">
                <a16:creationId xmlns:a16="http://schemas.microsoft.com/office/drawing/2014/main" id="{BFC80B89-0A39-41CC-9517-9F4F787F086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simple question can require a complex dataset</a:t>
            </a:r>
            <a:endParaRPr/>
          </a:p>
        </p:txBody>
      </p:sp>
      <p:sp>
        <p:nvSpPr>
          <p:cNvPr id="315" name="Google Shape;315;p13">
            <a:extLst xmlns:a="http://schemas.openxmlformats.org/drawingml/2006/main">
              <a:ext uri="{FF2B5EF4-FFF2-40B4-BE49-F238E27FC236}">
                <a16:creationId xmlns:a16="http://schemas.microsoft.com/office/drawing/2014/main" id="{D572DC1D-9242-467E-A1FF-2B5B93B0355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analytical workload grows quickly across dimensions</a:t>
            </a:r>
            <a:endParaRPr/>
          </a:p>
        </p:txBody>
      </p:sp>
      <p:sp>
        <p:nvSpPr>
          <p:cNvPr id="316" name="Google Shape;316;p13">
            <a:extLst xmlns:a="http://schemas.openxmlformats.org/drawingml/2006/main">
              <a:ext uri="{FF2B5EF4-FFF2-40B4-BE49-F238E27FC236}">
                <a16:creationId xmlns:a16="http://schemas.microsoft.com/office/drawing/2014/main" id="{34B83F5B-8A00-4714-AC8A-AE62C1CFFDF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24B0864F-4D96-4B41-9E28-795288C2763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8" name="Google Shape;318;p13">
            <a:extLst xmlns:a="http://schemas.openxmlformats.org/drawingml/2006/main">
              <a:ext uri="{FF2B5EF4-FFF2-40B4-BE49-F238E27FC236}">
                <a16:creationId xmlns:a16="http://schemas.microsoft.com/office/drawing/2014/main" id="{2772C54B-0058-47FC-AC25-07352B8F2871}"/>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9" name="Google Shape;319;p13">
            <a:extLst xmlns:a="http://schemas.openxmlformats.org/drawingml/2006/main">
              <a:ext uri="{FF2B5EF4-FFF2-40B4-BE49-F238E27FC236}">
                <a16:creationId xmlns:a16="http://schemas.microsoft.com/office/drawing/2014/main" id="{EBEAE9C8-F72A-44A5-9CE0-5D64AB74376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20" name="Google Shape;320;p13">
            <a:extLst xmlns:a="http://schemas.openxmlformats.org/drawingml/2006/main">
              <a:ext uri="{FF2B5EF4-FFF2-40B4-BE49-F238E27FC236}">
                <a16:creationId xmlns:a16="http://schemas.microsoft.com/office/drawing/2014/main" id="{54C8C1A3-7659-4BBC-A216-F40571B8ED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11</a:t>
            </a:r>
            <a:endParaRPr/>
          </a:p>
        </p:txBody>
      </p:sp>
      <p:sp>
        <p:nvSpPr>
          <p:cNvPr id="321" name="Google Shape;321;p13">
            <a:extLst xmlns:a="http://schemas.openxmlformats.org/drawingml/2006/main">
              <a:ext uri="{FF2B5EF4-FFF2-40B4-BE49-F238E27FC236}">
                <a16:creationId xmlns:a16="http://schemas.microsoft.com/office/drawing/2014/main" id="{348FFEDB-F194-4D24-87AB-96CCA0A47CDD}"/>
              </a:ext>
            </a:extLst>
          </p:cNvPr>
          <p:cNvSpPr>
            <a:spLocks xmlns:a="http://schemas.openxmlformats.org/drawingml/2006/main" noGrp="1"/>
          </p:cNvSpPr>
          <p:nvPr/>
        </p:nvSpPr>
        <p:spPr>
          <a:xfrm xmlns:a="http://schemas.openxmlformats.org/drawingml/2006/main">
            <a:off x="666750" y="1695450"/>
            <a:ext cx="3429000" cy="381000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2" name="Google Shape;322;p13">
            <a:extLst xmlns:a="http://schemas.openxmlformats.org/drawingml/2006/main">
              <a:ext uri="{FF2B5EF4-FFF2-40B4-BE49-F238E27FC236}">
                <a16:creationId xmlns:a16="http://schemas.microsoft.com/office/drawing/2014/main" id="{FC9239B4-3E6B-44CB-984D-FD6D86B815C9}"/>
              </a:ext>
            </a:extLst>
          </p:cNvPr>
          <p:cNvSpPr>
            <a:spLocks xmlns:a="http://schemas.openxmlformats.org/drawingml/2006/main" noGrp="1"/>
          </p:cNvSpPr>
          <p:nvPr/>
        </p:nvSpPr>
        <p:spPr>
          <a:xfrm xmlns:a="http://schemas.openxmlformats.org/drawingml/2006/main">
            <a:off x="971550" y="1924050"/>
            <a:ext cx="152400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7200"/>
              <a:buFont typeface="Lato"/>
              <a:buNone/>
            </a:pPr>
            <a:r>
              <a:rPr sz="7200" b="1" i="0">
                <a:solidFill>
                  <a:srgbClr val="F2B632"/>
                </a:solidFill>
                <a:latin typeface="Lato"/>
                <a:ea typeface="Lato"/>
                <a:cs typeface="Lato"/>
              </a:rPr>
              <a:t>6</a:t>
            </a:r>
            <a:endParaRPr/>
          </a:p>
        </p:txBody>
      </p:sp>
      <p:sp>
        <p:nvSpPr>
          <p:cNvPr id="323" name="Google Shape;323;p13">
            <a:extLst xmlns:a="http://schemas.openxmlformats.org/drawingml/2006/main">
              <a:ext uri="{FF2B5EF4-FFF2-40B4-BE49-F238E27FC236}">
                <a16:creationId xmlns:a16="http://schemas.microsoft.com/office/drawing/2014/main" id="{F52A943A-8214-4705-B58D-97D00F08AD2A}"/>
              </a:ext>
            </a:extLst>
          </p:cNvPr>
          <p:cNvSpPr>
            <a:spLocks xmlns:a="http://schemas.openxmlformats.org/drawingml/2006/main" noGrp="1"/>
          </p:cNvSpPr>
          <p:nvPr/>
        </p:nvSpPr>
        <p:spPr>
          <a:xfrm xmlns:a="http://schemas.openxmlformats.org/drawingml/2006/main">
            <a:off x="1028700" y="3028950"/>
            <a:ext cx="2381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400"/>
              <a:buFont typeface="Lato"/>
              <a:buNone/>
            </a:pPr>
            <a:r>
              <a:rPr sz="2400" b="1" i="0">
                <a:solidFill>
                  <a:srgbClr val="FFFFFF"/>
                </a:solidFill>
                <a:latin typeface="Lato"/>
                <a:ea typeface="Lato"/>
                <a:cs typeface="Lato"/>
              </a:rPr>
              <a:t>dimensions</a:t>
            </a:r>
            <a:endParaRPr/>
          </a:p>
        </p:txBody>
      </p:sp>
      <p:sp>
        <p:nvSpPr>
          <p:cNvPr id="324" name="Google Shape;324;p13">
            <a:extLst xmlns:a="http://schemas.openxmlformats.org/drawingml/2006/main">
              <a:ext uri="{FF2B5EF4-FFF2-40B4-BE49-F238E27FC236}">
                <a16:creationId xmlns:a16="http://schemas.microsoft.com/office/drawing/2014/main" id="{0936CEC1-50D4-4893-A186-04D65C406730}"/>
              </a:ext>
            </a:extLst>
          </p:cNvPr>
          <p:cNvSpPr>
            <a:spLocks xmlns:a="http://schemas.openxmlformats.org/drawingml/2006/main" noGrp="1"/>
          </p:cNvSpPr>
          <p:nvPr/>
        </p:nvSpPr>
        <p:spPr>
          <a:xfrm xmlns:a="http://schemas.openxmlformats.org/drawingml/2006/main">
            <a:off x="1028700" y="3676650"/>
            <a:ext cx="2333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D7E5EC"/>
              </a:buClr>
              <a:buSzPts val="1650"/>
              <a:buFont typeface="Lato"/>
              <a:buNone/>
            </a:pPr>
            <a:r>
              <a:rPr sz="1650" b="0" i="0">
                <a:solidFill>
                  <a:srgbClr val="D7E5EC"/>
                </a:solidFill>
                <a:latin typeface="Lato"/>
                <a:ea typeface="Lato"/>
                <a:cs typeface="Lato"/>
              </a:rPr>
              <a:t>must align before analysis</a:t>
            </a:r>
            <a:endParaRPr/>
          </a:p>
        </p:txBody>
      </p:sp>
      <p:sp>
        <p:nvSpPr>
          <p:cNvPr id="325" name="Google Shape;325;p13">
            <a:extLst xmlns:a="http://schemas.openxmlformats.org/drawingml/2006/main">
              <a:ext uri="{FF2B5EF4-FFF2-40B4-BE49-F238E27FC236}">
                <a16:creationId xmlns:a16="http://schemas.microsoft.com/office/drawing/2014/main" id="{D4307374-6C6B-438F-8478-27A5072F1FA0}"/>
              </a:ext>
            </a:extLst>
          </p:cNvPr>
          <p:cNvSpPr>
            <a:spLocks xmlns:a="http://schemas.openxmlformats.org/drawingml/2006/main" noGrp="1"/>
          </p:cNvSpPr>
          <p:nvPr/>
        </p:nvSpPr>
        <p:spPr>
          <a:xfrm xmlns:a="http://schemas.openxmlformats.org/drawingml/2006/main">
            <a:off x="1028700" y="4762500"/>
            <a:ext cx="2047875"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6" name="Google Shape;326;p13">
            <a:extLst xmlns:a="http://schemas.openxmlformats.org/drawingml/2006/main">
              <a:ext uri="{FF2B5EF4-FFF2-40B4-BE49-F238E27FC236}">
                <a16:creationId xmlns:a16="http://schemas.microsoft.com/office/drawing/2014/main" id="{7486C1FB-1DD7-40AD-AD87-47965137921B}"/>
              </a:ext>
            </a:extLst>
          </p:cNvPr>
          <p:cNvSpPr>
            <a:spLocks xmlns:a="http://schemas.openxmlformats.org/drawingml/2006/main" noGrp="1"/>
          </p:cNvSpPr>
          <p:nvPr/>
        </p:nvSpPr>
        <p:spPr>
          <a:xfrm xmlns:a="http://schemas.openxmlformats.org/drawingml/2006/main">
            <a:off x="1028700" y="4972050"/>
            <a:ext cx="2286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Subset, harmonize and combine</a:t>
            </a:r>
            <a:endParaRPr/>
          </a:p>
        </p:txBody>
      </p:sp>
      <p:sp>
        <p:nvSpPr>
          <p:cNvPr id="327" name="Google Shape;327;p13">
            <a:extLst xmlns:a="http://schemas.openxmlformats.org/drawingml/2006/main">
              <a:ext uri="{FF2B5EF4-FFF2-40B4-BE49-F238E27FC236}">
                <a16:creationId xmlns:a16="http://schemas.microsoft.com/office/drawing/2014/main" id="{A0C43FAA-9C63-40B3-8319-CAD84B8951A4}"/>
              </a:ext>
            </a:extLst>
          </p:cNvPr>
          <p:cNvSpPr>
            <a:spLocks xmlns:a="http://schemas.openxmlformats.org/drawingml/2006/main" noGrp="1"/>
          </p:cNvSpPr>
          <p:nvPr/>
        </p:nvSpPr>
        <p:spPr>
          <a:xfrm xmlns:a="http://schemas.openxmlformats.org/drawingml/2006/main">
            <a:off x="4572000" y="17811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01</a:t>
            </a:r>
            <a:endParaRPr/>
          </a:p>
        </p:txBody>
      </p:sp>
      <p:sp>
        <p:nvSpPr>
          <p:cNvPr id="328" name="Google Shape;328;p13">
            <a:extLst xmlns:a="http://schemas.openxmlformats.org/drawingml/2006/main">
              <a:ext uri="{FF2B5EF4-FFF2-40B4-BE49-F238E27FC236}">
                <a16:creationId xmlns:a16="http://schemas.microsoft.com/office/drawing/2014/main" id="{DD8670DE-E760-42CF-BA8D-059F197AAAED}"/>
              </a:ext>
            </a:extLst>
          </p:cNvPr>
          <p:cNvSpPr>
            <a:spLocks xmlns:a="http://schemas.openxmlformats.org/drawingml/2006/main" noGrp="1"/>
          </p:cNvSpPr>
          <p:nvPr/>
        </p:nvSpPr>
        <p:spPr>
          <a:xfrm xmlns:a="http://schemas.openxmlformats.org/drawingml/2006/main">
            <a:off x="5162550" y="17430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MODELS</a:t>
            </a:r>
            <a:endParaRPr/>
          </a:p>
        </p:txBody>
      </p:sp>
      <p:sp>
        <p:nvSpPr>
          <p:cNvPr id="329" name="Google Shape;329;p13">
            <a:extLst xmlns:a="http://schemas.openxmlformats.org/drawingml/2006/main">
              <a:ext uri="{FF2B5EF4-FFF2-40B4-BE49-F238E27FC236}">
                <a16:creationId xmlns:a16="http://schemas.microsoft.com/office/drawing/2014/main" id="{70BB8B42-20A6-4336-9690-375ACCD8FE53}"/>
              </a:ext>
            </a:extLst>
          </p:cNvPr>
          <p:cNvSpPr>
            <a:spLocks xmlns:a="http://schemas.openxmlformats.org/drawingml/2006/main" noGrp="1"/>
          </p:cNvSpPr>
          <p:nvPr/>
        </p:nvSpPr>
        <p:spPr>
          <a:xfrm xmlns:a="http://schemas.openxmlformats.org/drawingml/2006/main">
            <a:off x="6953250" y="17430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Several GCM–RCM combinations</a:t>
            </a:r>
            <a:endParaRPr/>
          </a:p>
        </p:txBody>
      </p:sp>
      <p:sp>
        <p:nvSpPr>
          <p:cNvPr id="330" name="Google Shape;330;p13">
            <a:extLst xmlns:a="http://schemas.openxmlformats.org/drawingml/2006/main">
              <a:ext uri="{FF2B5EF4-FFF2-40B4-BE49-F238E27FC236}">
                <a16:creationId xmlns:a16="http://schemas.microsoft.com/office/drawing/2014/main" id="{AB2F79A1-7EB6-4514-B8C8-B8663328D3EF}"/>
              </a:ext>
            </a:extLst>
          </p:cNvPr>
          <p:cNvSpPr>
            <a:spLocks xmlns:a="http://schemas.openxmlformats.org/drawingml/2006/main" noGrp="1"/>
          </p:cNvSpPr>
          <p:nvPr/>
        </p:nvSpPr>
        <p:spPr>
          <a:xfrm xmlns:a="http://schemas.openxmlformats.org/drawingml/2006/main">
            <a:off x="4572000" y="21907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1" name="Google Shape;331;p13">
            <a:extLst xmlns:a="http://schemas.openxmlformats.org/drawingml/2006/main">
              <a:ext uri="{FF2B5EF4-FFF2-40B4-BE49-F238E27FC236}">
                <a16:creationId xmlns:a16="http://schemas.microsoft.com/office/drawing/2014/main" id="{C42FBADF-2833-4DDF-A01B-0245021DD764}"/>
              </a:ext>
            </a:extLst>
          </p:cNvPr>
          <p:cNvSpPr>
            <a:spLocks xmlns:a="http://schemas.openxmlformats.org/drawingml/2006/main" noGrp="1"/>
          </p:cNvSpPr>
          <p:nvPr/>
        </p:nvSpPr>
        <p:spPr>
          <a:xfrm xmlns:a="http://schemas.openxmlformats.org/drawingml/2006/main">
            <a:off x="4572000" y="24003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02</a:t>
            </a:r>
            <a:endParaRPr/>
          </a:p>
        </p:txBody>
      </p:sp>
      <p:sp>
        <p:nvSpPr>
          <p:cNvPr id="332" name="Google Shape;332;p13">
            <a:extLst xmlns:a="http://schemas.openxmlformats.org/drawingml/2006/main">
              <a:ext uri="{FF2B5EF4-FFF2-40B4-BE49-F238E27FC236}">
                <a16:creationId xmlns:a16="http://schemas.microsoft.com/office/drawing/2014/main" id="{1542F35E-F991-4D6A-BA00-D513164A0BB8}"/>
              </a:ext>
            </a:extLst>
          </p:cNvPr>
          <p:cNvSpPr>
            <a:spLocks xmlns:a="http://schemas.openxmlformats.org/drawingml/2006/main" noGrp="1"/>
          </p:cNvSpPr>
          <p:nvPr/>
        </p:nvSpPr>
        <p:spPr>
          <a:xfrm xmlns:a="http://schemas.openxmlformats.org/drawingml/2006/main">
            <a:off x="5162550" y="23622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SCENARIOS</a:t>
            </a:r>
            <a:endParaRPr/>
          </a:p>
        </p:txBody>
      </p:sp>
      <p:sp>
        <p:nvSpPr>
          <p:cNvPr id="333" name="Google Shape;333;p13">
            <a:extLst xmlns:a="http://schemas.openxmlformats.org/drawingml/2006/main">
              <a:ext uri="{FF2B5EF4-FFF2-40B4-BE49-F238E27FC236}">
                <a16:creationId xmlns:a16="http://schemas.microsoft.com/office/drawing/2014/main" id="{02D716DB-CF7F-4087-855D-DEFBBB6FA7C0}"/>
              </a:ext>
            </a:extLst>
          </p:cNvPr>
          <p:cNvSpPr>
            <a:spLocks xmlns:a="http://schemas.openxmlformats.org/drawingml/2006/main" noGrp="1"/>
          </p:cNvSpPr>
          <p:nvPr/>
        </p:nvSpPr>
        <p:spPr>
          <a:xfrm xmlns:a="http://schemas.openxmlformats.org/drawingml/2006/main">
            <a:off x="6953250" y="23622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Alternative future pathways</a:t>
            </a:r>
            <a:endParaRPr/>
          </a:p>
        </p:txBody>
      </p:sp>
      <p:sp>
        <p:nvSpPr>
          <p:cNvPr id="334" name="Google Shape;334;p13">
            <a:extLst xmlns:a="http://schemas.openxmlformats.org/drawingml/2006/main">
              <a:ext uri="{FF2B5EF4-FFF2-40B4-BE49-F238E27FC236}">
                <a16:creationId xmlns:a16="http://schemas.microsoft.com/office/drawing/2014/main" id="{E449290F-6B4F-4D11-883F-CABC0FB86B1F}"/>
              </a:ext>
            </a:extLst>
          </p:cNvPr>
          <p:cNvSpPr>
            <a:spLocks xmlns:a="http://schemas.openxmlformats.org/drawingml/2006/main" noGrp="1"/>
          </p:cNvSpPr>
          <p:nvPr/>
        </p:nvSpPr>
        <p:spPr>
          <a:xfrm xmlns:a="http://schemas.openxmlformats.org/drawingml/2006/main">
            <a:off x="4572000" y="280987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5" name="Google Shape;335;p13">
            <a:extLst xmlns:a="http://schemas.openxmlformats.org/drawingml/2006/main">
              <a:ext uri="{FF2B5EF4-FFF2-40B4-BE49-F238E27FC236}">
                <a16:creationId xmlns:a16="http://schemas.microsoft.com/office/drawing/2014/main" id="{E631BD77-1BEC-4922-A84C-8D27899F4D70}"/>
              </a:ext>
            </a:extLst>
          </p:cNvPr>
          <p:cNvSpPr>
            <a:spLocks xmlns:a="http://schemas.openxmlformats.org/drawingml/2006/main" noGrp="1"/>
          </p:cNvSpPr>
          <p:nvPr/>
        </p:nvSpPr>
        <p:spPr>
          <a:xfrm xmlns:a="http://schemas.openxmlformats.org/drawingml/2006/main">
            <a:off x="4572000" y="301942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03</a:t>
            </a:r>
            <a:endParaRPr/>
          </a:p>
        </p:txBody>
      </p:sp>
      <p:sp>
        <p:nvSpPr>
          <p:cNvPr id="336" name="Google Shape;336;p13">
            <a:extLst xmlns:a="http://schemas.openxmlformats.org/drawingml/2006/main">
              <a:ext uri="{FF2B5EF4-FFF2-40B4-BE49-F238E27FC236}">
                <a16:creationId xmlns:a16="http://schemas.microsoft.com/office/drawing/2014/main" id="{F343CB2E-30FC-4966-A850-F31EA9991399}"/>
              </a:ext>
            </a:extLst>
          </p:cNvPr>
          <p:cNvSpPr>
            <a:spLocks xmlns:a="http://schemas.openxmlformats.org/drawingml/2006/main" noGrp="1"/>
          </p:cNvSpPr>
          <p:nvPr/>
        </p:nvSpPr>
        <p:spPr>
          <a:xfrm xmlns:a="http://schemas.openxmlformats.org/drawingml/2006/main">
            <a:off x="5162550" y="298132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VARIABLES</a:t>
            </a:r>
            <a:endParaRPr/>
          </a:p>
        </p:txBody>
      </p:sp>
      <p:sp>
        <p:nvSpPr>
          <p:cNvPr id="337" name="Google Shape;337;p13">
            <a:extLst xmlns:a="http://schemas.openxmlformats.org/drawingml/2006/main">
              <a:ext uri="{FF2B5EF4-FFF2-40B4-BE49-F238E27FC236}">
                <a16:creationId xmlns:a16="http://schemas.microsoft.com/office/drawing/2014/main" id="{C09006F0-0A58-4B29-8C5C-49CF3B206BF6}"/>
              </a:ext>
            </a:extLst>
          </p:cNvPr>
          <p:cNvSpPr>
            <a:spLocks xmlns:a="http://schemas.openxmlformats.org/drawingml/2006/main" noGrp="1"/>
          </p:cNvSpPr>
          <p:nvPr/>
        </p:nvSpPr>
        <p:spPr>
          <a:xfrm xmlns:a="http://schemas.openxmlformats.org/drawingml/2006/main">
            <a:off x="6953250" y="298132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Temperature, precipitation and more</a:t>
            </a:r>
            <a:endParaRPr/>
          </a:p>
        </p:txBody>
      </p:sp>
      <p:sp>
        <p:nvSpPr>
          <p:cNvPr id="338" name="Google Shape;338;p13">
            <a:extLst xmlns:a="http://schemas.openxmlformats.org/drawingml/2006/main">
              <a:ext uri="{FF2B5EF4-FFF2-40B4-BE49-F238E27FC236}">
                <a16:creationId xmlns:a16="http://schemas.microsoft.com/office/drawing/2014/main" id="{E56786CF-62B0-4C68-B4B9-064463C58B67}"/>
              </a:ext>
            </a:extLst>
          </p:cNvPr>
          <p:cNvSpPr>
            <a:spLocks xmlns:a="http://schemas.openxmlformats.org/drawingml/2006/main" noGrp="1"/>
          </p:cNvSpPr>
          <p:nvPr/>
        </p:nvSpPr>
        <p:spPr>
          <a:xfrm xmlns:a="http://schemas.openxmlformats.org/drawingml/2006/main">
            <a:off x="4572000" y="342900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9" name="Google Shape;339;p13">
            <a:extLst xmlns:a="http://schemas.openxmlformats.org/drawingml/2006/main">
              <a:ext uri="{FF2B5EF4-FFF2-40B4-BE49-F238E27FC236}">
                <a16:creationId xmlns:a16="http://schemas.microsoft.com/office/drawing/2014/main" id="{563299D1-7F00-4F3A-998C-73E5DEF934A4}"/>
              </a:ext>
            </a:extLst>
          </p:cNvPr>
          <p:cNvSpPr>
            <a:spLocks xmlns:a="http://schemas.openxmlformats.org/drawingml/2006/main" noGrp="1"/>
          </p:cNvSpPr>
          <p:nvPr/>
        </p:nvSpPr>
        <p:spPr>
          <a:xfrm xmlns:a="http://schemas.openxmlformats.org/drawingml/2006/main">
            <a:off x="4572000" y="363855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04</a:t>
            </a:r>
            <a:endParaRPr/>
          </a:p>
        </p:txBody>
      </p:sp>
      <p:sp>
        <p:nvSpPr>
          <p:cNvPr id="340" name="Google Shape;340;p13">
            <a:extLst xmlns:a="http://schemas.openxmlformats.org/drawingml/2006/main">
              <a:ext uri="{FF2B5EF4-FFF2-40B4-BE49-F238E27FC236}">
                <a16:creationId xmlns:a16="http://schemas.microsoft.com/office/drawing/2014/main" id="{329ADD4C-7B32-4594-93EC-A0F0FFDFA3C8}"/>
              </a:ext>
            </a:extLst>
          </p:cNvPr>
          <p:cNvSpPr>
            <a:spLocks xmlns:a="http://schemas.openxmlformats.org/drawingml/2006/main" noGrp="1"/>
          </p:cNvSpPr>
          <p:nvPr/>
        </p:nvSpPr>
        <p:spPr>
          <a:xfrm xmlns:a="http://schemas.openxmlformats.org/drawingml/2006/main">
            <a:off x="5162550" y="36004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TIME</a:t>
            </a:r>
            <a:endParaRPr/>
          </a:p>
        </p:txBody>
      </p:sp>
      <p:sp>
        <p:nvSpPr>
          <p:cNvPr id="341" name="Google Shape;341;p13">
            <a:extLst xmlns:a="http://schemas.openxmlformats.org/drawingml/2006/main">
              <a:ext uri="{FF2B5EF4-FFF2-40B4-BE49-F238E27FC236}">
                <a16:creationId xmlns:a16="http://schemas.microsoft.com/office/drawing/2014/main" id="{B52AD4DC-A52B-46D0-A5FE-C6DC66FE9E4D}"/>
              </a:ext>
            </a:extLst>
          </p:cNvPr>
          <p:cNvSpPr>
            <a:spLocks xmlns:a="http://schemas.openxmlformats.org/drawingml/2006/main" noGrp="1"/>
          </p:cNvSpPr>
          <p:nvPr/>
        </p:nvSpPr>
        <p:spPr>
          <a:xfrm xmlns:a="http://schemas.openxmlformats.org/drawingml/2006/main">
            <a:off x="6953250" y="360045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Historical and future periods</a:t>
            </a:r>
            <a:endParaRPr/>
          </a:p>
        </p:txBody>
      </p:sp>
      <p:sp>
        <p:nvSpPr>
          <p:cNvPr id="342" name="Google Shape;342;p13">
            <a:extLst xmlns:a="http://schemas.openxmlformats.org/drawingml/2006/main">
              <a:ext uri="{FF2B5EF4-FFF2-40B4-BE49-F238E27FC236}">
                <a16:creationId xmlns:a16="http://schemas.microsoft.com/office/drawing/2014/main" id="{60919BFA-4193-48A1-AC85-BF64D7A1026F}"/>
              </a:ext>
            </a:extLst>
          </p:cNvPr>
          <p:cNvSpPr>
            <a:spLocks xmlns:a="http://schemas.openxmlformats.org/drawingml/2006/main" noGrp="1"/>
          </p:cNvSpPr>
          <p:nvPr/>
        </p:nvSpPr>
        <p:spPr>
          <a:xfrm xmlns:a="http://schemas.openxmlformats.org/drawingml/2006/main">
            <a:off x="4572000" y="404812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3" name="Google Shape;343;p13">
            <a:extLst xmlns:a="http://schemas.openxmlformats.org/drawingml/2006/main">
              <a:ext uri="{FF2B5EF4-FFF2-40B4-BE49-F238E27FC236}">
                <a16:creationId xmlns:a16="http://schemas.microsoft.com/office/drawing/2014/main" id="{2B2A5729-A0E0-445F-A2CD-D2994E7ED86E}"/>
              </a:ext>
            </a:extLst>
          </p:cNvPr>
          <p:cNvSpPr>
            <a:spLocks xmlns:a="http://schemas.openxmlformats.org/drawingml/2006/main" noGrp="1"/>
          </p:cNvSpPr>
          <p:nvPr/>
        </p:nvSpPr>
        <p:spPr>
          <a:xfrm xmlns:a="http://schemas.openxmlformats.org/drawingml/2006/main">
            <a:off x="4572000" y="42576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05</a:t>
            </a:r>
            <a:endParaRPr/>
          </a:p>
        </p:txBody>
      </p:sp>
      <p:sp>
        <p:nvSpPr>
          <p:cNvPr id="344" name="Google Shape;344;p13">
            <a:extLst xmlns:a="http://schemas.openxmlformats.org/drawingml/2006/main">
              <a:ext uri="{FF2B5EF4-FFF2-40B4-BE49-F238E27FC236}">
                <a16:creationId xmlns:a16="http://schemas.microsoft.com/office/drawing/2014/main" id="{F0243529-7ADD-4BC0-89C3-8D4F90D28743}"/>
              </a:ext>
            </a:extLst>
          </p:cNvPr>
          <p:cNvSpPr>
            <a:spLocks xmlns:a="http://schemas.openxmlformats.org/drawingml/2006/main" noGrp="1"/>
          </p:cNvSpPr>
          <p:nvPr/>
        </p:nvSpPr>
        <p:spPr>
          <a:xfrm xmlns:a="http://schemas.openxmlformats.org/drawingml/2006/main">
            <a:off x="5162550" y="42195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SPACE</a:t>
            </a:r>
            <a:endParaRPr/>
          </a:p>
        </p:txBody>
      </p:sp>
      <p:sp>
        <p:nvSpPr>
          <p:cNvPr id="345" name="Google Shape;345;p13">
            <a:extLst xmlns:a="http://schemas.openxmlformats.org/drawingml/2006/main">
              <a:ext uri="{FF2B5EF4-FFF2-40B4-BE49-F238E27FC236}">
                <a16:creationId xmlns:a16="http://schemas.microsoft.com/office/drawing/2014/main" id="{CAB5FBCA-2D74-4BAC-976D-D2D8FA4E16C8}"/>
              </a:ext>
            </a:extLst>
          </p:cNvPr>
          <p:cNvSpPr>
            <a:spLocks xmlns:a="http://schemas.openxmlformats.org/drawingml/2006/main" noGrp="1"/>
          </p:cNvSpPr>
          <p:nvPr/>
        </p:nvSpPr>
        <p:spPr>
          <a:xfrm xmlns:a="http://schemas.openxmlformats.org/drawingml/2006/main">
            <a:off x="6953250" y="42195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Domains, grids and project boundaries</a:t>
            </a:r>
            <a:endParaRPr/>
          </a:p>
        </p:txBody>
      </p:sp>
      <p:sp>
        <p:nvSpPr>
          <p:cNvPr id="346" name="Google Shape;346;p13">
            <a:extLst xmlns:a="http://schemas.openxmlformats.org/drawingml/2006/main">
              <a:ext uri="{FF2B5EF4-FFF2-40B4-BE49-F238E27FC236}">
                <a16:creationId xmlns:a16="http://schemas.microsoft.com/office/drawing/2014/main" id="{EEB9C54D-3748-459F-A7D8-A32D811A10F9}"/>
              </a:ext>
            </a:extLst>
          </p:cNvPr>
          <p:cNvSpPr>
            <a:spLocks xmlns:a="http://schemas.openxmlformats.org/drawingml/2006/main" noGrp="1"/>
          </p:cNvSpPr>
          <p:nvPr/>
        </p:nvSpPr>
        <p:spPr>
          <a:xfrm xmlns:a="http://schemas.openxmlformats.org/drawingml/2006/main">
            <a:off x="4572000" y="46672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7" name="Google Shape;347;p13">
            <a:extLst xmlns:a="http://schemas.openxmlformats.org/drawingml/2006/main">
              <a:ext uri="{FF2B5EF4-FFF2-40B4-BE49-F238E27FC236}">
                <a16:creationId xmlns:a16="http://schemas.microsoft.com/office/drawing/2014/main" id="{4AEE7733-CD0E-4FEE-8E97-64178AC7E10C}"/>
              </a:ext>
            </a:extLst>
          </p:cNvPr>
          <p:cNvSpPr>
            <a:spLocks xmlns:a="http://schemas.openxmlformats.org/drawingml/2006/main" noGrp="1"/>
          </p:cNvSpPr>
          <p:nvPr/>
        </p:nvSpPr>
        <p:spPr>
          <a:xfrm xmlns:a="http://schemas.openxmlformats.org/drawingml/2006/main">
            <a:off x="4572000" y="48768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06</a:t>
            </a:r>
            <a:endParaRPr/>
          </a:p>
        </p:txBody>
      </p:sp>
      <p:sp>
        <p:nvSpPr>
          <p:cNvPr id="348" name="Google Shape;348;p13">
            <a:extLst xmlns:a="http://schemas.openxmlformats.org/drawingml/2006/main">
              <a:ext uri="{FF2B5EF4-FFF2-40B4-BE49-F238E27FC236}">
                <a16:creationId xmlns:a16="http://schemas.microsoft.com/office/drawing/2014/main" id="{5E6DAFA7-8E9A-4894-8B6D-E2B7ED94ABA5}"/>
              </a:ext>
            </a:extLst>
          </p:cNvPr>
          <p:cNvSpPr>
            <a:spLocks xmlns:a="http://schemas.openxmlformats.org/drawingml/2006/main" noGrp="1"/>
          </p:cNvSpPr>
          <p:nvPr/>
        </p:nvSpPr>
        <p:spPr>
          <a:xfrm xmlns:a="http://schemas.openxmlformats.org/drawingml/2006/main">
            <a:off x="5162550" y="48387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FORMATS</a:t>
            </a:r>
            <a:endParaRPr/>
          </a:p>
        </p:txBody>
      </p:sp>
      <p:sp>
        <p:nvSpPr>
          <p:cNvPr id="349" name="Google Shape;349;p13">
            <a:extLst xmlns:a="http://schemas.openxmlformats.org/drawingml/2006/main">
              <a:ext uri="{FF2B5EF4-FFF2-40B4-BE49-F238E27FC236}">
                <a16:creationId xmlns:a16="http://schemas.microsoft.com/office/drawing/2014/main" id="{2203A701-F96A-457C-8439-489E4621EC0F}"/>
              </a:ext>
            </a:extLst>
          </p:cNvPr>
          <p:cNvSpPr>
            <a:spLocks xmlns:a="http://schemas.openxmlformats.org/drawingml/2006/main" noGrp="1"/>
          </p:cNvSpPr>
          <p:nvPr/>
        </p:nvSpPr>
        <p:spPr>
          <a:xfrm xmlns:a="http://schemas.openxmlformats.org/drawingml/2006/main">
            <a:off x="6953250" y="48387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Units, calendars and file conventions</a:t>
            </a:r>
            <a:endParaRPr/>
          </a:p>
        </p:txBody>
      </p:sp>
    </p:spTree>
    <p:extLst>
      <p:ext uri="{BB962C8B-B14F-4D97-AF65-F5344CB8AC3E}">
        <p14:creationId xmlns:p14="http://schemas.microsoft.com/office/powerpoint/2010/main" val="168893195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5" name="Google Shape;355;p14">
            <a:extLst xmlns:a="http://schemas.openxmlformats.org/drawingml/2006/main">
              <a:ext uri="{FF2B5EF4-FFF2-40B4-BE49-F238E27FC236}">
                <a16:creationId xmlns:a16="http://schemas.microsoft.com/office/drawing/2014/main" id="{E9494ADA-D0AF-4B0C-A641-B5555AFCB3B5}"/>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Model bias</a:t>
            </a:r>
            <a:endParaRPr/>
          </a:p>
        </p:txBody>
      </p:sp>
      <p:sp>
        <p:nvSpPr>
          <p:cNvPr id="356" name="Google Shape;356;p14">
            <a:extLst xmlns:a="http://schemas.openxmlformats.org/drawingml/2006/main">
              <a:ext uri="{FF2B5EF4-FFF2-40B4-BE49-F238E27FC236}">
                <a16:creationId xmlns:a16="http://schemas.microsoft.com/office/drawing/2014/main" id="{AD62DAD1-747F-4ED5-ADB8-B3E998C1AFC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climate model may reproduce the broad climate while showing systematic differences from a reference dataset</a:t>
            </a:r>
            <a:endParaRPr/>
          </a:p>
        </p:txBody>
      </p:sp>
      <p:sp>
        <p:nvSpPr>
          <p:cNvPr id="357" name="Google Shape;357;p14">
            <a:extLst xmlns:a="http://schemas.openxmlformats.org/drawingml/2006/main">
              <a:ext uri="{FF2B5EF4-FFF2-40B4-BE49-F238E27FC236}">
                <a16:creationId xmlns:a16="http://schemas.microsoft.com/office/drawing/2014/main" id="{800C9E6D-D431-4064-821A-BDBBA3BF820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8" name="Google Shape;358;p14">
            <a:extLst xmlns:a="http://schemas.openxmlformats.org/drawingml/2006/main">
              <a:ext uri="{FF2B5EF4-FFF2-40B4-BE49-F238E27FC236}">
                <a16:creationId xmlns:a16="http://schemas.microsoft.com/office/drawing/2014/main" id="{096AEFC0-910F-45B5-BB7A-CEC59E69C8A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9" name="Google Shape;359;p14">
            <a:extLst xmlns:a="http://schemas.openxmlformats.org/drawingml/2006/main">
              <a:ext uri="{FF2B5EF4-FFF2-40B4-BE49-F238E27FC236}">
                <a16:creationId xmlns:a16="http://schemas.microsoft.com/office/drawing/2014/main" id="{AB191D45-9BA7-438C-B3F1-456A3751025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0" name="Google Shape;360;p14">
            <a:extLst xmlns:a="http://schemas.openxmlformats.org/drawingml/2006/main">
              <a:ext uri="{FF2B5EF4-FFF2-40B4-BE49-F238E27FC236}">
                <a16:creationId xmlns:a16="http://schemas.microsoft.com/office/drawing/2014/main" id="{7E749176-F7AB-47A6-B1B2-96216A7FE24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61" name="Google Shape;361;p14">
            <a:extLst xmlns:a="http://schemas.openxmlformats.org/drawingml/2006/main">
              <a:ext uri="{FF2B5EF4-FFF2-40B4-BE49-F238E27FC236}">
                <a16:creationId xmlns:a16="http://schemas.microsoft.com/office/drawing/2014/main" id="{3E8A6D7C-5A16-412C-85D1-5A76EB6BFEE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12</a:t>
            </a:r>
            <a:endParaRPr/>
          </a:p>
        </p:txBody>
      </p:sp>
      <p:sp>
        <p:nvSpPr>
          <p:cNvPr id="362" name="Google Shape;362;p14">
            <a:extLst xmlns:a="http://schemas.openxmlformats.org/drawingml/2006/main">
              <a:ext uri="{FF2B5EF4-FFF2-40B4-BE49-F238E27FC236}">
                <a16:creationId xmlns:a16="http://schemas.microsoft.com/office/drawing/2014/main" id="{B2C8081E-040D-4594-857B-47094030330B}"/>
              </a:ext>
            </a:extLst>
          </p:cNvPr>
          <p:cNvSpPr>
            <a:spLocks xmlns:a="http://schemas.openxmlformats.org/drawingml/2006/main" noGrp="1"/>
          </p:cNvSpPr>
          <p:nvPr/>
        </p:nvSpPr>
        <p:spPr>
          <a:xfrm xmlns:a="http://schemas.openxmlformats.org/drawingml/2006/main">
            <a:off x="952500" y="1905000"/>
            <a:ext cx="47625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3" name="Google Shape;363;p14">
            <a:extLst xmlns:a="http://schemas.openxmlformats.org/drawingml/2006/main">
              <a:ext uri="{FF2B5EF4-FFF2-40B4-BE49-F238E27FC236}">
                <a16:creationId xmlns:a16="http://schemas.microsoft.com/office/drawing/2014/main" id="{ADB83723-DDDD-4BA4-B7F7-DBB5E1382F9F}"/>
              </a:ext>
            </a:extLst>
          </p:cNvPr>
          <p:cNvSpPr>
            <a:spLocks xmlns:a="http://schemas.openxmlformats.org/drawingml/2006/main" noGrp="1"/>
          </p:cNvSpPr>
          <p:nvPr/>
        </p:nvSpPr>
        <p:spPr>
          <a:xfrm xmlns:a="http://schemas.openxmlformats.org/drawingml/2006/main">
            <a:off x="1219200" y="2095500"/>
            <a:ext cx="422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Illustrative historical distribution</a:t>
            </a:r>
            <a:endParaRPr/>
          </a:p>
        </p:txBody>
      </p:sp>
      <p:sp>
        <p:nvSpPr>
          <p:cNvPr id="364" name="Google Shape;364;p14">
            <a:extLst xmlns:a="http://schemas.openxmlformats.org/drawingml/2006/main">
              <a:ext uri="{FF2B5EF4-FFF2-40B4-BE49-F238E27FC236}">
                <a16:creationId xmlns:a16="http://schemas.microsoft.com/office/drawing/2014/main" id="{C5D7A3C5-5D6F-4F34-821A-28EE8444AFBD}"/>
              </a:ext>
            </a:extLst>
          </p:cNvPr>
          <p:cNvSpPr>
            <a:spLocks xmlns:a="http://schemas.openxmlformats.org/drawingml/2006/main" noGrp="1"/>
          </p:cNvSpPr>
          <p:nvPr/>
        </p:nvSpPr>
        <p:spPr>
          <a:xfrm xmlns:a="http://schemas.openxmlformats.org/drawingml/2006/main">
            <a:off x="1381125" y="4238625"/>
            <a:ext cx="3762375" cy="190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5" name="Google Shape;365;p14">
            <a:extLst xmlns:a="http://schemas.openxmlformats.org/drawingml/2006/main">
              <a:ext uri="{FF2B5EF4-FFF2-40B4-BE49-F238E27FC236}">
                <a16:creationId xmlns:a16="http://schemas.microsoft.com/office/drawing/2014/main" id="{DFDFD339-22E6-4EFE-B536-0E872695A7A2}"/>
              </a:ext>
            </a:extLst>
          </p:cNvPr>
          <p:cNvSpPr>
            <a:spLocks xmlns:a="http://schemas.openxmlformats.org/drawingml/2006/main" noGrp="1"/>
          </p:cNvSpPr>
          <p:nvPr/>
        </p:nvSpPr>
        <p:spPr>
          <a:xfrm xmlns:a="http://schemas.openxmlformats.org/drawingml/2006/main">
            <a:off x="1381125" y="2667000"/>
            <a:ext cx="19050" cy="1571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6" name="Google Shape;366;p14">
            <a:extLst xmlns:a="http://schemas.openxmlformats.org/drawingml/2006/main">
              <a:ext uri="{FF2B5EF4-FFF2-40B4-BE49-F238E27FC236}">
                <a16:creationId xmlns:a16="http://schemas.microsoft.com/office/drawing/2014/main" id="{DA66BA88-2038-4646-8201-1E412DAE0097}"/>
              </a:ext>
            </a:extLst>
          </p:cNvPr>
          <p:cNvSpPr>
            <a:spLocks xmlns:a="http://schemas.openxmlformats.org/drawingml/2006/main" noGrp="1"/>
          </p:cNvSpPr>
          <p:nvPr/>
        </p:nvSpPr>
        <p:spPr>
          <a:xfrm xmlns:a="http://schemas.openxmlformats.org/drawingml/2006/main">
            <a:off x="1666875" y="4048125"/>
            <a:ext cx="114300" cy="1905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7" name="Google Shape;367;p14">
            <a:extLst xmlns:a="http://schemas.openxmlformats.org/drawingml/2006/main">
              <a:ext uri="{FF2B5EF4-FFF2-40B4-BE49-F238E27FC236}">
                <a16:creationId xmlns:a16="http://schemas.microsoft.com/office/drawing/2014/main" id="{97D3AEE2-AEAB-498B-AADE-53C6007EBA3B}"/>
              </a:ext>
            </a:extLst>
          </p:cNvPr>
          <p:cNvSpPr>
            <a:spLocks xmlns:a="http://schemas.openxmlformats.org/drawingml/2006/main" noGrp="1"/>
          </p:cNvSpPr>
          <p:nvPr/>
        </p:nvSpPr>
        <p:spPr>
          <a:xfrm xmlns:a="http://schemas.openxmlformats.org/drawingml/2006/main">
            <a:off x="1809750" y="4162425"/>
            <a:ext cx="114300" cy="762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8" name="Google Shape;368;p14">
            <a:extLst xmlns:a="http://schemas.openxmlformats.org/drawingml/2006/main">
              <a:ext uri="{FF2B5EF4-FFF2-40B4-BE49-F238E27FC236}">
                <a16:creationId xmlns:a16="http://schemas.microsoft.com/office/drawing/2014/main" id="{8A862E58-CE48-40DE-AB42-BB4C63E52DA9}"/>
              </a:ext>
            </a:extLst>
          </p:cNvPr>
          <p:cNvSpPr>
            <a:spLocks xmlns:a="http://schemas.openxmlformats.org/drawingml/2006/main" noGrp="1"/>
          </p:cNvSpPr>
          <p:nvPr/>
        </p:nvSpPr>
        <p:spPr>
          <a:xfrm xmlns:a="http://schemas.openxmlformats.org/drawingml/2006/main">
            <a:off x="2009775" y="3876675"/>
            <a:ext cx="114300" cy="3619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9" name="Google Shape;369;p14">
            <a:extLst xmlns:a="http://schemas.openxmlformats.org/drawingml/2006/main">
              <a:ext uri="{FF2B5EF4-FFF2-40B4-BE49-F238E27FC236}">
                <a16:creationId xmlns:a16="http://schemas.microsoft.com/office/drawing/2014/main" id="{7B0C21F6-641A-440E-B86E-991ECDD09669}"/>
              </a:ext>
            </a:extLst>
          </p:cNvPr>
          <p:cNvSpPr>
            <a:spLocks xmlns:a="http://schemas.openxmlformats.org/drawingml/2006/main" noGrp="1"/>
          </p:cNvSpPr>
          <p:nvPr/>
        </p:nvSpPr>
        <p:spPr>
          <a:xfrm xmlns:a="http://schemas.openxmlformats.org/drawingml/2006/main">
            <a:off x="2152650" y="4057650"/>
            <a:ext cx="114300" cy="1809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0" name="Google Shape;370;p14">
            <a:extLst xmlns:a="http://schemas.openxmlformats.org/drawingml/2006/main">
              <a:ext uri="{FF2B5EF4-FFF2-40B4-BE49-F238E27FC236}">
                <a16:creationId xmlns:a16="http://schemas.microsoft.com/office/drawing/2014/main" id="{8319D815-3D2B-40BA-A060-8BB4465CFA32}"/>
              </a:ext>
            </a:extLst>
          </p:cNvPr>
          <p:cNvSpPr>
            <a:spLocks xmlns:a="http://schemas.openxmlformats.org/drawingml/2006/main" noGrp="1"/>
          </p:cNvSpPr>
          <p:nvPr/>
        </p:nvSpPr>
        <p:spPr>
          <a:xfrm xmlns:a="http://schemas.openxmlformats.org/drawingml/2006/main">
            <a:off x="2352675" y="3609975"/>
            <a:ext cx="114300" cy="6286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1" name="Google Shape;371;p14">
            <a:extLst xmlns:a="http://schemas.openxmlformats.org/drawingml/2006/main">
              <a:ext uri="{FF2B5EF4-FFF2-40B4-BE49-F238E27FC236}">
                <a16:creationId xmlns:a16="http://schemas.microsoft.com/office/drawing/2014/main" id="{E658D768-528F-41E6-9CB4-14173B404E77}"/>
              </a:ext>
            </a:extLst>
          </p:cNvPr>
          <p:cNvSpPr>
            <a:spLocks xmlns:a="http://schemas.openxmlformats.org/drawingml/2006/main" noGrp="1"/>
          </p:cNvSpPr>
          <p:nvPr/>
        </p:nvSpPr>
        <p:spPr>
          <a:xfrm xmlns:a="http://schemas.openxmlformats.org/drawingml/2006/main">
            <a:off x="2495550" y="3876675"/>
            <a:ext cx="114300" cy="361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2" name="Google Shape;372;p14">
            <a:extLst xmlns:a="http://schemas.openxmlformats.org/drawingml/2006/main">
              <a:ext uri="{FF2B5EF4-FFF2-40B4-BE49-F238E27FC236}">
                <a16:creationId xmlns:a16="http://schemas.microsoft.com/office/drawing/2014/main" id="{4D466DDE-C3B3-4AFA-A39B-F37D3A176750}"/>
              </a:ext>
            </a:extLst>
          </p:cNvPr>
          <p:cNvSpPr>
            <a:spLocks xmlns:a="http://schemas.openxmlformats.org/drawingml/2006/main" noGrp="1"/>
          </p:cNvSpPr>
          <p:nvPr/>
        </p:nvSpPr>
        <p:spPr>
          <a:xfrm xmlns:a="http://schemas.openxmlformats.org/drawingml/2006/main">
            <a:off x="2695575" y="3238500"/>
            <a:ext cx="114300" cy="10001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3" name="Google Shape;373;p14">
            <a:extLst xmlns:a="http://schemas.openxmlformats.org/drawingml/2006/main">
              <a:ext uri="{FF2B5EF4-FFF2-40B4-BE49-F238E27FC236}">
                <a16:creationId xmlns:a16="http://schemas.microsoft.com/office/drawing/2014/main" id="{0F3240AC-C807-45F5-BFA3-BCD6CA786F15}"/>
              </a:ext>
            </a:extLst>
          </p:cNvPr>
          <p:cNvSpPr>
            <a:spLocks xmlns:a="http://schemas.openxmlformats.org/drawingml/2006/main" noGrp="1"/>
          </p:cNvSpPr>
          <p:nvPr/>
        </p:nvSpPr>
        <p:spPr>
          <a:xfrm xmlns:a="http://schemas.openxmlformats.org/drawingml/2006/main">
            <a:off x="2838450" y="3571875"/>
            <a:ext cx="114300" cy="6667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4" name="Google Shape;374;p14">
            <a:extLst xmlns:a="http://schemas.openxmlformats.org/drawingml/2006/main">
              <a:ext uri="{FF2B5EF4-FFF2-40B4-BE49-F238E27FC236}">
                <a16:creationId xmlns:a16="http://schemas.microsoft.com/office/drawing/2014/main" id="{5ED32A60-FBCE-48E9-BCB9-39932BC9CF7D}"/>
              </a:ext>
            </a:extLst>
          </p:cNvPr>
          <p:cNvSpPr>
            <a:spLocks xmlns:a="http://schemas.openxmlformats.org/drawingml/2006/main" noGrp="1"/>
          </p:cNvSpPr>
          <p:nvPr/>
        </p:nvSpPr>
        <p:spPr>
          <a:xfrm xmlns:a="http://schemas.openxmlformats.org/drawingml/2006/main">
            <a:off x="3038475" y="2943225"/>
            <a:ext cx="114300" cy="12954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5" name="Google Shape;375;p14">
            <a:extLst xmlns:a="http://schemas.openxmlformats.org/drawingml/2006/main">
              <a:ext uri="{FF2B5EF4-FFF2-40B4-BE49-F238E27FC236}">
                <a16:creationId xmlns:a16="http://schemas.microsoft.com/office/drawing/2014/main" id="{6465AAF6-B9AE-48EE-86C4-C102C4AF53C2}"/>
              </a:ext>
            </a:extLst>
          </p:cNvPr>
          <p:cNvSpPr>
            <a:spLocks xmlns:a="http://schemas.openxmlformats.org/drawingml/2006/main" noGrp="1"/>
          </p:cNvSpPr>
          <p:nvPr/>
        </p:nvSpPr>
        <p:spPr>
          <a:xfrm xmlns:a="http://schemas.openxmlformats.org/drawingml/2006/main">
            <a:off x="3181350" y="3209925"/>
            <a:ext cx="114300" cy="10287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6" name="Google Shape;376;p14">
            <a:extLst xmlns:a="http://schemas.openxmlformats.org/drawingml/2006/main">
              <a:ext uri="{FF2B5EF4-FFF2-40B4-BE49-F238E27FC236}">
                <a16:creationId xmlns:a16="http://schemas.microsoft.com/office/drawing/2014/main" id="{64A18683-0B57-42DD-B996-6B5D14D6E7B6}"/>
              </a:ext>
            </a:extLst>
          </p:cNvPr>
          <p:cNvSpPr>
            <a:spLocks xmlns:a="http://schemas.openxmlformats.org/drawingml/2006/main" noGrp="1"/>
          </p:cNvSpPr>
          <p:nvPr/>
        </p:nvSpPr>
        <p:spPr>
          <a:xfrm xmlns:a="http://schemas.openxmlformats.org/drawingml/2006/main">
            <a:off x="3381375" y="3171825"/>
            <a:ext cx="114300" cy="1066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7" name="Google Shape;377;p14">
            <a:extLst xmlns:a="http://schemas.openxmlformats.org/drawingml/2006/main">
              <a:ext uri="{FF2B5EF4-FFF2-40B4-BE49-F238E27FC236}">
                <a16:creationId xmlns:a16="http://schemas.microsoft.com/office/drawing/2014/main" id="{3BF2B3C6-01AB-4B2C-B71C-C59BC998BDE5}"/>
              </a:ext>
            </a:extLst>
          </p:cNvPr>
          <p:cNvSpPr>
            <a:spLocks xmlns:a="http://schemas.openxmlformats.org/drawingml/2006/main" noGrp="1"/>
          </p:cNvSpPr>
          <p:nvPr/>
        </p:nvSpPr>
        <p:spPr>
          <a:xfrm xmlns:a="http://schemas.openxmlformats.org/drawingml/2006/main">
            <a:off x="3524250" y="2924175"/>
            <a:ext cx="114300" cy="13144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8" name="Google Shape;378;p14">
            <a:extLst xmlns:a="http://schemas.openxmlformats.org/drawingml/2006/main">
              <a:ext uri="{FF2B5EF4-FFF2-40B4-BE49-F238E27FC236}">
                <a16:creationId xmlns:a16="http://schemas.microsoft.com/office/drawing/2014/main" id="{7528B369-518A-4DAF-B816-AB02701220FA}"/>
              </a:ext>
            </a:extLst>
          </p:cNvPr>
          <p:cNvSpPr>
            <a:spLocks xmlns:a="http://schemas.openxmlformats.org/drawingml/2006/main" noGrp="1"/>
          </p:cNvSpPr>
          <p:nvPr/>
        </p:nvSpPr>
        <p:spPr>
          <a:xfrm xmlns:a="http://schemas.openxmlformats.org/drawingml/2006/main">
            <a:off x="3724275" y="3543300"/>
            <a:ext cx="114300" cy="695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9" name="Google Shape;379;p14">
            <a:extLst xmlns:a="http://schemas.openxmlformats.org/drawingml/2006/main">
              <a:ext uri="{FF2B5EF4-FFF2-40B4-BE49-F238E27FC236}">
                <a16:creationId xmlns:a16="http://schemas.microsoft.com/office/drawing/2014/main" id="{1D43CB01-DC33-43D1-8646-23EB1ED518A4}"/>
              </a:ext>
            </a:extLst>
          </p:cNvPr>
          <p:cNvSpPr>
            <a:spLocks xmlns:a="http://schemas.openxmlformats.org/drawingml/2006/main" noGrp="1"/>
          </p:cNvSpPr>
          <p:nvPr/>
        </p:nvSpPr>
        <p:spPr>
          <a:xfrm xmlns:a="http://schemas.openxmlformats.org/drawingml/2006/main">
            <a:off x="3867150" y="3114675"/>
            <a:ext cx="114300" cy="1123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0" name="Google Shape;380;p14">
            <a:extLst xmlns:a="http://schemas.openxmlformats.org/drawingml/2006/main">
              <a:ext uri="{FF2B5EF4-FFF2-40B4-BE49-F238E27FC236}">
                <a16:creationId xmlns:a16="http://schemas.microsoft.com/office/drawing/2014/main" id="{24D6F5DB-1980-47FB-AA33-C87066D5E061}"/>
              </a:ext>
            </a:extLst>
          </p:cNvPr>
          <p:cNvSpPr>
            <a:spLocks xmlns:a="http://schemas.openxmlformats.org/drawingml/2006/main" noGrp="1"/>
          </p:cNvSpPr>
          <p:nvPr/>
        </p:nvSpPr>
        <p:spPr>
          <a:xfrm xmlns:a="http://schemas.openxmlformats.org/drawingml/2006/main">
            <a:off x="4067175" y="3848100"/>
            <a:ext cx="114300" cy="3905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1" name="Google Shape;381;p14">
            <a:extLst xmlns:a="http://schemas.openxmlformats.org/drawingml/2006/main">
              <a:ext uri="{FF2B5EF4-FFF2-40B4-BE49-F238E27FC236}">
                <a16:creationId xmlns:a16="http://schemas.microsoft.com/office/drawing/2014/main" id="{52B978F9-F85B-4D84-8E93-0C558AF6F3C4}"/>
              </a:ext>
            </a:extLst>
          </p:cNvPr>
          <p:cNvSpPr>
            <a:spLocks xmlns:a="http://schemas.openxmlformats.org/drawingml/2006/main" noGrp="1"/>
          </p:cNvSpPr>
          <p:nvPr/>
        </p:nvSpPr>
        <p:spPr>
          <a:xfrm xmlns:a="http://schemas.openxmlformats.org/drawingml/2006/main">
            <a:off x="4210050" y="3495675"/>
            <a:ext cx="114300" cy="742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2" name="Google Shape;382;p14">
            <a:extLst xmlns:a="http://schemas.openxmlformats.org/drawingml/2006/main">
              <a:ext uri="{FF2B5EF4-FFF2-40B4-BE49-F238E27FC236}">
                <a16:creationId xmlns:a16="http://schemas.microsoft.com/office/drawing/2014/main" id="{48E10AE8-48EE-4205-8ECD-6A8E5DF88CFC}"/>
              </a:ext>
            </a:extLst>
          </p:cNvPr>
          <p:cNvSpPr>
            <a:spLocks xmlns:a="http://schemas.openxmlformats.org/drawingml/2006/main" noGrp="1"/>
          </p:cNvSpPr>
          <p:nvPr/>
        </p:nvSpPr>
        <p:spPr>
          <a:xfrm xmlns:a="http://schemas.openxmlformats.org/drawingml/2006/main">
            <a:off x="4410075" y="4029075"/>
            <a:ext cx="114300" cy="2095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3" name="Google Shape;383;p14">
            <a:extLst xmlns:a="http://schemas.openxmlformats.org/drawingml/2006/main">
              <a:ext uri="{FF2B5EF4-FFF2-40B4-BE49-F238E27FC236}">
                <a16:creationId xmlns:a16="http://schemas.microsoft.com/office/drawing/2014/main" id="{253C808E-5395-477E-804C-FDE13D02946A}"/>
              </a:ext>
            </a:extLst>
          </p:cNvPr>
          <p:cNvSpPr>
            <a:spLocks xmlns:a="http://schemas.openxmlformats.org/drawingml/2006/main" noGrp="1"/>
          </p:cNvSpPr>
          <p:nvPr/>
        </p:nvSpPr>
        <p:spPr>
          <a:xfrm xmlns:a="http://schemas.openxmlformats.org/drawingml/2006/main">
            <a:off x="4552950" y="3829050"/>
            <a:ext cx="114300" cy="409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4" name="Google Shape;384;p14">
            <a:extLst xmlns:a="http://schemas.openxmlformats.org/drawingml/2006/main">
              <a:ext uri="{FF2B5EF4-FFF2-40B4-BE49-F238E27FC236}">
                <a16:creationId xmlns:a16="http://schemas.microsoft.com/office/drawing/2014/main" id="{E081C2B5-6E7E-4D09-A39F-426CDCCEB94C}"/>
              </a:ext>
            </a:extLst>
          </p:cNvPr>
          <p:cNvSpPr>
            <a:spLocks xmlns:a="http://schemas.openxmlformats.org/drawingml/2006/main" noGrp="1"/>
          </p:cNvSpPr>
          <p:nvPr/>
        </p:nvSpPr>
        <p:spPr>
          <a:xfrm xmlns:a="http://schemas.openxmlformats.org/drawingml/2006/main">
            <a:off x="1809750" y="4410075"/>
            <a:ext cx="1143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Reference</a:t>
            </a:r>
            <a:endParaRPr/>
          </a:p>
        </p:txBody>
      </p:sp>
      <p:sp>
        <p:nvSpPr>
          <p:cNvPr id="385" name="Google Shape;385;p14">
            <a:extLst xmlns:a="http://schemas.openxmlformats.org/drawingml/2006/main">
              <a:ext uri="{FF2B5EF4-FFF2-40B4-BE49-F238E27FC236}">
                <a16:creationId xmlns:a16="http://schemas.microsoft.com/office/drawing/2014/main" id="{C482FF78-3E47-4848-8B63-676D0F50150B}"/>
              </a:ext>
            </a:extLst>
          </p:cNvPr>
          <p:cNvSpPr>
            <a:spLocks xmlns:a="http://schemas.openxmlformats.org/drawingml/2006/main" noGrp="1"/>
          </p:cNvSpPr>
          <p:nvPr/>
        </p:nvSpPr>
        <p:spPr>
          <a:xfrm xmlns:a="http://schemas.openxmlformats.org/drawingml/2006/main">
            <a:off x="3381375" y="4410075"/>
            <a:ext cx="95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Model</a:t>
            </a:r>
            <a:endParaRPr/>
          </a:p>
        </p:txBody>
      </p:sp>
      <p:sp>
        <p:nvSpPr>
          <p:cNvPr id="386" name="Google Shape;386;p14">
            <a:extLst xmlns:a="http://schemas.openxmlformats.org/drawingml/2006/main">
              <a:ext uri="{FF2B5EF4-FFF2-40B4-BE49-F238E27FC236}">
                <a16:creationId xmlns:a16="http://schemas.microsoft.com/office/drawing/2014/main" id="{2A4BDFF5-7313-4665-9904-91A767E9A822}"/>
              </a:ext>
            </a:extLst>
          </p:cNvPr>
          <p:cNvSpPr>
            <a:spLocks xmlns:a="http://schemas.openxmlformats.org/drawingml/2006/main" noGrp="1"/>
          </p:cNvSpPr>
          <p:nvPr/>
        </p:nvSpPr>
        <p:spPr>
          <a:xfrm xmlns:a="http://schemas.openxmlformats.org/drawingml/2006/main">
            <a:off x="6477000" y="2076450"/>
            <a:ext cx="419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A bias is systematic</a:t>
            </a:r>
            <a:endParaRPr/>
          </a:p>
        </p:txBody>
      </p:sp>
      <p:sp>
        <p:nvSpPr>
          <p:cNvPr id="387" name="Google Shape;387;p14">
            <a:extLst xmlns:a="http://schemas.openxmlformats.org/drawingml/2006/main">
              <a:ext uri="{FF2B5EF4-FFF2-40B4-BE49-F238E27FC236}">
                <a16:creationId xmlns:a16="http://schemas.microsoft.com/office/drawing/2014/main" id="{C35EC5E0-5AA3-471E-AAAB-CF83AB86C89D}"/>
              </a:ext>
            </a:extLst>
          </p:cNvPr>
          <p:cNvSpPr>
            <a:spLocks xmlns:a="http://schemas.openxmlformats.org/drawingml/2006/main" noGrp="1"/>
          </p:cNvSpPr>
          <p:nvPr/>
        </p:nvSpPr>
        <p:spPr>
          <a:xfrm xmlns:a="http://schemas.openxmlformats.org/drawingml/2006/main">
            <a:off x="6477000" y="2705100"/>
            <a:ext cx="4305300" cy="1009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87984"/>
              </a:buClr>
              <a:buSzPts val="1650"/>
              <a:buFont typeface="Lato"/>
              <a:buNone/>
            </a:pPr>
            <a:r>
              <a:rPr sz="1650" b="0" i="0">
                <a:solidFill>
                  <a:srgbClr val="687984"/>
                </a:solidFill>
                <a:latin typeface="Lato"/>
                <a:ea typeface="Lato"/>
                <a:cs typeface="Lato"/>
              </a:rPr>
              <a:t>It may affect the mean, variability, seasonality or extremes. Performance can also differ by variable and region.</a:t>
            </a:r>
            <a:endParaRPr/>
          </a:p>
        </p:txBody>
      </p:sp>
      <p:sp>
        <p:nvSpPr>
          <p:cNvPr id="388" name="Google Shape;388;p14">
            <a:extLst xmlns:a="http://schemas.openxmlformats.org/drawingml/2006/main">
              <a:ext uri="{FF2B5EF4-FFF2-40B4-BE49-F238E27FC236}">
                <a16:creationId xmlns:a16="http://schemas.microsoft.com/office/drawing/2014/main" id="{E7DA4052-4191-4F58-8568-8639F9AF375C}"/>
              </a:ext>
            </a:extLst>
          </p:cNvPr>
          <p:cNvSpPr>
            <a:spLocks xmlns:a="http://schemas.openxmlformats.org/drawingml/2006/main" noGrp="1"/>
          </p:cNvSpPr>
          <p:nvPr/>
        </p:nvSpPr>
        <p:spPr>
          <a:xfrm xmlns:a="http://schemas.openxmlformats.org/drawingml/2006/main">
            <a:off x="6477000" y="4038600"/>
            <a:ext cx="4000500" cy="876300"/>
          </a:xfrm>
          <a:prstGeom xmlns:a="http://schemas.openxmlformats.org/drawingml/2006/main" prst="roundRect">
            <a:avLst>
              <a:gd name="adj" fmla="val 8696"/>
            </a:avLst>
          </a:prstGeom>
          <a:solidFill xmlns:a="http://schemas.openxmlformats.org/drawingml/2006/main">
            <a:srgbClr val="FFF3D1"/>
          </a:solidFill>
          <a:ln xmlns:a="http://schemas.openxmlformats.org/drawingml/2006/main" w="9525" cmpd="sng">
            <a:solidFill>
              <a:srgbClr val="FFF3D1"/>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9" name="Google Shape;389;p14">
            <a:extLst xmlns:a="http://schemas.openxmlformats.org/drawingml/2006/main">
              <a:ext uri="{FF2B5EF4-FFF2-40B4-BE49-F238E27FC236}">
                <a16:creationId xmlns:a16="http://schemas.microsoft.com/office/drawing/2014/main" id="{15CAC04F-E01F-407F-B9D9-6AA429F5DFEE}"/>
              </a:ext>
            </a:extLst>
          </p:cNvPr>
          <p:cNvSpPr>
            <a:spLocks xmlns:a="http://schemas.openxmlformats.org/drawingml/2006/main" noGrp="1"/>
          </p:cNvSpPr>
          <p:nvPr/>
        </p:nvSpPr>
        <p:spPr>
          <a:xfrm xmlns:a="http://schemas.openxmlformats.org/drawingml/2006/main">
            <a:off x="6705600" y="4229100"/>
            <a:ext cx="35433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425"/>
              <a:buFont typeface="Lato"/>
              <a:buNone/>
            </a:pPr>
            <a:r>
              <a:rPr sz="1425" b="1" i="0">
                <a:solidFill>
                  <a:srgbClr val="12304E"/>
                </a:solidFill>
                <a:latin typeface="Lato"/>
                <a:ea typeface="Lato"/>
                <a:cs typeface="Lato"/>
              </a:rPr>
              <a:t>Model output should not automatically be treated as observations or truth.</a:t>
            </a:r>
            <a:endParaRPr/>
          </a:p>
        </p:txBody>
      </p:sp>
      <p:sp>
        <p:nvSpPr>
          <p:cNvPr id="390" name="Google Shape;390;p14">
            <a:extLst xmlns:a="http://schemas.openxmlformats.org/drawingml/2006/main">
              <a:ext uri="{FF2B5EF4-FFF2-40B4-BE49-F238E27FC236}">
                <a16:creationId xmlns:a16="http://schemas.microsoft.com/office/drawing/2014/main" id="{F101FB4A-1DCC-44C7-A755-1762857136DA}"/>
              </a:ext>
            </a:extLst>
          </p:cNvPr>
          <p:cNvSpPr>
            <a:spLocks xmlns:a="http://schemas.openxmlformats.org/drawingml/2006/main" noGrp="1"/>
          </p:cNvSpPr>
          <p:nvPr/>
        </p:nvSpPr>
        <p:spPr>
          <a:xfrm xmlns:a="http://schemas.openxmlformats.org/drawingml/2006/main">
            <a:off x="952500" y="5000625"/>
            <a:ext cx="476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825"/>
              <a:buFont typeface="Lato"/>
              <a:buNone/>
            </a:pPr>
            <a:r>
              <a:rPr sz="825" b="0" i="0">
                <a:solidFill>
                  <a:srgbClr val="687984"/>
                </a:solidFill>
                <a:latin typeface="Lato"/>
                <a:ea typeface="Lato"/>
                <a:cs typeface="Lato"/>
              </a:rPr>
              <a:t>Conceptual illustration · no observed data shown</a:t>
            </a:r>
            <a:endParaRPr/>
          </a:p>
        </p:txBody>
      </p:sp>
    </p:spTree>
    <p:extLst>
      <p:ext uri="{BB962C8B-B14F-4D97-AF65-F5344CB8AC3E}">
        <p14:creationId xmlns:p14="http://schemas.microsoft.com/office/powerpoint/2010/main" val="1562221117"/>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96" name="Google Shape;396;p15">
            <a:extLst xmlns:a="http://schemas.openxmlformats.org/drawingml/2006/main">
              <a:ext uri="{FF2B5EF4-FFF2-40B4-BE49-F238E27FC236}">
                <a16:creationId xmlns:a16="http://schemas.microsoft.com/office/drawing/2014/main" id="{284CC67C-A87E-458D-9EDD-22324A79B0B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Bias correction</a:t>
            </a:r>
            <a:endParaRPr/>
          </a:p>
        </p:txBody>
      </p:sp>
      <p:sp>
        <p:nvSpPr>
          <p:cNvPr id="397" name="Google Shape;397;p15">
            <a:extLst xmlns:a="http://schemas.openxmlformats.org/drawingml/2006/main">
              <a:ext uri="{FF2B5EF4-FFF2-40B4-BE49-F238E27FC236}">
                <a16:creationId xmlns:a16="http://schemas.microsoft.com/office/drawing/2014/main" id="{C402CFE8-7371-48A2-A738-8915A7E0FF7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Adjustment can improve agreement with a historical reference, but it does not make the future certain</a:t>
            </a:r>
            <a:endParaRPr/>
          </a:p>
        </p:txBody>
      </p:sp>
      <p:sp>
        <p:nvSpPr>
          <p:cNvPr id="398" name="Google Shape;398;p15">
            <a:extLst xmlns:a="http://schemas.openxmlformats.org/drawingml/2006/main">
              <a:ext uri="{FF2B5EF4-FFF2-40B4-BE49-F238E27FC236}">
                <a16:creationId xmlns:a16="http://schemas.microsoft.com/office/drawing/2014/main" id="{8C7899FE-77F8-4BF8-BD61-50317AC5B05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9" name="Google Shape;399;p15">
            <a:extLst xmlns:a="http://schemas.openxmlformats.org/drawingml/2006/main">
              <a:ext uri="{FF2B5EF4-FFF2-40B4-BE49-F238E27FC236}">
                <a16:creationId xmlns:a16="http://schemas.microsoft.com/office/drawing/2014/main" id="{5DE432F0-A733-431A-8063-9CA02DAB6F7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0" name="Google Shape;400;p15">
            <a:extLst xmlns:a="http://schemas.openxmlformats.org/drawingml/2006/main">
              <a:ext uri="{FF2B5EF4-FFF2-40B4-BE49-F238E27FC236}">
                <a16:creationId xmlns:a16="http://schemas.microsoft.com/office/drawing/2014/main" id="{722F8011-D426-4D91-837D-407E7529173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1" name="Google Shape;401;p15">
            <a:extLst xmlns:a="http://schemas.openxmlformats.org/drawingml/2006/main">
              <a:ext uri="{FF2B5EF4-FFF2-40B4-BE49-F238E27FC236}">
                <a16:creationId xmlns:a16="http://schemas.microsoft.com/office/drawing/2014/main" id="{E12C737F-0901-409E-AE46-DF75D9F39C2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02" name="Google Shape;402;p15">
            <a:extLst xmlns:a="http://schemas.openxmlformats.org/drawingml/2006/main">
              <a:ext uri="{FF2B5EF4-FFF2-40B4-BE49-F238E27FC236}">
                <a16:creationId xmlns:a16="http://schemas.microsoft.com/office/drawing/2014/main" id="{CB5FC276-AE43-4DBE-A5E7-A1CD08C8015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13</a:t>
            </a:r>
            <a:endParaRPr/>
          </a:p>
        </p:txBody>
      </p:sp>
      <p:sp>
        <p:nvSpPr>
          <p:cNvPr id="403" name="Google Shape;403;p15">
            <a:extLst xmlns:a="http://schemas.openxmlformats.org/drawingml/2006/main">
              <a:ext uri="{FF2B5EF4-FFF2-40B4-BE49-F238E27FC236}">
                <a16:creationId xmlns:a16="http://schemas.microsoft.com/office/drawing/2014/main" id="{AA2D1798-C265-4795-8171-DFD1DABEBCC3}"/>
              </a:ext>
            </a:extLst>
          </p:cNvPr>
          <p:cNvSpPr>
            <a:spLocks xmlns:a="http://schemas.openxmlformats.org/drawingml/2006/main" noGrp="1"/>
          </p:cNvSpPr>
          <p:nvPr/>
        </p:nvSpPr>
        <p:spPr>
          <a:xfrm xmlns:a="http://schemas.openxmlformats.org/drawingml/2006/main">
            <a:off x="1066800" y="2781300"/>
            <a:ext cx="1005840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4" name="Google Shape;404;p15">
            <a:extLst xmlns:a="http://schemas.openxmlformats.org/drawingml/2006/main">
              <a:ext uri="{FF2B5EF4-FFF2-40B4-BE49-F238E27FC236}">
                <a16:creationId xmlns:a16="http://schemas.microsoft.com/office/drawing/2014/main" id="{29FA22A7-E693-4779-8C15-43E5D6F53852}"/>
              </a:ext>
            </a:extLst>
          </p:cNvPr>
          <p:cNvSpPr>
            <a:spLocks xmlns:a="http://schemas.openxmlformats.org/drawingml/2006/main" noGrp="1"/>
          </p:cNvSpPr>
          <p:nvPr/>
        </p:nvSpPr>
        <p:spPr>
          <a:xfrm xmlns:a="http://schemas.openxmlformats.org/drawingml/2006/main">
            <a:off x="125730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1</a:t>
            </a:r>
            <a:endParaRPr/>
          </a:p>
        </p:txBody>
      </p:sp>
      <p:sp>
        <p:nvSpPr>
          <p:cNvPr id="405" name="Google Shape;405;p15">
            <a:extLst xmlns:a="http://schemas.openxmlformats.org/drawingml/2006/main">
              <a:ext uri="{FF2B5EF4-FFF2-40B4-BE49-F238E27FC236}">
                <a16:creationId xmlns:a16="http://schemas.microsoft.com/office/drawing/2014/main" id="{582F6F28-ACAE-403C-8784-C9D16AF20139}"/>
              </a:ext>
            </a:extLst>
          </p:cNvPr>
          <p:cNvSpPr>
            <a:spLocks xmlns:a="http://schemas.openxmlformats.org/drawingml/2006/main" noGrp="1"/>
          </p:cNvSpPr>
          <p:nvPr/>
        </p:nvSpPr>
        <p:spPr>
          <a:xfrm xmlns:a="http://schemas.openxmlformats.org/drawingml/2006/main">
            <a:off x="114300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COMPARE</a:t>
            </a:r>
            <a:endParaRPr/>
          </a:p>
        </p:txBody>
      </p:sp>
      <p:sp>
        <p:nvSpPr>
          <p:cNvPr id="406" name="Google Shape;406;p15">
            <a:extLst xmlns:a="http://schemas.openxmlformats.org/drawingml/2006/main">
              <a:ext uri="{FF2B5EF4-FFF2-40B4-BE49-F238E27FC236}">
                <a16:creationId xmlns:a16="http://schemas.microsoft.com/office/drawing/2014/main" id="{92C55395-6917-4D8A-ADB1-D39651782119}"/>
              </a:ext>
            </a:extLst>
          </p:cNvPr>
          <p:cNvSpPr>
            <a:spLocks xmlns:a="http://schemas.openxmlformats.org/drawingml/2006/main" noGrp="1"/>
          </p:cNvSpPr>
          <p:nvPr/>
        </p:nvSpPr>
        <p:spPr>
          <a:xfrm xmlns:a="http://schemas.openxmlformats.org/drawingml/2006/main">
            <a:off x="114300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Historical model simulation with a reference dataset</a:t>
            </a:r>
            <a:endParaRPr/>
          </a:p>
        </p:txBody>
      </p:sp>
      <p:sp>
        <p:nvSpPr>
          <p:cNvPr id="407" name="Google Shape;407;p15">
            <a:extLst xmlns:a="http://schemas.openxmlformats.org/drawingml/2006/main">
              <a:ext uri="{FF2B5EF4-FFF2-40B4-BE49-F238E27FC236}">
                <a16:creationId xmlns:a16="http://schemas.microsoft.com/office/drawing/2014/main" id="{A31E0FA1-8DAE-4597-90BE-B7F16E2EC249}"/>
              </a:ext>
            </a:extLst>
          </p:cNvPr>
          <p:cNvSpPr>
            <a:spLocks xmlns:a="http://schemas.openxmlformats.org/drawingml/2006/main" noGrp="1"/>
          </p:cNvSpPr>
          <p:nvPr/>
        </p:nvSpPr>
        <p:spPr>
          <a:xfrm xmlns:a="http://schemas.openxmlformats.org/drawingml/2006/main">
            <a:off x="3971925" y="2524125"/>
            <a:ext cx="552450" cy="55245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2</a:t>
            </a:r>
            <a:endParaRPr/>
          </a:p>
        </p:txBody>
      </p:sp>
      <p:sp>
        <p:nvSpPr>
          <p:cNvPr id="408" name="Google Shape;408;p15">
            <a:extLst xmlns:a="http://schemas.openxmlformats.org/drawingml/2006/main">
              <a:ext uri="{FF2B5EF4-FFF2-40B4-BE49-F238E27FC236}">
                <a16:creationId xmlns:a16="http://schemas.microsoft.com/office/drawing/2014/main" id="{9A4339A1-6AAA-4E2E-BE10-EE396C6B1DCB}"/>
              </a:ext>
            </a:extLst>
          </p:cNvPr>
          <p:cNvSpPr>
            <a:spLocks xmlns:a="http://schemas.openxmlformats.org/drawingml/2006/main" noGrp="1"/>
          </p:cNvSpPr>
          <p:nvPr/>
        </p:nvSpPr>
        <p:spPr>
          <a:xfrm xmlns:a="http://schemas.openxmlformats.org/drawingml/2006/main">
            <a:off x="385762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ESTIMATE</a:t>
            </a:r>
            <a:endParaRPr/>
          </a:p>
        </p:txBody>
      </p:sp>
      <p:sp>
        <p:nvSpPr>
          <p:cNvPr id="409" name="Google Shape;409;p15">
            <a:extLst xmlns:a="http://schemas.openxmlformats.org/drawingml/2006/main">
              <a:ext uri="{FF2B5EF4-FFF2-40B4-BE49-F238E27FC236}">
                <a16:creationId xmlns:a16="http://schemas.microsoft.com/office/drawing/2014/main" id="{1D02467D-FDA2-4431-987B-79B7D94BAFAB}"/>
              </a:ext>
            </a:extLst>
          </p:cNvPr>
          <p:cNvSpPr>
            <a:spLocks xmlns:a="http://schemas.openxmlformats.org/drawingml/2006/main" noGrp="1"/>
          </p:cNvSpPr>
          <p:nvPr/>
        </p:nvSpPr>
        <p:spPr>
          <a:xfrm xmlns:a="http://schemas.openxmlformats.org/drawingml/2006/main">
            <a:off x="385762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A statistical adjustment for the selected variable and location</a:t>
            </a:r>
            <a:endParaRPr/>
          </a:p>
        </p:txBody>
      </p:sp>
      <p:sp>
        <p:nvSpPr>
          <p:cNvPr id="410" name="Google Shape;410;p15">
            <a:extLst xmlns:a="http://schemas.openxmlformats.org/drawingml/2006/main">
              <a:ext uri="{FF2B5EF4-FFF2-40B4-BE49-F238E27FC236}">
                <a16:creationId xmlns:a16="http://schemas.microsoft.com/office/drawing/2014/main" id="{A9D0F318-C7C3-4986-97E9-87118E139FFF}"/>
              </a:ext>
            </a:extLst>
          </p:cNvPr>
          <p:cNvSpPr>
            <a:spLocks xmlns:a="http://schemas.openxmlformats.org/drawingml/2006/main" noGrp="1"/>
          </p:cNvSpPr>
          <p:nvPr/>
        </p:nvSpPr>
        <p:spPr>
          <a:xfrm xmlns:a="http://schemas.openxmlformats.org/drawingml/2006/main">
            <a:off x="668655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3</a:t>
            </a:r>
            <a:endParaRPr/>
          </a:p>
        </p:txBody>
      </p:sp>
      <p:sp>
        <p:nvSpPr>
          <p:cNvPr id="411" name="Google Shape;411;p15">
            <a:extLst xmlns:a="http://schemas.openxmlformats.org/drawingml/2006/main">
              <a:ext uri="{FF2B5EF4-FFF2-40B4-BE49-F238E27FC236}">
                <a16:creationId xmlns:a16="http://schemas.microsoft.com/office/drawing/2014/main" id="{0CC60BFB-FD13-4C86-8300-F04E7FBEA4E6}"/>
              </a:ext>
            </a:extLst>
          </p:cNvPr>
          <p:cNvSpPr>
            <a:spLocks xmlns:a="http://schemas.openxmlformats.org/drawingml/2006/main" noGrp="1"/>
          </p:cNvSpPr>
          <p:nvPr/>
        </p:nvSpPr>
        <p:spPr>
          <a:xfrm xmlns:a="http://schemas.openxmlformats.org/drawingml/2006/main">
            <a:off x="657225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APPLY</a:t>
            </a:r>
            <a:endParaRPr/>
          </a:p>
        </p:txBody>
      </p:sp>
      <p:sp>
        <p:nvSpPr>
          <p:cNvPr id="412" name="Google Shape;412;p15">
            <a:extLst xmlns:a="http://schemas.openxmlformats.org/drawingml/2006/main">
              <a:ext uri="{FF2B5EF4-FFF2-40B4-BE49-F238E27FC236}">
                <a16:creationId xmlns:a16="http://schemas.microsoft.com/office/drawing/2014/main" id="{F15240C6-14F0-4C6C-A83C-5C99DCDED424}"/>
              </a:ext>
            </a:extLst>
          </p:cNvPr>
          <p:cNvSpPr>
            <a:spLocks xmlns:a="http://schemas.openxmlformats.org/drawingml/2006/main" noGrp="1"/>
          </p:cNvSpPr>
          <p:nvPr/>
        </p:nvSpPr>
        <p:spPr>
          <a:xfrm xmlns:a="http://schemas.openxmlformats.org/drawingml/2006/main">
            <a:off x="657225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The adjustment consistently to historical and projected data</a:t>
            </a:r>
            <a:endParaRPr/>
          </a:p>
        </p:txBody>
      </p:sp>
      <p:sp>
        <p:nvSpPr>
          <p:cNvPr id="413" name="Google Shape;413;p15">
            <a:extLst xmlns:a="http://schemas.openxmlformats.org/drawingml/2006/main">
              <a:ext uri="{FF2B5EF4-FFF2-40B4-BE49-F238E27FC236}">
                <a16:creationId xmlns:a16="http://schemas.microsoft.com/office/drawing/2014/main" id="{F02C1CCA-2E61-4630-BD63-8EE47412B459}"/>
              </a:ext>
            </a:extLst>
          </p:cNvPr>
          <p:cNvSpPr>
            <a:spLocks xmlns:a="http://schemas.openxmlformats.org/drawingml/2006/main" noGrp="1"/>
          </p:cNvSpPr>
          <p:nvPr/>
        </p:nvSpPr>
        <p:spPr>
          <a:xfrm xmlns:a="http://schemas.openxmlformats.org/drawingml/2006/main">
            <a:off x="9401175"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4</a:t>
            </a:r>
            <a:endParaRPr/>
          </a:p>
        </p:txBody>
      </p:sp>
      <p:sp>
        <p:nvSpPr>
          <p:cNvPr id="414" name="Google Shape;414;p15">
            <a:extLst xmlns:a="http://schemas.openxmlformats.org/drawingml/2006/main">
              <a:ext uri="{FF2B5EF4-FFF2-40B4-BE49-F238E27FC236}">
                <a16:creationId xmlns:a16="http://schemas.microsoft.com/office/drawing/2014/main" id="{01887D36-E663-4C44-926F-BD941F9CC989}"/>
              </a:ext>
            </a:extLst>
          </p:cNvPr>
          <p:cNvSpPr>
            <a:spLocks xmlns:a="http://schemas.openxmlformats.org/drawingml/2006/main" noGrp="1"/>
          </p:cNvSpPr>
          <p:nvPr/>
        </p:nvSpPr>
        <p:spPr>
          <a:xfrm xmlns:a="http://schemas.openxmlformats.org/drawingml/2006/main">
            <a:off x="928687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CHECK</a:t>
            </a:r>
            <a:endParaRPr/>
          </a:p>
        </p:txBody>
      </p:sp>
      <p:sp>
        <p:nvSpPr>
          <p:cNvPr id="415" name="Google Shape;415;p15">
            <a:extLst xmlns:a="http://schemas.openxmlformats.org/drawingml/2006/main">
              <a:ext uri="{FF2B5EF4-FFF2-40B4-BE49-F238E27FC236}">
                <a16:creationId xmlns:a16="http://schemas.microsoft.com/office/drawing/2014/main" id="{D81B0B21-ECD8-47EA-81CB-94390BC8006E}"/>
              </a:ext>
            </a:extLst>
          </p:cNvPr>
          <p:cNvSpPr>
            <a:spLocks xmlns:a="http://schemas.openxmlformats.org/drawingml/2006/main" noGrp="1"/>
          </p:cNvSpPr>
          <p:nvPr/>
        </p:nvSpPr>
        <p:spPr>
          <a:xfrm xmlns:a="http://schemas.openxmlformats.org/drawingml/2006/main">
            <a:off x="928687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Whether the corrected data suit the intended application</a:t>
            </a:r>
            <a:endParaRPr/>
          </a:p>
        </p:txBody>
      </p:sp>
      <p:sp>
        <p:nvSpPr>
          <p:cNvPr id="416" name="Google Shape;416;p15">
            <a:extLst xmlns:a="http://schemas.openxmlformats.org/drawingml/2006/main">
              <a:ext uri="{FF2B5EF4-FFF2-40B4-BE49-F238E27FC236}">
                <a16:creationId xmlns:a16="http://schemas.microsoft.com/office/drawing/2014/main" id="{591CC848-088C-40F2-8F25-EB3AE2673B95}"/>
              </a:ext>
            </a:extLst>
          </p:cNvPr>
          <p:cNvSpPr>
            <a:spLocks xmlns:a="http://schemas.openxmlformats.org/drawingml/2006/main" noGrp="1"/>
          </p:cNvSpPr>
          <p:nvPr/>
        </p:nvSpPr>
        <p:spPr>
          <a:xfrm xmlns:a="http://schemas.openxmlformats.org/drawingml/2006/main">
            <a:off x="685800" y="5010150"/>
            <a:ext cx="10820400" cy="628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17" name="Google Shape;417;p15">
            <a:extLst xmlns:a="http://schemas.openxmlformats.org/drawingml/2006/main">
              <a:ext uri="{FF2B5EF4-FFF2-40B4-BE49-F238E27FC236}">
                <a16:creationId xmlns:a16="http://schemas.microsoft.com/office/drawing/2014/main" id="{CF42ACDF-2236-4DA4-84AA-D2E612978B1C}"/>
              </a:ext>
            </a:extLst>
          </p:cNvPr>
          <p:cNvSpPr>
            <a:spLocks xmlns:a="http://schemas.openxmlformats.org/drawingml/2006/main" noGrp="1"/>
          </p:cNvSpPr>
          <p:nvPr/>
        </p:nvSpPr>
        <p:spPr>
          <a:xfrm xmlns:a="http://schemas.openxmlformats.org/drawingml/2006/main">
            <a:off x="933450" y="5200650"/>
            <a:ext cx="2095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Limits of correction</a:t>
            </a:r>
            <a:endParaRPr/>
          </a:p>
        </p:txBody>
      </p:sp>
      <p:sp>
        <p:nvSpPr>
          <p:cNvPr id="418" name="Google Shape;418;p15">
            <a:extLst xmlns:a="http://schemas.openxmlformats.org/drawingml/2006/main">
              <a:ext uri="{FF2B5EF4-FFF2-40B4-BE49-F238E27FC236}">
                <a16:creationId xmlns:a16="http://schemas.microsoft.com/office/drawing/2014/main" id="{14857BA8-CCA9-4870-9DAE-09C5B733D180}"/>
              </a:ext>
            </a:extLst>
          </p:cNvPr>
          <p:cNvSpPr>
            <a:spLocks xmlns:a="http://schemas.openxmlformats.org/drawingml/2006/main" noGrp="1"/>
          </p:cNvSpPr>
          <p:nvPr/>
        </p:nvSpPr>
        <p:spPr>
          <a:xfrm xmlns:a="http://schemas.openxmlformats.org/drawingml/2006/main">
            <a:off x="3143250" y="5162550"/>
            <a:ext cx="8001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It </a:t>
            </a:r>
            <a:r>
              <a:rPr sz="1350">
                <a:solidFill>
                  <a:srgbClr val="FFFFFF"/>
                </a:solidFill>
                <a:latin typeface="Lato"/>
                <a:ea typeface="Lato"/>
                <a:cs typeface="Lato"/>
              </a:rPr>
              <a:t>does not</a:t>
            </a:r>
            <a:r>
              <a:rPr sz="1350" b="0" i="0">
                <a:solidFill>
                  <a:srgbClr val="FFFFFF"/>
                </a:solidFill>
                <a:latin typeface="Lato"/>
                <a:ea typeface="Lato"/>
                <a:cs typeface="Lato"/>
              </a:rPr>
              <a:t> remove model uncertainty</a:t>
            </a:r>
            <a:r>
              <a:rPr sz="1350">
                <a:solidFill>
                  <a:srgbClr val="FFFFFF"/>
                </a:solidFill>
                <a:latin typeface="Lato"/>
                <a:ea typeface="Lato"/>
                <a:cs typeface="Lato"/>
              </a:rPr>
              <a:t> </a:t>
            </a:r>
            <a:r>
              <a:rPr sz="1350" b="0" i="0">
                <a:solidFill>
                  <a:srgbClr val="FFFFFF"/>
                </a:solidFill>
                <a:latin typeface="Lato"/>
                <a:ea typeface="Lato"/>
                <a:cs typeface="Lato"/>
              </a:rPr>
              <a:t>or repair every simulation weakness</a:t>
            </a:r>
            <a:endParaRPr/>
          </a:p>
        </p:txBody>
      </p:sp>
    </p:spTree>
    <p:extLst>
      <p:ext uri="{BB962C8B-B14F-4D97-AF65-F5344CB8AC3E}">
        <p14:creationId xmlns:p14="http://schemas.microsoft.com/office/powerpoint/2010/main" val="31418480"/>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4" name="Google Shape;424;p16">
            <a:extLst xmlns:a="http://schemas.openxmlformats.org/drawingml/2006/main">
              <a:ext uri="{FF2B5EF4-FFF2-40B4-BE49-F238E27FC236}">
                <a16:creationId xmlns:a16="http://schemas.microsoft.com/office/drawing/2014/main" id="{8AF485A3-8CB4-4E1B-833D-E77DE11E4FCF}"/>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Multiple models and uncertainty</a:t>
            </a:r>
            <a:endParaRPr/>
          </a:p>
        </p:txBody>
      </p:sp>
      <p:sp>
        <p:nvSpPr>
          <p:cNvPr id="425" name="Google Shape;425;p16">
            <a:extLst xmlns:a="http://schemas.openxmlformats.org/drawingml/2006/main">
              <a:ext uri="{FF2B5EF4-FFF2-40B4-BE49-F238E27FC236}">
                <a16:creationId xmlns:a16="http://schemas.microsoft.com/office/drawing/2014/main" id="{F2DF13A3-D2C9-433D-9D36-211AE03C9FD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ensemble shows a range of plausible responses across models and scenarios</a:t>
            </a:r>
            <a:endParaRPr/>
          </a:p>
        </p:txBody>
      </p:sp>
      <p:sp>
        <p:nvSpPr>
          <p:cNvPr id="426" name="Google Shape;426;p16">
            <a:extLst xmlns:a="http://schemas.openxmlformats.org/drawingml/2006/main">
              <a:ext uri="{FF2B5EF4-FFF2-40B4-BE49-F238E27FC236}">
                <a16:creationId xmlns:a16="http://schemas.microsoft.com/office/drawing/2014/main" id="{50967046-1FDD-4B60-AB1B-DE3E58DD8A0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7" name="Google Shape;427;p16">
            <a:extLst xmlns:a="http://schemas.openxmlformats.org/drawingml/2006/main">
              <a:ext uri="{FF2B5EF4-FFF2-40B4-BE49-F238E27FC236}">
                <a16:creationId xmlns:a16="http://schemas.microsoft.com/office/drawing/2014/main" id="{E1121628-44BE-469E-87F5-9DF2F34D762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8" name="Google Shape;428;p16">
            <a:extLst xmlns:a="http://schemas.openxmlformats.org/drawingml/2006/main">
              <a:ext uri="{FF2B5EF4-FFF2-40B4-BE49-F238E27FC236}">
                <a16:creationId xmlns:a16="http://schemas.microsoft.com/office/drawing/2014/main" id="{4D5E0A15-97E4-4073-8D7D-20DE4AF72F3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9" name="Google Shape;429;p16">
            <a:extLst xmlns:a="http://schemas.openxmlformats.org/drawingml/2006/main">
              <a:ext uri="{FF2B5EF4-FFF2-40B4-BE49-F238E27FC236}">
                <a16:creationId xmlns:a16="http://schemas.microsoft.com/office/drawing/2014/main" id="{50117E8C-47AC-445B-A6D0-CDEA54CFE85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30" name="Google Shape;430;p16">
            <a:extLst xmlns:a="http://schemas.openxmlformats.org/drawingml/2006/main">
              <a:ext uri="{FF2B5EF4-FFF2-40B4-BE49-F238E27FC236}">
                <a16:creationId xmlns:a16="http://schemas.microsoft.com/office/drawing/2014/main" id="{856FA437-E866-4BBA-92B1-8A001EC9F54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14</a:t>
            </a:r>
            <a:endParaRPr/>
          </a:p>
        </p:txBody>
      </p:sp>
      <p:sp>
        <p:nvSpPr>
          <p:cNvPr id="431" name="Google Shape;431;p16">
            <a:extLst xmlns:a="http://schemas.openxmlformats.org/drawingml/2006/main">
              <a:ext uri="{FF2B5EF4-FFF2-40B4-BE49-F238E27FC236}">
                <a16:creationId xmlns:a16="http://schemas.microsoft.com/office/drawing/2014/main" id="{6B5487D2-92E0-4879-BCA4-2C34ED043F19}"/>
              </a:ext>
            </a:extLst>
          </p:cNvPr>
          <p:cNvSpPr>
            <a:spLocks xmlns:a="http://schemas.openxmlformats.org/drawingml/2006/main" noGrp="1"/>
          </p:cNvSpPr>
          <p:nvPr/>
        </p:nvSpPr>
        <p:spPr>
          <a:xfrm xmlns:a="http://schemas.openxmlformats.org/drawingml/2006/main">
            <a:off x="8382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425"/>
              <a:buFont typeface="Lato"/>
              <a:buNone/>
            </a:pPr>
            <a:r>
              <a:rPr sz="1425" b="1" i="0">
                <a:solidFill>
                  <a:srgbClr val="00A88F"/>
                </a:solidFill>
                <a:latin typeface="Lato"/>
                <a:ea typeface="Lato"/>
                <a:cs typeface="Lato"/>
              </a:rPr>
              <a:t>01</a:t>
            </a:r>
            <a:endParaRPr/>
          </a:p>
        </p:txBody>
      </p:sp>
      <p:sp>
        <p:nvSpPr>
          <p:cNvPr id="432" name="Google Shape;432;p16">
            <a:extLst xmlns:a="http://schemas.openxmlformats.org/drawingml/2006/main">
              <a:ext uri="{FF2B5EF4-FFF2-40B4-BE49-F238E27FC236}">
                <a16:creationId xmlns:a16="http://schemas.microsoft.com/office/drawing/2014/main" id="{F7458B76-8AE6-4A48-A03E-FFCD05A3DC92}"/>
              </a:ext>
            </a:extLst>
          </p:cNvPr>
          <p:cNvSpPr>
            <a:spLocks xmlns:a="http://schemas.openxmlformats.org/drawingml/2006/main" noGrp="1"/>
          </p:cNvSpPr>
          <p:nvPr/>
        </p:nvSpPr>
        <p:spPr>
          <a:xfrm xmlns:a="http://schemas.openxmlformats.org/drawingml/2006/main">
            <a:off x="14287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MODEL RESPONSE</a:t>
            </a:r>
            <a:endParaRPr/>
          </a:p>
        </p:txBody>
      </p:sp>
      <p:sp>
        <p:nvSpPr>
          <p:cNvPr id="433" name="Google Shape;433;p16">
            <a:extLst xmlns:a="http://schemas.openxmlformats.org/drawingml/2006/main">
              <a:ext uri="{FF2B5EF4-FFF2-40B4-BE49-F238E27FC236}">
                <a16:creationId xmlns:a16="http://schemas.microsoft.com/office/drawing/2014/main" id="{C441635B-6798-4BC1-9C33-312E386F53C8}"/>
              </a:ext>
            </a:extLst>
          </p:cNvPr>
          <p:cNvSpPr>
            <a:spLocks xmlns:a="http://schemas.openxmlformats.org/drawingml/2006/main" noGrp="1"/>
          </p:cNvSpPr>
          <p:nvPr/>
        </p:nvSpPr>
        <p:spPr>
          <a:xfrm xmlns:a="http://schemas.openxmlformats.org/drawingml/2006/main">
            <a:off x="14287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representations of the climate system</a:t>
            </a:r>
            <a:endParaRPr/>
          </a:p>
        </p:txBody>
      </p:sp>
      <p:sp>
        <p:nvSpPr>
          <p:cNvPr id="434" name="Google Shape;434;p16">
            <a:extLst xmlns:a="http://schemas.openxmlformats.org/drawingml/2006/main">
              <a:ext uri="{FF2B5EF4-FFF2-40B4-BE49-F238E27FC236}">
                <a16:creationId xmlns:a16="http://schemas.microsoft.com/office/drawing/2014/main" id="{D10FDF8B-4C67-4EEC-823B-D7AF4F066E52}"/>
              </a:ext>
            </a:extLst>
          </p:cNvPr>
          <p:cNvSpPr>
            <a:spLocks xmlns:a="http://schemas.openxmlformats.org/drawingml/2006/main" noGrp="1"/>
          </p:cNvSpPr>
          <p:nvPr/>
        </p:nvSpPr>
        <p:spPr>
          <a:xfrm xmlns:a="http://schemas.openxmlformats.org/drawingml/2006/main">
            <a:off x="455295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425"/>
              <a:buFont typeface="Lato"/>
              <a:buNone/>
            </a:pPr>
            <a:r>
              <a:rPr sz="1425" b="1" i="0">
                <a:solidFill>
                  <a:srgbClr val="F2B632"/>
                </a:solidFill>
                <a:latin typeface="Lato"/>
                <a:ea typeface="Lato"/>
                <a:cs typeface="Lato"/>
              </a:rPr>
              <a:t>02</a:t>
            </a:r>
            <a:endParaRPr/>
          </a:p>
        </p:txBody>
      </p:sp>
      <p:sp>
        <p:nvSpPr>
          <p:cNvPr id="435" name="Google Shape;435;p16">
            <a:extLst xmlns:a="http://schemas.openxmlformats.org/drawingml/2006/main">
              <a:ext uri="{FF2B5EF4-FFF2-40B4-BE49-F238E27FC236}">
                <a16:creationId xmlns:a16="http://schemas.microsoft.com/office/drawing/2014/main" id="{93F42FE5-3E3A-4E79-B152-9928D5E239B5}"/>
              </a:ext>
            </a:extLst>
          </p:cNvPr>
          <p:cNvSpPr>
            <a:spLocks xmlns:a="http://schemas.openxmlformats.org/drawingml/2006/main" noGrp="1"/>
          </p:cNvSpPr>
          <p:nvPr/>
        </p:nvSpPr>
        <p:spPr>
          <a:xfrm xmlns:a="http://schemas.openxmlformats.org/drawingml/2006/main">
            <a:off x="514350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FUTURE SCENARIO</a:t>
            </a:r>
            <a:endParaRPr/>
          </a:p>
        </p:txBody>
      </p:sp>
      <p:sp>
        <p:nvSpPr>
          <p:cNvPr id="436" name="Google Shape;436;p16">
            <a:extLst xmlns:a="http://schemas.openxmlformats.org/drawingml/2006/main">
              <a:ext uri="{FF2B5EF4-FFF2-40B4-BE49-F238E27FC236}">
                <a16:creationId xmlns:a16="http://schemas.microsoft.com/office/drawing/2014/main" id="{CB09BF5C-ACDE-44BF-889D-A8E076AD10CC}"/>
              </a:ext>
            </a:extLst>
          </p:cNvPr>
          <p:cNvSpPr>
            <a:spLocks xmlns:a="http://schemas.openxmlformats.org/drawingml/2006/main" noGrp="1"/>
          </p:cNvSpPr>
          <p:nvPr/>
        </p:nvSpPr>
        <p:spPr>
          <a:xfrm xmlns:a="http://schemas.openxmlformats.org/drawingml/2006/main">
            <a:off x="514350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future emissions and land-use pathways</a:t>
            </a:r>
            <a:endParaRPr/>
          </a:p>
        </p:txBody>
      </p:sp>
      <p:sp>
        <p:nvSpPr>
          <p:cNvPr id="437" name="Google Shape;437;p16">
            <a:extLst xmlns:a="http://schemas.openxmlformats.org/drawingml/2006/main">
              <a:ext uri="{FF2B5EF4-FFF2-40B4-BE49-F238E27FC236}">
                <a16:creationId xmlns:a16="http://schemas.microsoft.com/office/drawing/2014/main" id="{8699EBB4-DB1E-45D0-A931-7B9469D5AC9B}"/>
              </a:ext>
            </a:extLst>
          </p:cNvPr>
          <p:cNvSpPr>
            <a:spLocks xmlns:a="http://schemas.openxmlformats.org/drawingml/2006/main" noGrp="1"/>
          </p:cNvSpPr>
          <p:nvPr/>
        </p:nvSpPr>
        <p:spPr>
          <a:xfrm xmlns:a="http://schemas.openxmlformats.org/drawingml/2006/main">
            <a:off x="82677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425"/>
              <a:buFont typeface="Lato"/>
              <a:buNone/>
            </a:pPr>
            <a:r>
              <a:rPr sz="1425" b="1" i="0">
                <a:solidFill>
                  <a:srgbClr val="183A59"/>
                </a:solidFill>
                <a:latin typeface="Lato"/>
                <a:ea typeface="Lato"/>
                <a:cs typeface="Lato"/>
              </a:rPr>
              <a:t>03</a:t>
            </a:r>
            <a:endParaRPr/>
          </a:p>
        </p:txBody>
      </p:sp>
      <p:sp>
        <p:nvSpPr>
          <p:cNvPr id="438" name="Google Shape;438;p16">
            <a:extLst xmlns:a="http://schemas.openxmlformats.org/drawingml/2006/main">
              <a:ext uri="{FF2B5EF4-FFF2-40B4-BE49-F238E27FC236}">
                <a16:creationId xmlns:a16="http://schemas.microsoft.com/office/drawing/2014/main" id="{13A30006-3768-45CF-80DE-699FF3A9CD53}"/>
              </a:ext>
            </a:extLst>
          </p:cNvPr>
          <p:cNvSpPr>
            <a:spLocks xmlns:a="http://schemas.openxmlformats.org/drawingml/2006/main" noGrp="1"/>
          </p:cNvSpPr>
          <p:nvPr/>
        </p:nvSpPr>
        <p:spPr>
          <a:xfrm xmlns:a="http://schemas.openxmlformats.org/drawingml/2006/main">
            <a:off x="88582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INTERNAL VARIABILITY</a:t>
            </a:r>
            <a:endParaRPr/>
          </a:p>
        </p:txBody>
      </p:sp>
      <p:sp>
        <p:nvSpPr>
          <p:cNvPr id="439" name="Google Shape;439;p16">
            <a:extLst xmlns:a="http://schemas.openxmlformats.org/drawingml/2006/main">
              <a:ext uri="{FF2B5EF4-FFF2-40B4-BE49-F238E27FC236}">
                <a16:creationId xmlns:a16="http://schemas.microsoft.com/office/drawing/2014/main" id="{5AB52AED-75EB-4124-B492-0D0237C945BE}"/>
              </a:ext>
            </a:extLst>
          </p:cNvPr>
          <p:cNvSpPr>
            <a:spLocks xmlns:a="http://schemas.openxmlformats.org/drawingml/2006/main" noGrp="1"/>
          </p:cNvSpPr>
          <p:nvPr/>
        </p:nvSpPr>
        <p:spPr>
          <a:xfrm xmlns:a="http://schemas.openxmlformats.org/drawingml/2006/main">
            <a:off x="88582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Natural fluctuations within the climate system</a:t>
            </a:r>
            <a:endParaRPr/>
          </a:p>
        </p:txBody>
      </p:sp>
      <p:sp>
        <p:nvSpPr>
          <p:cNvPr id="440" name="Google Shape;440;p16">
            <a:extLst xmlns:a="http://schemas.openxmlformats.org/drawingml/2006/main">
              <a:ext uri="{FF2B5EF4-FFF2-40B4-BE49-F238E27FC236}">
                <a16:creationId xmlns:a16="http://schemas.microsoft.com/office/drawing/2014/main" id="{A99B1575-A9B4-4DD8-B140-D586EA27F2CF}"/>
              </a:ext>
            </a:extLst>
          </p:cNvPr>
          <p:cNvSpPr>
            <a:spLocks xmlns:a="http://schemas.openxmlformats.org/drawingml/2006/main" noGrp="1"/>
          </p:cNvSpPr>
          <p:nvPr/>
        </p:nvSpPr>
        <p:spPr>
          <a:xfrm xmlns:a="http://schemas.openxmlformats.org/drawingml/2006/main">
            <a:off x="800100" y="3162300"/>
            <a:ext cx="10591800" cy="1009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1" name="Google Shape;441;p16">
            <a:extLst xmlns:a="http://schemas.openxmlformats.org/drawingml/2006/main">
              <a:ext uri="{FF2B5EF4-FFF2-40B4-BE49-F238E27FC236}">
                <a16:creationId xmlns:a16="http://schemas.microsoft.com/office/drawing/2014/main" id="{C1E5CB91-490B-4D94-8E9F-E69ABB6A734C}"/>
              </a:ext>
            </a:extLst>
          </p:cNvPr>
          <p:cNvSpPr>
            <a:spLocks xmlns:a="http://schemas.openxmlformats.org/drawingml/2006/main" noGrp="1"/>
          </p:cNvSpPr>
          <p:nvPr/>
        </p:nvSpPr>
        <p:spPr>
          <a:xfrm xmlns:a="http://schemas.openxmlformats.org/drawingml/2006/main">
            <a:off x="1066800" y="3381375"/>
            <a:ext cx="2857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550"/>
              <a:buFont typeface="Lato"/>
              <a:buNone/>
            </a:pPr>
            <a:r>
              <a:rPr sz="2550" b="1" i="0">
                <a:solidFill>
                  <a:srgbClr val="FFFFFF"/>
                </a:solidFill>
                <a:latin typeface="Lato"/>
                <a:ea typeface="Lato"/>
                <a:cs typeface="Lato"/>
              </a:rPr>
              <a:t>ENSEMBLE</a:t>
            </a:r>
            <a:endParaRPr/>
          </a:p>
        </p:txBody>
      </p:sp>
      <p:sp>
        <p:nvSpPr>
          <p:cNvPr id="442" name="Google Shape;442;p16">
            <a:extLst xmlns:a="http://schemas.openxmlformats.org/drawingml/2006/main">
              <a:ext uri="{FF2B5EF4-FFF2-40B4-BE49-F238E27FC236}">
                <a16:creationId xmlns:a16="http://schemas.microsoft.com/office/drawing/2014/main" id="{B9746DDB-9DDC-4C1B-AC9B-DAE995CEF8B2}"/>
              </a:ext>
            </a:extLst>
          </p:cNvPr>
          <p:cNvSpPr>
            <a:spLocks xmlns:a="http://schemas.openxmlformats.org/drawingml/2006/main" noGrp="1"/>
          </p:cNvSpPr>
          <p:nvPr/>
        </p:nvSpPr>
        <p:spPr>
          <a:xfrm xmlns:a="http://schemas.openxmlformats.org/drawingml/2006/main">
            <a:off x="4095750" y="3390900"/>
            <a:ext cx="676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D7E5EC"/>
              </a:buClr>
              <a:buSzPts val="2025"/>
              <a:buFont typeface="Lato"/>
              <a:buNone/>
            </a:pPr>
            <a:r>
              <a:rPr sz="2025" b="1" i="0">
                <a:solidFill>
                  <a:srgbClr val="D7E5EC"/>
                </a:solidFill>
                <a:latin typeface="Lato"/>
                <a:ea typeface="Lato"/>
                <a:cs typeface="Lato"/>
              </a:rPr>
              <a:t>A range of plausible climate responses</a:t>
            </a:r>
            <a:endParaRPr/>
          </a:p>
        </p:txBody>
      </p:sp>
      <p:sp>
        <p:nvSpPr>
          <p:cNvPr id="443" name="Google Shape;443;p16">
            <a:extLst xmlns:a="http://schemas.openxmlformats.org/drawingml/2006/main">
              <a:ext uri="{FF2B5EF4-FFF2-40B4-BE49-F238E27FC236}">
                <a16:creationId xmlns:a16="http://schemas.microsoft.com/office/drawing/2014/main" id="{EE621178-63A1-44E4-9D44-5C29A6C91644}"/>
              </a:ext>
            </a:extLst>
          </p:cNvPr>
          <p:cNvSpPr>
            <a:spLocks xmlns:a="http://schemas.openxmlformats.org/drawingml/2006/main" noGrp="1"/>
          </p:cNvSpPr>
          <p:nvPr/>
        </p:nvSpPr>
        <p:spPr>
          <a:xfrm xmlns:a="http://schemas.openxmlformats.org/drawingml/2006/main">
            <a:off x="8763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CENTRE</a:t>
            </a:r>
            <a:endParaRPr/>
          </a:p>
        </p:txBody>
      </p:sp>
      <p:sp>
        <p:nvSpPr>
          <p:cNvPr id="444" name="Google Shape;444;p16">
            <a:extLst xmlns:a="http://schemas.openxmlformats.org/drawingml/2006/main">
              <a:ext uri="{FF2B5EF4-FFF2-40B4-BE49-F238E27FC236}">
                <a16:creationId xmlns:a16="http://schemas.microsoft.com/office/drawing/2014/main" id="{909E6DC9-F8FB-490B-9D6A-FE46FF93BC9E}"/>
              </a:ext>
            </a:extLst>
          </p:cNvPr>
          <p:cNvSpPr>
            <a:spLocks xmlns:a="http://schemas.openxmlformats.org/drawingml/2006/main" noGrp="1"/>
          </p:cNvSpPr>
          <p:nvPr/>
        </p:nvSpPr>
        <p:spPr>
          <a:xfrm xmlns:a="http://schemas.openxmlformats.org/drawingml/2006/main">
            <a:off x="8763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Mean or median change</a:t>
            </a:r>
            <a:endParaRPr/>
          </a:p>
        </p:txBody>
      </p:sp>
      <p:sp>
        <p:nvSpPr>
          <p:cNvPr id="445" name="Google Shape;445;p16">
            <a:extLst xmlns:a="http://schemas.openxmlformats.org/drawingml/2006/main">
              <a:ext uri="{FF2B5EF4-FFF2-40B4-BE49-F238E27FC236}">
                <a16:creationId xmlns:a16="http://schemas.microsoft.com/office/drawing/2014/main" id="{DDE5CC51-6326-4787-8B4D-613509F53F44}"/>
              </a:ext>
            </a:extLst>
          </p:cNvPr>
          <p:cNvSpPr>
            <a:spLocks xmlns:a="http://schemas.openxmlformats.org/drawingml/2006/main" noGrp="1"/>
          </p:cNvSpPr>
          <p:nvPr/>
        </p:nvSpPr>
        <p:spPr>
          <a:xfrm xmlns:a="http://schemas.openxmlformats.org/drawingml/2006/main">
            <a:off x="42100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6" name="Google Shape;446;p16">
            <a:extLst xmlns:a="http://schemas.openxmlformats.org/drawingml/2006/main">
              <a:ext uri="{FF2B5EF4-FFF2-40B4-BE49-F238E27FC236}">
                <a16:creationId xmlns:a16="http://schemas.microsoft.com/office/drawing/2014/main" id="{87C7655C-F92B-4239-B5C1-37AD06AA190E}"/>
              </a:ext>
            </a:extLst>
          </p:cNvPr>
          <p:cNvSpPr>
            <a:spLocks xmlns:a="http://schemas.openxmlformats.org/drawingml/2006/main" noGrp="1"/>
          </p:cNvSpPr>
          <p:nvPr/>
        </p:nvSpPr>
        <p:spPr>
          <a:xfrm xmlns:a="http://schemas.openxmlformats.org/drawingml/2006/main">
            <a:off x="45720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SPREAD</a:t>
            </a:r>
            <a:endParaRPr/>
          </a:p>
        </p:txBody>
      </p:sp>
      <p:sp>
        <p:nvSpPr>
          <p:cNvPr id="447" name="Google Shape;447;p16">
            <a:extLst xmlns:a="http://schemas.openxmlformats.org/drawingml/2006/main">
              <a:ext uri="{FF2B5EF4-FFF2-40B4-BE49-F238E27FC236}">
                <a16:creationId xmlns:a16="http://schemas.microsoft.com/office/drawing/2014/main" id="{88789B51-FF49-4400-BA13-50C3F9919ABC}"/>
              </a:ext>
            </a:extLst>
          </p:cNvPr>
          <p:cNvSpPr>
            <a:spLocks xmlns:a="http://schemas.openxmlformats.org/drawingml/2006/main" noGrp="1"/>
          </p:cNvSpPr>
          <p:nvPr/>
        </p:nvSpPr>
        <p:spPr>
          <a:xfrm xmlns:a="http://schemas.openxmlformats.org/drawingml/2006/main">
            <a:off x="45720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Range across models</a:t>
            </a:r>
            <a:endParaRPr/>
          </a:p>
        </p:txBody>
      </p:sp>
      <p:sp>
        <p:nvSpPr>
          <p:cNvPr id="448" name="Google Shape;448;p16">
            <a:extLst xmlns:a="http://schemas.openxmlformats.org/drawingml/2006/main">
              <a:ext uri="{FF2B5EF4-FFF2-40B4-BE49-F238E27FC236}">
                <a16:creationId xmlns:a16="http://schemas.microsoft.com/office/drawing/2014/main" id="{F6D66EA3-1924-4DC0-BCA8-9D5AC98F129A}"/>
              </a:ext>
            </a:extLst>
          </p:cNvPr>
          <p:cNvSpPr>
            <a:spLocks xmlns:a="http://schemas.openxmlformats.org/drawingml/2006/main" noGrp="1"/>
          </p:cNvSpPr>
          <p:nvPr/>
        </p:nvSpPr>
        <p:spPr>
          <a:xfrm xmlns:a="http://schemas.openxmlformats.org/drawingml/2006/main">
            <a:off x="79057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9" name="Google Shape;449;p16">
            <a:extLst xmlns:a="http://schemas.openxmlformats.org/drawingml/2006/main">
              <a:ext uri="{FF2B5EF4-FFF2-40B4-BE49-F238E27FC236}">
                <a16:creationId xmlns:a16="http://schemas.microsoft.com/office/drawing/2014/main" id="{19411902-ADC2-4B81-BAD3-4439CF94FCCE}"/>
              </a:ext>
            </a:extLst>
          </p:cNvPr>
          <p:cNvSpPr>
            <a:spLocks xmlns:a="http://schemas.openxmlformats.org/drawingml/2006/main" noGrp="1"/>
          </p:cNvSpPr>
          <p:nvPr/>
        </p:nvSpPr>
        <p:spPr>
          <a:xfrm xmlns:a="http://schemas.openxmlformats.org/drawingml/2006/main">
            <a:off x="82677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AGREEMENT</a:t>
            </a:r>
            <a:endParaRPr/>
          </a:p>
        </p:txBody>
      </p:sp>
      <p:sp>
        <p:nvSpPr>
          <p:cNvPr id="450" name="Google Shape;450;p16">
            <a:extLst xmlns:a="http://schemas.openxmlformats.org/drawingml/2006/main">
              <a:ext uri="{FF2B5EF4-FFF2-40B4-BE49-F238E27FC236}">
                <a16:creationId xmlns:a16="http://schemas.microsoft.com/office/drawing/2014/main" id="{01D8A0B6-A6A1-4C21-8893-926C684C00AB}"/>
              </a:ext>
            </a:extLst>
          </p:cNvPr>
          <p:cNvSpPr>
            <a:spLocks xmlns:a="http://schemas.openxmlformats.org/drawingml/2006/main" noGrp="1"/>
          </p:cNvSpPr>
          <p:nvPr/>
        </p:nvSpPr>
        <p:spPr>
          <a:xfrm xmlns:a="http://schemas.openxmlformats.org/drawingml/2006/main">
            <a:off x="82677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422"/>
              <a:buFont typeface="Lato"/>
              <a:buNone/>
            </a:pPr>
            <a:r>
              <a:rPr sz="1422" b="1" i="0">
                <a:solidFill>
                  <a:srgbClr val="12304E"/>
                </a:solidFill>
                <a:latin typeface="Lato"/>
                <a:ea typeface="Lato"/>
                <a:cs typeface="Lato"/>
              </a:rPr>
              <a:t>Direction and consistency of change</a:t>
            </a:r>
            <a:endParaRPr/>
          </a:p>
        </p:txBody>
      </p:sp>
    </p:spTree>
    <p:extLst>
      <p:ext uri="{BB962C8B-B14F-4D97-AF65-F5344CB8AC3E}">
        <p14:creationId xmlns:p14="http://schemas.microsoft.com/office/powerpoint/2010/main" val="1524832011"/>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56" name="Google Shape;456;p17">
            <a:extLst xmlns:a="http://schemas.openxmlformats.org/drawingml/2006/main">
              <a:ext uri="{FF2B5EF4-FFF2-40B4-BE49-F238E27FC236}">
                <a16:creationId xmlns:a16="http://schemas.microsoft.com/office/drawing/2014/main" id="{F20699CA-31B5-4042-A784-B4B62F593C7E}"/>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variables to indicators and hazards</a:t>
            </a:r>
            <a:endParaRPr/>
          </a:p>
        </p:txBody>
      </p:sp>
      <p:sp>
        <p:nvSpPr>
          <p:cNvPr id="457" name="Google Shape;457;p17">
            <a:extLst xmlns:a="http://schemas.openxmlformats.org/drawingml/2006/main">
              <a:ext uri="{FF2B5EF4-FFF2-40B4-BE49-F238E27FC236}">
                <a16:creationId xmlns:a16="http://schemas.microsoft.com/office/drawing/2014/main" id="{AE70080E-76F0-4653-925D-8BECE62F8EC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Indicators translate climate data into quantities that relate more directly to decisions</a:t>
            </a:r>
            <a:endParaRPr/>
          </a:p>
        </p:txBody>
      </p:sp>
      <p:sp>
        <p:nvSpPr>
          <p:cNvPr id="458" name="Google Shape;458;p17">
            <a:extLst xmlns:a="http://schemas.openxmlformats.org/drawingml/2006/main">
              <a:ext uri="{FF2B5EF4-FFF2-40B4-BE49-F238E27FC236}">
                <a16:creationId xmlns:a16="http://schemas.microsoft.com/office/drawing/2014/main" id="{29BD6C83-8EAC-4A51-9ACE-78FE298F74B7}"/>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9" name="Google Shape;459;p17">
            <a:extLst xmlns:a="http://schemas.openxmlformats.org/drawingml/2006/main">
              <a:ext uri="{FF2B5EF4-FFF2-40B4-BE49-F238E27FC236}">
                <a16:creationId xmlns:a16="http://schemas.microsoft.com/office/drawing/2014/main" id="{18351248-2067-441A-9470-D3311055FF6F}"/>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0" name="Google Shape;460;p17">
            <a:extLst xmlns:a="http://schemas.openxmlformats.org/drawingml/2006/main">
              <a:ext uri="{FF2B5EF4-FFF2-40B4-BE49-F238E27FC236}">
                <a16:creationId xmlns:a16="http://schemas.microsoft.com/office/drawing/2014/main" id="{A495B34C-B94F-4DA0-BCC6-6B86EB37B9C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1" name="Google Shape;461;p17">
            <a:extLst xmlns:a="http://schemas.openxmlformats.org/drawingml/2006/main">
              <a:ext uri="{FF2B5EF4-FFF2-40B4-BE49-F238E27FC236}">
                <a16:creationId xmlns:a16="http://schemas.microsoft.com/office/drawing/2014/main" id="{96B632E6-E0A3-4C81-BAD2-10E25A66058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62" name="Google Shape;462;p17">
            <a:extLst xmlns:a="http://schemas.openxmlformats.org/drawingml/2006/main">
              <a:ext uri="{FF2B5EF4-FFF2-40B4-BE49-F238E27FC236}">
                <a16:creationId xmlns:a16="http://schemas.microsoft.com/office/drawing/2014/main" id="{D473408A-CD37-4379-BC9D-900978360F1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15</a:t>
            </a:r>
            <a:endParaRPr/>
          </a:p>
        </p:txBody>
      </p:sp>
      <p:sp>
        <p:nvSpPr>
          <p:cNvPr id="463" name="Google Shape;463;p17">
            <a:extLst xmlns:a="http://schemas.openxmlformats.org/drawingml/2006/main">
              <a:ext uri="{FF2B5EF4-FFF2-40B4-BE49-F238E27FC236}">
                <a16:creationId xmlns:a16="http://schemas.microsoft.com/office/drawing/2014/main" id="{13844B61-DAEF-4FE7-888E-45C9F16C3521}"/>
              </a:ext>
            </a:extLst>
          </p:cNvPr>
          <p:cNvSpPr>
            <a:spLocks xmlns:a="http://schemas.openxmlformats.org/drawingml/2006/main" noGrp="1"/>
          </p:cNvSpPr>
          <p:nvPr/>
        </p:nvSpPr>
        <p:spPr>
          <a:xfrm xmlns:a="http://schemas.openxmlformats.org/drawingml/2006/main">
            <a:off x="666750" y="2019300"/>
            <a:ext cx="2781300" cy="22669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4" name="Google Shape;464;p17">
            <a:extLst xmlns:a="http://schemas.openxmlformats.org/drawingml/2006/main">
              <a:ext uri="{FF2B5EF4-FFF2-40B4-BE49-F238E27FC236}">
                <a16:creationId xmlns:a16="http://schemas.microsoft.com/office/drawing/2014/main" id="{D279C4A2-C22E-4556-8205-89C3A15A24FF}"/>
              </a:ext>
            </a:extLst>
          </p:cNvPr>
          <p:cNvSpPr>
            <a:spLocks xmlns:a="http://schemas.openxmlformats.org/drawingml/2006/main" noGrp="1"/>
          </p:cNvSpPr>
          <p:nvPr/>
        </p:nvSpPr>
        <p:spPr>
          <a:xfrm xmlns:a="http://schemas.openxmlformats.org/drawingml/2006/main">
            <a:off x="8953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01</a:t>
            </a:r>
            <a:endParaRPr/>
          </a:p>
        </p:txBody>
      </p:sp>
      <p:sp>
        <p:nvSpPr>
          <p:cNvPr id="465" name="Google Shape;465;p17">
            <a:extLst xmlns:a="http://schemas.openxmlformats.org/drawingml/2006/main">
              <a:ext uri="{FF2B5EF4-FFF2-40B4-BE49-F238E27FC236}">
                <a16:creationId xmlns:a16="http://schemas.microsoft.com/office/drawing/2014/main" id="{301370CE-FCEA-47FC-8C1F-70B14D773D08}"/>
              </a:ext>
            </a:extLst>
          </p:cNvPr>
          <p:cNvSpPr>
            <a:spLocks xmlns:a="http://schemas.openxmlformats.org/drawingml/2006/main" noGrp="1"/>
          </p:cNvSpPr>
          <p:nvPr/>
        </p:nvSpPr>
        <p:spPr>
          <a:xfrm xmlns:a="http://schemas.openxmlformats.org/drawingml/2006/main">
            <a:off x="8953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VARIABLE</a:t>
            </a:r>
            <a:endParaRPr/>
          </a:p>
        </p:txBody>
      </p:sp>
      <p:sp>
        <p:nvSpPr>
          <p:cNvPr id="466" name="Google Shape;466;p17">
            <a:extLst xmlns:a="http://schemas.openxmlformats.org/drawingml/2006/main">
              <a:ext uri="{FF2B5EF4-FFF2-40B4-BE49-F238E27FC236}">
                <a16:creationId xmlns:a16="http://schemas.microsoft.com/office/drawing/2014/main" id="{DFCA14AC-8237-4A5B-91ED-7DB1859EFECC}"/>
              </a:ext>
            </a:extLst>
          </p:cNvPr>
          <p:cNvSpPr>
            <a:spLocks xmlns:a="http://schemas.openxmlformats.org/drawingml/2006/main" noGrp="1"/>
          </p:cNvSpPr>
          <p:nvPr/>
        </p:nvSpPr>
        <p:spPr>
          <a:xfrm xmlns:a="http://schemas.openxmlformats.org/drawingml/2006/main">
            <a:off x="8953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Daily maximum temperature</a:t>
            </a:r>
            <a:endParaRPr/>
          </a:p>
        </p:txBody>
      </p:sp>
      <p:sp>
        <p:nvSpPr>
          <p:cNvPr id="467" name="Google Shape;467;p17">
            <a:extLst xmlns:a="http://schemas.openxmlformats.org/drawingml/2006/main">
              <a:ext uri="{FF2B5EF4-FFF2-40B4-BE49-F238E27FC236}">
                <a16:creationId xmlns:a16="http://schemas.microsoft.com/office/drawing/2014/main" id="{0BB3686C-92E2-41EA-B3DA-3938FFCAF99A}"/>
              </a:ext>
            </a:extLst>
          </p:cNvPr>
          <p:cNvSpPr>
            <a:spLocks xmlns:a="http://schemas.openxmlformats.org/drawingml/2006/main" noGrp="1"/>
          </p:cNvSpPr>
          <p:nvPr/>
        </p:nvSpPr>
        <p:spPr>
          <a:xfrm xmlns:a="http://schemas.openxmlformats.org/drawingml/2006/main">
            <a:off x="3448050" y="2019300"/>
            <a:ext cx="2781300" cy="22669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8" name="Google Shape;468;p17">
            <a:extLst xmlns:a="http://schemas.openxmlformats.org/drawingml/2006/main">
              <a:ext uri="{FF2B5EF4-FFF2-40B4-BE49-F238E27FC236}">
                <a16:creationId xmlns:a16="http://schemas.microsoft.com/office/drawing/2014/main" id="{A4DA1304-EC54-4E1E-9B13-26975B07815B}"/>
              </a:ext>
            </a:extLst>
          </p:cNvPr>
          <p:cNvSpPr>
            <a:spLocks xmlns:a="http://schemas.openxmlformats.org/drawingml/2006/main" noGrp="1"/>
          </p:cNvSpPr>
          <p:nvPr/>
        </p:nvSpPr>
        <p:spPr>
          <a:xfrm xmlns:a="http://schemas.openxmlformats.org/drawingml/2006/main">
            <a:off x="36766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469" name="Google Shape;469;p17">
            <a:extLst xmlns:a="http://schemas.openxmlformats.org/drawingml/2006/main">
              <a:ext uri="{FF2B5EF4-FFF2-40B4-BE49-F238E27FC236}">
                <a16:creationId xmlns:a16="http://schemas.microsoft.com/office/drawing/2014/main" id="{1641F9CB-9A2B-4A15-9B02-4851522C1407}"/>
              </a:ext>
            </a:extLst>
          </p:cNvPr>
          <p:cNvSpPr>
            <a:spLocks xmlns:a="http://schemas.openxmlformats.org/drawingml/2006/main" noGrp="1"/>
          </p:cNvSpPr>
          <p:nvPr/>
        </p:nvSpPr>
        <p:spPr>
          <a:xfrm xmlns:a="http://schemas.openxmlformats.org/drawingml/2006/main">
            <a:off x="36766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470" name="Google Shape;470;p17">
            <a:extLst xmlns:a="http://schemas.openxmlformats.org/drawingml/2006/main">
              <a:ext uri="{FF2B5EF4-FFF2-40B4-BE49-F238E27FC236}">
                <a16:creationId xmlns:a16="http://schemas.microsoft.com/office/drawing/2014/main" id="{6493D5BB-A965-4F10-AC5A-310F450E79F8}"/>
              </a:ext>
            </a:extLst>
          </p:cNvPr>
          <p:cNvSpPr>
            <a:spLocks xmlns:a="http://schemas.openxmlformats.org/drawingml/2006/main" noGrp="1"/>
          </p:cNvSpPr>
          <p:nvPr/>
        </p:nvSpPr>
        <p:spPr>
          <a:xfrm xmlns:a="http://schemas.openxmlformats.org/drawingml/2006/main">
            <a:off x="36766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Days above 35°C</a:t>
            </a:r>
            <a:endParaRPr/>
          </a:p>
        </p:txBody>
      </p:sp>
      <p:sp>
        <p:nvSpPr>
          <p:cNvPr id="471" name="Google Shape;471;p17">
            <a:extLst xmlns:a="http://schemas.openxmlformats.org/drawingml/2006/main">
              <a:ext uri="{FF2B5EF4-FFF2-40B4-BE49-F238E27FC236}">
                <a16:creationId xmlns:a16="http://schemas.microsoft.com/office/drawing/2014/main" id="{B43C23BD-47BE-4809-A82A-AAB1C1B0DE17}"/>
              </a:ext>
            </a:extLst>
          </p:cNvPr>
          <p:cNvSpPr>
            <a:spLocks xmlns:a="http://schemas.openxmlformats.org/drawingml/2006/main" noGrp="1"/>
          </p:cNvSpPr>
          <p:nvPr/>
        </p:nvSpPr>
        <p:spPr>
          <a:xfrm xmlns:a="http://schemas.openxmlformats.org/drawingml/2006/main">
            <a:off x="6229350" y="2019300"/>
            <a:ext cx="2781300" cy="22669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2" name="Google Shape;472;p17">
            <a:extLst xmlns:a="http://schemas.openxmlformats.org/drawingml/2006/main">
              <a:ext uri="{FF2B5EF4-FFF2-40B4-BE49-F238E27FC236}">
                <a16:creationId xmlns:a16="http://schemas.microsoft.com/office/drawing/2014/main" id="{D0CA678F-20E8-42A3-97F3-23C0E438284D}"/>
              </a:ext>
            </a:extLst>
          </p:cNvPr>
          <p:cNvSpPr>
            <a:spLocks xmlns:a="http://schemas.openxmlformats.org/drawingml/2006/main" noGrp="1"/>
          </p:cNvSpPr>
          <p:nvPr/>
        </p:nvSpPr>
        <p:spPr>
          <a:xfrm xmlns:a="http://schemas.openxmlformats.org/drawingml/2006/main">
            <a:off x="64579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03</a:t>
            </a:r>
            <a:endParaRPr/>
          </a:p>
        </p:txBody>
      </p:sp>
      <p:sp>
        <p:nvSpPr>
          <p:cNvPr id="473" name="Google Shape;473;p17">
            <a:extLst xmlns:a="http://schemas.openxmlformats.org/drawingml/2006/main">
              <a:ext uri="{FF2B5EF4-FFF2-40B4-BE49-F238E27FC236}">
                <a16:creationId xmlns:a16="http://schemas.microsoft.com/office/drawing/2014/main" id="{10D1E8E3-AB9F-43B1-94E0-D871BCD63C05}"/>
              </a:ext>
            </a:extLst>
          </p:cNvPr>
          <p:cNvSpPr>
            <a:spLocks xmlns:a="http://schemas.openxmlformats.org/drawingml/2006/main" noGrp="1"/>
          </p:cNvSpPr>
          <p:nvPr/>
        </p:nvSpPr>
        <p:spPr>
          <a:xfrm xmlns:a="http://schemas.openxmlformats.org/drawingml/2006/main">
            <a:off x="64579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CHANGE</a:t>
            </a:r>
            <a:endParaRPr/>
          </a:p>
        </p:txBody>
      </p:sp>
      <p:sp>
        <p:nvSpPr>
          <p:cNvPr id="474" name="Google Shape;474;p17">
            <a:extLst xmlns:a="http://schemas.openxmlformats.org/drawingml/2006/main">
              <a:ext uri="{FF2B5EF4-FFF2-40B4-BE49-F238E27FC236}">
                <a16:creationId xmlns:a16="http://schemas.microsoft.com/office/drawing/2014/main" id="{938FF2C4-5729-4056-8621-A8DF906ABC1A}"/>
              </a:ext>
            </a:extLst>
          </p:cNvPr>
          <p:cNvSpPr>
            <a:spLocks xmlns:a="http://schemas.openxmlformats.org/drawingml/2006/main" noGrp="1"/>
          </p:cNvSpPr>
          <p:nvPr/>
        </p:nvSpPr>
        <p:spPr>
          <a:xfrm xmlns:a="http://schemas.openxmlformats.org/drawingml/2006/main">
            <a:off x="64579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06"/>
              <a:buFont typeface="Lato"/>
              <a:buNone/>
            </a:pPr>
            <a:r>
              <a:rPr sz="1607" b="1" i="0">
                <a:solidFill>
                  <a:srgbClr val="12304E"/>
                </a:solidFill>
                <a:latin typeface="Lato"/>
                <a:ea typeface="Lato"/>
                <a:cs typeface="Lato"/>
              </a:rPr>
              <a:t>Future period compared with baseline</a:t>
            </a:r>
            <a:endParaRPr/>
          </a:p>
        </p:txBody>
      </p:sp>
      <p:sp>
        <p:nvSpPr>
          <p:cNvPr id="475" name="Google Shape;475;p17">
            <a:extLst xmlns:a="http://schemas.openxmlformats.org/drawingml/2006/main">
              <a:ext uri="{FF2B5EF4-FFF2-40B4-BE49-F238E27FC236}">
                <a16:creationId xmlns:a16="http://schemas.microsoft.com/office/drawing/2014/main" id="{488105BC-982C-457C-AC12-6D6A9975259E}"/>
              </a:ext>
            </a:extLst>
          </p:cNvPr>
          <p:cNvSpPr>
            <a:spLocks xmlns:a="http://schemas.openxmlformats.org/drawingml/2006/main" noGrp="1"/>
          </p:cNvSpPr>
          <p:nvPr/>
        </p:nvSpPr>
        <p:spPr>
          <a:xfrm xmlns:a="http://schemas.openxmlformats.org/drawingml/2006/main">
            <a:off x="9010650" y="2019300"/>
            <a:ext cx="2781300" cy="2266950"/>
          </a:xfrm>
          <a:prstGeom xmlns:a="http://schemas.openxmlformats.org/drawingml/2006/main" prst="rect">
            <a:avLst/>
          </a:prstGeom>
          <a:solidFill xmlns:a="http://schemas.openxmlformats.org/drawingml/2006/main">
            <a:srgbClr val="DCEBE7"/>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6" name="Google Shape;476;p17">
            <a:extLst xmlns:a="http://schemas.openxmlformats.org/drawingml/2006/main">
              <a:ext uri="{FF2B5EF4-FFF2-40B4-BE49-F238E27FC236}">
                <a16:creationId xmlns:a16="http://schemas.microsoft.com/office/drawing/2014/main" id="{3AB0A40F-8AB4-4E54-81AB-DC04E4FA97ED}"/>
              </a:ext>
            </a:extLst>
          </p:cNvPr>
          <p:cNvSpPr>
            <a:spLocks xmlns:a="http://schemas.openxmlformats.org/drawingml/2006/main" noGrp="1"/>
          </p:cNvSpPr>
          <p:nvPr/>
        </p:nvSpPr>
        <p:spPr>
          <a:xfrm xmlns:a="http://schemas.openxmlformats.org/drawingml/2006/main">
            <a:off x="92392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350"/>
              <a:buFont typeface="Lato"/>
              <a:buNone/>
            </a:pPr>
            <a:r>
              <a:rPr sz="1350" b="1" i="0">
                <a:solidFill>
                  <a:srgbClr val="008D7A"/>
                </a:solidFill>
                <a:latin typeface="Lato"/>
                <a:ea typeface="Lato"/>
                <a:cs typeface="Lato"/>
              </a:rPr>
              <a:t>04</a:t>
            </a:r>
            <a:endParaRPr/>
          </a:p>
        </p:txBody>
      </p:sp>
      <p:sp>
        <p:nvSpPr>
          <p:cNvPr id="477" name="Google Shape;477;p17">
            <a:extLst xmlns:a="http://schemas.openxmlformats.org/drawingml/2006/main">
              <a:ext uri="{FF2B5EF4-FFF2-40B4-BE49-F238E27FC236}">
                <a16:creationId xmlns:a16="http://schemas.microsoft.com/office/drawing/2014/main" id="{FFE6A9BA-299D-4FB3-BFD3-EF5EA6B57CE0}"/>
              </a:ext>
            </a:extLst>
          </p:cNvPr>
          <p:cNvSpPr>
            <a:spLocks xmlns:a="http://schemas.openxmlformats.org/drawingml/2006/main" noGrp="1"/>
          </p:cNvSpPr>
          <p:nvPr/>
        </p:nvSpPr>
        <p:spPr>
          <a:xfrm xmlns:a="http://schemas.openxmlformats.org/drawingml/2006/main">
            <a:off x="92392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050"/>
              <a:buFont typeface="Lato"/>
              <a:buNone/>
            </a:pPr>
            <a:r>
              <a:rPr sz="1050" b="1" i="0">
                <a:solidFill>
                  <a:srgbClr val="008D7A"/>
                </a:solidFill>
                <a:latin typeface="Lato"/>
                <a:ea typeface="Lato"/>
                <a:cs typeface="Lato"/>
              </a:rPr>
              <a:t>HAZARD SIGNAL</a:t>
            </a:r>
            <a:endParaRPr/>
          </a:p>
        </p:txBody>
      </p:sp>
      <p:sp>
        <p:nvSpPr>
          <p:cNvPr id="478" name="Google Shape;478;p17">
            <a:extLst xmlns:a="http://schemas.openxmlformats.org/drawingml/2006/main">
              <a:ext uri="{FF2B5EF4-FFF2-40B4-BE49-F238E27FC236}">
                <a16:creationId xmlns:a16="http://schemas.microsoft.com/office/drawing/2014/main" id="{7476586D-F05A-4084-8550-87BF0DCE4B65}"/>
              </a:ext>
            </a:extLst>
          </p:cNvPr>
          <p:cNvSpPr>
            <a:spLocks xmlns:a="http://schemas.openxmlformats.org/drawingml/2006/main" noGrp="1"/>
          </p:cNvSpPr>
          <p:nvPr/>
        </p:nvSpPr>
        <p:spPr>
          <a:xfrm xmlns:a="http://schemas.openxmlformats.org/drawingml/2006/main">
            <a:off x="92392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93"/>
              <a:buFont typeface="Lato"/>
              <a:buNone/>
            </a:pPr>
            <a:r>
              <a:rPr sz="1594" b="1" i="0">
                <a:solidFill>
                  <a:srgbClr val="12304E"/>
                </a:solidFill>
                <a:latin typeface="Lato"/>
                <a:ea typeface="Lato"/>
                <a:cs typeface="Lato"/>
              </a:rPr>
              <a:t>Change in extreme-heat conditions</a:t>
            </a:r>
            <a:endParaRPr/>
          </a:p>
        </p:txBody>
      </p:sp>
      <p:sp>
        <p:nvSpPr>
          <p:cNvPr id="479" name="Google Shape;479;p17">
            <a:extLst xmlns:a="http://schemas.openxmlformats.org/drawingml/2006/main">
              <a:ext uri="{FF2B5EF4-FFF2-40B4-BE49-F238E27FC236}">
                <a16:creationId xmlns:a16="http://schemas.microsoft.com/office/drawing/2014/main" id="{CBD5C5A9-D05E-4A2F-8EFE-1FA4AD512C3D}"/>
              </a:ext>
            </a:extLst>
          </p:cNvPr>
          <p:cNvSpPr>
            <a:spLocks xmlns:a="http://schemas.openxmlformats.org/drawingml/2006/main" noGrp="1"/>
          </p:cNvSpPr>
          <p:nvPr/>
        </p:nvSpPr>
        <p:spPr>
          <a:xfrm xmlns:a="http://schemas.openxmlformats.org/drawingml/2006/main">
            <a:off x="666750" y="4286250"/>
            <a:ext cx="11125200" cy="66675"/>
          </a:xfrm>
          <a:prstGeom xmlns:a="http://schemas.openxmlformats.org/drawingml/2006/main" prst="rect">
            <a:avLst/>
          </a:prstGeom>
          <a:gradFill xmlns:a="http://schemas.openxmlformats.org/drawingml/2006/main">
            <a:gsLst>
              <a:gs pos="0">
                <a:srgbClr val="183A59"/>
              </a:gs>
              <a:gs pos="38000">
                <a:srgbClr val="00A88F"/>
              </a:gs>
              <a:gs pos="70000">
                <a:srgbClr val="F2B632"/>
              </a:gs>
              <a:gs pos="100000">
                <a:srgbClr val="008D7A"/>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0" name="Google Shape;480;p17">
            <a:extLst xmlns:a="http://schemas.openxmlformats.org/drawingml/2006/main">
              <a:ext uri="{FF2B5EF4-FFF2-40B4-BE49-F238E27FC236}">
                <a16:creationId xmlns:a16="http://schemas.microsoft.com/office/drawing/2014/main" id="{D5C540AD-A8FC-48F7-BE20-F662360E3637}"/>
              </a:ext>
            </a:extLst>
          </p:cNvPr>
          <p:cNvSpPr>
            <a:spLocks xmlns:a="http://schemas.openxmlformats.org/drawingml/2006/main" noGrp="1"/>
          </p:cNvSpPr>
          <p:nvPr/>
        </p:nvSpPr>
        <p:spPr>
          <a:xfrm xmlns:a="http://schemas.openxmlformats.org/drawingml/2006/main">
            <a:off x="819150" y="4762500"/>
            <a:ext cx="4953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16"/>
              <a:buFont typeface="Lato"/>
              <a:buNone/>
            </a:pPr>
            <a:r>
              <a:rPr sz="1616" b="1" i="0">
                <a:solidFill>
                  <a:srgbClr val="008D7A"/>
                </a:solidFill>
                <a:latin typeface="Lato"/>
                <a:ea typeface="Lato"/>
                <a:cs typeface="Lato"/>
              </a:rPr>
              <a:t>Context determines how the signal should be used</a:t>
            </a:r>
            <a:endParaRPr/>
          </a:p>
        </p:txBody>
      </p:sp>
      <p:sp>
        <p:nvSpPr>
          <p:cNvPr id="481" name="Google Shape;481;p17">
            <a:extLst xmlns:a="http://schemas.openxmlformats.org/drawingml/2006/main">
              <a:ext uri="{FF2B5EF4-FFF2-40B4-BE49-F238E27FC236}">
                <a16:creationId xmlns:a16="http://schemas.microsoft.com/office/drawing/2014/main" id="{70B3BEC4-8ABB-4218-8929-40811461FEE2}"/>
              </a:ext>
            </a:extLst>
          </p:cNvPr>
          <p:cNvSpPr>
            <a:spLocks xmlns:a="http://schemas.openxmlformats.org/drawingml/2006/main" noGrp="1"/>
          </p:cNvSpPr>
          <p:nvPr/>
        </p:nvSpPr>
        <p:spPr>
          <a:xfrm xmlns:a="http://schemas.openxmlformats.org/drawingml/2006/main">
            <a:off x="6019800" y="4752975"/>
            <a:ext cx="52006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12304E"/>
              </a:buClr>
              <a:buSzPts val="1339"/>
              <a:buFont typeface="Lato"/>
              <a:buNone/>
            </a:pPr>
            <a:r>
              <a:rPr sz="1339" b="0" i="0">
                <a:solidFill>
                  <a:srgbClr val="12304E"/>
                </a:solidFill>
                <a:latin typeface="Lato"/>
                <a:ea typeface="Lato"/>
                <a:cs typeface="Lato"/>
              </a:rPr>
              <a:t>Threshold, season, baseline, exposure and vulnerability all affect interpretation.</a:t>
            </a:r>
            <a:endParaRPr/>
          </a:p>
        </p:txBody>
      </p:sp>
    </p:spTree>
    <p:extLst>
      <p:ext uri="{BB962C8B-B14F-4D97-AF65-F5344CB8AC3E}">
        <p14:creationId xmlns:p14="http://schemas.microsoft.com/office/powerpoint/2010/main" val="1006585537"/>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5B604FE8-F5B0-41E3-9E10-604269BDCC86}"/>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5A09C554-564C-4B36-80F7-B5C03564A838}"/>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DEE1342C-0BBF-4B08-A99F-602BBA353D09}"/>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F15C3D78-48DC-4D97-9F93-A73566050BD9}"/>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827E4E36-0AC6-436C-A0F9-2E8546F5CFAE}"/>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33F8E71B-8877-477D-BEFA-66841D238959}"/>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0188DF86-08C3-4304-B8D8-88BE9FE3EE5D}"/>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1357292788"/>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2BD907BE-463D-4D46-B0DB-8D0918B9A42E}"/>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B09007DB-737B-4064-A7BF-803C426D2BD8}"/>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9DCCEA37-5DF4-4E80-9B6F-AE0525EA778A}"/>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FF647A44-3AC1-404A-A885-534C1CC51CCA}"/>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E2A2FC0A-C6B3-469D-93E7-78C964B070CE}"/>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8D346ABF-157C-40EC-91A3-781242867C56}"/>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CB83C520-AB19-4986-BBD6-032603166A01}"/>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69807D99-7FE5-4DAC-8279-6C350549C1FB}"/>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4087AA05-A37F-4809-986C-C66838CF6259}"/>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B4D765EA-3A46-4454-8F2E-F8C1A96F8EA4}"/>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B7B32282-0533-4B79-8B60-64FC91F83668}"/>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9D257CA2-52F8-48C2-9BFD-EA1AC7DFDB5E}"/>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3DEF0D80-AADF-4884-81F5-391E0F860699}"/>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D8C4B3A2-B5A9-41CC-9072-D4701163D3A9}"/>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433BC2FB-6B67-4BBD-B6E1-57BF2F028A8F}"/>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8F9393B1-BDAC-494F-AA69-E1E6C0CAB2F9}"/>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48B298E1-8C04-4F97-9BBA-1623CDD879B8}"/>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91F2DB95-6F8E-425D-8686-626ED8440DF2}"/>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8E5D8C0F-B233-404D-88DD-8322B3FBB524}"/>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E01CFD4B-92C7-40D9-86D9-3AD0E3B5C35D}"/>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42B62CE1-DF19-4D2C-9DC0-29A0BBD511C1}"/>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9C874CC9-DEEA-490E-AD8E-71D7F75D5788}"/>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2EBF3228-1205-47CB-B0B8-7F4024B61F6A}"/>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D370B6F6-0685-41DD-9E14-A24F07012D23}"/>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57BC0ED6-D8DA-479F-A9BC-7C8B4CD461A0}"/>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AF1C2657-6B2C-4B14-9540-0642B1D1E0A3}"/>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53815EBE-6B7C-40B9-83AA-76B33A848E18}"/>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1091222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B1C3EC5-447E-4965-BAEF-3E0968D744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393208-1FEF-40B2-B27C-5A444031ECA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C14FA214-9654-48F2-8653-05F9BDE7FD2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E272AA31-CB58-47C3-AECD-DFD65815F2E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C2D14A-1EC8-4D83-A29B-3135AAEE798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6E04B2-1557-4144-9F1A-81144BA45BF5}"/>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C1F816-7CBF-4F83-BDFE-A45B8176B82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3A65D33C-8537-4CBB-891A-8C0A1881F4C6}"/>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52E59CFF-E319-449F-BEEC-76049C05DEF2}"/>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C00BBB0-6513-4172-A34E-DF7AA713CC9B}"/>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404AFF42-11C6-46B9-9920-520A60402518}"/>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AB0385E0-8856-4F72-A25D-E2F6EE7D083F}"/>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A3776CAE-F0ED-4E86-8275-1F996C81974C}"/>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A7F3F0AD-8980-4CEB-BAE4-35CC07D4B8E0}"/>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597C34E0-006C-49B2-8800-6D942A209202}"/>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A23A3291-7C39-4C8F-82CC-C505392429D6}"/>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2E035297-4A25-49EC-883B-D506314AF636}"/>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F08DC782-3E84-47FD-9FDE-ABCF410D4F08}"/>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BEABA1E1-B8B0-4894-90CA-A8FDF6891BBF}"/>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8953C82-50A0-4573-95B0-5B9A160E7320}"/>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ED8D4DFD-87DE-4A3B-BCBC-4BEADE48C434}"/>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BA6423E2-0116-4687-A0A9-EE6EE58D8103}"/>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26655A44-CC60-4518-B464-E8FAEEF5CF8E}"/>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4B5F666B-B560-4878-AF72-A103417D8B2B}"/>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08ACBED7-F87E-49F0-8073-E48D1E6E0027}"/>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8B10A09A-8E1C-4C0C-A0CF-3EA871314A37}"/>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7FCE85B7-004E-4C32-8947-59999DBDD42D}"/>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691B04C1-FAEB-42DE-9F3C-41546DAF7485}"/>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7FAD06F-7E5A-483D-B445-CBFC741654F8}"/>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02C53EF0-24ED-4708-8EAE-1EE545802C17}"/>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149184092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E4C063E-52BD-4833-B2DB-30B0770726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A17A95-8839-4B9D-93DA-281056A9FA9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F76BF48D-F577-430A-8CDD-E59FF43E6D6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A18CA89D-FD26-43BE-9B23-D13851184E5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959CD4-EA57-4EC2-8E4E-B0B8DA83978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3A6B5E8-7884-4CCE-AFB6-CD34ECFBAAC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AFC521-634E-4862-A6F3-F15F57B1B79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747C081A-21F6-4B2F-8F5F-E645542D38D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0519945C-BA75-4D5B-894B-A4C4F631205B}"/>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8D73A411-530C-40FE-B560-9FB83741AEA7}"/>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699C7A5F-B3B4-40C4-89CD-559331B93A6B}"/>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452B6476-6C90-4801-8395-44C586FA2EAB}"/>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E63ABC-5641-4393-BCCF-0C774438DFD9}"/>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4D194F68-4A0A-4A9F-846F-980B1827DC8F}"/>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2E8E442F-EAB4-447C-92EA-28F4D3DB2BB1}"/>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30222EB0-42F6-408F-BBF3-7BE119F87DEB}"/>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1EC5E7-936A-4D9E-B71D-43F65DDE7CAA}"/>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33217CF2-715D-4B06-B2D0-459F6495630F}"/>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3F2F161E-4FC8-4F4B-90E5-FED506F359D5}"/>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C0A23075-EF32-4457-950F-DBA32604D948}"/>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63BD23A-AB09-4E77-8BA4-25C6A31EC131}"/>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E2AA98C0-FB2E-4E83-A03E-321659EB75D6}"/>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1AA11B52-24A5-4AB8-8068-EFF1E9E9D242}"/>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A56D7506-6E7F-44DB-9343-B5D676388DF1}"/>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0D3955A-0D27-436D-970C-49706723EA9B}"/>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6767249"/>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6E45BF22-D791-41A1-960C-4D9C4766FAD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62AE6459-C73A-4FD2-BE11-49F621D76B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standardizes recurring work between climate archives and decision-relevant outputs</a:t>
            </a:r>
            <a:endParaRPr/>
          </a:p>
        </p:txBody>
      </p:sp>
      <p:sp>
        <p:nvSpPr>
          <p:cNvPr id="513" name="Google Shape;513;p20">
            <a:extLst xmlns:a="http://schemas.openxmlformats.org/drawingml/2006/main">
              <a:ext uri="{FF2B5EF4-FFF2-40B4-BE49-F238E27FC236}">
                <a16:creationId xmlns:a16="http://schemas.microsoft.com/office/drawing/2014/main" id="{C5985196-75A0-44B9-A06A-09D6EF119C0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42EC5D03-4E16-40CC-87CE-916396104BF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51F229E8-846A-4E2E-A18A-6692874F0F4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BEA2AF69-9E82-4EEF-B490-687001B393F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078FDC55-7D37-4D2A-BF93-C38D5FBA432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20</a:t>
            </a:r>
            <a:endParaRPr/>
          </a:p>
        </p:txBody>
      </p:sp>
      <p:sp>
        <p:nvSpPr>
          <p:cNvPr id="518" name="Google Shape;518;p20">
            <a:extLst xmlns:a="http://schemas.openxmlformats.org/drawingml/2006/main">
              <a:ext uri="{FF2B5EF4-FFF2-40B4-BE49-F238E27FC236}">
                <a16:creationId xmlns:a16="http://schemas.microsoft.com/office/drawing/2014/main" id="{EC426421-593F-4A0F-9D6D-EDB3EFFAFD74}"/>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349F0F4E-52C0-46B8-B473-B568F73DB2CF}"/>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requests</a:t>
            </a:r>
            <a:endParaRPr/>
          </a:p>
        </p:txBody>
      </p:sp>
      <p:sp>
        <p:nvSpPr>
          <p:cNvPr id="520" name="Google Shape;520;p20">
            <a:extLst xmlns:a="http://schemas.openxmlformats.org/drawingml/2006/main">
              <a:ext uri="{FF2B5EF4-FFF2-40B4-BE49-F238E27FC236}">
                <a16:creationId xmlns:a16="http://schemas.microsoft.com/office/drawing/2014/main" id="{ECCD4205-2B6C-4366-9A27-D885A57D1201}"/>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DACB0E17-9DBF-435A-9C64-6EB561D58DCB}"/>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152B56E6-695C-4E2A-8AC4-766200A7967E}"/>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83B1B543-C26D-41F1-B428-6E0520FB7EDE}"/>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6237B57B-D914-4B84-896F-44AC49B4E78D}"/>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F3E65BDD-5342-4D99-9400-E98BA5D99D04}"/>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A33EB2E6-1377-42C2-8EA5-7C674501ADA3}"/>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2B059B6B-EBCC-4A2B-B2F7-C0F3C0A7468B}"/>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2898ADD8-7215-4D8E-B1D5-FE882FEF45C1}"/>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D552B74D-FEE6-45F0-990A-39E79ED5E8D9}"/>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preserves the scientific choices while reducing repeated technical work</a:t>
            </a:r>
            <a:endParaRPr/>
          </a:p>
        </p:txBody>
      </p:sp>
      <p:sp>
        <p:nvSpPr>
          <p:cNvPr id="530" name="">
            <a:extLst xmlns:a="http://schemas.openxmlformats.org/drawingml/2006/main">
              <a:ext uri="{FF2B5EF4-FFF2-40B4-BE49-F238E27FC236}">
                <a16:creationId xmlns:a16="http://schemas.microsoft.com/office/drawing/2014/main" id="{798D03AC-BA83-453A-88B8-13657F1D49D5}"/>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9619BD0E-0D46-49D2-84B6-3A55CD75908C}"/>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WITH CAVA</a:t>
            </a:r>
          </a:p>
        </p:txBody>
      </p:sp>
    </p:spTree>
    <p:extLst>
      <p:ext uri="{BB962C8B-B14F-4D97-AF65-F5344CB8AC3E}">
        <p14:creationId xmlns:p14="http://schemas.microsoft.com/office/powerpoint/2010/main" val="989362904"/>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0B8358D4-4F53-40C8-B614-F20848D20EEB}"/>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422F9189-E0BF-45BA-A21C-7CB199D69FA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C3FED37C-24C7-4A87-B1B9-2AE8E47CE7AC}"/>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21</a:t>
            </a:r>
            <a:endParaRPr/>
          </a:p>
        </p:txBody>
      </p:sp>
      <p:sp>
        <p:nvSpPr>
          <p:cNvPr id="538" name="Google Shape;538;p21">
            <a:extLst xmlns:a="http://schemas.openxmlformats.org/drawingml/2006/main">
              <a:ext uri="{FF2B5EF4-FFF2-40B4-BE49-F238E27FC236}">
                <a16:creationId xmlns:a16="http://schemas.microsoft.com/office/drawing/2014/main" id="{EBC8E4B7-3010-4EE0-96CD-FD51B1DDB982}"/>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2A4FD9D6-F0F2-46E6-A2C1-E7D8228735A0}"/>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F8919F41-3D13-4600-8E46-093FE0388005}"/>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310FC36F-477A-4BA4-A985-D8E7CCDFC883}"/>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62BDE141-3A6A-4736-8045-7302E2B42B11}"/>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498674499"/>
      </p:ext>
    </p:extLst>
  </p:cSld>
</p:sld>
</file>

<file path=ppt/slides/slide2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FB53D064-8104-423C-AD8C-462C6BA3A0F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EA0FF54C-7824-4568-8241-692C4C3E9B09}"/>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F05A0711-8A08-40D4-96FB-6242503CD30F}"/>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B31DA0A3-861D-4A9F-ABE9-F6DE141F3C7B}"/>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0032FE6E-E574-4A6B-B3BF-7A2F65A4975D}"/>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553CC567-1A2F-468A-9449-BF05656A4334}"/>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935904C9-5566-4C35-9D47-DDFBBA55CF2A}"/>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32021FBF-8F48-41E2-A0AD-CCB959D1E6E3}"/>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3AAC7F10-69EB-481B-ADE5-522CA57863FB}"/>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C839BDE5-87E1-4534-BFCD-B8CCA09C1332}"/>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0EC922A5-7001-449F-B47E-E0E8BE832716}"/>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FF188F9A-0361-43D7-929A-8978DF7965DC}"/>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6CC729A6-BEDE-4376-ADC8-BBE48DE064B0}"/>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8BDFF534-46ED-425E-9BB8-047759FFB98B}"/>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199F76AD-A517-4525-822C-DB49CFD170D1}"/>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175A2A0D-4B3F-4E3A-96C0-263F6F76DE49}"/>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F7050B89-54CA-47CD-B8AE-C5DA388D61FF}"/>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2032418C-7B97-422B-9B52-EC79BF5A267F}"/>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DBF7FE90-EBF9-4BA1-B6C8-5B2BE883EF1F}"/>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0012C009-7A87-4D18-A18B-BD9425BD6B35}"/>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B473FA74-F381-46B2-A975-B10BDF3857BD}"/>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0D59A9C0-D068-4A6D-A473-D58E25A6E3AC}"/>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0E54AFB4-9C31-463B-8D4D-D9F1FADA2299}"/>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57BAA96E-5C14-4FC0-A179-251494835027}"/>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22</a:t>
            </a:r>
            <a:endParaRPr/>
          </a:p>
        </p:txBody>
      </p:sp>
    </p:spTree>
    <p:extLst>
      <p:ext uri="{BB962C8B-B14F-4D97-AF65-F5344CB8AC3E}">
        <p14:creationId xmlns:p14="http://schemas.microsoft.com/office/powerpoint/2010/main" val="2022953662"/>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3F0DC2B2-6538-4376-962C-05DB38837D2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21AFE002-06DC-4A0D-A60F-76E19E81D33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DF2A7202-2EE9-48D0-8DA6-D63187EB3B86}"/>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99FE0AE6-86CF-49DA-B9B7-0419FD0AFA0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8A0235F8-48E8-471C-9E19-EC8A1143B463}"/>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15CDEBEE-2BC6-4506-AD3C-86449A342CB2}"/>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F6391572-BCBD-41E3-8136-9B4878C9280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583" name="Google Shape;583;p23">
            <a:extLst xmlns:a="http://schemas.openxmlformats.org/drawingml/2006/main">
              <a:ext uri="{FF2B5EF4-FFF2-40B4-BE49-F238E27FC236}">
                <a16:creationId xmlns:a16="http://schemas.microsoft.com/office/drawing/2014/main" id="{8A8E0F7C-4A78-4CC5-A16B-6A2B5BA9F08B}"/>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F3E3D7D3-88E9-4D59-9600-71F0BE616DF6}"/>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5B1D377C-5987-4016-9DE0-8AD7B1A84DDA}"/>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4909B83D-B724-4F90-9C83-2D353C775201}"/>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70A71AF0-22D4-473E-BC0C-D7BB86903543}"/>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ADB5F40B-F832-41BF-80AE-89AA6F2BD386}"/>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41DED9D8-5FCB-4843-A053-96228DCE1E19}"/>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4F9AE5AD-3265-4B60-9275-CC3CEF451997}"/>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42C5C2B2-2CF7-4706-B612-135CE6CC1E0B}"/>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0C744D02-58B9-4C6F-AB22-DABDE62DA7C4}"/>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B66ECD8F-F004-47D9-947F-357725E1F5FE}"/>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E8B196AA-BA12-4190-887B-FD0FB1B4FA51}"/>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9F7C7473-E23B-4449-A0FE-CA034F359186}"/>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13280D91-C95A-438F-9FD7-8365B697127D}"/>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661BAE39-533D-4DB1-AB7E-037E7AFDB50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A3FAEE0C-F52C-415D-AACB-8A6762514225}"/>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3F1CE936-E9BF-40F5-A78B-4FCFFB1FA0F4}"/>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9C8A1043-5BC1-46FF-BF89-F4CCE9A2C15F}"/>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1650245902"/>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1558EB35-5FA5-4C37-80EA-463F08F8277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B1A46C95-0541-4CA5-AFDD-5D84CC5E0C2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CE5BE5DB-E6DF-4323-AA69-A0B15BF49616}"/>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C547C07E-6D6A-484A-BB70-613963DBCDF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F5F5A659-4861-4A9D-849D-C17F97F1438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F5B29697-7F65-47A9-B609-3B7D814D296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AF786341-8CC2-4905-B395-17FE4F5A46B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13" name="Google Shape;613;p24">
            <a:extLst xmlns:a="http://schemas.openxmlformats.org/drawingml/2006/main">
              <a:ext uri="{FF2B5EF4-FFF2-40B4-BE49-F238E27FC236}">
                <a16:creationId xmlns:a16="http://schemas.microsoft.com/office/drawing/2014/main" id="{BCB86EA5-F577-44CA-9D16-51477BC4BF9C}"/>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e45e1af4dfb64c19">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2E2D8F84-7C36-4B90-97A4-A4214396CE7C}"/>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912A6390-0CF6-4EAA-AE8E-1F4EBDB52CFB}"/>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343CB8A7-BCE1-4DB2-BD0A-5100C69388AF}"/>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C6B67FF4-6CAA-49E0-BAAF-856F7088F3BD}"/>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62C0310E-AE06-4803-A72B-8F540FD96859}"/>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A8BA2376-E584-46CF-93A5-2139B116D76B}"/>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02082ACA-98B6-41E5-9905-A53A8DCADCC2}"/>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D3DF75FB-0D6D-4CE2-A269-FB91B4738679}"/>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4A9A7648-6735-45ED-ADF2-6D48D3561209}"/>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68B44FA5-BADF-4E78-8D06-EDA1FE953A78}"/>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4DFB7F0F-C349-4456-B88D-E3E8A8EB63E8}"/>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1D03E3E9-46AB-4527-AF42-5F44096EA55D}"/>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37A2B8FA-AF1D-4723-9FCB-C33215E081A7}"/>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00EA617B-165C-4226-B8E7-6FAC3C3F4D57}"/>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0F1CE7F8-F1F1-411D-9472-955894311B1A}"/>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519112063"/>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1069B055-0EE3-4605-A451-076291C2DE3E}"/>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7DF56170-DF10-4BC2-9419-CD528891F700}"/>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B3DB2587-1EDF-45DE-942E-00889B7A1C8E}"/>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BB042C2F-FEFD-4D84-81F2-3257CC25B6E8}"/>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FD20C9CB-8114-4F0D-A749-834765190CB5}"/>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94454874-F2FA-4689-B081-DE2DCFE83D71}"/>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65890118-C55D-4B8A-9FE1-E60623545755}"/>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42" name="Google Shape;642;p25">
            <a:extLst xmlns:a="http://schemas.openxmlformats.org/drawingml/2006/main">
              <a:ext uri="{FF2B5EF4-FFF2-40B4-BE49-F238E27FC236}">
                <a16:creationId xmlns:a16="http://schemas.microsoft.com/office/drawing/2014/main" id="{8884FAFD-CE6B-4A30-AD27-9601FEC36598}"/>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Coming soon - The CAVA Datalab</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df04fc9a018a48d3">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59801830"/>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C0028066-532C-4056-8E74-9F286DC6705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731FBE80-039B-4566-B41A-DB404D28E82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DDD2C85A-B755-4901-A47D-DD7BF9073F8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E49FE9A4-6C8C-4F48-9273-C7B68B0F368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84EFAF4A-8861-4B32-89F7-54A650B126F3}"/>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594ACADD-BA35-4F74-9F7F-9D8BBEE581A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45BD2B77-8276-4ADC-AFE7-9533E39ECA5C}"/>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56" name="Google Shape;656;p26">
            <a:extLst xmlns:a="http://schemas.openxmlformats.org/drawingml/2006/main">
              <a:ext uri="{FF2B5EF4-FFF2-40B4-BE49-F238E27FC236}">
                <a16:creationId xmlns:a16="http://schemas.microsoft.com/office/drawing/2014/main" id="{94A26498-FA15-4759-9E4A-63CF05ABD4C7}"/>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B8F457ED-27E4-4674-8795-80940C8A0746}"/>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F2714C54-5396-4889-9FE0-5F869CC00A23}"/>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F385DE73-8B50-48AA-B7FE-8F669E523589}"/>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2E303962-AF81-4945-82C7-3F28A748F585}"/>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F503463C-35D8-4B08-869C-D4557B33413D}"/>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142FAF90-948A-4CF3-828D-162DB447A8CD}"/>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60C2D0AA-E85A-4002-8A95-FE09FD997C5B}"/>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BBFEC167-5FA3-461C-BA87-F1D1E705A6BE}"/>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90090E0C-6E7D-4705-9762-AD32DB0E6C48}"/>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267319E0-3CD9-42BB-8D77-5BCC8CBA383C}"/>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20D9BEB8-EE15-46E3-BB59-198E58BC6DD7}"/>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186054FD-3827-4DBE-80F5-3C050BC769C0}"/>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B1B23A29-129D-44B2-9F8B-548EA0A23C3E}"/>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DE1CDD85-BFA6-4114-AA8A-3C176B3B4AEC}"/>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15D811B5-0E36-4CA4-9272-F6A499BEE7D1}"/>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5EDDB52E-682B-446E-ADA1-07101BC5F0C0}"/>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165CF520-8A88-4D9B-A747-9027F0938BEE}"/>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7B5AD4D2-1C5C-4260-B461-5F424EAC8640}"/>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AF8F91A7-C797-4D64-AF1C-F52BC76CD6E7}"/>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E3078137-B728-43AB-9D28-88C4AA8B980F}"/>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781971B2-62F1-442C-8F55-51F3056E4EA1}"/>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510697878"/>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F2891F4E-CF1E-495F-8118-D857B78A1DE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5E33EB03-BF80-4940-BF35-BAD648AD482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5D9643FB-027E-4EBC-A139-E304D9002B16}"/>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2B5B994C-A505-45F7-9DB3-C44316508ACB}"/>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8D683C5A-F522-4FD4-AE20-CDC0C4AB880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07E6527D-1A79-4F76-8BE6-7ECE47A503D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677BA5F3-643D-4F7A-8381-28A37961FE9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90" name="Google Shape;690;p27">
            <a:extLst xmlns:a="http://schemas.openxmlformats.org/drawingml/2006/main">
              <a:ext uri="{FF2B5EF4-FFF2-40B4-BE49-F238E27FC236}">
                <a16:creationId xmlns:a16="http://schemas.microsoft.com/office/drawing/2014/main" id="{A72D2573-A6A3-4DDB-AD64-A2F154B0C317}"/>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CA0E4E55-126B-487C-BDF8-345B8C49995F}"/>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481EC4E9-860F-4D3B-99E9-30DCC5D92A11}"/>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441F0CC2-D243-4CAE-98B7-ED46FE971A89}"/>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7E2B9A6D-9E58-40B1-BF3C-CE92D7FA0EE7}"/>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CD9500D2-253A-46DF-BD7B-F7AA81971959}"/>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D33614AB-B070-461A-BF42-2598B57F63C1}"/>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A35A7CCF-E0F0-4CFC-8ADB-B678421A8F14}"/>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85CBD69E-45D9-4695-B17E-B709C6D64B7A}"/>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08EEB023-36FB-415A-8979-5FA6D0864726}"/>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88E3594D-3E6A-4D2D-8F4B-F29B77D65945}"/>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4A652A5A-1176-4F47-BA25-9BFE9BF5D8D8}"/>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2AFD3399-E068-437B-9350-FA6BF2201E07}"/>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CB68239B-EB36-4E2B-9B10-A718B3592231}"/>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8B2099CB-39DF-4204-9253-3483F070949F}"/>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147D2A58-0CE5-4D7E-8DD4-F3D18ACB3203}"/>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13AF0266-891D-4314-8C32-819E6D0A566B}"/>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0AD57B0E-9C8C-40F2-9CD9-BB6F6BCB6C6C}"/>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164F9583-E28A-48D0-9F0B-6413C6566D22}"/>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BAE654B5-4339-4918-A736-17A46F7D21E1}"/>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E079D3A8-B6B5-4063-A44E-2977FA164FBD}"/>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F37C1648-05E9-43AD-B118-1AEAA8DB6D86}"/>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DA11C02F-0BA3-4CBA-A43A-D98B1E690248}"/>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46A89842-A823-42B3-BC1D-39C2C1A987BA}"/>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EFACC8AC-5B66-401D-92C8-CC532116FC5B}"/>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4B453255-6ED5-484D-9DD4-B645D13CF7F6}"/>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A36D2A8D-2089-4F5A-8663-43A24EADD758}"/>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124959907"/>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36444179-C5A8-4F06-9A40-F8956BA4D49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FA3FBA85-2E85-4137-9C91-FEC49EFB9796}"/>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D4FEF575-68F2-4EA3-A030-A66594123CA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182BDB9E-F954-405D-8867-A9A78C078711}"/>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1A24E636-ED5A-4419-A3E2-A55898E8F6E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0BA6F0C5-284D-44D4-84D6-581A63D629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63598042-FE3A-4F96-8CCC-1105EE9B32A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729" name="Google Shape;729;p28">
            <a:extLst xmlns:a="http://schemas.openxmlformats.org/drawingml/2006/main">
              <a:ext uri="{FF2B5EF4-FFF2-40B4-BE49-F238E27FC236}">
                <a16:creationId xmlns:a16="http://schemas.microsoft.com/office/drawing/2014/main" id="{DF685B17-B54A-4178-8898-9CF7723AE648}"/>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6B2FC56A-24D6-4EBB-A1D6-01AB3468E7C3}"/>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B632FF12-A15F-4A21-ADAB-825B5838E4F5}"/>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049E62F5-5826-4DA5-AC0B-5E32DE9D6F9E}"/>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C83D127D-620C-4E69-9E49-EF78384466E7}"/>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450A609B-184D-4F8B-9BF5-AD45AA8146AA}"/>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Treat projections as conditional</a:t>
            </a:r>
            <a:endParaRPr/>
          </a:p>
        </p:txBody>
      </p:sp>
      <p:sp>
        <p:nvSpPr>
          <p:cNvPr id="735" name="Google Shape;735;p28">
            <a:extLst xmlns:a="http://schemas.openxmlformats.org/drawingml/2006/main">
              <a:ext uri="{FF2B5EF4-FFF2-40B4-BE49-F238E27FC236}">
                <a16:creationId xmlns:a16="http://schemas.microsoft.com/office/drawing/2014/main" id="{B64D0B1D-B770-4884-802F-BCC95FFC93EC}"/>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They describe plausible climates under defined model and scenario assumptions.</a:t>
            </a:r>
            <a:endParaRPr/>
          </a:p>
        </p:txBody>
      </p:sp>
      <p:sp>
        <p:nvSpPr>
          <p:cNvPr id="736" name="Google Shape;736;p28">
            <a:extLst xmlns:a="http://schemas.openxmlformats.org/drawingml/2006/main">
              <a:ext uri="{FF2B5EF4-FFF2-40B4-BE49-F238E27FC236}">
                <a16:creationId xmlns:a16="http://schemas.microsoft.com/office/drawing/2014/main" id="{8439A501-F251-4A66-85F1-859CAACE4B56}"/>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C3EF70C2-F250-4C49-9C67-94EECDD31A4C}"/>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A6EA7F8A-E04E-472F-8EB4-C938EF5CD1C3}"/>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D34F72E7-5074-4477-91A6-19BFD3003A2B}"/>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EB210B8A-F232-4199-B765-9F1FEA3CB196}"/>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385D26DA-5476-4B11-B877-E93F8B1CCE47}"/>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4F1EE1E9-495A-4023-B6C0-F1F23EF49780}"/>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connects the workflow</a:t>
            </a:r>
            <a:endParaRPr/>
          </a:p>
        </p:txBody>
      </p:sp>
      <p:sp>
        <p:nvSpPr>
          <p:cNvPr id="743" name="Google Shape;743;p28">
            <a:extLst xmlns:a="http://schemas.openxmlformats.org/drawingml/2006/main">
              <a:ext uri="{FF2B5EF4-FFF2-40B4-BE49-F238E27FC236}">
                <a16:creationId xmlns:a16="http://schemas.microsoft.com/office/drawing/2014/main" id="{E14A9869-0B5B-46E6-BBCD-D72F2BF2800A}"/>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shared data and processing.</a:t>
            </a:r>
            <a:endParaRPr/>
          </a:p>
        </p:txBody>
      </p:sp>
    </p:spTree>
    <p:extLst>
      <p:ext uri="{BB962C8B-B14F-4D97-AF65-F5344CB8AC3E}">
        <p14:creationId xmlns:p14="http://schemas.microsoft.com/office/powerpoint/2010/main" val="77631547"/>
      </p:ext>
    </p:extLst>
  </p:cSld>
</p:sld>
</file>

<file path=ppt/slides/slide2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26598655-6AD3-4759-AF4F-E2213EF66C5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0BC51292-1CC2-47D8-9406-5F60D0D3072D}"/>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0C9C368A-979D-4ED3-8D5F-DC2CE2754C2A}"/>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9A00B750-DCAC-4541-8ABA-525A66DCE7FC}"/>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EF1E0918-8EDE-4EA9-B206-C1A5121C94BD}"/>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B031E3B4-BDA6-4A9C-8F9C-619EB71C545F}"/>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333779D6-E3AE-4DB8-9C5C-3DFD982B7F16}"/>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E70AD1C2-9F4F-4C8A-9650-67F8DC8CB0A7}"/>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0C3C5C71-3BCA-4B6C-9019-36B43CE8E499}"/>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6F18987B-B3D4-4FD7-9DFF-764B4EFDA8DC}"/>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FC6681AE-4BC0-4875-8893-2BAC16412BEC}"/>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2708064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2026-09-23T07:45:20.1960000Z</dcterms:created>
  <dcterms:modified xsi:type="dcterms:W3CDTF">2026-09-23T07:45:20.1960000Z</dcterms:modified>
</coreProperties>
</file>