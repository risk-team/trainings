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70843f0b0546f0" /><Relationship Type="http://schemas.openxmlformats.org/officeDocument/2006/relationships/extended-properties" Target="/docProps/app.xml" Id="Re47337be73d5474b" /><Relationship Type="http://schemas.openxmlformats.org/officeDocument/2006/relationships/officeDocument" Target="/ppt/presentation.xml" Id="R8f619e4eea5048da" /></Relationships>
</file>

<file path=ppt/presentation.xml><?xml version="1.0" encoding="utf-8"?>
<p:presentation xmlns:p="http://schemas.openxmlformats.org/presentationml/2006/main">
  <p:sldMasterIdLst>
    <p:sldMasterId xmlns:r="http://schemas.openxmlformats.org/officeDocument/2006/relationships" id="2147483648" r:id="Ra42ee45e90514b70"/>
  </p:sldMasterIdLst>
  <p:notesMasterIdLst>
    <p:notesMasterId xmlns:r="http://schemas.openxmlformats.org/officeDocument/2006/relationships" r:id="Re28286ae8ef041f9"/>
  </p:notesMasterIdLst>
  <p:sldIdLst>
    <p:sldId xmlns:r="http://schemas.openxmlformats.org/officeDocument/2006/relationships" id="256" r:id="Re66f794821124bbe"/>
    <p:sldId xmlns:r="http://schemas.openxmlformats.org/officeDocument/2006/relationships" id="257" r:id="R5a06553c7ccf47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7260746421402b" /><Relationship Type="http://schemas.openxmlformats.org/officeDocument/2006/relationships/slideMaster" Target="/ppt/slideMasters/slideMaster1.xml" Id="Ra42ee45e90514b70" /><Relationship Type="http://schemas.openxmlformats.org/officeDocument/2006/relationships/notesMaster" Target="/ppt/notesMasters/notesMaster1.xml" Id="Re28286ae8ef041f9" /><Relationship Type="http://schemas.openxmlformats.org/officeDocument/2006/relationships/presProps" Target="/ppt/presProps.xml" Id="R5ea9e62dc90a4edb" /><Relationship Type="http://schemas.openxmlformats.org/officeDocument/2006/relationships/tableStyles" Target="/ppt/tableStyles.xml" Id="R8b15352a17d44311" /><Relationship Type="http://schemas.openxmlformats.org/officeDocument/2006/relationships/slide" Target="/ppt/slides/slide1.xml" Id="Re66f794821124bbe" /><Relationship Type="http://schemas.openxmlformats.org/officeDocument/2006/relationships/slide" Target="/ppt/slides/slide2.xml" Id="R5a06553c7ccf47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b68f35ef834e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4111b47d7d42a9" /><Relationship Type="http://schemas.openxmlformats.org/officeDocument/2006/relationships/notesMaster" Target="/ppt/notesMasters/notesMaster1.xml" Id="R7d3dc44e690040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d5ff3779034c20" /><Relationship Type="http://schemas.openxmlformats.org/officeDocument/2006/relationships/notesMaster" Target="/ppt/notesMasters/notesMaster1.xml" Id="Rc7862db6ab254c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illustration to explain one simple idea. Climate and agricultural impact information flows through a shared CAVA analytical framework. Users can then work through the CAVA Platform, the R SDK, or the Python SDK and backend services. The entry point changes, while the underlying data handling and traceability remain consistent. ISIMIP3b impact models use independent climate forcing, so CAVA harmonizes interpretation rather than claiming identical model inputs. Source: https://cavaplatform.fao.org/about. Illustration generated with OpenAI image generation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can be deployed as a country or regional climate information system. Countries and institutions can integrate national datasets, give visibility to locally generated information, adapt indicators and workflows, and choose a deployment ranging from a visualization interface to analytical pipelines, automated reports and programmatic access. The CAVA About page lists a Southeast Asia system using Meteorological Service Singapore datasets and a Sri Lanka national implementation. Source: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7fb39c44f843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123c5d6f3f43f6" /><Relationship Type="http://schemas.openxmlformats.org/officeDocument/2006/relationships/slideLayout" Target="/ppt/slideLayouts/slideLayout1.xml" Id="R749d125bd28945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9d125bd28945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c078eb94d049e5" /><Relationship Type="http://schemas.openxmlformats.org/officeDocument/2006/relationships/image" Target="/ppt/media/image.png" Id="R1d445b89fb8f4e4b" /><Relationship Type="http://schemas.openxmlformats.org/officeDocument/2006/relationships/notesSlide" Target="/ppt/notesSlides/notesSlide1.xml" Id="Rd9ffc77ae5674d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b71cae8c7a4c14" /><Relationship Type="http://schemas.openxmlformats.org/officeDocument/2006/relationships/notesSlide" Target="/ppt/notesSlides/notesSlide2.xml" Id="R0f5ec473f1e34eed"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08578B-8B0C-455E-9E7F-0AD9746743E9}"/>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12304E"/>
                </a:solidFill>
                <a:latin typeface="Lato"/>
                <a:ea typeface="Lato"/>
                <a:cs typeface="Lato"/>
              </a:defRPr>
            </a:pPr>
            <a:r>
              <a:rPr sz="2250" b="1">
                <a:solidFill>
                  <a:srgbClr val="12304E"/>
                </a:solidFill>
                <a:latin typeface="Lato"/>
                <a:ea typeface="Lato"/>
                <a:cs typeface="Lato"/>
              </a:rPr>
              <a:t>One CAVA framework, three ways to work</a:t>
            </a:r>
          </a:p>
        </p:txBody>
      </p:sp>
      <p:sp>
        <p:nvSpPr>
          <p:cNvPr id="2" name="">
            <a:extLst xmlns:a="http://schemas.openxmlformats.org/drawingml/2006/main">
              <a:ext uri="{FF2B5EF4-FFF2-40B4-BE49-F238E27FC236}">
                <a16:creationId xmlns:a16="http://schemas.microsoft.com/office/drawing/2014/main" id="{4018F1FD-3F3F-4267-A47C-19EB4748361F}"/>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a:solidFill>
                  <a:srgbClr val="687984"/>
                </a:solidFill>
                <a:latin typeface="Lato"/>
                <a:ea typeface="Lato"/>
                <a:cs typeface="Lato"/>
              </a:defRPr>
            </a:pPr>
            <a:r>
              <a:rPr sz="1050" b="0">
                <a:solidFill>
                  <a:srgbClr val="687984"/>
                </a:solidFill>
                <a:latin typeface="Lato"/>
                <a:ea typeface="Lato"/>
                <a:cs typeface="Lato"/>
              </a:rPr>
              <a:t>Climate and impact data enter one shared analytical backbone. Users choose the interface that fits their work.</a:t>
            </a:r>
          </a:p>
        </p:txBody>
      </p:sp>
      <p:sp>
        <p:nvSpPr>
          <p:cNvPr id="3" name="">
            <a:extLst xmlns:a="http://schemas.openxmlformats.org/drawingml/2006/main">
              <a:ext uri="{FF2B5EF4-FFF2-40B4-BE49-F238E27FC236}">
                <a16:creationId xmlns:a16="http://schemas.microsoft.com/office/drawing/2014/main" id="{47EA13BC-6D8A-42A4-B002-E031091A8D23}"/>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5DB8B3-7778-4064-A0DB-4F1614EC159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F91B45-F741-43AC-83E1-69AFF04DFDEC}"/>
              </a:ext>
            </a:extLst>
          </p:cNvPr>
          <p:cNvSpPr>
            <a:spLocks xmlns:a="http://schemas.openxmlformats.org/drawingml/2006/main" noGrp="1"/>
          </p:cNvSpPr>
          <p:nvPr/>
        </p:nvSpPr>
        <p:spPr>
          <a:xfrm xmlns:a="http://schemas.openxmlformats.org/drawingml/2006/main">
            <a:off x="819150" y="1695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a:solidFill>
                  <a:srgbClr val="008D7A"/>
                </a:solidFill>
                <a:latin typeface="Lato"/>
                <a:ea typeface="Lato"/>
                <a:cs typeface="Lato"/>
              </a:defRPr>
            </a:pPr>
            <a:r>
              <a:rPr sz="900" b="1">
                <a:solidFill>
                  <a:srgbClr val="008D7A"/>
                </a:solidFill>
                <a:latin typeface="Lato"/>
                <a:ea typeface="Lato"/>
                <a:cs typeface="Lato"/>
              </a:rPr>
              <a:t>CLIMATE AND IMPACT DATA</a:t>
            </a:r>
          </a:p>
        </p:txBody>
      </p:sp>
      <p:sp>
        <p:nvSpPr>
          <p:cNvPr id="6" name="">
            <a:extLst xmlns:a="http://schemas.openxmlformats.org/drawingml/2006/main">
              <a:ext uri="{FF2B5EF4-FFF2-40B4-BE49-F238E27FC236}">
                <a16:creationId xmlns:a16="http://schemas.microsoft.com/office/drawing/2014/main" id="{3654B628-620E-4E47-93DD-A8AD15079641}"/>
              </a:ext>
            </a:extLst>
          </p:cNvPr>
          <p:cNvSpPr>
            <a:spLocks xmlns:a="http://schemas.openxmlformats.org/drawingml/2006/main" noGrp="1"/>
          </p:cNvSpPr>
          <p:nvPr/>
        </p:nvSpPr>
        <p:spPr>
          <a:xfrm xmlns:a="http://schemas.openxmlformats.org/drawingml/2006/main">
            <a:off x="4953000" y="16954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900" b="1">
                <a:solidFill>
                  <a:srgbClr val="F2B632"/>
                </a:solidFill>
                <a:latin typeface="Lato"/>
                <a:ea typeface="Lato"/>
                <a:cs typeface="Lato"/>
              </a:defRPr>
            </a:pPr>
            <a:r>
              <a:rPr sz="900" b="1">
                <a:solidFill>
                  <a:srgbClr val="F2B632"/>
                </a:solidFill>
                <a:latin typeface="Lato"/>
                <a:ea typeface="Lato"/>
                <a:cs typeface="Lato"/>
              </a:rPr>
              <a:t>CAVA FRAMEWORK</a:t>
            </a:r>
          </a:p>
        </p:txBody>
      </p:sp>
      <p:sp>
        <p:nvSpPr>
          <p:cNvPr id="7" name="">
            <a:extLst xmlns:a="http://schemas.openxmlformats.org/drawingml/2006/main">
              <a:ext uri="{FF2B5EF4-FFF2-40B4-BE49-F238E27FC236}">
                <a16:creationId xmlns:a16="http://schemas.microsoft.com/office/drawing/2014/main" id="{887F668E-0A50-458A-AC70-E0384E9DD402}"/>
              </a:ext>
            </a:extLst>
          </p:cNvPr>
          <p:cNvSpPr>
            <a:spLocks xmlns:a="http://schemas.openxmlformats.org/drawingml/2006/main" noGrp="1"/>
          </p:cNvSpPr>
          <p:nvPr/>
        </p:nvSpPr>
        <p:spPr>
          <a:xfrm xmlns:a="http://schemas.openxmlformats.org/drawingml/2006/main">
            <a:off x="8743950" y="16954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900" b="1">
                <a:solidFill>
                  <a:srgbClr val="008D7A"/>
                </a:solidFill>
                <a:latin typeface="Lato"/>
                <a:ea typeface="Lato"/>
                <a:cs typeface="Lato"/>
              </a:defRPr>
            </a:pPr>
            <a:r>
              <a:rPr sz="900" b="1">
                <a:solidFill>
                  <a:srgbClr val="008D7A"/>
                </a:solidFill>
                <a:latin typeface="Lato"/>
                <a:ea typeface="Lato"/>
                <a:cs typeface="Lato"/>
              </a:rPr>
              <a:t>PLATFORM, R AND PYTHON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d445b89fb8f4e4b"/>
          <a:stretch xmlns:a="http://schemas.openxmlformats.org/drawingml/2006/main"/>
        </p:blipFill>
        <p:spPr>
          <a:xfrm xmlns:a="http://schemas.openxmlformats.org/drawingml/2006/main">
            <a:off x="2838065" y="1924050"/>
            <a:ext cx="6515869" cy="3667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9A31056-F82C-49B2-AB95-B545CC62C56B}"/>
              </a:ext>
            </a:extLst>
          </p:cNvPr>
          <p:cNvSpPr>
            <a:spLocks xmlns:a="http://schemas.openxmlformats.org/drawingml/2006/main" noGrp="1"/>
          </p:cNvSpPr>
          <p:nvPr/>
        </p:nvSpPr>
        <p:spPr>
          <a:xfrm xmlns:a="http://schemas.openxmlformats.org/drawingml/2006/main">
            <a:off x="971550" y="5638800"/>
            <a:ext cx="102489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prstDash val="solid"/>
          </a:ln>
        </p:spPr>
      </p:sp>
      <p:sp>
        <p:nvSpPr>
          <p:cNvPr id="10" name="">
            <a:extLst xmlns:a="http://schemas.openxmlformats.org/drawingml/2006/main">
              <a:ext uri="{FF2B5EF4-FFF2-40B4-BE49-F238E27FC236}">
                <a16:creationId xmlns:a16="http://schemas.microsoft.com/office/drawing/2014/main" id="{D1DDB6C0-B251-44B1-B8F2-9AF190F70245}"/>
              </a:ext>
            </a:extLst>
          </p:cNvPr>
          <p:cNvSpPr>
            <a:spLocks xmlns:a="http://schemas.openxmlformats.org/drawingml/2006/main" noGrp="1"/>
          </p:cNvSpPr>
          <p:nvPr/>
        </p:nvSpPr>
        <p:spPr>
          <a:xfrm xmlns:a="http://schemas.openxmlformats.org/drawingml/2006/main">
            <a:off x="971550" y="5638800"/>
            <a:ext cx="66675" cy="39052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CF5A38-EB7D-47B0-AB60-B18E81D2A197}"/>
              </a:ext>
            </a:extLst>
          </p:cNvPr>
          <p:cNvSpPr>
            <a:spLocks xmlns:a="http://schemas.openxmlformats.org/drawingml/2006/main" noGrp="1"/>
          </p:cNvSpPr>
          <p:nvPr/>
        </p:nvSpPr>
        <p:spPr>
          <a:xfrm xmlns:a="http://schemas.openxmlformats.org/drawingml/2006/main">
            <a:off x="1219200" y="5724525"/>
            <a:ext cx="975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75" b="1">
                <a:solidFill>
                  <a:srgbClr val="12304E"/>
                </a:solidFill>
                <a:latin typeface="Lato"/>
                <a:ea typeface="Lato"/>
                <a:cs typeface="Lato"/>
              </a:defRPr>
            </a:pPr>
            <a:r>
              <a:rPr sz="1275" b="1">
                <a:solidFill>
                  <a:srgbClr val="12304E"/>
                </a:solidFill>
                <a:latin typeface="Lato"/>
                <a:ea typeface="Lato"/>
                <a:cs typeface="Lato"/>
              </a:rPr>
              <a:t>The data and processing stay consistent. The entry point changes with the user.</a:t>
            </a:r>
          </a:p>
        </p:txBody>
      </p:sp>
      <p:sp>
        <p:nvSpPr>
          <p:cNvPr id="12" name="">
            <a:extLst xmlns:a="http://schemas.openxmlformats.org/drawingml/2006/main">
              <a:ext uri="{FF2B5EF4-FFF2-40B4-BE49-F238E27FC236}">
                <a16:creationId xmlns:a16="http://schemas.microsoft.com/office/drawing/2014/main" id="{62A2F9FC-5A33-435F-BC5F-AAF7CD220085}"/>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CFAD4B-CB31-431C-9879-264866D9CAB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a:solidFill>
                  <a:srgbClr val="687984"/>
                </a:solidFill>
                <a:latin typeface="Lato"/>
                <a:ea typeface="Lato"/>
                <a:cs typeface="Lato"/>
              </a:defRPr>
            </a:pPr>
            <a:r>
              <a:rPr sz="750" b="1">
                <a:solidFill>
                  <a:srgbClr val="687984"/>
                </a:solidFill>
                <a:latin typeface="Lato"/>
                <a:ea typeface="Lato"/>
                <a:cs typeface="Lato"/>
              </a:rPr>
              <a:t>CAVA MODULE 1</a:t>
            </a:r>
          </a:p>
        </p:txBody>
      </p:sp>
      <p:sp>
        <p:nvSpPr>
          <p:cNvPr id="14" name="">
            <a:extLst xmlns:a="http://schemas.openxmlformats.org/drawingml/2006/main">
              <a:ext uri="{FF2B5EF4-FFF2-40B4-BE49-F238E27FC236}">
                <a16:creationId xmlns:a16="http://schemas.microsoft.com/office/drawing/2014/main" id="{4B3AD69E-49AC-427D-824B-919FB3FCB3D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a:solidFill>
                  <a:srgbClr val="687984"/>
                </a:solidFill>
                <a:latin typeface="Lato"/>
                <a:ea typeface="Lato"/>
                <a:cs typeface="Lato"/>
              </a:defRPr>
            </a:pPr>
            <a:r>
              <a:rPr sz="750" b="0">
                <a:solidFill>
                  <a:srgbClr val="687984"/>
                </a:solidFill>
                <a:latin typeface="Lato"/>
                <a:ea typeface="Lato"/>
                <a:cs typeface="Lato"/>
              </a:rPr>
              <a:t>20</a:t>
            </a:r>
          </a:p>
        </p:txBody>
      </p:sp>
    </p:spTree>
    <p:extLst>
      <p:ext uri="{BB962C8B-B14F-4D97-AF65-F5344CB8AC3E}">
        <p14:creationId xmlns:p14="http://schemas.microsoft.com/office/powerpoint/2010/main" val="21245559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5B3F8493-9DF1-4EDA-A50E-7EC96B74CE7A}"/>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12304E"/>
                </a:solidFill>
                <a:latin typeface="Lato"/>
                <a:ea typeface="Lato"/>
                <a:cs typeface="Lato"/>
              </a:defRPr>
            </a:pPr>
            <a:r>
              <a:rPr sz="2250" b="1" i="0">
                <a:solidFill>
                  <a:srgbClr val="12304E"/>
                </a:solidFill>
                <a:latin typeface="Lato"/>
                <a:ea typeface="Lato"/>
                <a:cs typeface="Lato"/>
              </a:rPr>
              <a:t>CAVA can support country-level climate information products</a:t>
            </a:r>
          </a:p>
        </p:txBody>
      </p:sp>
      <p:sp>
        <p:nvSpPr>
          <p:cNvPr id="2" name="">
            <a:extLst xmlns:a="http://schemas.openxmlformats.org/drawingml/2006/main">
              <a:ext uri="{FF2B5EF4-FFF2-40B4-BE49-F238E27FC236}">
                <a16:creationId xmlns:a16="http://schemas.microsoft.com/office/drawing/2014/main" id="{36EC58F1-E80D-4B55-B1DE-B8E4E22A9E05}"/>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Countries can reuse the analytical core while adding national data, priorities and institutional workflows</a:t>
            </a:r>
          </a:p>
        </p:txBody>
      </p:sp>
      <p:sp>
        <p:nvSpPr>
          <p:cNvPr id="3" name="">
            <a:extLst xmlns:a="http://schemas.openxmlformats.org/drawingml/2006/main">
              <a:ext uri="{FF2B5EF4-FFF2-40B4-BE49-F238E27FC236}">
                <a16:creationId xmlns:a16="http://schemas.microsoft.com/office/drawing/2014/main" id="{75E40960-A5AA-4D78-992F-CACB91FA5C67}"/>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512B7B-D085-4E6D-9586-F403AA72CFC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692DFB-E016-4066-B22F-7775D7CAB421}"/>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A188AA-7AAA-4324-B8AB-F04218C90A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7" name="">
            <a:extLst xmlns:a="http://schemas.openxmlformats.org/drawingml/2006/main">
              <a:ext uri="{FF2B5EF4-FFF2-40B4-BE49-F238E27FC236}">
                <a16:creationId xmlns:a16="http://schemas.microsoft.com/office/drawing/2014/main" id="{E3E05571-7E2C-4D8D-82D0-EF0055BE693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687984"/>
                </a:solidFill>
                <a:latin typeface="Lato"/>
                <a:ea typeface="Lato"/>
                <a:cs typeface="Lato"/>
              </a:defRPr>
            </a:pPr>
            <a:r>
              <a:rPr sz="750" b="0" i="0">
                <a:solidFill>
                  <a:srgbClr val="687984"/>
                </a:solidFill>
                <a:latin typeface="Lato"/>
                <a:ea typeface="Lato"/>
                <a:cs typeface="Lato"/>
              </a:rPr>
              <a:t>21</a:t>
            </a:r>
          </a:p>
        </p:txBody>
      </p:sp>
      <p:sp>
        <p:nvSpPr>
          <p:cNvPr id="8" name="">
            <a:extLst xmlns:a="http://schemas.openxmlformats.org/drawingml/2006/main">
              <a:ext uri="{FF2B5EF4-FFF2-40B4-BE49-F238E27FC236}">
                <a16:creationId xmlns:a16="http://schemas.microsoft.com/office/drawing/2014/main" id="{8E1C91DD-F573-45B9-A143-5180D7B2E2B6}"/>
              </a:ext>
            </a:extLst>
          </p:cNvPr>
          <p:cNvSpPr>
            <a:spLocks xmlns:a="http://schemas.openxmlformats.org/drawingml/2006/main" noGrp="1"/>
          </p:cNvSpPr>
          <p:nvPr/>
        </p:nvSpPr>
        <p:spPr>
          <a:xfrm xmlns:a="http://schemas.openxmlformats.org/drawingml/2006/main">
            <a:off x="762000" y="17526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REUSABLE CAVA CORE</a:t>
            </a:r>
          </a:p>
        </p:txBody>
      </p:sp>
      <p:sp>
        <p:nvSpPr>
          <p:cNvPr id="9" name="">
            <a:extLst xmlns:a="http://schemas.openxmlformats.org/drawingml/2006/main">
              <a:ext uri="{FF2B5EF4-FFF2-40B4-BE49-F238E27FC236}">
                <a16:creationId xmlns:a16="http://schemas.microsoft.com/office/drawing/2014/main" id="{772C3466-9AD1-4265-8850-2D1D877255DE}"/>
              </a:ext>
            </a:extLst>
          </p:cNvPr>
          <p:cNvSpPr>
            <a:spLocks xmlns:a="http://schemas.openxmlformats.org/drawingml/2006/main" noGrp="1"/>
          </p:cNvSpPr>
          <p:nvPr/>
        </p:nvSpPr>
        <p:spPr>
          <a:xfrm xmlns:a="http://schemas.openxmlformats.org/drawingml/2006/main">
            <a:off x="762000" y="2076450"/>
            <a:ext cx="3048000" cy="30003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FD61DB-2728-4129-B130-2894F57C28DE}"/>
              </a:ext>
            </a:extLst>
          </p:cNvPr>
          <p:cNvSpPr>
            <a:spLocks xmlns:a="http://schemas.openxmlformats.org/drawingml/2006/main" noGrp="1"/>
          </p:cNvSpPr>
          <p:nvPr/>
        </p:nvSpPr>
        <p:spPr>
          <a:xfrm xmlns:a="http://schemas.openxmlformats.org/drawingml/2006/main">
            <a:off x="1009650" y="23145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Lato"/>
                <a:ea typeface="Lato"/>
                <a:cs typeface="Lato"/>
              </a:defRPr>
            </a:pPr>
            <a:r>
              <a:rPr sz="1725" b="1" i="0">
                <a:solidFill>
                  <a:srgbClr val="FFFFFF"/>
                </a:solidFill>
                <a:latin typeface="Lato"/>
                <a:ea typeface="Lato"/>
                <a:cs typeface="Lato"/>
              </a:rPr>
              <a:t>A tested foundation</a:t>
            </a:r>
          </a:p>
        </p:txBody>
      </p:sp>
      <p:sp>
        <p:nvSpPr>
          <p:cNvPr id="11" name="">
            <a:extLst xmlns:a="http://schemas.openxmlformats.org/drawingml/2006/main">
              <a:ext uri="{FF2B5EF4-FFF2-40B4-BE49-F238E27FC236}">
                <a16:creationId xmlns:a16="http://schemas.microsoft.com/office/drawing/2014/main" id="{2C9A2236-D824-4A9B-AF94-2E036766E1EC}"/>
              </a:ext>
            </a:extLst>
          </p:cNvPr>
          <p:cNvSpPr>
            <a:spLocks xmlns:a="http://schemas.openxmlformats.org/drawingml/2006/main" noGrp="1"/>
          </p:cNvSpPr>
          <p:nvPr/>
        </p:nvSpPr>
        <p:spPr>
          <a:xfrm xmlns:a="http://schemas.openxmlformats.org/drawingml/2006/main">
            <a:off x="1009650" y="2857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21"/>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Global climate and impact datasets</a:t>
            </a:r>
          </a:p>
        </p:txBody>
      </p:sp>
      <p:sp>
        <p:nvSpPr>
          <p:cNvPr id="12" name="">
            <a:extLst xmlns:a="http://schemas.openxmlformats.org/drawingml/2006/main">
              <a:ext uri="{FF2B5EF4-FFF2-40B4-BE49-F238E27FC236}">
                <a16:creationId xmlns:a16="http://schemas.microsoft.com/office/drawing/2014/main" id="{8D2AB304-DCA1-4D3D-A18D-A507EFF2DA29}"/>
              </a:ext>
            </a:extLst>
          </p:cNvPr>
          <p:cNvSpPr>
            <a:spLocks xmlns:a="http://schemas.openxmlformats.org/drawingml/2006/main" noGrp="1"/>
          </p:cNvSpPr>
          <p:nvPr/>
        </p:nvSpPr>
        <p:spPr>
          <a:xfrm xmlns:a="http://schemas.openxmlformats.org/drawingml/2006/main">
            <a:off x="1009650" y="3333750"/>
            <a:ext cx="2324100" cy="9525"/>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79A35D-68F6-496C-90C1-ABD818BC8626}"/>
              </a:ext>
            </a:extLst>
          </p:cNvPr>
          <p:cNvSpPr>
            <a:spLocks xmlns:a="http://schemas.openxmlformats.org/drawingml/2006/main" noGrp="1"/>
          </p:cNvSpPr>
          <p:nvPr/>
        </p:nvSpPr>
        <p:spPr>
          <a:xfrm xmlns:a="http://schemas.openxmlformats.org/drawingml/2006/main">
            <a:off x="1009650" y="35337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Shared processing methods and metadata</a:t>
            </a:r>
          </a:p>
        </p:txBody>
      </p:sp>
      <p:sp>
        <p:nvSpPr>
          <p:cNvPr id="14" name="">
            <a:extLst xmlns:a="http://schemas.openxmlformats.org/drawingml/2006/main">
              <a:ext uri="{FF2B5EF4-FFF2-40B4-BE49-F238E27FC236}">
                <a16:creationId xmlns:a16="http://schemas.microsoft.com/office/drawing/2014/main" id="{A8ED84C5-43B5-4698-8B0C-C5E8E6430834}"/>
              </a:ext>
            </a:extLst>
          </p:cNvPr>
          <p:cNvSpPr>
            <a:spLocks xmlns:a="http://schemas.openxmlformats.org/drawingml/2006/main" noGrp="1"/>
          </p:cNvSpPr>
          <p:nvPr/>
        </p:nvSpPr>
        <p:spPr>
          <a:xfrm xmlns:a="http://schemas.openxmlformats.org/drawingml/2006/main">
            <a:off x="1009650" y="4048125"/>
            <a:ext cx="2324100" cy="9525"/>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06570F0-F656-4F84-BCB6-7AC6394B8B2A}"/>
              </a:ext>
            </a:extLst>
          </p:cNvPr>
          <p:cNvSpPr>
            <a:spLocks xmlns:a="http://schemas.openxmlformats.org/drawingml/2006/main" noGrp="1"/>
          </p:cNvSpPr>
          <p:nvPr/>
        </p:nvSpPr>
        <p:spPr>
          <a:xfrm xmlns:a="http://schemas.openxmlformats.org/drawingml/2006/main">
            <a:off x="1009650" y="42481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Platform, R SDK and Python SDK</a:t>
            </a:r>
          </a:p>
        </p:txBody>
      </p:sp>
      <p:sp>
        <p:nvSpPr>
          <p:cNvPr id="16" name="">
            <a:extLst xmlns:a="http://schemas.openxmlformats.org/drawingml/2006/main">
              <a:ext uri="{FF2B5EF4-FFF2-40B4-BE49-F238E27FC236}">
                <a16:creationId xmlns:a16="http://schemas.microsoft.com/office/drawing/2014/main" id="{1639CDD8-8E05-4149-A446-2F58937F0476}"/>
              </a:ext>
            </a:extLst>
          </p:cNvPr>
          <p:cNvSpPr>
            <a:spLocks xmlns:a="http://schemas.openxmlformats.org/drawingml/2006/main" noGrp="1"/>
          </p:cNvSpPr>
          <p:nvPr/>
        </p:nvSpPr>
        <p:spPr>
          <a:xfrm xmlns:a="http://schemas.openxmlformats.org/drawingml/2006/main">
            <a:off x="4000500" y="3314700"/>
            <a:ext cx="666750" cy="609600"/>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4AB5E9-0289-4F32-BFE8-856C17D8FA01}"/>
              </a:ext>
            </a:extLst>
          </p:cNvPr>
          <p:cNvSpPr>
            <a:spLocks xmlns:a="http://schemas.openxmlformats.org/drawingml/2006/main" noGrp="1"/>
          </p:cNvSpPr>
          <p:nvPr/>
        </p:nvSpPr>
        <p:spPr>
          <a:xfrm xmlns:a="http://schemas.openxmlformats.org/drawingml/2006/main">
            <a:off x="4705350" y="17526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COUNTRY TAILORING</a:t>
            </a:r>
          </a:p>
        </p:txBody>
      </p:sp>
      <p:sp>
        <p:nvSpPr>
          <p:cNvPr id="18" name="">
            <a:extLst xmlns:a="http://schemas.openxmlformats.org/drawingml/2006/main">
              <a:ext uri="{FF2B5EF4-FFF2-40B4-BE49-F238E27FC236}">
                <a16:creationId xmlns:a16="http://schemas.microsoft.com/office/drawing/2014/main" id="{ACF20FD6-5C54-4020-BA80-1875F7DAAF9D}"/>
              </a:ext>
            </a:extLst>
          </p:cNvPr>
          <p:cNvSpPr>
            <a:spLocks xmlns:a="http://schemas.openxmlformats.org/drawingml/2006/main" noGrp="1"/>
          </p:cNvSpPr>
          <p:nvPr/>
        </p:nvSpPr>
        <p:spPr>
          <a:xfrm xmlns:a="http://schemas.openxmlformats.org/drawingml/2006/main">
            <a:off x="4705350" y="2076450"/>
            <a:ext cx="2476500" cy="3000375"/>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9" name="">
            <a:extLst xmlns:a="http://schemas.openxmlformats.org/drawingml/2006/main">
              <a:ext uri="{FF2B5EF4-FFF2-40B4-BE49-F238E27FC236}">
                <a16:creationId xmlns:a16="http://schemas.microsoft.com/office/drawing/2014/main" id="{3B36587B-C789-40CB-8647-950DB85787E0}"/>
              </a:ext>
            </a:extLst>
          </p:cNvPr>
          <p:cNvSpPr>
            <a:spLocks xmlns:a="http://schemas.openxmlformats.org/drawingml/2006/main" noGrp="1"/>
          </p:cNvSpPr>
          <p:nvPr/>
        </p:nvSpPr>
        <p:spPr>
          <a:xfrm xmlns:a="http://schemas.openxmlformats.org/drawingml/2006/main">
            <a:off x="4953000" y="2381250"/>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National data</a:t>
            </a:r>
          </a:p>
        </p:txBody>
      </p:sp>
      <p:sp>
        <p:nvSpPr>
          <p:cNvPr id="20" name="">
            <a:extLst xmlns:a="http://schemas.openxmlformats.org/drawingml/2006/main">
              <a:ext uri="{FF2B5EF4-FFF2-40B4-BE49-F238E27FC236}">
                <a16:creationId xmlns:a16="http://schemas.microsoft.com/office/drawing/2014/main" id="{72C9A130-DF56-47D5-B8AB-199DC773D28B}"/>
              </a:ext>
            </a:extLst>
          </p:cNvPr>
          <p:cNvSpPr>
            <a:spLocks xmlns:a="http://schemas.openxmlformats.org/drawingml/2006/main" noGrp="1"/>
          </p:cNvSpPr>
          <p:nvPr/>
        </p:nvSpPr>
        <p:spPr>
          <a:xfrm xmlns:a="http://schemas.openxmlformats.org/drawingml/2006/main">
            <a:off x="4953000" y="274320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0" i="0">
                <a:solidFill>
                  <a:srgbClr val="687984"/>
                </a:solidFill>
                <a:latin typeface="Lato"/>
                <a:ea typeface="Lato"/>
                <a:cs typeface="Lato"/>
              </a:defRPr>
            </a:pPr>
            <a:r>
              <a:rPr sz="1125" b="0" i="0">
                <a:solidFill>
                  <a:srgbClr val="687984"/>
                </a:solidFill>
                <a:latin typeface="Lato"/>
                <a:ea typeface="Lato"/>
                <a:cs typeface="Lato"/>
              </a:rPr>
              <a:t>Give visibility to nationally generated climate information</a:t>
            </a:r>
          </a:p>
        </p:txBody>
      </p:sp>
      <p:sp>
        <p:nvSpPr>
          <p:cNvPr id="21" name="">
            <a:extLst xmlns:a="http://schemas.openxmlformats.org/drawingml/2006/main">
              <a:ext uri="{FF2B5EF4-FFF2-40B4-BE49-F238E27FC236}">
                <a16:creationId xmlns:a16="http://schemas.microsoft.com/office/drawing/2014/main" id="{F0DC1F97-441F-44AD-9DC3-A2C6A8A75D92}"/>
              </a:ext>
            </a:extLst>
          </p:cNvPr>
          <p:cNvSpPr>
            <a:spLocks xmlns:a="http://schemas.openxmlformats.org/drawingml/2006/main" noGrp="1"/>
          </p:cNvSpPr>
          <p:nvPr/>
        </p:nvSpPr>
        <p:spPr>
          <a:xfrm xmlns:a="http://schemas.openxmlformats.org/drawingml/2006/main">
            <a:off x="5048250" y="3371850"/>
            <a:ext cx="1790700" cy="9525"/>
          </a:xfrm>
          <a:prstGeom xmlns:a="http://schemas.openxmlformats.org/drawingml/2006/main" prst="rect">
            <a:avLst/>
          </a:prstGeom>
          <a:solidFill xmlns:a="http://schemas.openxmlformats.org/drawingml/2006/main">
            <a:srgbClr val="E4CE8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087D343-9B80-4C62-BB20-9B788D20FB92}"/>
              </a:ext>
            </a:extLst>
          </p:cNvPr>
          <p:cNvSpPr>
            <a:spLocks xmlns:a="http://schemas.openxmlformats.org/drawingml/2006/main" noGrp="1"/>
          </p:cNvSpPr>
          <p:nvPr/>
        </p:nvSpPr>
        <p:spPr>
          <a:xfrm xmlns:a="http://schemas.openxmlformats.org/drawingml/2006/main">
            <a:off x="4953000" y="3571875"/>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Local priorities</a:t>
            </a:r>
          </a:p>
        </p:txBody>
      </p:sp>
      <p:sp>
        <p:nvSpPr>
          <p:cNvPr id="23" name="">
            <a:extLst xmlns:a="http://schemas.openxmlformats.org/drawingml/2006/main">
              <a:ext uri="{FF2B5EF4-FFF2-40B4-BE49-F238E27FC236}">
                <a16:creationId xmlns:a16="http://schemas.microsoft.com/office/drawing/2014/main" id="{68F9E2E2-501C-4E22-8035-79503BEC861E}"/>
              </a:ext>
            </a:extLst>
          </p:cNvPr>
          <p:cNvSpPr>
            <a:spLocks xmlns:a="http://schemas.openxmlformats.org/drawingml/2006/main" noGrp="1"/>
          </p:cNvSpPr>
          <p:nvPr/>
        </p:nvSpPr>
        <p:spPr>
          <a:xfrm xmlns:a="http://schemas.openxmlformats.org/drawingml/2006/main">
            <a:off x="4953000" y="3933825"/>
            <a:ext cx="200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0" i="0">
                <a:solidFill>
                  <a:srgbClr val="687984"/>
                </a:solidFill>
                <a:latin typeface="Lato"/>
                <a:ea typeface="Lato"/>
                <a:cs typeface="Lato"/>
              </a:defRPr>
            </a:pPr>
            <a:r>
              <a:rPr sz="1125" b="0" i="0">
                <a:solidFill>
                  <a:srgbClr val="687984"/>
                </a:solidFill>
                <a:latin typeface="Lato"/>
                <a:ea typeface="Lato"/>
                <a:cs typeface="Lato"/>
              </a:rPr>
              <a:t>Adapt indicators, reporting and decision workflows</a:t>
            </a:r>
          </a:p>
        </p:txBody>
      </p:sp>
      <p:sp>
        <p:nvSpPr>
          <p:cNvPr id="24" name="">
            <a:extLst xmlns:a="http://schemas.openxmlformats.org/drawingml/2006/main">
              <a:ext uri="{FF2B5EF4-FFF2-40B4-BE49-F238E27FC236}">
                <a16:creationId xmlns:a16="http://schemas.microsoft.com/office/drawing/2014/main" id="{C7C842BC-8912-4BCF-9CDC-967035326FD6}"/>
              </a:ext>
            </a:extLst>
          </p:cNvPr>
          <p:cNvSpPr>
            <a:spLocks xmlns:a="http://schemas.openxmlformats.org/drawingml/2006/main" noGrp="1"/>
          </p:cNvSpPr>
          <p:nvPr/>
        </p:nvSpPr>
        <p:spPr>
          <a:xfrm xmlns:a="http://schemas.openxmlformats.org/drawingml/2006/main">
            <a:off x="4953000" y="45910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A86F00"/>
                </a:solidFill>
                <a:latin typeface="Lato"/>
                <a:ea typeface="Lato"/>
                <a:cs typeface="Lato"/>
              </a:defRPr>
            </a:pPr>
            <a:r>
              <a:rPr sz="975" b="1" i="0">
                <a:solidFill>
                  <a:srgbClr val="A86F00"/>
                </a:solidFill>
                <a:latin typeface="Lato"/>
                <a:ea typeface="Lato"/>
                <a:cs typeface="Lato"/>
              </a:rPr>
              <a:t>Flexible deployment</a:t>
            </a:r>
          </a:p>
        </p:txBody>
      </p:sp>
      <p:sp>
        <p:nvSpPr>
          <p:cNvPr id="25" name="">
            <a:extLst xmlns:a="http://schemas.openxmlformats.org/drawingml/2006/main">
              <a:ext uri="{FF2B5EF4-FFF2-40B4-BE49-F238E27FC236}">
                <a16:creationId xmlns:a16="http://schemas.microsoft.com/office/drawing/2014/main" id="{36486821-C742-4510-B586-EB4F535BCA1D}"/>
              </a:ext>
            </a:extLst>
          </p:cNvPr>
          <p:cNvSpPr>
            <a:spLocks xmlns:a="http://schemas.openxmlformats.org/drawingml/2006/main" noGrp="1"/>
          </p:cNvSpPr>
          <p:nvPr/>
        </p:nvSpPr>
        <p:spPr>
          <a:xfrm xmlns:a="http://schemas.openxmlformats.org/drawingml/2006/main">
            <a:off x="7219950" y="3314700"/>
            <a:ext cx="666750" cy="60960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FDD5F4D-6C27-487F-AF17-FCD5A0F35029}"/>
              </a:ext>
            </a:extLst>
          </p:cNvPr>
          <p:cNvSpPr>
            <a:spLocks xmlns:a="http://schemas.openxmlformats.org/drawingml/2006/main" noGrp="1"/>
          </p:cNvSpPr>
          <p:nvPr/>
        </p:nvSpPr>
        <p:spPr>
          <a:xfrm xmlns:a="http://schemas.openxmlformats.org/drawingml/2006/main">
            <a:off x="7924800" y="17526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COUNTRY OR REGIONAL PRODUCT</a:t>
            </a:r>
          </a:p>
        </p:txBody>
      </p:sp>
      <p:sp>
        <p:nvSpPr>
          <p:cNvPr id="27" name="">
            <a:extLst xmlns:a="http://schemas.openxmlformats.org/drawingml/2006/main">
              <a:ext uri="{FF2B5EF4-FFF2-40B4-BE49-F238E27FC236}">
                <a16:creationId xmlns:a16="http://schemas.microsoft.com/office/drawing/2014/main" id="{692B9B70-453A-4E69-A442-06808672AC6D}"/>
              </a:ext>
            </a:extLst>
          </p:cNvPr>
          <p:cNvSpPr>
            <a:spLocks xmlns:a="http://schemas.openxmlformats.org/drawingml/2006/main" noGrp="1"/>
          </p:cNvSpPr>
          <p:nvPr/>
        </p:nvSpPr>
        <p:spPr>
          <a:xfrm xmlns:a="http://schemas.openxmlformats.org/drawingml/2006/main">
            <a:off x="7924800" y="2076450"/>
            <a:ext cx="3619500" cy="3000375"/>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8" name="">
            <a:extLst xmlns:a="http://schemas.openxmlformats.org/drawingml/2006/main">
              <a:ext uri="{FF2B5EF4-FFF2-40B4-BE49-F238E27FC236}">
                <a16:creationId xmlns:a16="http://schemas.microsoft.com/office/drawing/2014/main" id="{FAE2CF52-5927-4B18-BE39-14C496194657}"/>
              </a:ext>
            </a:extLst>
          </p:cNvPr>
          <p:cNvSpPr>
            <a:spLocks xmlns:a="http://schemas.openxmlformats.org/drawingml/2006/main" noGrp="1"/>
          </p:cNvSpPr>
          <p:nvPr/>
        </p:nvSpPr>
        <p:spPr>
          <a:xfrm xmlns:a="http://schemas.openxmlformats.org/drawingml/2006/main">
            <a:off x="8191500" y="23145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815"/>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An operational climate system</a:t>
            </a:r>
          </a:p>
        </p:txBody>
      </p:sp>
      <p:sp>
        <p:nvSpPr>
          <p:cNvPr id="29" name="">
            <a:extLst xmlns:a="http://schemas.openxmlformats.org/drawingml/2006/main">
              <a:ext uri="{FF2B5EF4-FFF2-40B4-BE49-F238E27FC236}">
                <a16:creationId xmlns:a16="http://schemas.microsoft.com/office/drawing/2014/main" id="{521C8368-04F6-42A6-9812-F8451EB9C146}"/>
              </a:ext>
            </a:extLst>
          </p:cNvPr>
          <p:cNvSpPr>
            <a:spLocks xmlns:a="http://schemas.openxmlformats.org/drawingml/2006/main" noGrp="1"/>
          </p:cNvSpPr>
          <p:nvPr/>
        </p:nvSpPr>
        <p:spPr>
          <a:xfrm xmlns:a="http://schemas.openxmlformats.org/drawingml/2006/main">
            <a:off x="8191500" y="288607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01</a:t>
            </a:r>
          </a:p>
        </p:txBody>
      </p:sp>
      <p:sp>
        <p:nvSpPr>
          <p:cNvPr id="30" name="">
            <a:extLst xmlns:a="http://schemas.openxmlformats.org/drawingml/2006/main">
              <a:ext uri="{FF2B5EF4-FFF2-40B4-BE49-F238E27FC236}">
                <a16:creationId xmlns:a16="http://schemas.microsoft.com/office/drawing/2014/main" id="{5A2E88C0-A0ED-44E0-B1BA-C77398B6A8B9}"/>
              </a:ext>
            </a:extLst>
          </p:cNvPr>
          <p:cNvSpPr>
            <a:spLocks xmlns:a="http://schemas.openxmlformats.org/drawingml/2006/main" noGrp="1"/>
          </p:cNvSpPr>
          <p:nvPr/>
        </p:nvSpPr>
        <p:spPr>
          <a:xfrm xmlns:a="http://schemas.openxmlformats.org/drawingml/2006/main">
            <a:off x="8639175" y="286702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41"/>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Locally relevant maps and indicators</a:t>
            </a:r>
          </a:p>
        </p:txBody>
      </p:sp>
      <p:sp>
        <p:nvSpPr>
          <p:cNvPr id="31" name="">
            <a:extLst xmlns:a="http://schemas.openxmlformats.org/drawingml/2006/main">
              <a:ext uri="{FF2B5EF4-FFF2-40B4-BE49-F238E27FC236}">
                <a16:creationId xmlns:a16="http://schemas.microsoft.com/office/drawing/2014/main" id="{05CDBF79-9EC4-4C35-A8F2-EFE4E06C5607}"/>
              </a:ext>
            </a:extLst>
          </p:cNvPr>
          <p:cNvSpPr>
            <a:spLocks xmlns:a="http://schemas.openxmlformats.org/drawingml/2006/main" noGrp="1"/>
          </p:cNvSpPr>
          <p:nvPr/>
        </p:nvSpPr>
        <p:spPr>
          <a:xfrm xmlns:a="http://schemas.openxmlformats.org/drawingml/2006/main">
            <a:off x="8639175" y="3209925"/>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BBD2DEC-BE01-4C49-8AFF-F95BAB29D048}"/>
              </a:ext>
            </a:extLst>
          </p:cNvPr>
          <p:cNvSpPr>
            <a:spLocks xmlns:a="http://schemas.openxmlformats.org/drawingml/2006/main" noGrp="1"/>
          </p:cNvSpPr>
          <p:nvPr/>
        </p:nvSpPr>
        <p:spPr>
          <a:xfrm xmlns:a="http://schemas.openxmlformats.org/drawingml/2006/main">
            <a:off x="8191500" y="337185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02</a:t>
            </a:r>
          </a:p>
        </p:txBody>
      </p:sp>
      <p:sp>
        <p:nvSpPr>
          <p:cNvPr id="33" name="">
            <a:extLst xmlns:a="http://schemas.openxmlformats.org/drawingml/2006/main">
              <a:ext uri="{FF2B5EF4-FFF2-40B4-BE49-F238E27FC236}">
                <a16:creationId xmlns:a16="http://schemas.microsoft.com/office/drawing/2014/main" id="{36E50363-DC82-4DB0-B21C-21E5F7DCBF92}"/>
              </a:ext>
            </a:extLst>
          </p:cNvPr>
          <p:cNvSpPr>
            <a:spLocks xmlns:a="http://schemas.openxmlformats.org/drawingml/2006/main" noGrp="1"/>
          </p:cNvSpPr>
          <p:nvPr/>
        </p:nvSpPr>
        <p:spPr>
          <a:xfrm xmlns:a="http://schemas.openxmlformats.org/drawingml/2006/main">
            <a:off x="8639175" y="335280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Automated reports and analytical pipelines</a:t>
            </a:r>
          </a:p>
        </p:txBody>
      </p:sp>
      <p:sp>
        <p:nvSpPr>
          <p:cNvPr id="34" name="">
            <a:extLst xmlns:a="http://schemas.openxmlformats.org/drawingml/2006/main">
              <a:ext uri="{FF2B5EF4-FFF2-40B4-BE49-F238E27FC236}">
                <a16:creationId xmlns:a16="http://schemas.microsoft.com/office/drawing/2014/main" id="{34E52010-5EE9-44B1-B256-57777B186118}"/>
              </a:ext>
            </a:extLst>
          </p:cNvPr>
          <p:cNvSpPr>
            <a:spLocks xmlns:a="http://schemas.openxmlformats.org/drawingml/2006/main" noGrp="1"/>
          </p:cNvSpPr>
          <p:nvPr/>
        </p:nvSpPr>
        <p:spPr>
          <a:xfrm xmlns:a="http://schemas.openxmlformats.org/drawingml/2006/main">
            <a:off x="8639175" y="3695700"/>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2589B38-9A18-425C-83AF-97137260189C}"/>
              </a:ext>
            </a:extLst>
          </p:cNvPr>
          <p:cNvSpPr>
            <a:spLocks xmlns:a="http://schemas.openxmlformats.org/drawingml/2006/main" noGrp="1"/>
          </p:cNvSpPr>
          <p:nvPr/>
        </p:nvSpPr>
        <p:spPr>
          <a:xfrm xmlns:a="http://schemas.openxmlformats.org/drawingml/2006/main">
            <a:off x="8191500" y="38576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03</a:t>
            </a:r>
          </a:p>
        </p:txBody>
      </p:sp>
      <p:sp>
        <p:nvSpPr>
          <p:cNvPr id="36" name="">
            <a:extLst xmlns:a="http://schemas.openxmlformats.org/drawingml/2006/main">
              <a:ext uri="{FF2B5EF4-FFF2-40B4-BE49-F238E27FC236}">
                <a16:creationId xmlns:a16="http://schemas.microsoft.com/office/drawing/2014/main" id="{C8415E05-EA52-457F-9FCC-ABEB2AE047DD}"/>
              </a:ext>
            </a:extLst>
          </p:cNvPr>
          <p:cNvSpPr>
            <a:spLocks xmlns:a="http://schemas.openxmlformats.org/drawingml/2006/main" noGrp="1"/>
          </p:cNvSpPr>
          <p:nvPr/>
        </p:nvSpPr>
        <p:spPr>
          <a:xfrm xmlns:a="http://schemas.openxmlformats.org/drawingml/2006/main">
            <a:off x="8639175" y="383857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Programmatic access for national applications</a:t>
            </a:r>
          </a:p>
        </p:txBody>
      </p:sp>
      <p:sp>
        <p:nvSpPr>
          <p:cNvPr id="37" name="">
            <a:extLst xmlns:a="http://schemas.openxmlformats.org/drawingml/2006/main">
              <a:ext uri="{FF2B5EF4-FFF2-40B4-BE49-F238E27FC236}">
                <a16:creationId xmlns:a16="http://schemas.microsoft.com/office/drawing/2014/main" id="{71B0AE3B-2441-4E30-9144-186A1C02C317}"/>
              </a:ext>
            </a:extLst>
          </p:cNvPr>
          <p:cNvSpPr>
            <a:spLocks xmlns:a="http://schemas.openxmlformats.org/drawingml/2006/main" noGrp="1"/>
          </p:cNvSpPr>
          <p:nvPr/>
        </p:nvSpPr>
        <p:spPr>
          <a:xfrm xmlns:a="http://schemas.openxmlformats.org/drawingml/2006/main">
            <a:off x="8639175" y="4181475"/>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6A70DC1-8809-4028-BBE1-6C9F0A58D32F}"/>
              </a:ext>
            </a:extLst>
          </p:cNvPr>
          <p:cNvSpPr>
            <a:spLocks xmlns:a="http://schemas.openxmlformats.org/drawingml/2006/main" noGrp="1"/>
          </p:cNvSpPr>
          <p:nvPr/>
        </p:nvSpPr>
        <p:spPr>
          <a:xfrm xmlns:a="http://schemas.openxmlformats.org/drawingml/2006/main">
            <a:off x="8191500" y="43434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04</a:t>
            </a:r>
          </a:p>
        </p:txBody>
      </p:sp>
      <p:sp>
        <p:nvSpPr>
          <p:cNvPr id="39" name="">
            <a:extLst xmlns:a="http://schemas.openxmlformats.org/drawingml/2006/main">
              <a:ext uri="{FF2B5EF4-FFF2-40B4-BE49-F238E27FC236}">
                <a16:creationId xmlns:a16="http://schemas.microsoft.com/office/drawing/2014/main" id="{779B51E6-2840-41D1-9517-9E9DEF6AB072}"/>
              </a:ext>
            </a:extLst>
          </p:cNvPr>
          <p:cNvSpPr>
            <a:spLocks xmlns:a="http://schemas.openxmlformats.org/drawingml/2006/main" noGrp="1"/>
          </p:cNvSpPr>
          <p:nvPr/>
        </p:nvSpPr>
        <p:spPr>
          <a:xfrm xmlns:a="http://schemas.openxmlformats.org/drawingml/2006/main">
            <a:off x="8639175" y="432435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71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A system adapted to institutional needs</a:t>
            </a:r>
          </a:p>
        </p:txBody>
      </p:sp>
      <p:sp>
        <p:nvSpPr>
          <p:cNvPr id="40" name="">
            <a:extLst xmlns:a="http://schemas.openxmlformats.org/drawingml/2006/main">
              <a:ext uri="{FF2B5EF4-FFF2-40B4-BE49-F238E27FC236}">
                <a16:creationId xmlns:a16="http://schemas.microsoft.com/office/drawing/2014/main" id="{79CC006E-7EB4-46F3-8211-E95DB97FD3F0}"/>
              </a:ext>
            </a:extLst>
          </p:cNvPr>
          <p:cNvSpPr>
            <a:spLocks xmlns:a="http://schemas.openxmlformats.org/drawingml/2006/main" noGrp="1"/>
          </p:cNvSpPr>
          <p:nvPr/>
        </p:nvSpPr>
        <p:spPr>
          <a:xfrm xmlns:a="http://schemas.openxmlformats.org/drawingml/2006/main">
            <a:off x="762000" y="53340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687984"/>
                </a:solidFill>
                <a:latin typeface="Lato"/>
                <a:ea typeface="Lato"/>
                <a:cs typeface="Lato"/>
              </a:defRPr>
            </a:pPr>
            <a:r>
              <a:rPr sz="825" b="1" i="0">
                <a:solidFill>
                  <a:srgbClr val="687984"/>
                </a:solidFill>
                <a:latin typeface="Lato"/>
                <a:ea typeface="Lato"/>
                <a:cs typeface="Lato"/>
              </a:rPr>
              <a:t>CURRENT EXAMPLES</a:t>
            </a:r>
          </a:p>
        </p:txBody>
      </p:sp>
      <p:sp>
        <p:nvSpPr>
          <p:cNvPr id="41" name="">
            <a:extLst xmlns:a="http://schemas.openxmlformats.org/drawingml/2006/main">
              <a:ext uri="{FF2B5EF4-FFF2-40B4-BE49-F238E27FC236}">
                <a16:creationId xmlns:a16="http://schemas.microsoft.com/office/drawing/2014/main" id="{2ADD9961-BE31-41B1-BBF9-83C058B1E8A1}"/>
              </a:ext>
            </a:extLst>
          </p:cNvPr>
          <p:cNvSpPr>
            <a:spLocks xmlns:a="http://schemas.openxmlformats.org/drawingml/2006/main" noGrp="1"/>
          </p:cNvSpPr>
          <p:nvPr/>
        </p:nvSpPr>
        <p:spPr>
          <a:xfrm xmlns:a="http://schemas.openxmlformats.org/drawingml/2006/main">
            <a:off x="2381250" y="52959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2304E"/>
                </a:solidFill>
                <a:latin typeface="Lato"/>
                <a:ea typeface="Lato"/>
                <a:cs typeface="Lato"/>
              </a:defRPr>
            </a:pPr>
            <a:r>
              <a:rPr sz="1200" b="1" i="0">
                <a:solidFill>
                  <a:srgbClr val="12304E"/>
                </a:solidFill>
                <a:latin typeface="Lato"/>
                <a:ea typeface="Lato"/>
                <a:cs typeface="Lato"/>
              </a:rPr>
              <a:t>Southeast Asia</a:t>
            </a:r>
          </a:p>
        </p:txBody>
      </p:sp>
      <p:sp>
        <p:nvSpPr>
          <p:cNvPr id="42" name="">
            <a:extLst xmlns:a="http://schemas.openxmlformats.org/drawingml/2006/main">
              <a:ext uri="{FF2B5EF4-FFF2-40B4-BE49-F238E27FC236}">
                <a16:creationId xmlns:a16="http://schemas.microsoft.com/office/drawing/2014/main" id="{B85C71C2-596C-4B4D-B2C3-B4306D70B977}"/>
              </a:ext>
            </a:extLst>
          </p:cNvPr>
          <p:cNvSpPr>
            <a:spLocks xmlns:a="http://schemas.openxmlformats.org/drawingml/2006/main" noGrp="1"/>
          </p:cNvSpPr>
          <p:nvPr/>
        </p:nvSpPr>
        <p:spPr>
          <a:xfrm xmlns:a="http://schemas.openxmlformats.org/drawingml/2006/main">
            <a:off x="2381250" y="55435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MSS regional climate system</a:t>
            </a:r>
          </a:p>
        </p:txBody>
      </p:sp>
      <p:sp>
        <p:nvSpPr>
          <p:cNvPr id="43" name="">
            <a:extLst xmlns:a="http://schemas.openxmlformats.org/drawingml/2006/main">
              <a:ext uri="{FF2B5EF4-FFF2-40B4-BE49-F238E27FC236}">
                <a16:creationId xmlns:a16="http://schemas.microsoft.com/office/drawing/2014/main" id="{FC1BE4AF-1BFA-411C-922B-F1704FF8053B}"/>
              </a:ext>
            </a:extLst>
          </p:cNvPr>
          <p:cNvSpPr>
            <a:spLocks xmlns:a="http://schemas.openxmlformats.org/drawingml/2006/main" noGrp="1"/>
          </p:cNvSpPr>
          <p:nvPr/>
        </p:nvSpPr>
        <p:spPr>
          <a:xfrm xmlns:a="http://schemas.openxmlformats.org/drawingml/2006/main">
            <a:off x="4610100" y="5324475"/>
            <a:ext cx="9525" cy="438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F69178E-1238-44E9-AF6E-B0B7E8E831D3}"/>
              </a:ext>
            </a:extLst>
          </p:cNvPr>
          <p:cNvSpPr>
            <a:spLocks xmlns:a="http://schemas.openxmlformats.org/drawingml/2006/main" noGrp="1"/>
          </p:cNvSpPr>
          <p:nvPr/>
        </p:nvSpPr>
        <p:spPr>
          <a:xfrm xmlns:a="http://schemas.openxmlformats.org/drawingml/2006/main">
            <a:off x="4895850" y="52959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2304E"/>
                </a:solidFill>
                <a:latin typeface="Lato"/>
                <a:ea typeface="Lato"/>
                <a:cs typeface="Lato"/>
              </a:defRPr>
            </a:pPr>
            <a:r>
              <a:rPr sz="1200" b="1" i="0">
                <a:solidFill>
                  <a:srgbClr val="12304E"/>
                </a:solidFill>
                <a:latin typeface="Lato"/>
                <a:ea typeface="Lato"/>
                <a:cs typeface="Lato"/>
              </a:rPr>
              <a:t>Sri Lanka</a:t>
            </a:r>
          </a:p>
        </p:txBody>
      </p:sp>
      <p:sp>
        <p:nvSpPr>
          <p:cNvPr id="45" name="">
            <a:extLst xmlns:a="http://schemas.openxmlformats.org/drawingml/2006/main">
              <a:ext uri="{FF2B5EF4-FFF2-40B4-BE49-F238E27FC236}">
                <a16:creationId xmlns:a16="http://schemas.microsoft.com/office/drawing/2014/main" id="{86FD9B8A-313C-4083-B35A-711D4AAE905C}"/>
              </a:ext>
            </a:extLst>
          </p:cNvPr>
          <p:cNvSpPr>
            <a:spLocks xmlns:a="http://schemas.openxmlformats.org/drawingml/2006/main" noGrp="1"/>
          </p:cNvSpPr>
          <p:nvPr/>
        </p:nvSpPr>
        <p:spPr>
          <a:xfrm xmlns:a="http://schemas.openxmlformats.org/drawingml/2006/main">
            <a:off x="4895850" y="5543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National CAVA system</a:t>
            </a:r>
          </a:p>
        </p:txBody>
      </p:sp>
      <p:sp>
        <p:nvSpPr>
          <p:cNvPr id="46" name="">
            <a:extLst xmlns:a="http://schemas.openxmlformats.org/drawingml/2006/main">
              <a:ext uri="{FF2B5EF4-FFF2-40B4-BE49-F238E27FC236}">
                <a16:creationId xmlns:a16="http://schemas.microsoft.com/office/drawing/2014/main" id="{C6B68626-E8B8-4FD6-BE02-3FE5E252148A}"/>
              </a:ext>
            </a:extLst>
          </p:cNvPr>
          <p:cNvSpPr>
            <a:spLocks xmlns:a="http://schemas.openxmlformats.org/drawingml/2006/main" noGrp="1"/>
          </p:cNvSpPr>
          <p:nvPr/>
        </p:nvSpPr>
        <p:spPr>
          <a:xfrm xmlns:a="http://schemas.openxmlformats.org/drawingml/2006/main">
            <a:off x="6858000" y="5324475"/>
            <a:ext cx="9525" cy="438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576F725-A831-4404-AD4F-54C552CE6A55}"/>
              </a:ext>
            </a:extLst>
          </p:cNvPr>
          <p:cNvSpPr>
            <a:spLocks xmlns:a="http://schemas.openxmlformats.org/drawingml/2006/main" noGrp="1"/>
          </p:cNvSpPr>
          <p:nvPr/>
        </p:nvSpPr>
        <p:spPr>
          <a:xfrm xmlns:a="http://schemas.openxmlformats.org/drawingml/2006/main">
            <a:off x="7143750" y="5334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8D7A"/>
                </a:solidFill>
                <a:latin typeface="Lato"/>
                <a:ea typeface="Lato"/>
                <a:cs typeface="Lato"/>
              </a:defRPr>
            </a:pPr>
            <a:r>
              <a:rPr sz="825" b="1" i="0">
                <a:solidFill>
                  <a:srgbClr val="008D7A"/>
                </a:solidFill>
                <a:latin typeface="Lato"/>
                <a:ea typeface="Lato"/>
                <a:cs typeface="Lato"/>
              </a:rPr>
              <a:t>ADDED VALUE</a:t>
            </a:r>
          </a:p>
        </p:txBody>
      </p:sp>
      <p:sp>
        <p:nvSpPr>
          <p:cNvPr id="48" name="">
            <a:extLst xmlns:a="http://schemas.openxmlformats.org/drawingml/2006/main">
              <a:ext uri="{FF2B5EF4-FFF2-40B4-BE49-F238E27FC236}">
                <a16:creationId xmlns:a16="http://schemas.microsoft.com/office/drawing/2014/main" id="{E6A4BCE7-8ED7-4D3F-8B36-EF5B4E7D6BCD}"/>
              </a:ext>
            </a:extLst>
          </p:cNvPr>
          <p:cNvSpPr>
            <a:spLocks xmlns:a="http://schemas.openxmlformats.org/drawingml/2006/main" noGrp="1"/>
          </p:cNvSpPr>
          <p:nvPr/>
        </p:nvSpPr>
        <p:spPr>
          <a:xfrm xmlns:a="http://schemas.openxmlformats.org/drawingml/2006/main">
            <a:off x="8248650" y="52768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28"/>
          </a:bodyPr>
          <a:lstStyle xmlns:a="http://schemas.openxmlformats.org/drawingml/2006/main"/>
          <a:p xmlns:a="http://schemas.openxmlformats.org/drawingml/2006/main">
            <a:pPr algn="l">
              <a:lnSpc>
                <a:spcPct val="102000"/>
              </a:lnSpc>
              <a:buNone/>
              <a:defRPr sz="1200" b="1" i="0">
                <a:solidFill>
                  <a:srgbClr val="12304E"/>
                </a:solidFill>
                <a:latin typeface="Lato"/>
                <a:ea typeface="Lato"/>
                <a:cs typeface="Lato"/>
              </a:defRPr>
            </a:pPr>
            <a:r>
              <a:rPr sz="1200" b="1" i="0">
                <a:solidFill>
                  <a:srgbClr val="12304E"/>
                </a:solidFill>
                <a:latin typeface="Lato"/>
                <a:ea typeface="Lato"/>
                <a:cs typeface="Lato"/>
              </a:rPr>
              <a:t>Countries reuse the technical foundation while keeping national information and priorities visible.</a:t>
            </a:r>
          </a:p>
        </p:txBody>
      </p:sp>
    </p:spTree>
    <p:extLst>
      <p:ext uri="{BB962C8B-B14F-4D97-AF65-F5344CB8AC3E}">
        <p14:creationId xmlns:p14="http://schemas.microsoft.com/office/powerpoint/2010/main" val="1319217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2026-09-23T09:07:10.3180000Z</dcterms:created>
  <dcterms:modified xsi:type="dcterms:W3CDTF">2026-09-23T09:07:10.3180000Z</dcterms:modified>
</coreProperties>
</file>