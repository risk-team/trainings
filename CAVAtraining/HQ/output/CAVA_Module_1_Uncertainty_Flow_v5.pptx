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0c35b157ce4e94" /><Relationship Type="http://schemas.openxmlformats.org/officeDocument/2006/relationships/extended-properties" Target="/docProps/app.xml" Id="Rc88d47fb666e442d" /><Relationship Type="http://schemas.openxmlformats.org/officeDocument/2006/relationships/officeDocument" Target="/ppt/presentation.xml" Id="R16ad5d48848944c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58f32fd89694178"/>
  </p:sldMasterIdLst>
  <p:notesMasterIdLst>
    <p:notesMasterId xmlns:r="http://schemas.openxmlformats.org/officeDocument/2006/relationships" r:id="R49d8a97ccb294ea4"/>
  </p:notesMasterIdLst>
  <p:sldIdLst>
    <p:sldId xmlns:r="http://schemas.openxmlformats.org/officeDocument/2006/relationships" id="256" r:id="R907213a8965d4603"/>
    <p:sldId xmlns:r="http://schemas.openxmlformats.org/officeDocument/2006/relationships" id="257" r:id="R6088cc8974784c5a"/>
    <p:sldId xmlns:r="http://schemas.openxmlformats.org/officeDocument/2006/relationships" id="258" r:id="R49b46124f2364232"/>
    <p:sldId xmlns:r="http://schemas.openxmlformats.org/officeDocument/2006/relationships" id="259" r:id="R7cfec43deaa74f1a"/>
    <p:sldId xmlns:r="http://schemas.openxmlformats.org/officeDocument/2006/relationships" id="260" r:id="R4948d11f4e044ea3"/>
    <p:sldId xmlns:r="http://schemas.openxmlformats.org/officeDocument/2006/relationships" id="261" r:id="R824fa86582904645"/>
    <p:sldId xmlns:r="http://schemas.openxmlformats.org/officeDocument/2006/relationships" id="262" r:id="R0f50038f7f924afa"/>
    <p:sldId xmlns:r="http://schemas.openxmlformats.org/officeDocument/2006/relationships" id="263" r:id="R121abca5040f4f88"/>
    <p:sldId xmlns:r="http://schemas.openxmlformats.org/officeDocument/2006/relationships" id="264" r:id="R2d50e0c5e2a24130"/>
    <p:sldId xmlns:r="http://schemas.openxmlformats.org/officeDocument/2006/relationships" id="265" r:id="R8edd4b395f13421d"/>
    <p:sldId xmlns:r="http://schemas.openxmlformats.org/officeDocument/2006/relationships" id="266" r:id="Rcc31eddc465d4ccc"/>
    <p:sldId xmlns:r="http://schemas.openxmlformats.org/officeDocument/2006/relationships" id="267" r:id="Rf7c58ee8175b4b1f"/>
    <p:sldId xmlns:r="http://schemas.openxmlformats.org/officeDocument/2006/relationships" id="268" r:id="R08fe1d2927b04212"/>
    <p:sldId xmlns:r="http://schemas.openxmlformats.org/officeDocument/2006/relationships" id="269" r:id="Rc1702093b3824f3c"/>
    <p:sldId xmlns:r="http://schemas.openxmlformats.org/officeDocument/2006/relationships" id="270" r:id="R4aac22c7ae9d470a"/>
    <p:sldId xmlns:r="http://schemas.openxmlformats.org/officeDocument/2006/relationships" id="271" r:id="Rf5f2b6821ed1409c"/>
    <p:sldId xmlns:r="http://schemas.openxmlformats.org/officeDocument/2006/relationships" id="272" r:id="Rae875190e6dd4569"/>
    <p:sldId xmlns:r="http://schemas.openxmlformats.org/officeDocument/2006/relationships" id="273" r:id="R2c997157b81e4895"/>
    <p:sldId xmlns:r="http://schemas.openxmlformats.org/officeDocument/2006/relationships" id="274" r:id="R47a3b8c3276d4ced"/>
    <p:sldId xmlns:r="http://schemas.openxmlformats.org/officeDocument/2006/relationships" id="275" r:id="Rb47b9116621d4d86"/>
    <p:sldId xmlns:r="http://schemas.openxmlformats.org/officeDocument/2006/relationships" id="276" r:id="R448a290f1a614a7b"/>
    <p:sldId xmlns:r="http://schemas.openxmlformats.org/officeDocument/2006/relationships" id="277" r:id="Rf0b11e8e09004f74"/>
    <p:sldId xmlns:r="http://schemas.openxmlformats.org/officeDocument/2006/relationships" id="278" r:id="R02f98ae59c5444c7"/>
    <p:sldId xmlns:r="http://schemas.openxmlformats.org/officeDocument/2006/relationships" id="279" r:id="R6e77a1330687483c"/>
    <p:sldId xmlns:r="http://schemas.openxmlformats.org/officeDocument/2006/relationships" id="280" r:id="Rd6949c268c364c58"/>
    <p:sldId xmlns:r="http://schemas.openxmlformats.org/officeDocument/2006/relationships" id="281" r:id="R9c3b9008661b4580"/>
    <p:sldId xmlns:r="http://schemas.openxmlformats.org/officeDocument/2006/relationships" id="282" r:id="R80b571ad581a4607"/>
    <p:sldId xmlns:r="http://schemas.openxmlformats.org/officeDocument/2006/relationships" id="283" r:id="R2773fb5632164561"/>
    <p:sldId xmlns:r="http://schemas.openxmlformats.org/officeDocument/2006/relationships" id="284" r:id="R490d6b71d9704841"/>
  </p:sldIdLst>
  <p:sldSz cx="12192000" cy="6858000"/>
  <p:notesSz cx="6858000" cy="9144000"/>
  <p:embeddedFontLst>
    <p:embeddedFont>
      <p:font typeface="Lato"/>
      <p:regular xmlns:r="http://schemas.openxmlformats.org/officeDocument/2006/relationships" r:id="Rd9bbb1cef7d348f4"/>
      <p:bold xmlns:r="http://schemas.openxmlformats.org/officeDocument/2006/relationships" r:id="Rb128d9b855b44e6a"/>
      <p:italic xmlns:r="http://schemas.openxmlformats.org/officeDocument/2006/relationships" r:id="Ra9f932abd5774e1f"/>
      <p:boldItalic xmlns:r="http://schemas.openxmlformats.org/officeDocument/2006/relationships" r:id="Rc59fe349cc73478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d8a2bedf584d30" /><Relationship Type="http://schemas.openxmlformats.org/officeDocument/2006/relationships/slideMaster" Target="/ppt/slideMasters/slideMaster1.xml" Id="R758f32fd89694178" /><Relationship Type="http://schemas.openxmlformats.org/officeDocument/2006/relationships/notesMaster" Target="/ppt/notesMasters/notesMaster1.xml" Id="R49d8a97ccb294ea4" /><Relationship Type="http://schemas.openxmlformats.org/officeDocument/2006/relationships/presProps" Target="/ppt/presProps.xml" Id="Rf786852e54474d64" /><Relationship Type="http://schemas.openxmlformats.org/officeDocument/2006/relationships/tableStyles" Target="/ppt/tableStyles.xml" Id="R39162b56136042b0" /><Relationship Type="http://schemas.openxmlformats.org/officeDocument/2006/relationships/font" Target="/ppt/fonts/font.dat" Id="Rd9bbb1cef7d348f4" /><Relationship Type="http://schemas.openxmlformats.org/officeDocument/2006/relationships/font" Target="/ppt/fonts/font2.dat" Id="Rb128d9b855b44e6a" /><Relationship Type="http://schemas.openxmlformats.org/officeDocument/2006/relationships/font" Target="/ppt/fonts/font3.dat" Id="Ra9f932abd5774e1f" /><Relationship Type="http://schemas.openxmlformats.org/officeDocument/2006/relationships/font" Target="/ppt/fonts/font4.dat" Id="Rc59fe349cc734785" /><Relationship Type="http://schemas.openxmlformats.org/officeDocument/2006/relationships/slide" Target="/ppt/slides/slide1.xml" Id="R907213a8965d4603" /><Relationship Type="http://schemas.openxmlformats.org/officeDocument/2006/relationships/slide" Target="/ppt/slides/slide2.xml" Id="R6088cc8974784c5a" /><Relationship Type="http://schemas.openxmlformats.org/officeDocument/2006/relationships/slide" Target="/ppt/slides/slide3.xml" Id="R49b46124f2364232" /><Relationship Type="http://schemas.openxmlformats.org/officeDocument/2006/relationships/slide" Target="/ppt/slides/slide4.xml" Id="R7cfec43deaa74f1a" /><Relationship Type="http://schemas.openxmlformats.org/officeDocument/2006/relationships/slide" Target="/ppt/slides/slide5.xml" Id="R4948d11f4e044ea3" /><Relationship Type="http://schemas.openxmlformats.org/officeDocument/2006/relationships/slide" Target="/ppt/slides/slide6.xml" Id="R824fa86582904645" /><Relationship Type="http://schemas.openxmlformats.org/officeDocument/2006/relationships/slide" Target="/ppt/slides/slide7.xml" Id="R0f50038f7f924afa" /><Relationship Type="http://schemas.openxmlformats.org/officeDocument/2006/relationships/slide" Target="/ppt/slides/slide8.xml" Id="R121abca5040f4f88" /><Relationship Type="http://schemas.openxmlformats.org/officeDocument/2006/relationships/slide" Target="/ppt/slides/slide9.xml" Id="R2d50e0c5e2a24130" /><Relationship Type="http://schemas.openxmlformats.org/officeDocument/2006/relationships/slide" Target="/ppt/slides/slide10.xml" Id="R8edd4b395f13421d" /><Relationship Type="http://schemas.openxmlformats.org/officeDocument/2006/relationships/slide" Target="/ppt/slides/slide11.xml" Id="Rcc31eddc465d4ccc" /><Relationship Type="http://schemas.openxmlformats.org/officeDocument/2006/relationships/slide" Target="/ppt/slides/slide12.xml" Id="Rf7c58ee8175b4b1f" /><Relationship Type="http://schemas.openxmlformats.org/officeDocument/2006/relationships/slide" Target="/ppt/slides/slide13.xml" Id="R08fe1d2927b04212" /><Relationship Type="http://schemas.openxmlformats.org/officeDocument/2006/relationships/slide" Target="/ppt/slides/slide14.xml" Id="Rc1702093b3824f3c" /><Relationship Type="http://schemas.openxmlformats.org/officeDocument/2006/relationships/slide" Target="/ppt/slides/slide15.xml" Id="R4aac22c7ae9d470a" /><Relationship Type="http://schemas.openxmlformats.org/officeDocument/2006/relationships/slide" Target="/ppt/slides/slide16.xml" Id="Rf5f2b6821ed1409c" /><Relationship Type="http://schemas.openxmlformats.org/officeDocument/2006/relationships/slide" Target="/ppt/slides/slide17.xml" Id="Rae875190e6dd4569" /><Relationship Type="http://schemas.openxmlformats.org/officeDocument/2006/relationships/slide" Target="/ppt/slides/slide18.xml" Id="R2c997157b81e4895" /><Relationship Type="http://schemas.openxmlformats.org/officeDocument/2006/relationships/slide" Target="/ppt/slides/slide19.xml" Id="R47a3b8c3276d4ced" /><Relationship Type="http://schemas.openxmlformats.org/officeDocument/2006/relationships/slide" Target="/ppt/slides/slide20.xml" Id="Rb47b9116621d4d86" /><Relationship Type="http://schemas.openxmlformats.org/officeDocument/2006/relationships/slide" Target="/ppt/slides/slide21.xml" Id="R448a290f1a614a7b" /><Relationship Type="http://schemas.openxmlformats.org/officeDocument/2006/relationships/slide" Target="/ppt/slides/slide22.xml" Id="Rf0b11e8e09004f74" /><Relationship Type="http://schemas.openxmlformats.org/officeDocument/2006/relationships/slide" Target="/ppt/slides/slide23.xml" Id="R02f98ae59c5444c7" /><Relationship Type="http://schemas.openxmlformats.org/officeDocument/2006/relationships/slide" Target="/ppt/slides/slide24.xml" Id="R6e77a1330687483c" /><Relationship Type="http://schemas.openxmlformats.org/officeDocument/2006/relationships/slide" Target="/ppt/slides/slide25.xml" Id="Rd6949c268c364c58" /><Relationship Type="http://schemas.openxmlformats.org/officeDocument/2006/relationships/slide" Target="/ppt/slides/slide26.xml" Id="R9c3b9008661b4580" /><Relationship Type="http://schemas.openxmlformats.org/officeDocument/2006/relationships/slide" Target="/ppt/slides/slide27.xml" Id="R80b571ad581a4607" /><Relationship Type="http://schemas.openxmlformats.org/officeDocument/2006/relationships/slide" Target="/ppt/slides/slide28.xml" Id="R2773fb5632164561" /><Relationship Type="http://schemas.openxmlformats.org/officeDocument/2006/relationships/slide" Target="/ppt/slides/slide29.xml" Id="R490d6b71d97048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70ec8b01a444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cffde60e174165" /><Relationship Type="http://schemas.openxmlformats.org/officeDocument/2006/relationships/notesMaster" Target="/ppt/notesMasters/notesMaster1.xml" Id="Rc88217a6569142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0b9c59a40d4228" /><Relationship Type="http://schemas.openxmlformats.org/officeDocument/2006/relationships/notesMaster" Target="/ppt/notesMasters/notesMaster1.xml" Id="R4139fd069f3546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a78aa929a54290" /><Relationship Type="http://schemas.openxmlformats.org/officeDocument/2006/relationships/notesMaster" Target="/ppt/notesMasters/notesMaster1.xml" Id="Rf646eda13d714d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ac40f4d5914c91" /><Relationship Type="http://schemas.openxmlformats.org/officeDocument/2006/relationships/notesMaster" Target="/ppt/notesMasters/notesMaster1.xml" Id="R36388eb249d64a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71e34a4828479e" /><Relationship Type="http://schemas.openxmlformats.org/officeDocument/2006/relationships/notesMaster" Target="/ppt/notesMasters/notesMaster1.xml" Id="Rb289f29dc36a45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0b5d3f6c7c4865" /><Relationship Type="http://schemas.openxmlformats.org/officeDocument/2006/relationships/notesMaster" Target="/ppt/notesMasters/notesMaster1.xml" Id="R6cb9d294428d4c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c3b91873194687" /><Relationship Type="http://schemas.openxmlformats.org/officeDocument/2006/relationships/notesMaster" Target="/ppt/notesMasters/notesMaster1.xml" Id="R0693023780d14a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b37098d32c407c" /><Relationship Type="http://schemas.openxmlformats.org/officeDocument/2006/relationships/notesMaster" Target="/ppt/notesMasters/notesMaster1.xml" Id="R4774be9f229346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14277255d34ded" /><Relationship Type="http://schemas.openxmlformats.org/officeDocument/2006/relationships/notesMaster" Target="/ppt/notesMasters/notesMaster1.xml" Id="Rb0667e56729340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20468e49ed4446" /><Relationship Type="http://schemas.openxmlformats.org/officeDocument/2006/relationships/notesMaster" Target="/ppt/notesMasters/notesMaster1.xml" Id="R37d8671bab1941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15bde6d4cf4288" /><Relationship Type="http://schemas.openxmlformats.org/officeDocument/2006/relationships/notesMaster" Target="/ppt/notesMasters/notesMaster1.xml" Id="R1eebecfc9b2348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27fb54c82f4396" /><Relationship Type="http://schemas.openxmlformats.org/officeDocument/2006/relationships/notesMaster" Target="/ppt/notesMasters/notesMaster1.xml" Id="R05eb652c3afa44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1aff2ae75e4d94" /><Relationship Type="http://schemas.openxmlformats.org/officeDocument/2006/relationships/notesMaster" Target="/ppt/notesMasters/notesMaster1.xml" Id="Rd825387c2bf24d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2a241704a54906" /><Relationship Type="http://schemas.openxmlformats.org/officeDocument/2006/relationships/notesMaster" Target="/ppt/notesMasters/notesMaster1.xml" Id="Re999e62a34ce43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b660c5863749ce" /><Relationship Type="http://schemas.openxmlformats.org/officeDocument/2006/relationships/notesMaster" Target="/ppt/notesMasters/notesMaster1.xml" Id="R308de8604715481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376c92a12334d4d" /><Relationship Type="http://schemas.openxmlformats.org/officeDocument/2006/relationships/notesMaster" Target="/ppt/notesMasters/notesMaster1.xml" Id="Rf98dbbdfd8864c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4f386a5af444afb" /><Relationship Type="http://schemas.openxmlformats.org/officeDocument/2006/relationships/notesMaster" Target="/ppt/notesMasters/notesMaster1.xml" Id="R9a7ac22eb3a3471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5e97d13ef34812" /><Relationship Type="http://schemas.openxmlformats.org/officeDocument/2006/relationships/notesMaster" Target="/ppt/notesMasters/notesMaster1.xml" Id="R5c0836b05a8c4f7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297da7e839f4585" /><Relationship Type="http://schemas.openxmlformats.org/officeDocument/2006/relationships/notesMaster" Target="/ppt/notesMasters/notesMaster1.xml" Id="Ra8f84bd86f5b4b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e49547d58f47be" /><Relationship Type="http://schemas.openxmlformats.org/officeDocument/2006/relationships/notesMaster" Target="/ppt/notesMasters/notesMaster1.xml" Id="R9bbe9b82e39e4cc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ae344d890724727" /><Relationship Type="http://schemas.openxmlformats.org/officeDocument/2006/relationships/notesMaster" Target="/ppt/notesMasters/notesMaster1.xml" Id="Rc7cfbe5aa0ee4b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b11530563de4307" /><Relationship Type="http://schemas.openxmlformats.org/officeDocument/2006/relationships/notesMaster" Target="/ppt/notesMasters/notesMaster1.xml" Id="Rfbfc2f4942b14f0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ea8d8adb34f409b" /><Relationship Type="http://schemas.openxmlformats.org/officeDocument/2006/relationships/notesMaster" Target="/ppt/notesMasters/notesMaster1.xml" Id="R692434d6b9c748e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eb886f34ce4b07" /><Relationship Type="http://schemas.openxmlformats.org/officeDocument/2006/relationships/notesMaster" Target="/ppt/notesMasters/notesMaster1.xml" Id="R7ae2c7db89bd4e4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09b308749d540ef" /><Relationship Type="http://schemas.openxmlformats.org/officeDocument/2006/relationships/notesMaster" Target="/ppt/notesMasters/notesMaster1.xml" Id="Rf7e304ee118543c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427cd9585504a65" /><Relationship Type="http://schemas.openxmlformats.org/officeDocument/2006/relationships/notesMaster" Target="/ppt/notesMasters/notesMaster1.xml" Id="R175e8a9de5f3446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213e8bfbf9f4b97" /><Relationship Type="http://schemas.openxmlformats.org/officeDocument/2006/relationships/notesMaster" Target="/ppt/notesMasters/notesMaster1.xml" Id="Rfcf7627644854fa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5d39b2ea03540e9" /><Relationship Type="http://schemas.openxmlformats.org/officeDocument/2006/relationships/notesMaster" Target="/ppt/notesMasters/notesMaster1.xml" Id="R58f405fa2efb4eb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9e2924d911f4e28" /><Relationship Type="http://schemas.openxmlformats.org/officeDocument/2006/relationships/notesMaster" Target="/ppt/notesMasters/notesMaster1.xml" Id="R2c995abf756b43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Welcome participants and introduce the training series. Explain that Module 1 builds a shared conceptual foundation before the hands-on platform and coding sessions. Sources: CAVA Training Series Concept Note and Module 1 run sheet supplied by the user; CAVA Platform homepage/interface, accessed 21 September 2026, https://cavaplatform.fao.org/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Position Module 1 within the full series. The concept note lists Modules 1 and 2 as online, with Modules 3 and 4 in hybrid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Explain the division of roles. Hideki covers the climate science behind the datasets. Riccardo then shows how users currently access and prepare the data. Riccardo and Ezequiel introduce what CAVA changes and how the system supports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Ask participants what information they would need before showing the three application contexts. Keep the discussion focused on the decision rather than the 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Establish the five-step chain, then hand over to Hideki for the climate evidence. Delay the CAVA solution until participants have seen the operational access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Hideki. The section begins with the purpose of different climate information, then separates forecasts from projections. It uses uncertainty as the organizing framework: scenario, model response and internal variability, followed by downscaling and bias adjustment. Timing: about 35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Begin with purpose, not file formats. Observations describe measured conditions, reanalysis provides a spatially complete estimate of the historical atmosphere, forecasts predict near-term evolution from an initialized state, and projections explore long-term climate under assumptions. Source: IPCC AR6 WGI Chapters 1, 4 and 10: https://www.ipcc.ch/report/ar6/wg1/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Forecasts depend strongly on the observed initial state. Climate projections are conditional on forcing scenarios and are interpreted through ensembles rather than as a single prediction. Source: IPCC AR6 WGI Chapter 4: https://www.ipcc.ch/report/ar6/wg1/chapter/chapter-4/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Explain that observations and reanalysis are essential reference datasets, but both contain uncertainty. Multiple observational records help evaluate regional climate and model performance. Source: IPCC AR6 WGI Chapter 10, Observations and Models as Sources of Regional Information: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Define uncertainty as a range with identifiable sources, not as ignorance. The relative contribution of each source varies with the region, variable, spatial scale and lead time. Source: IPCC AR6 WGI Chapter 10, Section 10.1.3.3: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Introduce the IPCC taxonomy: forcing or scenario uncertainty, structural or model uncertainty, and internal variability. Do not treat all ensemble spread as one thing. Source: IPCC AR6 WGI Chapter 10, Sections 10.1.3.3 and 10.3.4: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Different initial-condition members share the same model and forcing but follow different sequences because the climate system is chaotic. This variability is intrinsic and cannot be corrected away. Large initial-condition ensembles help separate the forced response from the range of possible regional outcomes. Source: IPCC AR6 WGI Chapter 10, Section 10.3.4.3: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Explain that GCMs differ in their representation of processes and climate response. RCMs add regional detail but also introduce another model choice and may respond differently to the same driving GCM. Ensemble spread samples these choices but does not capture every plausible outcome. Source: IPCC AR6 WGI Chapter 10, Sections 10.3.3 and 10.3.4: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Bias adjustment can reduce selected historical mismatches and may be necessary for threshold-sensitive impact models. It does not repair circulation errors or eliminate scenario, structural or internal variability. Observational uncertainty and the calibration period also affect the adjustment. Source: IPCC AR6 WGI Chapter 10, Cross-Chapter Box 10.2: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as the synthesis and transition. Internal variability is retained and sampled. Scenarios are explored. Model and GCM–RCM differences are compared through ensembles. Diagnosed bias may be adjusted carefully, while sensitivity to the reference dataset should be tested. IPCC AR6 stresses that ensemble spread is not the full uncertainty range and that bias adjustment introduces additional assumptions. Source: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back to Riccardo. Hideki has separated the scientific sources of projection spread and clarified what can be represented, compared or adjusted. Riccardo now focuses on the practical work required to find, retrieve and prepare the corresponding datasets. Timing: about 15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Climate information is distributed across web catalogues, model archives and technical services. Copernicus CDS supports interactive and API access. ESGF distributes model data. CORDEX provides regional climate information and access guidance. Sources: https://cds.climate.copernicus.eu/user-guide ; https://esgf.llnl.gov/ ; https://cordex.org/data-access/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Walk through the steps using one concrete request, such as daily maximum temperature for a project area under two scenarios. Emphasize that most effort occurs before calculating the final indicator.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Summarize the recurring operational burden without criticizing the source archives. The difficulty comes from combining several legitimate scientific and technical choices into a comparable, documented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Reveal CAVA only after establishing the current workflow. CAVA combines a web platform with R and Python tools and provides access to harmonized historical and future climate data, indicators and analytical workflows. Source: https://www.fao.org/agroinformatics/news/news-detail/fao-digital-solutions-now-available-as-open-source--cava-and-ex-act/en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Ezequiel. Riccardo has established the user problem and CAVA's role. Ezequiel now explains the shared data backbone and the interfaces that operationalize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Public cavapy documentation states that it retrieves, subsets and processes CORDEX-CORE and ERA5 through THREDDS/OPeNDAP and returns analysis-ready xarray objects. Source: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Keep the explanation conceptual and avoid unnecessary infrastructure detail. The diagram reflects public descriptions of the Platform, CAVAanalytics and cavapy, but the operational architecture should be validated by the technical team. Sources: https://www.fao.org/agroinformatics/news/news-detail/fao-digital-solutions-now-available-as-open-source--cava-and-ex-act/en and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Work through the example with Riccardo and Ezequiel. Ask participants to identify where judgement enters the workflow. The 35°C threshold is illustrative and must be tailored to the context. No quantitative result is claimed on this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checklist to prepare participants for Module 2, where they will interpret maps and comparisons in the CAVA Platform.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Invite one participant to restate each point in their own words. Keep the recap short so there is time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Take questions and collect issues to revisit in Module 2. Close by confirming the next session: 29 September 2026, 10:00–11:30, online.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28cff29f824e54"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27adea57044aa5" /><Relationship Type="http://schemas.openxmlformats.org/officeDocument/2006/relationships/slideLayout" Target="/ppt/slideLayouts/slideLayout1.xml" Id="Rf611b3c42f374483"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611b3c42f37448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706a27ff1743ce" /><Relationship Type="http://schemas.openxmlformats.org/officeDocument/2006/relationships/image" Target="/ppt/media/image.png" Id="R604ecc8dee08474b" /><Relationship Type="http://schemas.openxmlformats.org/officeDocument/2006/relationships/notesSlide" Target="/ppt/notesSlides/notesSlide1.xml" Id="R7c81660d7bba45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5af97670724952" /><Relationship Type="http://schemas.openxmlformats.org/officeDocument/2006/relationships/notesSlide" Target="/ppt/notesSlides/notesSlide2.xml" Id="R8f419b7bc97244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abef5e9db04ad2" /><Relationship Type="http://schemas.openxmlformats.org/officeDocument/2006/relationships/notesSlide" Target="/ppt/notesSlides/notesSlide3.xml" Id="Rbce526a4564347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1ed133e44c4de6" /><Relationship Type="http://schemas.openxmlformats.org/officeDocument/2006/relationships/notesSlide" Target="/ppt/notesSlides/notesSlide4.xml" Id="Rab79e2336ef44f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6e4057de7c42d0" /><Relationship Type="http://schemas.openxmlformats.org/officeDocument/2006/relationships/notesSlide" Target="/ppt/notesSlides/notesSlide5.xml" Id="Rb63bb140f23e42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b8d4d78d2f4057" /><Relationship Type="http://schemas.openxmlformats.org/officeDocument/2006/relationships/notesSlide" Target="/ppt/notesSlides/notesSlide6.xml" Id="Racea8aeaaa0443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110b8b91ae42ee" /><Relationship Type="http://schemas.openxmlformats.org/officeDocument/2006/relationships/notesSlide" Target="/ppt/notesSlides/notesSlide7.xml" Id="R56a998009d6440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da11cb5d8f4241" /><Relationship Type="http://schemas.openxmlformats.org/officeDocument/2006/relationships/notesSlide" Target="/ppt/notesSlides/notesSlide8.xml" Id="R81954c7759ad4d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d080cceee24950" /><Relationship Type="http://schemas.openxmlformats.org/officeDocument/2006/relationships/notesSlide" Target="/ppt/notesSlides/notesSlide9.xml" Id="R36e032afdaec42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846d75f518542ca" /><Relationship Type="http://schemas.openxmlformats.org/officeDocument/2006/relationships/notesSlide" Target="/ppt/notesSlides/notesSlide10.xml" Id="R5b672389951b44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a210cfd3b147c5" /><Relationship Type="http://schemas.openxmlformats.org/officeDocument/2006/relationships/notesSlide" Target="/ppt/notesSlides/notesSlide11.xml" Id="R1b58bccdac004b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b28ac612fa4023" /><Relationship Type="http://schemas.openxmlformats.org/officeDocument/2006/relationships/notesSlide" Target="/ppt/notesSlides/notesSlide12.xml" Id="R852740b1e2cc48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ed5aaaec28640e9" /><Relationship Type="http://schemas.openxmlformats.org/officeDocument/2006/relationships/notesSlide" Target="/ppt/notesSlides/notesSlide13.xml" Id="R63288bf4bf0647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a0966a7b1c64a15" /><Relationship Type="http://schemas.openxmlformats.org/officeDocument/2006/relationships/notesSlide" Target="/ppt/notesSlides/notesSlide14.xml" Id="R42e851a62e9443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7da2efab30b4776" /><Relationship Type="http://schemas.openxmlformats.org/officeDocument/2006/relationships/notesSlide" Target="/ppt/notesSlides/notesSlide15.xml" Id="Rdb067cc8cef2492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0549679d3e5428a" /><Relationship Type="http://schemas.openxmlformats.org/officeDocument/2006/relationships/notesSlide" Target="/ppt/notesSlides/notesSlide16.xml" Id="R1a84c58e331943c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7db3b1a212843d9" /><Relationship Type="http://schemas.openxmlformats.org/officeDocument/2006/relationships/notesSlide" Target="/ppt/notesSlides/notesSlide17.xml" Id="Rae10bf1dabff4d1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d21f80439d54cd1" /><Relationship Type="http://schemas.openxmlformats.org/officeDocument/2006/relationships/notesSlide" Target="/ppt/notesSlides/notesSlide18.xml" Id="Rd1c53f11f8a9458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fe9f5a2088f45a2" /><Relationship Type="http://schemas.openxmlformats.org/officeDocument/2006/relationships/notesSlide" Target="/ppt/notesSlides/notesSlide19.xml" Id="R9dc7e2084dd44e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3902754cfa1448b" /><Relationship Type="http://schemas.openxmlformats.org/officeDocument/2006/relationships/notesSlide" Target="/ppt/notesSlides/notesSlide20.xml" Id="Rb8ea7d3b5bbe4f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3bfe1d106d14d51" /><Relationship Type="http://schemas.openxmlformats.org/officeDocument/2006/relationships/notesSlide" Target="/ppt/notesSlides/notesSlide21.xml" Id="Rae36b453a8d443a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85c9c23584a4a68" /><Relationship Type="http://schemas.openxmlformats.org/officeDocument/2006/relationships/notesSlide" Target="/ppt/notesSlides/notesSlide22.xml" Id="Rb42ca2c5f4374de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bcb8cf7a38a4751" /><Relationship Type="http://schemas.openxmlformats.org/officeDocument/2006/relationships/notesSlide" Target="/ppt/notesSlides/notesSlide23.xml" Id="Ra7662b3d2ae34de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92f17fdd864413c" /><Relationship Type="http://schemas.openxmlformats.org/officeDocument/2006/relationships/image" Target="/ppt/media/image.png" Id="R37a3e7d5987243d5" /><Relationship Type="http://schemas.openxmlformats.org/officeDocument/2006/relationships/notesSlide" Target="/ppt/notesSlides/notesSlide24.xml" Id="R556bab4a8c2e467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a968c5904c84960" /><Relationship Type="http://schemas.openxmlformats.org/officeDocument/2006/relationships/image" Target="/ppt/media/image2.png" Id="R3cb22f444f1b4830" /><Relationship Type="http://schemas.openxmlformats.org/officeDocument/2006/relationships/notesSlide" Target="/ppt/notesSlides/notesSlide25.xml" Id="Ra00215e0e02a4f0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367e61222e04710" /><Relationship Type="http://schemas.openxmlformats.org/officeDocument/2006/relationships/notesSlide" Target="/ppt/notesSlides/notesSlide26.xml" Id="Raddef447b5244d5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f8df5a5b8ed442b" /><Relationship Type="http://schemas.openxmlformats.org/officeDocument/2006/relationships/notesSlide" Target="/ppt/notesSlides/notesSlide27.xml" Id="R07a602d53bd544f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e8af71e284b463e" /><Relationship Type="http://schemas.openxmlformats.org/officeDocument/2006/relationships/notesSlide" Target="/ppt/notesSlides/notesSlide28.xml" Id="R207f875e30c544d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c4a20d305d24bbd" /><Relationship Type="http://schemas.openxmlformats.org/officeDocument/2006/relationships/notesSlide" Target="/ppt/notesSlides/notesSlide29.xml" Id="Raf0c4962bcee478e"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604ecc8dee08474b">
            <a:alphaModFix/>
          </a:blip>
          <a:srcRect xmlns:a="http://schemas.openxmlformats.org/drawingml/2006/main" l="0" t="11293" r="0" b="11293"/>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22F0D7F9-B165-406E-BDCC-86E12DC5FD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gs>
              <a:gs pos="28000">
                <a:srgbClr val="12304E">
                  <a:alpha val="98039"/>
                </a:srgbClr>
              </a:gs>
              <a:gs pos="48000">
                <a:srgbClr val="12304E">
                  <a:alpha val="83922"/>
                </a:srgbClr>
              </a:gs>
              <a:gs pos="70000">
                <a:srgbClr val="12304E">
                  <a:alpha val="36078"/>
                </a:srgbClr>
              </a:gs>
              <a:gs pos="100000">
                <a:srgbClr val="12304E">
                  <a:alpha val="10196"/>
                </a:srgbClr>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4802FA02-4B8D-4BCF-8132-24A940CD2F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0"/>
                </a:srgbClr>
              </a:gs>
              <a:gs pos="52000">
                <a:srgbClr val="12304E">
                  <a:alpha val="0"/>
                </a:srgbClr>
              </a:gs>
              <a:gs pos="75000">
                <a:srgbClr val="12304E">
                  <a:alpha val="18039"/>
                </a:srgbClr>
              </a:gs>
              <a:gs pos="100000">
                <a:srgbClr val="12304E">
                  <a:alpha val="72157"/>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07300405-086A-4293-AC31-DC8B4C42B23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5174E616-08C7-447C-9D22-5BEFAA033360}"/>
              </a:ext>
            </a:extLst>
          </p:cNvPr>
          <p:cNvSpPr>
            <a:spLocks xmlns:a="http://schemas.openxmlformats.org/drawingml/2006/main" noGrp="1"/>
          </p:cNvSpPr>
          <p:nvPr/>
        </p:nvSpPr>
        <p:spPr>
          <a:xfrm xmlns:a="http://schemas.openxmlformats.org/drawingml/2006/main">
            <a:off x="704850" y="6096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F2A46D73-F8E5-4913-8CE1-C47BCFF3BAE5}"/>
              </a:ext>
            </a:extLst>
          </p:cNvPr>
          <p:cNvSpPr>
            <a:spLocks xmlns:a="http://schemas.openxmlformats.org/drawingml/2006/main" noGrp="1"/>
          </p:cNvSpPr>
          <p:nvPr/>
        </p:nvSpPr>
        <p:spPr>
          <a:xfrm xmlns:a="http://schemas.openxmlformats.org/drawingml/2006/main">
            <a:off x="704850" y="1000125"/>
            <a:ext cx="4095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78D8C8"/>
              </a:buClr>
              <a:buSzPts val="1050"/>
              <a:buFont typeface="Lato"/>
              <a:buNone/>
            </a:pPr>
            <a:r>
              <a:rPr sz="1050" b="1" i="0">
                <a:solidFill>
                  <a:srgbClr val="78D8C8"/>
                </a:solidFill>
                <a:latin typeface="Lato"/>
                <a:ea typeface="Lato"/>
                <a:cs typeface="Lato"/>
              </a:rPr>
              <a:t>CAVA TRAINING SERIES</a:t>
            </a:r>
            <a:endParaRPr/>
          </a:p>
        </p:txBody>
      </p:sp>
      <p:sp>
        <p:nvSpPr>
          <p:cNvPr id="22" name="Google Shape;22;p3">
            <a:extLst xmlns:a="http://schemas.openxmlformats.org/drawingml/2006/main">
              <a:ext uri="{FF2B5EF4-FFF2-40B4-BE49-F238E27FC236}">
                <a16:creationId xmlns:a16="http://schemas.microsoft.com/office/drawing/2014/main" id="{54F91F73-7E91-4A94-ACAD-A11A2CF25465}"/>
              </a:ext>
            </a:extLst>
          </p:cNvPr>
          <p:cNvSpPr>
            <a:spLocks xmlns:a="http://schemas.openxmlformats.org/drawingml/2006/main" noGrp="1"/>
          </p:cNvSpPr>
          <p:nvPr/>
        </p:nvSpPr>
        <p:spPr>
          <a:xfrm xmlns:a="http://schemas.openxmlformats.org/drawingml/2006/main">
            <a:off x="704850" y="1743075"/>
            <a:ext cx="5238750" cy="2238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4000"/>
              </a:lnSpc>
              <a:spcBef>
                <a:spcPts val="0"/>
              </a:spcBef>
              <a:spcAft>
                <a:spcPts val="0"/>
              </a:spcAft>
              <a:buClr>
                <a:srgbClr val="FFFFFF"/>
              </a:buClr>
              <a:buSzPts val="3450"/>
              <a:buFont typeface="Lato"/>
              <a:buNone/>
            </a:pPr>
            <a:r>
              <a:rPr sz="3450" b="1" i="0">
                <a:solidFill>
                  <a:srgbClr val="FFFFFF"/>
                </a:solidFill>
                <a:latin typeface="Lato"/>
                <a:ea typeface="Lato"/>
                <a:cs typeface="Lato"/>
              </a:rPr>
              <a:t>Understanding climate information and the CAVA ecosystem</a:t>
            </a:r>
            <a:endParaRPr/>
          </a:p>
        </p:txBody>
      </p:sp>
      <p:sp>
        <p:nvSpPr>
          <p:cNvPr id="23" name="Google Shape;23;p3">
            <a:extLst xmlns:a="http://schemas.openxmlformats.org/drawingml/2006/main">
              <a:ext uri="{FF2B5EF4-FFF2-40B4-BE49-F238E27FC236}">
                <a16:creationId xmlns:a16="http://schemas.microsoft.com/office/drawing/2014/main" id="{109DC502-CF1F-4786-91BF-98ACA197A297}"/>
              </a:ext>
            </a:extLst>
          </p:cNvPr>
          <p:cNvSpPr>
            <a:spLocks xmlns:a="http://schemas.openxmlformats.org/drawingml/2006/main" noGrp="1"/>
          </p:cNvSpPr>
          <p:nvPr/>
        </p:nvSpPr>
        <p:spPr>
          <a:xfrm xmlns:a="http://schemas.openxmlformats.org/drawingml/2006/main">
            <a:off x="714375" y="4457700"/>
            <a:ext cx="171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MODULE 1</a:t>
            </a:r>
            <a:endParaRPr/>
          </a:p>
        </p:txBody>
      </p:sp>
      <p:sp>
        <p:nvSpPr>
          <p:cNvPr id="24" name="Google Shape;24;p3">
            <a:extLst xmlns:a="http://schemas.openxmlformats.org/drawingml/2006/main">
              <a:ext uri="{FF2B5EF4-FFF2-40B4-BE49-F238E27FC236}">
                <a16:creationId xmlns:a16="http://schemas.microsoft.com/office/drawing/2014/main" id="{146409F9-9E8D-4447-A66F-EE7BFA1877CE}"/>
              </a:ext>
            </a:extLst>
          </p:cNvPr>
          <p:cNvSpPr>
            <a:spLocks xmlns:a="http://schemas.openxmlformats.org/drawingml/2006/main" noGrp="1"/>
          </p:cNvSpPr>
          <p:nvPr/>
        </p:nvSpPr>
        <p:spPr>
          <a:xfrm xmlns:a="http://schemas.openxmlformats.org/drawingml/2006/main">
            <a:off x="714375" y="495300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28 September 2026</a:t>
            </a:r>
            <a:endParaRPr/>
          </a:p>
        </p:txBody>
      </p:sp>
      <p:sp>
        <p:nvSpPr>
          <p:cNvPr id="25" name="Google Shape;25;p3">
            <a:extLst xmlns:a="http://schemas.openxmlformats.org/drawingml/2006/main">
              <a:ext uri="{FF2B5EF4-FFF2-40B4-BE49-F238E27FC236}">
                <a16:creationId xmlns:a16="http://schemas.microsoft.com/office/drawing/2014/main" id="{05CCAC2A-296B-4DCE-A7C8-843A227F0941}"/>
              </a:ext>
            </a:extLst>
          </p:cNvPr>
          <p:cNvSpPr>
            <a:spLocks xmlns:a="http://schemas.openxmlformats.org/drawingml/2006/main" noGrp="1"/>
          </p:cNvSpPr>
          <p:nvPr/>
        </p:nvSpPr>
        <p:spPr>
          <a:xfrm xmlns:a="http://schemas.openxmlformats.org/drawingml/2006/main">
            <a:off x="714375" y="5257800"/>
            <a:ext cx="247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1050"/>
              <a:buFont typeface="Lato"/>
              <a:buNone/>
            </a:pPr>
            <a:r>
              <a:rPr sz="1050" b="0" i="0">
                <a:solidFill>
                  <a:srgbClr val="D7E5EC"/>
                </a:solidFill>
                <a:latin typeface="Lato"/>
                <a:ea typeface="Lato"/>
                <a:cs typeface="Lato"/>
              </a:rPr>
              <a:t>10:00–11:30  ·  Online</a:t>
            </a:r>
            <a:endParaRPr/>
          </a:p>
        </p:txBody>
      </p:sp>
      <p:sp>
        <p:nvSpPr>
          <p:cNvPr id="26" name="Google Shape;26;p3">
            <a:extLst xmlns:a="http://schemas.openxmlformats.org/drawingml/2006/main">
              <a:ext uri="{FF2B5EF4-FFF2-40B4-BE49-F238E27FC236}">
                <a16:creationId xmlns:a16="http://schemas.microsoft.com/office/drawing/2014/main" id="{C7C056F3-F5BC-48A2-B739-1FC21CFED7CE}"/>
              </a:ext>
            </a:extLst>
          </p:cNvPr>
          <p:cNvSpPr>
            <a:spLocks xmlns:a="http://schemas.openxmlformats.org/drawingml/2006/main" noGrp="1"/>
          </p:cNvSpPr>
          <p:nvPr/>
        </p:nvSpPr>
        <p:spPr>
          <a:xfrm xmlns:a="http://schemas.openxmlformats.org/drawingml/2006/main">
            <a:off x="714375" y="6019800"/>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D60B4853-1A2F-4C65-867E-0104A8B11614}"/>
              </a:ext>
            </a:extLst>
          </p:cNvPr>
          <p:cNvSpPr>
            <a:spLocks xmlns:a="http://schemas.openxmlformats.org/drawingml/2006/main" noGrp="1"/>
          </p:cNvSpPr>
          <p:nvPr/>
        </p:nvSpPr>
        <p:spPr>
          <a:xfrm xmlns:a="http://schemas.openxmlformats.org/drawingml/2006/main">
            <a:off x="714375" y="6172200"/>
            <a:ext cx="4381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900"/>
              <a:buFont typeface="Lato"/>
              <a:buNone/>
            </a:pPr>
            <a:r>
              <a:rPr sz="900" b="0" i="0">
                <a:solidFill>
                  <a:srgbClr val="D7E5EC"/>
                </a:solidFill>
                <a:latin typeface="Lato"/>
                <a:ea typeface="Lato"/>
                <a:cs typeface="Lato"/>
              </a:rPr>
              <a:t>From climate information to climate impact analysis</a:t>
            </a:r>
            <a:endParaRPr/>
          </a:p>
        </p:txBody>
      </p:sp>
      <p:sp>
        <p:nvSpPr>
          <p:cNvPr id="28" name="Google Shape;28;p3">
            <a:extLst xmlns:a="http://schemas.openxmlformats.org/drawingml/2006/main">
              <a:ext uri="{FF2B5EF4-FFF2-40B4-BE49-F238E27FC236}">
                <a16:creationId xmlns:a16="http://schemas.microsoft.com/office/drawing/2014/main" id="{2B4D00C2-7B08-46F5-99D6-9D5D08788E32}"/>
              </a:ext>
            </a:extLst>
          </p:cNvPr>
          <p:cNvSpPr>
            <a:spLocks xmlns:a="http://schemas.openxmlformats.org/drawingml/2006/main" noGrp="1"/>
          </p:cNvSpPr>
          <p:nvPr/>
        </p:nvSpPr>
        <p:spPr>
          <a:xfrm xmlns:a="http://schemas.openxmlformats.org/drawingml/2006/main">
            <a:off x="9525000" y="647700"/>
            <a:ext cx="1952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FFFFFF"/>
              </a:buClr>
              <a:buSzPts val="4642"/>
              <a:buFont typeface="Lato"/>
              <a:buNone/>
            </a:pPr>
            <a:r>
              <a:rPr sz="4643" b="1" i="0">
                <a:solidFill>
                  <a:srgbClr val="FFFFFF"/>
                </a:solidFill>
                <a:latin typeface="Lato"/>
                <a:ea typeface="Lato"/>
                <a:cs typeface="Lato"/>
              </a:rPr>
              <a:t>CAVA</a:t>
            </a:r>
            <a:endParaRPr/>
          </a:p>
        </p:txBody>
      </p:sp>
      <p:sp>
        <p:nvSpPr>
          <p:cNvPr id="29" name="Google Shape;29;p3">
            <a:extLst xmlns:a="http://schemas.openxmlformats.org/drawingml/2006/main">
              <a:ext uri="{FF2B5EF4-FFF2-40B4-BE49-F238E27FC236}">
                <a16:creationId xmlns:a16="http://schemas.microsoft.com/office/drawing/2014/main" id="{A99F062A-8083-42B5-8D0F-C22EA0E6713D}"/>
              </a:ext>
            </a:extLst>
          </p:cNvPr>
          <p:cNvSpPr>
            <a:spLocks xmlns:a="http://schemas.openxmlformats.org/drawingml/2006/main" noGrp="1"/>
          </p:cNvSpPr>
          <p:nvPr/>
        </p:nvSpPr>
        <p:spPr>
          <a:xfrm xmlns:a="http://schemas.openxmlformats.org/drawingml/2006/main">
            <a:off x="8362950" y="1419225"/>
            <a:ext cx="311467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CLIMATE AND AGRICULTURE RISK</a:t>
            </a:r>
            <a:endParaRPr/>
          </a:p>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VISUALIZATION AND ASSESSMENT</a:t>
            </a:r>
            <a:endParaRPr/>
          </a:p>
        </p:txBody>
      </p:sp>
    </p:spTree>
    <p:extLst>
      <p:ext uri="{BB962C8B-B14F-4D97-AF65-F5344CB8AC3E}">
        <p14:creationId xmlns:p14="http://schemas.microsoft.com/office/powerpoint/2010/main" val="1687658844"/>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90EA182D-05E4-48E2-A35A-14D631D9800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Training series agenda</a:t>
            </a:r>
            <a:endParaRPr/>
          </a:p>
        </p:txBody>
      </p:sp>
      <p:sp>
        <p:nvSpPr>
          <p:cNvPr id="36" name="Google Shape;36;p4">
            <a:extLst xmlns:a="http://schemas.openxmlformats.org/drawingml/2006/main">
              <a:ext uri="{FF2B5EF4-FFF2-40B4-BE49-F238E27FC236}">
                <a16:creationId xmlns:a16="http://schemas.microsoft.com/office/drawing/2014/main" id="{700AAA9A-C098-41C4-86A4-6BB99B3A81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modules move from concepts to practical access, technical workflows and impact modelling</a:t>
            </a:r>
            <a:endParaRPr/>
          </a:p>
        </p:txBody>
      </p:sp>
      <p:sp>
        <p:nvSpPr>
          <p:cNvPr id="37" name="Google Shape;37;p4">
            <a:extLst xmlns:a="http://schemas.openxmlformats.org/drawingml/2006/main">
              <a:ext uri="{FF2B5EF4-FFF2-40B4-BE49-F238E27FC236}">
                <a16:creationId xmlns:a16="http://schemas.microsoft.com/office/drawing/2014/main" id="{FE7A4B0B-1227-43AD-AB88-04ED1A79959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 name="Google Shape;38;p4">
            <a:extLst xmlns:a="http://schemas.openxmlformats.org/drawingml/2006/main">
              <a:ext uri="{FF2B5EF4-FFF2-40B4-BE49-F238E27FC236}">
                <a16:creationId xmlns:a16="http://schemas.microsoft.com/office/drawing/2014/main" id="{B8B5944B-2737-4752-BA68-7A86D9E0A46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 name="Google Shape;39;p4">
            <a:extLst xmlns:a="http://schemas.openxmlformats.org/drawingml/2006/main">
              <a:ext uri="{FF2B5EF4-FFF2-40B4-BE49-F238E27FC236}">
                <a16:creationId xmlns:a16="http://schemas.microsoft.com/office/drawing/2014/main" id="{94BCB3D7-42A2-4897-B33F-167B68F5874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9E6A3748-E58E-4ACC-8BBB-0BB37F421F6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1" name="Google Shape;41;p4">
            <a:extLst xmlns:a="http://schemas.openxmlformats.org/drawingml/2006/main">
              <a:ext uri="{FF2B5EF4-FFF2-40B4-BE49-F238E27FC236}">
                <a16:creationId xmlns:a16="http://schemas.microsoft.com/office/drawing/2014/main" id="{3AAB5192-D1FE-44ED-8114-BBC41C44940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02</a:t>
            </a:r>
            <a:endParaRPr/>
          </a:p>
        </p:txBody>
      </p:sp>
      <p:sp>
        <p:nvSpPr>
          <p:cNvPr id="42" name="Google Shape;42;p4">
            <a:extLst xmlns:a="http://schemas.openxmlformats.org/drawingml/2006/main">
              <a:ext uri="{FF2B5EF4-FFF2-40B4-BE49-F238E27FC236}">
                <a16:creationId xmlns:a16="http://schemas.microsoft.com/office/drawing/2014/main" id="{DF1D3F62-9C09-41C6-B17F-78ACB9AFF91C}"/>
              </a:ext>
            </a:extLst>
          </p:cNvPr>
          <p:cNvSpPr>
            <a:spLocks xmlns:a="http://schemas.openxmlformats.org/drawingml/2006/main" noGrp="1"/>
          </p:cNvSpPr>
          <p:nvPr/>
        </p:nvSpPr>
        <p:spPr>
          <a:xfrm xmlns:a="http://schemas.openxmlformats.org/drawingml/2006/main">
            <a:off x="723900" y="1876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650"/>
              <a:buFont typeface="Lato"/>
              <a:buNone/>
            </a:pPr>
            <a:r>
              <a:rPr sz="1650" b="1" i="0">
                <a:solidFill>
                  <a:srgbClr val="00A88F"/>
                </a:solidFill>
                <a:latin typeface="Lato"/>
                <a:ea typeface="Lato"/>
                <a:cs typeface="Lato"/>
              </a:rPr>
              <a:t>01</a:t>
            </a:r>
            <a:endParaRPr/>
          </a:p>
        </p:txBody>
      </p:sp>
      <p:sp>
        <p:nvSpPr>
          <p:cNvPr id="43" name="Google Shape;43;p4">
            <a:extLst xmlns:a="http://schemas.openxmlformats.org/drawingml/2006/main">
              <a:ext uri="{FF2B5EF4-FFF2-40B4-BE49-F238E27FC236}">
                <a16:creationId xmlns:a16="http://schemas.microsoft.com/office/drawing/2014/main" id="{542767EB-3899-459F-9C27-98C33A90121C}"/>
              </a:ext>
            </a:extLst>
          </p:cNvPr>
          <p:cNvSpPr>
            <a:spLocks xmlns:a="http://schemas.openxmlformats.org/drawingml/2006/main" noGrp="1"/>
          </p:cNvSpPr>
          <p:nvPr/>
        </p:nvSpPr>
        <p:spPr>
          <a:xfrm xmlns:a="http://schemas.openxmlformats.org/drawingml/2006/main">
            <a:off x="1352550" y="1905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28 SEP</a:t>
            </a:r>
            <a:endParaRPr/>
          </a:p>
        </p:txBody>
      </p:sp>
      <p:sp>
        <p:nvSpPr>
          <p:cNvPr id="44" name="Google Shape;44;p4">
            <a:extLst xmlns:a="http://schemas.openxmlformats.org/drawingml/2006/main">
              <a:ext uri="{FF2B5EF4-FFF2-40B4-BE49-F238E27FC236}">
                <a16:creationId xmlns:a16="http://schemas.microsoft.com/office/drawing/2014/main" id="{78DCF9F8-4899-4783-8196-47537A11A9AD}"/>
              </a:ext>
            </a:extLst>
          </p:cNvPr>
          <p:cNvSpPr>
            <a:spLocks xmlns:a="http://schemas.openxmlformats.org/drawingml/2006/main" noGrp="1"/>
          </p:cNvSpPr>
          <p:nvPr/>
        </p:nvSpPr>
        <p:spPr>
          <a:xfrm xmlns:a="http://schemas.openxmlformats.org/drawingml/2006/main">
            <a:off x="2324100" y="1752600"/>
            <a:ext cx="38100" cy="685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F3010B66-B56A-451E-9887-130070967F0B}"/>
              </a:ext>
            </a:extLst>
          </p:cNvPr>
          <p:cNvSpPr>
            <a:spLocks xmlns:a="http://schemas.openxmlformats.org/drawingml/2006/main" noGrp="1"/>
          </p:cNvSpPr>
          <p:nvPr/>
        </p:nvSpPr>
        <p:spPr>
          <a:xfrm xmlns:a="http://schemas.openxmlformats.org/drawingml/2006/main">
            <a:off x="2590800" y="1790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Introduction to the CAVA ecosystem</a:t>
            </a:r>
            <a:endParaRPr/>
          </a:p>
        </p:txBody>
      </p:sp>
      <p:sp>
        <p:nvSpPr>
          <p:cNvPr id="46" name="Google Shape;46;p4">
            <a:extLst xmlns:a="http://schemas.openxmlformats.org/drawingml/2006/main">
              <a:ext uri="{FF2B5EF4-FFF2-40B4-BE49-F238E27FC236}">
                <a16:creationId xmlns:a16="http://schemas.microsoft.com/office/drawing/2014/main" id="{228EC0F1-A652-4C52-9D90-DF93F2AF26D8}"/>
              </a:ext>
            </a:extLst>
          </p:cNvPr>
          <p:cNvSpPr>
            <a:spLocks xmlns:a="http://schemas.openxmlformats.org/drawingml/2006/main" noGrp="1"/>
          </p:cNvSpPr>
          <p:nvPr/>
        </p:nvSpPr>
        <p:spPr>
          <a:xfrm xmlns:a="http://schemas.openxmlformats.org/drawingml/2006/main">
            <a:off x="2590800" y="2152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47" name="Google Shape;47;p4">
            <a:extLst xmlns:a="http://schemas.openxmlformats.org/drawingml/2006/main">
              <a:ext uri="{FF2B5EF4-FFF2-40B4-BE49-F238E27FC236}">
                <a16:creationId xmlns:a16="http://schemas.microsoft.com/office/drawing/2014/main" id="{67AED90C-5344-427D-8E91-155A785F37D4}"/>
              </a:ext>
            </a:extLst>
          </p:cNvPr>
          <p:cNvSpPr>
            <a:spLocks xmlns:a="http://schemas.openxmlformats.org/drawingml/2006/main" noGrp="1"/>
          </p:cNvSpPr>
          <p:nvPr/>
        </p:nvSpPr>
        <p:spPr>
          <a:xfrm xmlns:a="http://schemas.openxmlformats.org/drawingml/2006/main">
            <a:off x="9715500" y="1924050"/>
            <a:ext cx="1104900" cy="285750"/>
          </a:xfrm>
          <a:prstGeom xmlns:a="http://schemas.openxmlformats.org/drawingml/2006/main" prst="roundRect">
            <a:avLst>
              <a:gd name="adj" fmla="val 26667"/>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76200" tIns="28575" rIns="76200" bIns="2857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900"/>
              <a:buFont typeface="Lato"/>
              <a:buNone/>
            </a:pPr>
            <a:r>
              <a:rPr sz="900" b="1" i="0">
                <a:solidFill>
                  <a:srgbClr val="FFFFFF"/>
                </a:solidFill>
                <a:latin typeface="Lato"/>
                <a:ea typeface="Lato"/>
                <a:cs typeface="Lato"/>
              </a:rPr>
              <a:t>TODAY</a:t>
            </a:r>
            <a:endParaRPr/>
          </a:p>
        </p:txBody>
      </p:sp>
      <p:sp>
        <p:nvSpPr>
          <p:cNvPr id="48" name="Google Shape;48;p4">
            <a:extLst xmlns:a="http://schemas.openxmlformats.org/drawingml/2006/main">
              <a:ext uri="{FF2B5EF4-FFF2-40B4-BE49-F238E27FC236}">
                <a16:creationId xmlns:a16="http://schemas.microsoft.com/office/drawing/2014/main" id="{7E863623-6484-485F-B091-08B6DBC1F3B1}"/>
              </a:ext>
            </a:extLst>
          </p:cNvPr>
          <p:cNvSpPr>
            <a:spLocks xmlns:a="http://schemas.openxmlformats.org/drawingml/2006/main" noGrp="1"/>
          </p:cNvSpPr>
          <p:nvPr/>
        </p:nvSpPr>
        <p:spPr>
          <a:xfrm xmlns:a="http://schemas.openxmlformats.org/drawingml/2006/main">
            <a:off x="723900" y="2828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650"/>
              <a:buFont typeface="Lato"/>
              <a:buNone/>
            </a:pPr>
            <a:r>
              <a:rPr sz="1650" b="1" i="0">
                <a:solidFill>
                  <a:srgbClr val="183A59"/>
                </a:solidFill>
                <a:latin typeface="Lato"/>
                <a:ea typeface="Lato"/>
                <a:cs typeface="Lato"/>
              </a:rPr>
              <a:t>02</a:t>
            </a:r>
            <a:endParaRPr/>
          </a:p>
        </p:txBody>
      </p:sp>
      <p:sp>
        <p:nvSpPr>
          <p:cNvPr id="49" name="Google Shape;49;p4">
            <a:extLst xmlns:a="http://schemas.openxmlformats.org/drawingml/2006/main">
              <a:ext uri="{FF2B5EF4-FFF2-40B4-BE49-F238E27FC236}">
                <a16:creationId xmlns:a16="http://schemas.microsoft.com/office/drawing/2014/main" id="{14A7B096-F2F7-4B92-864B-0326BD8D7A9A}"/>
              </a:ext>
            </a:extLst>
          </p:cNvPr>
          <p:cNvSpPr>
            <a:spLocks xmlns:a="http://schemas.openxmlformats.org/drawingml/2006/main" noGrp="1"/>
          </p:cNvSpPr>
          <p:nvPr/>
        </p:nvSpPr>
        <p:spPr>
          <a:xfrm xmlns:a="http://schemas.openxmlformats.org/drawingml/2006/main">
            <a:off x="1352550" y="2857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29 SEP</a:t>
            </a:r>
            <a:endParaRPr/>
          </a:p>
        </p:txBody>
      </p:sp>
      <p:sp>
        <p:nvSpPr>
          <p:cNvPr id="50" name="Google Shape;50;p4">
            <a:extLst xmlns:a="http://schemas.openxmlformats.org/drawingml/2006/main">
              <a:ext uri="{FF2B5EF4-FFF2-40B4-BE49-F238E27FC236}">
                <a16:creationId xmlns:a16="http://schemas.microsoft.com/office/drawing/2014/main" id="{EE8C1AE0-7D0E-4CF2-ACD1-D1F3C8BDEC1B}"/>
              </a:ext>
            </a:extLst>
          </p:cNvPr>
          <p:cNvSpPr>
            <a:spLocks xmlns:a="http://schemas.openxmlformats.org/drawingml/2006/main" noGrp="1"/>
          </p:cNvSpPr>
          <p:nvPr/>
        </p:nvSpPr>
        <p:spPr>
          <a:xfrm xmlns:a="http://schemas.openxmlformats.org/drawingml/2006/main">
            <a:off x="2324100" y="2705100"/>
            <a:ext cx="38100" cy="68580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75A5FB09-3489-4F62-87BC-87CFBF00DA5B}"/>
              </a:ext>
            </a:extLst>
          </p:cNvPr>
          <p:cNvSpPr>
            <a:spLocks xmlns:a="http://schemas.openxmlformats.org/drawingml/2006/main" noGrp="1"/>
          </p:cNvSpPr>
          <p:nvPr/>
        </p:nvSpPr>
        <p:spPr>
          <a:xfrm xmlns:a="http://schemas.openxmlformats.org/drawingml/2006/main">
            <a:off x="2590800" y="2743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Using the CAVA Platform</a:t>
            </a:r>
            <a:endParaRPr/>
          </a:p>
        </p:txBody>
      </p:sp>
      <p:sp>
        <p:nvSpPr>
          <p:cNvPr id="52" name="Google Shape;52;p4">
            <a:extLst xmlns:a="http://schemas.openxmlformats.org/drawingml/2006/main">
              <a:ext uri="{FF2B5EF4-FFF2-40B4-BE49-F238E27FC236}">
                <a16:creationId xmlns:a16="http://schemas.microsoft.com/office/drawing/2014/main" id="{843F1102-4577-4FAA-A718-2BBA1B15E19C}"/>
              </a:ext>
            </a:extLst>
          </p:cNvPr>
          <p:cNvSpPr>
            <a:spLocks xmlns:a="http://schemas.openxmlformats.org/drawingml/2006/main" noGrp="1"/>
          </p:cNvSpPr>
          <p:nvPr/>
        </p:nvSpPr>
        <p:spPr>
          <a:xfrm xmlns:a="http://schemas.openxmlformats.org/drawingml/2006/main">
            <a:off x="2590800" y="3105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53" name="Google Shape;53;p4">
            <a:extLst xmlns:a="http://schemas.openxmlformats.org/drawingml/2006/main">
              <a:ext uri="{FF2B5EF4-FFF2-40B4-BE49-F238E27FC236}">
                <a16:creationId xmlns:a16="http://schemas.microsoft.com/office/drawing/2014/main" id="{29644F2B-5757-467B-AAE1-BF527C8F8565}"/>
              </a:ext>
            </a:extLst>
          </p:cNvPr>
          <p:cNvSpPr>
            <a:spLocks xmlns:a="http://schemas.openxmlformats.org/drawingml/2006/main" noGrp="1"/>
          </p:cNvSpPr>
          <p:nvPr/>
        </p:nvSpPr>
        <p:spPr>
          <a:xfrm xmlns:a="http://schemas.openxmlformats.org/drawingml/2006/main">
            <a:off x="723900" y="3781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650"/>
              <a:buFont typeface="Lato"/>
              <a:buNone/>
            </a:pPr>
            <a:r>
              <a:rPr sz="1650" b="1" i="0">
                <a:solidFill>
                  <a:srgbClr val="F2B632"/>
                </a:solidFill>
                <a:latin typeface="Lato"/>
                <a:ea typeface="Lato"/>
                <a:cs typeface="Lato"/>
              </a:rPr>
              <a:t>03</a:t>
            </a:r>
            <a:endParaRPr/>
          </a:p>
        </p:txBody>
      </p:sp>
      <p:sp>
        <p:nvSpPr>
          <p:cNvPr id="54" name="Google Shape;54;p4">
            <a:extLst xmlns:a="http://schemas.openxmlformats.org/drawingml/2006/main">
              <a:ext uri="{FF2B5EF4-FFF2-40B4-BE49-F238E27FC236}">
                <a16:creationId xmlns:a16="http://schemas.microsoft.com/office/drawing/2014/main" id="{9790EDF5-E278-4246-8794-345122EC79C9}"/>
              </a:ext>
            </a:extLst>
          </p:cNvPr>
          <p:cNvSpPr>
            <a:spLocks xmlns:a="http://schemas.openxmlformats.org/drawingml/2006/main" noGrp="1"/>
          </p:cNvSpPr>
          <p:nvPr/>
        </p:nvSpPr>
        <p:spPr>
          <a:xfrm xmlns:a="http://schemas.openxmlformats.org/drawingml/2006/main">
            <a:off x="1352550" y="3810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30 SEP</a:t>
            </a:r>
            <a:endParaRPr/>
          </a:p>
        </p:txBody>
      </p:sp>
      <p:sp>
        <p:nvSpPr>
          <p:cNvPr id="55" name="Google Shape;55;p4">
            <a:extLst xmlns:a="http://schemas.openxmlformats.org/drawingml/2006/main">
              <a:ext uri="{FF2B5EF4-FFF2-40B4-BE49-F238E27FC236}">
                <a16:creationId xmlns:a16="http://schemas.microsoft.com/office/drawing/2014/main" id="{3B250869-D8F5-45C7-97FA-B475D2CD9D75}"/>
              </a:ext>
            </a:extLst>
          </p:cNvPr>
          <p:cNvSpPr>
            <a:spLocks xmlns:a="http://schemas.openxmlformats.org/drawingml/2006/main" noGrp="1"/>
          </p:cNvSpPr>
          <p:nvPr/>
        </p:nvSpPr>
        <p:spPr>
          <a:xfrm xmlns:a="http://schemas.openxmlformats.org/drawingml/2006/main">
            <a:off x="2324100" y="3657600"/>
            <a:ext cx="38100" cy="6858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6E75688A-29DB-4A6F-B35A-95386B711EB9}"/>
              </a:ext>
            </a:extLst>
          </p:cNvPr>
          <p:cNvSpPr>
            <a:spLocks xmlns:a="http://schemas.openxmlformats.org/drawingml/2006/main" noGrp="1"/>
          </p:cNvSpPr>
          <p:nvPr/>
        </p:nvSpPr>
        <p:spPr>
          <a:xfrm xmlns:a="http://schemas.openxmlformats.org/drawingml/2006/main">
            <a:off x="2590800" y="3695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workflows with CAVA backend</a:t>
            </a:r>
            <a:endParaRPr sz="1725" b="1" i="0">
              <a:solidFill>
                <a:srgbClr val="12304E"/>
              </a:solidFill>
              <a:latin typeface="Lato"/>
              <a:ea typeface="Lato"/>
              <a:cs typeface="Lato"/>
            </a:endParaRPr>
          </a:p>
        </p:txBody>
      </p:sp>
      <p:sp>
        <p:nvSpPr>
          <p:cNvPr id="57" name="Google Shape;57;p4">
            <a:extLst xmlns:a="http://schemas.openxmlformats.org/drawingml/2006/main">
              <a:ext uri="{FF2B5EF4-FFF2-40B4-BE49-F238E27FC236}">
                <a16:creationId xmlns:a16="http://schemas.microsoft.com/office/drawing/2014/main" id="{E81CFC7E-15DC-48E9-86DC-6C3BF81897B6}"/>
              </a:ext>
            </a:extLst>
          </p:cNvPr>
          <p:cNvSpPr>
            <a:spLocks xmlns:a="http://schemas.openxmlformats.org/drawingml/2006/main" noGrp="1"/>
          </p:cNvSpPr>
          <p:nvPr/>
        </p:nvSpPr>
        <p:spPr>
          <a:xfrm xmlns:a="http://schemas.openxmlformats.org/drawingml/2006/main">
            <a:off x="2590800" y="4057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
        <p:nvSpPr>
          <p:cNvPr id="58" name="Google Shape;58;p4">
            <a:extLst xmlns:a="http://schemas.openxmlformats.org/drawingml/2006/main">
              <a:ext uri="{FF2B5EF4-FFF2-40B4-BE49-F238E27FC236}">
                <a16:creationId xmlns:a16="http://schemas.microsoft.com/office/drawing/2014/main" id="{B70F09D8-69FF-4563-BCB5-2A4116E145C8}"/>
              </a:ext>
            </a:extLst>
          </p:cNvPr>
          <p:cNvSpPr>
            <a:spLocks xmlns:a="http://schemas.openxmlformats.org/drawingml/2006/main" noGrp="1"/>
          </p:cNvSpPr>
          <p:nvPr/>
        </p:nvSpPr>
        <p:spPr>
          <a:xfrm xmlns:a="http://schemas.openxmlformats.org/drawingml/2006/main">
            <a:off x="723900" y="4733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04</a:t>
            </a:r>
            <a:endParaRPr/>
          </a:p>
        </p:txBody>
      </p:sp>
      <p:sp>
        <p:nvSpPr>
          <p:cNvPr id="59" name="Google Shape;59;p4">
            <a:extLst xmlns:a="http://schemas.openxmlformats.org/drawingml/2006/main">
              <a:ext uri="{FF2B5EF4-FFF2-40B4-BE49-F238E27FC236}">
                <a16:creationId xmlns:a16="http://schemas.microsoft.com/office/drawing/2014/main" id="{A8B39A84-3F2F-49D8-B793-B462A0D90BAE}"/>
              </a:ext>
            </a:extLst>
          </p:cNvPr>
          <p:cNvSpPr>
            <a:spLocks xmlns:a="http://schemas.openxmlformats.org/drawingml/2006/main" noGrp="1"/>
          </p:cNvSpPr>
          <p:nvPr/>
        </p:nvSpPr>
        <p:spPr>
          <a:xfrm xmlns:a="http://schemas.openxmlformats.org/drawingml/2006/main">
            <a:off x="1352550" y="4762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01 OCT</a:t>
            </a:r>
            <a:endParaRPr/>
          </a:p>
        </p:txBody>
      </p:sp>
      <p:sp>
        <p:nvSpPr>
          <p:cNvPr id="60" name="Google Shape;60;p4">
            <a:extLst xmlns:a="http://schemas.openxmlformats.org/drawingml/2006/main">
              <a:ext uri="{FF2B5EF4-FFF2-40B4-BE49-F238E27FC236}">
                <a16:creationId xmlns:a16="http://schemas.microsoft.com/office/drawing/2014/main" id="{9A238CDE-2EDA-4352-A7D3-B7105DEF2176}"/>
              </a:ext>
            </a:extLst>
          </p:cNvPr>
          <p:cNvSpPr>
            <a:spLocks xmlns:a="http://schemas.openxmlformats.org/drawingml/2006/main" noGrp="1"/>
          </p:cNvSpPr>
          <p:nvPr/>
        </p:nvSpPr>
        <p:spPr>
          <a:xfrm xmlns:a="http://schemas.openxmlformats.org/drawingml/2006/main">
            <a:off x="2324100" y="4610100"/>
            <a:ext cx="38100" cy="685800"/>
          </a:xfrm>
          <a:prstGeom xmlns:a="http://schemas.openxmlformats.org/drawingml/2006/main" prst="rect">
            <a:avLst/>
          </a:prstGeom>
          <a:solidFill xmlns:a="http://schemas.openxmlformats.org/drawingml/2006/main">
            <a:srgbClr val="008D7A"/>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 name="Google Shape;61;p4">
            <a:extLst xmlns:a="http://schemas.openxmlformats.org/drawingml/2006/main">
              <a:ext uri="{FF2B5EF4-FFF2-40B4-BE49-F238E27FC236}">
                <a16:creationId xmlns:a16="http://schemas.microsoft.com/office/drawing/2014/main" id="{8F181846-52A8-47DB-908D-3759336DFD0F}"/>
              </a:ext>
            </a:extLst>
          </p:cNvPr>
          <p:cNvSpPr>
            <a:spLocks xmlns:a="http://schemas.openxmlformats.org/drawingml/2006/main" noGrp="1"/>
          </p:cNvSpPr>
          <p:nvPr/>
        </p:nvSpPr>
        <p:spPr>
          <a:xfrm xmlns:a="http://schemas.openxmlformats.org/drawingml/2006/main">
            <a:off x="2590800" y="4648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for crop modelling</a:t>
            </a:r>
            <a:endParaRPr/>
          </a:p>
        </p:txBody>
      </p:sp>
      <p:sp>
        <p:nvSpPr>
          <p:cNvPr id="62" name="Google Shape;62;p4">
            <a:extLst xmlns:a="http://schemas.openxmlformats.org/drawingml/2006/main">
              <a:ext uri="{FF2B5EF4-FFF2-40B4-BE49-F238E27FC236}">
                <a16:creationId xmlns:a16="http://schemas.microsoft.com/office/drawing/2014/main" id="{039C660A-0217-47C1-9385-BB99509D5496}"/>
              </a:ext>
            </a:extLst>
          </p:cNvPr>
          <p:cNvSpPr>
            <a:spLocks xmlns:a="http://schemas.openxmlformats.org/drawingml/2006/main" noGrp="1"/>
          </p:cNvSpPr>
          <p:nvPr/>
        </p:nvSpPr>
        <p:spPr>
          <a:xfrm xmlns:a="http://schemas.openxmlformats.org/drawingml/2006/main">
            <a:off x="2590800" y="5010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Tree>
    <p:extLst>
      <p:ext uri="{BB962C8B-B14F-4D97-AF65-F5344CB8AC3E}">
        <p14:creationId xmlns:p14="http://schemas.microsoft.com/office/powerpoint/2010/main" val="1480351734"/>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 name="Google Shape;68;p5">
            <a:extLst xmlns:a="http://schemas.openxmlformats.org/drawingml/2006/main">
              <a:ext uri="{FF2B5EF4-FFF2-40B4-BE49-F238E27FC236}">
                <a16:creationId xmlns:a16="http://schemas.microsoft.com/office/drawing/2014/main" id="{9ABF2B84-A582-4CF0-8FA3-7661DF18E2D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Today’s learning journey</a:t>
            </a:r>
            <a:endParaRPr/>
          </a:p>
        </p:txBody>
      </p:sp>
      <p:sp>
        <p:nvSpPr>
          <p:cNvPr id="69" name="Google Shape;69;p5">
            <a:extLst xmlns:a="http://schemas.openxmlformats.org/drawingml/2006/main">
              <a:ext uri="{FF2B5EF4-FFF2-40B4-BE49-F238E27FC236}">
                <a16:creationId xmlns:a16="http://schemas.microsoft.com/office/drawing/2014/main" id="{18A24345-E8FD-47DC-9B64-5B8BBD7A26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science explains the data. The workflow determines how people can access and use it.</a:t>
            </a:r>
            <a:endParaRPr/>
          </a:p>
        </p:txBody>
      </p:sp>
      <p:sp>
        <p:nvSpPr>
          <p:cNvPr id="70" name="Google Shape;70;p5">
            <a:extLst xmlns:a="http://schemas.openxmlformats.org/drawingml/2006/main">
              <a:ext uri="{FF2B5EF4-FFF2-40B4-BE49-F238E27FC236}">
                <a16:creationId xmlns:a16="http://schemas.microsoft.com/office/drawing/2014/main" id="{43DD024B-0B40-4663-8CF1-D757417F5E3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 name="Google Shape;71;p5">
            <a:extLst xmlns:a="http://schemas.openxmlformats.org/drawingml/2006/main">
              <a:ext uri="{FF2B5EF4-FFF2-40B4-BE49-F238E27FC236}">
                <a16:creationId xmlns:a16="http://schemas.microsoft.com/office/drawing/2014/main" id="{311911E7-9E6B-4E47-AECD-A269FCAF742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 name="Google Shape;72;p5">
            <a:extLst xmlns:a="http://schemas.openxmlformats.org/drawingml/2006/main">
              <a:ext uri="{FF2B5EF4-FFF2-40B4-BE49-F238E27FC236}">
                <a16:creationId xmlns:a16="http://schemas.microsoft.com/office/drawing/2014/main" id="{DC33B3AC-F480-49E9-9AC1-C83FE1540B0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 name="Google Shape;73;p5">
            <a:extLst xmlns:a="http://schemas.openxmlformats.org/drawingml/2006/main">
              <a:ext uri="{FF2B5EF4-FFF2-40B4-BE49-F238E27FC236}">
                <a16:creationId xmlns:a16="http://schemas.microsoft.com/office/drawing/2014/main" id="{966B2F50-0EAF-48B2-B8B0-C07C28D2C34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4" name="Google Shape;74;p5">
            <a:extLst xmlns:a="http://schemas.openxmlformats.org/drawingml/2006/main">
              <a:ext uri="{FF2B5EF4-FFF2-40B4-BE49-F238E27FC236}">
                <a16:creationId xmlns:a16="http://schemas.microsoft.com/office/drawing/2014/main" id="{97B06603-7181-4823-84A3-70600736A68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03</a:t>
            </a:r>
            <a:endParaRPr/>
          </a:p>
        </p:txBody>
      </p:sp>
      <p:sp>
        <p:nvSpPr>
          <p:cNvPr id="75" name="Google Shape;75;p5">
            <a:extLst xmlns:a="http://schemas.openxmlformats.org/drawingml/2006/main">
              <a:ext uri="{FF2B5EF4-FFF2-40B4-BE49-F238E27FC236}">
                <a16:creationId xmlns:a16="http://schemas.microsoft.com/office/drawing/2014/main" id="{3AD35A94-A694-4092-8A3C-5BF5CD759840}"/>
              </a:ext>
            </a:extLst>
          </p:cNvPr>
          <p:cNvSpPr>
            <a:spLocks xmlns:a="http://schemas.openxmlformats.org/drawingml/2006/main" noGrp="1"/>
          </p:cNvSpPr>
          <p:nvPr/>
        </p:nvSpPr>
        <p:spPr>
          <a:xfrm xmlns:a="http://schemas.openxmlformats.org/drawingml/2006/main">
            <a:off x="1190625" y="3267075"/>
            <a:ext cx="981075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983DD0F7-DEB3-4B02-B0B1-CED45F02B8C9}"/>
              </a:ext>
            </a:extLst>
          </p:cNvPr>
          <p:cNvSpPr>
            <a:spLocks xmlns:a="http://schemas.openxmlformats.org/drawingml/2006/main" noGrp="1"/>
          </p:cNvSpPr>
          <p:nvPr/>
        </p:nvSpPr>
        <p:spPr>
          <a:xfrm xmlns:a="http://schemas.openxmlformats.org/drawingml/2006/main">
            <a:off x="121920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9DE6DC11-0C4F-44AC-A2F1-16F59B331878}"/>
              </a:ext>
            </a:extLst>
          </p:cNvPr>
          <p:cNvSpPr>
            <a:spLocks xmlns:a="http://schemas.openxmlformats.org/drawingml/2006/main" noGrp="1"/>
          </p:cNvSpPr>
          <p:nvPr/>
        </p:nvSpPr>
        <p:spPr>
          <a:xfrm xmlns:a="http://schemas.openxmlformats.org/drawingml/2006/main">
            <a:off x="102870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1</a:t>
            </a:r>
            <a:endParaRPr/>
          </a:p>
        </p:txBody>
      </p:sp>
      <p:sp>
        <p:nvSpPr>
          <p:cNvPr id="78" name="Google Shape;78;p5">
            <a:extLst xmlns:a="http://schemas.openxmlformats.org/drawingml/2006/main">
              <a:ext uri="{FF2B5EF4-FFF2-40B4-BE49-F238E27FC236}">
                <a16:creationId xmlns:a16="http://schemas.microsoft.com/office/drawing/2014/main" id="{69CE9B63-444E-4AFD-81C9-60554E1248EE}"/>
              </a:ext>
            </a:extLst>
          </p:cNvPr>
          <p:cNvSpPr>
            <a:spLocks xmlns:a="http://schemas.openxmlformats.org/drawingml/2006/main" noGrp="1"/>
          </p:cNvSpPr>
          <p:nvPr/>
        </p:nvSpPr>
        <p:spPr>
          <a:xfrm xmlns:a="http://schemas.openxmlformats.org/drawingml/2006/main">
            <a:off x="3619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00–05</a:t>
            </a:r>
            <a:endParaRPr/>
          </a:p>
        </p:txBody>
      </p:sp>
      <p:sp>
        <p:nvSpPr>
          <p:cNvPr id="79" name="Google Shape;79;p5">
            <a:extLst xmlns:a="http://schemas.openxmlformats.org/drawingml/2006/main">
              <a:ext uri="{FF2B5EF4-FFF2-40B4-BE49-F238E27FC236}">
                <a16:creationId xmlns:a16="http://schemas.microsoft.com/office/drawing/2014/main" id="{6C134318-0C70-49CD-9179-A5874AF1B051}"/>
              </a:ext>
            </a:extLst>
          </p:cNvPr>
          <p:cNvSpPr>
            <a:spLocks xmlns:a="http://schemas.openxmlformats.org/drawingml/2006/main" noGrp="1"/>
          </p:cNvSpPr>
          <p:nvPr/>
        </p:nvSpPr>
        <p:spPr>
          <a:xfrm xmlns:a="http://schemas.openxmlformats.org/drawingml/2006/main">
            <a:off x="2857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question</a:t>
            </a:r>
            <a:endParaRPr/>
          </a:p>
        </p:txBody>
      </p:sp>
      <p:sp>
        <p:nvSpPr>
          <p:cNvPr id="80" name="Google Shape;80;p5">
            <a:extLst xmlns:a="http://schemas.openxmlformats.org/drawingml/2006/main">
              <a:ext uri="{FF2B5EF4-FFF2-40B4-BE49-F238E27FC236}">
                <a16:creationId xmlns:a16="http://schemas.microsoft.com/office/drawing/2014/main" id="{7813137E-E610-4051-A9A8-A8FAEA07E5B0}"/>
              </a:ext>
            </a:extLst>
          </p:cNvPr>
          <p:cNvSpPr>
            <a:spLocks xmlns:a="http://schemas.openxmlformats.org/drawingml/2006/main" noGrp="1"/>
          </p:cNvSpPr>
          <p:nvPr/>
        </p:nvSpPr>
        <p:spPr>
          <a:xfrm xmlns:a="http://schemas.openxmlformats.org/drawingml/2006/main">
            <a:off x="359229" y="2787423"/>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81" name="Google Shape;81;p5">
            <a:extLst xmlns:a="http://schemas.openxmlformats.org/drawingml/2006/main">
              <a:ext uri="{FF2B5EF4-FFF2-40B4-BE49-F238E27FC236}">
                <a16:creationId xmlns:a16="http://schemas.microsoft.com/office/drawing/2014/main" id="{4152F5E5-5A99-4CC3-8ED6-5CB40568B42B}"/>
              </a:ext>
            </a:extLst>
          </p:cNvPr>
          <p:cNvSpPr>
            <a:spLocks xmlns:a="http://schemas.openxmlformats.org/drawingml/2006/main" noGrp="1"/>
          </p:cNvSpPr>
          <p:nvPr/>
        </p:nvSpPr>
        <p:spPr>
          <a:xfrm xmlns:a="http://schemas.openxmlformats.org/drawingml/2006/main">
            <a:off x="364807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4AA9EF85-0F6D-44C3-B573-B07D03A05F24}"/>
              </a:ext>
            </a:extLst>
          </p:cNvPr>
          <p:cNvSpPr>
            <a:spLocks xmlns:a="http://schemas.openxmlformats.org/drawingml/2006/main" noGrp="1"/>
          </p:cNvSpPr>
          <p:nvPr/>
        </p:nvSpPr>
        <p:spPr>
          <a:xfrm xmlns:a="http://schemas.openxmlformats.org/drawingml/2006/main">
            <a:off x="345757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a:t>
            </a:r>
            <a:endParaRPr/>
          </a:p>
        </p:txBody>
      </p:sp>
      <p:sp>
        <p:nvSpPr>
          <p:cNvPr id="83" name="Google Shape;83;p5">
            <a:extLst xmlns:a="http://schemas.openxmlformats.org/drawingml/2006/main">
              <a:ext uri="{FF2B5EF4-FFF2-40B4-BE49-F238E27FC236}">
                <a16:creationId xmlns:a16="http://schemas.microsoft.com/office/drawing/2014/main" id="{C55216D6-ECA2-4299-8E60-00BE8164CFD1}"/>
              </a:ext>
            </a:extLst>
          </p:cNvPr>
          <p:cNvSpPr>
            <a:spLocks xmlns:a="http://schemas.openxmlformats.org/drawingml/2006/main" noGrp="1"/>
          </p:cNvSpPr>
          <p:nvPr/>
        </p:nvSpPr>
        <p:spPr>
          <a:xfrm xmlns:a="http://schemas.openxmlformats.org/drawingml/2006/main">
            <a:off x="279082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05–40</a:t>
            </a:r>
            <a:endParaRPr/>
          </a:p>
        </p:txBody>
      </p:sp>
      <p:sp>
        <p:nvSpPr>
          <p:cNvPr id="84" name="Google Shape;84;p5">
            <a:extLst xmlns:a="http://schemas.openxmlformats.org/drawingml/2006/main">
              <a:ext uri="{FF2B5EF4-FFF2-40B4-BE49-F238E27FC236}">
                <a16:creationId xmlns:a16="http://schemas.microsoft.com/office/drawing/2014/main" id="{23DE833B-B5F7-4887-A244-4DD4CF838FB5}"/>
              </a:ext>
            </a:extLst>
          </p:cNvPr>
          <p:cNvSpPr>
            <a:spLocks xmlns:a="http://schemas.openxmlformats.org/drawingml/2006/main" noGrp="1"/>
          </p:cNvSpPr>
          <p:nvPr/>
        </p:nvSpPr>
        <p:spPr>
          <a:xfrm xmlns:a="http://schemas.openxmlformats.org/drawingml/2006/main">
            <a:off x="271462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and uncertainty</a:t>
            </a:r>
            <a:endParaRPr/>
          </a:p>
        </p:txBody>
      </p:sp>
      <p:sp>
        <p:nvSpPr>
          <p:cNvPr id="85" name="Google Shape;85;p5">
            <a:extLst xmlns:a="http://schemas.openxmlformats.org/drawingml/2006/main">
              <a:ext uri="{FF2B5EF4-FFF2-40B4-BE49-F238E27FC236}">
                <a16:creationId xmlns:a16="http://schemas.microsoft.com/office/drawing/2014/main" id="{FE396B43-8D28-4C5C-B214-FDCB024D0FB8}"/>
              </a:ext>
            </a:extLst>
          </p:cNvPr>
          <p:cNvSpPr>
            <a:spLocks xmlns:a="http://schemas.openxmlformats.org/drawingml/2006/main" noGrp="1"/>
          </p:cNvSpPr>
          <p:nvPr/>
        </p:nvSpPr>
        <p:spPr>
          <a:xfrm xmlns:a="http://schemas.openxmlformats.org/drawingml/2006/main">
            <a:off x="279082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Hideki</a:t>
            </a:r>
            <a:endParaRPr/>
          </a:p>
        </p:txBody>
      </p:sp>
      <p:sp>
        <p:nvSpPr>
          <p:cNvPr id="86" name="Google Shape;86;p5">
            <a:extLst xmlns:a="http://schemas.openxmlformats.org/drawingml/2006/main">
              <a:ext uri="{FF2B5EF4-FFF2-40B4-BE49-F238E27FC236}">
                <a16:creationId xmlns:a16="http://schemas.microsoft.com/office/drawing/2014/main" id="{8A3A03B7-0992-4C25-B97E-3B2F097B5E2E}"/>
              </a:ext>
            </a:extLst>
          </p:cNvPr>
          <p:cNvSpPr>
            <a:spLocks xmlns:a="http://schemas.openxmlformats.org/drawingml/2006/main" noGrp="1"/>
          </p:cNvSpPr>
          <p:nvPr/>
        </p:nvSpPr>
        <p:spPr>
          <a:xfrm xmlns:a="http://schemas.openxmlformats.org/drawingml/2006/main">
            <a:off x="607695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7" name="Google Shape;87;p5">
            <a:extLst xmlns:a="http://schemas.openxmlformats.org/drawingml/2006/main">
              <a:ext uri="{FF2B5EF4-FFF2-40B4-BE49-F238E27FC236}">
                <a16:creationId xmlns:a16="http://schemas.microsoft.com/office/drawing/2014/main" id="{BF2917D8-1B6D-48A8-9845-5AD6BB609BA8}"/>
              </a:ext>
            </a:extLst>
          </p:cNvPr>
          <p:cNvSpPr>
            <a:spLocks xmlns:a="http://schemas.openxmlformats.org/drawingml/2006/main" noGrp="1"/>
          </p:cNvSpPr>
          <p:nvPr/>
        </p:nvSpPr>
        <p:spPr>
          <a:xfrm xmlns:a="http://schemas.openxmlformats.org/drawingml/2006/main">
            <a:off x="588645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3</a:t>
            </a:r>
            <a:endParaRPr/>
          </a:p>
        </p:txBody>
      </p:sp>
      <p:sp>
        <p:nvSpPr>
          <p:cNvPr id="88" name="Google Shape;88;p5">
            <a:extLst xmlns:a="http://schemas.openxmlformats.org/drawingml/2006/main">
              <a:ext uri="{FF2B5EF4-FFF2-40B4-BE49-F238E27FC236}">
                <a16:creationId xmlns:a16="http://schemas.microsoft.com/office/drawing/2014/main" id="{D76B2E02-B76D-487D-B7AC-E3A34BD6C673}"/>
              </a:ext>
            </a:extLst>
          </p:cNvPr>
          <p:cNvSpPr>
            <a:spLocks xmlns:a="http://schemas.openxmlformats.org/drawingml/2006/main" noGrp="1"/>
          </p:cNvSpPr>
          <p:nvPr/>
        </p:nvSpPr>
        <p:spPr>
          <a:xfrm xmlns:a="http://schemas.openxmlformats.org/drawingml/2006/main">
            <a:off x="521970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40–55</a:t>
            </a:r>
            <a:endParaRPr/>
          </a:p>
        </p:txBody>
      </p:sp>
      <p:sp>
        <p:nvSpPr>
          <p:cNvPr id="89" name="Google Shape;89;p5">
            <a:extLst xmlns:a="http://schemas.openxmlformats.org/drawingml/2006/main">
              <a:ext uri="{FF2B5EF4-FFF2-40B4-BE49-F238E27FC236}">
                <a16:creationId xmlns:a16="http://schemas.microsoft.com/office/drawing/2014/main" id="{A8B4039B-B9DA-49B7-959D-296E63059F5E}"/>
              </a:ext>
            </a:extLst>
          </p:cNvPr>
          <p:cNvSpPr>
            <a:spLocks xmlns:a="http://schemas.openxmlformats.org/drawingml/2006/main" noGrp="1"/>
          </p:cNvSpPr>
          <p:nvPr/>
        </p:nvSpPr>
        <p:spPr>
          <a:xfrm xmlns:a="http://schemas.openxmlformats.org/drawingml/2006/main">
            <a:off x="514350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Accessing climate data today</a:t>
            </a:r>
            <a:endParaRPr/>
          </a:p>
        </p:txBody>
      </p:sp>
      <p:sp>
        <p:nvSpPr>
          <p:cNvPr id="90" name="Google Shape;90;p5">
            <a:extLst xmlns:a="http://schemas.openxmlformats.org/drawingml/2006/main">
              <a:ext uri="{FF2B5EF4-FFF2-40B4-BE49-F238E27FC236}">
                <a16:creationId xmlns:a16="http://schemas.microsoft.com/office/drawing/2014/main" id="{33ECE840-FF8E-4E35-807C-558B8BAE8627}"/>
              </a:ext>
            </a:extLst>
          </p:cNvPr>
          <p:cNvSpPr>
            <a:spLocks xmlns:a="http://schemas.openxmlformats.org/drawingml/2006/main" noGrp="1"/>
          </p:cNvSpPr>
          <p:nvPr/>
        </p:nvSpPr>
        <p:spPr>
          <a:xfrm xmlns:a="http://schemas.openxmlformats.org/drawingml/2006/main">
            <a:off x="5219700" y="278130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91" name="Google Shape;91;p5">
            <a:extLst xmlns:a="http://schemas.openxmlformats.org/drawingml/2006/main">
              <a:ext uri="{FF2B5EF4-FFF2-40B4-BE49-F238E27FC236}">
                <a16:creationId xmlns:a16="http://schemas.microsoft.com/office/drawing/2014/main" id="{BC6C4182-E4F1-468C-B4DD-BA9EBCC3A02D}"/>
              </a:ext>
            </a:extLst>
          </p:cNvPr>
          <p:cNvSpPr>
            <a:spLocks xmlns:a="http://schemas.openxmlformats.org/drawingml/2006/main" noGrp="1"/>
          </p:cNvSpPr>
          <p:nvPr/>
        </p:nvSpPr>
        <p:spPr>
          <a:xfrm xmlns:a="http://schemas.openxmlformats.org/drawingml/2006/main">
            <a:off x="850582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837C8974-CA4A-452C-A461-944D50A08C39}"/>
              </a:ext>
            </a:extLst>
          </p:cNvPr>
          <p:cNvSpPr>
            <a:spLocks xmlns:a="http://schemas.openxmlformats.org/drawingml/2006/main" noGrp="1"/>
          </p:cNvSpPr>
          <p:nvPr/>
        </p:nvSpPr>
        <p:spPr>
          <a:xfrm xmlns:a="http://schemas.openxmlformats.org/drawingml/2006/main">
            <a:off x="831532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4</a:t>
            </a:r>
            <a:endParaRPr/>
          </a:p>
        </p:txBody>
      </p:sp>
      <p:sp>
        <p:nvSpPr>
          <p:cNvPr id="93" name="Google Shape;93;p5">
            <a:extLst xmlns:a="http://schemas.openxmlformats.org/drawingml/2006/main">
              <a:ext uri="{FF2B5EF4-FFF2-40B4-BE49-F238E27FC236}">
                <a16:creationId xmlns:a16="http://schemas.microsoft.com/office/drawing/2014/main" id="{F416A72F-CD82-4CFA-96AD-6B03A205F8C2}"/>
              </a:ext>
            </a:extLst>
          </p:cNvPr>
          <p:cNvSpPr>
            <a:spLocks xmlns:a="http://schemas.openxmlformats.org/drawingml/2006/main" noGrp="1"/>
          </p:cNvSpPr>
          <p:nvPr/>
        </p:nvSpPr>
        <p:spPr>
          <a:xfrm xmlns:a="http://schemas.openxmlformats.org/drawingml/2006/main">
            <a:off x="764857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55–70</a:t>
            </a:r>
            <a:endParaRPr/>
          </a:p>
        </p:txBody>
      </p:sp>
      <p:sp>
        <p:nvSpPr>
          <p:cNvPr id="94" name="Google Shape;94;p5">
            <a:extLst xmlns:a="http://schemas.openxmlformats.org/drawingml/2006/main">
              <a:ext uri="{FF2B5EF4-FFF2-40B4-BE49-F238E27FC236}">
                <a16:creationId xmlns:a16="http://schemas.microsoft.com/office/drawing/2014/main" id="{B192B452-A8F9-41D0-AEBD-FADFF652191A}"/>
              </a:ext>
            </a:extLst>
          </p:cNvPr>
          <p:cNvSpPr>
            <a:spLocks xmlns:a="http://schemas.openxmlformats.org/drawingml/2006/main" noGrp="1"/>
          </p:cNvSpPr>
          <p:nvPr/>
        </p:nvSpPr>
        <p:spPr>
          <a:xfrm xmlns:a="http://schemas.openxmlformats.org/drawingml/2006/main">
            <a:off x="757237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What CAVA changes and how it works</a:t>
            </a:r>
            <a:endParaRPr/>
          </a:p>
        </p:txBody>
      </p:sp>
      <p:sp>
        <p:nvSpPr>
          <p:cNvPr id="95" name="Google Shape;95;p5">
            <a:extLst xmlns:a="http://schemas.openxmlformats.org/drawingml/2006/main">
              <a:ext uri="{FF2B5EF4-FFF2-40B4-BE49-F238E27FC236}">
                <a16:creationId xmlns:a16="http://schemas.microsoft.com/office/drawing/2014/main" id="{16B654B1-A17C-4A68-9CD5-C3A814E51C72}"/>
              </a:ext>
            </a:extLst>
          </p:cNvPr>
          <p:cNvSpPr>
            <a:spLocks xmlns:a="http://schemas.openxmlformats.org/drawingml/2006/main" noGrp="1"/>
          </p:cNvSpPr>
          <p:nvPr/>
        </p:nvSpPr>
        <p:spPr>
          <a:xfrm xmlns:a="http://schemas.openxmlformats.org/drawingml/2006/main">
            <a:off x="764857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 + Ezequiel</a:t>
            </a:r>
            <a:endParaRPr/>
          </a:p>
        </p:txBody>
      </p:sp>
      <p:sp>
        <p:nvSpPr>
          <p:cNvPr id="96" name="Google Shape;96;p5">
            <a:extLst xmlns:a="http://schemas.openxmlformats.org/drawingml/2006/main">
              <a:ext uri="{FF2B5EF4-FFF2-40B4-BE49-F238E27FC236}">
                <a16:creationId xmlns:a16="http://schemas.microsoft.com/office/drawing/2014/main" id="{6D68AD2E-E3DD-4EF0-98E7-DB630A416C56}"/>
              </a:ext>
            </a:extLst>
          </p:cNvPr>
          <p:cNvSpPr>
            <a:spLocks xmlns:a="http://schemas.openxmlformats.org/drawingml/2006/main" noGrp="1"/>
          </p:cNvSpPr>
          <p:nvPr/>
        </p:nvSpPr>
        <p:spPr>
          <a:xfrm xmlns:a="http://schemas.openxmlformats.org/drawingml/2006/main">
            <a:off x="10934700" y="2962275"/>
            <a:ext cx="38100" cy="32385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7" name="Google Shape;97;p5">
            <a:extLst xmlns:a="http://schemas.openxmlformats.org/drawingml/2006/main">
              <a:ext uri="{FF2B5EF4-FFF2-40B4-BE49-F238E27FC236}">
                <a16:creationId xmlns:a16="http://schemas.microsoft.com/office/drawing/2014/main" id="{43C39A90-39B8-41EF-960C-95C0A33F50C2}"/>
              </a:ext>
            </a:extLst>
          </p:cNvPr>
          <p:cNvSpPr>
            <a:spLocks xmlns:a="http://schemas.openxmlformats.org/drawingml/2006/main" noGrp="1"/>
          </p:cNvSpPr>
          <p:nvPr/>
        </p:nvSpPr>
        <p:spPr>
          <a:xfrm xmlns:a="http://schemas.openxmlformats.org/drawingml/2006/main">
            <a:off x="10744200" y="3076575"/>
            <a:ext cx="419100" cy="419100"/>
          </a:xfrm>
          <a:prstGeom xmlns:a="http://schemas.openxmlformats.org/drawingml/2006/main" prst="ellipse">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5</a:t>
            </a:r>
            <a:endParaRPr/>
          </a:p>
        </p:txBody>
      </p:sp>
      <p:sp>
        <p:nvSpPr>
          <p:cNvPr id="98" name="Google Shape;98;p5">
            <a:extLst xmlns:a="http://schemas.openxmlformats.org/drawingml/2006/main">
              <a:ext uri="{FF2B5EF4-FFF2-40B4-BE49-F238E27FC236}">
                <a16:creationId xmlns:a16="http://schemas.microsoft.com/office/drawing/2014/main" id="{2B66FBBF-3D21-431C-BC89-B7DF70FEDD41}"/>
              </a:ext>
            </a:extLst>
          </p:cNvPr>
          <p:cNvSpPr>
            <a:spLocks xmlns:a="http://schemas.openxmlformats.org/drawingml/2006/main" noGrp="1"/>
          </p:cNvSpPr>
          <p:nvPr/>
        </p:nvSpPr>
        <p:spPr>
          <a:xfrm xmlns:a="http://schemas.openxmlformats.org/drawingml/2006/main">
            <a:off x="100774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83A59"/>
              </a:buClr>
              <a:buSzPts val="975"/>
              <a:buFont typeface="Lato"/>
              <a:buNone/>
            </a:pPr>
            <a:r>
              <a:rPr sz="975" b="1" i="0">
                <a:solidFill>
                  <a:srgbClr val="183A59"/>
                </a:solidFill>
                <a:latin typeface="Lato"/>
                <a:ea typeface="Lato"/>
                <a:cs typeface="Lato"/>
              </a:rPr>
              <a:t>70–90</a:t>
            </a:r>
            <a:endParaRPr/>
          </a:p>
        </p:txBody>
      </p:sp>
      <p:sp>
        <p:nvSpPr>
          <p:cNvPr id="99" name="Google Shape;99;p5">
            <a:extLst xmlns:a="http://schemas.openxmlformats.org/drawingml/2006/main">
              <a:ext uri="{FF2B5EF4-FFF2-40B4-BE49-F238E27FC236}">
                <a16:creationId xmlns:a16="http://schemas.microsoft.com/office/drawing/2014/main" id="{A3F0E743-072E-46C4-B235-5681861C3F39}"/>
              </a:ext>
            </a:extLst>
          </p:cNvPr>
          <p:cNvSpPr>
            <a:spLocks xmlns:a="http://schemas.openxmlformats.org/drawingml/2006/main" noGrp="1"/>
          </p:cNvSpPr>
          <p:nvPr/>
        </p:nvSpPr>
        <p:spPr>
          <a:xfrm xmlns:a="http://schemas.openxmlformats.org/drawingml/2006/main">
            <a:off x="100012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End-to-end example and discussion</a:t>
            </a:r>
            <a:endParaRPr/>
          </a:p>
        </p:txBody>
      </p:sp>
      <p:sp>
        <p:nvSpPr>
          <p:cNvPr id="100" name="Google Shape;100;p5">
            <a:extLst xmlns:a="http://schemas.openxmlformats.org/drawingml/2006/main">
              <a:ext uri="{FF2B5EF4-FFF2-40B4-BE49-F238E27FC236}">
                <a16:creationId xmlns:a16="http://schemas.microsoft.com/office/drawing/2014/main" id="{046FB8FB-7528-4A7A-94DE-25376F902502}"/>
              </a:ext>
            </a:extLst>
          </p:cNvPr>
          <p:cNvSpPr>
            <a:spLocks xmlns:a="http://schemas.openxmlformats.org/drawingml/2006/main" noGrp="1"/>
          </p:cNvSpPr>
          <p:nvPr/>
        </p:nvSpPr>
        <p:spPr>
          <a:xfrm xmlns:a="http://schemas.openxmlformats.org/drawingml/2006/main">
            <a:off x="10058400" y="2781299"/>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All</a:t>
            </a:r>
            <a:endParaRPr/>
          </a:p>
        </p:txBody>
      </p:sp>
      <p:sp>
        <p:nvSpPr>
          <p:cNvPr id="101" name="Google Shape;101;p5">
            <a:extLst xmlns:a="http://schemas.openxmlformats.org/drawingml/2006/main">
              <a:ext uri="{FF2B5EF4-FFF2-40B4-BE49-F238E27FC236}">
                <a16:creationId xmlns:a16="http://schemas.microsoft.com/office/drawing/2014/main" id="{9B291A58-ACA4-4E37-9197-C0B7C50A8374}"/>
              </a:ext>
            </a:extLst>
          </p:cNvPr>
          <p:cNvSpPr>
            <a:spLocks xmlns:a="http://schemas.openxmlformats.org/drawingml/2006/main" noGrp="1"/>
          </p:cNvSpPr>
          <p:nvPr/>
        </p:nvSpPr>
        <p:spPr>
          <a:xfrm xmlns:a="http://schemas.openxmlformats.org/drawingml/2006/main">
            <a:off x="685800" y="5348512"/>
            <a:ext cx="1809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Learning outcome</a:t>
            </a:r>
            <a:endParaRPr/>
          </a:p>
        </p:txBody>
      </p:sp>
      <p:sp>
        <p:nvSpPr>
          <p:cNvPr id="102" name="Google Shape;102;p5">
            <a:extLst xmlns:a="http://schemas.openxmlformats.org/drawingml/2006/main">
              <a:ext uri="{FF2B5EF4-FFF2-40B4-BE49-F238E27FC236}">
                <a16:creationId xmlns:a16="http://schemas.microsoft.com/office/drawing/2014/main" id="{905C2EC7-1E4C-4C9A-AA9E-818CD6748F1F}"/>
              </a:ext>
            </a:extLst>
          </p:cNvPr>
          <p:cNvSpPr>
            <a:spLocks xmlns:a="http://schemas.openxmlformats.org/drawingml/2006/main" noGrp="1"/>
          </p:cNvSpPr>
          <p:nvPr/>
        </p:nvSpPr>
        <p:spPr>
          <a:xfrm xmlns:a="http://schemas.openxmlformats.org/drawingml/2006/main">
            <a:off x="2381250" y="5310412"/>
            <a:ext cx="82869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23"/>
              <a:buFont typeface="Lato"/>
              <a:buNone/>
            </a:pPr>
            <a:r>
              <a:rPr sz="1524" b="1" i="0">
                <a:solidFill>
                  <a:srgbClr val="12304E"/>
                </a:solidFill>
                <a:latin typeface="Lato"/>
                <a:ea typeface="Lato"/>
                <a:cs typeface="Lato"/>
              </a:rPr>
              <a:t>A shared view of the climate evidence, the access problem and the role of CAVA</a:t>
            </a:r>
            <a:endParaRPr/>
          </a:p>
        </p:txBody>
      </p:sp>
    </p:spTree>
    <p:extLst>
      <p:ext uri="{BB962C8B-B14F-4D97-AF65-F5344CB8AC3E}">
        <p14:creationId xmlns:p14="http://schemas.microsoft.com/office/powerpoint/2010/main" val="189082991"/>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8" name="Google Shape;108;p6">
            <a:extLst xmlns:a="http://schemas.openxmlformats.org/drawingml/2006/main">
              <a:ext uri="{FF2B5EF4-FFF2-40B4-BE49-F238E27FC236}">
                <a16:creationId xmlns:a16="http://schemas.microsoft.com/office/drawing/2014/main" id="{B55DC061-87D5-455A-9182-847942496ADC}"/>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practical climate question</a:t>
            </a:r>
            <a:endParaRPr/>
          </a:p>
        </p:txBody>
      </p:sp>
      <p:sp>
        <p:nvSpPr>
          <p:cNvPr id="109" name="Google Shape;109;p6">
            <a:extLst xmlns:a="http://schemas.openxmlformats.org/drawingml/2006/main">
              <a:ext uri="{FF2B5EF4-FFF2-40B4-BE49-F238E27FC236}">
                <a16:creationId xmlns:a16="http://schemas.microsoft.com/office/drawing/2014/main" id="{881D65C5-B1EE-4DD5-AB7B-14CBFC55F23C}"/>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Begin with the decision, then identify the information needed to support it</a:t>
            </a:r>
            <a:endParaRPr/>
          </a:p>
        </p:txBody>
      </p:sp>
      <p:sp>
        <p:nvSpPr>
          <p:cNvPr id="110" name="Google Shape;110;p6">
            <a:extLst xmlns:a="http://schemas.openxmlformats.org/drawingml/2006/main">
              <a:ext uri="{FF2B5EF4-FFF2-40B4-BE49-F238E27FC236}">
                <a16:creationId xmlns:a16="http://schemas.microsoft.com/office/drawing/2014/main" id="{2503FC7E-FB44-44F6-9989-4B11AEE8869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1" name="Google Shape;111;p6">
            <a:extLst xmlns:a="http://schemas.openxmlformats.org/drawingml/2006/main">
              <a:ext uri="{FF2B5EF4-FFF2-40B4-BE49-F238E27FC236}">
                <a16:creationId xmlns:a16="http://schemas.microsoft.com/office/drawing/2014/main" id="{61182370-7921-438D-A97C-C33343605CE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2" name="Google Shape;112;p6">
            <a:extLst xmlns:a="http://schemas.openxmlformats.org/drawingml/2006/main">
              <a:ext uri="{FF2B5EF4-FFF2-40B4-BE49-F238E27FC236}">
                <a16:creationId xmlns:a16="http://schemas.microsoft.com/office/drawing/2014/main" id="{B24463BA-70A0-482F-931F-C963E58B2F9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3" name="Google Shape;113;p6">
            <a:extLst xmlns:a="http://schemas.openxmlformats.org/drawingml/2006/main">
              <a:ext uri="{FF2B5EF4-FFF2-40B4-BE49-F238E27FC236}">
                <a16:creationId xmlns:a16="http://schemas.microsoft.com/office/drawing/2014/main" id="{EA96A261-FB1F-4D96-9FE8-6E787D40134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14" name="Google Shape;114;p6">
            <a:extLst xmlns:a="http://schemas.openxmlformats.org/drawingml/2006/main">
              <a:ext uri="{FF2B5EF4-FFF2-40B4-BE49-F238E27FC236}">
                <a16:creationId xmlns:a16="http://schemas.microsoft.com/office/drawing/2014/main" id="{91D06B3B-76E9-441D-B8C7-6FCE383A157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04</a:t>
            </a:r>
            <a:endParaRPr/>
          </a:p>
        </p:txBody>
      </p:sp>
      <p:sp>
        <p:nvSpPr>
          <p:cNvPr id="115" name="Google Shape;115;p6">
            <a:extLst xmlns:a="http://schemas.openxmlformats.org/drawingml/2006/main">
              <a:ext uri="{FF2B5EF4-FFF2-40B4-BE49-F238E27FC236}">
                <a16:creationId xmlns:a16="http://schemas.microsoft.com/office/drawing/2014/main" id="{EBC982CC-B2F3-4AF7-B759-19B80616E488}"/>
              </a:ext>
            </a:extLst>
          </p:cNvPr>
          <p:cNvSpPr>
            <a:spLocks xmlns:a="http://schemas.openxmlformats.org/drawingml/2006/main" noGrp="1"/>
          </p:cNvSpPr>
          <p:nvPr/>
        </p:nvSpPr>
        <p:spPr>
          <a:xfrm xmlns:a="http://schemas.openxmlformats.org/drawingml/2006/main">
            <a:off x="990600" y="1952625"/>
            <a:ext cx="1019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2775"/>
              <a:buFont typeface="Lato"/>
              <a:buNone/>
            </a:pPr>
            <a:r>
              <a:rPr sz="2775" b="1" i="0">
                <a:solidFill>
                  <a:srgbClr val="12304E"/>
                </a:solidFill>
                <a:latin typeface="Lato"/>
                <a:ea typeface="Lato"/>
                <a:cs typeface="Lato"/>
              </a:rPr>
              <a:t>How will extreme heat change in our project area over the next 30 years?</a:t>
            </a:r>
            <a:endParaRPr/>
          </a:p>
        </p:txBody>
      </p:sp>
      <p:sp>
        <p:nvSpPr>
          <p:cNvPr id="116" name="Google Shape;116;p6">
            <a:extLst xmlns:a="http://schemas.openxmlformats.org/drawingml/2006/main">
              <a:ext uri="{FF2B5EF4-FFF2-40B4-BE49-F238E27FC236}">
                <a16:creationId xmlns:a16="http://schemas.microsoft.com/office/drawing/2014/main" id="{4CCF76C9-9C92-4D37-A996-BD1BCD31F9A0}"/>
              </a:ext>
            </a:extLst>
          </p:cNvPr>
          <p:cNvSpPr>
            <a:spLocks xmlns:a="http://schemas.openxmlformats.org/drawingml/2006/main" noGrp="1"/>
          </p:cNvSpPr>
          <p:nvPr/>
        </p:nvSpPr>
        <p:spPr>
          <a:xfrm xmlns:a="http://schemas.openxmlformats.org/drawingml/2006/main">
            <a:off x="7048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7" name="Google Shape;117;p6">
            <a:extLst xmlns:a="http://schemas.openxmlformats.org/drawingml/2006/main">
              <a:ext uri="{FF2B5EF4-FFF2-40B4-BE49-F238E27FC236}">
                <a16:creationId xmlns:a16="http://schemas.microsoft.com/office/drawing/2014/main" id="{251107E3-FDEA-4C18-83E4-82FB28399AB3}"/>
              </a:ext>
            </a:extLst>
          </p:cNvPr>
          <p:cNvSpPr>
            <a:spLocks xmlns:a="http://schemas.openxmlformats.org/drawingml/2006/main" noGrp="1"/>
          </p:cNvSpPr>
          <p:nvPr/>
        </p:nvSpPr>
        <p:spPr>
          <a:xfrm xmlns:a="http://schemas.openxmlformats.org/drawingml/2006/main">
            <a:off x="704850" y="3790950"/>
            <a:ext cx="38100" cy="1076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8" name="Google Shape;118;p6">
            <a:extLst xmlns:a="http://schemas.openxmlformats.org/drawingml/2006/main">
              <a:ext uri="{FF2B5EF4-FFF2-40B4-BE49-F238E27FC236}">
                <a16:creationId xmlns:a16="http://schemas.microsoft.com/office/drawing/2014/main" id="{893BA2C2-B505-4776-BE79-EBF2C043DA73}"/>
              </a:ext>
            </a:extLst>
          </p:cNvPr>
          <p:cNvSpPr>
            <a:spLocks xmlns:a="http://schemas.openxmlformats.org/drawingml/2006/main" noGrp="1"/>
          </p:cNvSpPr>
          <p:nvPr/>
        </p:nvSpPr>
        <p:spPr>
          <a:xfrm xmlns:a="http://schemas.openxmlformats.org/drawingml/2006/main">
            <a:off x="9334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a:solidFill>
                  <a:srgbClr val="12304E"/>
                </a:solidFill>
                <a:latin typeface="Lato"/>
                <a:ea typeface="Lato"/>
                <a:cs typeface="Lato"/>
              </a:rPr>
              <a:t>DESIGNING</a:t>
            </a:r>
            <a:r>
              <a:rPr sz="1050" b="1" i="0">
                <a:solidFill>
                  <a:srgbClr val="12304E"/>
                </a:solidFill>
                <a:latin typeface="Lato"/>
                <a:ea typeface="Lato"/>
                <a:cs typeface="Lato"/>
              </a:rPr>
              <a:t> PROJECT ACTIVITIES</a:t>
            </a:r>
            <a:endParaRPr sz="1050" b="1" i="0">
              <a:solidFill>
                <a:srgbClr val="12304E"/>
              </a:solidFill>
              <a:latin typeface="Lato"/>
              <a:ea typeface="Lato"/>
              <a:cs typeface="Lato"/>
            </a:endParaRPr>
          </a:p>
        </p:txBody>
      </p:sp>
      <p:sp>
        <p:nvSpPr>
          <p:cNvPr id="119" name="Google Shape;119;p6">
            <a:extLst xmlns:a="http://schemas.openxmlformats.org/drawingml/2006/main">
              <a:ext uri="{FF2B5EF4-FFF2-40B4-BE49-F238E27FC236}">
                <a16:creationId xmlns:a16="http://schemas.microsoft.com/office/drawing/2014/main" id="{8498B83F-01AF-401F-AD1B-48A869247040}"/>
              </a:ext>
            </a:extLst>
          </p:cNvPr>
          <p:cNvSpPr>
            <a:spLocks xmlns:a="http://schemas.openxmlformats.org/drawingml/2006/main" noGrp="1"/>
          </p:cNvSpPr>
          <p:nvPr/>
        </p:nvSpPr>
        <p:spPr>
          <a:xfrm xmlns:a="http://schemas.openxmlformats.org/drawingml/2006/main">
            <a:off x="9334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Will planned assets and activities remain viable?</a:t>
            </a:r>
            <a:endParaRPr/>
          </a:p>
        </p:txBody>
      </p:sp>
      <p:sp>
        <p:nvSpPr>
          <p:cNvPr id="120" name="Google Shape;120;p6">
            <a:extLst xmlns:a="http://schemas.openxmlformats.org/drawingml/2006/main">
              <a:ext uri="{FF2B5EF4-FFF2-40B4-BE49-F238E27FC236}">
                <a16:creationId xmlns:a16="http://schemas.microsoft.com/office/drawing/2014/main" id="{0E427223-F132-4C84-AE56-6C5574BC8959}"/>
              </a:ext>
            </a:extLst>
          </p:cNvPr>
          <p:cNvSpPr>
            <a:spLocks xmlns:a="http://schemas.openxmlformats.org/drawingml/2006/main" noGrp="1"/>
          </p:cNvSpPr>
          <p:nvPr/>
        </p:nvSpPr>
        <p:spPr>
          <a:xfrm xmlns:a="http://schemas.openxmlformats.org/drawingml/2006/main">
            <a:off x="445770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1" name="Google Shape;121;p6">
            <a:extLst xmlns:a="http://schemas.openxmlformats.org/drawingml/2006/main">
              <a:ext uri="{FF2B5EF4-FFF2-40B4-BE49-F238E27FC236}">
                <a16:creationId xmlns:a16="http://schemas.microsoft.com/office/drawing/2014/main" id="{151E78CC-423F-4012-A239-DB175BE4D6BE}"/>
              </a:ext>
            </a:extLst>
          </p:cNvPr>
          <p:cNvSpPr>
            <a:spLocks xmlns:a="http://schemas.openxmlformats.org/drawingml/2006/main" noGrp="1"/>
          </p:cNvSpPr>
          <p:nvPr/>
        </p:nvSpPr>
        <p:spPr>
          <a:xfrm xmlns:a="http://schemas.openxmlformats.org/drawingml/2006/main">
            <a:off x="4457700" y="3790950"/>
            <a:ext cx="38100" cy="107632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2" name="Google Shape;122;p6">
            <a:extLst xmlns:a="http://schemas.openxmlformats.org/drawingml/2006/main">
              <a:ext uri="{FF2B5EF4-FFF2-40B4-BE49-F238E27FC236}">
                <a16:creationId xmlns:a16="http://schemas.microsoft.com/office/drawing/2014/main" id="{67E02C4E-4702-4CD0-9ED4-823006F61B16}"/>
              </a:ext>
            </a:extLst>
          </p:cNvPr>
          <p:cNvSpPr>
            <a:spLocks xmlns:a="http://schemas.openxmlformats.org/drawingml/2006/main" noGrp="1"/>
          </p:cNvSpPr>
          <p:nvPr/>
        </p:nvSpPr>
        <p:spPr>
          <a:xfrm xmlns:a="http://schemas.openxmlformats.org/drawingml/2006/main">
            <a:off x="468630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CLIMATE RISK</a:t>
            </a:r>
            <a:r>
              <a:rPr sz="1050" b="1">
                <a:solidFill>
                  <a:srgbClr val="12304E"/>
                </a:solidFill>
                <a:latin typeface="Lato"/>
                <a:ea typeface="Lato"/>
                <a:cs typeface="Lato"/>
              </a:rPr>
              <a:t>S </a:t>
            </a:r>
            <a:r>
              <a:rPr sz="1050" b="1">
                <a:solidFill>
                  <a:srgbClr val="12304E"/>
                </a:solidFill>
                <a:latin typeface="Lato"/>
                <a:ea typeface="Lato"/>
                <a:cs typeface="Lato"/>
              </a:rPr>
              <a:t>CONSIDERATIONS</a:t>
            </a:r>
            <a:endParaRPr sz="1050" b="1" i="0">
              <a:solidFill>
                <a:srgbClr val="12304E"/>
              </a:solidFill>
              <a:latin typeface="Lato"/>
              <a:ea typeface="Lato"/>
              <a:cs typeface="Lato"/>
            </a:endParaRPr>
          </a:p>
        </p:txBody>
      </p:sp>
      <p:sp>
        <p:nvSpPr>
          <p:cNvPr id="123" name="Google Shape;123;p6">
            <a:extLst xmlns:a="http://schemas.openxmlformats.org/drawingml/2006/main">
              <a:ext uri="{FF2B5EF4-FFF2-40B4-BE49-F238E27FC236}">
                <a16:creationId xmlns:a16="http://schemas.microsoft.com/office/drawing/2014/main" id="{5CA58CE6-585E-45DC-9CC2-F9665F781B0D}"/>
              </a:ext>
            </a:extLst>
          </p:cNvPr>
          <p:cNvSpPr>
            <a:spLocks xmlns:a="http://schemas.openxmlformats.org/drawingml/2006/main" noGrp="1"/>
          </p:cNvSpPr>
          <p:nvPr/>
        </p:nvSpPr>
        <p:spPr>
          <a:xfrm xmlns:a="http://schemas.openxmlformats.org/drawingml/2006/main">
            <a:off x="468630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groups or locations may face greater exposure </a:t>
            </a:r>
            <a:r>
              <a:rPr sz="1350">
                <a:solidFill>
                  <a:srgbClr val="687984"/>
                </a:solidFill>
                <a:latin typeface="Lato"/>
                <a:ea typeface="Lato"/>
                <a:cs typeface="Lato"/>
              </a:rPr>
              <a:t>and/or are more vulnerable</a:t>
            </a:r>
            <a:r>
              <a:rPr sz="1350" b="0" i="0">
                <a:solidFill>
                  <a:srgbClr val="687984"/>
                </a:solidFill>
                <a:latin typeface="Lato"/>
                <a:ea typeface="Lato"/>
                <a:cs typeface="Lato"/>
              </a:rPr>
              <a:t>?</a:t>
            </a:r>
            <a:endParaRPr/>
          </a:p>
        </p:txBody>
      </p:sp>
      <p:sp>
        <p:nvSpPr>
          <p:cNvPr id="124" name="Google Shape;124;p6">
            <a:extLst xmlns:a="http://schemas.openxmlformats.org/drawingml/2006/main">
              <a:ext uri="{FF2B5EF4-FFF2-40B4-BE49-F238E27FC236}">
                <a16:creationId xmlns:a16="http://schemas.microsoft.com/office/drawing/2014/main" id="{DA1BF011-85EE-4754-8861-0FCB4C3A15D2}"/>
              </a:ext>
            </a:extLst>
          </p:cNvPr>
          <p:cNvSpPr>
            <a:spLocks xmlns:a="http://schemas.openxmlformats.org/drawingml/2006/main" noGrp="1"/>
          </p:cNvSpPr>
          <p:nvPr/>
        </p:nvSpPr>
        <p:spPr>
          <a:xfrm xmlns:a="http://schemas.openxmlformats.org/drawingml/2006/main">
            <a:off x="82105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8073B0BB-C261-4548-A675-AB977477CE85}"/>
              </a:ext>
            </a:extLst>
          </p:cNvPr>
          <p:cNvSpPr>
            <a:spLocks xmlns:a="http://schemas.openxmlformats.org/drawingml/2006/main" noGrp="1"/>
          </p:cNvSpPr>
          <p:nvPr/>
        </p:nvSpPr>
        <p:spPr>
          <a:xfrm xmlns:a="http://schemas.openxmlformats.org/drawingml/2006/main">
            <a:off x="8210550" y="3790950"/>
            <a:ext cx="38100" cy="107632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6" name="Google Shape;126;p6">
            <a:extLst xmlns:a="http://schemas.openxmlformats.org/drawingml/2006/main">
              <a:ext uri="{FF2B5EF4-FFF2-40B4-BE49-F238E27FC236}">
                <a16:creationId xmlns:a16="http://schemas.microsoft.com/office/drawing/2014/main" id="{0449E9F9-D534-495D-A94E-3D58A13CF989}"/>
              </a:ext>
            </a:extLst>
          </p:cNvPr>
          <p:cNvSpPr>
            <a:spLocks xmlns:a="http://schemas.openxmlformats.org/drawingml/2006/main" noGrp="1"/>
          </p:cNvSpPr>
          <p:nvPr/>
        </p:nvSpPr>
        <p:spPr>
          <a:xfrm xmlns:a="http://schemas.openxmlformats.org/drawingml/2006/main">
            <a:off x="84391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ADAPTATION</a:t>
            </a:r>
            <a:endParaRPr/>
          </a:p>
        </p:txBody>
      </p:sp>
      <p:sp>
        <p:nvSpPr>
          <p:cNvPr id="127" name="Google Shape;127;p6">
            <a:extLst xmlns:a="http://schemas.openxmlformats.org/drawingml/2006/main">
              <a:ext uri="{FF2B5EF4-FFF2-40B4-BE49-F238E27FC236}">
                <a16:creationId xmlns:a16="http://schemas.microsoft.com/office/drawing/2014/main" id="{1AC73B30-4110-4067-B5ED-58B1786E246D}"/>
              </a:ext>
            </a:extLst>
          </p:cNvPr>
          <p:cNvSpPr>
            <a:spLocks xmlns:a="http://schemas.openxmlformats.org/drawingml/2006/main" noGrp="1"/>
          </p:cNvSpPr>
          <p:nvPr/>
        </p:nvSpPr>
        <p:spPr>
          <a:xfrm xmlns:a="http://schemas.openxmlformats.org/drawingml/2006/main">
            <a:off x="84391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options respond to the scale and timing of change?</a:t>
            </a:r>
            <a:endParaRPr/>
          </a:p>
        </p:txBody>
      </p:sp>
      <p:sp>
        <p:nvSpPr>
          <p:cNvPr id="128" name="Google Shape;128;p6">
            <a:extLst xmlns:a="http://schemas.openxmlformats.org/drawingml/2006/main">
              <a:ext uri="{FF2B5EF4-FFF2-40B4-BE49-F238E27FC236}">
                <a16:creationId xmlns:a16="http://schemas.microsoft.com/office/drawing/2014/main" id="{4BA3C74B-F86D-4415-BB29-A933137262C5}"/>
              </a:ext>
            </a:extLst>
          </p:cNvPr>
          <p:cNvSpPr>
            <a:spLocks xmlns:a="http://schemas.openxmlformats.org/drawingml/2006/main" noGrp="1"/>
          </p:cNvSpPr>
          <p:nvPr/>
        </p:nvSpPr>
        <p:spPr>
          <a:xfrm xmlns:a="http://schemas.openxmlformats.org/drawingml/2006/main">
            <a:off x="1628775" y="5438775"/>
            <a:ext cx="8905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The question sounds simple. Answering it requires a chain of choices and processing steps.</a:t>
            </a:r>
            <a:endParaRPr/>
          </a:p>
        </p:txBody>
      </p:sp>
    </p:spTree>
    <p:extLst>
      <p:ext uri="{BB962C8B-B14F-4D97-AF65-F5344CB8AC3E}">
        <p14:creationId xmlns:p14="http://schemas.microsoft.com/office/powerpoint/2010/main" val="324820864"/>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4" name="Google Shape;134;p7">
            <a:extLst xmlns:a="http://schemas.openxmlformats.org/drawingml/2006/main">
              <a:ext uri="{FF2B5EF4-FFF2-40B4-BE49-F238E27FC236}">
                <a16:creationId xmlns:a16="http://schemas.microsoft.com/office/drawing/2014/main" id="{8D5C4986-4785-4750-BE3B-FA74692ACE8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a decision question to climate information</a:t>
            </a:r>
            <a:endParaRPr/>
          </a:p>
        </p:txBody>
      </p:sp>
      <p:sp>
        <p:nvSpPr>
          <p:cNvPr id="135" name="Google Shape;135;p7">
            <a:extLst xmlns:a="http://schemas.openxmlformats.org/drawingml/2006/main">
              <a:ext uri="{FF2B5EF4-FFF2-40B4-BE49-F238E27FC236}">
                <a16:creationId xmlns:a16="http://schemas.microsoft.com/office/drawing/2014/main" id="{C68D366C-153A-4D29-B496-1A79E6FEADD0}"/>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Each step adds a choice that affects the final interpretation</a:t>
            </a:r>
            <a:endParaRPr/>
          </a:p>
        </p:txBody>
      </p:sp>
      <p:sp>
        <p:nvSpPr>
          <p:cNvPr id="136" name="Google Shape;136;p7">
            <a:extLst xmlns:a="http://schemas.openxmlformats.org/drawingml/2006/main">
              <a:ext uri="{FF2B5EF4-FFF2-40B4-BE49-F238E27FC236}">
                <a16:creationId xmlns:a16="http://schemas.microsoft.com/office/drawing/2014/main" id="{B422A819-959D-4632-BAEB-BF81E3294DD3}"/>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7" name="Google Shape;137;p7">
            <a:extLst xmlns:a="http://schemas.openxmlformats.org/drawingml/2006/main">
              <a:ext uri="{FF2B5EF4-FFF2-40B4-BE49-F238E27FC236}">
                <a16:creationId xmlns:a16="http://schemas.microsoft.com/office/drawing/2014/main" id="{338933EF-3DA4-46C6-ACA5-92DC47136EC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8" name="Google Shape;138;p7">
            <a:extLst xmlns:a="http://schemas.openxmlformats.org/drawingml/2006/main">
              <a:ext uri="{FF2B5EF4-FFF2-40B4-BE49-F238E27FC236}">
                <a16:creationId xmlns:a16="http://schemas.microsoft.com/office/drawing/2014/main" id="{F63BB3B9-FFDD-43A6-BCB5-5354BD9BAA0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9" name="Google Shape;139;p7">
            <a:extLst xmlns:a="http://schemas.openxmlformats.org/drawingml/2006/main">
              <a:ext uri="{FF2B5EF4-FFF2-40B4-BE49-F238E27FC236}">
                <a16:creationId xmlns:a16="http://schemas.microsoft.com/office/drawing/2014/main" id="{4C02808C-0C73-4AEF-A1A5-4FC4C1D77B3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40" name="Google Shape;140;p7">
            <a:extLst xmlns:a="http://schemas.openxmlformats.org/drawingml/2006/main">
              <a:ext uri="{FF2B5EF4-FFF2-40B4-BE49-F238E27FC236}">
                <a16:creationId xmlns:a16="http://schemas.microsoft.com/office/drawing/2014/main" id="{D2BD6302-C416-4401-ABE4-3461ABD2964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05</a:t>
            </a:r>
            <a:endParaRPr/>
          </a:p>
        </p:txBody>
      </p:sp>
      <p:sp>
        <p:nvSpPr>
          <p:cNvPr id="141" name="Google Shape;141;p7">
            <a:extLst xmlns:a="http://schemas.openxmlformats.org/drawingml/2006/main">
              <a:ext uri="{FF2B5EF4-FFF2-40B4-BE49-F238E27FC236}">
                <a16:creationId xmlns:a16="http://schemas.microsoft.com/office/drawing/2014/main" id="{9995ACEE-4117-4D65-A880-4A58872F8BD0}"/>
              </a:ext>
            </a:extLst>
          </p:cNvPr>
          <p:cNvSpPr>
            <a:spLocks xmlns:a="http://schemas.openxmlformats.org/drawingml/2006/main" noGrp="1"/>
          </p:cNvSpPr>
          <p:nvPr/>
        </p:nvSpPr>
        <p:spPr>
          <a:xfrm xmlns:a="http://schemas.openxmlformats.org/drawingml/2006/main">
            <a:off x="6477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2" name="Google Shape;142;p7">
            <a:extLst xmlns:a="http://schemas.openxmlformats.org/drawingml/2006/main">
              <a:ext uri="{FF2B5EF4-FFF2-40B4-BE49-F238E27FC236}">
                <a16:creationId xmlns:a16="http://schemas.microsoft.com/office/drawing/2014/main" id="{FB04218F-5B93-4E23-A6D3-CD248024FDEA}"/>
              </a:ext>
            </a:extLst>
          </p:cNvPr>
          <p:cNvSpPr>
            <a:spLocks xmlns:a="http://schemas.openxmlformats.org/drawingml/2006/main" noGrp="1"/>
          </p:cNvSpPr>
          <p:nvPr/>
        </p:nvSpPr>
        <p:spPr>
          <a:xfrm xmlns:a="http://schemas.openxmlformats.org/drawingml/2006/main">
            <a:off x="8382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01</a:t>
            </a:r>
            <a:endParaRPr/>
          </a:p>
        </p:txBody>
      </p:sp>
      <p:sp>
        <p:nvSpPr>
          <p:cNvPr id="143" name="Google Shape;143;p7">
            <a:extLst xmlns:a="http://schemas.openxmlformats.org/drawingml/2006/main">
              <a:ext uri="{FF2B5EF4-FFF2-40B4-BE49-F238E27FC236}">
                <a16:creationId xmlns:a16="http://schemas.microsoft.com/office/drawing/2014/main" id="{000F6742-7628-41B1-819F-8AE466274B51}"/>
              </a:ext>
            </a:extLst>
          </p:cNvPr>
          <p:cNvSpPr>
            <a:spLocks xmlns:a="http://schemas.openxmlformats.org/drawingml/2006/main" noGrp="1"/>
          </p:cNvSpPr>
          <p:nvPr/>
        </p:nvSpPr>
        <p:spPr>
          <a:xfrm xmlns:a="http://schemas.openxmlformats.org/drawingml/2006/main">
            <a:off x="8382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Decision question</a:t>
            </a:r>
            <a:endParaRPr/>
          </a:p>
        </p:txBody>
      </p:sp>
      <p:sp>
        <p:nvSpPr>
          <p:cNvPr id="144" name="Google Shape;144;p7">
            <a:extLst xmlns:a="http://schemas.openxmlformats.org/drawingml/2006/main">
              <a:ext uri="{FF2B5EF4-FFF2-40B4-BE49-F238E27FC236}">
                <a16:creationId xmlns:a16="http://schemas.microsoft.com/office/drawing/2014/main" id="{24750D44-B938-47A5-9B71-58FD7C85FB5A}"/>
              </a:ext>
            </a:extLst>
          </p:cNvPr>
          <p:cNvSpPr>
            <a:spLocks xmlns:a="http://schemas.openxmlformats.org/drawingml/2006/main" noGrp="1"/>
          </p:cNvSpPr>
          <p:nvPr/>
        </p:nvSpPr>
        <p:spPr>
          <a:xfrm xmlns:a="http://schemas.openxmlformats.org/drawingml/2006/main">
            <a:off x="8382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must the project decide?</a:t>
            </a:r>
            <a:endParaRPr/>
          </a:p>
        </p:txBody>
      </p:sp>
      <p:sp>
        <p:nvSpPr>
          <p:cNvPr id="145" name="Google Shape;145;p7">
            <a:extLst xmlns:a="http://schemas.openxmlformats.org/drawingml/2006/main">
              <a:ext uri="{FF2B5EF4-FFF2-40B4-BE49-F238E27FC236}">
                <a16:creationId xmlns:a16="http://schemas.microsoft.com/office/drawing/2014/main" id="{232AF9FF-0548-497B-B583-105EEE06B10A}"/>
              </a:ext>
            </a:extLst>
          </p:cNvPr>
          <p:cNvSpPr>
            <a:spLocks xmlns:a="http://schemas.openxmlformats.org/drawingml/2006/main" noGrp="1"/>
          </p:cNvSpPr>
          <p:nvPr/>
        </p:nvSpPr>
        <p:spPr>
          <a:xfrm xmlns:a="http://schemas.openxmlformats.org/drawingml/2006/main">
            <a:off x="260032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6" name="Google Shape;146;p7">
            <a:extLst xmlns:a="http://schemas.openxmlformats.org/drawingml/2006/main">
              <a:ext uri="{FF2B5EF4-FFF2-40B4-BE49-F238E27FC236}">
                <a16:creationId xmlns:a16="http://schemas.microsoft.com/office/drawing/2014/main" id="{980F87E8-271D-4B3D-BA5A-EB0FABD861F3}"/>
              </a:ext>
            </a:extLst>
          </p:cNvPr>
          <p:cNvSpPr>
            <a:spLocks xmlns:a="http://schemas.openxmlformats.org/drawingml/2006/main" noGrp="1"/>
          </p:cNvSpPr>
          <p:nvPr/>
        </p:nvSpPr>
        <p:spPr>
          <a:xfrm xmlns:a="http://schemas.openxmlformats.org/drawingml/2006/main">
            <a:off x="284797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7" name="Google Shape;147;p7">
            <a:extLst xmlns:a="http://schemas.openxmlformats.org/drawingml/2006/main">
              <a:ext uri="{FF2B5EF4-FFF2-40B4-BE49-F238E27FC236}">
                <a16:creationId xmlns:a16="http://schemas.microsoft.com/office/drawing/2014/main" id="{555DD483-002F-46F8-914B-77B947416935}"/>
              </a:ext>
            </a:extLst>
          </p:cNvPr>
          <p:cNvSpPr>
            <a:spLocks xmlns:a="http://schemas.openxmlformats.org/drawingml/2006/main" noGrp="1"/>
          </p:cNvSpPr>
          <p:nvPr/>
        </p:nvSpPr>
        <p:spPr>
          <a:xfrm xmlns:a="http://schemas.openxmlformats.org/drawingml/2006/main">
            <a:off x="303847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148" name="Google Shape;148;p7">
            <a:extLst xmlns:a="http://schemas.openxmlformats.org/drawingml/2006/main">
              <a:ext uri="{FF2B5EF4-FFF2-40B4-BE49-F238E27FC236}">
                <a16:creationId xmlns:a16="http://schemas.microsoft.com/office/drawing/2014/main" id="{8B8AA71F-3395-4401-9219-DF477F3E6058}"/>
              </a:ext>
            </a:extLst>
          </p:cNvPr>
          <p:cNvSpPr>
            <a:spLocks xmlns:a="http://schemas.openxmlformats.org/drawingml/2006/main" noGrp="1"/>
          </p:cNvSpPr>
          <p:nvPr/>
        </p:nvSpPr>
        <p:spPr>
          <a:xfrm xmlns:a="http://schemas.openxmlformats.org/drawingml/2006/main">
            <a:off x="303847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Information need</a:t>
            </a:r>
            <a:endParaRPr/>
          </a:p>
        </p:txBody>
      </p:sp>
      <p:sp>
        <p:nvSpPr>
          <p:cNvPr id="149" name="Google Shape;149;p7">
            <a:extLst xmlns:a="http://schemas.openxmlformats.org/drawingml/2006/main">
              <a:ext uri="{FF2B5EF4-FFF2-40B4-BE49-F238E27FC236}">
                <a16:creationId xmlns:a16="http://schemas.microsoft.com/office/drawing/2014/main" id="{13B1FFF6-56FE-4D07-BC4F-B1B49EA524E7}"/>
              </a:ext>
            </a:extLst>
          </p:cNvPr>
          <p:cNvSpPr>
            <a:spLocks xmlns:a="http://schemas.openxmlformats.org/drawingml/2006/main" noGrp="1"/>
          </p:cNvSpPr>
          <p:nvPr/>
        </p:nvSpPr>
        <p:spPr>
          <a:xfrm xmlns:a="http://schemas.openxmlformats.org/drawingml/2006/main">
            <a:off x="303847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hazard, geography and period?</a:t>
            </a:r>
            <a:endParaRPr/>
          </a:p>
        </p:txBody>
      </p:sp>
      <p:sp>
        <p:nvSpPr>
          <p:cNvPr id="150" name="Google Shape;150;p7">
            <a:extLst xmlns:a="http://schemas.openxmlformats.org/drawingml/2006/main">
              <a:ext uri="{FF2B5EF4-FFF2-40B4-BE49-F238E27FC236}">
                <a16:creationId xmlns:a16="http://schemas.microsoft.com/office/drawing/2014/main" id="{2B754B52-496B-4C5D-985E-2CC74823C82B}"/>
              </a:ext>
            </a:extLst>
          </p:cNvPr>
          <p:cNvSpPr>
            <a:spLocks xmlns:a="http://schemas.openxmlformats.org/drawingml/2006/main" noGrp="1"/>
          </p:cNvSpPr>
          <p:nvPr/>
        </p:nvSpPr>
        <p:spPr>
          <a:xfrm xmlns:a="http://schemas.openxmlformats.org/drawingml/2006/main">
            <a:off x="480060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1" name="Google Shape;151;p7">
            <a:extLst xmlns:a="http://schemas.openxmlformats.org/drawingml/2006/main">
              <a:ext uri="{FF2B5EF4-FFF2-40B4-BE49-F238E27FC236}">
                <a16:creationId xmlns:a16="http://schemas.microsoft.com/office/drawing/2014/main" id="{31735A31-E23B-4287-AF73-931698C7462D}"/>
              </a:ext>
            </a:extLst>
          </p:cNvPr>
          <p:cNvSpPr>
            <a:spLocks xmlns:a="http://schemas.openxmlformats.org/drawingml/2006/main" noGrp="1"/>
          </p:cNvSpPr>
          <p:nvPr/>
        </p:nvSpPr>
        <p:spPr>
          <a:xfrm xmlns:a="http://schemas.openxmlformats.org/drawingml/2006/main">
            <a:off x="504825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FF0000"/>
              </a:solidFill>
              <a:highlight>
                <a:srgbClr val="FF0000"/>
              </a:highlight>
              <a:latin typeface="Calibri"/>
              <a:ea typeface="Calibri"/>
              <a:cs typeface="Calibri"/>
            </a:endParaRPr>
          </a:p>
        </p:txBody>
      </p:sp>
      <p:sp>
        <p:nvSpPr>
          <p:cNvPr id="152" name="Google Shape;152;p7">
            <a:extLst xmlns:a="http://schemas.openxmlformats.org/drawingml/2006/main">
              <a:ext uri="{FF2B5EF4-FFF2-40B4-BE49-F238E27FC236}">
                <a16:creationId xmlns:a16="http://schemas.microsoft.com/office/drawing/2014/main" id="{3EAE31CF-F74D-4A3B-A641-1A1AD17675F8}"/>
              </a:ext>
            </a:extLst>
          </p:cNvPr>
          <p:cNvSpPr>
            <a:spLocks xmlns:a="http://schemas.openxmlformats.org/drawingml/2006/main" noGrp="1"/>
          </p:cNvSpPr>
          <p:nvPr/>
        </p:nvSpPr>
        <p:spPr>
          <a:xfrm xmlns:a="http://schemas.openxmlformats.org/drawingml/2006/main">
            <a:off x="523875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chemeClr val="dk1"/>
                </a:solidFill>
                <a:latin typeface="Lato"/>
                <a:ea typeface="Lato"/>
                <a:cs typeface="Lato"/>
              </a:rPr>
              <a:t>03</a:t>
            </a:r>
            <a:endParaRPr>
              <a:solidFill>
                <a:schemeClr val="dk1"/>
              </a:solidFill>
            </a:endParaRPr>
          </a:p>
        </p:txBody>
      </p:sp>
      <p:sp>
        <p:nvSpPr>
          <p:cNvPr id="153" name="Google Shape;153;p7">
            <a:extLst xmlns:a="http://schemas.openxmlformats.org/drawingml/2006/main">
              <a:ext uri="{FF2B5EF4-FFF2-40B4-BE49-F238E27FC236}">
                <a16:creationId xmlns:a16="http://schemas.microsoft.com/office/drawing/2014/main" id="{D01C450D-6511-436A-9A62-6EF8400BD862}"/>
              </a:ext>
            </a:extLst>
          </p:cNvPr>
          <p:cNvSpPr>
            <a:spLocks xmlns:a="http://schemas.openxmlformats.org/drawingml/2006/main" noGrp="1"/>
          </p:cNvSpPr>
          <p:nvPr/>
        </p:nvSpPr>
        <p:spPr>
          <a:xfrm xmlns:a="http://schemas.openxmlformats.org/drawingml/2006/main">
            <a:off x="523875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Climate evidence</a:t>
            </a:r>
            <a:endParaRPr/>
          </a:p>
        </p:txBody>
      </p:sp>
      <p:sp>
        <p:nvSpPr>
          <p:cNvPr id="154" name="Google Shape;154;p7">
            <a:extLst xmlns:a="http://schemas.openxmlformats.org/drawingml/2006/main">
              <a:ext uri="{FF2B5EF4-FFF2-40B4-BE49-F238E27FC236}">
                <a16:creationId xmlns:a16="http://schemas.microsoft.com/office/drawing/2014/main" id="{68D5635D-064D-4788-9469-BB1215959157}"/>
              </a:ext>
            </a:extLst>
          </p:cNvPr>
          <p:cNvSpPr>
            <a:spLocks xmlns:a="http://schemas.openxmlformats.org/drawingml/2006/main" noGrp="1"/>
          </p:cNvSpPr>
          <p:nvPr/>
        </p:nvSpPr>
        <p:spPr>
          <a:xfrm xmlns:a="http://schemas.openxmlformats.org/drawingml/2006/main">
            <a:off x="523875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reference and projections?</a:t>
            </a:r>
            <a:endParaRPr/>
          </a:p>
        </p:txBody>
      </p:sp>
      <p:sp>
        <p:nvSpPr>
          <p:cNvPr id="155" name="Google Shape;155;p7">
            <a:extLst xmlns:a="http://schemas.openxmlformats.org/drawingml/2006/main">
              <a:ext uri="{FF2B5EF4-FFF2-40B4-BE49-F238E27FC236}">
                <a16:creationId xmlns:a16="http://schemas.microsoft.com/office/drawing/2014/main" id="{24D03DC9-D040-49F0-871C-33ABFFA8D909}"/>
              </a:ext>
            </a:extLst>
          </p:cNvPr>
          <p:cNvSpPr>
            <a:spLocks xmlns:a="http://schemas.openxmlformats.org/drawingml/2006/main" noGrp="1"/>
          </p:cNvSpPr>
          <p:nvPr/>
        </p:nvSpPr>
        <p:spPr>
          <a:xfrm xmlns:a="http://schemas.openxmlformats.org/drawingml/2006/main">
            <a:off x="700087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6" name="Google Shape;156;p7">
            <a:extLst xmlns:a="http://schemas.openxmlformats.org/drawingml/2006/main">
              <a:ext uri="{FF2B5EF4-FFF2-40B4-BE49-F238E27FC236}">
                <a16:creationId xmlns:a16="http://schemas.microsoft.com/office/drawing/2014/main" id="{B3CCE021-1B12-43C9-A0B5-DCEDEF01AD9A}"/>
              </a:ext>
            </a:extLst>
          </p:cNvPr>
          <p:cNvSpPr>
            <a:spLocks xmlns:a="http://schemas.openxmlformats.org/drawingml/2006/main" noGrp="1"/>
          </p:cNvSpPr>
          <p:nvPr/>
        </p:nvSpPr>
        <p:spPr>
          <a:xfrm xmlns:a="http://schemas.openxmlformats.org/drawingml/2006/main">
            <a:off x="724852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7" name="Google Shape;157;p7">
            <a:extLst xmlns:a="http://schemas.openxmlformats.org/drawingml/2006/main">
              <a:ext uri="{FF2B5EF4-FFF2-40B4-BE49-F238E27FC236}">
                <a16:creationId xmlns:a16="http://schemas.microsoft.com/office/drawing/2014/main" id="{C56C2D39-BF55-4D92-94CE-F419F4BAD1E7}"/>
              </a:ext>
            </a:extLst>
          </p:cNvPr>
          <p:cNvSpPr>
            <a:spLocks xmlns:a="http://schemas.openxmlformats.org/drawingml/2006/main" noGrp="1"/>
          </p:cNvSpPr>
          <p:nvPr/>
        </p:nvSpPr>
        <p:spPr>
          <a:xfrm xmlns:a="http://schemas.openxmlformats.org/drawingml/2006/main">
            <a:off x="743902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04</a:t>
            </a:r>
            <a:endParaRPr/>
          </a:p>
        </p:txBody>
      </p:sp>
      <p:sp>
        <p:nvSpPr>
          <p:cNvPr id="158" name="Google Shape;158;p7">
            <a:extLst xmlns:a="http://schemas.openxmlformats.org/drawingml/2006/main">
              <a:ext uri="{FF2B5EF4-FFF2-40B4-BE49-F238E27FC236}">
                <a16:creationId xmlns:a16="http://schemas.microsoft.com/office/drawing/2014/main" id="{A36E8BC3-D701-4DC4-8189-AD27A72043AF}"/>
              </a:ext>
            </a:extLst>
          </p:cNvPr>
          <p:cNvSpPr>
            <a:spLocks xmlns:a="http://schemas.openxmlformats.org/drawingml/2006/main" noGrp="1"/>
          </p:cNvSpPr>
          <p:nvPr/>
        </p:nvSpPr>
        <p:spPr>
          <a:xfrm xmlns:a="http://schemas.openxmlformats.org/drawingml/2006/main">
            <a:off x="743902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Processing</a:t>
            </a:r>
            <a:endParaRPr/>
          </a:p>
        </p:txBody>
      </p:sp>
      <p:sp>
        <p:nvSpPr>
          <p:cNvPr id="159" name="Google Shape;159;p7">
            <a:extLst xmlns:a="http://schemas.openxmlformats.org/drawingml/2006/main">
              <a:ext uri="{FF2B5EF4-FFF2-40B4-BE49-F238E27FC236}">
                <a16:creationId xmlns:a16="http://schemas.microsoft.com/office/drawing/2014/main" id="{796A3A34-3E56-4A37-9BFB-E4B1958568DD}"/>
              </a:ext>
            </a:extLst>
          </p:cNvPr>
          <p:cNvSpPr>
            <a:spLocks xmlns:a="http://schemas.openxmlformats.org/drawingml/2006/main" noGrp="1"/>
          </p:cNvSpPr>
          <p:nvPr/>
        </p:nvSpPr>
        <p:spPr>
          <a:xfrm xmlns:a="http://schemas.openxmlformats.org/drawingml/2006/main">
            <a:off x="743902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How are data made comparable?</a:t>
            </a:r>
            <a:endParaRPr/>
          </a:p>
        </p:txBody>
      </p:sp>
      <p:sp>
        <p:nvSpPr>
          <p:cNvPr id="160" name="Google Shape;160;p7">
            <a:extLst xmlns:a="http://schemas.openxmlformats.org/drawingml/2006/main">
              <a:ext uri="{FF2B5EF4-FFF2-40B4-BE49-F238E27FC236}">
                <a16:creationId xmlns:a16="http://schemas.microsoft.com/office/drawing/2014/main" id="{F7DDB35E-C99C-4B60-A3D6-5D7C8F450828}"/>
              </a:ext>
            </a:extLst>
          </p:cNvPr>
          <p:cNvSpPr>
            <a:spLocks xmlns:a="http://schemas.openxmlformats.org/drawingml/2006/main" noGrp="1"/>
          </p:cNvSpPr>
          <p:nvPr/>
        </p:nvSpPr>
        <p:spPr>
          <a:xfrm xmlns:a="http://schemas.openxmlformats.org/drawingml/2006/main">
            <a:off x="920115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1" name="Google Shape;161;p7">
            <a:extLst xmlns:a="http://schemas.openxmlformats.org/drawingml/2006/main">
              <a:ext uri="{FF2B5EF4-FFF2-40B4-BE49-F238E27FC236}">
                <a16:creationId xmlns:a16="http://schemas.microsoft.com/office/drawing/2014/main" id="{90AECB97-1045-4464-92E1-61328C58C9B3}"/>
              </a:ext>
            </a:extLst>
          </p:cNvPr>
          <p:cNvSpPr>
            <a:spLocks xmlns:a="http://schemas.openxmlformats.org/drawingml/2006/main" noGrp="1"/>
          </p:cNvSpPr>
          <p:nvPr/>
        </p:nvSpPr>
        <p:spPr>
          <a:xfrm xmlns:a="http://schemas.openxmlformats.org/drawingml/2006/main">
            <a:off x="94488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chemeClr val="lt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2" name="Google Shape;162;p7">
            <a:extLst xmlns:a="http://schemas.openxmlformats.org/drawingml/2006/main">
              <a:ext uri="{FF2B5EF4-FFF2-40B4-BE49-F238E27FC236}">
                <a16:creationId xmlns:a16="http://schemas.microsoft.com/office/drawing/2014/main" id="{B75B8CB9-BBC4-4AB0-83CF-97683D843F5E}"/>
              </a:ext>
            </a:extLst>
          </p:cNvPr>
          <p:cNvSpPr>
            <a:spLocks xmlns:a="http://schemas.openxmlformats.org/drawingml/2006/main" noGrp="1"/>
          </p:cNvSpPr>
          <p:nvPr/>
        </p:nvSpPr>
        <p:spPr>
          <a:xfrm xmlns:a="http://schemas.openxmlformats.org/drawingml/2006/main">
            <a:off x="96393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05</a:t>
            </a:r>
            <a:endParaRPr/>
          </a:p>
        </p:txBody>
      </p:sp>
      <p:sp>
        <p:nvSpPr>
          <p:cNvPr id="163" name="Google Shape;163;p7">
            <a:extLst xmlns:a="http://schemas.openxmlformats.org/drawingml/2006/main">
              <a:ext uri="{FF2B5EF4-FFF2-40B4-BE49-F238E27FC236}">
                <a16:creationId xmlns:a16="http://schemas.microsoft.com/office/drawing/2014/main" id="{CFA7022A-A5BC-4476-B116-90B23CE57F24}"/>
              </a:ext>
            </a:extLst>
          </p:cNvPr>
          <p:cNvSpPr>
            <a:spLocks xmlns:a="http://schemas.openxmlformats.org/drawingml/2006/main" noGrp="1"/>
          </p:cNvSpPr>
          <p:nvPr/>
        </p:nvSpPr>
        <p:spPr>
          <a:xfrm xmlns:a="http://schemas.openxmlformats.org/drawingml/2006/main">
            <a:off x="96393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Interpretation</a:t>
            </a:r>
            <a:endParaRPr/>
          </a:p>
        </p:txBody>
      </p:sp>
      <p:sp>
        <p:nvSpPr>
          <p:cNvPr id="164" name="Google Shape;164;p7">
            <a:extLst xmlns:a="http://schemas.openxmlformats.org/drawingml/2006/main">
              <a:ext uri="{FF2B5EF4-FFF2-40B4-BE49-F238E27FC236}">
                <a16:creationId xmlns:a16="http://schemas.microsoft.com/office/drawing/2014/main" id="{AD6D03A3-F571-449E-9FA9-C8938B49DF5D}"/>
              </a:ext>
            </a:extLst>
          </p:cNvPr>
          <p:cNvSpPr>
            <a:spLocks xmlns:a="http://schemas.openxmlformats.org/drawingml/2006/main" noGrp="1"/>
          </p:cNvSpPr>
          <p:nvPr/>
        </p:nvSpPr>
        <p:spPr>
          <a:xfrm xmlns:a="http://schemas.openxmlformats.org/drawingml/2006/main">
            <a:off x="96393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changes, and how certain is it?</a:t>
            </a:r>
            <a:endParaRPr/>
          </a:p>
        </p:txBody>
      </p:sp>
      <p:sp>
        <p:nvSpPr>
          <p:cNvPr id="165" name="Google Shape;165;p7">
            <a:extLst xmlns:a="http://schemas.openxmlformats.org/drawingml/2006/main">
              <a:ext uri="{FF2B5EF4-FFF2-40B4-BE49-F238E27FC236}">
                <a16:creationId xmlns:a16="http://schemas.microsoft.com/office/drawing/2014/main" id="{5FAA309D-539F-40FF-BA72-71165EC61718}"/>
              </a:ext>
            </a:extLst>
          </p:cNvPr>
          <p:cNvSpPr>
            <a:spLocks xmlns:a="http://schemas.openxmlformats.org/drawingml/2006/main" noGrp="1"/>
          </p:cNvSpPr>
          <p:nvPr/>
        </p:nvSpPr>
        <p:spPr>
          <a:xfrm xmlns:a="http://schemas.openxmlformats.org/drawingml/2006/main">
            <a:off x="657225" y="4686300"/>
            <a:ext cx="10715625" cy="952500"/>
          </a:xfrm>
          <a:prstGeom xmlns:a="http://schemas.openxmlformats.org/drawingml/2006/main" prst="roundRect">
            <a:avLst>
              <a:gd name="adj" fmla="val 8000"/>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6" name="Google Shape;166;p7">
            <a:extLst xmlns:a="http://schemas.openxmlformats.org/drawingml/2006/main">
              <a:ext uri="{FF2B5EF4-FFF2-40B4-BE49-F238E27FC236}">
                <a16:creationId xmlns:a16="http://schemas.microsoft.com/office/drawing/2014/main" id="{A0FB818D-BB16-436F-B66F-30761BF61AEC}"/>
              </a:ext>
            </a:extLst>
          </p:cNvPr>
          <p:cNvSpPr>
            <a:spLocks xmlns:a="http://schemas.openxmlformats.org/drawingml/2006/main" noGrp="1"/>
          </p:cNvSpPr>
          <p:nvPr/>
        </p:nvSpPr>
        <p:spPr>
          <a:xfrm xmlns:a="http://schemas.openxmlformats.org/drawingml/2006/main">
            <a:off x="914400" y="4876800"/>
            <a:ext cx="4000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First, understand the climate evidence</a:t>
            </a:r>
            <a:endParaRPr/>
          </a:p>
        </p:txBody>
      </p:sp>
      <p:sp>
        <p:nvSpPr>
          <p:cNvPr id="167" name="Google Shape;167;p7">
            <a:extLst xmlns:a="http://schemas.openxmlformats.org/drawingml/2006/main">
              <a:ext uri="{FF2B5EF4-FFF2-40B4-BE49-F238E27FC236}">
                <a16:creationId xmlns:a16="http://schemas.microsoft.com/office/drawing/2014/main" id="{C1D50949-16A8-4F3C-86D8-6F967DEBBD2A}"/>
              </a:ext>
            </a:extLst>
          </p:cNvPr>
          <p:cNvSpPr>
            <a:spLocks xmlns:a="http://schemas.openxmlformats.org/drawingml/2006/main" noGrp="1"/>
          </p:cNvSpPr>
          <p:nvPr/>
        </p:nvSpPr>
        <p:spPr>
          <a:xfrm xmlns:a="http://schemas.openxmlformats.org/drawingml/2006/main">
            <a:off x="5067300" y="4838700"/>
            <a:ext cx="595312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0" i="0">
                <a:solidFill>
                  <a:srgbClr val="12304E"/>
                </a:solidFill>
                <a:latin typeface="Lato"/>
                <a:ea typeface="Lato"/>
                <a:cs typeface="Lato"/>
              </a:rPr>
              <a:t>Hideki explains how climate information differs and why variability, model spread, scenarios and bias require different responses.</a:t>
            </a:r>
            <a:endParaRPr/>
          </a:p>
        </p:txBody>
      </p:sp>
    </p:spTree>
    <p:extLst>
      <p:ext uri="{BB962C8B-B14F-4D97-AF65-F5344CB8AC3E}">
        <p14:creationId xmlns:p14="http://schemas.microsoft.com/office/powerpoint/2010/main" val="2087388615"/>
      </p:ext>
    </p:extLst>
  </p:cSld>
</p:sld>
</file>

<file path=ppt/slides/slide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73" name="Google Shape;173;p8">
            <a:extLst xmlns:a="http://schemas.openxmlformats.org/drawingml/2006/main">
              <a:ext uri="{FF2B5EF4-FFF2-40B4-BE49-F238E27FC236}">
                <a16:creationId xmlns:a16="http://schemas.microsoft.com/office/drawing/2014/main" id="{CE8F6E1E-E03A-4040-976C-D3A731EFCFB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4" name="Google Shape;174;p8">
            <a:extLst xmlns:a="http://schemas.openxmlformats.org/drawingml/2006/main">
              <a:ext uri="{FF2B5EF4-FFF2-40B4-BE49-F238E27FC236}">
                <a16:creationId xmlns:a16="http://schemas.microsoft.com/office/drawing/2014/main" id="{35335AAC-8797-42F6-8EB2-CB9E7F8B0B38}"/>
              </a:ext>
            </a:extLst>
          </p:cNvPr>
          <p:cNvSpPr>
            <a:spLocks xmlns:a="http://schemas.openxmlformats.org/drawingml/2006/main" noGrp="1"/>
          </p:cNvSpPr>
          <p:nvPr/>
        </p:nvSpPr>
        <p:spPr>
          <a:xfrm xmlns:a="http://schemas.openxmlformats.org/drawingml/2006/main">
            <a:off x="762000" y="762000"/>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5" name="Google Shape;175;p8">
            <a:extLst xmlns:a="http://schemas.openxmlformats.org/drawingml/2006/main">
              <a:ext uri="{FF2B5EF4-FFF2-40B4-BE49-F238E27FC236}">
                <a16:creationId xmlns:a16="http://schemas.microsoft.com/office/drawing/2014/main" id="{05C5DB45-D303-4D43-AC8F-97A6961A71D9}"/>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a:solidFill>
                  <a:srgbClr val="FFFFFF"/>
                </a:solidFill>
                <a:latin typeface="Lato"/>
                <a:ea typeface="Lato"/>
                <a:cs typeface="Lato"/>
              </a:rPr>
              <a:t>Climate information and uncertainty</a:t>
            </a:r>
            <a:endParaRPr/>
          </a:p>
        </p:txBody>
      </p:sp>
      <p:sp>
        <p:nvSpPr>
          <p:cNvPr id="176" name="Google Shape;176;p8">
            <a:extLst xmlns:a="http://schemas.openxmlformats.org/drawingml/2006/main">
              <a:ext uri="{FF2B5EF4-FFF2-40B4-BE49-F238E27FC236}">
                <a16:creationId xmlns:a16="http://schemas.microsoft.com/office/drawing/2014/main" id="{A9328010-8ED0-4611-ACAE-92CB30656FB2}"/>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a:solidFill>
                  <a:srgbClr val="D7E5EC"/>
                </a:solidFill>
                <a:latin typeface="Lato"/>
                <a:ea typeface="Lato"/>
                <a:cs typeface="Lato"/>
              </a:rPr>
              <a:t>Hideki explains how climate information is produced, where projection uncertainty comes from and how each source should be handled.</a:t>
            </a:r>
            <a:endParaRPr/>
          </a:p>
        </p:txBody>
      </p:sp>
      <p:sp>
        <p:nvSpPr>
          <p:cNvPr id="177" name="Google Shape;177;p8">
            <a:extLst xmlns:a="http://schemas.openxmlformats.org/drawingml/2006/main">
              <a:ext uri="{FF2B5EF4-FFF2-40B4-BE49-F238E27FC236}">
                <a16:creationId xmlns:a16="http://schemas.microsoft.com/office/drawing/2014/main" id="{F6222E84-EF78-4144-B59A-2CA5E007F6A3}"/>
              </a:ext>
            </a:extLst>
          </p:cNvPr>
          <p:cNvSpPr>
            <a:spLocks xmlns:a="http://schemas.openxmlformats.org/drawingml/2006/main" noGrp="1"/>
          </p:cNvSpPr>
          <p:nvPr/>
        </p:nvSpPr>
        <p:spPr>
          <a:xfrm xmlns:a="http://schemas.openxmlformats.org/drawingml/2006/main">
            <a:off x="781050" y="4953000"/>
            <a:ext cx="40005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HIDEKI · 35 MINUTES</a:t>
            </a:r>
            <a:endParaRPr/>
          </a:p>
        </p:txBody>
      </p:sp>
      <p:sp>
        <p:nvSpPr>
          <p:cNvPr id="178" name="Google Shape;178;p8">
            <a:extLst xmlns:a="http://schemas.openxmlformats.org/drawingml/2006/main">
              <a:ext uri="{FF2B5EF4-FFF2-40B4-BE49-F238E27FC236}">
                <a16:creationId xmlns:a16="http://schemas.microsoft.com/office/drawing/2014/main" id="{772A5530-F617-4FEF-B5B0-3FC012C1445F}"/>
              </a:ext>
            </a:extLst>
          </p:cNvPr>
          <p:cNvSpPr>
            <a:spLocks xmlns:a="http://schemas.openxmlformats.org/drawingml/2006/main" noGrp="1"/>
          </p:cNvSpPr>
          <p:nvPr/>
        </p:nvSpPr>
        <p:spPr>
          <a:xfrm xmlns:a="http://schemas.openxmlformats.org/drawingml/2006/main">
            <a:off x="781050" y="5905500"/>
            <a:ext cx="4953000" cy="9600"/>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9" name="Google Shape;179;p8">
            <a:extLst xmlns:a="http://schemas.openxmlformats.org/drawingml/2006/main">
              <a:ext uri="{FF2B5EF4-FFF2-40B4-BE49-F238E27FC236}">
                <a16:creationId xmlns:a16="http://schemas.microsoft.com/office/drawing/2014/main" id="{41AADD2B-C69A-4EE6-B79A-66C31755FF14}"/>
              </a:ext>
            </a:extLst>
          </p:cNvPr>
          <p:cNvSpPr>
            <a:spLocks xmlns:a="http://schemas.openxmlformats.org/drawingml/2006/main" noGrp="1"/>
          </p:cNvSpPr>
          <p:nvPr/>
        </p:nvSpPr>
        <p:spPr>
          <a:xfrm xmlns:a="http://schemas.openxmlformats.org/drawingml/2006/main">
            <a:off x="11049000" y="6324600"/>
            <a:ext cx="571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06</a:t>
            </a:r>
            <a:endParaRPr/>
          </a:p>
        </p:txBody>
      </p:sp>
    </p:spTree>
    <p:extLst>
      <p:ext uri="{BB962C8B-B14F-4D97-AF65-F5344CB8AC3E}">
        <p14:creationId xmlns:p14="http://schemas.microsoft.com/office/powerpoint/2010/main" val="286605820"/>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2FD6981-77B7-4300-AB9F-196C0FD72D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A57006-EBE1-49E6-AA58-CA9D13CFD445}"/>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Climate information serves different questions</a:t>
            </a:r>
          </a:p>
        </p:txBody>
      </p:sp>
      <p:sp>
        <p:nvSpPr>
          <p:cNvPr id="3" name="">
            <a:extLst xmlns:a="http://schemas.openxmlformats.org/drawingml/2006/main">
              <a:ext uri="{FF2B5EF4-FFF2-40B4-BE49-F238E27FC236}">
                <a16:creationId xmlns:a16="http://schemas.microsoft.com/office/drawing/2014/main" id="{056C325B-CF8D-4F59-84F0-9FC31F669D47}"/>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appropriate dataset depends on the decision, time horizon and quantity of interest</a:t>
            </a:r>
          </a:p>
        </p:txBody>
      </p:sp>
      <p:sp>
        <p:nvSpPr>
          <p:cNvPr id="4" name="">
            <a:extLst xmlns:a="http://schemas.openxmlformats.org/drawingml/2006/main">
              <a:ext uri="{FF2B5EF4-FFF2-40B4-BE49-F238E27FC236}">
                <a16:creationId xmlns:a16="http://schemas.microsoft.com/office/drawing/2014/main" id="{FB1C5557-9BCE-47F3-A8AD-4D4BC759FA36}"/>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01A9DE-2296-416F-BD9C-059DE8C938AF}"/>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0C664F1-45CF-480F-90F2-D676D545C80D}"/>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C5D764E-D257-44D4-B4BE-6693D1449DAD}"/>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FA93DDF0-4F46-4CD5-A9DB-4721662D5E1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07</a:t>
            </a:r>
          </a:p>
        </p:txBody>
      </p:sp>
      <p:sp>
        <p:nvSpPr>
          <p:cNvPr id="9" name="">
            <a:extLst xmlns:a="http://schemas.openxmlformats.org/drawingml/2006/main">
              <a:ext uri="{FF2B5EF4-FFF2-40B4-BE49-F238E27FC236}">
                <a16:creationId xmlns:a16="http://schemas.microsoft.com/office/drawing/2014/main" id="{B352F68F-86BD-4A89-9D74-680FFA7D1030}"/>
              </a:ext>
            </a:extLst>
          </p:cNvPr>
          <p:cNvSpPr>
            <a:spLocks xmlns:a="http://schemas.openxmlformats.org/drawingml/2006/main" noGrp="1"/>
          </p:cNvSpPr>
          <p:nvPr/>
        </p:nvSpPr>
        <p:spPr>
          <a:xfrm xmlns:a="http://schemas.openxmlformats.org/drawingml/2006/main">
            <a:off x="914400" y="3352800"/>
            <a:ext cx="10287000" cy="381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5FC1EFA-1D55-470F-BD33-F28B97AB1BC6}"/>
              </a:ext>
            </a:extLst>
          </p:cNvPr>
          <p:cNvSpPr>
            <a:spLocks xmlns:a="http://schemas.openxmlformats.org/drawingml/2006/main" noGrp="1"/>
          </p:cNvSpPr>
          <p:nvPr/>
        </p:nvSpPr>
        <p:spPr>
          <a:xfrm xmlns:a="http://schemas.openxmlformats.org/drawingml/2006/main">
            <a:off x="781050" y="2000250"/>
            <a:ext cx="2400300" cy="666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5146DA-1399-4611-ADAA-67749347F2BA}"/>
              </a:ext>
            </a:extLst>
          </p:cNvPr>
          <p:cNvSpPr>
            <a:spLocks xmlns:a="http://schemas.openxmlformats.org/drawingml/2006/main" noGrp="1"/>
          </p:cNvSpPr>
          <p:nvPr/>
        </p:nvSpPr>
        <p:spPr>
          <a:xfrm xmlns:a="http://schemas.openxmlformats.org/drawingml/2006/main">
            <a:off x="78105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00A88F"/>
                </a:solidFill>
                <a:latin typeface="Lato"/>
                <a:ea typeface="Lato"/>
                <a:cs typeface="Lato"/>
              </a:defRPr>
            </a:pPr>
            <a:r>
              <a:rPr sz="975" b="1" i="0">
                <a:solidFill>
                  <a:srgbClr val="00A88F"/>
                </a:solidFill>
                <a:latin typeface="Lato"/>
                <a:ea typeface="Lato"/>
                <a:cs typeface="Lato"/>
              </a:rPr>
              <a:t>PAST</a:t>
            </a:r>
          </a:p>
        </p:txBody>
      </p:sp>
      <p:sp>
        <p:nvSpPr>
          <p:cNvPr id="12" name="">
            <a:extLst xmlns:a="http://schemas.openxmlformats.org/drawingml/2006/main">
              <a:ext uri="{FF2B5EF4-FFF2-40B4-BE49-F238E27FC236}">
                <a16:creationId xmlns:a16="http://schemas.microsoft.com/office/drawing/2014/main" id="{11B1E7E1-290F-4B75-B4F4-F5F01000A34B}"/>
              </a:ext>
            </a:extLst>
          </p:cNvPr>
          <p:cNvSpPr>
            <a:spLocks xmlns:a="http://schemas.openxmlformats.org/drawingml/2006/main" noGrp="1"/>
          </p:cNvSpPr>
          <p:nvPr/>
        </p:nvSpPr>
        <p:spPr>
          <a:xfrm xmlns:a="http://schemas.openxmlformats.org/drawingml/2006/main">
            <a:off x="78105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happened?</a:t>
            </a:r>
          </a:p>
        </p:txBody>
      </p:sp>
      <p:sp>
        <p:nvSpPr>
          <p:cNvPr id="13" name="">
            <a:extLst xmlns:a="http://schemas.openxmlformats.org/drawingml/2006/main">
              <a:ext uri="{FF2B5EF4-FFF2-40B4-BE49-F238E27FC236}">
                <a16:creationId xmlns:a16="http://schemas.microsoft.com/office/drawing/2014/main" id="{388C1842-A6D6-42F9-BD10-5697D980E572}"/>
              </a:ext>
            </a:extLst>
          </p:cNvPr>
          <p:cNvSpPr>
            <a:spLocks xmlns:a="http://schemas.openxmlformats.org/drawingml/2006/main" noGrp="1"/>
          </p:cNvSpPr>
          <p:nvPr/>
        </p:nvSpPr>
        <p:spPr>
          <a:xfrm xmlns:a="http://schemas.openxmlformats.org/drawingml/2006/main">
            <a:off x="78105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Observations</a:t>
            </a:r>
          </a:p>
        </p:txBody>
      </p:sp>
      <p:sp>
        <p:nvSpPr>
          <p:cNvPr id="14" name="">
            <a:extLst xmlns:a="http://schemas.openxmlformats.org/drawingml/2006/main">
              <a:ext uri="{FF2B5EF4-FFF2-40B4-BE49-F238E27FC236}">
                <a16:creationId xmlns:a16="http://schemas.microsoft.com/office/drawing/2014/main" id="{672FE2BC-85E4-4166-B932-C77E55BDFB9E}"/>
              </a:ext>
            </a:extLst>
          </p:cNvPr>
          <p:cNvSpPr>
            <a:spLocks xmlns:a="http://schemas.openxmlformats.org/drawingml/2006/main" noGrp="1"/>
          </p:cNvSpPr>
          <p:nvPr/>
        </p:nvSpPr>
        <p:spPr>
          <a:xfrm xmlns:a="http://schemas.openxmlformats.org/drawingml/2006/main">
            <a:off x="332422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15" name="">
            <a:extLst xmlns:a="http://schemas.openxmlformats.org/drawingml/2006/main">
              <a:ext uri="{FF2B5EF4-FFF2-40B4-BE49-F238E27FC236}">
                <a16:creationId xmlns:a16="http://schemas.microsoft.com/office/drawing/2014/main" id="{45ABE4ED-5B04-4B72-B0CD-42ABFCA0EE82}"/>
              </a:ext>
            </a:extLst>
          </p:cNvPr>
          <p:cNvSpPr>
            <a:spLocks xmlns:a="http://schemas.openxmlformats.org/drawingml/2006/main" noGrp="1"/>
          </p:cNvSpPr>
          <p:nvPr/>
        </p:nvSpPr>
        <p:spPr>
          <a:xfrm xmlns:a="http://schemas.openxmlformats.org/drawingml/2006/main">
            <a:off x="3581400" y="2000250"/>
            <a:ext cx="2400300" cy="666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8EB6B83-AFA4-41A9-8F49-2CCE4B7A89C7}"/>
              </a:ext>
            </a:extLst>
          </p:cNvPr>
          <p:cNvSpPr>
            <a:spLocks xmlns:a="http://schemas.openxmlformats.org/drawingml/2006/main" noGrp="1"/>
          </p:cNvSpPr>
          <p:nvPr/>
        </p:nvSpPr>
        <p:spPr>
          <a:xfrm xmlns:a="http://schemas.openxmlformats.org/drawingml/2006/main">
            <a:off x="358140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12304E"/>
                </a:solidFill>
                <a:latin typeface="Lato"/>
                <a:ea typeface="Lato"/>
                <a:cs typeface="Lato"/>
              </a:defRPr>
            </a:pPr>
            <a:r>
              <a:rPr sz="975" b="1" i="0">
                <a:solidFill>
                  <a:srgbClr val="12304E"/>
                </a:solidFill>
                <a:latin typeface="Lato"/>
                <a:ea typeface="Lato"/>
                <a:cs typeface="Lato"/>
              </a:rPr>
              <a:t>PRESENT</a:t>
            </a:r>
          </a:p>
        </p:txBody>
      </p:sp>
      <p:sp>
        <p:nvSpPr>
          <p:cNvPr id="17" name="">
            <a:extLst xmlns:a="http://schemas.openxmlformats.org/drawingml/2006/main">
              <a:ext uri="{FF2B5EF4-FFF2-40B4-BE49-F238E27FC236}">
                <a16:creationId xmlns:a16="http://schemas.microsoft.com/office/drawing/2014/main" id="{B46BE2D5-327B-46AD-8A3D-76CF04309E29}"/>
              </a:ext>
            </a:extLst>
          </p:cNvPr>
          <p:cNvSpPr>
            <a:spLocks xmlns:a="http://schemas.openxmlformats.org/drawingml/2006/main" noGrp="1"/>
          </p:cNvSpPr>
          <p:nvPr/>
        </p:nvSpPr>
        <p:spPr>
          <a:xfrm xmlns:a="http://schemas.openxmlformats.org/drawingml/2006/main">
            <a:off x="358140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is the best estimate now?</a:t>
            </a:r>
          </a:p>
        </p:txBody>
      </p:sp>
      <p:sp>
        <p:nvSpPr>
          <p:cNvPr id="18" name="">
            <a:extLst xmlns:a="http://schemas.openxmlformats.org/drawingml/2006/main">
              <a:ext uri="{FF2B5EF4-FFF2-40B4-BE49-F238E27FC236}">
                <a16:creationId xmlns:a16="http://schemas.microsoft.com/office/drawing/2014/main" id="{5A3651A2-69A2-45FF-B6C6-C9D200CC4DD3}"/>
              </a:ext>
            </a:extLst>
          </p:cNvPr>
          <p:cNvSpPr>
            <a:spLocks xmlns:a="http://schemas.openxmlformats.org/drawingml/2006/main" noGrp="1"/>
          </p:cNvSpPr>
          <p:nvPr/>
        </p:nvSpPr>
        <p:spPr>
          <a:xfrm xmlns:a="http://schemas.openxmlformats.org/drawingml/2006/main">
            <a:off x="358140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Reanalysis</a:t>
            </a:r>
          </a:p>
        </p:txBody>
      </p:sp>
      <p:sp>
        <p:nvSpPr>
          <p:cNvPr id="19" name="">
            <a:extLst xmlns:a="http://schemas.openxmlformats.org/drawingml/2006/main">
              <a:ext uri="{FF2B5EF4-FFF2-40B4-BE49-F238E27FC236}">
                <a16:creationId xmlns:a16="http://schemas.microsoft.com/office/drawing/2014/main" id="{685D77E6-C313-4506-BCAA-A30B8E73AEDC}"/>
              </a:ext>
            </a:extLst>
          </p:cNvPr>
          <p:cNvSpPr>
            <a:spLocks xmlns:a="http://schemas.openxmlformats.org/drawingml/2006/main" noGrp="1"/>
          </p:cNvSpPr>
          <p:nvPr/>
        </p:nvSpPr>
        <p:spPr>
          <a:xfrm xmlns:a="http://schemas.openxmlformats.org/drawingml/2006/main">
            <a:off x="612457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20" name="">
            <a:extLst xmlns:a="http://schemas.openxmlformats.org/drawingml/2006/main">
              <a:ext uri="{FF2B5EF4-FFF2-40B4-BE49-F238E27FC236}">
                <a16:creationId xmlns:a16="http://schemas.microsoft.com/office/drawing/2014/main" id="{B2E82AF5-EDDB-446D-8C1C-2746D1D586E2}"/>
              </a:ext>
            </a:extLst>
          </p:cNvPr>
          <p:cNvSpPr>
            <a:spLocks xmlns:a="http://schemas.openxmlformats.org/drawingml/2006/main" noGrp="1"/>
          </p:cNvSpPr>
          <p:nvPr/>
        </p:nvSpPr>
        <p:spPr>
          <a:xfrm xmlns:a="http://schemas.openxmlformats.org/drawingml/2006/main">
            <a:off x="6381750" y="2000250"/>
            <a:ext cx="2400300" cy="666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2F13B83-4433-47A2-B79B-96A3F7270AF1}"/>
              </a:ext>
            </a:extLst>
          </p:cNvPr>
          <p:cNvSpPr>
            <a:spLocks xmlns:a="http://schemas.openxmlformats.org/drawingml/2006/main" noGrp="1"/>
          </p:cNvSpPr>
          <p:nvPr/>
        </p:nvSpPr>
        <p:spPr>
          <a:xfrm xmlns:a="http://schemas.openxmlformats.org/drawingml/2006/main">
            <a:off x="638175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F2B632"/>
                </a:solidFill>
                <a:latin typeface="Lato"/>
                <a:ea typeface="Lato"/>
                <a:cs typeface="Lato"/>
              </a:defRPr>
            </a:pPr>
            <a:r>
              <a:rPr sz="975" b="1" i="0">
                <a:solidFill>
                  <a:srgbClr val="F2B632"/>
                </a:solidFill>
                <a:latin typeface="Lato"/>
                <a:ea typeface="Lato"/>
                <a:cs typeface="Lato"/>
              </a:rPr>
              <a:t>NEAR TERM</a:t>
            </a:r>
          </a:p>
        </p:txBody>
      </p:sp>
      <p:sp>
        <p:nvSpPr>
          <p:cNvPr id="22" name="">
            <a:extLst xmlns:a="http://schemas.openxmlformats.org/drawingml/2006/main">
              <a:ext uri="{FF2B5EF4-FFF2-40B4-BE49-F238E27FC236}">
                <a16:creationId xmlns:a16="http://schemas.microsoft.com/office/drawing/2014/main" id="{F883624F-AC93-479C-AB1D-9ECFFC91CF78}"/>
              </a:ext>
            </a:extLst>
          </p:cNvPr>
          <p:cNvSpPr>
            <a:spLocks xmlns:a="http://schemas.openxmlformats.org/drawingml/2006/main" noGrp="1"/>
          </p:cNvSpPr>
          <p:nvPr/>
        </p:nvSpPr>
        <p:spPr>
          <a:xfrm xmlns:a="http://schemas.openxmlformats.org/drawingml/2006/main">
            <a:off x="638175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may happen next?</a:t>
            </a:r>
          </a:p>
        </p:txBody>
      </p:sp>
      <p:sp>
        <p:nvSpPr>
          <p:cNvPr id="23" name="">
            <a:extLst xmlns:a="http://schemas.openxmlformats.org/drawingml/2006/main">
              <a:ext uri="{FF2B5EF4-FFF2-40B4-BE49-F238E27FC236}">
                <a16:creationId xmlns:a16="http://schemas.microsoft.com/office/drawing/2014/main" id="{3945E832-7611-41DC-9548-BFE472C8DA06}"/>
              </a:ext>
            </a:extLst>
          </p:cNvPr>
          <p:cNvSpPr>
            <a:spLocks xmlns:a="http://schemas.openxmlformats.org/drawingml/2006/main" noGrp="1"/>
          </p:cNvSpPr>
          <p:nvPr/>
        </p:nvSpPr>
        <p:spPr>
          <a:xfrm xmlns:a="http://schemas.openxmlformats.org/drawingml/2006/main">
            <a:off x="638175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Forecasts and outlooks</a:t>
            </a:r>
          </a:p>
        </p:txBody>
      </p:sp>
      <p:sp>
        <p:nvSpPr>
          <p:cNvPr id="24" name="">
            <a:extLst xmlns:a="http://schemas.openxmlformats.org/drawingml/2006/main">
              <a:ext uri="{FF2B5EF4-FFF2-40B4-BE49-F238E27FC236}">
                <a16:creationId xmlns:a16="http://schemas.microsoft.com/office/drawing/2014/main" id="{FB8BEA6C-EEBA-40DB-9FBE-421039D8104D}"/>
              </a:ext>
            </a:extLst>
          </p:cNvPr>
          <p:cNvSpPr>
            <a:spLocks xmlns:a="http://schemas.openxmlformats.org/drawingml/2006/main" noGrp="1"/>
          </p:cNvSpPr>
          <p:nvPr/>
        </p:nvSpPr>
        <p:spPr>
          <a:xfrm xmlns:a="http://schemas.openxmlformats.org/drawingml/2006/main">
            <a:off x="892492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25" name="">
            <a:extLst xmlns:a="http://schemas.openxmlformats.org/drawingml/2006/main">
              <a:ext uri="{FF2B5EF4-FFF2-40B4-BE49-F238E27FC236}">
                <a16:creationId xmlns:a16="http://schemas.microsoft.com/office/drawing/2014/main" id="{23D13CF6-E68A-4402-9335-F76E1F413575}"/>
              </a:ext>
            </a:extLst>
          </p:cNvPr>
          <p:cNvSpPr>
            <a:spLocks xmlns:a="http://schemas.openxmlformats.org/drawingml/2006/main" noGrp="1"/>
          </p:cNvSpPr>
          <p:nvPr/>
        </p:nvSpPr>
        <p:spPr>
          <a:xfrm xmlns:a="http://schemas.openxmlformats.org/drawingml/2006/main">
            <a:off x="9182100" y="2000250"/>
            <a:ext cx="2400300" cy="66675"/>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FC19A74-8026-4CCB-B4EC-6C87E9C127DB}"/>
              </a:ext>
            </a:extLst>
          </p:cNvPr>
          <p:cNvSpPr>
            <a:spLocks xmlns:a="http://schemas.openxmlformats.org/drawingml/2006/main" noGrp="1"/>
          </p:cNvSpPr>
          <p:nvPr/>
        </p:nvSpPr>
        <p:spPr>
          <a:xfrm xmlns:a="http://schemas.openxmlformats.org/drawingml/2006/main">
            <a:off x="918210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C95C54"/>
                </a:solidFill>
                <a:latin typeface="Lato"/>
                <a:ea typeface="Lato"/>
                <a:cs typeface="Lato"/>
              </a:defRPr>
            </a:pPr>
            <a:r>
              <a:rPr sz="975" b="1" i="0">
                <a:solidFill>
                  <a:srgbClr val="C95C54"/>
                </a:solidFill>
                <a:latin typeface="Lato"/>
                <a:ea typeface="Lato"/>
                <a:cs typeface="Lato"/>
              </a:rPr>
              <a:t>LONG TERM</a:t>
            </a:r>
          </a:p>
        </p:txBody>
      </p:sp>
      <p:sp>
        <p:nvSpPr>
          <p:cNvPr id="27" name="">
            <a:extLst xmlns:a="http://schemas.openxmlformats.org/drawingml/2006/main">
              <a:ext uri="{FF2B5EF4-FFF2-40B4-BE49-F238E27FC236}">
                <a16:creationId xmlns:a16="http://schemas.microsoft.com/office/drawing/2014/main" id="{79084016-03A8-44EC-A374-1FF6CC60BE08}"/>
              </a:ext>
            </a:extLst>
          </p:cNvPr>
          <p:cNvSpPr>
            <a:spLocks xmlns:a="http://schemas.openxmlformats.org/drawingml/2006/main" noGrp="1"/>
          </p:cNvSpPr>
          <p:nvPr/>
        </p:nvSpPr>
        <p:spPr>
          <a:xfrm xmlns:a="http://schemas.openxmlformats.org/drawingml/2006/main">
            <a:off x="918210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How could climate change?</a:t>
            </a:r>
          </a:p>
        </p:txBody>
      </p:sp>
      <p:sp>
        <p:nvSpPr>
          <p:cNvPr id="28" name="">
            <a:extLst xmlns:a="http://schemas.openxmlformats.org/drawingml/2006/main">
              <a:ext uri="{FF2B5EF4-FFF2-40B4-BE49-F238E27FC236}">
                <a16:creationId xmlns:a16="http://schemas.microsoft.com/office/drawing/2014/main" id="{B206F236-8C64-4CE7-B679-23213B09DEE2}"/>
              </a:ext>
            </a:extLst>
          </p:cNvPr>
          <p:cNvSpPr>
            <a:spLocks xmlns:a="http://schemas.openxmlformats.org/drawingml/2006/main" noGrp="1"/>
          </p:cNvSpPr>
          <p:nvPr/>
        </p:nvSpPr>
        <p:spPr>
          <a:xfrm xmlns:a="http://schemas.openxmlformats.org/drawingml/2006/main">
            <a:off x="918210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Scenario-based projections</a:t>
            </a:r>
          </a:p>
        </p:txBody>
      </p:sp>
      <p:sp>
        <p:nvSpPr>
          <p:cNvPr id="29" name="">
            <a:extLst xmlns:a="http://schemas.openxmlformats.org/drawingml/2006/main">
              <a:ext uri="{FF2B5EF4-FFF2-40B4-BE49-F238E27FC236}">
                <a16:creationId xmlns:a16="http://schemas.microsoft.com/office/drawing/2014/main" id="{189A21F4-DEF4-4313-9802-E25E819CE7F3}"/>
              </a:ext>
            </a:extLst>
          </p:cNvPr>
          <p:cNvSpPr>
            <a:spLocks xmlns:a="http://schemas.openxmlformats.org/drawingml/2006/main" noGrp="1"/>
          </p:cNvSpPr>
          <p:nvPr/>
        </p:nvSpPr>
        <p:spPr>
          <a:xfrm xmlns:a="http://schemas.openxmlformats.org/drawingml/2006/main">
            <a:off x="904875" y="4762500"/>
            <a:ext cx="10287000" cy="68580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575D7F1-FF84-4154-B1D0-3249FC12184E}"/>
              </a:ext>
            </a:extLst>
          </p:cNvPr>
          <p:cNvSpPr>
            <a:spLocks xmlns:a="http://schemas.openxmlformats.org/drawingml/2006/main" noGrp="1"/>
          </p:cNvSpPr>
          <p:nvPr/>
        </p:nvSpPr>
        <p:spPr>
          <a:xfrm xmlns:a="http://schemas.openxmlformats.org/drawingml/2006/main">
            <a:off x="1190625" y="495300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75" b="1" i="0">
                <a:solidFill>
                  <a:srgbClr val="12304E"/>
                </a:solidFill>
                <a:latin typeface="Lato"/>
                <a:ea typeface="Lato"/>
                <a:cs typeface="Lato"/>
              </a:defRPr>
            </a:pPr>
            <a:r>
              <a:rPr sz="1575" b="1" i="0">
                <a:solidFill>
                  <a:srgbClr val="12304E"/>
                </a:solidFill>
                <a:latin typeface="Lato"/>
                <a:ea typeface="Lato"/>
                <a:cs typeface="Lato"/>
              </a:rPr>
              <a:t>The scientific question determines which source is fit for purpose</a:t>
            </a:r>
          </a:p>
        </p:txBody>
      </p:sp>
    </p:spTree>
    <p:extLst>
      <p:ext uri="{BB962C8B-B14F-4D97-AF65-F5344CB8AC3E}">
        <p14:creationId xmlns:p14="http://schemas.microsoft.com/office/powerpoint/2010/main" val="1097698903"/>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E40D2E3-6EBF-4252-B0E8-FA6D19A0DA8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9DA857-44C5-4400-BF01-8D29DD9ADFCC}"/>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Forecasts and projections answer different questions</a:t>
            </a:r>
          </a:p>
        </p:txBody>
      </p:sp>
      <p:sp>
        <p:nvSpPr>
          <p:cNvPr id="3" name="">
            <a:extLst xmlns:a="http://schemas.openxmlformats.org/drawingml/2006/main">
              <a:ext uri="{FF2B5EF4-FFF2-40B4-BE49-F238E27FC236}">
                <a16:creationId xmlns:a16="http://schemas.microsoft.com/office/drawing/2014/main" id="{0A40E9B1-8485-4474-9132-B1AAB86BD688}"/>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Both use models, but initialization and interpretation differ</a:t>
            </a:r>
          </a:p>
        </p:txBody>
      </p:sp>
      <p:sp>
        <p:nvSpPr>
          <p:cNvPr id="4" name="">
            <a:extLst xmlns:a="http://schemas.openxmlformats.org/drawingml/2006/main">
              <a:ext uri="{FF2B5EF4-FFF2-40B4-BE49-F238E27FC236}">
                <a16:creationId xmlns:a16="http://schemas.microsoft.com/office/drawing/2014/main" id="{47C3036F-B11E-473F-BC13-50FD6228D74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DA65270-0304-4F5D-AD15-733FC865068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93E05E-FFC0-4376-B323-4546FD198B1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C68AAE-4F4F-404E-AF1D-1DEDA8EF2B4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CA9F0390-31ED-4B5E-BCE8-3E06BFB3E6F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08</a:t>
            </a:r>
          </a:p>
        </p:txBody>
      </p:sp>
      <p:sp>
        <p:nvSpPr>
          <p:cNvPr id="9" name="">
            <a:extLst xmlns:a="http://schemas.openxmlformats.org/drawingml/2006/main">
              <a:ext uri="{FF2B5EF4-FFF2-40B4-BE49-F238E27FC236}">
                <a16:creationId xmlns:a16="http://schemas.microsoft.com/office/drawing/2014/main" id="{E205C879-7C76-4D5D-B10E-D7348D22FF4D}"/>
              </a:ext>
            </a:extLst>
          </p:cNvPr>
          <p:cNvSpPr>
            <a:spLocks xmlns:a="http://schemas.openxmlformats.org/drawingml/2006/main" noGrp="1"/>
          </p:cNvSpPr>
          <p:nvPr/>
        </p:nvSpPr>
        <p:spPr>
          <a:xfrm xmlns:a="http://schemas.openxmlformats.org/drawingml/2006/main">
            <a:off x="838200" y="17907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00A88F"/>
                </a:solidFill>
                <a:latin typeface="Lato"/>
                <a:ea typeface="Lato"/>
                <a:cs typeface="Lato"/>
              </a:defRPr>
            </a:pPr>
            <a:r>
              <a:rPr sz="1125" b="1" i="0">
                <a:solidFill>
                  <a:srgbClr val="00A88F"/>
                </a:solidFill>
                <a:latin typeface="Lato"/>
                <a:ea typeface="Lato"/>
                <a:cs typeface="Lato"/>
              </a:rPr>
              <a:t>FORECAST</a:t>
            </a:r>
          </a:p>
        </p:txBody>
      </p:sp>
      <p:sp>
        <p:nvSpPr>
          <p:cNvPr id="10" name="">
            <a:extLst xmlns:a="http://schemas.openxmlformats.org/drawingml/2006/main">
              <a:ext uri="{FF2B5EF4-FFF2-40B4-BE49-F238E27FC236}">
                <a16:creationId xmlns:a16="http://schemas.microsoft.com/office/drawing/2014/main" id="{81B2A3E8-AEF5-4631-8D4F-001332577CE5}"/>
              </a:ext>
            </a:extLst>
          </p:cNvPr>
          <p:cNvSpPr>
            <a:spLocks xmlns:a="http://schemas.openxmlformats.org/drawingml/2006/main" noGrp="1"/>
          </p:cNvSpPr>
          <p:nvPr/>
        </p:nvSpPr>
        <p:spPr>
          <a:xfrm xmlns:a="http://schemas.openxmlformats.org/drawingml/2006/main">
            <a:off x="838200" y="21907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What is likely from today’s state?</a:t>
            </a:r>
          </a:p>
        </p:txBody>
      </p:sp>
      <p:sp>
        <p:nvSpPr>
          <p:cNvPr id="11" name="">
            <a:extLst xmlns:a="http://schemas.openxmlformats.org/drawingml/2006/main">
              <a:ext uri="{FF2B5EF4-FFF2-40B4-BE49-F238E27FC236}">
                <a16:creationId xmlns:a16="http://schemas.microsoft.com/office/drawing/2014/main" id="{FE28D922-E411-4E07-8B10-DEF8BFC7C487}"/>
              </a:ext>
            </a:extLst>
          </p:cNvPr>
          <p:cNvSpPr>
            <a:spLocks xmlns:a="http://schemas.openxmlformats.org/drawingml/2006/main" noGrp="1"/>
          </p:cNvSpPr>
          <p:nvPr/>
        </p:nvSpPr>
        <p:spPr>
          <a:xfrm xmlns:a="http://schemas.openxmlformats.org/drawingml/2006/main">
            <a:off x="838200" y="2971800"/>
            <a:ext cx="4476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Initialized from observed conditions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Skill declines as the lead time increases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Usually days to seasons</a:t>
            </a:r>
          </a:p>
        </p:txBody>
      </p:sp>
      <p:sp>
        <p:nvSpPr>
          <p:cNvPr id="12" name="">
            <a:extLst xmlns:a="http://schemas.openxmlformats.org/drawingml/2006/main">
              <a:ext uri="{FF2B5EF4-FFF2-40B4-BE49-F238E27FC236}">
                <a16:creationId xmlns:a16="http://schemas.microsoft.com/office/drawing/2014/main" id="{EBEB021D-230A-426C-8FEC-6D737F0E5C69}"/>
              </a:ext>
            </a:extLst>
          </p:cNvPr>
          <p:cNvSpPr>
            <a:spLocks xmlns:a="http://schemas.openxmlformats.org/drawingml/2006/main" noGrp="1"/>
          </p:cNvSpPr>
          <p:nvPr/>
        </p:nvSpPr>
        <p:spPr>
          <a:xfrm xmlns:a="http://schemas.openxmlformats.org/drawingml/2006/main">
            <a:off x="5772150" y="1714500"/>
            <a:ext cx="9525" cy="31432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2FC5DF-4B20-4CDB-B9B8-C76F435A68ED}"/>
              </a:ext>
            </a:extLst>
          </p:cNvPr>
          <p:cNvSpPr>
            <a:spLocks xmlns:a="http://schemas.openxmlformats.org/drawingml/2006/main" noGrp="1"/>
          </p:cNvSpPr>
          <p:nvPr/>
        </p:nvSpPr>
        <p:spPr>
          <a:xfrm xmlns:a="http://schemas.openxmlformats.org/drawingml/2006/main">
            <a:off x="6305550" y="17907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PROJECTION</a:t>
            </a:r>
          </a:p>
        </p:txBody>
      </p:sp>
      <p:sp>
        <p:nvSpPr>
          <p:cNvPr id="14" name="">
            <a:extLst xmlns:a="http://schemas.openxmlformats.org/drawingml/2006/main">
              <a:ext uri="{FF2B5EF4-FFF2-40B4-BE49-F238E27FC236}">
                <a16:creationId xmlns:a16="http://schemas.microsoft.com/office/drawing/2014/main" id="{09EB6396-BE30-4782-8056-521977D894A7}"/>
              </a:ext>
            </a:extLst>
          </p:cNvPr>
          <p:cNvSpPr>
            <a:spLocks xmlns:a="http://schemas.openxmlformats.org/drawingml/2006/main" noGrp="1"/>
          </p:cNvSpPr>
          <p:nvPr/>
        </p:nvSpPr>
        <p:spPr>
          <a:xfrm xmlns:a="http://schemas.openxmlformats.org/drawingml/2006/main">
            <a:off x="6305550" y="21907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What climate is plausible under stated assumptions?</a:t>
            </a:r>
          </a:p>
        </p:txBody>
      </p:sp>
      <p:sp>
        <p:nvSpPr>
          <p:cNvPr id="15" name="">
            <a:extLst xmlns:a="http://schemas.openxmlformats.org/drawingml/2006/main">
              <a:ext uri="{FF2B5EF4-FFF2-40B4-BE49-F238E27FC236}">
                <a16:creationId xmlns:a16="http://schemas.microsoft.com/office/drawing/2014/main" id="{E81393C4-C2AD-4926-854A-F7DD7B28D0D4}"/>
              </a:ext>
            </a:extLst>
          </p:cNvPr>
          <p:cNvSpPr>
            <a:spLocks xmlns:a="http://schemas.openxmlformats.org/drawingml/2006/main" noGrp="1"/>
          </p:cNvSpPr>
          <p:nvPr/>
        </p:nvSpPr>
        <p:spPr>
          <a:xfrm xmlns:a="http://schemas.openxmlformats.org/drawingml/2006/main">
            <a:off x="6305550" y="2971800"/>
            <a:ext cx="4572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Conditioned on an emissions pathway</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Interpreted as a range across simulations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Usually decades</a:t>
            </a:r>
          </a:p>
        </p:txBody>
      </p:sp>
      <p:sp>
        <p:nvSpPr>
          <p:cNvPr id="16" name="">
            <a:extLst xmlns:a="http://schemas.openxmlformats.org/drawingml/2006/main">
              <a:ext uri="{FF2B5EF4-FFF2-40B4-BE49-F238E27FC236}">
                <a16:creationId xmlns:a16="http://schemas.microsoft.com/office/drawing/2014/main" id="{AF2BDBEC-60AE-4EAB-B3A3-45B350B9D60C}"/>
              </a:ext>
            </a:extLst>
          </p:cNvPr>
          <p:cNvSpPr>
            <a:spLocks xmlns:a="http://schemas.openxmlformats.org/drawingml/2006/main" noGrp="1"/>
          </p:cNvSpPr>
          <p:nvPr/>
        </p:nvSpPr>
        <p:spPr>
          <a:xfrm xmlns:a="http://schemas.openxmlformats.org/drawingml/2006/main">
            <a:off x="838200" y="5010150"/>
            <a:ext cx="10039350" cy="5905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928EAFE-E831-435B-A054-E99A503112B6}"/>
              </a:ext>
            </a:extLst>
          </p:cNvPr>
          <p:cNvSpPr>
            <a:spLocks xmlns:a="http://schemas.openxmlformats.org/drawingml/2006/main" noGrp="1"/>
          </p:cNvSpPr>
          <p:nvPr/>
        </p:nvSpPr>
        <p:spPr>
          <a:xfrm xmlns:a="http://schemas.openxmlformats.org/drawingml/2006/main">
            <a:off x="1095375" y="5181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A projection does not predict one future. It describes possible climates under defined conditions.</a:t>
            </a:r>
          </a:p>
        </p:txBody>
      </p:sp>
    </p:spTree>
    <p:extLst>
      <p:ext uri="{BB962C8B-B14F-4D97-AF65-F5344CB8AC3E}">
        <p14:creationId xmlns:p14="http://schemas.microsoft.com/office/powerpoint/2010/main" val="190915766"/>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1F41B23-5AD4-4F07-A0EB-59A7148639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A0188C-356F-4470-9092-522047DFBC30}"/>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Observations, reanalysis and simulations</a:t>
            </a:r>
          </a:p>
        </p:txBody>
      </p:sp>
      <p:sp>
        <p:nvSpPr>
          <p:cNvPr id="3" name="">
            <a:extLst xmlns:a="http://schemas.openxmlformats.org/drawingml/2006/main">
              <a:ext uri="{FF2B5EF4-FFF2-40B4-BE49-F238E27FC236}">
                <a16:creationId xmlns:a16="http://schemas.microsoft.com/office/drawing/2014/main" id="{FFC65720-225C-4F61-81B0-DF56A6A24E5E}"/>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Each source represents the climate system differently and contributes different evidence</a:t>
            </a:r>
          </a:p>
        </p:txBody>
      </p:sp>
      <p:sp>
        <p:nvSpPr>
          <p:cNvPr id="4" name="">
            <a:extLst xmlns:a="http://schemas.openxmlformats.org/drawingml/2006/main">
              <a:ext uri="{FF2B5EF4-FFF2-40B4-BE49-F238E27FC236}">
                <a16:creationId xmlns:a16="http://schemas.microsoft.com/office/drawing/2014/main" id="{A430D4F3-6955-4B30-B8DC-1B5F7310C43D}"/>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35146C-D51D-4FF9-8233-A2F147AD137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7575C35-FF38-40D5-B5B5-EA56000A6442}"/>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F88CEE-0208-4CAC-A4B3-F8D002D1CCB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FE49595B-AFBD-4D12-AD96-8E32E65B0DA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09</a:t>
            </a:r>
          </a:p>
        </p:txBody>
      </p:sp>
      <p:sp>
        <p:nvSpPr>
          <p:cNvPr id="9" name="">
            <a:extLst xmlns:a="http://schemas.openxmlformats.org/drawingml/2006/main">
              <a:ext uri="{FF2B5EF4-FFF2-40B4-BE49-F238E27FC236}">
                <a16:creationId xmlns:a16="http://schemas.microsoft.com/office/drawing/2014/main" id="{0477AB17-485E-436F-BAE2-2A96A3C105D0}"/>
              </a:ext>
            </a:extLst>
          </p:cNvPr>
          <p:cNvSpPr>
            <a:spLocks xmlns:a="http://schemas.openxmlformats.org/drawingml/2006/main" noGrp="1"/>
          </p:cNvSpPr>
          <p:nvPr/>
        </p:nvSpPr>
        <p:spPr>
          <a:xfrm xmlns:a="http://schemas.openxmlformats.org/drawingml/2006/main">
            <a:off x="838200" y="1838325"/>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00A88F"/>
                </a:solidFill>
                <a:latin typeface="Lato"/>
                <a:ea typeface="Lato"/>
                <a:cs typeface="Lato"/>
              </a:defRPr>
            </a:pPr>
            <a:r>
              <a:rPr sz="165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EA2D9229-4BC8-403D-9768-40785D319A35}"/>
              </a:ext>
            </a:extLst>
          </p:cNvPr>
          <p:cNvSpPr>
            <a:spLocks xmlns:a="http://schemas.openxmlformats.org/drawingml/2006/main" noGrp="1"/>
          </p:cNvSpPr>
          <p:nvPr/>
        </p:nvSpPr>
        <p:spPr>
          <a:xfrm xmlns:a="http://schemas.openxmlformats.org/drawingml/2006/main">
            <a:off x="1619250" y="18097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OBSERVATIONS</a:t>
            </a:r>
          </a:p>
        </p:txBody>
      </p:sp>
      <p:sp>
        <p:nvSpPr>
          <p:cNvPr id="11" name="">
            <a:extLst xmlns:a="http://schemas.openxmlformats.org/drawingml/2006/main">
              <a:ext uri="{FF2B5EF4-FFF2-40B4-BE49-F238E27FC236}">
                <a16:creationId xmlns:a16="http://schemas.microsoft.com/office/drawing/2014/main" id="{BD4650BD-7E49-4613-8008-869AC6E6E7B3}"/>
              </a:ext>
            </a:extLst>
          </p:cNvPr>
          <p:cNvSpPr>
            <a:spLocks xmlns:a="http://schemas.openxmlformats.org/drawingml/2006/main" noGrp="1"/>
          </p:cNvSpPr>
          <p:nvPr/>
        </p:nvSpPr>
        <p:spPr>
          <a:xfrm xmlns:a="http://schemas.openxmlformats.org/drawingml/2006/main">
            <a:off x="4000500" y="1790700"/>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Measured at stations or by satellites</a:t>
            </a:r>
          </a:p>
        </p:txBody>
      </p:sp>
      <p:sp>
        <p:nvSpPr>
          <p:cNvPr id="12" name="">
            <a:extLst xmlns:a="http://schemas.openxmlformats.org/drawingml/2006/main">
              <a:ext uri="{FF2B5EF4-FFF2-40B4-BE49-F238E27FC236}">
                <a16:creationId xmlns:a16="http://schemas.microsoft.com/office/drawing/2014/main" id="{3F0DDECE-C811-4028-8B8E-67961DC73F56}"/>
              </a:ext>
            </a:extLst>
          </p:cNvPr>
          <p:cNvSpPr>
            <a:spLocks xmlns:a="http://schemas.openxmlformats.org/drawingml/2006/main" noGrp="1"/>
          </p:cNvSpPr>
          <p:nvPr/>
        </p:nvSpPr>
        <p:spPr>
          <a:xfrm xmlns:a="http://schemas.openxmlformats.org/drawingml/2006/main">
            <a:off x="7524750" y="177165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Direct evidence, but uneven coverage and measurement uncertainty</a:t>
            </a:r>
          </a:p>
        </p:txBody>
      </p:sp>
      <p:sp>
        <p:nvSpPr>
          <p:cNvPr id="13" name="">
            <a:extLst xmlns:a="http://schemas.openxmlformats.org/drawingml/2006/main">
              <a:ext uri="{FF2B5EF4-FFF2-40B4-BE49-F238E27FC236}">
                <a16:creationId xmlns:a16="http://schemas.microsoft.com/office/drawing/2014/main" id="{FF951276-502E-42EF-BDD7-675F35DEAE10}"/>
              </a:ext>
            </a:extLst>
          </p:cNvPr>
          <p:cNvSpPr>
            <a:spLocks xmlns:a="http://schemas.openxmlformats.org/drawingml/2006/main" noGrp="1"/>
          </p:cNvSpPr>
          <p:nvPr/>
        </p:nvSpPr>
        <p:spPr>
          <a:xfrm xmlns:a="http://schemas.openxmlformats.org/drawingml/2006/main">
            <a:off x="1619250" y="2590800"/>
            <a:ext cx="94297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F46950C-2191-4F54-B972-9AC88BFFACBF}"/>
              </a:ext>
            </a:extLst>
          </p:cNvPr>
          <p:cNvSpPr>
            <a:spLocks xmlns:a="http://schemas.openxmlformats.org/drawingml/2006/main" noGrp="1"/>
          </p:cNvSpPr>
          <p:nvPr/>
        </p:nvSpPr>
        <p:spPr>
          <a:xfrm xmlns:a="http://schemas.openxmlformats.org/drawingml/2006/main">
            <a:off x="838200" y="30289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B008A350-4622-4ECC-86B8-CDACEA50D8EA}"/>
              </a:ext>
            </a:extLst>
          </p:cNvPr>
          <p:cNvSpPr>
            <a:spLocks xmlns:a="http://schemas.openxmlformats.org/drawingml/2006/main" noGrp="1"/>
          </p:cNvSpPr>
          <p:nvPr/>
        </p:nvSpPr>
        <p:spPr>
          <a:xfrm xmlns:a="http://schemas.openxmlformats.org/drawingml/2006/main">
            <a:off x="1619250" y="30003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REANALYSIS</a:t>
            </a:r>
          </a:p>
        </p:txBody>
      </p:sp>
      <p:sp>
        <p:nvSpPr>
          <p:cNvPr id="16" name="">
            <a:extLst xmlns:a="http://schemas.openxmlformats.org/drawingml/2006/main">
              <a:ext uri="{FF2B5EF4-FFF2-40B4-BE49-F238E27FC236}">
                <a16:creationId xmlns:a16="http://schemas.microsoft.com/office/drawing/2014/main" id="{E4514C8C-E408-4753-A48A-F5D06447AE13}"/>
              </a:ext>
            </a:extLst>
          </p:cNvPr>
          <p:cNvSpPr>
            <a:spLocks xmlns:a="http://schemas.openxmlformats.org/drawingml/2006/main" noGrp="1"/>
          </p:cNvSpPr>
          <p:nvPr/>
        </p:nvSpPr>
        <p:spPr>
          <a:xfrm xmlns:a="http://schemas.openxmlformats.org/drawingml/2006/main">
            <a:off x="4000500" y="2981325"/>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Observations combined with a weather model</a:t>
            </a:r>
          </a:p>
        </p:txBody>
      </p:sp>
      <p:sp>
        <p:nvSpPr>
          <p:cNvPr id="17" name="">
            <a:extLst xmlns:a="http://schemas.openxmlformats.org/drawingml/2006/main">
              <a:ext uri="{FF2B5EF4-FFF2-40B4-BE49-F238E27FC236}">
                <a16:creationId xmlns:a16="http://schemas.microsoft.com/office/drawing/2014/main" id="{29FB5DB9-DD3A-4BE1-9B78-0163DC45172D}"/>
              </a:ext>
            </a:extLst>
          </p:cNvPr>
          <p:cNvSpPr>
            <a:spLocks xmlns:a="http://schemas.openxmlformats.org/drawingml/2006/main" noGrp="1"/>
          </p:cNvSpPr>
          <p:nvPr/>
        </p:nvSpPr>
        <p:spPr>
          <a:xfrm xmlns:a="http://schemas.openxmlformats.org/drawingml/2006/main">
            <a:off x="7524750" y="29622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Complete grids and internally consistent fields, but still model dependent</a:t>
            </a:r>
          </a:p>
        </p:txBody>
      </p:sp>
      <p:sp>
        <p:nvSpPr>
          <p:cNvPr id="18" name="">
            <a:extLst xmlns:a="http://schemas.openxmlformats.org/drawingml/2006/main">
              <a:ext uri="{FF2B5EF4-FFF2-40B4-BE49-F238E27FC236}">
                <a16:creationId xmlns:a16="http://schemas.microsoft.com/office/drawing/2014/main" id="{C5D198AB-CC46-4E29-8E18-1B9371EE6525}"/>
              </a:ext>
            </a:extLst>
          </p:cNvPr>
          <p:cNvSpPr>
            <a:spLocks xmlns:a="http://schemas.openxmlformats.org/drawingml/2006/main" noGrp="1"/>
          </p:cNvSpPr>
          <p:nvPr/>
        </p:nvSpPr>
        <p:spPr>
          <a:xfrm xmlns:a="http://schemas.openxmlformats.org/drawingml/2006/main">
            <a:off x="1619250" y="3781425"/>
            <a:ext cx="94297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C8EBE92-482F-481C-AC63-B24AB838305F}"/>
              </a:ext>
            </a:extLst>
          </p:cNvPr>
          <p:cNvSpPr>
            <a:spLocks xmlns:a="http://schemas.openxmlformats.org/drawingml/2006/main" noGrp="1"/>
          </p:cNvSpPr>
          <p:nvPr/>
        </p:nvSpPr>
        <p:spPr>
          <a:xfrm xmlns:a="http://schemas.openxmlformats.org/drawingml/2006/main">
            <a:off x="838200" y="4219575"/>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F2B632"/>
                </a:solidFill>
                <a:latin typeface="Lato"/>
                <a:ea typeface="Lato"/>
                <a:cs typeface="Lato"/>
              </a:defRPr>
            </a:pPr>
            <a:r>
              <a:rPr sz="1650" b="1" i="0">
                <a:solidFill>
                  <a:srgbClr val="F2B632"/>
                </a:solidFill>
                <a:latin typeface="Lato"/>
                <a:ea typeface="Lato"/>
                <a:cs typeface="Lato"/>
              </a:rPr>
              <a:t>03</a:t>
            </a:r>
          </a:p>
        </p:txBody>
      </p:sp>
      <p:sp>
        <p:nvSpPr>
          <p:cNvPr id="20" name="">
            <a:extLst xmlns:a="http://schemas.openxmlformats.org/drawingml/2006/main">
              <a:ext uri="{FF2B5EF4-FFF2-40B4-BE49-F238E27FC236}">
                <a16:creationId xmlns:a16="http://schemas.microsoft.com/office/drawing/2014/main" id="{D82F92F4-737C-4E5E-A7B0-9E05D0847FB9}"/>
              </a:ext>
            </a:extLst>
          </p:cNvPr>
          <p:cNvSpPr>
            <a:spLocks xmlns:a="http://schemas.openxmlformats.org/drawingml/2006/main" noGrp="1"/>
          </p:cNvSpPr>
          <p:nvPr/>
        </p:nvSpPr>
        <p:spPr>
          <a:xfrm xmlns:a="http://schemas.openxmlformats.org/drawingml/2006/main">
            <a:off x="1619250" y="41910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SIMULATIONS</a:t>
            </a:r>
          </a:p>
        </p:txBody>
      </p:sp>
      <p:sp>
        <p:nvSpPr>
          <p:cNvPr id="21" name="">
            <a:extLst xmlns:a="http://schemas.openxmlformats.org/drawingml/2006/main">
              <a:ext uri="{FF2B5EF4-FFF2-40B4-BE49-F238E27FC236}">
                <a16:creationId xmlns:a16="http://schemas.microsoft.com/office/drawing/2014/main" id="{36C8A51D-533D-4036-8679-C28F3AC269D5}"/>
              </a:ext>
            </a:extLst>
          </p:cNvPr>
          <p:cNvSpPr>
            <a:spLocks xmlns:a="http://schemas.openxmlformats.org/drawingml/2006/main" noGrp="1"/>
          </p:cNvSpPr>
          <p:nvPr/>
        </p:nvSpPr>
        <p:spPr>
          <a:xfrm xmlns:a="http://schemas.openxmlformats.org/drawingml/2006/main">
            <a:off x="4000500" y="4171950"/>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models run for historical and future conditions</a:t>
            </a:r>
          </a:p>
        </p:txBody>
      </p:sp>
      <p:sp>
        <p:nvSpPr>
          <p:cNvPr id="22" name="">
            <a:extLst xmlns:a="http://schemas.openxmlformats.org/drawingml/2006/main">
              <a:ext uri="{FF2B5EF4-FFF2-40B4-BE49-F238E27FC236}">
                <a16:creationId xmlns:a16="http://schemas.microsoft.com/office/drawing/2014/main" id="{F57D7C3F-E5CE-4344-BF03-C56C7ECAB794}"/>
              </a:ext>
            </a:extLst>
          </p:cNvPr>
          <p:cNvSpPr>
            <a:spLocks xmlns:a="http://schemas.openxmlformats.org/drawingml/2006/main" noGrp="1"/>
          </p:cNvSpPr>
          <p:nvPr/>
        </p:nvSpPr>
        <p:spPr>
          <a:xfrm xmlns:a="http://schemas.openxmlformats.org/drawingml/2006/main">
            <a:off x="7524750" y="415290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Controlled experiments and projections, with structural limitations</a:t>
            </a:r>
          </a:p>
        </p:txBody>
      </p:sp>
      <p:sp>
        <p:nvSpPr>
          <p:cNvPr id="23" name="">
            <a:extLst xmlns:a="http://schemas.openxmlformats.org/drawingml/2006/main">
              <a:ext uri="{FF2B5EF4-FFF2-40B4-BE49-F238E27FC236}">
                <a16:creationId xmlns:a16="http://schemas.microsoft.com/office/drawing/2014/main" id="{7BA89958-EAB9-4107-92E2-654229C600EF}"/>
              </a:ext>
            </a:extLst>
          </p:cNvPr>
          <p:cNvSpPr>
            <a:spLocks xmlns:a="http://schemas.openxmlformats.org/drawingml/2006/main" noGrp="1"/>
          </p:cNvSpPr>
          <p:nvPr/>
        </p:nvSpPr>
        <p:spPr>
          <a:xfrm xmlns:a="http://schemas.openxmlformats.org/drawingml/2006/main">
            <a:off x="838200" y="5391150"/>
            <a:ext cx="10210800" cy="4762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C225CF9-EC42-407C-9EC4-FE7C9ECBDD36}"/>
              </a:ext>
            </a:extLst>
          </p:cNvPr>
          <p:cNvSpPr>
            <a:spLocks xmlns:a="http://schemas.openxmlformats.org/drawingml/2006/main" noGrp="1"/>
          </p:cNvSpPr>
          <p:nvPr/>
        </p:nvSpPr>
        <p:spPr>
          <a:xfrm xmlns:a="http://schemas.openxmlformats.org/drawingml/2006/main">
            <a:off x="1095375" y="5514975"/>
            <a:ext cx="969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No source is a perfect truth. Confidence grows by comparing independent lines of evidence.</a:t>
            </a:r>
          </a:p>
        </p:txBody>
      </p:sp>
    </p:spTree>
    <p:extLst>
      <p:ext uri="{BB962C8B-B14F-4D97-AF65-F5344CB8AC3E}">
        <p14:creationId xmlns:p14="http://schemas.microsoft.com/office/powerpoint/2010/main" val="1368641078"/>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DFE5AA0-BD47-49FF-A324-EC773C889B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681DC6-DD6A-4594-A666-E95090F32427}"/>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Uncertainty in climate projections</a:t>
            </a:r>
          </a:p>
        </p:txBody>
      </p:sp>
      <p:sp>
        <p:nvSpPr>
          <p:cNvPr id="3" name="">
            <a:extLst xmlns:a="http://schemas.openxmlformats.org/drawingml/2006/main">
              <a:ext uri="{FF2B5EF4-FFF2-40B4-BE49-F238E27FC236}">
                <a16:creationId xmlns:a16="http://schemas.microsoft.com/office/drawing/2014/main" id="{ACEB3593-7416-46FC-BA80-C4335B007703}"/>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Uncertainty describes the range of plausible outcomes and the confidence attached to them</a:t>
            </a:r>
          </a:p>
        </p:txBody>
      </p:sp>
      <p:sp>
        <p:nvSpPr>
          <p:cNvPr id="4" name="">
            <a:extLst xmlns:a="http://schemas.openxmlformats.org/drawingml/2006/main">
              <a:ext uri="{FF2B5EF4-FFF2-40B4-BE49-F238E27FC236}">
                <a16:creationId xmlns:a16="http://schemas.microsoft.com/office/drawing/2014/main" id="{CA9F3903-E94B-4605-93BC-6ED5C95E15F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1C2864-EDED-4197-98DA-9922E536409A}"/>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E22EDBC-4D1B-471C-A7B5-04B9927CD240}"/>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64D332-A65C-4E7E-AE4B-1CEAC89EA5C4}"/>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E12A5F3A-5CF4-4E7A-BD2E-EBA2B95E7F04}"/>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10</a:t>
            </a:r>
          </a:p>
        </p:txBody>
      </p:sp>
      <p:sp>
        <p:nvSpPr>
          <p:cNvPr id="9" name="">
            <a:extLst xmlns:a="http://schemas.openxmlformats.org/drawingml/2006/main">
              <a:ext uri="{FF2B5EF4-FFF2-40B4-BE49-F238E27FC236}">
                <a16:creationId xmlns:a16="http://schemas.microsoft.com/office/drawing/2014/main" id="{0D440A3B-D103-4A27-B65B-D6D6DCEC2E9E}"/>
              </a:ext>
            </a:extLst>
          </p:cNvPr>
          <p:cNvSpPr>
            <a:spLocks xmlns:a="http://schemas.openxmlformats.org/drawingml/2006/main" noGrp="1"/>
          </p:cNvSpPr>
          <p:nvPr/>
        </p:nvSpPr>
        <p:spPr>
          <a:xfrm xmlns:a="http://schemas.openxmlformats.org/drawingml/2006/main">
            <a:off x="838200" y="19526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87984"/>
                </a:solidFill>
                <a:latin typeface="Lato"/>
                <a:ea typeface="Lato"/>
                <a:cs typeface="Lato"/>
              </a:defRPr>
            </a:pPr>
            <a:r>
              <a:rPr sz="1350" b="1" i="0">
                <a:solidFill>
                  <a:srgbClr val="687984"/>
                </a:solidFill>
                <a:latin typeface="Lato"/>
                <a:ea typeface="Lato"/>
                <a:cs typeface="Lato"/>
              </a:rPr>
              <a:t>A projection depends on</a:t>
            </a:r>
          </a:p>
        </p:txBody>
      </p:sp>
      <p:sp>
        <p:nvSpPr>
          <p:cNvPr id="10" name="">
            <a:extLst xmlns:a="http://schemas.openxmlformats.org/drawingml/2006/main">
              <a:ext uri="{FF2B5EF4-FFF2-40B4-BE49-F238E27FC236}">
                <a16:creationId xmlns:a16="http://schemas.microsoft.com/office/drawing/2014/main" id="{E4D79DF9-C4B4-4CF4-B328-E8871B9CA786}"/>
              </a:ext>
            </a:extLst>
          </p:cNvPr>
          <p:cNvSpPr>
            <a:spLocks xmlns:a="http://schemas.openxmlformats.org/drawingml/2006/main" noGrp="1"/>
          </p:cNvSpPr>
          <p:nvPr/>
        </p:nvSpPr>
        <p:spPr>
          <a:xfrm xmlns:a="http://schemas.openxmlformats.org/drawingml/2006/main">
            <a:off x="838200" y="2562225"/>
            <a:ext cx="171450" cy="171450"/>
          </a:xfrm>
          <a:prstGeom xmlns:a="http://schemas.openxmlformats.org/drawingml/2006/main" prst="ellipse">
            <a:avLst/>
          </a:prstGeom>
          <a:solidFill xmlns:a="http://schemas.openxmlformats.org/drawingml/2006/main">
            <a:srgbClr val="C95C5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00AFE42-B3F4-4291-9F88-76D09C40600B}"/>
              </a:ext>
            </a:extLst>
          </p:cNvPr>
          <p:cNvSpPr>
            <a:spLocks xmlns:a="http://schemas.openxmlformats.org/drawingml/2006/main" noGrp="1"/>
          </p:cNvSpPr>
          <p:nvPr/>
        </p:nvSpPr>
        <p:spPr>
          <a:xfrm xmlns:a="http://schemas.openxmlformats.org/drawingml/2006/main">
            <a:off x="1200150" y="25050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future pathway</a:t>
            </a:r>
          </a:p>
        </p:txBody>
      </p:sp>
      <p:sp>
        <p:nvSpPr>
          <p:cNvPr id="12" name="">
            <a:extLst xmlns:a="http://schemas.openxmlformats.org/drawingml/2006/main">
              <a:ext uri="{FF2B5EF4-FFF2-40B4-BE49-F238E27FC236}">
                <a16:creationId xmlns:a16="http://schemas.microsoft.com/office/drawing/2014/main" id="{F119D16F-ABF3-4640-9D73-4D26D4DCA85F}"/>
              </a:ext>
            </a:extLst>
          </p:cNvPr>
          <p:cNvSpPr>
            <a:spLocks xmlns:a="http://schemas.openxmlformats.org/drawingml/2006/main" noGrp="1"/>
          </p:cNvSpPr>
          <p:nvPr/>
        </p:nvSpPr>
        <p:spPr>
          <a:xfrm xmlns:a="http://schemas.openxmlformats.org/drawingml/2006/main">
            <a:off x="838200" y="3248025"/>
            <a:ext cx="171450" cy="171450"/>
          </a:xfrm>
          <a:prstGeom xmlns:a="http://schemas.openxmlformats.org/drawingml/2006/main" prst="ellipse">
            <a:avLst/>
          </a:prstGeom>
          <a:solidFill xmlns:a="http://schemas.openxmlformats.org/drawingml/2006/main">
            <a:srgbClr val="F2B63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73D8977-BB1C-4B5E-A446-EEB2A1BF5B05}"/>
              </a:ext>
            </a:extLst>
          </p:cNvPr>
          <p:cNvSpPr>
            <a:spLocks xmlns:a="http://schemas.openxmlformats.org/drawingml/2006/main" noGrp="1"/>
          </p:cNvSpPr>
          <p:nvPr/>
        </p:nvSpPr>
        <p:spPr>
          <a:xfrm xmlns:a="http://schemas.openxmlformats.org/drawingml/2006/main">
            <a:off x="1200150" y="31908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model response</a:t>
            </a:r>
          </a:p>
        </p:txBody>
      </p:sp>
      <p:sp>
        <p:nvSpPr>
          <p:cNvPr id="14" name="">
            <a:extLst xmlns:a="http://schemas.openxmlformats.org/drawingml/2006/main">
              <a:ext uri="{FF2B5EF4-FFF2-40B4-BE49-F238E27FC236}">
                <a16:creationId xmlns:a16="http://schemas.microsoft.com/office/drawing/2014/main" id="{0966E21B-CCA1-40F3-BE4F-0917FA074FCF}"/>
              </a:ext>
            </a:extLst>
          </p:cNvPr>
          <p:cNvSpPr>
            <a:spLocks xmlns:a="http://schemas.openxmlformats.org/drawingml/2006/main" noGrp="1"/>
          </p:cNvSpPr>
          <p:nvPr/>
        </p:nvSpPr>
        <p:spPr>
          <a:xfrm xmlns:a="http://schemas.openxmlformats.org/drawingml/2006/main">
            <a:off x="838200" y="3933825"/>
            <a:ext cx="171450" cy="17145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FA67B40-2CAC-4C64-A07A-E5C5066C6FCF}"/>
              </a:ext>
            </a:extLst>
          </p:cNvPr>
          <p:cNvSpPr>
            <a:spLocks xmlns:a="http://schemas.openxmlformats.org/drawingml/2006/main" noGrp="1"/>
          </p:cNvSpPr>
          <p:nvPr/>
        </p:nvSpPr>
        <p:spPr>
          <a:xfrm xmlns:a="http://schemas.openxmlformats.org/drawingml/2006/main">
            <a:off x="1200150" y="38766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climate’s internal variability</a:t>
            </a:r>
          </a:p>
        </p:txBody>
      </p:sp>
      <p:sp>
        <p:nvSpPr>
          <p:cNvPr id="16" name="">
            <a:extLst xmlns:a="http://schemas.openxmlformats.org/drawingml/2006/main">
              <a:ext uri="{FF2B5EF4-FFF2-40B4-BE49-F238E27FC236}">
                <a16:creationId xmlns:a16="http://schemas.microsoft.com/office/drawing/2014/main" id="{A0CA13C7-FCD0-451F-9253-B2EA9805DC9B}"/>
              </a:ext>
            </a:extLst>
          </p:cNvPr>
          <p:cNvSpPr>
            <a:spLocks xmlns:a="http://schemas.openxmlformats.org/drawingml/2006/main" noGrp="1"/>
          </p:cNvSpPr>
          <p:nvPr/>
        </p:nvSpPr>
        <p:spPr>
          <a:xfrm xmlns:a="http://schemas.openxmlformats.org/drawingml/2006/main">
            <a:off x="5619750" y="1762125"/>
            <a:ext cx="9525" cy="32385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ED482E4-D610-4E09-8366-566231F0C6C0}"/>
              </a:ext>
            </a:extLst>
          </p:cNvPr>
          <p:cNvSpPr>
            <a:spLocks xmlns:a="http://schemas.openxmlformats.org/drawingml/2006/main" noGrp="1"/>
          </p:cNvSpPr>
          <p:nvPr/>
        </p:nvSpPr>
        <p:spPr>
          <a:xfrm xmlns:a="http://schemas.openxmlformats.org/drawingml/2006/main">
            <a:off x="6191250" y="1952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The range is information</a:t>
            </a:r>
          </a:p>
        </p:txBody>
      </p:sp>
      <p:sp>
        <p:nvSpPr>
          <p:cNvPr id="18" name="">
            <a:extLst xmlns:a="http://schemas.openxmlformats.org/drawingml/2006/main">
              <a:ext uri="{FF2B5EF4-FFF2-40B4-BE49-F238E27FC236}">
                <a16:creationId xmlns:a16="http://schemas.microsoft.com/office/drawing/2014/main" id="{8A1E2731-B4E5-4B2B-A889-36B0829A69A5}"/>
              </a:ext>
            </a:extLst>
          </p:cNvPr>
          <p:cNvSpPr>
            <a:spLocks xmlns:a="http://schemas.openxmlformats.org/drawingml/2006/main" noGrp="1"/>
          </p:cNvSpPr>
          <p:nvPr/>
        </p:nvSpPr>
        <p:spPr>
          <a:xfrm xmlns:a="http://schemas.openxmlformats.org/drawingml/2006/main">
            <a:off x="6191250" y="2667000"/>
            <a:ext cx="457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687984"/>
                </a:solidFill>
                <a:latin typeface="Lato"/>
                <a:ea typeface="Lato"/>
                <a:cs typeface="Lato"/>
              </a:defRPr>
            </a:pPr>
            <a:r>
              <a:rPr sz="1500" b="0" i="0">
                <a:solidFill>
                  <a:srgbClr val="687984"/>
                </a:solidFill>
                <a:latin typeface="Lato"/>
                <a:ea typeface="Lato"/>
                <a:cs typeface="Lato"/>
              </a:rPr>
              <a:t>Different simulations answer different parts of the uncertainty question. The objective is to identify the source of spread, then use the appropriate ensemble and interpretation.</a:t>
            </a:r>
          </a:p>
        </p:txBody>
      </p:sp>
      <p:sp>
        <p:nvSpPr>
          <p:cNvPr id="19" name="">
            <a:extLst xmlns:a="http://schemas.openxmlformats.org/drawingml/2006/main">
              <a:ext uri="{FF2B5EF4-FFF2-40B4-BE49-F238E27FC236}">
                <a16:creationId xmlns:a16="http://schemas.microsoft.com/office/drawing/2014/main" id="{51BB2E9E-3850-497B-AAE0-758519D37DA8}"/>
              </a:ext>
            </a:extLst>
          </p:cNvPr>
          <p:cNvSpPr>
            <a:spLocks xmlns:a="http://schemas.openxmlformats.org/drawingml/2006/main" noGrp="1"/>
          </p:cNvSpPr>
          <p:nvPr/>
        </p:nvSpPr>
        <p:spPr>
          <a:xfrm xmlns:a="http://schemas.openxmlformats.org/drawingml/2006/main">
            <a:off x="6191250" y="4400550"/>
            <a:ext cx="4429125" cy="68580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4565725-D242-4BE4-B2AA-AA50F70F974D}"/>
              </a:ext>
            </a:extLst>
          </p:cNvPr>
          <p:cNvSpPr>
            <a:spLocks xmlns:a="http://schemas.openxmlformats.org/drawingml/2006/main" noGrp="1"/>
          </p:cNvSpPr>
          <p:nvPr/>
        </p:nvSpPr>
        <p:spPr>
          <a:xfrm xmlns:a="http://schemas.openxmlformats.org/drawingml/2006/main">
            <a:off x="6457950" y="4572000"/>
            <a:ext cx="3886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734"/>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Uncertainty is structured. It should be separated, sampled and communicated.</a:t>
            </a:r>
          </a:p>
        </p:txBody>
      </p:sp>
    </p:spTree>
    <p:extLst>
      <p:ext uri="{BB962C8B-B14F-4D97-AF65-F5344CB8AC3E}">
        <p14:creationId xmlns:p14="http://schemas.microsoft.com/office/powerpoint/2010/main" val="1059243979"/>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4627812-0E93-4849-81BE-6F4D6076E56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FE6E92-5B9F-4F14-BB19-49169BC48B87}"/>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Three main sources of projection uncertainty</a:t>
            </a:r>
          </a:p>
        </p:txBody>
      </p:sp>
      <p:sp>
        <p:nvSpPr>
          <p:cNvPr id="3" name="">
            <a:extLst xmlns:a="http://schemas.openxmlformats.org/drawingml/2006/main">
              <a:ext uri="{FF2B5EF4-FFF2-40B4-BE49-F238E27FC236}">
                <a16:creationId xmlns:a16="http://schemas.microsoft.com/office/drawing/2014/main" id="{FDD227AD-7E8D-4477-9B94-28446EEC49AB}"/>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categories require different experiments and different responses</a:t>
            </a:r>
          </a:p>
        </p:txBody>
      </p:sp>
      <p:sp>
        <p:nvSpPr>
          <p:cNvPr id="4" name="">
            <a:extLst xmlns:a="http://schemas.openxmlformats.org/drawingml/2006/main">
              <a:ext uri="{FF2B5EF4-FFF2-40B4-BE49-F238E27FC236}">
                <a16:creationId xmlns:a16="http://schemas.microsoft.com/office/drawing/2014/main" id="{3A3E6354-7861-4EDB-A4DB-5288B1E60E79}"/>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373764-3A2D-4525-91B5-A9DD2659E7C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FC70EB4-A59B-48FB-BE37-003F10A9A01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BC054BE-B05B-4640-B223-975325084539}"/>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D518AFC8-8B36-48AD-8965-B79A3DDF249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11</a:t>
            </a:r>
          </a:p>
        </p:txBody>
      </p:sp>
      <p:sp>
        <p:nvSpPr>
          <p:cNvPr id="9" name="">
            <a:extLst xmlns:a="http://schemas.openxmlformats.org/drawingml/2006/main">
              <a:ext uri="{FF2B5EF4-FFF2-40B4-BE49-F238E27FC236}">
                <a16:creationId xmlns:a16="http://schemas.microsoft.com/office/drawing/2014/main" id="{B3263AE3-9234-4D7D-913F-397BB0687030}"/>
              </a:ext>
            </a:extLst>
          </p:cNvPr>
          <p:cNvSpPr>
            <a:spLocks xmlns:a="http://schemas.openxmlformats.org/drawingml/2006/main" noGrp="1"/>
          </p:cNvSpPr>
          <p:nvPr/>
        </p:nvSpPr>
        <p:spPr>
          <a:xfrm xmlns:a="http://schemas.openxmlformats.org/drawingml/2006/main">
            <a:off x="742950" y="1857375"/>
            <a:ext cx="3333750" cy="95250"/>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2847E6D-AB3F-4419-B836-647D9D2B43D5}"/>
              </a:ext>
            </a:extLst>
          </p:cNvPr>
          <p:cNvSpPr>
            <a:spLocks xmlns:a="http://schemas.openxmlformats.org/drawingml/2006/main" noGrp="1"/>
          </p:cNvSpPr>
          <p:nvPr/>
        </p:nvSpPr>
        <p:spPr>
          <a:xfrm xmlns:a="http://schemas.openxmlformats.org/drawingml/2006/main">
            <a:off x="74295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C95C54"/>
                </a:solidFill>
                <a:latin typeface="Lato"/>
                <a:ea typeface="Lato"/>
                <a:cs typeface="Lato"/>
              </a:defRPr>
            </a:pPr>
            <a:r>
              <a:rPr sz="1125" b="1" i="0">
                <a:solidFill>
                  <a:srgbClr val="C95C54"/>
                </a:solidFill>
                <a:latin typeface="Lato"/>
                <a:ea typeface="Lato"/>
                <a:cs typeface="Lato"/>
              </a:rPr>
              <a:t>SCENARIO</a:t>
            </a:r>
          </a:p>
        </p:txBody>
      </p:sp>
      <p:sp>
        <p:nvSpPr>
          <p:cNvPr id="11" name="">
            <a:extLst xmlns:a="http://schemas.openxmlformats.org/drawingml/2006/main">
              <a:ext uri="{FF2B5EF4-FFF2-40B4-BE49-F238E27FC236}">
                <a16:creationId xmlns:a16="http://schemas.microsoft.com/office/drawing/2014/main" id="{0CF3E6BE-70ED-4F75-B068-F9039714C061}"/>
              </a:ext>
            </a:extLst>
          </p:cNvPr>
          <p:cNvSpPr>
            <a:spLocks xmlns:a="http://schemas.openxmlformats.org/drawingml/2006/main" noGrp="1"/>
          </p:cNvSpPr>
          <p:nvPr/>
        </p:nvSpPr>
        <p:spPr>
          <a:xfrm xmlns:a="http://schemas.openxmlformats.org/drawingml/2006/main">
            <a:off x="74295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Future emissions and other external forcing</a:t>
            </a:r>
          </a:p>
        </p:txBody>
      </p:sp>
      <p:sp>
        <p:nvSpPr>
          <p:cNvPr id="12" name="">
            <a:extLst xmlns:a="http://schemas.openxmlformats.org/drawingml/2006/main">
              <a:ext uri="{FF2B5EF4-FFF2-40B4-BE49-F238E27FC236}">
                <a16:creationId xmlns:a16="http://schemas.microsoft.com/office/drawing/2014/main" id="{CD3E5E73-2F5D-4423-B29D-E6569B306F8A}"/>
              </a:ext>
            </a:extLst>
          </p:cNvPr>
          <p:cNvSpPr>
            <a:spLocks xmlns:a="http://schemas.openxmlformats.org/drawingml/2006/main" noGrp="1"/>
          </p:cNvSpPr>
          <p:nvPr/>
        </p:nvSpPr>
        <p:spPr>
          <a:xfrm xmlns:a="http://schemas.openxmlformats.org/drawingml/2006/main">
            <a:off x="742950" y="3752850"/>
            <a:ext cx="3333750" cy="1000125"/>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4FA9FA2-785F-4BAA-A471-E0030572AF8C}"/>
              </a:ext>
            </a:extLst>
          </p:cNvPr>
          <p:cNvSpPr>
            <a:spLocks xmlns:a="http://schemas.openxmlformats.org/drawingml/2006/main" noGrp="1"/>
          </p:cNvSpPr>
          <p:nvPr/>
        </p:nvSpPr>
        <p:spPr>
          <a:xfrm xmlns:a="http://schemas.openxmlformats.org/drawingml/2006/main">
            <a:off x="93345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C95C54"/>
                </a:solidFill>
                <a:latin typeface="Lato"/>
                <a:ea typeface="Lato"/>
                <a:cs typeface="Lato"/>
              </a:defRPr>
            </a:pPr>
            <a:r>
              <a:rPr sz="900" b="1" i="0">
                <a:solidFill>
                  <a:srgbClr val="C95C54"/>
                </a:solidFill>
                <a:latin typeface="Lato"/>
                <a:ea typeface="Lato"/>
                <a:cs typeface="Lato"/>
              </a:rPr>
              <a:t>HOW TO SAMPLE IT</a:t>
            </a:r>
          </a:p>
        </p:txBody>
      </p:sp>
      <p:sp>
        <p:nvSpPr>
          <p:cNvPr id="14" name="">
            <a:extLst xmlns:a="http://schemas.openxmlformats.org/drawingml/2006/main">
              <a:ext uri="{FF2B5EF4-FFF2-40B4-BE49-F238E27FC236}">
                <a16:creationId xmlns:a16="http://schemas.microsoft.com/office/drawing/2014/main" id="{3F0574D2-5407-4AE8-B650-A4B917579ABC}"/>
              </a:ext>
            </a:extLst>
          </p:cNvPr>
          <p:cNvSpPr>
            <a:spLocks xmlns:a="http://schemas.openxmlformats.org/drawingml/2006/main" noGrp="1"/>
          </p:cNvSpPr>
          <p:nvPr/>
        </p:nvSpPr>
        <p:spPr>
          <a:xfrm xmlns:a="http://schemas.openxmlformats.org/drawingml/2006/main">
            <a:off x="93345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Run more than one plausible pathway</a:t>
            </a:r>
          </a:p>
        </p:txBody>
      </p:sp>
      <p:sp>
        <p:nvSpPr>
          <p:cNvPr id="15" name="">
            <a:extLst xmlns:a="http://schemas.openxmlformats.org/drawingml/2006/main">
              <a:ext uri="{FF2B5EF4-FFF2-40B4-BE49-F238E27FC236}">
                <a16:creationId xmlns:a16="http://schemas.microsoft.com/office/drawing/2014/main" id="{5F49B2EE-FB24-4C85-8AB1-CA76AD218BC6}"/>
              </a:ext>
            </a:extLst>
          </p:cNvPr>
          <p:cNvSpPr>
            <a:spLocks xmlns:a="http://schemas.openxmlformats.org/drawingml/2006/main" noGrp="1"/>
          </p:cNvSpPr>
          <p:nvPr/>
        </p:nvSpPr>
        <p:spPr>
          <a:xfrm xmlns:a="http://schemas.openxmlformats.org/drawingml/2006/main">
            <a:off x="4457700" y="1857375"/>
            <a:ext cx="3333750" cy="9525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8D0F6D6-F226-4CB0-8A5A-6B6E8C1982C0}"/>
              </a:ext>
            </a:extLst>
          </p:cNvPr>
          <p:cNvSpPr>
            <a:spLocks xmlns:a="http://schemas.openxmlformats.org/drawingml/2006/main" noGrp="1"/>
          </p:cNvSpPr>
          <p:nvPr/>
        </p:nvSpPr>
        <p:spPr>
          <a:xfrm xmlns:a="http://schemas.openxmlformats.org/drawingml/2006/main">
            <a:off x="445770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MODEL RESPONSE</a:t>
            </a:r>
          </a:p>
        </p:txBody>
      </p:sp>
      <p:sp>
        <p:nvSpPr>
          <p:cNvPr id="17" name="">
            <a:extLst xmlns:a="http://schemas.openxmlformats.org/drawingml/2006/main">
              <a:ext uri="{FF2B5EF4-FFF2-40B4-BE49-F238E27FC236}">
                <a16:creationId xmlns:a16="http://schemas.microsoft.com/office/drawing/2014/main" id="{A53B0D26-DF3C-4F19-846F-C8E33819B223}"/>
              </a:ext>
            </a:extLst>
          </p:cNvPr>
          <p:cNvSpPr>
            <a:spLocks xmlns:a="http://schemas.openxmlformats.org/drawingml/2006/main" noGrp="1"/>
          </p:cNvSpPr>
          <p:nvPr/>
        </p:nvSpPr>
        <p:spPr>
          <a:xfrm xmlns:a="http://schemas.openxmlformats.org/drawingml/2006/main">
            <a:off x="445770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Different representations of climate processes</a:t>
            </a:r>
          </a:p>
        </p:txBody>
      </p:sp>
      <p:sp>
        <p:nvSpPr>
          <p:cNvPr id="18" name="">
            <a:extLst xmlns:a="http://schemas.openxmlformats.org/drawingml/2006/main">
              <a:ext uri="{FF2B5EF4-FFF2-40B4-BE49-F238E27FC236}">
                <a16:creationId xmlns:a16="http://schemas.microsoft.com/office/drawing/2014/main" id="{2C81C289-C591-4230-8278-97E6897E4DF1}"/>
              </a:ext>
            </a:extLst>
          </p:cNvPr>
          <p:cNvSpPr>
            <a:spLocks xmlns:a="http://schemas.openxmlformats.org/drawingml/2006/main" noGrp="1"/>
          </p:cNvSpPr>
          <p:nvPr/>
        </p:nvSpPr>
        <p:spPr>
          <a:xfrm xmlns:a="http://schemas.openxmlformats.org/drawingml/2006/main">
            <a:off x="4457700" y="3752850"/>
            <a:ext cx="3333750" cy="1000125"/>
          </a:xfrm>
          <a:prstGeom xmlns:a="http://schemas.openxmlformats.org/drawingml/2006/main" prst="rect">
            <a:avLst/>
          </a:prstGeom>
          <a:solidFill xmlns:a="http://schemas.openxmlformats.org/drawingml/2006/main">
            <a:srgbClr val="FFF3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C715A8E-81B3-40BC-A7F7-D2B05F48860A}"/>
              </a:ext>
            </a:extLst>
          </p:cNvPr>
          <p:cNvSpPr>
            <a:spLocks xmlns:a="http://schemas.openxmlformats.org/drawingml/2006/main" noGrp="1"/>
          </p:cNvSpPr>
          <p:nvPr/>
        </p:nvSpPr>
        <p:spPr>
          <a:xfrm xmlns:a="http://schemas.openxmlformats.org/drawingml/2006/main">
            <a:off x="464820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HOW TO SAMPLE IT</a:t>
            </a:r>
          </a:p>
        </p:txBody>
      </p:sp>
      <p:sp>
        <p:nvSpPr>
          <p:cNvPr id="20" name="">
            <a:extLst xmlns:a="http://schemas.openxmlformats.org/drawingml/2006/main">
              <a:ext uri="{FF2B5EF4-FFF2-40B4-BE49-F238E27FC236}">
                <a16:creationId xmlns:a16="http://schemas.microsoft.com/office/drawing/2014/main" id="{18EEDE8D-C71F-46B5-9502-FAFA905FA91E}"/>
              </a:ext>
            </a:extLst>
          </p:cNvPr>
          <p:cNvSpPr>
            <a:spLocks xmlns:a="http://schemas.openxmlformats.org/drawingml/2006/main" noGrp="1"/>
          </p:cNvSpPr>
          <p:nvPr/>
        </p:nvSpPr>
        <p:spPr>
          <a:xfrm xmlns:a="http://schemas.openxmlformats.org/drawingml/2006/main">
            <a:off x="464820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238"/>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Compare models and evaluate relevant processes</a:t>
            </a:r>
          </a:p>
        </p:txBody>
      </p:sp>
      <p:sp>
        <p:nvSpPr>
          <p:cNvPr id="21" name="">
            <a:extLst xmlns:a="http://schemas.openxmlformats.org/drawingml/2006/main">
              <a:ext uri="{FF2B5EF4-FFF2-40B4-BE49-F238E27FC236}">
                <a16:creationId xmlns:a16="http://schemas.microsoft.com/office/drawing/2014/main" id="{310D97B4-EE41-445F-BE58-77268325503A}"/>
              </a:ext>
            </a:extLst>
          </p:cNvPr>
          <p:cNvSpPr>
            <a:spLocks xmlns:a="http://schemas.openxmlformats.org/drawingml/2006/main" noGrp="1"/>
          </p:cNvSpPr>
          <p:nvPr/>
        </p:nvSpPr>
        <p:spPr>
          <a:xfrm xmlns:a="http://schemas.openxmlformats.org/drawingml/2006/main">
            <a:off x="8172450" y="1857375"/>
            <a:ext cx="3333750" cy="95250"/>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EB569A5-2C52-4989-A697-CF7FDC7008AA}"/>
              </a:ext>
            </a:extLst>
          </p:cNvPr>
          <p:cNvSpPr>
            <a:spLocks xmlns:a="http://schemas.openxmlformats.org/drawingml/2006/main" noGrp="1"/>
          </p:cNvSpPr>
          <p:nvPr/>
        </p:nvSpPr>
        <p:spPr>
          <a:xfrm xmlns:a="http://schemas.openxmlformats.org/drawingml/2006/main">
            <a:off x="817245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00A88F"/>
                </a:solidFill>
                <a:latin typeface="Lato"/>
                <a:ea typeface="Lato"/>
                <a:cs typeface="Lato"/>
              </a:defRPr>
            </a:pPr>
            <a:r>
              <a:rPr sz="1125" b="1" i="0">
                <a:solidFill>
                  <a:srgbClr val="00A88F"/>
                </a:solidFill>
                <a:latin typeface="Lato"/>
                <a:ea typeface="Lato"/>
                <a:cs typeface="Lato"/>
              </a:rPr>
              <a:t>INTERNAL VARIABILITY</a:t>
            </a:r>
          </a:p>
        </p:txBody>
      </p:sp>
      <p:sp>
        <p:nvSpPr>
          <p:cNvPr id="23" name="">
            <a:extLst xmlns:a="http://schemas.openxmlformats.org/drawingml/2006/main">
              <a:ext uri="{FF2B5EF4-FFF2-40B4-BE49-F238E27FC236}">
                <a16:creationId xmlns:a16="http://schemas.microsoft.com/office/drawing/2014/main" id="{3639DBF7-A1CD-4BF7-A836-ADDAA2AE1A67}"/>
              </a:ext>
            </a:extLst>
          </p:cNvPr>
          <p:cNvSpPr>
            <a:spLocks xmlns:a="http://schemas.openxmlformats.org/drawingml/2006/main" noGrp="1"/>
          </p:cNvSpPr>
          <p:nvPr/>
        </p:nvSpPr>
        <p:spPr>
          <a:xfrm xmlns:a="http://schemas.openxmlformats.org/drawingml/2006/main">
            <a:off x="817245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Chaotic fluctuations within the climate system</a:t>
            </a:r>
          </a:p>
        </p:txBody>
      </p:sp>
      <p:sp>
        <p:nvSpPr>
          <p:cNvPr id="24" name="">
            <a:extLst xmlns:a="http://schemas.openxmlformats.org/drawingml/2006/main">
              <a:ext uri="{FF2B5EF4-FFF2-40B4-BE49-F238E27FC236}">
                <a16:creationId xmlns:a16="http://schemas.microsoft.com/office/drawing/2014/main" id="{DD2EFBB5-5B67-4EC0-B9EA-40EF1F265AE2}"/>
              </a:ext>
            </a:extLst>
          </p:cNvPr>
          <p:cNvSpPr>
            <a:spLocks xmlns:a="http://schemas.openxmlformats.org/drawingml/2006/main" noGrp="1"/>
          </p:cNvSpPr>
          <p:nvPr/>
        </p:nvSpPr>
        <p:spPr>
          <a:xfrm xmlns:a="http://schemas.openxmlformats.org/drawingml/2006/main">
            <a:off x="8172450" y="3752850"/>
            <a:ext cx="3333750" cy="1000125"/>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98365BE-B542-4B5D-B20D-B70BCD2D8352}"/>
              </a:ext>
            </a:extLst>
          </p:cNvPr>
          <p:cNvSpPr>
            <a:spLocks xmlns:a="http://schemas.openxmlformats.org/drawingml/2006/main" noGrp="1"/>
          </p:cNvSpPr>
          <p:nvPr/>
        </p:nvSpPr>
        <p:spPr>
          <a:xfrm xmlns:a="http://schemas.openxmlformats.org/drawingml/2006/main">
            <a:off x="836295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HOW TO SAMPLE IT</a:t>
            </a:r>
          </a:p>
        </p:txBody>
      </p:sp>
      <p:sp>
        <p:nvSpPr>
          <p:cNvPr id="26" name="">
            <a:extLst xmlns:a="http://schemas.openxmlformats.org/drawingml/2006/main">
              <a:ext uri="{FF2B5EF4-FFF2-40B4-BE49-F238E27FC236}">
                <a16:creationId xmlns:a16="http://schemas.microsoft.com/office/drawing/2014/main" id="{E3EAEA3F-3BAA-4557-A44B-C5C345D0B0AF}"/>
              </a:ext>
            </a:extLst>
          </p:cNvPr>
          <p:cNvSpPr>
            <a:spLocks xmlns:a="http://schemas.openxmlformats.org/drawingml/2006/main" noGrp="1"/>
          </p:cNvSpPr>
          <p:nvPr/>
        </p:nvSpPr>
        <p:spPr>
          <a:xfrm xmlns:a="http://schemas.openxmlformats.org/drawingml/2006/main">
            <a:off x="836295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Use multiple initial-condition runs</a:t>
            </a:r>
          </a:p>
        </p:txBody>
      </p:sp>
      <p:sp>
        <p:nvSpPr>
          <p:cNvPr id="27" name="">
            <a:extLst xmlns:a="http://schemas.openxmlformats.org/drawingml/2006/main">
              <a:ext uri="{FF2B5EF4-FFF2-40B4-BE49-F238E27FC236}">
                <a16:creationId xmlns:a16="http://schemas.microsoft.com/office/drawing/2014/main" id="{A929975D-2A6D-4BF8-959D-EF98FF23F5F9}"/>
              </a:ext>
            </a:extLst>
          </p:cNvPr>
          <p:cNvSpPr>
            <a:spLocks xmlns:a="http://schemas.openxmlformats.org/drawingml/2006/main" noGrp="1"/>
          </p:cNvSpPr>
          <p:nvPr/>
        </p:nvSpPr>
        <p:spPr>
          <a:xfrm xmlns:a="http://schemas.openxmlformats.org/drawingml/2006/main">
            <a:off x="1047750" y="52863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Their relative importance changes with variable, region, scale and lead time.</a:t>
            </a:r>
          </a:p>
        </p:txBody>
      </p:sp>
    </p:spTree>
    <p:extLst>
      <p:ext uri="{BB962C8B-B14F-4D97-AF65-F5344CB8AC3E}">
        <p14:creationId xmlns:p14="http://schemas.microsoft.com/office/powerpoint/2010/main" val="1137495386"/>
      </p:ext>
    </p:extLst>
  </p:cSld>
</p:sld>
</file>

<file path=ppt/slides/slide1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684A39DA-AC57-4F01-B5C7-523EE2026B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62249D-5AEA-43AA-8E41-43A2E14645B5}"/>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Internal variability</a:t>
            </a:r>
          </a:p>
        </p:txBody>
      </p:sp>
      <p:sp>
        <p:nvSpPr>
          <p:cNvPr id="3" name="">
            <a:extLst xmlns:a="http://schemas.openxmlformats.org/drawingml/2006/main">
              <a:ext uri="{FF2B5EF4-FFF2-40B4-BE49-F238E27FC236}">
                <a16:creationId xmlns:a16="http://schemas.microsoft.com/office/drawing/2014/main" id="{A20521DC-8E74-4CDC-A17C-807A4C9F84BC}"/>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same model and scenario can produce different regional sequences from different initial states</a:t>
            </a:r>
          </a:p>
        </p:txBody>
      </p:sp>
      <p:sp>
        <p:nvSpPr>
          <p:cNvPr id="4" name="">
            <a:extLst xmlns:a="http://schemas.openxmlformats.org/drawingml/2006/main">
              <a:ext uri="{FF2B5EF4-FFF2-40B4-BE49-F238E27FC236}">
                <a16:creationId xmlns:a16="http://schemas.microsoft.com/office/drawing/2014/main" id="{48084656-9C6E-48B9-A8DA-42203527386B}"/>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4045DF1-4985-4C6B-813F-F418107AAB0A}"/>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778864-8B2B-4EFC-A5EA-3E785B095D7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96ED7A4-BFA4-4D6B-90E8-C73F0806720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9E0069A0-9208-48BF-BE56-832FCAFF13F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12</a:t>
            </a:r>
          </a:p>
        </p:txBody>
      </p:sp>
      <p:sp>
        <p:nvSpPr>
          <p:cNvPr id="9" name="">
            <a:extLst xmlns:a="http://schemas.openxmlformats.org/drawingml/2006/main">
              <a:ext uri="{FF2B5EF4-FFF2-40B4-BE49-F238E27FC236}">
                <a16:creationId xmlns:a16="http://schemas.microsoft.com/office/drawing/2014/main" id="{82B6C33F-EE00-46B0-A367-9822C4C9F730}"/>
              </a:ext>
            </a:extLst>
          </p:cNvPr>
          <p:cNvSpPr>
            <a:spLocks xmlns:a="http://schemas.openxmlformats.org/drawingml/2006/main" noGrp="1"/>
          </p:cNvSpPr>
          <p:nvPr/>
        </p:nvSpPr>
        <p:spPr>
          <a:xfrm xmlns:a="http://schemas.openxmlformats.org/drawingml/2006/main">
            <a:off x="742950" y="18097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87984"/>
                </a:solidFill>
                <a:latin typeface="Lato"/>
                <a:ea typeface="Lato"/>
                <a:cs typeface="Lato"/>
              </a:defRPr>
            </a:pPr>
            <a:r>
              <a:rPr sz="975" b="1" i="0">
                <a:solidFill>
                  <a:srgbClr val="687984"/>
                </a:solidFill>
                <a:latin typeface="Lato"/>
                <a:ea typeface="Lato"/>
                <a:cs typeface="Lato"/>
              </a:rPr>
              <a:t>SAME MODEL</a:t>
            </a:r>
          </a:p>
        </p:txBody>
      </p:sp>
      <p:sp>
        <p:nvSpPr>
          <p:cNvPr id="10" name="">
            <a:extLst xmlns:a="http://schemas.openxmlformats.org/drawingml/2006/main">
              <a:ext uri="{FF2B5EF4-FFF2-40B4-BE49-F238E27FC236}">
                <a16:creationId xmlns:a16="http://schemas.microsoft.com/office/drawing/2014/main" id="{CD6BA54E-88F5-4529-BCDA-892063AA8EE2}"/>
              </a:ext>
            </a:extLst>
          </p:cNvPr>
          <p:cNvSpPr>
            <a:spLocks xmlns:a="http://schemas.openxmlformats.org/drawingml/2006/main" noGrp="1"/>
          </p:cNvSpPr>
          <p:nvPr/>
        </p:nvSpPr>
        <p:spPr>
          <a:xfrm xmlns:a="http://schemas.openxmlformats.org/drawingml/2006/main">
            <a:off x="742950" y="21145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87984"/>
                </a:solidFill>
                <a:latin typeface="Lato"/>
                <a:ea typeface="Lato"/>
                <a:cs typeface="Lato"/>
              </a:defRPr>
            </a:pPr>
            <a:r>
              <a:rPr sz="975" b="1" i="0">
                <a:solidFill>
                  <a:srgbClr val="687984"/>
                </a:solidFill>
                <a:latin typeface="Lato"/>
                <a:ea typeface="Lato"/>
                <a:cs typeface="Lato"/>
              </a:rPr>
              <a:t>SAME SCENARIO</a:t>
            </a:r>
          </a:p>
        </p:txBody>
      </p:sp>
      <p:sp>
        <p:nvSpPr>
          <p:cNvPr id="11" name="">
            <a:extLst xmlns:a="http://schemas.openxmlformats.org/drawingml/2006/main">
              <a:ext uri="{FF2B5EF4-FFF2-40B4-BE49-F238E27FC236}">
                <a16:creationId xmlns:a16="http://schemas.microsoft.com/office/drawing/2014/main" id="{FD82DE3B-4E1A-4A3D-9DDA-B0660F1CD58D}"/>
              </a:ext>
            </a:extLst>
          </p:cNvPr>
          <p:cNvSpPr>
            <a:spLocks xmlns:a="http://schemas.openxmlformats.org/drawingml/2006/main" noGrp="1"/>
          </p:cNvSpPr>
          <p:nvPr/>
        </p:nvSpPr>
        <p:spPr>
          <a:xfrm xmlns:a="http://schemas.openxmlformats.org/drawingml/2006/main">
            <a:off x="742950" y="24193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00A88F"/>
                </a:solidFill>
                <a:latin typeface="Lato"/>
                <a:ea typeface="Lato"/>
                <a:cs typeface="Lato"/>
              </a:defRPr>
            </a:pPr>
            <a:r>
              <a:rPr sz="975" b="1" i="0">
                <a:solidFill>
                  <a:srgbClr val="00A88F"/>
                </a:solidFill>
                <a:latin typeface="Lato"/>
                <a:ea typeface="Lato"/>
                <a:cs typeface="Lato"/>
              </a:rPr>
              <a:t>DIFFERENT INITIAL CONDITIONS</a:t>
            </a:r>
          </a:p>
        </p:txBody>
      </p:sp>
      <p:sp>
        <p:nvSpPr>
          <p:cNvPr id="12" name="">
            <a:extLst xmlns:a="http://schemas.openxmlformats.org/drawingml/2006/main">
              <a:ext uri="{FF2B5EF4-FFF2-40B4-BE49-F238E27FC236}">
                <a16:creationId xmlns:a16="http://schemas.microsoft.com/office/drawing/2014/main" id="{E93E5779-21AF-4836-8639-E6C3075BBC1E}"/>
              </a:ext>
            </a:extLst>
          </p:cNvPr>
          <p:cNvSpPr>
            <a:spLocks xmlns:a="http://schemas.openxmlformats.org/drawingml/2006/main" noGrp="1"/>
          </p:cNvSpPr>
          <p:nvPr/>
        </p:nvSpPr>
        <p:spPr>
          <a:xfrm xmlns:a="http://schemas.openxmlformats.org/drawingml/2006/main">
            <a:off x="3429000" y="2095500"/>
            <a:ext cx="9525" cy="2571750"/>
          </a:xfrm>
          <a:custGeom xmlns:a="http://schemas.openxmlformats.org/drawingml/2006/main">
            <a:pathLst>
              <a:path w="9525" h="2571750">
                <a:moveTo>
                  <a:pt x="0" y="0"/>
                </a:moveTo>
                <a:lnTo>
                  <a:pt x="0" y="2571750"/>
                </a:lnTo>
              </a:path>
            </a:pathLst>
          </a:custGeom>
          <a:noFill xmlns:a="http://schemas.openxmlformats.org/drawingml/2006/main"/>
          <a:ln xmlns:a="http://schemas.openxmlformats.org/drawingml/2006/main" w="9525">
            <a:solidFill>
              <a:srgbClr val="DCE5E2"/>
            </a:solidFill>
            <a:prstDash val="solid"/>
          </a:ln>
        </p:spPr>
      </p:sp>
      <p:sp>
        <p:nvSpPr>
          <p:cNvPr id="13" name="">
            <a:extLst xmlns:a="http://schemas.openxmlformats.org/drawingml/2006/main">
              <a:ext uri="{FF2B5EF4-FFF2-40B4-BE49-F238E27FC236}">
                <a16:creationId xmlns:a16="http://schemas.microsoft.com/office/drawing/2014/main" id="{054E846C-6BDD-438B-BA6F-1776788CC77D}"/>
              </a:ext>
            </a:extLst>
          </p:cNvPr>
          <p:cNvSpPr>
            <a:spLocks xmlns:a="http://schemas.openxmlformats.org/drawingml/2006/main" noGrp="1"/>
          </p:cNvSpPr>
          <p:nvPr/>
        </p:nvSpPr>
        <p:spPr>
          <a:xfrm xmlns:a="http://schemas.openxmlformats.org/drawingml/2006/main">
            <a:off x="3429000" y="4667250"/>
            <a:ext cx="7219950" cy="9525"/>
          </a:xfrm>
          <a:custGeom xmlns:a="http://schemas.openxmlformats.org/drawingml/2006/main">
            <a:pathLst>
              <a:path w="7219950" h="9525">
                <a:moveTo>
                  <a:pt x="0" y="0"/>
                </a:moveTo>
                <a:lnTo>
                  <a:pt x="7219950" y="0"/>
                </a:lnTo>
              </a:path>
            </a:pathLst>
          </a:custGeom>
          <a:noFill xmlns:a="http://schemas.openxmlformats.org/drawingml/2006/main"/>
          <a:ln xmlns:a="http://schemas.openxmlformats.org/drawingml/2006/main" w="9525">
            <a:solidFill>
              <a:srgbClr val="DCE5E2"/>
            </a:solidFill>
            <a:prstDash val="solid"/>
          </a:ln>
        </p:spPr>
      </p:sp>
      <p:sp>
        <p:nvSpPr>
          <p:cNvPr id="14" name="">
            <a:extLst xmlns:a="http://schemas.openxmlformats.org/drawingml/2006/main">
              <a:ext uri="{FF2B5EF4-FFF2-40B4-BE49-F238E27FC236}">
                <a16:creationId xmlns:a16="http://schemas.microsoft.com/office/drawing/2014/main" id="{DBE6C83E-447D-45A3-9B7E-A3C4C386C283}"/>
              </a:ext>
            </a:extLst>
          </p:cNvPr>
          <p:cNvSpPr>
            <a:spLocks xmlns:a="http://schemas.openxmlformats.org/drawingml/2006/main" noGrp="1"/>
          </p:cNvSpPr>
          <p:nvPr/>
        </p:nvSpPr>
        <p:spPr>
          <a:xfrm xmlns:a="http://schemas.openxmlformats.org/drawingml/2006/main">
            <a:off x="3429000" y="3429000"/>
            <a:ext cx="1524000" cy="476250"/>
          </a:xfrm>
          <a:custGeom xmlns:a="http://schemas.openxmlformats.org/drawingml/2006/main">
            <a:pathLst>
              <a:path w="1524000" h="476250">
                <a:moveTo>
                  <a:pt x="0" y="476250"/>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5" name="">
            <a:extLst xmlns:a="http://schemas.openxmlformats.org/drawingml/2006/main">
              <a:ext uri="{FF2B5EF4-FFF2-40B4-BE49-F238E27FC236}">
                <a16:creationId xmlns:a16="http://schemas.microsoft.com/office/drawing/2014/main" id="{89FE2169-0C40-4EEC-A3F5-C3A021775B11}"/>
              </a:ext>
            </a:extLst>
          </p:cNvPr>
          <p:cNvSpPr>
            <a:spLocks xmlns:a="http://schemas.openxmlformats.org/drawingml/2006/main" noGrp="1"/>
          </p:cNvSpPr>
          <p:nvPr/>
        </p:nvSpPr>
        <p:spPr>
          <a:xfrm xmlns:a="http://schemas.openxmlformats.org/drawingml/2006/main">
            <a:off x="4953000" y="3429000"/>
            <a:ext cx="1524000" cy="285750"/>
          </a:xfrm>
          <a:custGeom xmlns:a="http://schemas.openxmlformats.org/drawingml/2006/main">
            <a:pathLst>
              <a:path w="1524000" h="285750">
                <a:moveTo>
                  <a:pt x="0" y="0"/>
                </a:moveTo>
                <a:lnTo>
                  <a:pt x="1524000" y="285750"/>
                </a:lnTo>
              </a:path>
            </a:pathLst>
          </a:custGeom>
          <a:noFill xmlns:a="http://schemas.openxmlformats.org/drawingml/2006/main"/>
          <a:ln xmlns:a="http://schemas.openxmlformats.org/drawingml/2006/main" w="28575">
            <a:solidFill>
              <a:srgbClr val="008D7A"/>
            </a:solidFill>
            <a:prstDash val="solid"/>
          </a:ln>
        </p:spPr>
      </p:sp>
      <p:sp>
        <p:nvSpPr>
          <p:cNvPr id="16" name="">
            <a:extLst xmlns:a="http://schemas.openxmlformats.org/drawingml/2006/main">
              <a:ext uri="{FF2B5EF4-FFF2-40B4-BE49-F238E27FC236}">
                <a16:creationId xmlns:a16="http://schemas.microsoft.com/office/drawing/2014/main" id="{0EA25F67-857A-46F7-9D08-65CAF46FCDCA}"/>
              </a:ext>
            </a:extLst>
          </p:cNvPr>
          <p:cNvSpPr>
            <a:spLocks xmlns:a="http://schemas.openxmlformats.org/drawingml/2006/main" noGrp="1"/>
          </p:cNvSpPr>
          <p:nvPr/>
        </p:nvSpPr>
        <p:spPr>
          <a:xfrm xmlns:a="http://schemas.openxmlformats.org/drawingml/2006/main">
            <a:off x="6477000" y="2857500"/>
            <a:ext cx="1524000" cy="857250"/>
          </a:xfrm>
          <a:custGeom xmlns:a="http://schemas.openxmlformats.org/drawingml/2006/main">
            <a:pathLst>
              <a:path w="1524000" h="857250">
                <a:moveTo>
                  <a:pt x="0" y="857250"/>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7" name="">
            <a:extLst xmlns:a="http://schemas.openxmlformats.org/drawingml/2006/main">
              <a:ext uri="{FF2B5EF4-FFF2-40B4-BE49-F238E27FC236}">
                <a16:creationId xmlns:a16="http://schemas.microsoft.com/office/drawing/2014/main" id="{A1EAE10E-D3E6-4694-9996-4C7D44BBF0E6}"/>
              </a:ext>
            </a:extLst>
          </p:cNvPr>
          <p:cNvSpPr>
            <a:spLocks xmlns:a="http://schemas.openxmlformats.org/drawingml/2006/main" noGrp="1"/>
          </p:cNvSpPr>
          <p:nvPr/>
        </p:nvSpPr>
        <p:spPr>
          <a:xfrm xmlns:a="http://schemas.openxmlformats.org/drawingml/2006/main">
            <a:off x="8001000" y="2619375"/>
            <a:ext cx="1524000" cy="238125"/>
          </a:xfrm>
          <a:custGeom xmlns:a="http://schemas.openxmlformats.org/drawingml/2006/main">
            <a:pathLst>
              <a:path w="1524000" h="238125">
                <a:moveTo>
                  <a:pt x="0" y="238125"/>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8" name="">
            <a:extLst xmlns:a="http://schemas.openxmlformats.org/drawingml/2006/main">
              <a:ext uri="{FF2B5EF4-FFF2-40B4-BE49-F238E27FC236}">
                <a16:creationId xmlns:a16="http://schemas.microsoft.com/office/drawing/2014/main" id="{E878044F-9904-4ACB-ABF7-F339930FA240}"/>
              </a:ext>
            </a:extLst>
          </p:cNvPr>
          <p:cNvSpPr>
            <a:spLocks xmlns:a="http://schemas.openxmlformats.org/drawingml/2006/main" noGrp="1"/>
          </p:cNvSpPr>
          <p:nvPr/>
        </p:nvSpPr>
        <p:spPr>
          <a:xfrm xmlns:a="http://schemas.openxmlformats.org/drawingml/2006/main">
            <a:off x="9525000" y="2190750"/>
            <a:ext cx="1123950" cy="428625"/>
          </a:xfrm>
          <a:custGeom xmlns:a="http://schemas.openxmlformats.org/drawingml/2006/main">
            <a:pathLst>
              <a:path w="1123950" h="428625">
                <a:moveTo>
                  <a:pt x="0" y="428625"/>
                </a:moveTo>
                <a:lnTo>
                  <a:pt x="1123950" y="0"/>
                </a:lnTo>
              </a:path>
            </a:pathLst>
          </a:custGeom>
          <a:noFill xmlns:a="http://schemas.openxmlformats.org/drawingml/2006/main"/>
          <a:ln xmlns:a="http://schemas.openxmlformats.org/drawingml/2006/main" w="28575">
            <a:solidFill>
              <a:srgbClr val="008D7A"/>
            </a:solidFill>
            <a:prstDash val="solid"/>
          </a:ln>
        </p:spPr>
      </p:sp>
      <p:sp>
        <p:nvSpPr>
          <p:cNvPr id="19" name="">
            <a:extLst xmlns:a="http://schemas.openxmlformats.org/drawingml/2006/main">
              <a:ext uri="{FF2B5EF4-FFF2-40B4-BE49-F238E27FC236}">
                <a16:creationId xmlns:a16="http://schemas.microsoft.com/office/drawing/2014/main" id="{81E3DE5E-09EF-456D-8DB6-7CFAFAFEB74D}"/>
              </a:ext>
            </a:extLst>
          </p:cNvPr>
          <p:cNvSpPr>
            <a:spLocks xmlns:a="http://schemas.openxmlformats.org/drawingml/2006/main" noGrp="1"/>
          </p:cNvSpPr>
          <p:nvPr/>
        </p:nvSpPr>
        <p:spPr>
          <a:xfrm xmlns:a="http://schemas.openxmlformats.org/drawingml/2006/main">
            <a:off x="3429000" y="3905250"/>
            <a:ext cx="1524000" cy="142875"/>
          </a:xfrm>
          <a:custGeom xmlns:a="http://schemas.openxmlformats.org/drawingml/2006/main">
            <a:pathLst>
              <a:path w="1524000" h="142875">
                <a:moveTo>
                  <a:pt x="0" y="0"/>
                </a:moveTo>
                <a:lnTo>
                  <a:pt x="1524000" y="142875"/>
                </a:lnTo>
              </a:path>
            </a:pathLst>
          </a:custGeom>
          <a:noFill xmlns:a="http://schemas.openxmlformats.org/drawingml/2006/main"/>
          <a:ln xmlns:a="http://schemas.openxmlformats.org/drawingml/2006/main" w="19050">
            <a:solidFill>
              <a:srgbClr val="8CCFC3"/>
            </a:solidFill>
            <a:prstDash val="solid"/>
          </a:ln>
        </p:spPr>
      </p:sp>
      <p:sp>
        <p:nvSpPr>
          <p:cNvPr id="20" name="">
            <a:extLst xmlns:a="http://schemas.openxmlformats.org/drawingml/2006/main">
              <a:ext uri="{FF2B5EF4-FFF2-40B4-BE49-F238E27FC236}">
                <a16:creationId xmlns:a16="http://schemas.microsoft.com/office/drawing/2014/main" id="{67FFA472-015F-4DF4-B7E3-3AE9642B48E5}"/>
              </a:ext>
            </a:extLst>
          </p:cNvPr>
          <p:cNvSpPr>
            <a:spLocks xmlns:a="http://schemas.openxmlformats.org/drawingml/2006/main" noGrp="1"/>
          </p:cNvSpPr>
          <p:nvPr/>
        </p:nvSpPr>
        <p:spPr>
          <a:xfrm xmlns:a="http://schemas.openxmlformats.org/drawingml/2006/main">
            <a:off x="4953000" y="3286125"/>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1" name="">
            <a:extLst xmlns:a="http://schemas.openxmlformats.org/drawingml/2006/main">
              <a:ext uri="{FF2B5EF4-FFF2-40B4-BE49-F238E27FC236}">
                <a16:creationId xmlns:a16="http://schemas.microsoft.com/office/drawing/2014/main" id="{1939ED83-066D-4D59-A43C-59E8B36ABF3C}"/>
              </a:ext>
            </a:extLst>
          </p:cNvPr>
          <p:cNvSpPr>
            <a:spLocks xmlns:a="http://schemas.openxmlformats.org/drawingml/2006/main" noGrp="1"/>
          </p:cNvSpPr>
          <p:nvPr/>
        </p:nvSpPr>
        <p:spPr>
          <a:xfrm xmlns:a="http://schemas.openxmlformats.org/drawingml/2006/main">
            <a:off x="6477000" y="3286125"/>
            <a:ext cx="1524000" cy="190500"/>
          </a:xfrm>
          <a:custGeom xmlns:a="http://schemas.openxmlformats.org/drawingml/2006/main">
            <a:pathLst>
              <a:path w="1524000" h="190500">
                <a:moveTo>
                  <a:pt x="0" y="0"/>
                </a:moveTo>
                <a:lnTo>
                  <a:pt x="1524000" y="190500"/>
                </a:lnTo>
              </a:path>
            </a:pathLst>
          </a:custGeom>
          <a:noFill xmlns:a="http://schemas.openxmlformats.org/drawingml/2006/main"/>
          <a:ln xmlns:a="http://schemas.openxmlformats.org/drawingml/2006/main" w="19050">
            <a:solidFill>
              <a:srgbClr val="8CCFC3"/>
            </a:solidFill>
            <a:prstDash val="solid"/>
          </a:ln>
        </p:spPr>
      </p:sp>
      <p:sp>
        <p:nvSpPr>
          <p:cNvPr id="22" name="">
            <a:extLst xmlns:a="http://schemas.openxmlformats.org/drawingml/2006/main">
              <a:ext uri="{FF2B5EF4-FFF2-40B4-BE49-F238E27FC236}">
                <a16:creationId xmlns:a16="http://schemas.microsoft.com/office/drawing/2014/main" id="{FA05A5E0-3C98-42A4-9961-AB37A827D7DC}"/>
              </a:ext>
            </a:extLst>
          </p:cNvPr>
          <p:cNvSpPr>
            <a:spLocks xmlns:a="http://schemas.openxmlformats.org/drawingml/2006/main" noGrp="1"/>
          </p:cNvSpPr>
          <p:nvPr/>
        </p:nvSpPr>
        <p:spPr>
          <a:xfrm xmlns:a="http://schemas.openxmlformats.org/drawingml/2006/main">
            <a:off x="8001000" y="2762250"/>
            <a:ext cx="1524000" cy="714375"/>
          </a:xfrm>
          <a:custGeom xmlns:a="http://schemas.openxmlformats.org/drawingml/2006/main">
            <a:pathLst>
              <a:path w="1524000" h="714375">
                <a:moveTo>
                  <a:pt x="0" y="71437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3" name="">
            <a:extLst xmlns:a="http://schemas.openxmlformats.org/drawingml/2006/main">
              <a:ext uri="{FF2B5EF4-FFF2-40B4-BE49-F238E27FC236}">
                <a16:creationId xmlns:a16="http://schemas.microsoft.com/office/drawing/2014/main" id="{B6F4F2A7-950C-4811-9DD5-C778D8B21283}"/>
              </a:ext>
            </a:extLst>
          </p:cNvPr>
          <p:cNvSpPr>
            <a:spLocks xmlns:a="http://schemas.openxmlformats.org/drawingml/2006/main" noGrp="1"/>
          </p:cNvSpPr>
          <p:nvPr/>
        </p:nvSpPr>
        <p:spPr>
          <a:xfrm xmlns:a="http://schemas.openxmlformats.org/drawingml/2006/main">
            <a:off x="9525000" y="2762250"/>
            <a:ext cx="1123950" cy="238125"/>
          </a:xfrm>
          <a:custGeom xmlns:a="http://schemas.openxmlformats.org/drawingml/2006/main">
            <a:pathLst>
              <a:path w="1123950" h="238125">
                <a:moveTo>
                  <a:pt x="0" y="0"/>
                </a:moveTo>
                <a:lnTo>
                  <a:pt x="1123950" y="238125"/>
                </a:lnTo>
              </a:path>
            </a:pathLst>
          </a:custGeom>
          <a:noFill xmlns:a="http://schemas.openxmlformats.org/drawingml/2006/main"/>
          <a:ln xmlns:a="http://schemas.openxmlformats.org/drawingml/2006/main" w="19050">
            <a:solidFill>
              <a:srgbClr val="8CCFC3"/>
            </a:solidFill>
            <a:prstDash val="solid"/>
          </a:ln>
        </p:spPr>
      </p:sp>
      <p:sp>
        <p:nvSpPr>
          <p:cNvPr id="24" name="">
            <a:extLst xmlns:a="http://schemas.openxmlformats.org/drawingml/2006/main">
              <a:ext uri="{FF2B5EF4-FFF2-40B4-BE49-F238E27FC236}">
                <a16:creationId xmlns:a16="http://schemas.microsoft.com/office/drawing/2014/main" id="{6983B086-F125-4B41-A7F3-5D1A3C206389}"/>
              </a:ext>
            </a:extLst>
          </p:cNvPr>
          <p:cNvSpPr>
            <a:spLocks xmlns:a="http://schemas.openxmlformats.org/drawingml/2006/main" noGrp="1"/>
          </p:cNvSpPr>
          <p:nvPr/>
        </p:nvSpPr>
        <p:spPr>
          <a:xfrm xmlns:a="http://schemas.openxmlformats.org/drawingml/2006/main">
            <a:off x="3429000" y="3667125"/>
            <a:ext cx="1524000" cy="238125"/>
          </a:xfrm>
          <a:custGeom xmlns:a="http://schemas.openxmlformats.org/drawingml/2006/main">
            <a:pathLst>
              <a:path w="1524000" h="238125">
                <a:moveTo>
                  <a:pt x="0" y="2381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5" name="">
            <a:extLst xmlns:a="http://schemas.openxmlformats.org/drawingml/2006/main">
              <a:ext uri="{FF2B5EF4-FFF2-40B4-BE49-F238E27FC236}">
                <a16:creationId xmlns:a16="http://schemas.microsoft.com/office/drawing/2014/main" id="{E2F3B6FB-8FBC-4DE2-86E3-56249D51235A}"/>
              </a:ext>
            </a:extLst>
          </p:cNvPr>
          <p:cNvSpPr>
            <a:spLocks xmlns:a="http://schemas.openxmlformats.org/drawingml/2006/main" noGrp="1"/>
          </p:cNvSpPr>
          <p:nvPr/>
        </p:nvSpPr>
        <p:spPr>
          <a:xfrm xmlns:a="http://schemas.openxmlformats.org/drawingml/2006/main">
            <a:off x="4953000" y="3667125"/>
            <a:ext cx="1524000" cy="428625"/>
          </a:xfrm>
          <a:custGeom xmlns:a="http://schemas.openxmlformats.org/drawingml/2006/main">
            <a:pathLst>
              <a:path w="1524000" h="428625">
                <a:moveTo>
                  <a:pt x="0" y="0"/>
                </a:moveTo>
                <a:lnTo>
                  <a:pt x="1524000" y="428625"/>
                </a:lnTo>
              </a:path>
            </a:pathLst>
          </a:custGeom>
          <a:noFill xmlns:a="http://schemas.openxmlformats.org/drawingml/2006/main"/>
          <a:ln xmlns:a="http://schemas.openxmlformats.org/drawingml/2006/main" w="19050">
            <a:solidFill>
              <a:srgbClr val="8CCFC3"/>
            </a:solidFill>
            <a:prstDash val="solid"/>
          </a:ln>
        </p:spPr>
      </p:sp>
      <p:sp>
        <p:nvSpPr>
          <p:cNvPr id="26" name="">
            <a:extLst xmlns:a="http://schemas.openxmlformats.org/drawingml/2006/main">
              <a:ext uri="{FF2B5EF4-FFF2-40B4-BE49-F238E27FC236}">
                <a16:creationId xmlns:a16="http://schemas.microsoft.com/office/drawing/2014/main" id="{460CF829-EE83-422A-9A24-F7F7AA961493}"/>
              </a:ext>
            </a:extLst>
          </p:cNvPr>
          <p:cNvSpPr>
            <a:spLocks xmlns:a="http://schemas.openxmlformats.org/drawingml/2006/main" noGrp="1"/>
          </p:cNvSpPr>
          <p:nvPr/>
        </p:nvSpPr>
        <p:spPr>
          <a:xfrm xmlns:a="http://schemas.openxmlformats.org/drawingml/2006/main">
            <a:off x="6477000" y="3333750"/>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7" name="">
            <a:extLst xmlns:a="http://schemas.openxmlformats.org/drawingml/2006/main">
              <a:ext uri="{FF2B5EF4-FFF2-40B4-BE49-F238E27FC236}">
                <a16:creationId xmlns:a16="http://schemas.microsoft.com/office/drawing/2014/main" id="{4E774A46-3954-4609-A0F6-524ED7D885C4}"/>
              </a:ext>
            </a:extLst>
          </p:cNvPr>
          <p:cNvSpPr>
            <a:spLocks xmlns:a="http://schemas.openxmlformats.org/drawingml/2006/main" noGrp="1"/>
          </p:cNvSpPr>
          <p:nvPr/>
        </p:nvSpPr>
        <p:spPr>
          <a:xfrm xmlns:a="http://schemas.openxmlformats.org/drawingml/2006/main">
            <a:off x="8001000" y="3333750"/>
            <a:ext cx="1524000" cy="142875"/>
          </a:xfrm>
          <a:custGeom xmlns:a="http://schemas.openxmlformats.org/drawingml/2006/main">
            <a:pathLst>
              <a:path w="1524000" h="142875">
                <a:moveTo>
                  <a:pt x="0" y="0"/>
                </a:moveTo>
                <a:lnTo>
                  <a:pt x="1524000" y="142875"/>
                </a:lnTo>
              </a:path>
            </a:pathLst>
          </a:custGeom>
          <a:noFill xmlns:a="http://schemas.openxmlformats.org/drawingml/2006/main"/>
          <a:ln xmlns:a="http://schemas.openxmlformats.org/drawingml/2006/main" w="19050">
            <a:solidFill>
              <a:srgbClr val="8CCFC3"/>
            </a:solidFill>
            <a:prstDash val="solid"/>
          </a:ln>
        </p:spPr>
      </p:sp>
      <p:sp>
        <p:nvSpPr>
          <p:cNvPr id="28" name="">
            <a:extLst xmlns:a="http://schemas.openxmlformats.org/drawingml/2006/main">
              <a:ext uri="{FF2B5EF4-FFF2-40B4-BE49-F238E27FC236}">
                <a16:creationId xmlns:a16="http://schemas.microsoft.com/office/drawing/2014/main" id="{227E87BE-82FE-4687-814E-5A49E52D0246}"/>
              </a:ext>
            </a:extLst>
          </p:cNvPr>
          <p:cNvSpPr>
            <a:spLocks xmlns:a="http://schemas.openxmlformats.org/drawingml/2006/main" noGrp="1"/>
          </p:cNvSpPr>
          <p:nvPr/>
        </p:nvSpPr>
        <p:spPr>
          <a:xfrm xmlns:a="http://schemas.openxmlformats.org/drawingml/2006/main">
            <a:off x="9525000" y="2714625"/>
            <a:ext cx="1123950" cy="762000"/>
          </a:xfrm>
          <a:custGeom xmlns:a="http://schemas.openxmlformats.org/drawingml/2006/main">
            <a:pathLst>
              <a:path w="1123950" h="762000">
                <a:moveTo>
                  <a:pt x="0" y="762000"/>
                </a:moveTo>
                <a:lnTo>
                  <a:pt x="1123950" y="0"/>
                </a:lnTo>
              </a:path>
            </a:pathLst>
          </a:custGeom>
          <a:noFill xmlns:a="http://schemas.openxmlformats.org/drawingml/2006/main"/>
          <a:ln xmlns:a="http://schemas.openxmlformats.org/drawingml/2006/main" w="19050">
            <a:solidFill>
              <a:srgbClr val="8CCFC3"/>
            </a:solidFill>
            <a:prstDash val="solid"/>
          </a:ln>
        </p:spPr>
      </p:sp>
      <p:sp>
        <p:nvSpPr>
          <p:cNvPr id="29" name="">
            <a:extLst xmlns:a="http://schemas.openxmlformats.org/drawingml/2006/main">
              <a:ext uri="{FF2B5EF4-FFF2-40B4-BE49-F238E27FC236}">
                <a16:creationId xmlns:a16="http://schemas.microsoft.com/office/drawing/2014/main" id="{89562A5B-4F05-44F7-93ED-A1E13AC5AF82}"/>
              </a:ext>
            </a:extLst>
          </p:cNvPr>
          <p:cNvSpPr>
            <a:spLocks xmlns:a="http://schemas.openxmlformats.org/drawingml/2006/main" noGrp="1"/>
          </p:cNvSpPr>
          <p:nvPr/>
        </p:nvSpPr>
        <p:spPr>
          <a:xfrm xmlns:a="http://schemas.openxmlformats.org/drawingml/2006/main">
            <a:off x="3429000" y="3143250"/>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0" name="">
            <a:extLst xmlns:a="http://schemas.openxmlformats.org/drawingml/2006/main">
              <a:ext uri="{FF2B5EF4-FFF2-40B4-BE49-F238E27FC236}">
                <a16:creationId xmlns:a16="http://schemas.microsoft.com/office/drawing/2014/main" id="{C278816A-6105-4EDB-85FC-085CEFB250ED}"/>
              </a:ext>
            </a:extLst>
          </p:cNvPr>
          <p:cNvSpPr>
            <a:spLocks xmlns:a="http://schemas.openxmlformats.org/drawingml/2006/main" noGrp="1"/>
          </p:cNvSpPr>
          <p:nvPr/>
        </p:nvSpPr>
        <p:spPr>
          <a:xfrm xmlns:a="http://schemas.openxmlformats.org/drawingml/2006/main">
            <a:off x="4953000" y="3143250"/>
            <a:ext cx="1524000" cy="238125"/>
          </a:xfrm>
          <a:custGeom xmlns:a="http://schemas.openxmlformats.org/drawingml/2006/main">
            <a:pathLst>
              <a:path w="1524000" h="238125">
                <a:moveTo>
                  <a:pt x="0" y="0"/>
                </a:moveTo>
                <a:lnTo>
                  <a:pt x="1524000" y="238125"/>
                </a:lnTo>
              </a:path>
            </a:pathLst>
          </a:custGeom>
          <a:noFill xmlns:a="http://schemas.openxmlformats.org/drawingml/2006/main"/>
          <a:ln xmlns:a="http://schemas.openxmlformats.org/drawingml/2006/main" w="19050">
            <a:solidFill>
              <a:srgbClr val="8CCFC3"/>
            </a:solidFill>
            <a:prstDash val="solid"/>
          </a:ln>
        </p:spPr>
      </p:sp>
      <p:sp>
        <p:nvSpPr>
          <p:cNvPr id="31" name="">
            <a:extLst xmlns:a="http://schemas.openxmlformats.org/drawingml/2006/main">
              <a:ext uri="{FF2B5EF4-FFF2-40B4-BE49-F238E27FC236}">
                <a16:creationId xmlns:a16="http://schemas.microsoft.com/office/drawing/2014/main" id="{006251F2-AADC-43AC-8962-8EB27B2F3D96}"/>
              </a:ext>
            </a:extLst>
          </p:cNvPr>
          <p:cNvSpPr>
            <a:spLocks xmlns:a="http://schemas.openxmlformats.org/drawingml/2006/main" noGrp="1"/>
          </p:cNvSpPr>
          <p:nvPr/>
        </p:nvSpPr>
        <p:spPr>
          <a:xfrm xmlns:a="http://schemas.openxmlformats.org/drawingml/2006/main">
            <a:off x="6477000" y="3095625"/>
            <a:ext cx="1524000" cy="285750"/>
          </a:xfrm>
          <a:custGeom xmlns:a="http://schemas.openxmlformats.org/drawingml/2006/main">
            <a:pathLst>
              <a:path w="1524000" h="285750">
                <a:moveTo>
                  <a:pt x="0" y="28575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2" name="">
            <a:extLst xmlns:a="http://schemas.openxmlformats.org/drawingml/2006/main">
              <a:ext uri="{FF2B5EF4-FFF2-40B4-BE49-F238E27FC236}">
                <a16:creationId xmlns:a16="http://schemas.microsoft.com/office/drawing/2014/main" id="{4052DD07-D355-4A30-A659-2A3294752CE7}"/>
              </a:ext>
            </a:extLst>
          </p:cNvPr>
          <p:cNvSpPr>
            <a:spLocks xmlns:a="http://schemas.openxmlformats.org/drawingml/2006/main" noGrp="1"/>
          </p:cNvSpPr>
          <p:nvPr/>
        </p:nvSpPr>
        <p:spPr>
          <a:xfrm xmlns:a="http://schemas.openxmlformats.org/drawingml/2006/main">
            <a:off x="8001000" y="2381250"/>
            <a:ext cx="1524000" cy="714375"/>
          </a:xfrm>
          <a:custGeom xmlns:a="http://schemas.openxmlformats.org/drawingml/2006/main">
            <a:pathLst>
              <a:path w="1524000" h="714375">
                <a:moveTo>
                  <a:pt x="0" y="71437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3" name="">
            <a:extLst xmlns:a="http://schemas.openxmlformats.org/drawingml/2006/main">
              <a:ext uri="{FF2B5EF4-FFF2-40B4-BE49-F238E27FC236}">
                <a16:creationId xmlns:a16="http://schemas.microsoft.com/office/drawing/2014/main" id="{292E08D1-CF44-49D5-B8AF-4586B671AD56}"/>
              </a:ext>
            </a:extLst>
          </p:cNvPr>
          <p:cNvSpPr>
            <a:spLocks xmlns:a="http://schemas.openxmlformats.org/drawingml/2006/main" noGrp="1"/>
          </p:cNvSpPr>
          <p:nvPr/>
        </p:nvSpPr>
        <p:spPr>
          <a:xfrm xmlns:a="http://schemas.openxmlformats.org/drawingml/2006/main">
            <a:off x="9525000" y="2381250"/>
            <a:ext cx="1123950" cy="95250"/>
          </a:xfrm>
          <a:custGeom xmlns:a="http://schemas.openxmlformats.org/drawingml/2006/main">
            <a:pathLst>
              <a:path w="1123950" h="95250">
                <a:moveTo>
                  <a:pt x="0" y="0"/>
                </a:moveTo>
                <a:lnTo>
                  <a:pt x="1123950" y="95250"/>
                </a:lnTo>
              </a:path>
            </a:pathLst>
          </a:custGeom>
          <a:noFill xmlns:a="http://schemas.openxmlformats.org/drawingml/2006/main"/>
          <a:ln xmlns:a="http://schemas.openxmlformats.org/drawingml/2006/main" w="19050">
            <a:solidFill>
              <a:srgbClr val="8CCFC3"/>
            </a:solidFill>
            <a:prstDash val="solid"/>
          </a:ln>
        </p:spPr>
      </p:sp>
      <p:sp>
        <p:nvSpPr>
          <p:cNvPr id="34" name="">
            <a:extLst xmlns:a="http://schemas.openxmlformats.org/drawingml/2006/main">
              <a:ext uri="{FF2B5EF4-FFF2-40B4-BE49-F238E27FC236}">
                <a16:creationId xmlns:a16="http://schemas.microsoft.com/office/drawing/2014/main" id="{3CCA33C3-49B8-4D81-9376-ADE652458617}"/>
              </a:ext>
            </a:extLst>
          </p:cNvPr>
          <p:cNvSpPr>
            <a:spLocks xmlns:a="http://schemas.openxmlformats.org/drawingml/2006/main" noGrp="1"/>
          </p:cNvSpPr>
          <p:nvPr/>
        </p:nvSpPr>
        <p:spPr>
          <a:xfrm xmlns:a="http://schemas.openxmlformats.org/drawingml/2006/main">
            <a:off x="3429000" y="3905250"/>
            <a:ext cx="1524000" cy="381000"/>
          </a:xfrm>
          <a:custGeom xmlns:a="http://schemas.openxmlformats.org/drawingml/2006/main">
            <a:pathLst>
              <a:path w="1524000" h="381000">
                <a:moveTo>
                  <a:pt x="0" y="0"/>
                </a:moveTo>
                <a:lnTo>
                  <a:pt x="1524000" y="381000"/>
                </a:lnTo>
              </a:path>
            </a:pathLst>
          </a:custGeom>
          <a:noFill xmlns:a="http://schemas.openxmlformats.org/drawingml/2006/main"/>
          <a:ln xmlns:a="http://schemas.openxmlformats.org/drawingml/2006/main" w="19050">
            <a:solidFill>
              <a:srgbClr val="8CCFC3"/>
            </a:solidFill>
            <a:prstDash val="solid"/>
          </a:ln>
        </p:spPr>
      </p:sp>
      <p:sp>
        <p:nvSpPr>
          <p:cNvPr id="35" name="">
            <a:extLst xmlns:a="http://schemas.openxmlformats.org/drawingml/2006/main">
              <a:ext uri="{FF2B5EF4-FFF2-40B4-BE49-F238E27FC236}">
                <a16:creationId xmlns:a16="http://schemas.microsoft.com/office/drawing/2014/main" id="{FE44AB61-C3FB-43BB-9992-31D22953FA6A}"/>
              </a:ext>
            </a:extLst>
          </p:cNvPr>
          <p:cNvSpPr>
            <a:spLocks xmlns:a="http://schemas.openxmlformats.org/drawingml/2006/main" noGrp="1"/>
          </p:cNvSpPr>
          <p:nvPr/>
        </p:nvSpPr>
        <p:spPr>
          <a:xfrm xmlns:a="http://schemas.openxmlformats.org/drawingml/2006/main">
            <a:off x="4953000" y="3857625"/>
            <a:ext cx="1524000" cy="428625"/>
          </a:xfrm>
          <a:custGeom xmlns:a="http://schemas.openxmlformats.org/drawingml/2006/main">
            <a:pathLst>
              <a:path w="1524000" h="428625">
                <a:moveTo>
                  <a:pt x="0" y="4286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6" name="">
            <a:extLst xmlns:a="http://schemas.openxmlformats.org/drawingml/2006/main">
              <a:ext uri="{FF2B5EF4-FFF2-40B4-BE49-F238E27FC236}">
                <a16:creationId xmlns:a16="http://schemas.microsoft.com/office/drawing/2014/main" id="{A849E5A5-9C78-41A2-BA7C-5C2D3ADFA8D9}"/>
              </a:ext>
            </a:extLst>
          </p:cNvPr>
          <p:cNvSpPr>
            <a:spLocks xmlns:a="http://schemas.openxmlformats.org/drawingml/2006/main" noGrp="1"/>
          </p:cNvSpPr>
          <p:nvPr/>
        </p:nvSpPr>
        <p:spPr>
          <a:xfrm xmlns:a="http://schemas.openxmlformats.org/drawingml/2006/main">
            <a:off x="6477000" y="3857625"/>
            <a:ext cx="1524000" cy="95250"/>
          </a:xfrm>
          <a:custGeom xmlns:a="http://schemas.openxmlformats.org/drawingml/2006/main">
            <a:pathLst>
              <a:path w="1524000" h="95250">
                <a:moveTo>
                  <a:pt x="0" y="0"/>
                </a:moveTo>
                <a:lnTo>
                  <a:pt x="1524000" y="95250"/>
                </a:lnTo>
              </a:path>
            </a:pathLst>
          </a:custGeom>
          <a:noFill xmlns:a="http://schemas.openxmlformats.org/drawingml/2006/main"/>
          <a:ln xmlns:a="http://schemas.openxmlformats.org/drawingml/2006/main" w="19050">
            <a:solidFill>
              <a:srgbClr val="8CCFC3"/>
            </a:solidFill>
            <a:prstDash val="solid"/>
          </a:ln>
        </p:spPr>
      </p:sp>
      <p:sp>
        <p:nvSpPr>
          <p:cNvPr id="37" name="">
            <a:extLst xmlns:a="http://schemas.openxmlformats.org/drawingml/2006/main">
              <a:ext uri="{FF2B5EF4-FFF2-40B4-BE49-F238E27FC236}">
                <a16:creationId xmlns:a16="http://schemas.microsoft.com/office/drawing/2014/main" id="{C96DD3C1-108C-4C26-8FD8-BA2D37A7D120}"/>
              </a:ext>
            </a:extLst>
          </p:cNvPr>
          <p:cNvSpPr>
            <a:spLocks xmlns:a="http://schemas.openxmlformats.org/drawingml/2006/main" noGrp="1"/>
          </p:cNvSpPr>
          <p:nvPr/>
        </p:nvSpPr>
        <p:spPr>
          <a:xfrm xmlns:a="http://schemas.openxmlformats.org/drawingml/2006/main">
            <a:off x="8001000" y="3143250"/>
            <a:ext cx="1524000" cy="809625"/>
          </a:xfrm>
          <a:custGeom xmlns:a="http://schemas.openxmlformats.org/drawingml/2006/main">
            <a:pathLst>
              <a:path w="1524000" h="809625">
                <a:moveTo>
                  <a:pt x="0" y="8096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8" name="">
            <a:extLst xmlns:a="http://schemas.openxmlformats.org/drawingml/2006/main">
              <a:ext uri="{FF2B5EF4-FFF2-40B4-BE49-F238E27FC236}">
                <a16:creationId xmlns:a16="http://schemas.microsoft.com/office/drawing/2014/main" id="{B79C613F-6A7B-41E4-B736-A6E4B4965A06}"/>
              </a:ext>
            </a:extLst>
          </p:cNvPr>
          <p:cNvSpPr>
            <a:spLocks xmlns:a="http://schemas.openxmlformats.org/drawingml/2006/main" noGrp="1"/>
          </p:cNvSpPr>
          <p:nvPr/>
        </p:nvSpPr>
        <p:spPr>
          <a:xfrm xmlns:a="http://schemas.openxmlformats.org/drawingml/2006/main">
            <a:off x="9525000" y="3143250"/>
            <a:ext cx="1123950" cy="142875"/>
          </a:xfrm>
          <a:custGeom xmlns:a="http://schemas.openxmlformats.org/drawingml/2006/main">
            <a:pathLst>
              <a:path w="1123950" h="142875">
                <a:moveTo>
                  <a:pt x="0" y="0"/>
                </a:moveTo>
                <a:lnTo>
                  <a:pt x="1123950" y="142875"/>
                </a:lnTo>
              </a:path>
            </a:pathLst>
          </a:custGeom>
          <a:noFill xmlns:a="http://schemas.openxmlformats.org/drawingml/2006/main"/>
          <a:ln xmlns:a="http://schemas.openxmlformats.org/drawingml/2006/main" w="19050">
            <a:solidFill>
              <a:srgbClr val="8CCFC3"/>
            </a:solidFill>
            <a:prstDash val="solid"/>
          </a:ln>
        </p:spPr>
      </p:sp>
      <p:sp>
        <p:nvSpPr>
          <p:cNvPr id="39" name="">
            <a:extLst xmlns:a="http://schemas.openxmlformats.org/drawingml/2006/main">
              <a:ext uri="{FF2B5EF4-FFF2-40B4-BE49-F238E27FC236}">
                <a16:creationId xmlns:a16="http://schemas.microsoft.com/office/drawing/2014/main" id="{CE12E214-B675-4BB1-8ACF-45EAD6784679}"/>
              </a:ext>
            </a:extLst>
          </p:cNvPr>
          <p:cNvSpPr>
            <a:spLocks xmlns:a="http://schemas.openxmlformats.org/drawingml/2006/main" noGrp="1"/>
          </p:cNvSpPr>
          <p:nvPr/>
        </p:nvSpPr>
        <p:spPr>
          <a:xfrm xmlns:a="http://schemas.openxmlformats.org/drawingml/2006/main">
            <a:off x="9858375" y="481012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825" b="1" i="0">
                <a:solidFill>
                  <a:srgbClr val="687984"/>
                </a:solidFill>
                <a:latin typeface="Lato"/>
                <a:ea typeface="Lato"/>
                <a:cs typeface="Lato"/>
              </a:defRPr>
            </a:pPr>
            <a:r>
              <a:rPr sz="825" b="1" i="0">
                <a:solidFill>
                  <a:srgbClr val="687984"/>
                </a:solidFill>
                <a:latin typeface="Lato"/>
                <a:ea typeface="Lato"/>
                <a:cs typeface="Lato"/>
              </a:rPr>
              <a:t>TIME</a:t>
            </a:r>
          </a:p>
        </p:txBody>
      </p:sp>
      <p:sp>
        <p:nvSpPr>
          <p:cNvPr id="40" name="">
            <a:extLst xmlns:a="http://schemas.openxmlformats.org/drawingml/2006/main">
              <a:ext uri="{FF2B5EF4-FFF2-40B4-BE49-F238E27FC236}">
                <a16:creationId xmlns:a16="http://schemas.microsoft.com/office/drawing/2014/main" id="{3F0D8BB1-5841-48D1-B6BC-5626FC033BAD}"/>
              </a:ext>
            </a:extLst>
          </p:cNvPr>
          <p:cNvSpPr>
            <a:spLocks xmlns:a="http://schemas.openxmlformats.org/drawingml/2006/main" noGrp="1"/>
          </p:cNvSpPr>
          <p:nvPr/>
        </p:nvSpPr>
        <p:spPr>
          <a:xfrm xmlns:a="http://schemas.openxmlformats.org/drawingml/2006/main">
            <a:off x="742950" y="5219700"/>
            <a:ext cx="990600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0429E1A-B1AA-47F0-AA88-71F55CC9F7E3}"/>
              </a:ext>
            </a:extLst>
          </p:cNvPr>
          <p:cNvSpPr>
            <a:spLocks xmlns:a="http://schemas.openxmlformats.org/drawingml/2006/main" noGrp="1"/>
          </p:cNvSpPr>
          <p:nvPr/>
        </p:nvSpPr>
        <p:spPr>
          <a:xfrm xmlns:a="http://schemas.openxmlformats.org/drawingml/2006/main">
            <a:off x="1047750" y="53625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Intrinsic and irreducible. Initial-condition ensembles reveal the range we need to represent.</a:t>
            </a:r>
          </a:p>
        </p:txBody>
      </p:sp>
    </p:spTree>
    <p:extLst>
      <p:ext uri="{BB962C8B-B14F-4D97-AF65-F5344CB8AC3E}">
        <p14:creationId xmlns:p14="http://schemas.microsoft.com/office/powerpoint/2010/main" val="1862361895"/>
      </p:ext>
    </p:extLst>
  </p:cSld>
</p:sld>
</file>

<file path=ppt/slides/slide1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6E1D1E9-0E60-41FE-A090-163FC54B66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AAEEEF-168F-4461-A543-1AF8E1E20747}"/>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Model and downscaling uncertainty</a:t>
            </a:r>
          </a:p>
        </p:txBody>
      </p:sp>
      <p:sp>
        <p:nvSpPr>
          <p:cNvPr id="3" name="">
            <a:extLst xmlns:a="http://schemas.openxmlformats.org/drawingml/2006/main">
              <a:ext uri="{FF2B5EF4-FFF2-40B4-BE49-F238E27FC236}">
                <a16:creationId xmlns:a16="http://schemas.microsoft.com/office/drawing/2014/main" id="{38B261A5-8969-4363-8B34-15951108A778}"/>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Regional projections inherit choices from the global model and add choices in the downscaling chain</a:t>
            </a:r>
          </a:p>
        </p:txBody>
      </p:sp>
      <p:sp>
        <p:nvSpPr>
          <p:cNvPr id="4" name="">
            <a:extLst xmlns:a="http://schemas.openxmlformats.org/drawingml/2006/main">
              <a:ext uri="{FF2B5EF4-FFF2-40B4-BE49-F238E27FC236}">
                <a16:creationId xmlns:a16="http://schemas.microsoft.com/office/drawing/2014/main" id="{C2590A4D-0D5E-4497-ABFC-61B6ECD37C3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BAF304-C6A2-4D87-8BD9-0D1784B3243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CACB221-0622-473D-881A-91DA7A08753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4DDA113-3798-4B4F-B2D3-51DC0CD6A42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509BA650-3AE9-479B-B9CB-5361D686FDB9}"/>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13</a:t>
            </a:r>
          </a:p>
        </p:txBody>
      </p:sp>
      <p:sp>
        <p:nvSpPr>
          <p:cNvPr id="9" name="">
            <a:extLst xmlns:a="http://schemas.openxmlformats.org/drawingml/2006/main">
              <a:ext uri="{FF2B5EF4-FFF2-40B4-BE49-F238E27FC236}">
                <a16:creationId xmlns:a16="http://schemas.microsoft.com/office/drawing/2014/main" id="{E00DE254-8200-4688-8BC9-3E8DCEB6D6C0}"/>
              </a:ext>
            </a:extLst>
          </p:cNvPr>
          <p:cNvSpPr>
            <a:spLocks xmlns:a="http://schemas.openxmlformats.org/drawingml/2006/main" noGrp="1"/>
          </p:cNvSpPr>
          <p:nvPr/>
        </p:nvSpPr>
        <p:spPr>
          <a:xfrm xmlns:a="http://schemas.openxmlformats.org/drawingml/2006/main">
            <a:off x="838200" y="18097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GLOBAL MODELS</a:t>
            </a:r>
          </a:p>
        </p:txBody>
      </p:sp>
      <p:sp>
        <p:nvSpPr>
          <p:cNvPr id="10" name="">
            <a:extLst xmlns:a="http://schemas.openxmlformats.org/drawingml/2006/main">
              <a:ext uri="{FF2B5EF4-FFF2-40B4-BE49-F238E27FC236}">
                <a16:creationId xmlns:a16="http://schemas.microsoft.com/office/drawing/2014/main" id="{EE26767D-21A3-4EE2-B38D-50D96543FAB5}"/>
              </a:ext>
            </a:extLst>
          </p:cNvPr>
          <p:cNvSpPr>
            <a:spLocks xmlns:a="http://schemas.openxmlformats.org/drawingml/2006/main" noGrp="1"/>
          </p:cNvSpPr>
          <p:nvPr/>
        </p:nvSpPr>
        <p:spPr>
          <a:xfrm xmlns:a="http://schemas.openxmlformats.org/drawingml/2006/main">
            <a:off x="838200" y="233362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1" name="">
            <a:extLst xmlns:a="http://schemas.openxmlformats.org/drawingml/2006/main">
              <a:ext uri="{FF2B5EF4-FFF2-40B4-BE49-F238E27FC236}">
                <a16:creationId xmlns:a16="http://schemas.microsoft.com/office/drawing/2014/main" id="{6C9445D6-3718-43E8-9B6C-04974E789B0A}"/>
              </a:ext>
            </a:extLst>
          </p:cNvPr>
          <p:cNvSpPr>
            <a:spLocks xmlns:a="http://schemas.openxmlformats.org/drawingml/2006/main" noGrp="1"/>
          </p:cNvSpPr>
          <p:nvPr/>
        </p:nvSpPr>
        <p:spPr>
          <a:xfrm xmlns:a="http://schemas.openxmlformats.org/drawingml/2006/main">
            <a:off x="838200" y="246697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A</a:t>
            </a:r>
          </a:p>
        </p:txBody>
      </p:sp>
      <p:sp>
        <p:nvSpPr>
          <p:cNvPr id="12" name="">
            <a:extLst xmlns:a="http://schemas.openxmlformats.org/drawingml/2006/main">
              <a:ext uri="{FF2B5EF4-FFF2-40B4-BE49-F238E27FC236}">
                <a16:creationId xmlns:a16="http://schemas.microsoft.com/office/drawing/2014/main" id="{D13FD2C0-849C-42B1-9F2E-FF5F1F92AFA5}"/>
              </a:ext>
            </a:extLst>
          </p:cNvPr>
          <p:cNvSpPr>
            <a:spLocks xmlns:a="http://schemas.openxmlformats.org/drawingml/2006/main" noGrp="1"/>
          </p:cNvSpPr>
          <p:nvPr/>
        </p:nvSpPr>
        <p:spPr>
          <a:xfrm xmlns:a="http://schemas.openxmlformats.org/drawingml/2006/main">
            <a:off x="2790825" y="2590800"/>
            <a:ext cx="1733550" cy="600075"/>
          </a:xfrm>
          <a:custGeom xmlns:a="http://schemas.openxmlformats.org/drawingml/2006/main">
            <a:pathLst>
              <a:path w="1733550" h="600075">
                <a:moveTo>
                  <a:pt x="0" y="0"/>
                </a:moveTo>
                <a:lnTo>
                  <a:pt x="1733550" y="600075"/>
                </a:lnTo>
              </a:path>
            </a:pathLst>
          </a:custGeom>
          <a:noFill xmlns:a="http://schemas.openxmlformats.org/drawingml/2006/main"/>
          <a:ln xmlns:a="http://schemas.openxmlformats.org/drawingml/2006/main" w="19050">
            <a:solidFill>
              <a:srgbClr val="DCE5E2"/>
            </a:solidFill>
            <a:prstDash val="solid"/>
          </a:ln>
        </p:spPr>
      </p:sp>
      <p:sp>
        <p:nvSpPr>
          <p:cNvPr id="13" name="">
            <a:extLst xmlns:a="http://schemas.openxmlformats.org/drawingml/2006/main">
              <a:ext uri="{FF2B5EF4-FFF2-40B4-BE49-F238E27FC236}">
                <a16:creationId xmlns:a16="http://schemas.microsoft.com/office/drawing/2014/main" id="{D3A4BE86-03A1-400A-AEB5-764AB8088F15}"/>
              </a:ext>
            </a:extLst>
          </p:cNvPr>
          <p:cNvSpPr>
            <a:spLocks xmlns:a="http://schemas.openxmlformats.org/drawingml/2006/main" noGrp="1"/>
          </p:cNvSpPr>
          <p:nvPr/>
        </p:nvSpPr>
        <p:spPr>
          <a:xfrm xmlns:a="http://schemas.openxmlformats.org/drawingml/2006/main">
            <a:off x="838200" y="311467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4" name="">
            <a:extLst xmlns:a="http://schemas.openxmlformats.org/drawingml/2006/main">
              <a:ext uri="{FF2B5EF4-FFF2-40B4-BE49-F238E27FC236}">
                <a16:creationId xmlns:a16="http://schemas.microsoft.com/office/drawing/2014/main" id="{9B1AA502-ECF8-47BD-BBC8-343F34510E9D}"/>
              </a:ext>
            </a:extLst>
          </p:cNvPr>
          <p:cNvSpPr>
            <a:spLocks xmlns:a="http://schemas.openxmlformats.org/drawingml/2006/main" noGrp="1"/>
          </p:cNvSpPr>
          <p:nvPr/>
        </p:nvSpPr>
        <p:spPr>
          <a:xfrm xmlns:a="http://schemas.openxmlformats.org/drawingml/2006/main">
            <a:off x="838200" y="32480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B</a:t>
            </a:r>
          </a:p>
        </p:txBody>
      </p:sp>
      <p:sp>
        <p:nvSpPr>
          <p:cNvPr id="15" name="">
            <a:extLst xmlns:a="http://schemas.openxmlformats.org/drawingml/2006/main">
              <a:ext uri="{FF2B5EF4-FFF2-40B4-BE49-F238E27FC236}">
                <a16:creationId xmlns:a16="http://schemas.microsoft.com/office/drawing/2014/main" id="{9F4A9ED9-BA2C-4A07-A524-9B2D1998219F}"/>
              </a:ext>
            </a:extLst>
          </p:cNvPr>
          <p:cNvSpPr>
            <a:spLocks xmlns:a="http://schemas.openxmlformats.org/drawingml/2006/main" noGrp="1"/>
          </p:cNvSpPr>
          <p:nvPr/>
        </p:nvSpPr>
        <p:spPr>
          <a:xfrm xmlns:a="http://schemas.openxmlformats.org/drawingml/2006/main">
            <a:off x="2790825" y="3190875"/>
            <a:ext cx="1733550" cy="180975"/>
          </a:xfrm>
          <a:custGeom xmlns:a="http://schemas.openxmlformats.org/drawingml/2006/main">
            <a:pathLst>
              <a:path w="1733550" h="180975">
                <a:moveTo>
                  <a:pt x="0" y="180975"/>
                </a:moveTo>
                <a:lnTo>
                  <a:pt x="1733550" y="0"/>
                </a:lnTo>
              </a:path>
            </a:pathLst>
          </a:custGeom>
          <a:noFill xmlns:a="http://schemas.openxmlformats.org/drawingml/2006/main"/>
          <a:ln xmlns:a="http://schemas.openxmlformats.org/drawingml/2006/main" w="19050">
            <a:solidFill>
              <a:srgbClr val="DCE5E2"/>
            </a:solidFill>
            <a:prstDash val="solid"/>
          </a:ln>
        </p:spPr>
      </p:sp>
      <p:sp>
        <p:nvSpPr>
          <p:cNvPr id="16" name="">
            <a:extLst xmlns:a="http://schemas.openxmlformats.org/drawingml/2006/main">
              <a:ext uri="{FF2B5EF4-FFF2-40B4-BE49-F238E27FC236}">
                <a16:creationId xmlns:a16="http://schemas.microsoft.com/office/drawing/2014/main" id="{30258AB6-DF22-4CF8-8316-F1D9F5FE7F2B}"/>
              </a:ext>
            </a:extLst>
          </p:cNvPr>
          <p:cNvSpPr>
            <a:spLocks xmlns:a="http://schemas.openxmlformats.org/drawingml/2006/main" noGrp="1"/>
          </p:cNvSpPr>
          <p:nvPr/>
        </p:nvSpPr>
        <p:spPr>
          <a:xfrm xmlns:a="http://schemas.openxmlformats.org/drawingml/2006/main">
            <a:off x="838200" y="389572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7" name="">
            <a:extLst xmlns:a="http://schemas.openxmlformats.org/drawingml/2006/main">
              <a:ext uri="{FF2B5EF4-FFF2-40B4-BE49-F238E27FC236}">
                <a16:creationId xmlns:a16="http://schemas.microsoft.com/office/drawing/2014/main" id="{CF17D27D-FD71-4E53-859E-4926E41D1D13}"/>
              </a:ext>
            </a:extLst>
          </p:cNvPr>
          <p:cNvSpPr>
            <a:spLocks xmlns:a="http://schemas.openxmlformats.org/drawingml/2006/main" noGrp="1"/>
          </p:cNvSpPr>
          <p:nvPr/>
        </p:nvSpPr>
        <p:spPr>
          <a:xfrm xmlns:a="http://schemas.openxmlformats.org/drawingml/2006/main">
            <a:off x="838200" y="402907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C</a:t>
            </a:r>
          </a:p>
        </p:txBody>
      </p:sp>
      <p:sp>
        <p:nvSpPr>
          <p:cNvPr id="18" name="">
            <a:extLst xmlns:a="http://schemas.openxmlformats.org/drawingml/2006/main">
              <a:ext uri="{FF2B5EF4-FFF2-40B4-BE49-F238E27FC236}">
                <a16:creationId xmlns:a16="http://schemas.microsoft.com/office/drawing/2014/main" id="{B14B028A-A6C8-419E-B9DD-B0DED10883FC}"/>
              </a:ext>
            </a:extLst>
          </p:cNvPr>
          <p:cNvSpPr>
            <a:spLocks xmlns:a="http://schemas.openxmlformats.org/drawingml/2006/main" noGrp="1"/>
          </p:cNvSpPr>
          <p:nvPr/>
        </p:nvSpPr>
        <p:spPr>
          <a:xfrm xmlns:a="http://schemas.openxmlformats.org/drawingml/2006/main">
            <a:off x="2790825" y="3190875"/>
            <a:ext cx="1733550" cy="962025"/>
          </a:xfrm>
          <a:custGeom xmlns:a="http://schemas.openxmlformats.org/drawingml/2006/main">
            <a:pathLst>
              <a:path w="1733550" h="962025">
                <a:moveTo>
                  <a:pt x="0" y="962025"/>
                </a:moveTo>
                <a:lnTo>
                  <a:pt x="1733550" y="0"/>
                </a:lnTo>
              </a:path>
            </a:pathLst>
          </a:custGeom>
          <a:noFill xmlns:a="http://schemas.openxmlformats.org/drawingml/2006/main"/>
          <a:ln xmlns:a="http://schemas.openxmlformats.org/drawingml/2006/main" w="19050">
            <a:solidFill>
              <a:srgbClr val="DCE5E2"/>
            </a:solidFill>
            <a:prstDash val="solid"/>
          </a:ln>
        </p:spPr>
      </p:sp>
      <p:sp>
        <p:nvSpPr>
          <p:cNvPr id="19" name="">
            <a:extLst xmlns:a="http://schemas.openxmlformats.org/drawingml/2006/main">
              <a:ext uri="{FF2B5EF4-FFF2-40B4-BE49-F238E27FC236}">
                <a16:creationId xmlns:a16="http://schemas.microsoft.com/office/drawing/2014/main" id="{C7237517-BA25-4C5B-888B-66222B347742}"/>
              </a:ext>
            </a:extLst>
          </p:cNvPr>
          <p:cNvSpPr>
            <a:spLocks xmlns:a="http://schemas.openxmlformats.org/drawingml/2006/main" noGrp="1"/>
          </p:cNvSpPr>
          <p:nvPr/>
        </p:nvSpPr>
        <p:spPr>
          <a:xfrm xmlns:a="http://schemas.openxmlformats.org/drawingml/2006/main">
            <a:off x="4533900" y="1809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REGIONAL MODELS</a:t>
            </a:r>
          </a:p>
        </p:txBody>
      </p:sp>
      <p:sp>
        <p:nvSpPr>
          <p:cNvPr id="20" name="">
            <a:extLst xmlns:a="http://schemas.openxmlformats.org/drawingml/2006/main">
              <a:ext uri="{FF2B5EF4-FFF2-40B4-BE49-F238E27FC236}">
                <a16:creationId xmlns:a16="http://schemas.microsoft.com/office/drawing/2014/main" id="{643D9DF0-75BD-47E4-A765-1B080D6241B8}"/>
              </a:ext>
            </a:extLst>
          </p:cNvPr>
          <p:cNvSpPr>
            <a:spLocks xmlns:a="http://schemas.openxmlformats.org/drawingml/2006/main" noGrp="1"/>
          </p:cNvSpPr>
          <p:nvPr/>
        </p:nvSpPr>
        <p:spPr>
          <a:xfrm xmlns:a="http://schemas.openxmlformats.org/drawingml/2006/main">
            <a:off x="4533900" y="2609850"/>
            <a:ext cx="2095500" cy="590550"/>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21" name="">
            <a:extLst xmlns:a="http://schemas.openxmlformats.org/drawingml/2006/main">
              <a:ext uri="{FF2B5EF4-FFF2-40B4-BE49-F238E27FC236}">
                <a16:creationId xmlns:a16="http://schemas.microsoft.com/office/drawing/2014/main" id="{A797174A-D006-4199-B504-1F2DAE1AAAC0}"/>
              </a:ext>
            </a:extLst>
          </p:cNvPr>
          <p:cNvSpPr>
            <a:spLocks xmlns:a="http://schemas.openxmlformats.org/drawingml/2006/main" noGrp="1"/>
          </p:cNvSpPr>
          <p:nvPr/>
        </p:nvSpPr>
        <p:spPr>
          <a:xfrm xmlns:a="http://schemas.openxmlformats.org/drawingml/2006/main">
            <a:off x="4533900" y="2771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RCM 1</a:t>
            </a:r>
          </a:p>
        </p:txBody>
      </p:sp>
      <p:sp>
        <p:nvSpPr>
          <p:cNvPr id="22" name="">
            <a:extLst xmlns:a="http://schemas.openxmlformats.org/drawingml/2006/main">
              <a:ext uri="{FF2B5EF4-FFF2-40B4-BE49-F238E27FC236}">
                <a16:creationId xmlns:a16="http://schemas.microsoft.com/office/drawing/2014/main" id="{20F2965E-627C-4A50-BA1B-4244BD732D9E}"/>
              </a:ext>
            </a:extLst>
          </p:cNvPr>
          <p:cNvSpPr>
            <a:spLocks xmlns:a="http://schemas.openxmlformats.org/drawingml/2006/main" noGrp="1"/>
          </p:cNvSpPr>
          <p:nvPr/>
        </p:nvSpPr>
        <p:spPr>
          <a:xfrm xmlns:a="http://schemas.openxmlformats.org/drawingml/2006/main">
            <a:off x="6629400" y="2905125"/>
            <a:ext cx="1657350" cy="285750"/>
          </a:xfrm>
          <a:custGeom xmlns:a="http://schemas.openxmlformats.org/drawingml/2006/main">
            <a:pathLst>
              <a:path w="1657350" h="285750">
                <a:moveTo>
                  <a:pt x="0" y="0"/>
                </a:moveTo>
                <a:lnTo>
                  <a:pt x="1657350" y="285750"/>
                </a:lnTo>
              </a:path>
            </a:pathLst>
          </a:custGeom>
          <a:noFill xmlns:a="http://schemas.openxmlformats.org/drawingml/2006/main"/>
          <a:ln xmlns:a="http://schemas.openxmlformats.org/drawingml/2006/main" w="19050">
            <a:solidFill>
              <a:srgbClr val="DCE5E2"/>
            </a:solidFill>
            <a:prstDash val="solid"/>
          </a:ln>
        </p:spPr>
      </p:sp>
      <p:sp>
        <p:nvSpPr>
          <p:cNvPr id="23" name="">
            <a:extLst xmlns:a="http://schemas.openxmlformats.org/drawingml/2006/main">
              <a:ext uri="{FF2B5EF4-FFF2-40B4-BE49-F238E27FC236}">
                <a16:creationId xmlns:a16="http://schemas.microsoft.com/office/drawing/2014/main" id="{BC17CF3F-FBD1-425E-9E85-D216BF04E64C}"/>
              </a:ext>
            </a:extLst>
          </p:cNvPr>
          <p:cNvSpPr>
            <a:spLocks xmlns:a="http://schemas.openxmlformats.org/drawingml/2006/main" noGrp="1"/>
          </p:cNvSpPr>
          <p:nvPr/>
        </p:nvSpPr>
        <p:spPr>
          <a:xfrm xmlns:a="http://schemas.openxmlformats.org/drawingml/2006/main">
            <a:off x="4533900" y="3771900"/>
            <a:ext cx="2095500" cy="590550"/>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24" name="">
            <a:extLst xmlns:a="http://schemas.openxmlformats.org/drawingml/2006/main">
              <a:ext uri="{FF2B5EF4-FFF2-40B4-BE49-F238E27FC236}">
                <a16:creationId xmlns:a16="http://schemas.microsoft.com/office/drawing/2014/main" id="{C4F08D97-4D90-4C6F-8424-53981E8F50C8}"/>
              </a:ext>
            </a:extLst>
          </p:cNvPr>
          <p:cNvSpPr>
            <a:spLocks xmlns:a="http://schemas.openxmlformats.org/drawingml/2006/main" noGrp="1"/>
          </p:cNvSpPr>
          <p:nvPr/>
        </p:nvSpPr>
        <p:spPr>
          <a:xfrm xmlns:a="http://schemas.openxmlformats.org/drawingml/2006/main">
            <a:off x="4533900" y="39338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RCM 2</a:t>
            </a:r>
          </a:p>
        </p:txBody>
      </p:sp>
      <p:sp>
        <p:nvSpPr>
          <p:cNvPr id="25" name="">
            <a:extLst xmlns:a="http://schemas.openxmlformats.org/drawingml/2006/main">
              <a:ext uri="{FF2B5EF4-FFF2-40B4-BE49-F238E27FC236}">
                <a16:creationId xmlns:a16="http://schemas.microsoft.com/office/drawing/2014/main" id="{41E3FBB8-FDB2-4381-A6A0-CD481DB37279}"/>
              </a:ext>
            </a:extLst>
          </p:cNvPr>
          <p:cNvSpPr>
            <a:spLocks xmlns:a="http://schemas.openxmlformats.org/drawingml/2006/main" noGrp="1"/>
          </p:cNvSpPr>
          <p:nvPr/>
        </p:nvSpPr>
        <p:spPr>
          <a:xfrm xmlns:a="http://schemas.openxmlformats.org/drawingml/2006/main">
            <a:off x="6629400" y="3190875"/>
            <a:ext cx="1657350" cy="876300"/>
          </a:xfrm>
          <a:custGeom xmlns:a="http://schemas.openxmlformats.org/drawingml/2006/main">
            <a:pathLst>
              <a:path w="1657350" h="876300">
                <a:moveTo>
                  <a:pt x="0" y="876300"/>
                </a:moveTo>
                <a:lnTo>
                  <a:pt x="1657350" y="0"/>
                </a:lnTo>
              </a:path>
            </a:pathLst>
          </a:custGeom>
          <a:noFill xmlns:a="http://schemas.openxmlformats.org/drawingml/2006/main"/>
          <a:ln xmlns:a="http://schemas.openxmlformats.org/drawingml/2006/main" w="19050">
            <a:solidFill>
              <a:srgbClr val="DCE5E2"/>
            </a:solidFill>
            <a:prstDash val="solid"/>
          </a:ln>
        </p:spPr>
      </p:sp>
      <p:sp>
        <p:nvSpPr>
          <p:cNvPr id="26" name="">
            <a:extLst xmlns:a="http://schemas.openxmlformats.org/drawingml/2006/main">
              <a:ext uri="{FF2B5EF4-FFF2-40B4-BE49-F238E27FC236}">
                <a16:creationId xmlns:a16="http://schemas.microsoft.com/office/drawing/2014/main" id="{23E5EED5-CBEC-4BD3-8FE5-30612BDE10CA}"/>
              </a:ext>
            </a:extLst>
          </p:cNvPr>
          <p:cNvSpPr>
            <a:spLocks xmlns:a="http://schemas.openxmlformats.org/drawingml/2006/main" noGrp="1"/>
          </p:cNvSpPr>
          <p:nvPr/>
        </p:nvSpPr>
        <p:spPr>
          <a:xfrm xmlns:a="http://schemas.openxmlformats.org/drawingml/2006/main">
            <a:off x="8286750" y="2476500"/>
            <a:ext cx="2762250" cy="14287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3E7EA37-D43A-4184-AC79-E9369B74F896}"/>
              </a:ext>
            </a:extLst>
          </p:cNvPr>
          <p:cNvSpPr>
            <a:spLocks xmlns:a="http://schemas.openxmlformats.org/drawingml/2006/main" noGrp="1"/>
          </p:cNvSpPr>
          <p:nvPr/>
        </p:nvSpPr>
        <p:spPr>
          <a:xfrm xmlns:a="http://schemas.openxmlformats.org/drawingml/2006/main">
            <a:off x="8496300" y="280035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907"/>
          </a:bodyPr>
          <a:lstStyle xmlns:a="http://schemas.openxmlformats.org/drawingml/2006/main"/>
          <a:p xmlns:a="http://schemas.openxmlformats.org/drawingml/2006/main">
            <a:pPr algn="ctr">
              <a:lnSpc>
                <a:spcPct val="108000"/>
              </a:lnSpc>
              <a:buNone/>
              <a:defRPr sz="1575" b="1" i="0">
                <a:solidFill>
                  <a:srgbClr val="FFFFFF"/>
                </a:solidFill>
                <a:latin typeface="Lato"/>
                <a:ea typeface="Lato"/>
                <a:cs typeface="Lato"/>
              </a:defRPr>
            </a:pPr>
            <a:r>
              <a:rPr sz="1575" b="1" i="0">
                <a:solidFill>
                  <a:srgbClr val="FFFFFF"/>
                </a:solidFill>
                <a:latin typeface="Lato"/>
                <a:ea typeface="Lato"/>
                <a:cs typeface="Lato"/>
              </a:rPr>
              <a:t>REGIONAL</a:t>
            </a:r>
          </a:p>
          <a:p xmlns:a="http://schemas.openxmlformats.org/drawingml/2006/main">
            <a:pPr algn="ctr">
              <a:lnSpc>
                <a:spcPct val="108000"/>
              </a:lnSpc>
              <a:buNone/>
              <a:defRPr sz="1575" b="1" i="0">
                <a:solidFill>
                  <a:srgbClr val="FFFFFF"/>
                </a:solidFill>
                <a:latin typeface="Lato"/>
                <a:ea typeface="Lato"/>
                <a:cs typeface="Lato"/>
              </a:defRPr>
            </a:pPr>
            <a:r>
              <a:rPr sz="1575" b="1" i="0">
                <a:solidFill>
                  <a:srgbClr val="FFFFFF"/>
                </a:solidFill>
                <a:latin typeface="Lato"/>
                <a:ea typeface="Lato"/>
                <a:cs typeface="Lato"/>
              </a:rPr>
              <a:t>PROJECTION ENSEMBLE</a:t>
            </a:r>
          </a:p>
        </p:txBody>
      </p:sp>
      <p:sp>
        <p:nvSpPr>
          <p:cNvPr id="28" name="">
            <a:extLst xmlns:a="http://schemas.openxmlformats.org/drawingml/2006/main">
              <a:ext uri="{FF2B5EF4-FFF2-40B4-BE49-F238E27FC236}">
                <a16:creationId xmlns:a16="http://schemas.microsoft.com/office/drawing/2014/main" id="{588B8484-7EBB-4BE9-A4FC-FD3DB351F03C}"/>
              </a:ext>
            </a:extLst>
          </p:cNvPr>
          <p:cNvSpPr>
            <a:spLocks xmlns:a="http://schemas.openxmlformats.org/drawingml/2006/main" noGrp="1"/>
          </p:cNvSpPr>
          <p:nvPr/>
        </p:nvSpPr>
        <p:spPr>
          <a:xfrm xmlns:a="http://schemas.openxmlformats.org/drawingml/2006/main">
            <a:off x="838200" y="5010150"/>
            <a:ext cx="10210800" cy="714375"/>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CB226B4-A16A-45C6-918D-5C91533B4A75}"/>
              </a:ext>
            </a:extLst>
          </p:cNvPr>
          <p:cNvSpPr>
            <a:spLocks xmlns:a="http://schemas.openxmlformats.org/drawingml/2006/main" noGrp="1"/>
          </p:cNvSpPr>
          <p:nvPr/>
        </p:nvSpPr>
        <p:spPr>
          <a:xfrm xmlns:a="http://schemas.openxmlformats.org/drawingml/2006/main">
            <a:off x="1104900" y="5181600"/>
            <a:ext cx="967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08"/>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Multi-model and multi-RCM ensembles sample structural choices. Their spread remains an incomplete measure of uncertainty.</a:t>
            </a:r>
          </a:p>
        </p:txBody>
      </p:sp>
    </p:spTree>
    <p:extLst>
      <p:ext uri="{BB962C8B-B14F-4D97-AF65-F5344CB8AC3E}">
        <p14:creationId xmlns:p14="http://schemas.microsoft.com/office/powerpoint/2010/main" val="161583178"/>
      </p:ext>
    </p:extLst>
  </p:cSld>
</p:sld>
</file>

<file path=ppt/slides/slide1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57F22C5-A4F4-4166-8C65-07E90A3C3C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7D4B63-42CF-4226-9287-BEA9966C240A}"/>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Systematic bias and bias adjustment</a:t>
            </a:r>
          </a:p>
        </p:txBody>
      </p:sp>
      <p:sp>
        <p:nvSpPr>
          <p:cNvPr id="3" name="">
            <a:extLst xmlns:a="http://schemas.openxmlformats.org/drawingml/2006/main">
              <a:ext uri="{FF2B5EF4-FFF2-40B4-BE49-F238E27FC236}">
                <a16:creationId xmlns:a16="http://schemas.microsoft.com/office/drawing/2014/main" id="{08F74932-801F-43EA-BB83-D1D0AB9B0ADA}"/>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A bias is a persistent mismatch against a reference dataset, not the same concept as projection uncertainty</a:t>
            </a:r>
          </a:p>
        </p:txBody>
      </p:sp>
      <p:sp>
        <p:nvSpPr>
          <p:cNvPr id="4" name="">
            <a:extLst xmlns:a="http://schemas.openxmlformats.org/drawingml/2006/main">
              <a:ext uri="{FF2B5EF4-FFF2-40B4-BE49-F238E27FC236}">
                <a16:creationId xmlns:a16="http://schemas.microsoft.com/office/drawing/2014/main" id="{61759608-E9CC-4DF5-A2CF-D9E7B03A17E1}"/>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7FC409-21D0-4A9F-9EA8-38DC2AA8720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F5E9FF-E5F7-46CD-B3EF-2F3F97EEA39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DEEC19-6F5B-4030-B2E2-2A247697363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C93E9021-14CE-4A65-B67B-43AF90660D4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14</a:t>
            </a:r>
          </a:p>
        </p:txBody>
      </p:sp>
      <p:sp>
        <p:nvSpPr>
          <p:cNvPr id="9" name="">
            <a:extLst xmlns:a="http://schemas.openxmlformats.org/drawingml/2006/main">
              <a:ext uri="{FF2B5EF4-FFF2-40B4-BE49-F238E27FC236}">
                <a16:creationId xmlns:a16="http://schemas.microsoft.com/office/drawing/2014/main" id="{6E25D803-05F8-4A87-BABC-A9682633160E}"/>
              </a:ext>
            </a:extLst>
          </p:cNvPr>
          <p:cNvSpPr>
            <a:spLocks xmlns:a="http://schemas.openxmlformats.org/drawingml/2006/main" noGrp="1"/>
          </p:cNvSpPr>
          <p:nvPr/>
        </p:nvSpPr>
        <p:spPr>
          <a:xfrm xmlns:a="http://schemas.openxmlformats.org/drawingml/2006/main">
            <a:off x="838200" y="1809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C95C54"/>
                </a:solidFill>
                <a:latin typeface="Lato"/>
                <a:ea typeface="Lato"/>
                <a:cs typeface="Lato"/>
              </a:defRPr>
            </a:pPr>
            <a:r>
              <a:rPr sz="1050" b="1" i="0">
                <a:solidFill>
                  <a:srgbClr val="C95C54"/>
                </a:solidFill>
                <a:latin typeface="Lato"/>
                <a:ea typeface="Lato"/>
                <a:cs typeface="Lato"/>
              </a:rPr>
              <a:t>RAW MODEL OUTPUT</a:t>
            </a:r>
          </a:p>
        </p:txBody>
      </p:sp>
      <p:sp>
        <p:nvSpPr>
          <p:cNvPr id="10" name="">
            <a:extLst xmlns:a="http://schemas.openxmlformats.org/drawingml/2006/main">
              <a:ext uri="{FF2B5EF4-FFF2-40B4-BE49-F238E27FC236}">
                <a16:creationId xmlns:a16="http://schemas.microsoft.com/office/drawing/2014/main" id="{75EF8766-E46B-4E3F-8711-B7FD6AF70754}"/>
              </a:ext>
            </a:extLst>
          </p:cNvPr>
          <p:cNvSpPr>
            <a:spLocks xmlns:a="http://schemas.openxmlformats.org/drawingml/2006/main" noGrp="1"/>
          </p:cNvSpPr>
          <p:nvPr/>
        </p:nvSpPr>
        <p:spPr>
          <a:xfrm xmlns:a="http://schemas.openxmlformats.org/drawingml/2006/main">
            <a:off x="1047750" y="4191000"/>
            <a:ext cx="3714750" cy="9525"/>
          </a:xfrm>
          <a:custGeom xmlns:a="http://schemas.openxmlformats.org/drawingml/2006/main">
            <a:pathLst>
              <a:path w="3714750" h="9525">
                <a:moveTo>
                  <a:pt x="0" y="0"/>
                </a:moveTo>
                <a:lnTo>
                  <a:pt x="3714750" y="0"/>
                </a:lnTo>
              </a:path>
            </a:pathLst>
          </a:custGeom>
          <a:noFill xmlns:a="http://schemas.openxmlformats.org/drawingml/2006/main"/>
          <a:ln xmlns:a="http://schemas.openxmlformats.org/drawingml/2006/main" w="19050">
            <a:solidFill>
              <a:srgbClr val="DCE5E2"/>
            </a:solidFill>
            <a:prstDash val="solid"/>
          </a:ln>
        </p:spPr>
      </p:sp>
      <p:sp>
        <p:nvSpPr>
          <p:cNvPr id="11" name="">
            <a:extLst xmlns:a="http://schemas.openxmlformats.org/drawingml/2006/main">
              <a:ext uri="{FF2B5EF4-FFF2-40B4-BE49-F238E27FC236}">
                <a16:creationId xmlns:a16="http://schemas.microsoft.com/office/drawing/2014/main" id="{B42F351A-BCB0-463C-9CBA-F2026C338510}"/>
              </a:ext>
            </a:extLst>
          </p:cNvPr>
          <p:cNvSpPr>
            <a:spLocks xmlns:a="http://schemas.openxmlformats.org/drawingml/2006/main" noGrp="1"/>
          </p:cNvSpPr>
          <p:nvPr/>
        </p:nvSpPr>
        <p:spPr>
          <a:xfrm xmlns:a="http://schemas.openxmlformats.org/drawingml/2006/main">
            <a:off x="1762125" y="3143250"/>
            <a:ext cx="171450" cy="1047750"/>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C1CA0AC-9011-4E96-B638-CB1AF919AE24}"/>
              </a:ext>
            </a:extLst>
          </p:cNvPr>
          <p:cNvSpPr>
            <a:spLocks xmlns:a="http://schemas.openxmlformats.org/drawingml/2006/main" noGrp="1"/>
          </p:cNvSpPr>
          <p:nvPr/>
        </p:nvSpPr>
        <p:spPr>
          <a:xfrm xmlns:a="http://schemas.openxmlformats.org/drawingml/2006/main">
            <a:off x="2857500" y="2476500"/>
            <a:ext cx="171450" cy="1714500"/>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F6F59B5-1870-451E-BB1F-A1C0EA04692F}"/>
              </a:ext>
            </a:extLst>
          </p:cNvPr>
          <p:cNvSpPr>
            <a:spLocks xmlns:a="http://schemas.openxmlformats.org/drawingml/2006/main" noGrp="1"/>
          </p:cNvSpPr>
          <p:nvPr/>
        </p:nvSpPr>
        <p:spPr>
          <a:xfrm xmlns:a="http://schemas.openxmlformats.org/drawingml/2006/main">
            <a:off x="3952875" y="3333750"/>
            <a:ext cx="171450" cy="857250"/>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A5DAE8A-095D-4E57-AB28-147BB993B3DF}"/>
              </a:ext>
            </a:extLst>
          </p:cNvPr>
          <p:cNvSpPr>
            <a:spLocks xmlns:a="http://schemas.openxmlformats.org/drawingml/2006/main" noGrp="1"/>
          </p:cNvSpPr>
          <p:nvPr/>
        </p:nvSpPr>
        <p:spPr>
          <a:xfrm xmlns:a="http://schemas.openxmlformats.org/drawingml/2006/main">
            <a:off x="3486150" y="2286000"/>
            <a:ext cx="9525" cy="2076450"/>
          </a:xfrm>
          <a:custGeom xmlns:a="http://schemas.openxmlformats.org/drawingml/2006/main">
            <a:pathLst>
              <a:path w="9525" h="2076450">
                <a:moveTo>
                  <a:pt x="0" y="0"/>
                </a:moveTo>
                <a:lnTo>
                  <a:pt x="0" y="2076450"/>
                </a:lnTo>
              </a:path>
            </a:pathLst>
          </a:custGeom>
          <a:noFill xmlns:a="http://schemas.openxmlformats.org/drawingml/2006/main"/>
          <a:ln xmlns:a="http://schemas.openxmlformats.org/drawingml/2006/main" w="28575">
            <a:solidFill>
              <a:srgbClr val="12304E"/>
            </a:solidFill>
            <a:prstDash val="solid"/>
          </a:ln>
        </p:spPr>
      </p:sp>
      <p:sp>
        <p:nvSpPr>
          <p:cNvPr id="15" name="">
            <a:extLst xmlns:a="http://schemas.openxmlformats.org/drawingml/2006/main">
              <a:ext uri="{FF2B5EF4-FFF2-40B4-BE49-F238E27FC236}">
                <a16:creationId xmlns:a16="http://schemas.microsoft.com/office/drawing/2014/main" id="{FD13C191-0DE1-4166-B8A9-407A55343F59}"/>
              </a:ext>
            </a:extLst>
          </p:cNvPr>
          <p:cNvSpPr>
            <a:spLocks xmlns:a="http://schemas.openxmlformats.org/drawingml/2006/main" noGrp="1"/>
          </p:cNvSpPr>
          <p:nvPr/>
        </p:nvSpPr>
        <p:spPr>
          <a:xfrm xmlns:a="http://schemas.openxmlformats.org/drawingml/2006/main">
            <a:off x="3067050" y="442912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825" b="1" i="0">
                <a:solidFill>
                  <a:srgbClr val="12304E"/>
                </a:solidFill>
                <a:latin typeface="Lato"/>
                <a:ea typeface="Lato"/>
                <a:cs typeface="Lato"/>
              </a:defRPr>
            </a:pPr>
            <a:r>
              <a:rPr sz="825" b="1" i="0">
                <a:solidFill>
                  <a:srgbClr val="12304E"/>
                </a:solidFill>
                <a:latin typeface="Lato"/>
                <a:ea typeface="Lato"/>
                <a:cs typeface="Lato"/>
              </a:rPr>
              <a:t>REFERENCE</a:t>
            </a:r>
          </a:p>
        </p:txBody>
      </p:sp>
      <p:sp>
        <p:nvSpPr>
          <p:cNvPr id="16" name="">
            <a:extLst xmlns:a="http://schemas.openxmlformats.org/drawingml/2006/main">
              <a:ext uri="{FF2B5EF4-FFF2-40B4-BE49-F238E27FC236}">
                <a16:creationId xmlns:a16="http://schemas.microsoft.com/office/drawing/2014/main" id="{7F9BC810-5093-4F1B-A96F-786CE77E0AD5}"/>
              </a:ext>
            </a:extLst>
          </p:cNvPr>
          <p:cNvSpPr>
            <a:spLocks xmlns:a="http://schemas.openxmlformats.org/drawingml/2006/main" noGrp="1"/>
          </p:cNvSpPr>
          <p:nvPr/>
        </p:nvSpPr>
        <p:spPr>
          <a:xfrm xmlns:a="http://schemas.openxmlformats.org/drawingml/2006/main">
            <a:off x="1571625" y="476250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687984"/>
                </a:solidFill>
                <a:latin typeface="Lato"/>
                <a:ea typeface="Lato"/>
                <a:cs typeface="Lato"/>
              </a:defRPr>
            </a:pPr>
            <a:r>
              <a:rPr sz="1200" b="0" i="0">
                <a:solidFill>
                  <a:srgbClr val="687984"/>
                </a:solidFill>
                <a:latin typeface="Lato"/>
                <a:ea typeface="Lato"/>
                <a:cs typeface="Lato"/>
              </a:rPr>
              <a:t>systematic offset</a:t>
            </a:r>
          </a:p>
        </p:txBody>
      </p:sp>
      <p:sp>
        <p:nvSpPr>
          <p:cNvPr id="17" name="">
            <a:extLst xmlns:a="http://schemas.openxmlformats.org/drawingml/2006/main">
              <a:ext uri="{FF2B5EF4-FFF2-40B4-BE49-F238E27FC236}">
                <a16:creationId xmlns:a16="http://schemas.microsoft.com/office/drawing/2014/main" id="{D5C1AE17-5940-4C87-A268-BCA3E88DFDB4}"/>
              </a:ext>
            </a:extLst>
          </p:cNvPr>
          <p:cNvSpPr>
            <a:spLocks xmlns:a="http://schemas.openxmlformats.org/drawingml/2006/main" noGrp="1"/>
          </p:cNvSpPr>
          <p:nvPr/>
        </p:nvSpPr>
        <p:spPr>
          <a:xfrm xmlns:a="http://schemas.openxmlformats.org/drawingml/2006/main">
            <a:off x="6191250" y="18097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BIAS ADJUSTMENT</a:t>
            </a:r>
          </a:p>
        </p:txBody>
      </p:sp>
      <p:sp>
        <p:nvSpPr>
          <p:cNvPr id="18" name="">
            <a:extLst xmlns:a="http://schemas.openxmlformats.org/drawingml/2006/main">
              <a:ext uri="{FF2B5EF4-FFF2-40B4-BE49-F238E27FC236}">
                <a16:creationId xmlns:a16="http://schemas.microsoft.com/office/drawing/2014/main" id="{671133A6-27C5-47D5-9435-30E9C7E5A3E2}"/>
              </a:ext>
            </a:extLst>
          </p:cNvPr>
          <p:cNvSpPr>
            <a:spLocks xmlns:a="http://schemas.openxmlformats.org/drawingml/2006/main" noGrp="1"/>
          </p:cNvSpPr>
          <p:nvPr/>
        </p:nvSpPr>
        <p:spPr>
          <a:xfrm xmlns:a="http://schemas.openxmlformats.org/drawingml/2006/main">
            <a:off x="6191250" y="23336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What it can do</a:t>
            </a:r>
          </a:p>
        </p:txBody>
      </p:sp>
      <p:sp>
        <p:nvSpPr>
          <p:cNvPr id="19" name="">
            <a:extLst xmlns:a="http://schemas.openxmlformats.org/drawingml/2006/main">
              <a:ext uri="{FF2B5EF4-FFF2-40B4-BE49-F238E27FC236}">
                <a16:creationId xmlns:a16="http://schemas.microsoft.com/office/drawing/2014/main" id="{0CB2086D-CEAE-4712-AB18-43E24908B61E}"/>
              </a:ext>
            </a:extLst>
          </p:cNvPr>
          <p:cNvSpPr>
            <a:spLocks xmlns:a="http://schemas.openxmlformats.org/drawingml/2006/main" noGrp="1"/>
          </p:cNvSpPr>
          <p:nvPr/>
        </p:nvSpPr>
        <p:spPr>
          <a:xfrm xmlns:a="http://schemas.openxmlformats.org/drawingml/2006/main">
            <a:off x="6191250" y="2781300"/>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Reduce selected historical distributional mismatches</a:t>
            </a:r>
          </a:p>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Prepare inputs for threshold-sensitive impact models</a:t>
            </a:r>
          </a:p>
        </p:txBody>
      </p:sp>
      <p:sp>
        <p:nvSpPr>
          <p:cNvPr id="20" name="">
            <a:extLst xmlns:a="http://schemas.openxmlformats.org/drawingml/2006/main">
              <a:ext uri="{FF2B5EF4-FFF2-40B4-BE49-F238E27FC236}">
                <a16:creationId xmlns:a16="http://schemas.microsoft.com/office/drawing/2014/main" id="{BA10FDDD-7501-4F58-BEAB-F72DE9957170}"/>
              </a:ext>
            </a:extLst>
          </p:cNvPr>
          <p:cNvSpPr>
            <a:spLocks xmlns:a="http://schemas.openxmlformats.org/drawingml/2006/main" noGrp="1"/>
          </p:cNvSpPr>
          <p:nvPr/>
        </p:nvSpPr>
        <p:spPr>
          <a:xfrm xmlns:a="http://schemas.openxmlformats.org/drawingml/2006/main">
            <a:off x="6191250" y="38576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What it cannot do</a:t>
            </a:r>
          </a:p>
        </p:txBody>
      </p:sp>
      <p:sp>
        <p:nvSpPr>
          <p:cNvPr id="21" name="">
            <a:extLst xmlns:a="http://schemas.openxmlformats.org/drawingml/2006/main">
              <a:ext uri="{FF2B5EF4-FFF2-40B4-BE49-F238E27FC236}">
                <a16:creationId xmlns:a16="http://schemas.microsoft.com/office/drawing/2014/main" id="{3E3F3558-A94B-47FD-97B6-4341DA323D20}"/>
              </a:ext>
            </a:extLst>
          </p:cNvPr>
          <p:cNvSpPr>
            <a:spLocks xmlns:a="http://schemas.openxmlformats.org/drawingml/2006/main" noGrp="1"/>
          </p:cNvSpPr>
          <p:nvPr/>
        </p:nvSpPr>
        <p:spPr>
          <a:xfrm xmlns:a="http://schemas.openxmlformats.org/drawingml/2006/main">
            <a:off x="6191250" y="4305300"/>
            <a:ext cx="4476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Repair incorrect physical processes</a:t>
            </a:r>
          </a:p>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Remove scenario, model or internal variability</a:t>
            </a:r>
          </a:p>
        </p:txBody>
      </p:sp>
      <p:sp>
        <p:nvSpPr>
          <p:cNvPr id="22" name="">
            <a:extLst xmlns:a="http://schemas.openxmlformats.org/drawingml/2006/main">
              <a:ext uri="{FF2B5EF4-FFF2-40B4-BE49-F238E27FC236}">
                <a16:creationId xmlns:a16="http://schemas.microsoft.com/office/drawing/2014/main" id="{AE98632D-0D45-44FC-BF3B-BCE8B43A9544}"/>
              </a:ext>
            </a:extLst>
          </p:cNvPr>
          <p:cNvSpPr>
            <a:spLocks xmlns:a="http://schemas.openxmlformats.org/drawingml/2006/main" noGrp="1"/>
          </p:cNvSpPr>
          <p:nvPr/>
        </p:nvSpPr>
        <p:spPr>
          <a:xfrm xmlns:a="http://schemas.openxmlformats.org/drawingml/2006/main">
            <a:off x="838200" y="5334000"/>
            <a:ext cx="9829800" cy="457200"/>
          </a:xfrm>
          <a:prstGeom xmlns:a="http://schemas.openxmlformats.org/drawingml/2006/main" prst="rect">
            <a:avLst/>
          </a:prstGeom>
          <a:solidFill xmlns:a="http://schemas.openxmlformats.org/drawingml/2006/main">
            <a:srgbClr val="FFF3D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A3F2398-804D-457B-9D8E-9994FF761F82}"/>
              </a:ext>
            </a:extLst>
          </p:cNvPr>
          <p:cNvSpPr>
            <a:spLocks xmlns:a="http://schemas.openxmlformats.org/drawingml/2006/main" noGrp="1"/>
          </p:cNvSpPr>
          <p:nvPr/>
        </p:nvSpPr>
        <p:spPr>
          <a:xfrm xmlns:a="http://schemas.openxmlformats.org/drawingml/2006/main">
            <a:off x="1047750" y="5448300"/>
            <a:ext cx="9410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Adjustment adds assumptions. Evaluate raw and adjusted data against more than one reference when possible.</a:t>
            </a:r>
          </a:p>
        </p:txBody>
      </p:sp>
    </p:spTree>
    <p:extLst>
      <p:ext uri="{BB962C8B-B14F-4D97-AF65-F5344CB8AC3E}">
        <p14:creationId xmlns:p14="http://schemas.microsoft.com/office/powerpoint/2010/main" val="1369186925"/>
      </p:ext>
    </p:extLst>
  </p:cSld>
</p:sld>
</file>

<file path=ppt/slides/slide1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37560657-169B-456C-91FE-A6752EB6DC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DCBD88-2A5B-4008-8939-4B681A2548F3}"/>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How each source should be handled</a:t>
            </a:r>
          </a:p>
        </p:txBody>
      </p:sp>
      <p:sp>
        <p:nvSpPr>
          <p:cNvPr id="3" name="">
            <a:extLst xmlns:a="http://schemas.openxmlformats.org/drawingml/2006/main">
              <a:ext uri="{FF2B5EF4-FFF2-40B4-BE49-F238E27FC236}">
                <a16:creationId xmlns:a16="http://schemas.microsoft.com/office/drawing/2014/main" id="{206A6FAA-5FD3-4C4F-B01E-97B5642FC963}"/>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response depends on whether the source is intrinsic, conditional, structural or systematic</a:t>
            </a:r>
          </a:p>
        </p:txBody>
      </p:sp>
      <p:sp>
        <p:nvSpPr>
          <p:cNvPr id="4" name="">
            <a:extLst xmlns:a="http://schemas.openxmlformats.org/drawingml/2006/main">
              <a:ext uri="{FF2B5EF4-FFF2-40B4-BE49-F238E27FC236}">
                <a16:creationId xmlns:a16="http://schemas.microsoft.com/office/drawing/2014/main" id="{613ECBC4-B780-4D5F-A662-C39B3C561F06}"/>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84C12B-E0D1-479F-B496-76BE5BBE527E}"/>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E564F8-0369-4C6E-BE09-C4EBD5D7D58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3D4FC37-5AA8-4AA9-B3CF-9D8917C45C0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B4E383B6-73EB-419A-890C-7C9A5F05234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15</a:t>
            </a:r>
          </a:p>
        </p:txBody>
      </p:sp>
      <p:sp>
        <p:nvSpPr>
          <p:cNvPr id="9" name="">
            <a:extLst xmlns:a="http://schemas.openxmlformats.org/drawingml/2006/main">
              <a:ext uri="{FF2B5EF4-FFF2-40B4-BE49-F238E27FC236}">
                <a16:creationId xmlns:a16="http://schemas.microsoft.com/office/drawing/2014/main" id="{80A25F58-CE9E-4129-91CD-7C1EBAB3B5A2}"/>
              </a:ext>
            </a:extLst>
          </p:cNvPr>
          <p:cNvSpPr>
            <a:spLocks xmlns:a="http://schemas.openxmlformats.org/drawingml/2006/main" noGrp="1"/>
          </p:cNvSpPr>
          <p:nvPr/>
        </p:nvSpPr>
        <p:spPr>
          <a:xfrm xmlns:a="http://schemas.openxmlformats.org/drawingml/2006/main">
            <a:off x="762000" y="17526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SOURCE</a:t>
            </a:r>
          </a:p>
        </p:txBody>
      </p:sp>
      <p:sp>
        <p:nvSpPr>
          <p:cNvPr id="10" name="">
            <a:extLst xmlns:a="http://schemas.openxmlformats.org/drawingml/2006/main">
              <a:ext uri="{FF2B5EF4-FFF2-40B4-BE49-F238E27FC236}">
                <a16:creationId xmlns:a16="http://schemas.microsoft.com/office/drawing/2014/main" id="{5EFE1134-3E2A-4284-A5B4-7F18995DF364}"/>
              </a:ext>
            </a:extLst>
          </p:cNvPr>
          <p:cNvSpPr>
            <a:spLocks xmlns:a="http://schemas.openxmlformats.org/drawingml/2006/main" noGrp="1"/>
          </p:cNvSpPr>
          <p:nvPr/>
        </p:nvSpPr>
        <p:spPr>
          <a:xfrm xmlns:a="http://schemas.openxmlformats.org/drawingml/2006/main">
            <a:off x="3429000" y="17526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TYPE</a:t>
            </a:r>
          </a:p>
        </p:txBody>
      </p:sp>
      <p:sp>
        <p:nvSpPr>
          <p:cNvPr id="11" name="">
            <a:extLst xmlns:a="http://schemas.openxmlformats.org/drawingml/2006/main">
              <a:ext uri="{FF2B5EF4-FFF2-40B4-BE49-F238E27FC236}">
                <a16:creationId xmlns:a16="http://schemas.microsoft.com/office/drawing/2014/main" id="{36D5963E-4518-481C-B893-9C635BE76D4B}"/>
              </a:ext>
            </a:extLst>
          </p:cNvPr>
          <p:cNvSpPr>
            <a:spLocks xmlns:a="http://schemas.openxmlformats.org/drawingml/2006/main" noGrp="1"/>
          </p:cNvSpPr>
          <p:nvPr/>
        </p:nvSpPr>
        <p:spPr>
          <a:xfrm xmlns:a="http://schemas.openxmlformats.org/drawingml/2006/main">
            <a:off x="5334000" y="175260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RESPONSE</a:t>
            </a:r>
          </a:p>
        </p:txBody>
      </p:sp>
      <p:sp>
        <p:nvSpPr>
          <p:cNvPr id="12" name="">
            <a:extLst xmlns:a="http://schemas.openxmlformats.org/drawingml/2006/main">
              <a:ext uri="{FF2B5EF4-FFF2-40B4-BE49-F238E27FC236}">
                <a16:creationId xmlns:a16="http://schemas.microsoft.com/office/drawing/2014/main" id="{E47ADE74-19CD-442A-82E4-B21AA1B7E2B7}"/>
              </a:ext>
            </a:extLst>
          </p:cNvPr>
          <p:cNvSpPr>
            <a:spLocks xmlns:a="http://schemas.openxmlformats.org/drawingml/2006/main" noGrp="1"/>
          </p:cNvSpPr>
          <p:nvPr/>
        </p:nvSpPr>
        <p:spPr>
          <a:xfrm xmlns:a="http://schemas.openxmlformats.org/drawingml/2006/main">
            <a:off x="7429500" y="17526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PRACTICAL ACTION</a:t>
            </a:r>
          </a:p>
        </p:txBody>
      </p:sp>
      <p:sp>
        <p:nvSpPr>
          <p:cNvPr id="13" name="">
            <a:extLst xmlns:a="http://schemas.openxmlformats.org/drawingml/2006/main">
              <a:ext uri="{FF2B5EF4-FFF2-40B4-BE49-F238E27FC236}">
                <a16:creationId xmlns:a16="http://schemas.microsoft.com/office/drawing/2014/main" id="{9F6650B0-A732-493B-943B-5686E67DA50E}"/>
              </a:ext>
            </a:extLst>
          </p:cNvPr>
          <p:cNvSpPr>
            <a:spLocks xmlns:a="http://schemas.openxmlformats.org/drawingml/2006/main" noGrp="1"/>
          </p:cNvSpPr>
          <p:nvPr/>
        </p:nvSpPr>
        <p:spPr>
          <a:xfrm xmlns:a="http://schemas.openxmlformats.org/drawingml/2006/main">
            <a:off x="762000" y="2152650"/>
            <a:ext cx="95250" cy="3714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E7D775D-9ECE-44B6-AA76-9041707A70AF}"/>
              </a:ext>
            </a:extLst>
          </p:cNvPr>
          <p:cNvSpPr>
            <a:spLocks xmlns:a="http://schemas.openxmlformats.org/drawingml/2006/main" noGrp="1"/>
          </p:cNvSpPr>
          <p:nvPr/>
        </p:nvSpPr>
        <p:spPr>
          <a:xfrm xmlns:a="http://schemas.openxmlformats.org/drawingml/2006/main">
            <a:off x="1009650" y="21336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INTERNAL VARIABILITY</a:t>
            </a:r>
          </a:p>
        </p:txBody>
      </p:sp>
      <p:sp>
        <p:nvSpPr>
          <p:cNvPr id="15" name="">
            <a:extLst xmlns:a="http://schemas.openxmlformats.org/drawingml/2006/main">
              <a:ext uri="{FF2B5EF4-FFF2-40B4-BE49-F238E27FC236}">
                <a16:creationId xmlns:a16="http://schemas.microsoft.com/office/drawing/2014/main" id="{149A0B81-5B55-4F0A-BC06-269E5135BAB6}"/>
              </a:ext>
            </a:extLst>
          </p:cNvPr>
          <p:cNvSpPr>
            <a:spLocks xmlns:a="http://schemas.openxmlformats.org/drawingml/2006/main" noGrp="1"/>
          </p:cNvSpPr>
          <p:nvPr/>
        </p:nvSpPr>
        <p:spPr>
          <a:xfrm xmlns:a="http://schemas.openxmlformats.org/drawingml/2006/main">
            <a:off x="3429000" y="21336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Intrinsic</a:t>
            </a:r>
          </a:p>
        </p:txBody>
      </p:sp>
      <p:sp>
        <p:nvSpPr>
          <p:cNvPr id="16" name="">
            <a:extLst xmlns:a="http://schemas.openxmlformats.org/drawingml/2006/main">
              <a:ext uri="{FF2B5EF4-FFF2-40B4-BE49-F238E27FC236}">
                <a16:creationId xmlns:a16="http://schemas.microsoft.com/office/drawing/2014/main" id="{F3D44C53-4E1F-408C-B7C6-5C56ABFDB7EE}"/>
              </a:ext>
            </a:extLst>
          </p:cNvPr>
          <p:cNvSpPr>
            <a:spLocks xmlns:a="http://schemas.openxmlformats.org/drawingml/2006/main" noGrp="1"/>
          </p:cNvSpPr>
          <p:nvPr/>
        </p:nvSpPr>
        <p:spPr>
          <a:xfrm xmlns:a="http://schemas.openxmlformats.org/drawingml/2006/main">
            <a:off x="5334000" y="21336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00A88F"/>
                </a:solidFill>
                <a:latin typeface="Lato"/>
                <a:ea typeface="Lato"/>
                <a:cs typeface="Lato"/>
              </a:defRPr>
            </a:pPr>
            <a:r>
              <a:rPr sz="1200" b="1" i="0">
                <a:solidFill>
                  <a:srgbClr val="00A88F"/>
                </a:solidFill>
                <a:latin typeface="Lato"/>
                <a:ea typeface="Lato"/>
                <a:cs typeface="Lato"/>
              </a:rPr>
              <a:t>Represent</a:t>
            </a:r>
          </a:p>
        </p:txBody>
      </p:sp>
      <p:sp>
        <p:nvSpPr>
          <p:cNvPr id="17" name="">
            <a:extLst xmlns:a="http://schemas.openxmlformats.org/drawingml/2006/main">
              <a:ext uri="{FF2B5EF4-FFF2-40B4-BE49-F238E27FC236}">
                <a16:creationId xmlns:a16="http://schemas.microsoft.com/office/drawing/2014/main" id="{EAC755D1-85CA-45E6-8A2B-94C028095D03}"/>
              </a:ext>
            </a:extLst>
          </p:cNvPr>
          <p:cNvSpPr>
            <a:spLocks xmlns:a="http://schemas.openxmlformats.org/drawingml/2006/main" noGrp="1"/>
          </p:cNvSpPr>
          <p:nvPr/>
        </p:nvSpPr>
        <p:spPr>
          <a:xfrm xmlns:a="http://schemas.openxmlformats.org/drawingml/2006/main">
            <a:off x="7429500" y="21145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Use multiple initial-condition members</a:t>
            </a:r>
          </a:p>
        </p:txBody>
      </p:sp>
      <p:sp>
        <p:nvSpPr>
          <p:cNvPr id="18" name="">
            <a:extLst xmlns:a="http://schemas.openxmlformats.org/drawingml/2006/main">
              <a:ext uri="{FF2B5EF4-FFF2-40B4-BE49-F238E27FC236}">
                <a16:creationId xmlns:a16="http://schemas.microsoft.com/office/drawing/2014/main" id="{DF648E43-7DA1-4223-A03C-7445BACD0E9A}"/>
              </a:ext>
            </a:extLst>
          </p:cNvPr>
          <p:cNvSpPr>
            <a:spLocks xmlns:a="http://schemas.openxmlformats.org/drawingml/2006/main" noGrp="1"/>
          </p:cNvSpPr>
          <p:nvPr/>
        </p:nvSpPr>
        <p:spPr>
          <a:xfrm xmlns:a="http://schemas.openxmlformats.org/drawingml/2006/main">
            <a:off x="1009650" y="26193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D0C9C8C-75E3-45ED-95E6-11C86BE2FD2A}"/>
              </a:ext>
            </a:extLst>
          </p:cNvPr>
          <p:cNvSpPr>
            <a:spLocks xmlns:a="http://schemas.openxmlformats.org/drawingml/2006/main" noGrp="1"/>
          </p:cNvSpPr>
          <p:nvPr/>
        </p:nvSpPr>
        <p:spPr>
          <a:xfrm xmlns:a="http://schemas.openxmlformats.org/drawingml/2006/main">
            <a:off x="762000" y="2743200"/>
            <a:ext cx="95250" cy="371475"/>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0460AD2-91A1-4F8E-9A2C-33D6B91F5926}"/>
              </a:ext>
            </a:extLst>
          </p:cNvPr>
          <p:cNvSpPr>
            <a:spLocks xmlns:a="http://schemas.openxmlformats.org/drawingml/2006/main" noGrp="1"/>
          </p:cNvSpPr>
          <p:nvPr/>
        </p:nvSpPr>
        <p:spPr>
          <a:xfrm xmlns:a="http://schemas.openxmlformats.org/drawingml/2006/main">
            <a:off x="1009650" y="27241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SCENARIO</a:t>
            </a:r>
          </a:p>
        </p:txBody>
      </p:sp>
      <p:sp>
        <p:nvSpPr>
          <p:cNvPr id="21" name="">
            <a:extLst xmlns:a="http://schemas.openxmlformats.org/drawingml/2006/main">
              <a:ext uri="{FF2B5EF4-FFF2-40B4-BE49-F238E27FC236}">
                <a16:creationId xmlns:a16="http://schemas.microsoft.com/office/drawing/2014/main" id="{624C2538-177C-4920-AF82-49F51F0FBFF0}"/>
              </a:ext>
            </a:extLst>
          </p:cNvPr>
          <p:cNvSpPr>
            <a:spLocks xmlns:a="http://schemas.openxmlformats.org/drawingml/2006/main" noGrp="1"/>
          </p:cNvSpPr>
          <p:nvPr/>
        </p:nvSpPr>
        <p:spPr>
          <a:xfrm xmlns:a="http://schemas.openxmlformats.org/drawingml/2006/main">
            <a:off x="3429000" y="2724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Conditional</a:t>
            </a:r>
          </a:p>
        </p:txBody>
      </p:sp>
      <p:sp>
        <p:nvSpPr>
          <p:cNvPr id="22" name="">
            <a:extLst xmlns:a="http://schemas.openxmlformats.org/drawingml/2006/main">
              <a:ext uri="{FF2B5EF4-FFF2-40B4-BE49-F238E27FC236}">
                <a16:creationId xmlns:a16="http://schemas.microsoft.com/office/drawing/2014/main" id="{13436D23-CDF6-41E7-94DB-5EF391D77354}"/>
              </a:ext>
            </a:extLst>
          </p:cNvPr>
          <p:cNvSpPr>
            <a:spLocks xmlns:a="http://schemas.openxmlformats.org/drawingml/2006/main" noGrp="1"/>
          </p:cNvSpPr>
          <p:nvPr/>
        </p:nvSpPr>
        <p:spPr>
          <a:xfrm xmlns:a="http://schemas.openxmlformats.org/drawingml/2006/main">
            <a:off x="5334000" y="27241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C95C54"/>
                </a:solidFill>
                <a:latin typeface="Lato"/>
                <a:ea typeface="Lato"/>
                <a:cs typeface="Lato"/>
              </a:defRPr>
            </a:pPr>
            <a:r>
              <a:rPr sz="1200" b="1" i="0">
                <a:solidFill>
                  <a:srgbClr val="C95C54"/>
                </a:solidFill>
                <a:latin typeface="Lato"/>
                <a:ea typeface="Lato"/>
                <a:cs typeface="Lato"/>
              </a:rPr>
              <a:t>Explore</a:t>
            </a:r>
          </a:p>
        </p:txBody>
      </p:sp>
      <p:sp>
        <p:nvSpPr>
          <p:cNvPr id="23" name="">
            <a:extLst xmlns:a="http://schemas.openxmlformats.org/drawingml/2006/main">
              <a:ext uri="{FF2B5EF4-FFF2-40B4-BE49-F238E27FC236}">
                <a16:creationId xmlns:a16="http://schemas.microsoft.com/office/drawing/2014/main" id="{1A11B811-1D3B-4D9B-A26B-2FBF54193BFA}"/>
              </a:ext>
            </a:extLst>
          </p:cNvPr>
          <p:cNvSpPr>
            <a:spLocks xmlns:a="http://schemas.openxmlformats.org/drawingml/2006/main" noGrp="1"/>
          </p:cNvSpPr>
          <p:nvPr/>
        </p:nvSpPr>
        <p:spPr>
          <a:xfrm xmlns:a="http://schemas.openxmlformats.org/drawingml/2006/main">
            <a:off x="7429500" y="2705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Compare plausible pathways</a:t>
            </a:r>
          </a:p>
        </p:txBody>
      </p:sp>
      <p:sp>
        <p:nvSpPr>
          <p:cNvPr id="24" name="">
            <a:extLst xmlns:a="http://schemas.openxmlformats.org/drawingml/2006/main">
              <a:ext uri="{FF2B5EF4-FFF2-40B4-BE49-F238E27FC236}">
                <a16:creationId xmlns:a16="http://schemas.microsoft.com/office/drawing/2014/main" id="{800DFFCA-FF69-42AD-9957-070D971EF54E}"/>
              </a:ext>
            </a:extLst>
          </p:cNvPr>
          <p:cNvSpPr>
            <a:spLocks xmlns:a="http://schemas.openxmlformats.org/drawingml/2006/main" noGrp="1"/>
          </p:cNvSpPr>
          <p:nvPr/>
        </p:nvSpPr>
        <p:spPr>
          <a:xfrm xmlns:a="http://schemas.openxmlformats.org/drawingml/2006/main">
            <a:off x="1009650" y="320992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C3AE3C8-D4E9-43E4-9762-4085D72922F9}"/>
              </a:ext>
            </a:extLst>
          </p:cNvPr>
          <p:cNvSpPr>
            <a:spLocks xmlns:a="http://schemas.openxmlformats.org/drawingml/2006/main" noGrp="1"/>
          </p:cNvSpPr>
          <p:nvPr/>
        </p:nvSpPr>
        <p:spPr>
          <a:xfrm xmlns:a="http://schemas.openxmlformats.org/drawingml/2006/main">
            <a:off x="762000" y="3333750"/>
            <a:ext cx="95250" cy="3714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C2C6FCC-682B-4977-B3CB-E2ACD64EC4C1}"/>
              </a:ext>
            </a:extLst>
          </p:cNvPr>
          <p:cNvSpPr>
            <a:spLocks xmlns:a="http://schemas.openxmlformats.org/drawingml/2006/main" noGrp="1"/>
          </p:cNvSpPr>
          <p:nvPr/>
        </p:nvSpPr>
        <p:spPr>
          <a:xfrm xmlns:a="http://schemas.openxmlformats.org/drawingml/2006/main">
            <a:off x="1009650" y="33147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MODEL RESPONSE</a:t>
            </a:r>
          </a:p>
        </p:txBody>
      </p:sp>
      <p:sp>
        <p:nvSpPr>
          <p:cNvPr id="27" name="">
            <a:extLst xmlns:a="http://schemas.openxmlformats.org/drawingml/2006/main">
              <a:ext uri="{FF2B5EF4-FFF2-40B4-BE49-F238E27FC236}">
                <a16:creationId xmlns:a16="http://schemas.microsoft.com/office/drawing/2014/main" id="{44A1C708-8DCD-4C05-9F44-FEAEAA4B80C4}"/>
              </a:ext>
            </a:extLst>
          </p:cNvPr>
          <p:cNvSpPr>
            <a:spLocks xmlns:a="http://schemas.openxmlformats.org/drawingml/2006/main" noGrp="1"/>
          </p:cNvSpPr>
          <p:nvPr/>
        </p:nvSpPr>
        <p:spPr>
          <a:xfrm xmlns:a="http://schemas.openxmlformats.org/drawingml/2006/main">
            <a:off x="3429000" y="33147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Structural</a:t>
            </a:r>
          </a:p>
        </p:txBody>
      </p:sp>
      <p:sp>
        <p:nvSpPr>
          <p:cNvPr id="28" name="">
            <a:extLst xmlns:a="http://schemas.openxmlformats.org/drawingml/2006/main">
              <a:ext uri="{FF2B5EF4-FFF2-40B4-BE49-F238E27FC236}">
                <a16:creationId xmlns:a16="http://schemas.microsoft.com/office/drawing/2014/main" id="{E47B8510-0536-4E00-97CB-7639A61352A6}"/>
              </a:ext>
            </a:extLst>
          </p:cNvPr>
          <p:cNvSpPr>
            <a:spLocks xmlns:a="http://schemas.openxmlformats.org/drawingml/2006/main" noGrp="1"/>
          </p:cNvSpPr>
          <p:nvPr/>
        </p:nvSpPr>
        <p:spPr>
          <a:xfrm xmlns:a="http://schemas.openxmlformats.org/drawingml/2006/main">
            <a:off x="5334000" y="33147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F2B632"/>
                </a:solidFill>
                <a:latin typeface="Lato"/>
                <a:ea typeface="Lato"/>
                <a:cs typeface="Lato"/>
              </a:defRPr>
            </a:pPr>
            <a:r>
              <a:rPr sz="1200" b="1" i="0">
                <a:solidFill>
                  <a:srgbClr val="F2B632"/>
                </a:solidFill>
                <a:latin typeface="Lato"/>
                <a:ea typeface="Lato"/>
                <a:cs typeface="Lato"/>
              </a:rPr>
              <a:t>Compare</a:t>
            </a:r>
          </a:p>
        </p:txBody>
      </p:sp>
      <p:sp>
        <p:nvSpPr>
          <p:cNvPr id="29" name="">
            <a:extLst xmlns:a="http://schemas.openxmlformats.org/drawingml/2006/main">
              <a:ext uri="{FF2B5EF4-FFF2-40B4-BE49-F238E27FC236}">
                <a16:creationId xmlns:a16="http://schemas.microsoft.com/office/drawing/2014/main" id="{D96465D0-C943-42EE-858E-55B40CBE7D38}"/>
              </a:ext>
            </a:extLst>
          </p:cNvPr>
          <p:cNvSpPr>
            <a:spLocks xmlns:a="http://schemas.openxmlformats.org/drawingml/2006/main" noGrp="1"/>
          </p:cNvSpPr>
          <p:nvPr/>
        </p:nvSpPr>
        <p:spPr>
          <a:xfrm xmlns:a="http://schemas.openxmlformats.org/drawingml/2006/main">
            <a:off x="7429500" y="32956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Use an evaluated multi-model ensemble</a:t>
            </a:r>
          </a:p>
        </p:txBody>
      </p:sp>
      <p:sp>
        <p:nvSpPr>
          <p:cNvPr id="30" name="">
            <a:extLst xmlns:a="http://schemas.openxmlformats.org/drawingml/2006/main">
              <a:ext uri="{FF2B5EF4-FFF2-40B4-BE49-F238E27FC236}">
                <a16:creationId xmlns:a16="http://schemas.microsoft.com/office/drawing/2014/main" id="{E687B9B0-1892-4D11-AD6D-716A95B49E26}"/>
              </a:ext>
            </a:extLst>
          </p:cNvPr>
          <p:cNvSpPr>
            <a:spLocks xmlns:a="http://schemas.openxmlformats.org/drawingml/2006/main" noGrp="1"/>
          </p:cNvSpPr>
          <p:nvPr/>
        </p:nvSpPr>
        <p:spPr>
          <a:xfrm xmlns:a="http://schemas.openxmlformats.org/drawingml/2006/main">
            <a:off x="1009650" y="38004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65258B1-86D2-4536-9672-6A0666CFAD65}"/>
              </a:ext>
            </a:extLst>
          </p:cNvPr>
          <p:cNvSpPr>
            <a:spLocks xmlns:a="http://schemas.openxmlformats.org/drawingml/2006/main" noGrp="1"/>
          </p:cNvSpPr>
          <p:nvPr/>
        </p:nvSpPr>
        <p:spPr>
          <a:xfrm xmlns:a="http://schemas.openxmlformats.org/drawingml/2006/main">
            <a:off x="762000" y="3924300"/>
            <a:ext cx="95250" cy="3714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6504166-F568-4FC9-8B14-09C6175AFC8F}"/>
              </a:ext>
            </a:extLst>
          </p:cNvPr>
          <p:cNvSpPr>
            <a:spLocks xmlns:a="http://schemas.openxmlformats.org/drawingml/2006/main" noGrp="1"/>
          </p:cNvSpPr>
          <p:nvPr/>
        </p:nvSpPr>
        <p:spPr>
          <a:xfrm xmlns:a="http://schemas.openxmlformats.org/drawingml/2006/main">
            <a:off x="1009650" y="39052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GCM–RCM CHAIN</a:t>
            </a:r>
          </a:p>
        </p:txBody>
      </p:sp>
      <p:sp>
        <p:nvSpPr>
          <p:cNvPr id="33" name="">
            <a:extLst xmlns:a="http://schemas.openxmlformats.org/drawingml/2006/main">
              <a:ext uri="{FF2B5EF4-FFF2-40B4-BE49-F238E27FC236}">
                <a16:creationId xmlns:a16="http://schemas.microsoft.com/office/drawing/2014/main" id="{AEDF7D14-84DA-489E-A929-C4DD82EDCC31}"/>
              </a:ext>
            </a:extLst>
          </p:cNvPr>
          <p:cNvSpPr>
            <a:spLocks xmlns:a="http://schemas.openxmlformats.org/drawingml/2006/main" noGrp="1"/>
          </p:cNvSpPr>
          <p:nvPr/>
        </p:nvSpPr>
        <p:spPr>
          <a:xfrm xmlns:a="http://schemas.openxmlformats.org/drawingml/2006/main">
            <a:off x="3429000" y="39052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Structural</a:t>
            </a:r>
          </a:p>
        </p:txBody>
      </p:sp>
      <p:sp>
        <p:nvSpPr>
          <p:cNvPr id="34" name="">
            <a:extLst xmlns:a="http://schemas.openxmlformats.org/drawingml/2006/main">
              <a:ext uri="{FF2B5EF4-FFF2-40B4-BE49-F238E27FC236}">
                <a16:creationId xmlns:a16="http://schemas.microsoft.com/office/drawing/2014/main" id="{ACA4E88E-314C-4CE0-B015-33FACD071B43}"/>
              </a:ext>
            </a:extLst>
          </p:cNvPr>
          <p:cNvSpPr>
            <a:spLocks xmlns:a="http://schemas.openxmlformats.org/drawingml/2006/main" noGrp="1"/>
          </p:cNvSpPr>
          <p:nvPr/>
        </p:nvSpPr>
        <p:spPr>
          <a:xfrm xmlns:a="http://schemas.openxmlformats.org/drawingml/2006/main">
            <a:off x="5334000" y="39052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Compare</a:t>
            </a:r>
          </a:p>
        </p:txBody>
      </p:sp>
      <p:sp>
        <p:nvSpPr>
          <p:cNvPr id="35" name="">
            <a:extLst xmlns:a="http://schemas.openxmlformats.org/drawingml/2006/main">
              <a:ext uri="{FF2B5EF4-FFF2-40B4-BE49-F238E27FC236}">
                <a16:creationId xmlns:a16="http://schemas.microsoft.com/office/drawing/2014/main" id="{15FB31C3-0201-4F13-BE38-FED4A121E1AC}"/>
              </a:ext>
            </a:extLst>
          </p:cNvPr>
          <p:cNvSpPr>
            <a:spLocks xmlns:a="http://schemas.openxmlformats.org/drawingml/2006/main" noGrp="1"/>
          </p:cNvSpPr>
          <p:nvPr/>
        </p:nvSpPr>
        <p:spPr>
          <a:xfrm xmlns:a="http://schemas.openxmlformats.org/drawingml/2006/main">
            <a:off x="7429500" y="38862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Sample driving and regional models</a:t>
            </a:r>
          </a:p>
        </p:txBody>
      </p:sp>
      <p:sp>
        <p:nvSpPr>
          <p:cNvPr id="36" name="">
            <a:extLst xmlns:a="http://schemas.openxmlformats.org/drawingml/2006/main">
              <a:ext uri="{FF2B5EF4-FFF2-40B4-BE49-F238E27FC236}">
                <a16:creationId xmlns:a16="http://schemas.microsoft.com/office/drawing/2014/main" id="{0246E6E2-8496-4AFC-8C01-33BBDBA90D21}"/>
              </a:ext>
            </a:extLst>
          </p:cNvPr>
          <p:cNvSpPr>
            <a:spLocks xmlns:a="http://schemas.openxmlformats.org/drawingml/2006/main" noGrp="1"/>
          </p:cNvSpPr>
          <p:nvPr/>
        </p:nvSpPr>
        <p:spPr>
          <a:xfrm xmlns:a="http://schemas.openxmlformats.org/drawingml/2006/main">
            <a:off x="1009650" y="439102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C65482E-71BA-4489-84CC-97619690F982}"/>
              </a:ext>
            </a:extLst>
          </p:cNvPr>
          <p:cNvSpPr>
            <a:spLocks xmlns:a="http://schemas.openxmlformats.org/drawingml/2006/main" noGrp="1"/>
          </p:cNvSpPr>
          <p:nvPr/>
        </p:nvSpPr>
        <p:spPr>
          <a:xfrm xmlns:a="http://schemas.openxmlformats.org/drawingml/2006/main">
            <a:off x="762000" y="4514850"/>
            <a:ext cx="95250" cy="371475"/>
          </a:xfrm>
          <a:prstGeom xmlns:a="http://schemas.openxmlformats.org/drawingml/2006/main" prst="rect">
            <a:avLst/>
          </a:prstGeom>
          <a:solidFill xmlns:a="http://schemas.openxmlformats.org/drawingml/2006/main">
            <a:srgbClr val="008D7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F5291B3-8A7B-4AEA-B8FF-5B101EEE8D85}"/>
              </a:ext>
            </a:extLst>
          </p:cNvPr>
          <p:cNvSpPr>
            <a:spLocks xmlns:a="http://schemas.openxmlformats.org/drawingml/2006/main" noGrp="1"/>
          </p:cNvSpPr>
          <p:nvPr/>
        </p:nvSpPr>
        <p:spPr>
          <a:xfrm xmlns:a="http://schemas.openxmlformats.org/drawingml/2006/main">
            <a:off x="1009650" y="44958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SYSTEMATIC BIAS</a:t>
            </a:r>
          </a:p>
        </p:txBody>
      </p:sp>
      <p:sp>
        <p:nvSpPr>
          <p:cNvPr id="39" name="">
            <a:extLst xmlns:a="http://schemas.openxmlformats.org/drawingml/2006/main">
              <a:ext uri="{FF2B5EF4-FFF2-40B4-BE49-F238E27FC236}">
                <a16:creationId xmlns:a16="http://schemas.microsoft.com/office/drawing/2014/main" id="{83E4304C-79C8-44A4-B9AF-7F5DF6A6B890}"/>
              </a:ext>
            </a:extLst>
          </p:cNvPr>
          <p:cNvSpPr>
            <a:spLocks xmlns:a="http://schemas.openxmlformats.org/drawingml/2006/main" noGrp="1"/>
          </p:cNvSpPr>
          <p:nvPr/>
        </p:nvSpPr>
        <p:spPr>
          <a:xfrm xmlns:a="http://schemas.openxmlformats.org/drawingml/2006/main">
            <a:off x="3429000" y="44958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Partly adjustable</a:t>
            </a:r>
          </a:p>
        </p:txBody>
      </p:sp>
      <p:sp>
        <p:nvSpPr>
          <p:cNvPr id="40" name="">
            <a:extLst xmlns:a="http://schemas.openxmlformats.org/drawingml/2006/main">
              <a:ext uri="{FF2B5EF4-FFF2-40B4-BE49-F238E27FC236}">
                <a16:creationId xmlns:a16="http://schemas.microsoft.com/office/drawing/2014/main" id="{F0206815-DB87-4DC6-A318-5F966FCFD639}"/>
              </a:ext>
            </a:extLst>
          </p:cNvPr>
          <p:cNvSpPr>
            <a:spLocks xmlns:a="http://schemas.openxmlformats.org/drawingml/2006/main" noGrp="1"/>
          </p:cNvSpPr>
          <p:nvPr/>
        </p:nvSpPr>
        <p:spPr>
          <a:xfrm xmlns:a="http://schemas.openxmlformats.org/drawingml/2006/main">
            <a:off x="5334000" y="44958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008D7A"/>
                </a:solidFill>
                <a:latin typeface="Lato"/>
                <a:ea typeface="Lato"/>
                <a:cs typeface="Lato"/>
              </a:defRPr>
            </a:pPr>
            <a:r>
              <a:rPr sz="1200" b="1" i="0">
                <a:solidFill>
                  <a:srgbClr val="008D7A"/>
                </a:solidFill>
                <a:latin typeface="Lato"/>
                <a:ea typeface="Lato"/>
                <a:cs typeface="Lato"/>
              </a:rPr>
              <a:t>Adjust carefully</a:t>
            </a:r>
          </a:p>
        </p:txBody>
      </p:sp>
      <p:sp>
        <p:nvSpPr>
          <p:cNvPr id="41" name="">
            <a:extLst xmlns:a="http://schemas.openxmlformats.org/drawingml/2006/main">
              <a:ext uri="{FF2B5EF4-FFF2-40B4-BE49-F238E27FC236}">
                <a16:creationId xmlns:a16="http://schemas.microsoft.com/office/drawing/2014/main" id="{D92FB4E5-45B6-4EBF-9307-74BD7143AE1E}"/>
              </a:ext>
            </a:extLst>
          </p:cNvPr>
          <p:cNvSpPr>
            <a:spLocks xmlns:a="http://schemas.openxmlformats.org/drawingml/2006/main" noGrp="1"/>
          </p:cNvSpPr>
          <p:nvPr/>
        </p:nvSpPr>
        <p:spPr>
          <a:xfrm xmlns:a="http://schemas.openxmlformats.org/drawingml/2006/main">
            <a:off x="7429500" y="4476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Validate the method and retain caveats</a:t>
            </a:r>
          </a:p>
        </p:txBody>
      </p:sp>
      <p:sp>
        <p:nvSpPr>
          <p:cNvPr id="42" name="">
            <a:extLst xmlns:a="http://schemas.openxmlformats.org/drawingml/2006/main">
              <a:ext uri="{FF2B5EF4-FFF2-40B4-BE49-F238E27FC236}">
                <a16:creationId xmlns:a16="http://schemas.microsoft.com/office/drawing/2014/main" id="{65C41267-A6AF-4EC3-A875-31582071858D}"/>
              </a:ext>
            </a:extLst>
          </p:cNvPr>
          <p:cNvSpPr>
            <a:spLocks xmlns:a="http://schemas.openxmlformats.org/drawingml/2006/main" noGrp="1"/>
          </p:cNvSpPr>
          <p:nvPr/>
        </p:nvSpPr>
        <p:spPr>
          <a:xfrm xmlns:a="http://schemas.openxmlformats.org/drawingml/2006/main">
            <a:off x="1009650" y="49815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1DBD6C6-2E3A-4897-B322-86E8DA33F58F}"/>
              </a:ext>
            </a:extLst>
          </p:cNvPr>
          <p:cNvSpPr>
            <a:spLocks xmlns:a="http://schemas.openxmlformats.org/drawingml/2006/main" noGrp="1"/>
          </p:cNvSpPr>
          <p:nvPr/>
        </p:nvSpPr>
        <p:spPr>
          <a:xfrm xmlns:a="http://schemas.openxmlformats.org/drawingml/2006/main">
            <a:off x="762000" y="5105400"/>
            <a:ext cx="95250" cy="371475"/>
          </a:xfrm>
          <a:prstGeom xmlns:a="http://schemas.openxmlformats.org/drawingml/2006/main" prst="rect">
            <a:avLst/>
          </a:prstGeom>
          <a:solidFill xmlns:a="http://schemas.openxmlformats.org/drawingml/2006/main">
            <a:srgbClr val="68798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D26DB4A-8245-44AF-B5DF-FC34082EE0C2}"/>
              </a:ext>
            </a:extLst>
          </p:cNvPr>
          <p:cNvSpPr>
            <a:spLocks xmlns:a="http://schemas.openxmlformats.org/drawingml/2006/main" noGrp="1"/>
          </p:cNvSpPr>
          <p:nvPr/>
        </p:nvSpPr>
        <p:spPr>
          <a:xfrm xmlns:a="http://schemas.openxmlformats.org/drawingml/2006/main">
            <a:off x="1009650" y="50863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REFERENCE DATA</a:t>
            </a:r>
          </a:p>
        </p:txBody>
      </p:sp>
      <p:sp>
        <p:nvSpPr>
          <p:cNvPr id="45" name="">
            <a:extLst xmlns:a="http://schemas.openxmlformats.org/drawingml/2006/main">
              <a:ext uri="{FF2B5EF4-FFF2-40B4-BE49-F238E27FC236}">
                <a16:creationId xmlns:a16="http://schemas.microsoft.com/office/drawing/2014/main" id="{315E51AF-F202-4607-8708-B8B05455854E}"/>
              </a:ext>
            </a:extLst>
          </p:cNvPr>
          <p:cNvSpPr>
            <a:spLocks xmlns:a="http://schemas.openxmlformats.org/drawingml/2006/main" noGrp="1"/>
          </p:cNvSpPr>
          <p:nvPr/>
        </p:nvSpPr>
        <p:spPr>
          <a:xfrm xmlns:a="http://schemas.openxmlformats.org/drawingml/2006/main">
            <a:off x="3429000" y="50863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Observed uncertainty</a:t>
            </a:r>
          </a:p>
        </p:txBody>
      </p:sp>
      <p:sp>
        <p:nvSpPr>
          <p:cNvPr id="46" name="">
            <a:extLst xmlns:a="http://schemas.openxmlformats.org/drawingml/2006/main">
              <a:ext uri="{FF2B5EF4-FFF2-40B4-BE49-F238E27FC236}">
                <a16:creationId xmlns:a16="http://schemas.microsoft.com/office/drawing/2014/main" id="{DFAE2904-7585-462F-912D-0B1B04A436DB}"/>
              </a:ext>
            </a:extLst>
          </p:cNvPr>
          <p:cNvSpPr>
            <a:spLocks xmlns:a="http://schemas.openxmlformats.org/drawingml/2006/main" noGrp="1"/>
          </p:cNvSpPr>
          <p:nvPr/>
        </p:nvSpPr>
        <p:spPr>
          <a:xfrm xmlns:a="http://schemas.openxmlformats.org/drawingml/2006/main">
            <a:off x="5334000" y="50863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687984"/>
                </a:solidFill>
                <a:latin typeface="Lato"/>
                <a:ea typeface="Lato"/>
                <a:cs typeface="Lato"/>
              </a:defRPr>
            </a:pPr>
            <a:r>
              <a:rPr sz="1200" b="1" i="0">
                <a:solidFill>
                  <a:srgbClr val="687984"/>
                </a:solidFill>
                <a:latin typeface="Lato"/>
                <a:ea typeface="Lato"/>
                <a:cs typeface="Lato"/>
              </a:rPr>
              <a:t>Test sensitivity</a:t>
            </a:r>
          </a:p>
        </p:txBody>
      </p:sp>
      <p:sp>
        <p:nvSpPr>
          <p:cNvPr id="47" name="">
            <a:extLst xmlns:a="http://schemas.openxmlformats.org/drawingml/2006/main">
              <a:ext uri="{FF2B5EF4-FFF2-40B4-BE49-F238E27FC236}">
                <a16:creationId xmlns:a16="http://schemas.microsoft.com/office/drawing/2014/main" id="{978633A7-0804-44A1-A66B-EFC228049979}"/>
              </a:ext>
            </a:extLst>
          </p:cNvPr>
          <p:cNvSpPr>
            <a:spLocks xmlns:a="http://schemas.openxmlformats.org/drawingml/2006/main" noGrp="1"/>
          </p:cNvSpPr>
          <p:nvPr/>
        </p:nvSpPr>
        <p:spPr>
          <a:xfrm xmlns:a="http://schemas.openxmlformats.org/drawingml/2006/main">
            <a:off x="7429500" y="50673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Compare suitable observation or reanalysis products</a:t>
            </a:r>
          </a:p>
        </p:txBody>
      </p:sp>
      <p:sp>
        <p:nvSpPr>
          <p:cNvPr id="48" name="">
            <a:extLst xmlns:a="http://schemas.openxmlformats.org/drawingml/2006/main">
              <a:ext uri="{FF2B5EF4-FFF2-40B4-BE49-F238E27FC236}">
                <a16:creationId xmlns:a16="http://schemas.microsoft.com/office/drawing/2014/main" id="{ADD3F99F-8DCB-49A1-83E1-F28FA1EA2F7D}"/>
              </a:ext>
            </a:extLst>
          </p:cNvPr>
          <p:cNvSpPr>
            <a:spLocks xmlns:a="http://schemas.openxmlformats.org/drawingml/2006/main" noGrp="1"/>
          </p:cNvSpPr>
          <p:nvPr/>
        </p:nvSpPr>
        <p:spPr>
          <a:xfrm xmlns:a="http://schemas.openxmlformats.org/drawingml/2006/main">
            <a:off x="762000" y="5743575"/>
            <a:ext cx="10382250" cy="3238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3C6F4995-1CA4-4F20-8B40-9C1D05D4F1B1}"/>
              </a:ext>
            </a:extLst>
          </p:cNvPr>
          <p:cNvSpPr>
            <a:spLocks xmlns:a="http://schemas.openxmlformats.org/drawingml/2006/main" noGrp="1"/>
          </p:cNvSpPr>
          <p:nvPr/>
        </p:nvSpPr>
        <p:spPr>
          <a:xfrm xmlns:a="http://schemas.openxmlformats.org/drawingml/2006/main">
            <a:off x="952500" y="58007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Keep the variability that represents plausible outcomes. Correct only diagnosed, method-specific bias.</a:t>
            </a:r>
          </a:p>
        </p:txBody>
      </p:sp>
    </p:spTree>
    <p:extLst>
      <p:ext uri="{BB962C8B-B14F-4D97-AF65-F5344CB8AC3E}">
        <p14:creationId xmlns:p14="http://schemas.microsoft.com/office/powerpoint/2010/main" val="623164409"/>
      </p:ext>
    </p:extLst>
  </p:cSld>
</p:sld>
</file>

<file path=ppt/slides/slide1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487" name="Google Shape;487;p18">
            <a:extLst xmlns:a="http://schemas.openxmlformats.org/drawingml/2006/main">
              <a:ext uri="{FF2B5EF4-FFF2-40B4-BE49-F238E27FC236}">
                <a16:creationId xmlns:a16="http://schemas.microsoft.com/office/drawing/2014/main" id="{9525B984-B157-4BEE-AF33-5927E64F8A8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8" name="Google Shape;488;p18">
            <a:extLst xmlns:a="http://schemas.openxmlformats.org/drawingml/2006/main">
              <a:ext uri="{FF2B5EF4-FFF2-40B4-BE49-F238E27FC236}">
                <a16:creationId xmlns:a16="http://schemas.microsoft.com/office/drawing/2014/main" id="{0CF28313-1F19-4644-B889-E82A77838966}"/>
              </a:ext>
            </a:extLst>
          </p:cNvPr>
          <p:cNvSpPr>
            <a:spLocks xmlns:a="http://schemas.openxmlformats.org/drawingml/2006/main" noGrp="1"/>
          </p:cNvSpPr>
          <p:nvPr/>
        </p:nvSpPr>
        <p:spPr>
          <a:xfrm xmlns:a="http://schemas.openxmlformats.org/drawingml/2006/main">
            <a:off x="762000" y="7620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9" name="Google Shape;489;p18">
            <a:extLst xmlns:a="http://schemas.openxmlformats.org/drawingml/2006/main">
              <a:ext uri="{FF2B5EF4-FFF2-40B4-BE49-F238E27FC236}">
                <a16:creationId xmlns:a16="http://schemas.microsoft.com/office/drawing/2014/main" id="{AC0A16B9-B3AB-4CC5-8983-D1A8430F0B67}"/>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i="0">
                <a:solidFill>
                  <a:srgbClr val="FFFFFF"/>
                </a:solidFill>
                <a:latin typeface="Lato"/>
                <a:ea typeface="Lato"/>
                <a:cs typeface="Lato"/>
              </a:rPr>
              <a:t>Accessing climate data today</a:t>
            </a:r>
            <a:endParaRPr/>
          </a:p>
        </p:txBody>
      </p:sp>
      <p:sp>
        <p:nvSpPr>
          <p:cNvPr id="490" name="Google Shape;490;p18">
            <a:extLst xmlns:a="http://schemas.openxmlformats.org/drawingml/2006/main">
              <a:ext uri="{FF2B5EF4-FFF2-40B4-BE49-F238E27FC236}">
                <a16:creationId xmlns:a16="http://schemas.microsoft.com/office/drawing/2014/main" id="{7D4EDCBF-89E3-4B76-A700-BB5602393C64}"/>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b="0" i="0">
                <a:solidFill>
                  <a:srgbClr val="D7E5EC"/>
                </a:solidFill>
                <a:latin typeface="Lato"/>
                <a:ea typeface="Lato"/>
                <a:cs typeface="Lato"/>
              </a:rPr>
              <a:t>Climate data are available, but users still have to locate, select, retrieve and prepare them before analysis.</a:t>
            </a:r>
            <a:endParaRPr/>
          </a:p>
        </p:txBody>
      </p:sp>
      <p:sp>
        <p:nvSpPr>
          <p:cNvPr id="491" name="Google Shape;491;p18">
            <a:extLst xmlns:a="http://schemas.openxmlformats.org/drawingml/2006/main">
              <a:ext uri="{FF2B5EF4-FFF2-40B4-BE49-F238E27FC236}">
                <a16:creationId xmlns:a16="http://schemas.microsoft.com/office/drawing/2014/main" id="{60F1E1E9-340E-4EA0-8C60-42B204EE8904}"/>
              </a:ext>
            </a:extLst>
          </p:cNvPr>
          <p:cNvSpPr>
            <a:spLocks xmlns:a="http://schemas.openxmlformats.org/drawingml/2006/main" noGrp="1"/>
          </p:cNvSpPr>
          <p:nvPr/>
        </p:nvSpPr>
        <p:spPr>
          <a:xfrm xmlns:a="http://schemas.openxmlformats.org/drawingml/2006/main">
            <a:off x="781050" y="4953000"/>
            <a:ext cx="4000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RICCARDO · 15 MINUTES</a:t>
            </a:r>
            <a:endParaRPr/>
          </a:p>
        </p:txBody>
      </p:sp>
      <p:sp>
        <p:nvSpPr>
          <p:cNvPr id="492" name="Google Shape;492;p18">
            <a:extLst xmlns:a="http://schemas.openxmlformats.org/drawingml/2006/main">
              <a:ext uri="{FF2B5EF4-FFF2-40B4-BE49-F238E27FC236}">
                <a16:creationId xmlns:a16="http://schemas.microsoft.com/office/drawing/2014/main" id="{DFEB86DF-7E2E-4BF5-928F-D45DD41A86D1}"/>
              </a:ext>
            </a:extLst>
          </p:cNvPr>
          <p:cNvSpPr>
            <a:spLocks xmlns:a="http://schemas.openxmlformats.org/drawingml/2006/main" noGrp="1"/>
          </p:cNvSpPr>
          <p:nvPr/>
        </p:nvSpPr>
        <p:spPr>
          <a:xfrm xmlns:a="http://schemas.openxmlformats.org/drawingml/2006/main">
            <a:off x="781050" y="5905500"/>
            <a:ext cx="4953000"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93" name="Google Shape;493;p18">
            <a:extLst xmlns:a="http://schemas.openxmlformats.org/drawingml/2006/main">
              <a:ext uri="{FF2B5EF4-FFF2-40B4-BE49-F238E27FC236}">
                <a16:creationId xmlns:a16="http://schemas.microsoft.com/office/drawing/2014/main" id="{1CB2710E-1E72-431B-84DA-C10F92F43353}"/>
              </a:ext>
            </a:extLst>
          </p:cNvPr>
          <p:cNvSpPr>
            <a:spLocks xmlns:a="http://schemas.openxmlformats.org/drawingml/2006/main" noGrp="1"/>
          </p:cNvSpPr>
          <p:nvPr/>
        </p:nvSpPr>
        <p:spPr>
          <a:xfrm xmlns:a="http://schemas.openxmlformats.org/drawingml/2006/main">
            <a:off x="11049000" y="6324600"/>
            <a:ext cx="571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16</a:t>
            </a:r>
            <a:endParaRPr/>
          </a:p>
        </p:txBody>
      </p:sp>
    </p:spTree>
    <p:extLst>
      <p:ext uri="{BB962C8B-B14F-4D97-AF65-F5344CB8AC3E}">
        <p14:creationId xmlns:p14="http://schemas.microsoft.com/office/powerpoint/2010/main" val="971156254"/>
      </p:ext>
    </p:extLst>
  </p:cSld>
</p:sld>
</file>

<file path=ppt/slides/slide1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9" name="Google Shape;499;p19">
            <a:extLst xmlns:a="http://schemas.openxmlformats.org/drawingml/2006/main">
              <a:ext uri="{FF2B5EF4-FFF2-40B4-BE49-F238E27FC236}">
                <a16:creationId xmlns:a16="http://schemas.microsoft.com/office/drawing/2014/main" id="{C18D33BA-324B-4E8B-865A-820F99D59E61}"/>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a:solidFill>
                  <a:srgbClr val="12304E"/>
                </a:solidFill>
                <a:latin typeface="Lato"/>
                <a:ea typeface="Lato"/>
                <a:cs typeface="Lato"/>
              </a:rPr>
              <a:t>Where climate information is found today</a:t>
            </a:r>
            <a:endParaRPr/>
          </a:p>
        </p:txBody>
      </p:sp>
      <p:sp>
        <p:nvSpPr>
          <p:cNvPr id="500" name="Google Shape;500;p19">
            <a:extLst xmlns:a="http://schemas.openxmlformats.org/drawingml/2006/main">
              <a:ext uri="{FF2B5EF4-FFF2-40B4-BE49-F238E27FC236}">
                <a16:creationId xmlns:a16="http://schemas.microsoft.com/office/drawing/2014/main" id="{EA411FD4-E6BD-4C8B-B139-2C9D0BCCB94E}"/>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data are distributed across catalogues, archives and technical services</a:t>
            </a:r>
            <a:endParaRPr/>
          </a:p>
        </p:txBody>
      </p:sp>
      <p:sp>
        <p:nvSpPr>
          <p:cNvPr id="501" name="Google Shape;501;p19">
            <a:extLst xmlns:a="http://schemas.openxmlformats.org/drawingml/2006/main">
              <a:ext uri="{FF2B5EF4-FFF2-40B4-BE49-F238E27FC236}">
                <a16:creationId xmlns:a16="http://schemas.microsoft.com/office/drawing/2014/main" id="{561098F1-C8BF-456F-8781-BD01CCAC5E36}"/>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2" name="Google Shape;502;p19">
            <a:extLst xmlns:a="http://schemas.openxmlformats.org/drawingml/2006/main">
              <a:ext uri="{FF2B5EF4-FFF2-40B4-BE49-F238E27FC236}">
                <a16:creationId xmlns:a16="http://schemas.microsoft.com/office/drawing/2014/main" id="{C161014E-FBBC-4AFE-980D-6726839E5286}"/>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3" name="Google Shape;503;p19">
            <a:extLst xmlns:a="http://schemas.openxmlformats.org/drawingml/2006/main">
              <a:ext uri="{FF2B5EF4-FFF2-40B4-BE49-F238E27FC236}">
                <a16:creationId xmlns:a16="http://schemas.microsoft.com/office/drawing/2014/main" id="{E34D1826-77B8-420E-9932-246DC0013026}"/>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4" name="Google Shape;504;p19">
            <a:extLst xmlns:a="http://schemas.openxmlformats.org/drawingml/2006/main">
              <a:ext uri="{FF2B5EF4-FFF2-40B4-BE49-F238E27FC236}">
                <a16:creationId xmlns:a16="http://schemas.microsoft.com/office/drawing/2014/main" id="{E0C48682-143D-4A6D-B690-A5BEC7893D3E}"/>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05" name="Google Shape;505;p19">
            <a:extLst xmlns:a="http://schemas.openxmlformats.org/drawingml/2006/main">
              <a:ext uri="{FF2B5EF4-FFF2-40B4-BE49-F238E27FC236}">
                <a16:creationId xmlns:a16="http://schemas.microsoft.com/office/drawing/2014/main" id="{55DC900A-955C-4013-95A3-1D46609C9D31}"/>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17</a:t>
            </a:r>
            <a:endParaRPr/>
          </a:p>
        </p:txBody>
      </p:sp>
      <p:sp>
        <p:nvSpPr>
          <p:cNvPr id="506" name="">
            <a:extLst xmlns:a="http://schemas.openxmlformats.org/drawingml/2006/main">
              <a:ext uri="{FF2B5EF4-FFF2-40B4-BE49-F238E27FC236}">
                <a16:creationId xmlns:a16="http://schemas.microsoft.com/office/drawing/2014/main" id="{D903B788-B193-44F9-8C8A-29B44F08D1AB}"/>
              </a:ext>
            </a:extLst>
          </p:cNvPr>
          <p:cNvSpPr>
            <a:spLocks xmlns:a="http://schemas.openxmlformats.org/drawingml/2006/main" noGrp="1"/>
          </p:cNvSpPr>
          <p:nvPr/>
        </p:nvSpPr>
        <p:spPr>
          <a:xfrm xmlns:a="http://schemas.openxmlformats.org/drawingml/2006/main">
            <a:off x="8191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00A88F"/>
                </a:solidFill>
                <a:latin typeface="Lato"/>
                <a:ea typeface="Lato"/>
                <a:cs typeface="Lato"/>
              </a:defRPr>
            </a:pPr>
            <a:r>
              <a:rPr sz="2550" b="1" i="0">
                <a:solidFill>
                  <a:srgbClr val="00A88F"/>
                </a:solidFill>
                <a:latin typeface="Lato"/>
                <a:ea typeface="Lato"/>
                <a:cs typeface="Lato"/>
              </a:rPr>
              <a:t>01</a:t>
            </a:r>
          </a:p>
        </p:txBody>
      </p:sp>
      <p:sp>
        <p:nvSpPr>
          <p:cNvPr id="507" name="">
            <a:extLst xmlns:a="http://schemas.openxmlformats.org/drawingml/2006/main">
              <a:ext uri="{FF2B5EF4-FFF2-40B4-BE49-F238E27FC236}">
                <a16:creationId xmlns:a16="http://schemas.microsoft.com/office/drawing/2014/main" id="{4E3E6C2B-DA0E-4426-BA9F-62C23797CA25}"/>
              </a:ext>
            </a:extLst>
          </p:cNvPr>
          <p:cNvSpPr>
            <a:spLocks xmlns:a="http://schemas.openxmlformats.org/drawingml/2006/main" noGrp="1"/>
          </p:cNvSpPr>
          <p:nvPr/>
        </p:nvSpPr>
        <p:spPr>
          <a:xfrm xmlns:a="http://schemas.openxmlformats.org/drawingml/2006/main">
            <a:off x="15430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WEB PORTALS</a:t>
            </a:r>
          </a:p>
        </p:txBody>
      </p:sp>
      <p:sp>
        <p:nvSpPr>
          <p:cNvPr id="508" name="">
            <a:extLst xmlns:a="http://schemas.openxmlformats.org/drawingml/2006/main">
              <a:ext uri="{FF2B5EF4-FFF2-40B4-BE49-F238E27FC236}">
                <a16:creationId xmlns:a16="http://schemas.microsoft.com/office/drawing/2014/main" id="{55C08419-AE11-44B9-9F81-BF7FEAF02700}"/>
              </a:ext>
            </a:extLst>
          </p:cNvPr>
          <p:cNvSpPr>
            <a:spLocks xmlns:a="http://schemas.openxmlformats.org/drawingml/2006/main" noGrp="1"/>
          </p:cNvSpPr>
          <p:nvPr/>
        </p:nvSpPr>
        <p:spPr>
          <a:xfrm xmlns:a="http://schemas.openxmlformats.org/drawingml/2006/main">
            <a:off x="8191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Catalogues and forms</a:t>
            </a:r>
          </a:p>
        </p:txBody>
      </p:sp>
      <p:sp>
        <p:nvSpPr>
          <p:cNvPr id="509" name="">
            <a:extLst xmlns:a="http://schemas.openxmlformats.org/drawingml/2006/main">
              <a:ext uri="{FF2B5EF4-FFF2-40B4-BE49-F238E27FC236}">
                <a16:creationId xmlns:a16="http://schemas.microsoft.com/office/drawing/2014/main" id="{87D73BF3-D0A5-44C9-BD91-9D72309863F1}"/>
              </a:ext>
            </a:extLst>
          </p:cNvPr>
          <p:cNvSpPr>
            <a:spLocks xmlns:a="http://schemas.openxmlformats.org/drawingml/2006/main" noGrp="1"/>
          </p:cNvSpPr>
          <p:nvPr/>
        </p:nvSpPr>
        <p:spPr>
          <a:xfrm xmlns:a="http://schemas.openxmlformats.org/drawingml/2006/main">
            <a:off x="819150" y="3143250"/>
            <a:ext cx="28575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10" name="">
            <a:extLst xmlns:a="http://schemas.openxmlformats.org/drawingml/2006/main">
              <a:ext uri="{FF2B5EF4-FFF2-40B4-BE49-F238E27FC236}">
                <a16:creationId xmlns:a16="http://schemas.microsoft.com/office/drawing/2014/main" id="{F3755BA9-49DE-4E51-B63A-DC39487E26D0}"/>
              </a:ext>
            </a:extLst>
          </p:cNvPr>
          <p:cNvSpPr>
            <a:spLocks xmlns:a="http://schemas.openxmlformats.org/drawingml/2006/main" noGrp="1"/>
          </p:cNvSpPr>
          <p:nvPr/>
        </p:nvSpPr>
        <p:spPr>
          <a:xfrm xmlns:a="http://schemas.openxmlformats.org/drawingml/2006/main">
            <a:off x="8191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Copernicus Climate Data Store</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CORDEX data portals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Dataset documentation</a:t>
            </a:r>
          </a:p>
        </p:txBody>
      </p:sp>
      <p:sp>
        <p:nvSpPr>
          <p:cNvPr id="511" name="">
            <a:extLst xmlns:a="http://schemas.openxmlformats.org/drawingml/2006/main">
              <a:ext uri="{FF2B5EF4-FFF2-40B4-BE49-F238E27FC236}">
                <a16:creationId xmlns:a16="http://schemas.microsoft.com/office/drawing/2014/main" id="{8D7FB11F-E650-4189-8B76-20728EB3031A}"/>
              </a:ext>
            </a:extLst>
          </p:cNvPr>
          <p:cNvSpPr>
            <a:spLocks xmlns:a="http://schemas.openxmlformats.org/drawingml/2006/main" noGrp="1"/>
          </p:cNvSpPr>
          <p:nvPr/>
        </p:nvSpPr>
        <p:spPr>
          <a:xfrm xmlns:a="http://schemas.openxmlformats.org/drawingml/2006/main">
            <a:off x="40386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2" name="">
            <a:extLst xmlns:a="http://schemas.openxmlformats.org/drawingml/2006/main">
              <a:ext uri="{FF2B5EF4-FFF2-40B4-BE49-F238E27FC236}">
                <a16:creationId xmlns:a16="http://schemas.microsoft.com/office/drawing/2014/main" id="{535F052F-67F3-4708-B30A-0A35ADFAB083}"/>
              </a:ext>
            </a:extLst>
          </p:cNvPr>
          <p:cNvSpPr>
            <a:spLocks xmlns:a="http://schemas.openxmlformats.org/drawingml/2006/main" noGrp="1"/>
          </p:cNvSpPr>
          <p:nvPr/>
        </p:nvSpPr>
        <p:spPr>
          <a:xfrm xmlns:a="http://schemas.openxmlformats.org/drawingml/2006/main">
            <a:off x="44767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F2B632"/>
                </a:solidFill>
                <a:latin typeface="Lato"/>
                <a:ea typeface="Lato"/>
                <a:cs typeface="Lato"/>
              </a:defRPr>
            </a:pPr>
            <a:r>
              <a:rPr sz="2550" b="1" i="0">
                <a:solidFill>
                  <a:srgbClr val="F2B632"/>
                </a:solidFill>
                <a:latin typeface="Lato"/>
                <a:ea typeface="Lato"/>
                <a:cs typeface="Lato"/>
              </a:rPr>
              <a:t>02</a:t>
            </a:r>
          </a:p>
        </p:txBody>
      </p:sp>
      <p:sp>
        <p:nvSpPr>
          <p:cNvPr id="513" name="">
            <a:extLst xmlns:a="http://schemas.openxmlformats.org/drawingml/2006/main">
              <a:ext uri="{FF2B5EF4-FFF2-40B4-BE49-F238E27FC236}">
                <a16:creationId xmlns:a16="http://schemas.microsoft.com/office/drawing/2014/main" id="{C4CEF1AA-E7F6-48C8-937B-46D1DF7CED65}"/>
              </a:ext>
            </a:extLst>
          </p:cNvPr>
          <p:cNvSpPr>
            <a:spLocks xmlns:a="http://schemas.openxmlformats.org/drawingml/2006/main" noGrp="1"/>
          </p:cNvSpPr>
          <p:nvPr/>
        </p:nvSpPr>
        <p:spPr>
          <a:xfrm xmlns:a="http://schemas.openxmlformats.org/drawingml/2006/main">
            <a:off x="52006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DISTRIBUTED ARCHIVES</a:t>
            </a:r>
          </a:p>
        </p:txBody>
      </p:sp>
      <p:sp>
        <p:nvSpPr>
          <p:cNvPr id="514" name="">
            <a:extLst xmlns:a="http://schemas.openxmlformats.org/drawingml/2006/main">
              <a:ext uri="{FF2B5EF4-FFF2-40B4-BE49-F238E27FC236}">
                <a16:creationId xmlns:a16="http://schemas.microsoft.com/office/drawing/2014/main" id="{07135F1C-8602-4B5A-A9FC-0DA68DD307B1}"/>
              </a:ext>
            </a:extLst>
          </p:cNvPr>
          <p:cNvSpPr>
            <a:spLocks xmlns:a="http://schemas.openxmlformats.org/drawingml/2006/main" noGrp="1"/>
          </p:cNvSpPr>
          <p:nvPr/>
        </p:nvSpPr>
        <p:spPr>
          <a:xfrm xmlns:a="http://schemas.openxmlformats.org/drawingml/2006/main">
            <a:off x="44767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Model data collections</a:t>
            </a:r>
          </a:p>
        </p:txBody>
      </p:sp>
      <p:sp>
        <p:nvSpPr>
          <p:cNvPr id="515" name="">
            <a:extLst xmlns:a="http://schemas.openxmlformats.org/drawingml/2006/main">
              <a:ext uri="{FF2B5EF4-FFF2-40B4-BE49-F238E27FC236}">
                <a16:creationId xmlns:a16="http://schemas.microsoft.com/office/drawing/2014/main" id="{EB5DF212-9324-4247-B58E-8DF9CF6D12FE}"/>
              </a:ext>
            </a:extLst>
          </p:cNvPr>
          <p:cNvSpPr>
            <a:spLocks xmlns:a="http://schemas.openxmlformats.org/drawingml/2006/main" noGrp="1"/>
          </p:cNvSpPr>
          <p:nvPr/>
        </p:nvSpPr>
        <p:spPr>
          <a:xfrm xmlns:a="http://schemas.openxmlformats.org/drawingml/2006/main">
            <a:off x="4476750" y="3143250"/>
            <a:ext cx="2857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16" name="">
            <a:extLst xmlns:a="http://schemas.openxmlformats.org/drawingml/2006/main">
              <a:ext uri="{FF2B5EF4-FFF2-40B4-BE49-F238E27FC236}">
                <a16:creationId xmlns:a16="http://schemas.microsoft.com/office/drawing/2014/main" id="{043C61E1-567A-4D5F-AF94-7EB0F69D2CAF}"/>
              </a:ext>
            </a:extLst>
          </p:cNvPr>
          <p:cNvSpPr>
            <a:spLocks xmlns:a="http://schemas.openxmlformats.org/drawingml/2006/main" noGrp="1"/>
          </p:cNvSpPr>
          <p:nvPr/>
        </p:nvSpPr>
        <p:spPr>
          <a:xfrm xmlns:a="http://schemas.openxmlformats.org/drawingml/2006/main">
            <a:off x="44767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ESGF data nodes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Institutional repositories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Files organised by experiment</a:t>
            </a:r>
          </a:p>
        </p:txBody>
      </p:sp>
      <p:sp>
        <p:nvSpPr>
          <p:cNvPr id="517" name="">
            <a:extLst xmlns:a="http://schemas.openxmlformats.org/drawingml/2006/main">
              <a:ext uri="{FF2B5EF4-FFF2-40B4-BE49-F238E27FC236}">
                <a16:creationId xmlns:a16="http://schemas.microsoft.com/office/drawing/2014/main" id="{3A24E8AD-A65A-42B0-B179-53EC1EBE6214}"/>
              </a:ext>
            </a:extLst>
          </p:cNvPr>
          <p:cNvSpPr>
            <a:spLocks xmlns:a="http://schemas.openxmlformats.org/drawingml/2006/main" noGrp="1"/>
          </p:cNvSpPr>
          <p:nvPr/>
        </p:nvSpPr>
        <p:spPr>
          <a:xfrm xmlns:a="http://schemas.openxmlformats.org/drawingml/2006/main">
            <a:off x="76962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8" name="">
            <a:extLst xmlns:a="http://schemas.openxmlformats.org/drawingml/2006/main">
              <a:ext uri="{FF2B5EF4-FFF2-40B4-BE49-F238E27FC236}">
                <a16:creationId xmlns:a16="http://schemas.microsoft.com/office/drawing/2014/main" id="{05CBA04E-9944-4D40-A072-B4D83BADE1E9}"/>
              </a:ext>
            </a:extLst>
          </p:cNvPr>
          <p:cNvSpPr>
            <a:spLocks xmlns:a="http://schemas.openxmlformats.org/drawingml/2006/main" noGrp="1"/>
          </p:cNvSpPr>
          <p:nvPr/>
        </p:nvSpPr>
        <p:spPr>
          <a:xfrm xmlns:a="http://schemas.openxmlformats.org/drawingml/2006/main">
            <a:off x="81343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12304E"/>
                </a:solidFill>
                <a:latin typeface="Lato"/>
                <a:ea typeface="Lato"/>
                <a:cs typeface="Lato"/>
              </a:defRPr>
            </a:pPr>
            <a:r>
              <a:rPr sz="2550" b="1" i="0">
                <a:solidFill>
                  <a:srgbClr val="12304E"/>
                </a:solidFill>
                <a:latin typeface="Lato"/>
                <a:ea typeface="Lato"/>
                <a:cs typeface="Lato"/>
              </a:rPr>
              <a:t>03</a:t>
            </a:r>
          </a:p>
        </p:txBody>
      </p:sp>
      <p:sp>
        <p:nvSpPr>
          <p:cNvPr id="519" name="">
            <a:extLst xmlns:a="http://schemas.openxmlformats.org/drawingml/2006/main">
              <a:ext uri="{FF2B5EF4-FFF2-40B4-BE49-F238E27FC236}">
                <a16:creationId xmlns:a16="http://schemas.microsoft.com/office/drawing/2014/main" id="{BC050236-26A2-4F02-B4F7-AD903299F847}"/>
              </a:ext>
            </a:extLst>
          </p:cNvPr>
          <p:cNvSpPr>
            <a:spLocks xmlns:a="http://schemas.openxmlformats.org/drawingml/2006/main" noGrp="1"/>
          </p:cNvSpPr>
          <p:nvPr/>
        </p:nvSpPr>
        <p:spPr>
          <a:xfrm xmlns:a="http://schemas.openxmlformats.org/drawingml/2006/main">
            <a:off x="88582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2304E"/>
                </a:solidFill>
                <a:latin typeface="Lato"/>
                <a:ea typeface="Lato"/>
                <a:cs typeface="Lato"/>
              </a:defRPr>
            </a:pPr>
            <a:r>
              <a:rPr sz="900" b="1" i="0">
                <a:solidFill>
                  <a:srgbClr val="12304E"/>
                </a:solidFill>
                <a:latin typeface="Lato"/>
                <a:ea typeface="Lato"/>
                <a:cs typeface="Lato"/>
              </a:rPr>
              <a:t>TECHNICAL SERVICES</a:t>
            </a:r>
          </a:p>
        </p:txBody>
      </p:sp>
      <p:sp>
        <p:nvSpPr>
          <p:cNvPr id="520" name="">
            <a:extLst xmlns:a="http://schemas.openxmlformats.org/drawingml/2006/main">
              <a:ext uri="{FF2B5EF4-FFF2-40B4-BE49-F238E27FC236}">
                <a16:creationId xmlns:a16="http://schemas.microsoft.com/office/drawing/2014/main" id="{3F93715B-BBAB-4128-9FFC-3AE34D9CFC77}"/>
              </a:ext>
            </a:extLst>
          </p:cNvPr>
          <p:cNvSpPr>
            <a:spLocks xmlns:a="http://schemas.openxmlformats.org/drawingml/2006/main" noGrp="1"/>
          </p:cNvSpPr>
          <p:nvPr/>
        </p:nvSpPr>
        <p:spPr>
          <a:xfrm xmlns:a="http://schemas.openxmlformats.org/drawingml/2006/main">
            <a:off x="81343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Programmatic access</a:t>
            </a:r>
          </a:p>
        </p:txBody>
      </p:sp>
      <p:sp>
        <p:nvSpPr>
          <p:cNvPr id="521" name="">
            <a:extLst xmlns:a="http://schemas.openxmlformats.org/drawingml/2006/main">
              <a:ext uri="{FF2B5EF4-FFF2-40B4-BE49-F238E27FC236}">
                <a16:creationId xmlns:a16="http://schemas.microsoft.com/office/drawing/2014/main" id="{0271E370-C56E-4F85-9860-A42766762CA6}"/>
              </a:ext>
            </a:extLst>
          </p:cNvPr>
          <p:cNvSpPr>
            <a:spLocks xmlns:a="http://schemas.openxmlformats.org/drawingml/2006/main" noGrp="1"/>
          </p:cNvSpPr>
          <p:nvPr/>
        </p:nvSpPr>
        <p:spPr>
          <a:xfrm xmlns:a="http://schemas.openxmlformats.org/drawingml/2006/main">
            <a:off x="8134350" y="3143250"/>
            <a:ext cx="2857500" cy="285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522" name="">
            <a:extLst xmlns:a="http://schemas.openxmlformats.org/drawingml/2006/main">
              <a:ext uri="{FF2B5EF4-FFF2-40B4-BE49-F238E27FC236}">
                <a16:creationId xmlns:a16="http://schemas.microsoft.com/office/drawing/2014/main" id="{24F278A9-EB7B-436D-ABA7-EE43FD4CE7D0}"/>
              </a:ext>
            </a:extLst>
          </p:cNvPr>
          <p:cNvSpPr>
            <a:spLocks xmlns:a="http://schemas.openxmlformats.org/drawingml/2006/main" noGrp="1"/>
          </p:cNvSpPr>
          <p:nvPr/>
        </p:nvSpPr>
        <p:spPr>
          <a:xfrm xmlns:a="http://schemas.openxmlformats.org/drawingml/2006/main">
            <a:off x="81343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APIs and scripted requests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THREDDS and OPeNDAP</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Direct file downloads</a:t>
            </a:r>
          </a:p>
        </p:txBody>
      </p:sp>
      <p:sp>
        <p:nvSpPr>
          <p:cNvPr id="523" name="">
            <a:extLst xmlns:a="http://schemas.openxmlformats.org/drawingml/2006/main">
              <a:ext uri="{FF2B5EF4-FFF2-40B4-BE49-F238E27FC236}">
                <a16:creationId xmlns:a16="http://schemas.microsoft.com/office/drawing/2014/main" id="{7E1FEF8E-1B90-48FB-84BC-F1DECF93BD45}"/>
              </a:ext>
            </a:extLst>
          </p:cNvPr>
          <p:cNvSpPr>
            <a:spLocks xmlns:a="http://schemas.openxmlformats.org/drawingml/2006/main" noGrp="1"/>
          </p:cNvSpPr>
          <p:nvPr/>
        </p:nvSpPr>
        <p:spPr>
          <a:xfrm xmlns:a="http://schemas.openxmlformats.org/drawingml/2006/main">
            <a:off x="819150" y="5000625"/>
            <a:ext cx="10287000" cy="6667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524" name="">
            <a:extLst xmlns:a="http://schemas.openxmlformats.org/drawingml/2006/main">
              <a:ext uri="{FF2B5EF4-FFF2-40B4-BE49-F238E27FC236}">
                <a16:creationId xmlns:a16="http://schemas.microsoft.com/office/drawing/2014/main" id="{5653D9AD-2B32-49E9-A141-DF7F1AEB8689}"/>
              </a:ext>
            </a:extLst>
          </p:cNvPr>
          <p:cNvSpPr>
            <a:spLocks xmlns:a="http://schemas.openxmlformats.org/drawingml/2006/main" noGrp="1"/>
          </p:cNvSpPr>
          <p:nvPr/>
        </p:nvSpPr>
        <p:spPr>
          <a:xfrm xmlns:a="http://schemas.openxmlformats.org/drawingml/2006/main">
            <a:off x="1104900" y="51816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The data exist</a:t>
            </a:r>
          </a:p>
        </p:txBody>
      </p:sp>
      <p:sp>
        <p:nvSpPr>
          <p:cNvPr id="525" name="">
            <a:extLst xmlns:a="http://schemas.openxmlformats.org/drawingml/2006/main">
              <a:ext uri="{FF2B5EF4-FFF2-40B4-BE49-F238E27FC236}">
                <a16:creationId xmlns:a16="http://schemas.microsoft.com/office/drawing/2014/main" id="{703E180D-63A0-4513-BC57-1A16F3BC8C0C}"/>
              </a:ext>
            </a:extLst>
          </p:cNvPr>
          <p:cNvSpPr>
            <a:spLocks xmlns:a="http://schemas.openxmlformats.org/drawingml/2006/main" noGrp="1"/>
          </p:cNvSpPr>
          <p:nvPr/>
        </p:nvSpPr>
        <p:spPr>
          <a:xfrm xmlns:a="http://schemas.openxmlformats.org/drawingml/2006/main">
            <a:off x="3762375" y="5172075"/>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12304E"/>
                </a:solidFill>
                <a:latin typeface="Lato"/>
                <a:ea typeface="Lato"/>
                <a:cs typeface="Lato"/>
              </a:defRPr>
            </a:pPr>
            <a:r>
              <a:rPr sz="1350" b="0" i="0">
                <a:solidFill>
                  <a:srgbClr val="12304E"/>
                </a:solidFill>
                <a:latin typeface="Lato"/>
                <a:ea typeface="Lato"/>
                <a:cs typeface="Lato"/>
              </a:rPr>
              <a:t>Access patterns, accounts and request methods vary by source.</a:t>
            </a:r>
          </a:p>
        </p:txBody>
      </p:sp>
    </p:spTree>
    <p:extLst>
      <p:ext uri="{BB962C8B-B14F-4D97-AF65-F5344CB8AC3E}">
        <p14:creationId xmlns:p14="http://schemas.microsoft.com/office/powerpoint/2010/main" val="44974900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A14C40B-325E-41AA-9F0E-CADF342726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5A85B1-92F4-427F-A709-52E48DCAE79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A climate-data request becomes a workflow</a:t>
            </a:r>
          </a:p>
        </p:txBody>
      </p:sp>
      <p:sp>
        <p:nvSpPr>
          <p:cNvPr id="3" name="">
            <a:extLst xmlns:a="http://schemas.openxmlformats.org/drawingml/2006/main">
              <a:ext uri="{FF2B5EF4-FFF2-40B4-BE49-F238E27FC236}">
                <a16:creationId xmlns:a16="http://schemas.microsoft.com/office/drawing/2014/main" id="{6D6EBC11-F245-4A33-A3DC-7420D2ABED5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Most of the work happens before the indicator is calculated</a:t>
            </a:r>
          </a:p>
        </p:txBody>
      </p:sp>
      <p:sp>
        <p:nvSpPr>
          <p:cNvPr id="4" name="">
            <a:extLst xmlns:a="http://schemas.openxmlformats.org/drawingml/2006/main">
              <a:ext uri="{FF2B5EF4-FFF2-40B4-BE49-F238E27FC236}">
                <a16:creationId xmlns:a16="http://schemas.microsoft.com/office/drawing/2014/main" id="{3826C8F4-7677-4007-971C-2C42638F37D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BDFE83-6130-4836-8954-F3BA96FF809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04F60F-BE13-4F20-9B10-64E9E40D129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86DA2E-BAE5-4546-9292-5B30148FDD2B}"/>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2295196E-87C1-43A5-BEAE-B18CD76D68D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18</a:t>
            </a:r>
          </a:p>
        </p:txBody>
      </p:sp>
      <p:sp>
        <p:nvSpPr>
          <p:cNvPr id="9" name="">
            <a:extLst xmlns:a="http://schemas.openxmlformats.org/drawingml/2006/main">
              <a:ext uri="{FF2B5EF4-FFF2-40B4-BE49-F238E27FC236}">
                <a16:creationId xmlns:a16="http://schemas.microsoft.com/office/drawing/2014/main" id="{1310F3A3-5D77-476C-9856-EA9F873DF9D1}"/>
              </a:ext>
            </a:extLst>
          </p:cNvPr>
          <p:cNvSpPr>
            <a:spLocks xmlns:a="http://schemas.openxmlformats.org/drawingml/2006/main" noGrp="1"/>
          </p:cNvSpPr>
          <p:nvPr/>
        </p:nvSpPr>
        <p:spPr>
          <a:xfrm xmlns:a="http://schemas.openxmlformats.org/drawingml/2006/main">
            <a:off x="876300" y="3305175"/>
            <a:ext cx="10420350" cy="476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A7E058-AAA5-44A1-99F0-65646A5C26F9}"/>
              </a:ext>
            </a:extLst>
          </p:cNvPr>
          <p:cNvSpPr>
            <a:spLocks xmlns:a="http://schemas.openxmlformats.org/drawingml/2006/main" noGrp="1"/>
          </p:cNvSpPr>
          <p:nvPr/>
        </p:nvSpPr>
        <p:spPr>
          <a:xfrm xmlns:a="http://schemas.openxmlformats.org/drawingml/2006/main">
            <a:off x="8763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01</a:t>
            </a:r>
          </a:p>
        </p:txBody>
      </p:sp>
      <p:sp>
        <p:nvSpPr>
          <p:cNvPr id="11" name="">
            <a:extLst xmlns:a="http://schemas.openxmlformats.org/drawingml/2006/main">
              <a:ext uri="{FF2B5EF4-FFF2-40B4-BE49-F238E27FC236}">
                <a16:creationId xmlns:a16="http://schemas.microsoft.com/office/drawing/2014/main" id="{440788DA-B710-4FB9-A42A-461B06D24322}"/>
              </a:ext>
            </a:extLst>
          </p:cNvPr>
          <p:cNvSpPr>
            <a:spLocks xmlns:a="http://schemas.openxmlformats.org/drawingml/2006/main" noGrp="1"/>
          </p:cNvSpPr>
          <p:nvPr/>
        </p:nvSpPr>
        <p:spPr>
          <a:xfrm xmlns:a="http://schemas.openxmlformats.org/drawingml/2006/main">
            <a:off x="8572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DISCOVER</a:t>
            </a:r>
          </a:p>
        </p:txBody>
      </p:sp>
      <p:sp>
        <p:nvSpPr>
          <p:cNvPr id="12" name="">
            <a:extLst xmlns:a="http://schemas.openxmlformats.org/drawingml/2006/main">
              <a:ext uri="{FF2B5EF4-FFF2-40B4-BE49-F238E27FC236}">
                <a16:creationId xmlns:a16="http://schemas.microsoft.com/office/drawing/2014/main" id="{9158F316-0C9C-4990-92DC-4184C28A17C7}"/>
              </a:ext>
            </a:extLst>
          </p:cNvPr>
          <p:cNvSpPr>
            <a:spLocks xmlns:a="http://schemas.openxmlformats.org/drawingml/2006/main" noGrp="1"/>
          </p:cNvSpPr>
          <p:nvPr/>
        </p:nvSpPr>
        <p:spPr>
          <a:xfrm xmlns:a="http://schemas.openxmlformats.org/drawingml/2006/main">
            <a:off x="8572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Find the relevant catalogue or service</a:t>
            </a:r>
          </a:p>
        </p:txBody>
      </p:sp>
      <p:sp>
        <p:nvSpPr>
          <p:cNvPr id="13" name="">
            <a:extLst xmlns:a="http://schemas.openxmlformats.org/drawingml/2006/main">
              <a:ext uri="{FF2B5EF4-FFF2-40B4-BE49-F238E27FC236}">
                <a16:creationId xmlns:a16="http://schemas.microsoft.com/office/drawing/2014/main" id="{5DFC327B-353A-4149-8440-33D6C8DDF149}"/>
              </a:ext>
            </a:extLst>
          </p:cNvPr>
          <p:cNvSpPr>
            <a:spLocks xmlns:a="http://schemas.openxmlformats.org/drawingml/2006/main" noGrp="1"/>
          </p:cNvSpPr>
          <p:nvPr/>
        </p:nvSpPr>
        <p:spPr>
          <a:xfrm xmlns:a="http://schemas.openxmlformats.org/drawingml/2006/main">
            <a:off x="26098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6356560F-F8C7-4D3F-A6BE-1679AE481334}"/>
              </a:ext>
            </a:extLst>
          </p:cNvPr>
          <p:cNvSpPr>
            <a:spLocks xmlns:a="http://schemas.openxmlformats.org/drawingml/2006/main" noGrp="1"/>
          </p:cNvSpPr>
          <p:nvPr/>
        </p:nvSpPr>
        <p:spPr>
          <a:xfrm xmlns:a="http://schemas.openxmlformats.org/drawingml/2006/main">
            <a:off x="25908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SPECIFY</a:t>
            </a:r>
          </a:p>
        </p:txBody>
      </p:sp>
      <p:sp>
        <p:nvSpPr>
          <p:cNvPr id="15" name="">
            <a:extLst xmlns:a="http://schemas.openxmlformats.org/drawingml/2006/main">
              <a:ext uri="{FF2B5EF4-FFF2-40B4-BE49-F238E27FC236}">
                <a16:creationId xmlns:a16="http://schemas.microsoft.com/office/drawing/2014/main" id="{BAC019DC-2337-4109-8681-09E512E56889}"/>
              </a:ext>
            </a:extLst>
          </p:cNvPr>
          <p:cNvSpPr>
            <a:spLocks xmlns:a="http://schemas.openxmlformats.org/drawingml/2006/main" noGrp="1"/>
          </p:cNvSpPr>
          <p:nvPr/>
        </p:nvSpPr>
        <p:spPr>
          <a:xfrm xmlns:a="http://schemas.openxmlformats.org/drawingml/2006/main">
            <a:off x="25908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Choose dataset, model, scenario, variable and period</a:t>
            </a:r>
          </a:p>
        </p:txBody>
      </p:sp>
      <p:sp>
        <p:nvSpPr>
          <p:cNvPr id="16" name="">
            <a:extLst xmlns:a="http://schemas.openxmlformats.org/drawingml/2006/main">
              <a:ext uri="{FF2B5EF4-FFF2-40B4-BE49-F238E27FC236}">
                <a16:creationId xmlns:a16="http://schemas.microsoft.com/office/drawing/2014/main" id="{434C5417-C3FA-49AF-9AA2-1BFD400A9B0E}"/>
              </a:ext>
            </a:extLst>
          </p:cNvPr>
          <p:cNvSpPr>
            <a:spLocks xmlns:a="http://schemas.openxmlformats.org/drawingml/2006/main" noGrp="1"/>
          </p:cNvSpPr>
          <p:nvPr/>
        </p:nvSpPr>
        <p:spPr>
          <a:xfrm xmlns:a="http://schemas.openxmlformats.org/drawingml/2006/main">
            <a:off x="43434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03</a:t>
            </a:r>
          </a:p>
        </p:txBody>
      </p:sp>
      <p:sp>
        <p:nvSpPr>
          <p:cNvPr id="17" name="">
            <a:extLst xmlns:a="http://schemas.openxmlformats.org/drawingml/2006/main">
              <a:ext uri="{FF2B5EF4-FFF2-40B4-BE49-F238E27FC236}">
                <a16:creationId xmlns:a16="http://schemas.microsoft.com/office/drawing/2014/main" id="{048EC5A3-9B33-440E-A9F0-A6D3D346E34C}"/>
              </a:ext>
            </a:extLst>
          </p:cNvPr>
          <p:cNvSpPr>
            <a:spLocks xmlns:a="http://schemas.openxmlformats.org/drawingml/2006/main" noGrp="1"/>
          </p:cNvSpPr>
          <p:nvPr/>
        </p:nvSpPr>
        <p:spPr>
          <a:xfrm xmlns:a="http://schemas.openxmlformats.org/drawingml/2006/main">
            <a:off x="43243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REQUEST</a:t>
            </a:r>
          </a:p>
        </p:txBody>
      </p:sp>
      <p:sp>
        <p:nvSpPr>
          <p:cNvPr id="18" name="">
            <a:extLst xmlns:a="http://schemas.openxmlformats.org/drawingml/2006/main">
              <a:ext uri="{FF2B5EF4-FFF2-40B4-BE49-F238E27FC236}">
                <a16:creationId xmlns:a16="http://schemas.microsoft.com/office/drawing/2014/main" id="{A1CC4AC8-73D5-4CFB-870D-477B963AEC7C}"/>
              </a:ext>
            </a:extLst>
          </p:cNvPr>
          <p:cNvSpPr>
            <a:spLocks xmlns:a="http://schemas.openxmlformats.org/drawingml/2006/main" noGrp="1"/>
          </p:cNvSpPr>
          <p:nvPr/>
        </p:nvSpPr>
        <p:spPr>
          <a:xfrm xmlns:a="http://schemas.openxmlformats.org/drawingml/2006/main">
            <a:off x="43243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Configure access, licences and API calls</a:t>
            </a:r>
          </a:p>
        </p:txBody>
      </p:sp>
      <p:sp>
        <p:nvSpPr>
          <p:cNvPr id="19" name="">
            <a:extLst xmlns:a="http://schemas.openxmlformats.org/drawingml/2006/main">
              <a:ext uri="{FF2B5EF4-FFF2-40B4-BE49-F238E27FC236}">
                <a16:creationId xmlns:a16="http://schemas.microsoft.com/office/drawing/2014/main" id="{6BD79BF7-6DCF-4EBD-8207-4BF296DC660C}"/>
              </a:ext>
            </a:extLst>
          </p:cNvPr>
          <p:cNvSpPr>
            <a:spLocks xmlns:a="http://schemas.openxmlformats.org/drawingml/2006/main" noGrp="1"/>
          </p:cNvSpPr>
          <p:nvPr/>
        </p:nvSpPr>
        <p:spPr>
          <a:xfrm xmlns:a="http://schemas.openxmlformats.org/drawingml/2006/main">
            <a:off x="60769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04</a:t>
            </a:r>
          </a:p>
        </p:txBody>
      </p:sp>
      <p:sp>
        <p:nvSpPr>
          <p:cNvPr id="20" name="">
            <a:extLst xmlns:a="http://schemas.openxmlformats.org/drawingml/2006/main">
              <a:ext uri="{FF2B5EF4-FFF2-40B4-BE49-F238E27FC236}">
                <a16:creationId xmlns:a16="http://schemas.microsoft.com/office/drawing/2014/main" id="{1E738AA2-676D-440E-BFF0-51006CF7FC29}"/>
              </a:ext>
            </a:extLst>
          </p:cNvPr>
          <p:cNvSpPr>
            <a:spLocks xmlns:a="http://schemas.openxmlformats.org/drawingml/2006/main" noGrp="1"/>
          </p:cNvSpPr>
          <p:nvPr/>
        </p:nvSpPr>
        <p:spPr>
          <a:xfrm xmlns:a="http://schemas.openxmlformats.org/drawingml/2006/main">
            <a:off x="60579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SUBSET</a:t>
            </a:r>
          </a:p>
        </p:txBody>
      </p:sp>
      <p:sp>
        <p:nvSpPr>
          <p:cNvPr id="21" name="">
            <a:extLst xmlns:a="http://schemas.openxmlformats.org/drawingml/2006/main">
              <a:ext uri="{FF2B5EF4-FFF2-40B4-BE49-F238E27FC236}">
                <a16:creationId xmlns:a16="http://schemas.microsoft.com/office/drawing/2014/main" id="{FD9F6E8B-EBE4-4FB0-8F98-C50F40560DB9}"/>
              </a:ext>
            </a:extLst>
          </p:cNvPr>
          <p:cNvSpPr>
            <a:spLocks xmlns:a="http://schemas.openxmlformats.org/drawingml/2006/main" noGrp="1"/>
          </p:cNvSpPr>
          <p:nvPr/>
        </p:nvSpPr>
        <p:spPr>
          <a:xfrm xmlns:a="http://schemas.openxmlformats.org/drawingml/2006/main">
            <a:off x="60579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Limit the data to the project area and dates</a:t>
            </a:r>
          </a:p>
        </p:txBody>
      </p:sp>
      <p:sp>
        <p:nvSpPr>
          <p:cNvPr id="22" name="">
            <a:extLst xmlns:a="http://schemas.openxmlformats.org/drawingml/2006/main">
              <a:ext uri="{FF2B5EF4-FFF2-40B4-BE49-F238E27FC236}">
                <a16:creationId xmlns:a16="http://schemas.microsoft.com/office/drawing/2014/main" id="{572F460D-502E-43D5-9DCD-AA37C7F4B051}"/>
              </a:ext>
            </a:extLst>
          </p:cNvPr>
          <p:cNvSpPr>
            <a:spLocks xmlns:a="http://schemas.openxmlformats.org/drawingml/2006/main" noGrp="1"/>
          </p:cNvSpPr>
          <p:nvPr/>
        </p:nvSpPr>
        <p:spPr>
          <a:xfrm xmlns:a="http://schemas.openxmlformats.org/drawingml/2006/main">
            <a:off x="78105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05</a:t>
            </a:r>
          </a:p>
        </p:txBody>
      </p:sp>
      <p:sp>
        <p:nvSpPr>
          <p:cNvPr id="23" name="">
            <a:extLst xmlns:a="http://schemas.openxmlformats.org/drawingml/2006/main">
              <a:ext uri="{FF2B5EF4-FFF2-40B4-BE49-F238E27FC236}">
                <a16:creationId xmlns:a16="http://schemas.microsoft.com/office/drawing/2014/main" id="{0AE6855A-9E1F-4E31-B566-1063BDEE989E}"/>
              </a:ext>
            </a:extLst>
          </p:cNvPr>
          <p:cNvSpPr>
            <a:spLocks xmlns:a="http://schemas.openxmlformats.org/drawingml/2006/main" noGrp="1"/>
          </p:cNvSpPr>
          <p:nvPr/>
        </p:nvSpPr>
        <p:spPr>
          <a:xfrm xmlns:a="http://schemas.openxmlformats.org/drawingml/2006/main">
            <a:off x="77914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HARMONIZE</a:t>
            </a:r>
          </a:p>
        </p:txBody>
      </p:sp>
      <p:sp>
        <p:nvSpPr>
          <p:cNvPr id="24" name="">
            <a:extLst xmlns:a="http://schemas.openxmlformats.org/drawingml/2006/main">
              <a:ext uri="{FF2B5EF4-FFF2-40B4-BE49-F238E27FC236}">
                <a16:creationId xmlns:a16="http://schemas.microsoft.com/office/drawing/2014/main" id="{B4BAE364-10FD-4E66-AAE7-62A2C183D92F}"/>
              </a:ext>
            </a:extLst>
          </p:cNvPr>
          <p:cNvSpPr>
            <a:spLocks xmlns:a="http://schemas.openxmlformats.org/drawingml/2006/main" noGrp="1"/>
          </p:cNvSpPr>
          <p:nvPr/>
        </p:nvSpPr>
        <p:spPr>
          <a:xfrm xmlns:a="http://schemas.openxmlformats.org/drawingml/2006/main">
            <a:off x="77914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Align units, calendars and spatial grids</a:t>
            </a:r>
          </a:p>
        </p:txBody>
      </p:sp>
      <p:sp>
        <p:nvSpPr>
          <p:cNvPr id="25" name="">
            <a:extLst xmlns:a="http://schemas.openxmlformats.org/drawingml/2006/main">
              <a:ext uri="{FF2B5EF4-FFF2-40B4-BE49-F238E27FC236}">
                <a16:creationId xmlns:a16="http://schemas.microsoft.com/office/drawing/2014/main" id="{088826CA-9A82-4C25-9B20-23F812D7FB4E}"/>
              </a:ext>
            </a:extLst>
          </p:cNvPr>
          <p:cNvSpPr>
            <a:spLocks xmlns:a="http://schemas.openxmlformats.org/drawingml/2006/main" noGrp="1"/>
          </p:cNvSpPr>
          <p:nvPr/>
        </p:nvSpPr>
        <p:spPr>
          <a:xfrm xmlns:a="http://schemas.openxmlformats.org/drawingml/2006/main">
            <a:off x="95440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06</a:t>
            </a:r>
          </a:p>
        </p:txBody>
      </p:sp>
      <p:sp>
        <p:nvSpPr>
          <p:cNvPr id="26" name="">
            <a:extLst xmlns:a="http://schemas.openxmlformats.org/drawingml/2006/main">
              <a:ext uri="{FF2B5EF4-FFF2-40B4-BE49-F238E27FC236}">
                <a16:creationId xmlns:a16="http://schemas.microsoft.com/office/drawing/2014/main" id="{66B314D0-837A-45C5-A6E2-BDD21F3667DE}"/>
              </a:ext>
            </a:extLst>
          </p:cNvPr>
          <p:cNvSpPr>
            <a:spLocks xmlns:a="http://schemas.openxmlformats.org/drawingml/2006/main" noGrp="1"/>
          </p:cNvSpPr>
          <p:nvPr/>
        </p:nvSpPr>
        <p:spPr>
          <a:xfrm xmlns:a="http://schemas.openxmlformats.org/drawingml/2006/main">
            <a:off x="95250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DOCUMENT</a:t>
            </a:r>
          </a:p>
        </p:txBody>
      </p:sp>
      <p:sp>
        <p:nvSpPr>
          <p:cNvPr id="27" name="">
            <a:extLst xmlns:a="http://schemas.openxmlformats.org/drawingml/2006/main">
              <a:ext uri="{FF2B5EF4-FFF2-40B4-BE49-F238E27FC236}">
                <a16:creationId xmlns:a16="http://schemas.microsoft.com/office/drawing/2014/main" id="{C4306083-2F78-4216-8158-BE5ABC15C4D2}"/>
              </a:ext>
            </a:extLst>
          </p:cNvPr>
          <p:cNvSpPr>
            <a:spLocks xmlns:a="http://schemas.openxmlformats.org/drawingml/2006/main" noGrp="1"/>
          </p:cNvSpPr>
          <p:nvPr/>
        </p:nvSpPr>
        <p:spPr>
          <a:xfrm xmlns:a="http://schemas.openxmlformats.org/drawingml/2006/main">
            <a:off x="95250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Record choices so the analysis can be repeated</a:t>
            </a:r>
          </a:p>
        </p:txBody>
      </p:sp>
      <p:sp>
        <p:nvSpPr>
          <p:cNvPr id="28" name="">
            <a:extLst xmlns:a="http://schemas.openxmlformats.org/drawingml/2006/main">
              <a:ext uri="{FF2B5EF4-FFF2-40B4-BE49-F238E27FC236}">
                <a16:creationId xmlns:a16="http://schemas.microsoft.com/office/drawing/2014/main" id="{53FA9894-C827-4BA8-A8B4-7C69976FE8AE}"/>
              </a:ext>
            </a:extLst>
          </p:cNvPr>
          <p:cNvSpPr>
            <a:spLocks xmlns:a="http://schemas.openxmlformats.org/drawingml/2006/main" noGrp="1"/>
          </p:cNvSpPr>
          <p:nvPr/>
        </p:nvSpPr>
        <p:spPr>
          <a:xfrm xmlns:a="http://schemas.openxmlformats.org/drawingml/2006/main">
            <a:off x="876300" y="5200650"/>
            <a:ext cx="10420350" cy="5524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AE4EC0C-2E94-4C14-9E12-085B7F0CE085}"/>
              </a:ext>
            </a:extLst>
          </p:cNvPr>
          <p:cNvSpPr>
            <a:spLocks xmlns:a="http://schemas.openxmlformats.org/drawingml/2006/main" noGrp="1"/>
          </p:cNvSpPr>
          <p:nvPr/>
        </p:nvSpPr>
        <p:spPr>
          <a:xfrm xmlns:a="http://schemas.openxmlformats.org/drawingml/2006/main">
            <a:off x="1114425" y="53530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RESULT</a:t>
            </a:r>
          </a:p>
        </p:txBody>
      </p:sp>
      <p:sp>
        <p:nvSpPr>
          <p:cNvPr id="30" name="">
            <a:extLst xmlns:a="http://schemas.openxmlformats.org/drawingml/2006/main">
              <a:ext uri="{FF2B5EF4-FFF2-40B4-BE49-F238E27FC236}">
                <a16:creationId xmlns:a16="http://schemas.microsoft.com/office/drawing/2014/main" id="{3D163408-BE71-46EA-AF1F-78E5A71ED405}"/>
              </a:ext>
            </a:extLst>
          </p:cNvPr>
          <p:cNvSpPr>
            <a:spLocks xmlns:a="http://schemas.openxmlformats.org/drawingml/2006/main" noGrp="1"/>
          </p:cNvSpPr>
          <p:nvPr/>
        </p:nvSpPr>
        <p:spPr>
          <a:xfrm xmlns:a="http://schemas.openxmlformats.org/drawingml/2006/main">
            <a:off x="2266950" y="53149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FFFFFF"/>
                </a:solidFill>
                <a:latin typeface="Lato"/>
                <a:ea typeface="Lato"/>
                <a:cs typeface="Lato"/>
              </a:defRPr>
            </a:pPr>
            <a:r>
              <a:rPr sz="1425" b="1" i="0">
                <a:solidFill>
                  <a:srgbClr val="FFFFFF"/>
                </a:solidFill>
                <a:latin typeface="Lato"/>
                <a:ea typeface="Lato"/>
                <a:cs typeface="Lato"/>
              </a:rPr>
              <a:t>A defensible workflow, but one that users must assemble and repeat</a:t>
            </a:r>
          </a:p>
        </p:txBody>
      </p:sp>
    </p:spTree>
    <p:extLst>
      <p:ext uri="{BB962C8B-B14F-4D97-AF65-F5344CB8AC3E}">
        <p14:creationId xmlns:p14="http://schemas.microsoft.com/office/powerpoint/2010/main" val="114465575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5C65ED8-BDB5-4D66-AF22-91E57DFA05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CBE932-93AF-452E-B81E-0816E0B4227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Where the current workflow becomes difficult</a:t>
            </a:r>
          </a:p>
        </p:txBody>
      </p:sp>
      <p:sp>
        <p:nvSpPr>
          <p:cNvPr id="3" name="">
            <a:extLst xmlns:a="http://schemas.openxmlformats.org/drawingml/2006/main">
              <a:ext uri="{FF2B5EF4-FFF2-40B4-BE49-F238E27FC236}">
                <a16:creationId xmlns:a16="http://schemas.microsoft.com/office/drawing/2014/main" id="{67DCB031-AAFF-4E3E-B580-734CE0AA31F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burden comes from combining access rules, data scale, climate conventions and documentation</a:t>
            </a:r>
          </a:p>
        </p:txBody>
      </p:sp>
      <p:sp>
        <p:nvSpPr>
          <p:cNvPr id="4" name="">
            <a:extLst xmlns:a="http://schemas.openxmlformats.org/drawingml/2006/main">
              <a:ext uri="{FF2B5EF4-FFF2-40B4-BE49-F238E27FC236}">
                <a16:creationId xmlns:a16="http://schemas.microsoft.com/office/drawing/2014/main" id="{339C1074-8F4B-4A07-91D4-83002B27AA2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08062C-6F66-441E-B022-125BFF92F26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71F207-F820-4B2D-940F-B3F5331F796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FA0E01-FD86-4FA4-9A33-CDB10137349F}"/>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BB83FA8C-8177-4F72-AE9E-264866EBE64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19</a:t>
            </a:r>
          </a:p>
        </p:txBody>
      </p:sp>
      <p:sp>
        <p:nvSpPr>
          <p:cNvPr id="9" name="">
            <a:extLst xmlns:a="http://schemas.openxmlformats.org/drawingml/2006/main">
              <a:ext uri="{FF2B5EF4-FFF2-40B4-BE49-F238E27FC236}">
                <a16:creationId xmlns:a16="http://schemas.microsoft.com/office/drawing/2014/main" id="{0ADB8B6B-7C59-4F89-BCD4-34B7133DB4C5}"/>
              </a:ext>
            </a:extLst>
          </p:cNvPr>
          <p:cNvSpPr>
            <a:spLocks xmlns:a="http://schemas.openxmlformats.org/drawingml/2006/main" noGrp="1"/>
          </p:cNvSpPr>
          <p:nvPr/>
        </p:nvSpPr>
        <p:spPr>
          <a:xfrm xmlns:a="http://schemas.openxmlformats.org/drawingml/2006/main">
            <a:off x="838200" y="180975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A49A33BB-57F8-4CA7-B1B8-27057CBFD4B0}"/>
              </a:ext>
            </a:extLst>
          </p:cNvPr>
          <p:cNvSpPr>
            <a:spLocks xmlns:a="http://schemas.openxmlformats.org/drawingml/2006/main" noGrp="1"/>
          </p:cNvSpPr>
          <p:nvPr/>
        </p:nvSpPr>
        <p:spPr>
          <a:xfrm xmlns:a="http://schemas.openxmlformats.org/drawingml/2006/main">
            <a:off x="1600200" y="17907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FRAGMENTED ACCESS</a:t>
            </a:r>
          </a:p>
        </p:txBody>
      </p:sp>
      <p:sp>
        <p:nvSpPr>
          <p:cNvPr id="11" name="">
            <a:extLst xmlns:a="http://schemas.openxmlformats.org/drawingml/2006/main">
              <a:ext uri="{FF2B5EF4-FFF2-40B4-BE49-F238E27FC236}">
                <a16:creationId xmlns:a16="http://schemas.microsoft.com/office/drawing/2014/main" id="{53D2D50D-8FD4-46BE-8802-B6F232F95951}"/>
              </a:ext>
            </a:extLst>
          </p:cNvPr>
          <p:cNvSpPr>
            <a:spLocks xmlns:a="http://schemas.openxmlformats.org/drawingml/2006/main" noGrp="1"/>
          </p:cNvSpPr>
          <p:nvPr/>
        </p:nvSpPr>
        <p:spPr>
          <a:xfrm xmlns:a="http://schemas.openxmlformats.org/drawingml/2006/main">
            <a:off x="4953000" y="1762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Portals and services use different accounts, licences, interfaces and request methods.</a:t>
            </a:r>
          </a:p>
        </p:txBody>
      </p:sp>
      <p:sp>
        <p:nvSpPr>
          <p:cNvPr id="12" name="">
            <a:extLst xmlns:a="http://schemas.openxmlformats.org/drawingml/2006/main">
              <a:ext uri="{FF2B5EF4-FFF2-40B4-BE49-F238E27FC236}">
                <a16:creationId xmlns:a16="http://schemas.microsoft.com/office/drawing/2014/main" id="{4C9B37D0-A663-40A4-9CFB-0AF392FDA56A}"/>
              </a:ext>
            </a:extLst>
          </p:cNvPr>
          <p:cNvSpPr>
            <a:spLocks xmlns:a="http://schemas.openxmlformats.org/drawingml/2006/main" noGrp="1"/>
          </p:cNvSpPr>
          <p:nvPr/>
        </p:nvSpPr>
        <p:spPr>
          <a:xfrm xmlns:a="http://schemas.openxmlformats.org/drawingml/2006/main">
            <a:off x="1600200" y="234315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F348ED-A5C9-4153-9BEF-1F9874EF7428}"/>
              </a:ext>
            </a:extLst>
          </p:cNvPr>
          <p:cNvSpPr>
            <a:spLocks xmlns:a="http://schemas.openxmlformats.org/drawingml/2006/main" noGrp="1"/>
          </p:cNvSpPr>
          <p:nvPr/>
        </p:nvSpPr>
        <p:spPr>
          <a:xfrm xmlns:a="http://schemas.openxmlformats.org/drawingml/2006/main">
            <a:off x="838200" y="26574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2B632"/>
                </a:solidFill>
                <a:latin typeface="Lato"/>
                <a:ea typeface="Lato"/>
                <a:cs typeface="Lato"/>
              </a:defRPr>
            </a:pPr>
            <a:r>
              <a:rPr sz="1500" b="1" i="0">
                <a:solidFill>
                  <a:srgbClr val="F2B632"/>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CDF99444-86EB-4EE8-BAC8-4FE421D848B5}"/>
              </a:ext>
            </a:extLst>
          </p:cNvPr>
          <p:cNvSpPr>
            <a:spLocks xmlns:a="http://schemas.openxmlformats.org/drawingml/2006/main" noGrp="1"/>
          </p:cNvSpPr>
          <p:nvPr/>
        </p:nvSpPr>
        <p:spPr>
          <a:xfrm xmlns:a="http://schemas.openxmlformats.org/drawingml/2006/main">
            <a:off x="1600200" y="26384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MULTIDIMENSIONAL DATA</a:t>
            </a:r>
          </a:p>
        </p:txBody>
      </p:sp>
      <p:sp>
        <p:nvSpPr>
          <p:cNvPr id="15" name="">
            <a:extLst xmlns:a="http://schemas.openxmlformats.org/drawingml/2006/main">
              <a:ext uri="{FF2B5EF4-FFF2-40B4-BE49-F238E27FC236}">
                <a16:creationId xmlns:a16="http://schemas.microsoft.com/office/drawing/2014/main" id="{6B110197-DA6E-43BE-85DE-8F44546997BA}"/>
              </a:ext>
            </a:extLst>
          </p:cNvPr>
          <p:cNvSpPr>
            <a:spLocks xmlns:a="http://schemas.openxmlformats.org/drawingml/2006/main" noGrp="1"/>
          </p:cNvSpPr>
          <p:nvPr/>
        </p:nvSpPr>
        <p:spPr>
          <a:xfrm xmlns:a="http://schemas.openxmlformats.org/drawingml/2006/main">
            <a:off x="4953000" y="26098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A single question expands across models, scenarios, variables, periods and geography.</a:t>
            </a:r>
          </a:p>
        </p:txBody>
      </p:sp>
      <p:sp>
        <p:nvSpPr>
          <p:cNvPr id="16" name="">
            <a:extLst xmlns:a="http://schemas.openxmlformats.org/drawingml/2006/main">
              <a:ext uri="{FF2B5EF4-FFF2-40B4-BE49-F238E27FC236}">
                <a16:creationId xmlns:a16="http://schemas.microsoft.com/office/drawing/2014/main" id="{9291375F-77C6-44DF-8048-23C15AE42BF7}"/>
              </a:ext>
            </a:extLst>
          </p:cNvPr>
          <p:cNvSpPr>
            <a:spLocks xmlns:a="http://schemas.openxmlformats.org/drawingml/2006/main" noGrp="1"/>
          </p:cNvSpPr>
          <p:nvPr/>
        </p:nvSpPr>
        <p:spPr>
          <a:xfrm xmlns:a="http://schemas.openxmlformats.org/drawingml/2006/main">
            <a:off x="1600200" y="3190875"/>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A65ED1-2063-492B-9523-05520DCBE6CD}"/>
              </a:ext>
            </a:extLst>
          </p:cNvPr>
          <p:cNvSpPr>
            <a:spLocks xmlns:a="http://schemas.openxmlformats.org/drawingml/2006/main" noGrp="1"/>
          </p:cNvSpPr>
          <p:nvPr/>
        </p:nvSpPr>
        <p:spPr>
          <a:xfrm xmlns:a="http://schemas.openxmlformats.org/drawingml/2006/main">
            <a:off x="8382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18E103F0-6387-4780-900F-2939015A4C1E}"/>
              </a:ext>
            </a:extLst>
          </p:cNvPr>
          <p:cNvSpPr>
            <a:spLocks xmlns:a="http://schemas.openxmlformats.org/drawingml/2006/main" noGrp="1"/>
          </p:cNvSpPr>
          <p:nvPr/>
        </p:nvSpPr>
        <p:spPr>
          <a:xfrm xmlns:a="http://schemas.openxmlformats.org/drawingml/2006/main">
            <a:off x="1600200" y="3486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SPECIALIST PREPARATION</a:t>
            </a:r>
          </a:p>
        </p:txBody>
      </p:sp>
      <p:sp>
        <p:nvSpPr>
          <p:cNvPr id="19" name="">
            <a:extLst xmlns:a="http://schemas.openxmlformats.org/drawingml/2006/main">
              <a:ext uri="{FF2B5EF4-FFF2-40B4-BE49-F238E27FC236}">
                <a16:creationId xmlns:a16="http://schemas.microsoft.com/office/drawing/2014/main" id="{23D4C0C6-29C1-4B72-B1F7-E4E284B45579}"/>
              </a:ext>
            </a:extLst>
          </p:cNvPr>
          <p:cNvSpPr>
            <a:spLocks xmlns:a="http://schemas.openxmlformats.org/drawingml/2006/main" noGrp="1"/>
          </p:cNvSpPr>
          <p:nvPr/>
        </p:nvSpPr>
        <p:spPr>
          <a:xfrm xmlns:a="http://schemas.openxmlformats.org/drawingml/2006/main">
            <a:off x="4953000" y="3457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Users must reconcile formats, calendars, units and spatial grids before calculating indicators.</a:t>
            </a:r>
          </a:p>
        </p:txBody>
      </p:sp>
      <p:sp>
        <p:nvSpPr>
          <p:cNvPr id="20" name="">
            <a:extLst xmlns:a="http://schemas.openxmlformats.org/drawingml/2006/main">
              <a:ext uri="{FF2B5EF4-FFF2-40B4-BE49-F238E27FC236}">
                <a16:creationId xmlns:a16="http://schemas.microsoft.com/office/drawing/2014/main" id="{7599A8DB-79B5-4047-B8D6-C80964A06AC3}"/>
              </a:ext>
            </a:extLst>
          </p:cNvPr>
          <p:cNvSpPr>
            <a:spLocks xmlns:a="http://schemas.openxmlformats.org/drawingml/2006/main" noGrp="1"/>
          </p:cNvSpPr>
          <p:nvPr/>
        </p:nvSpPr>
        <p:spPr>
          <a:xfrm xmlns:a="http://schemas.openxmlformats.org/drawingml/2006/main">
            <a:off x="1600200" y="403860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1BCC2B3-438F-4AF1-BAF3-E922B78E072C}"/>
              </a:ext>
            </a:extLst>
          </p:cNvPr>
          <p:cNvSpPr>
            <a:spLocks xmlns:a="http://schemas.openxmlformats.org/drawingml/2006/main" noGrp="1"/>
          </p:cNvSpPr>
          <p:nvPr/>
        </p:nvSpPr>
        <p:spPr>
          <a:xfrm xmlns:a="http://schemas.openxmlformats.org/drawingml/2006/main">
            <a:off x="838200" y="43529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04</a:t>
            </a:r>
          </a:p>
        </p:txBody>
      </p:sp>
      <p:sp>
        <p:nvSpPr>
          <p:cNvPr id="22" name="">
            <a:extLst xmlns:a="http://schemas.openxmlformats.org/drawingml/2006/main">
              <a:ext uri="{FF2B5EF4-FFF2-40B4-BE49-F238E27FC236}">
                <a16:creationId xmlns:a16="http://schemas.microsoft.com/office/drawing/2014/main" id="{9862C958-0349-44AE-A9A5-ACBBF261599A}"/>
              </a:ext>
            </a:extLst>
          </p:cNvPr>
          <p:cNvSpPr>
            <a:spLocks xmlns:a="http://schemas.openxmlformats.org/drawingml/2006/main" noGrp="1"/>
          </p:cNvSpPr>
          <p:nvPr/>
        </p:nvSpPr>
        <p:spPr>
          <a:xfrm xmlns:a="http://schemas.openxmlformats.org/drawingml/2006/main">
            <a:off x="1600200" y="43338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REPRODUCIBILITY</a:t>
            </a:r>
          </a:p>
        </p:txBody>
      </p:sp>
      <p:sp>
        <p:nvSpPr>
          <p:cNvPr id="23" name="">
            <a:extLst xmlns:a="http://schemas.openxmlformats.org/drawingml/2006/main">
              <a:ext uri="{FF2B5EF4-FFF2-40B4-BE49-F238E27FC236}">
                <a16:creationId xmlns:a16="http://schemas.microsoft.com/office/drawing/2014/main" id="{19C21AB4-341B-4A48-BAEC-FF5301EC5E34}"/>
              </a:ext>
            </a:extLst>
          </p:cNvPr>
          <p:cNvSpPr>
            <a:spLocks xmlns:a="http://schemas.openxmlformats.org/drawingml/2006/main" noGrp="1"/>
          </p:cNvSpPr>
          <p:nvPr/>
        </p:nvSpPr>
        <p:spPr>
          <a:xfrm xmlns:a="http://schemas.openxmlformats.org/drawingml/2006/main">
            <a:off x="4953000"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Selections and processing steps must be recorded so another analyst can reconstruct the result.</a:t>
            </a:r>
          </a:p>
        </p:txBody>
      </p:sp>
      <p:sp>
        <p:nvSpPr>
          <p:cNvPr id="24" name="">
            <a:extLst xmlns:a="http://schemas.openxmlformats.org/drawingml/2006/main">
              <a:ext uri="{FF2B5EF4-FFF2-40B4-BE49-F238E27FC236}">
                <a16:creationId xmlns:a16="http://schemas.microsoft.com/office/drawing/2014/main" id="{8060E2FC-967E-4291-B1FC-C026690A778F}"/>
              </a:ext>
            </a:extLst>
          </p:cNvPr>
          <p:cNvSpPr>
            <a:spLocks xmlns:a="http://schemas.openxmlformats.org/drawingml/2006/main" noGrp="1"/>
          </p:cNvSpPr>
          <p:nvPr/>
        </p:nvSpPr>
        <p:spPr>
          <a:xfrm xmlns:a="http://schemas.openxmlformats.org/drawingml/2006/main">
            <a:off x="838200" y="5219700"/>
            <a:ext cx="1030605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D85A3C1-89B1-4040-AF36-C78869223353}"/>
              </a:ext>
            </a:extLst>
          </p:cNvPr>
          <p:cNvSpPr>
            <a:spLocks xmlns:a="http://schemas.openxmlformats.org/drawingml/2006/main" noGrp="1"/>
          </p:cNvSpPr>
          <p:nvPr/>
        </p:nvSpPr>
        <p:spPr>
          <a:xfrm xmlns:a="http://schemas.openxmlformats.org/drawingml/2006/main">
            <a:off x="1104900" y="5362575"/>
            <a:ext cx="976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data are abundant. Comparable, traceable information still takes substantial work.</a:t>
            </a:r>
          </a:p>
        </p:txBody>
      </p:sp>
    </p:spTree>
    <p:extLst>
      <p:ext uri="{BB962C8B-B14F-4D97-AF65-F5344CB8AC3E}">
        <p14:creationId xmlns:p14="http://schemas.microsoft.com/office/powerpoint/2010/main" val="1332954995"/>
      </p:ext>
    </p:extLst>
  </p:cSld>
</p:sld>
</file>

<file path=ppt/slides/slide2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11" name="Google Shape;511;p20">
            <a:extLst xmlns:a="http://schemas.openxmlformats.org/drawingml/2006/main">
              <a:ext uri="{FF2B5EF4-FFF2-40B4-BE49-F238E27FC236}">
                <a16:creationId xmlns:a16="http://schemas.microsoft.com/office/drawing/2014/main" id="{8AF8BBE5-2137-450C-AD7A-61C2361915F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What problem does CAVA solve?</a:t>
            </a:r>
            <a:endParaRPr/>
          </a:p>
        </p:txBody>
      </p:sp>
      <p:sp>
        <p:nvSpPr>
          <p:cNvPr id="512" name="Google Shape;512;p20">
            <a:extLst xmlns:a="http://schemas.openxmlformats.org/drawingml/2006/main">
              <a:ext uri="{FF2B5EF4-FFF2-40B4-BE49-F238E27FC236}">
                <a16:creationId xmlns:a16="http://schemas.microsoft.com/office/drawing/2014/main" id="{56A5BA02-2BF8-4F07-8892-744350DF2F2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CAVA standardizes recurring work between climate archives and decision-relevant outputs</a:t>
            </a:r>
            <a:endParaRPr/>
          </a:p>
        </p:txBody>
      </p:sp>
      <p:sp>
        <p:nvSpPr>
          <p:cNvPr id="513" name="Google Shape;513;p20">
            <a:extLst xmlns:a="http://schemas.openxmlformats.org/drawingml/2006/main">
              <a:ext uri="{FF2B5EF4-FFF2-40B4-BE49-F238E27FC236}">
                <a16:creationId xmlns:a16="http://schemas.microsoft.com/office/drawing/2014/main" id="{610A3753-3640-4410-936A-EA00267647E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4" name="Google Shape;514;p20">
            <a:extLst xmlns:a="http://schemas.openxmlformats.org/drawingml/2006/main">
              <a:ext uri="{FF2B5EF4-FFF2-40B4-BE49-F238E27FC236}">
                <a16:creationId xmlns:a16="http://schemas.microsoft.com/office/drawing/2014/main" id="{E8AA13DA-7728-44C8-8B3E-8CA1539D409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5" name="Google Shape;515;p20">
            <a:extLst xmlns:a="http://schemas.openxmlformats.org/drawingml/2006/main">
              <a:ext uri="{FF2B5EF4-FFF2-40B4-BE49-F238E27FC236}">
                <a16:creationId xmlns:a16="http://schemas.microsoft.com/office/drawing/2014/main" id="{89C41A50-DFF8-49A9-BE0E-32C2025F278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6" name="Google Shape;516;p20">
            <a:extLst xmlns:a="http://schemas.openxmlformats.org/drawingml/2006/main">
              <a:ext uri="{FF2B5EF4-FFF2-40B4-BE49-F238E27FC236}">
                <a16:creationId xmlns:a16="http://schemas.microsoft.com/office/drawing/2014/main" id="{47997DD1-63DF-4EB7-BE05-31760A47E35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17" name="Google Shape;517;p20">
            <a:extLst xmlns:a="http://schemas.openxmlformats.org/drawingml/2006/main">
              <a:ext uri="{FF2B5EF4-FFF2-40B4-BE49-F238E27FC236}">
                <a16:creationId xmlns:a16="http://schemas.microsoft.com/office/drawing/2014/main" id="{1653FBED-B8E4-4F69-BED9-C3C563A57C6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20</a:t>
            </a:r>
            <a:endParaRPr/>
          </a:p>
        </p:txBody>
      </p:sp>
      <p:sp>
        <p:nvSpPr>
          <p:cNvPr id="518" name="Google Shape;518;p20">
            <a:extLst xmlns:a="http://schemas.openxmlformats.org/drawingml/2006/main">
              <a:ext uri="{FF2B5EF4-FFF2-40B4-BE49-F238E27FC236}">
                <a16:creationId xmlns:a16="http://schemas.microsoft.com/office/drawing/2014/main" id="{35980DEC-865E-47B8-8CB0-A507BC752FB8}"/>
              </a:ext>
            </a:extLst>
          </p:cNvPr>
          <p:cNvSpPr>
            <a:spLocks xmlns:a="http://schemas.openxmlformats.org/drawingml/2006/main" noGrp="1"/>
          </p:cNvSpPr>
          <p:nvPr/>
        </p:nvSpPr>
        <p:spPr>
          <a:xfrm xmlns:a="http://schemas.openxmlformats.org/drawingml/2006/main">
            <a:off x="81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Search across climate catalogues</a:t>
            </a:r>
            <a:endParaRPr/>
          </a:p>
        </p:txBody>
      </p:sp>
      <p:sp>
        <p:nvSpPr>
          <p:cNvPr id="519" name="Google Shape;519;p20">
            <a:extLst xmlns:a="http://schemas.openxmlformats.org/drawingml/2006/main">
              <a:ext uri="{FF2B5EF4-FFF2-40B4-BE49-F238E27FC236}">
                <a16:creationId xmlns:a16="http://schemas.microsoft.com/office/drawing/2014/main" id="{67433233-6D4A-4EC5-B5C5-F4B7D621ACCF}"/>
              </a:ext>
            </a:extLst>
          </p:cNvPr>
          <p:cNvSpPr>
            <a:spLocks xmlns:a="http://schemas.openxmlformats.org/drawingml/2006/main" noGrp="1"/>
          </p:cNvSpPr>
          <p:nvPr/>
        </p:nvSpPr>
        <p:spPr>
          <a:xfrm xmlns:a="http://schemas.openxmlformats.org/drawingml/2006/main">
            <a:off x="819150" y="25527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Configure access and requests</a:t>
            </a:r>
            <a:endParaRPr/>
          </a:p>
        </p:txBody>
      </p:sp>
      <p:sp>
        <p:nvSpPr>
          <p:cNvPr id="520" name="Google Shape;520;p20">
            <a:extLst xmlns:a="http://schemas.openxmlformats.org/drawingml/2006/main">
              <a:ext uri="{FF2B5EF4-FFF2-40B4-BE49-F238E27FC236}">
                <a16:creationId xmlns:a16="http://schemas.microsoft.com/office/drawing/2014/main" id="{A988027D-6258-4ED3-9649-D92E13152EE0}"/>
              </a:ext>
            </a:extLst>
          </p:cNvPr>
          <p:cNvSpPr>
            <a:spLocks xmlns:a="http://schemas.openxmlformats.org/drawingml/2006/main" noGrp="1"/>
          </p:cNvSpPr>
          <p:nvPr/>
        </p:nvSpPr>
        <p:spPr>
          <a:xfrm xmlns:a="http://schemas.openxmlformats.org/drawingml/2006/main">
            <a:off x="81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Reconcile grids, units and calendars</a:t>
            </a:r>
            <a:endParaRPr/>
          </a:p>
        </p:txBody>
      </p:sp>
      <p:sp>
        <p:nvSpPr>
          <p:cNvPr id="521" name="Google Shape;521;p20">
            <a:extLst xmlns:a="http://schemas.openxmlformats.org/drawingml/2006/main">
              <a:ext uri="{FF2B5EF4-FFF2-40B4-BE49-F238E27FC236}">
                <a16:creationId xmlns:a16="http://schemas.microsoft.com/office/drawing/2014/main" id="{13EB2E30-BB78-4010-8AFB-6DDE1B09B063}"/>
              </a:ext>
            </a:extLst>
          </p:cNvPr>
          <p:cNvSpPr>
            <a:spLocks xmlns:a="http://schemas.openxmlformats.org/drawingml/2006/main" noGrp="1"/>
          </p:cNvSpPr>
          <p:nvPr/>
        </p:nvSpPr>
        <p:spPr>
          <a:xfrm xmlns:a="http://schemas.openxmlformats.org/drawingml/2006/main">
            <a:off x="81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Repeat the workflow for each analysis</a:t>
            </a:r>
            <a:endParaRPr/>
          </a:p>
        </p:txBody>
      </p:sp>
      <p:sp>
        <p:nvSpPr>
          <p:cNvPr id="522" name="Google Shape;522;p20">
            <a:extLst xmlns:a="http://schemas.openxmlformats.org/drawingml/2006/main">
              <a:ext uri="{FF2B5EF4-FFF2-40B4-BE49-F238E27FC236}">
                <a16:creationId xmlns:a16="http://schemas.microsoft.com/office/drawing/2014/main" id="{A9F2B597-82C6-4807-BF0D-9687B6D315AF}"/>
              </a:ext>
            </a:extLst>
          </p:cNvPr>
          <p:cNvSpPr>
            <a:spLocks xmlns:a="http://schemas.openxmlformats.org/drawingml/2006/main" noGrp="1"/>
          </p:cNvSpPr>
          <p:nvPr/>
        </p:nvSpPr>
        <p:spPr>
          <a:xfrm xmlns:a="http://schemas.openxmlformats.org/drawingml/2006/main">
            <a:off x="4438650" y="1866900"/>
            <a:ext cx="3314700" cy="2971800"/>
          </a:xfrm>
          <a:prstGeom xmlns:a="http://schemas.openxmlformats.org/drawingml/2006/main" prst="roundRect">
            <a:avLst>
              <a:gd name="adj" fmla="val 2564"/>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23" name="Google Shape;523;p20">
            <a:extLst xmlns:a="http://schemas.openxmlformats.org/drawingml/2006/main">
              <a:ext uri="{FF2B5EF4-FFF2-40B4-BE49-F238E27FC236}">
                <a16:creationId xmlns:a16="http://schemas.microsoft.com/office/drawing/2014/main" id="{DDC11438-6F4C-420E-89AB-8CB68801BC04}"/>
              </a:ext>
            </a:extLst>
          </p:cNvPr>
          <p:cNvSpPr>
            <a:spLocks xmlns:a="http://schemas.openxmlformats.org/drawingml/2006/main" noGrp="1"/>
          </p:cNvSpPr>
          <p:nvPr/>
        </p:nvSpPr>
        <p:spPr>
          <a:xfrm xmlns:a="http://schemas.openxmlformats.org/drawingml/2006/main">
            <a:off x="4953000" y="2228850"/>
            <a:ext cx="2286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2850"/>
              <a:buFont typeface="Lato"/>
              <a:buNone/>
            </a:pPr>
            <a:r>
              <a:rPr sz="2850" b="1" i="0">
                <a:solidFill>
                  <a:srgbClr val="FFFFFF"/>
                </a:solidFill>
                <a:latin typeface="Lato"/>
                <a:ea typeface="Lato"/>
                <a:cs typeface="Lato"/>
              </a:rPr>
              <a:t>CAVA</a:t>
            </a:r>
            <a:endParaRPr/>
          </a:p>
        </p:txBody>
      </p:sp>
      <p:sp>
        <p:nvSpPr>
          <p:cNvPr id="524" name="Google Shape;524;p20">
            <a:extLst xmlns:a="http://schemas.openxmlformats.org/drawingml/2006/main">
              <a:ext uri="{FF2B5EF4-FFF2-40B4-BE49-F238E27FC236}">
                <a16:creationId xmlns:a16="http://schemas.microsoft.com/office/drawing/2014/main" id="{FE164D20-9300-4A69-802F-B8CD23A53C5F}"/>
              </a:ext>
            </a:extLst>
          </p:cNvPr>
          <p:cNvSpPr>
            <a:spLocks xmlns:a="http://schemas.openxmlformats.org/drawingml/2006/main" noGrp="1"/>
          </p:cNvSpPr>
          <p:nvPr/>
        </p:nvSpPr>
        <p:spPr>
          <a:xfrm xmlns:a="http://schemas.openxmlformats.org/drawingml/2006/main">
            <a:off x="4914900" y="3086100"/>
            <a:ext cx="2362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Shared data access</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Harmonized processing</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Repeatable analytical workflows</a:t>
            </a:r>
            <a:endParaRPr/>
          </a:p>
        </p:txBody>
      </p:sp>
      <p:sp>
        <p:nvSpPr>
          <p:cNvPr id="525" name="Google Shape;525;p20">
            <a:extLst xmlns:a="http://schemas.openxmlformats.org/drawingml/2006/main">
              <a:ext uri="{FF2B5EF4-FFF2-40B4-BE49-F238E27FC236}">
                <a16:creationId xmlns:a16="http://schemas.microsoft.com/office/drawing/2014/main" id="{5A20A2E9-C3D4-42D6-B6A8-D2A908445BEE}"/>
              </a:ext>
            </a:extLst>
          </p:cNvPr>
          <p:cNvSpPr>
            <a:spLocks xmlns:a="http://schemas.openxmlformats.org/drawingml/2006/main" noGrp="1"/>
          </p:cNvSpPr>
          <p:nvPr/>
        </p:nvSpPr>
        <p:spPr>
          <a:xfrm xmlns:a="http://schemas.openxmlformats.org/drawingml/2006/main">
            <a:off x="843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96"/>
              <a:buFont typeface="Lato"/>
              <a:buNone/>
            </a:pPr>
            <a:r>
              <a:rPr sz="1296" b="1" i="0">
                <a:solidFill>
                  <a:srgbClr val="12304E"/>
                </a:solidFill>
                <a:latin typeface="Lato"/>
                <a:ea typeface="Lato"/>
                <a:cs typeface="Lato"/>
              </a:rPr>
              <a:t>Historical and future climate data</a:t>
            </a:r>
            <a:endParaRPr/>
          </a:p>
        </p:txBody>
      </p:sp>
      <p:sp>
        <p:nvSpPr>
          <p:cNvPr id="526" name="Google Shape;526;p20">
            <a:extLst xmlns:a="http://schemas.openxmlformats.org/drawingml/2006/main">
              <a:ext uri="{FF2B5EF4-FFF2-40B4-BE49-F238E27FC236}">
                <a16:creationId xmlns:a16="http://schemas.microsoft.com/office/drawing/2014/main" id="{E503B810-2545-4261-9F84-3AFDA4B43086}"/>
              </a:ext>
            </a:extLst>
          </p:cNvPr>
          <p:cNvSpPr>
            <a:spLocks xmlns:a="http://schemas.openxmlformats.org/drawingml/2006/main" noGrp="1"/>
          </p:cNvSpPr>
          <p:nvPr/>
        </p:nvSpPr>
        <p:spPr>
          <a:xfrm xmlns:a="http://schemas.openxmlformats.org/drawingml/2006/main">
            <a:off x="8439150" y="2552700"/>
            <a:ext cx="2952750" cy="428625"/>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Comparable climate indicators</a:t>
            </a:r>
            <a:endParaRPr/>
          </a:p>
        </p:txBody>
      </p:sp>
      <p:sp>
        <p:nvSpPr>
          <p:cNvPr id="527" name="Google Shape;527;p20">
            <a:extLst xmlns:a="http://schemas.openxmlformats.org/drawingml/2006/main">
              <a:ext uri="{FF2B5EF4-FFF2-40B4-BE49-F238E27FC236}">
                <a16:creationId xmlns:a16="http://schemas.microsoft.com/office/drawing/2014/main" id="{D0ACAE2C-5393-4C79-A064-7A43E4C35DA3}"/>
              </a:ext>
            </a:extLst>
          </p:cNvPr>
          <p:cNvSpPr>
            <a:spLocks xmlns:a="http://schemas.openxmlformats.org/drawingml/2006/main" noGrp="1"/>
          </p:cNvSpPr>
          <p:nvPr/>
        </p:nvSpPr>
        <p:spPr>
          <a:xfrm xmlns:a="http://schemas.openxmlformats.org/drawingml/2006/main">
            <a:off x="843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Maps and analytical outputs</a:t>
            </a:r>
            <a:endParaRPr/>
          </a:p>
        </p:txBody>
      </p:sp>
      <p:sp>
        <p:nvSpPr>
          <p:cNvPr id="528" name="Google Shape;528;p20">
            <a:extLst xmlns:a="http://schemas.openxmlformats.org/drawingml/2006/main">
              <a:ext uri="{FF2B5EF4-FFF2-40B4-BE49-F238E27FC236}">
                <a16:creationId xmlns:a16="http://schemas.microsoft.com/office/drawing/2014/main" id="{34865F6F-4631-4AD3-8A94-A07E203FE4E4}"/>
              </a:ext>
            </a:extLst>
          </p:cNvPr>
          <p:cNvSpPr>
            <a:spLocks xmlns:a="http://schemas.openxmlformats.org/drawingml/2006/main" noGrp="1"/>
          </p:cNvSpPr>
          <p:nvPr/>
        </p:nvSpPr>
        <p:spPr>
          <a:xfrm xmlns:a="http://schemas.openxmlformats.org/drawingml/2006/main">
            <a:off x="843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Inputs for downstream analysis</a:t>
            </a:r>
            <a:endParaRPr/>
          </a:p>
        </p:txBody>
      </p:sp>
      <p:sp>
        <p:nvSpPr>
          <p:cNvPr id="529" name="Google Shape;529;p20">
            <a:extLst xmlns:a="http://schemas.openxmlformats.org/drawingml/2006/main">
              <a:ext uri="{FF2B5EF4-FFF2-40B4-BE49-F238E27FC236}">
                <a16:creationId xmlns:a16="http://schemas.microsoft.com/office/drawing/2014/main" id="{2802D8CA-4C9C-4205-8F3B-D94841EBD48B}"/>
              </a:ext>
            </a:extLst>
          </p:cNvPr>
          <p:cNvSpPr>
            <a:spLocks xmlns:a="http://schemas.openxmlformats.org/drawingml/2006/main" noGrp="1"/>
          </p:cNvSpPr>
          <p:nvPr/>
        </p:nvSpPr>
        <p:spPr>
          <a:xfrm xmlns:a="http://schemas.openxmlformats.org/drawingml/2006/main">
            <a:off x="3086100" y="5257800"/>
            <a:ext cx="60198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800"/>
              <a:buFont typeface="Lato"/>
              <a:buNone/>
            </a:pPr>
            <a:r>
              <a:rPr sz="1800" b="1" i="0">
                <a:solidFill>
                  <a:srgbClr val="00A88F"/>
                </a:solidFill>
                <a:latin typeface="Lato"/>
                <a:ea typeface="Lato"/>
                <a:cs typeface="Lato"/>
              </a:rPr>
              <a:t>CAVA preserves the scientific choices while reducing repeated technical work</a:t>
            </a:r>
            <a:endParaRPr/>
          </a:p>
        </p:txBody>
      </p:sp>
      <p:sp>
        <p:nvSpPr>
          <p:cNvPr id="530" name="">
            <a:extLst xmlns:a="http://schemas.openxmlformats.org/drawingml/2006/main">
              <a:ext uri="{FF2B5EF4-FFF2-40B4-BE49-F238E27FC236}">
                <a16:creationId xmlns:a16="http://schemas.microsoft.com/office/drawing/2014/main" id="{C1D6CF59-101D-441A-A69F-1B6E8D8E47A7}"/>
              </a:ext>
            </a:extLst>
          </p:cNvPr>
          <p:cNvSpPr>
            <a:spLocks xmlns:a="http://schemas.openxmlformats.org/drawingml/2006/main" noGrp="1"/>
          </p:cNvSpPr>
          <p:nvPr/>
        </p:nvSpPr>
        <p:spPr>
          <a:xfrm xmlns:a="http://schemas.openxmlformats.org/drawingml/2006/main">
            <a:off x="81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CURRENT WORKFLOW</a:t>
            </a:r>
          </a:p>
        </p:txBody>
      </p:sp>
      <p:sp>
        <p:nvSpPr>
          <p:cNvPr id="531" name="">
            <a:extLst xmlns:a="http://schemas.openxmlformats.org/drawingml/2006/main">
              <a:ext uri="{FF2B5EF4-FFF2-40B4-BE49-F238E27FC236}">
                <a16:creationId xmlns:a16="http://schemas.microsoft.com/office/drawing/2014/main" id="{8EA2CA40-6CE8-410A-8FE9-23426E96869E}"/>
              </a:ext>
            </a:extLst>
          </p:cNvPr>
          <p:cNvSpPr>
            <a:spLocks xmlns:a="http://schemas.openxmlformats.org/drawingml/2006/main" noGrp="1"/>
          </p:cNvSpPr>
          <p:nvPr/>
        </p:nvSpPr>
        <p:spPr>
          <a:xfrm xmlns:a="http://schemas.openxmlformats.org/drawingml/2006/main">
            <a:off x="843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i="0">
                <a:solidFill>
                  <a:srgbClr val="008D7A"/>
                </a:solidFill>
                <a:latin typeface="Lato"/>
                <a:ea typeface="Lato"/>
                <a:cs typeface="Lato"/>
              </a:defRPr>
            </a:pPr>
            <a:r>
              <a:rPr sz="900" b="1" i="0">
                <a:solidFill>
                  <a:srgbClr val="008D7A"/>
                </a:solidFill>
                <a:latin typeface="Lato"/>
                <a:ea typeface="Lato"/>
                <a:cs typeface="Lato"/>
              </a:rPr>
              <a:t>WITH CAVA</a:t>
            </a:r>
          </a:p>
        </p:txBody>
      </p:sp>
    </p:spTree>
    <p:extLst>
      <p:ext uri="{BB962C8B-B14F-4D97-AF65-F5344CB8AC3E}">
        <p14:creationId xmlns:p14="http://schemas.microsoft.com/office/powerpoint/2010/main" val="1999855271"/>
      </p:ext>
    </p:extLst>
  </p:cSld>
</p:sld>
</file>

<file path=ppt/slides/slide2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35" name="Google Shape;535;p21">
            <a:extLst xmlns:a="http://schemas.openxmlformats.org/drawingml/2006/main">
              <a:ext uri="{FF2B5EF4-FFF2-40B4-BE49-F238E27FC236}">
                <a16:creationId xmlns:a16="http://schemas.microsoft.com/office/drawing/2014/main" id="{C3D8B1B9-AC61-43C0-A452-A052FB6D4CAB}"/>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6" name="Google Shape;536;p21">
            <a:extLst xmlns:a="http://schemas.openxmlformats.org/drawingml/2006/main">
              <a:ext uri="{FF2B5EF4-FFF2-40B4-BE49-F238E27FC236}">
                <a16:creationId xmlns:a16="http://schemas.microsoft.com/office/drawing/2014/main" id="{559968F2-D3EC-402F-BA26-693D39F769F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7" name="Google Shape;537;p21">
            <a:extLst xmlns:a="http://schemas.openxmlformats.org/drawingml/2006/main">
              <a:ext uri="{FF2B5EF4-FFF2-40B4-BE49-F238E27FC236}">
                <a16:creationId xmlns:a16="http://schemas.microsoft.com/office/drawing/2014/main" id="{966ACF35-585F-48E5-9706-7BF73FAAA376}"/>
              </a:ext>
            </a:extLst>
          </p:cNvPr>
          <p:cNvSpPr>
            <a:spLocks xmlns:a="http://schemas.openxmlformats.org/drawingml/2006/main" noGrp="1"/>
          </p:cNvSpPr>
          <p:nvPr/>
        </p:nvSpPr>
        <p:spPr>
          <a:xfrm xmlns:a="http://schemas.openxmlformats.org/drawingml/2006/main">
            <a:off x="723900" y="914400"/>
            <a:ext cx="238125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0000"/>
              </a:lnSpc>
              <a:spcBef>
                <a:spcPts val="0"/>
              </a:spcBef>
              <a:spcAft>
                <a:spcPts val="0"/>
              </a:spcAft>
              <a:buClr>
                <a:srgbClr val="A8D9CF"/>
              </a:buClr>
              <a:buSzPts val="8250"/>
              <a:buFont typeface="Lato"/>
              <a:buNone/>
            </a:pPr>
            <a:r>
              <a:rPr sz="8250" b="1" i="0">
                <a:solidFill>
                  <a:srgbClr val="A8D9CF"/>
                </a:solidFill>
                <a:latin typeface="Lato"/>
                <a:ea typeface="Lato"/>
                <a:cs typeface="Lato"/>
              </a:rPr>
              <a:t>21</a:t>
            </a:r>
            <a:endParaRPr/>
          </a:p>
        </p:txBody>
      </p:sp>
      <p:sp>
        <p:nvSpPr>
          <p:cNvPr id="538" name="Google Shape;538;p21">
            <a:extLst xmlns:a="http://schemas.openxmlformats.org/drawingml/2006/main">
              <a:ext uri="{FF2B5EF4-FFF2-40B4-BE49-F238E27FC236}">
                <a16:creationId xmlns:a16="http://schemas.microsoft.com/office/drawing/2014/main" id="{4E6F711C-D040-4DA3-8474-D9C9BC522259}"/>
              </a:ext>
            </a:extLst>
          </p:cNvPr>
          <p:cNvSpPr>
            <a:spLocks xmlns:a="http://schemas.openxmlformats.org/drawingml/2006/main" noGrp="1"/>
          </p:cNvSpPr>
          <p:nvPr/>
        </p:nvSpPr>
        <p:spPr>
          <a:xfrm xmlns:a="http://schemas.openxmlformats.org/drawingml/2006/main">
            <a:off x="4724400" y="120015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9" name="Google Shape;539;p21">
            <a:extLst xmlns:a="http://schemas.openxmlformats.org/drawingml/2006/main">
              <a:ext uri="{FF2B5EF4-FFF2-40B4-BE49-F238E27FC236}">
                <a16:creationId xmlns:a16="http://schemas.microsoft.com/office/drawing/2014/main" id="{34AED4A2-5E68-4AEF-A1FC-DDE5A6ED5338}"/>
              </a:ext>
            </a:extLst>
          </p:cNvPr>
          <p:cNvSpPr>
            <a:spLocks xmlns:a="http://schemas.openxmlformats.org/drawingml/2006/main" noGrp="1"/>
          </p:cNvSpPr>
          <p:nvPr/>
        </p:nvSpPr>
        <p:spPr>
          <a:xfrm xmlns:a="http://schemas.openxmlformats.org/drawingml/2006/main">
            <a:off x="4724400" y="1809750"/>
            <a:ext cx="6334125"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12304E"/>
              </a:buClr>
              <a:buSzPts val="3150"/>
              <a:buFont typeface="Lato"/>
              <a:buNone/>
            </a:pPr>
            <a:r>
              <a:rPr sz="3150" b="1" i="0">
                <a:solidFill>
                  <a:srgbClr val="12304E"/>
                </a:solidFill>
                <a:latin typeface="Lato"/>
                <a:ea typeface="Lato"/>
                <a:cs typeface="Lato"/>
              </a:rPr>
              <a:t>How CAVA operationalizes the workflow</a:t>
            </a:r>
            <a:endParaRPr/>
          </a:p>
        </p:txBody>
      </p:sp>
      <p:sp>
        <p:nvSpPr>
          <p:cNvPr id="540" name="Google Shape;540;p21">
            <a:extLst xmlns:a="http://schemas.openxmlformats.org/drawingml/2006/main">
              <a:ext uri="{FF2B5EF4-FFF2-40B4-BE49-F238E27FC236}">
                <a16:creationId xmlns:a16="http://schemas.microsoft.com/office/drawing/2014/main" id="{5735361C-0A42-478D-9C6E-603A41098600}"/>
              </a:ext>
            </a:extLst>
          </p:cNvPr>
          <p:cNvSpPr>
            <a:spLocks xmlns:a="http://schemas.openxmlformats.org/drawingml/2006/main" noGrp="1"/>
          </p:cNvSpPr>
          <p:nvPr/>
        </p:nvSpPr>
        <p:spPr>
          <a:xfrm xmlns:a="http://schemas.openxmlformats.org/drawingml/2006/main">
            <a:off x="4743450" y="3562350"/>
            <a:ext cx="61912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687984"/>
              </a:buClr>
              <a:buSzPts val="1575"/>
              <a:buFont typeface="Lato"/>
              <a:buNone/>
            </a:pPr>
            <a:r>
              <a:rPr sz="1575" b="0" i="0">
                <a:solidFill>
                  <a:srgbClr val="687984"/>
                </a:solidFill>
                <a:latin typeface="Lato"/>
                <a:ea typeface="Lato"/>
                <a:cs typeface="Lato"/>
              </a:rPr>
              <a:t>A common data backbone supports different interfaces for different users and analytical needs.</a:t>
            </a:r>
            <a:endParaRPr/>
          </a:p>
        </p:txBody>
      </p:sp>
      <p:sp>
        <p:nvSpPr>
          <p:cNvPr id="541" name="Google Shape;541;p21">
            <a:extLst xmlns:a="http://schemas.openxmlformats.org/drawingml/2006/main">
              <a:ext uri="{FF2B5EF4-FFF2-40B4-BE49-F238E27FC236}">
                <a16:creationId xmlns:a16="http://schemas.microsoft.com/office/drawing/2014/main" id="{4CD05511-C166-4DA8-95D8-A5065A48FDE4}"/>
              </a:ext>
            </a:extLst>
          </p:cNvPr>
          <p:cNvSpPr>
            <a:spLocks xmlns:a="http://schemas.openxmlformats.org/drawingml/2006/main" noGrp="1"/>
          </p:cNvSpPr>
          <p:nvPr/>
        </p:nvSpPr>
        <p:spPr>
          <a:xfrm xmlns:a="http://schemas.openxmlformats.org/drawingml/2006/main">
            <a:off x="4743450" y="5905500"/>
            <a:ext cx="61912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2" name="">
            <a:extLst xmlns:a="http://schemas.openxmlformats.org/drawingml/2006/main">
              <a:ext uri="{FF2B5EF4-FFF2-40B4-BE49-F238E27FC236}">
                <a16:creationId xmlns:a16="http://schemas.microsoft.com/office/drawing/2014/main" id="{4EB6D521-3970-4065-9F54-3C9FD34402C0}"/>
              </a:ext>
            </a:extLst>
          </p:cNvPr>
          <p:cNvSpPr>
            <a:spLocks xmlns:a="http://schemas.openxmlformats.org/drawingml/2006/main" noGrp="1"/>
          </p:cNvSpPr>
          <p:nvPr/>
        </p:nvSpPr>
        <p:spPr>
          <a:xfrm xmlns:a="http://schemas.openxmlformats.org/drawingml/2006/main">
            <a:off x="4743450" y="521970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8D7A"/>
                </a:solidFill>
                <a:latin typeface="Lato"/>
                <a:ea typeface="Lato"/>
                <a:cs typeface="Lato"/>
              </a:defRPr>
            </a:pPr>
            <a:r>
              <a:rPr sz="1050" b="1" i="0">
                <a:solidFill>
                  <a:srgbClr val="008D7A"/>
                </a:solidFill>
                <a:latin typeface="Lato"/>
                <a:ea typeface="Lato"/>
                <a:cs typeface="Lato"/>
              </a:rPr>
              <a:t>EZEQUIEL · CAVA ARCHITECTURE</a:t>
            </a:r>
          </a:p>
        </p:txBody>
      </p:sp>
    </p:spTree>
    <p:extLst>
      <p:ext uri="{BB962C8B-B14F-4D97-AF65-F5344CB8AC3E}">
        <p14:creationId xmlns:p14="http://schemas.microsoft.com/office/powerpoint/2010/main" val="1244500047"/>
      </p:ext>
    </p:extLst>
  </p:cSld>
</p:sld>
</file>

<file path=ppt/slides/slide22.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547" name="Google Shape;547;p22">
            <a:extLst xmlns:a="http://schemas.openxmlformats.org/drawingml/2006/main">
              <a:ext uri="{FF2B5EF4-FFF2-40B4-BE49-F238E27FC236}">
                <a16:creationId xmlns:a16="http://schemas.microsoft.com/office/drawing/2014/main" id="{BEB43B71-1ED0-447E-8A49-AB94003F5E9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8" name="Google Shape;548;p22">
            <a:extLst xmlns:a="http://schemas.openxmlformats.org/drawingml/2006/main">
              <a:ext uri="{FF2B5EF4-FFF2-40B4-BE49-F238E27FC236}">
                <a16:creationId xmlns:a16="http://schemas.microsoft.com/office/drawing/2014/main" id="{2BE4465E-B9E2-4D84-B04C-B8F36CB7870C}"/>
              </a:ext>
            </a:extLst>
          </p:cNvPr>
          <p:cNvSpPr>
            <a:spLocks xmlns:a="http://schemas.openxmlformats.org/drawingml/2006/main" noGrp="1"/>
          </p:cNvSpPr>
          <p:nvPr/>
        </p:nvSpPr>
        <p:spPr>
          <a:xfrm xmlns:a="http://schemas.openxmlformats.org/drawingml/2006/main">
            <a:off x="723900" y="457200"/>
            <a:ext cx="7620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325"/>
              <a:buFont typeface="Lato"/>
              <a:buNone/>
            </a:pPr>
            <a:r>
              <a:rPr sz="2325" b="1" i="0">
                <a:solidFill>
                  <a:srgbClr val="FFFFFF"/>
                </a:solidFill>
                <a:latin typeface="Lato"/>
                <a:ea typeface="Lato"/>
                <a:cs typeface="Lato"/>
              </a:rPr>
              <a:t>CAVA data backbone</a:t>
            </a:r>
            <a:endParaRPr/>
          </a:p>
        </p:txBody>
      </p:sp>
      <p:sp>
        <p:nvSpPr>
          <p:cNvPr id="549" name="Google Shape;549;p22">
            <a:extLst xmlns:a="http://schemas.openxmlformats.org/drawingml/2006/main">
              <a:ext uri="{FF2B5EF4-FFF2-40B4-BE49-F238E27FC236}">
                <a16:creationId xmlns:a16="http://schemas.microsoft.com/office/drawing/2014/main" id="{C548A6A4-7CC4-4481-9310-395C885871D0}"/>
              </a:ext>
            </a:extLst>
          </p:cNvPr>
          <p:cNvSpPr>
            <a:spLocks xmlns:a="http://schemas.openxmlformats.org/drawingml/2006/main" noGrp="1"/>
          </p:cNvSpPr>
          <p:nvPr/>
        </p:nvSpPr>
        <p:spPr>
          <a:xfrm xmlns:a="http://schemas.openxmlformats.org/drawingml/2006/main">
            <a:off x="733425" y="1009650"/>
            <a:ext cx="8858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FD0DA"/>
              </a:buClr>
              <a:buSzPts val="1125"/>
              <a:buFont typeface="Lato"/>
              <a:buNone/>
            </a:pPr>
            <a:r>
              <a:rPr sz="1125" b="0" i="0">
                <a:solidFill>
                  <a:srgbClr val="BFD0DA"/>
                </a:solidFill>
                <a:latin typeface="Lato"/>
                <a:ea typeface="Lato"/>
                <a:cs typeface="Lato"/>
              </a:rPr>
              <a:t>A shared infrastructure connects source datasets, harmonized access and user-facing outputs</a:t>
            </a:r>
            <a:endParaRPr/>
          </a:p>
        </p:txBody>
      </p:sp>
      <p:sp>
        <p:nvSpPr>
          <p:cNvPr id="550" name="Google Shape;550;p22">
            <a:extLst xmlns:a="http://schemas.openxmlformats.org/drawingml/2006/main">
              <a:ext uri="{FF2B5EF4-FFF2-40B4-BE49-F238E27FC236}">
                <a16:creationId xmlns:a16="http://schemas.microsoft.com/office/drawing/2014/main" id="{14745C06-5CE8-4C80-BE3B-EA9EFA941C5E}"/>
              </a:ext>
            </a:extLst>
          </p:cNvPr>
          <p:cNvSpPr>
            <a:spLocks xmlns:a="http://schemas.openxmlformats.org/drawingml/2006/main" noGrp="1"/>
          </p:cNvSpPr>
          <p:nvPr/>
        </p:nvSpPr>
        <p:spPr>
          <a:xfrm xmlns:a="http://schemas.openxmlformats.org/drawingml/2006/main">
            <a:off x="733425" y="14478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1" name="Google Shape;551;p22">
            <a:extLst xmlns:a="http://schemas.openxmlformats.org/drawingml/2006/main">
              <a:ext uri="{FF2B5EF4-FFF2-40B4-BE49-F238E27FC236}">
                <a16:creationId xmlns:a16="http://schemas.microsoft.com/office/drawing/2014/main" id="{5528C624-6AC7-48B7-AC6E-4CC44BC55D32}"/>
              </a:ext>
            </a:extLst>
          </p:cNvPr>
          <p:cNvSpPr>
            <a:spLocks xmlns:a="http://schemas.openxmlformats.org/drawingml/2006/main" noGrp="1"/>
          </p:cNvSpPr>
          <p:nvPr/>
        </p:nvSpPr>
        <p:spPr>
          <a:xfrm xmlns:a="http://schemas.openxmlformats.org/drawingml/2006/main">
            <a:off x="971550" y="1847850"/>
            <a:ext cx="10248900" cy="628650"/>
          </a:xfrm>
          <a:prstGeom xmlns:a="http://schemas.openxmlformats.org/drawingml/2006/main" prst="rect">
            <a:avLst/>
          </a:prstGeom>
          <a:solidFill xmlns:a="http://schemas.openxmlformats.org/drawingml/2006/main">
            <a:srgbClr val="EAF3F8">
              <a:alpha val="14118"/>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2" name="Google Shape;552;p22">
            <a:extLst xmlns:a="http://schemas.openxmlformats.org/drawingml/2006/main">
              <a:ext uri="{FF2B5EF4-FFF2-40B4-BE49-F238E27FC236}">
                <a16:creationId xmlns:a16="http://schemas.microsoft.com/office/drawing/2014/main" id="{95BA66E0-1EFD-4991-88D1-8CC7DE491403}"/>
              </a:ext>
            </a:extLst>
          </p:cNvPr>
          <p:cNvSpPr>
            <a:spLocks xmlns:a="http://schemas.openxmlformats.org/drawingml/2006/main" noGrp="1"/>
          </p:cNvSpPr>
          <p:nvPr/>
        </p:nvSpPr>
        <p:spPr>
          <a:xfrm xmlns:a="http://schemas.openxmlformats.org/drawingml/2006/main">
            <a:off x="1200150" y="20097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01</a:t>
            </a:r>
            <a:endParaRPr/>
          </a:p>
        </p:txBody>
      </p:sp>
      <p:sp>
        <p:nvSpPr>
          <p:cNvPr id="553" name="Google Shape;553;p22">
            <a:extLst xmlns:a="http://schemas.openxmlformats.org/drawingml/2006/main">
              <a:ext uri="{FF2B5EF4-FFF2-40B4-BE49-F238E27FC236}">
                <a16:creationId xmlns:a16="http://schemas.microsoft.com/office/drawing/2014/main" id="{28D3C830-7502-4FC3-89D6-0A3CCF2BBEC7}"/>
              </a:ext>
            </a:extLst>
          </p:cNvPr>
          <p:cNvSpPr>
            <a:spLocks xmlns:a="http://schemas.openxmlformats.org/drawingml/2006/main" noGrp="1"/>
          </p:cNvSpPr>
          <p:nvPr/>
        </p:nvSpPr>
        <p:spPr>
          <a:xfrm xmlns:a="http://schemas.openxmlformats.org/drawingml/2006/main">
            <a:off x="1809750" y="20097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SOURCE DATA</a:t>
            </a:r>
            <a:endParaRPr/>
          </a:p>
        </p:txBody>
      </p:sp>
      <p:sp>
        <p:nvSpPr>
          <p:cNvPr id="554" name="Google Shape;554;p22">
            <a:extLst xmlns:a="http://schemas.openxmlformats.org/drawingml/2006/main">
              <a:ext uri="{FF2B5EF4-FFF2-40B4-BE49-F238E27FC236}">
                <a16:creationId xmlns:a16="http://schemas.microsoft.com/office/drawing/2014/main" id="{69E0A8CB-1641-45DF-8826-6C89E7F1D1A2}"/>
              </a:ext>
            </a:extLst>
          </p:cNvPr>
          <p:cNvSpPr>
            <a:spLocks xmlns:a="http://schemas.openxmlformats.org/drawingml/2006/main" noGrp="1"/>
          </p:cNvSpPr>
          <p:nvPr/>
        </p:nvSpPr>
        <p:spPr>
          <a:xfrm xmlns:a="http://schemas.openxmlformats.org/drawingml/2006/main">
            <a:off x="4095750" y="1962150"/>
            <a:ext cx="6477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ERA5 and CORDEX-CORE climate datasets </a:t>
            </a:r>
            <a:r>
              <a:rPr sz="1350">
                <a:solidFill>
                  <a:srgbClr val="FFFFFF"/>
                </a:solidFill>
                <a:latin typeface="Lato"/>
                <a:ea typeface="Lato"/>
                <a:cs typeface="Lato"/>
              </a:rPr>
              <a:t>(NetCDF, ~20 TB)</a:t>
            </a:r>
            <a:endParaRPr/>
          </a:p>
        </p:txBody>
      </p:sp>
      <p:sp>
        <p:nvSpPr>
          <p:cNvPr id="555" name="Google Shape;555;p22">
            <a:extLst xmlns:a="http://schemas.openxmlformats.org/drawingml/2006/main">
              <a:ext uri="{FF2B5EF4-FFF2-40B4-BE49-F238E27FC236}">
                <a16:creationId xmlns:a16="http://schemas.microsoft.com/office/drawing/2014/main" id="{C9C1525B-CCEF-444E-9480-952E6F705711}"/>
              </a:ext>
            </a:extLst>
          </p:cNvPr>
          <p:cNvSpPr>
            <a:spLocks xmlns:a="http://schemas.openxmlformats.org/drawingml/2006/main" noGrp="1"/>
          </p:cNvSpPr>
          <p:nvPr/>
        </p:nvSpPr>
        <p:spPr>
          <a:xfrm xmlns:a="http://schemas.openxmlformats.org/drawingml/2006/main">
            <a:off x="1333500" y="2724150"/>
            <a:ext cx="9525000" cy="628650"/>
          </a:xfrm>
          <a:prstGeom xmlns:a="http://schemas.openxmlformats.org/drawingml/2006/main" prst="rect">
            <a:avLst/>
          </a:prstGeom>
          <a:solidFill xmlns:a="http://schemas.openxmlformats.org/drawingml/2006/main">
            <a:srgbClr val="00A88F">
              <a:alpha val="21961"/>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6" name="Google Shape;556;p22">
            <a:extLst xmlns:a="http://schemas.openxmlformats.org/drawingml/2006/main">
              <a:ext uri="{FF2B5EF4-FFF2-40B4-BE49-F238E27FC236}">
                <a16:creationId xmlns:a16="http://schemas.microsoft.com/office/drawing/2014/main" id="{6F5E5061-DB7D-48F1-BDE9-E79C28755D59}"/>
              </a:ext>
            </a:extLst>
          </p:cNvPr>
          <p:cNvSpPr>
            <a:spLocks xmlns:a="http://schemas.openxmlformats.org/drawingml/2006/main" noGrp="1"/>
          </p:cNvSpPr>
          <p:nvPr/>
        </p:nvSpPr>
        <p:spPr>
          <a:xfrm xmlns:a="http://schemas.openxmlformats.org/drawingml/2006/main">
            <a:off x="1562100" y="28860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125"/>
              <a:buFont typeface="Lato"/>
              <a:buNone/>
            </a:pPr>
            <a:r>
              <a:rPr sz="1125" b="1" i="0">
                <a:solidFill>
                  <a:srgbClr val="8BE0D2"/>
                </a:solidFill>
                <a:latin typeface="Lato"/>
                <a:ea typeface="Lato"/>
                <a:cs typeface="Lato"/>
              </a:rPr>
              <a:t>02</a:t>
            </a:r>
            <a:endParaRPr/>
          </a:p>
        </p:txBody>
      </p:sp>
      <p:sp>
        <p:nvSpPr>
          <p:cNvPr id="557" name="Google Shape;557;p22">
            <a:extLst xmlns:a="http://schemas.openxmlformats.org/drawingml/2006/main">
              <a:ext uri="{FF2B5EF4-FFF2-40B4-BE49-F238E27FC236}">
                <a16:creationId xmlns:a16="http://schemas.microsoft.com/office/drawing/2014/main" id="{9EBB800B-8FE9-4ADB-8A76-6C64ED24ACAB}"/>
              </a:ext>
            </a:extLst>
          </p:cNvPr>
          <p:cNvSpPr>
            <a:spLocks xmlns:a="http://schemas.openxmlformats.org/drawingml/2006/main" noGrp="1"/>
          </p:cNvSpPr>
          <p:nvPr/>
        </p:nvSpPr>
        <p:spPr>
          <a:xfrm xmlns:a="http://schemas.openxmlformats.org/drawingml/2006/main">
            <a:off x="2171700" y="28860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050"/>
              <a:buFont typeface="Lato"/>
              <a:buNone/>
            </a:pPr>
            <a:r>
              <a:rPr sz="1050" b="1" i="0">
                <a:solidFill>
                  <a:srgbClr val="8BE0D2"/>
                </a:solidFill>
                <a:latin typeface="Lato"/>
                <a:ea typeface="Lato"/>
                <a:cs typeface="Lato"/>
              </a:rPr>
              <a:t>REMOTE SERVICES</a:t>
            </a:r>
            <a:endParaRPr/>
          </a:p>
        </p:txBody>
      </p:sp>
      <p:sp>
        <p:nvSpPr>
          <p:cNvPr id="558" name="Google Shape;558;p22">
            <a:extLst xmlns:a="http://schemas.openxmlformats.org/drawingml/2006/main">
              <a:ext uri="{FF2B5EF4-FFF2-40B4-BE49-F238E27FC236}">
                <a16:creationId xmlns:a16="http://schemas.microsoft.com/office/drawing/2014/main" id="{F90F978C-78A5-4DF6-88A7-5E34BDB1009A}"/>
              </a:ext>
            </a:extLst>
          </p:cNvPr>
          <p:cNvSpPr>
            <a:spLocks xmlns:a="http://schemas.openxmlformats.org/drawingml/2006/main" noGrp="1"/>
          </p:cNvSpPr>
          <p:nvPr/>
        </p:nvSpPr>
        <p:spPr>
          <a:xfrm xmlns:a="http://schemas.openxmlformats.org/drawingml/2006/main">
            <a:off x="4457700" y="2838450"/>
            <a:ext cx="57531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THREDDS and OPeNDAP deliver only the requested subset</a:t>
            </a:r>
            <a:endParaRPr/>
          </a:p>
        </p:txBody>
      </p:sp>
      <p:sp>
        <p:nvSpPr>
          <p:cNvPr id="559" name="Google Shape;559;p22">
            <a:extLst xmlns:a="http://schemas.openxmlformats.org/drawingml/2006/main">
              <a:ext uri="{FF2B5EF4-FFF2-40B4-BE49-F238E27FC236}">
                <a16:creationId xmlns:a16="http://schemas.microsoft.com/office/drawing/2014/main" id="{067459C7-FFCC-4101-AC1B-0D59861E6BDD}"/>
              </a:ext>
            </a:extLst>
          </p:cNvPr>
          <p:cNvSpPr>
            <a:spLocks xmlns:a="http://schemas.openxmlformats.org/drawingml/2006/main" noGrp="1"/>
          </p:cNvSpPr>
          <p:nvPr/>
        </p:nvSpPr>
        <p:spPr>
          <a:xfrm xmlns:a="http://schemas.openxmlformats.org/drawingml/2006/main">
            <a:off x="1695450" y="3600450"/>
            <a:ext cx="8801100" cy="628650"/>
          </a:xfrm>
          <a:prstGeom xmlns:a="http://schemas.openxmlformats.org/drawingml/2006/main" prst="rect">
            <a:avLst/>
          </a:prstGeom>
          <a:solidFill xmlns:a="http://schemas.openxmlformats.org/drawingml/2006/main">
            <a:srgbClr val="FFFFFF">
              <a:alpha val="10196"/>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0" name="Google Shape;560;p22">
            <a:extLst xmlns:a="http://schemas.openxmlformats.org/drawingml/2006/main">
              <a:ext uri="{FF2B5EF4-FFF2-40B4-BE49-F238E27FC236}">
                <a16:creationId xmlns:a16="http://schemas.microsoft.com/office/drawing/2014/main" id="{61FA8A19-8A27-4B84-999F-F39034181A9E}"/>
              </a:ext>
            </a:extLst>
          </p:cNvPr>
          <p:cNvSpPr>
            <a:spLocks xmlns:a="http://schemas.openxmlformats.org/drawingml/2006/main" noGrp="1"/>
          </p:cNvSpPr>
          <p:nvPr/>
        </p:nvSpPr>
        <p:spPr>
          <a:xfrm xmlns:a="http://schemas.openxmlformats.org/drawingml/2006/main">
            <a:off x="1924050" y="37623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03</a:t>
            </a:r>
            <a:endParaRPr/>
          </a:p>
        </p:txBody>
      </p:sp>
      <p:sp>
        <p:nvSpPr>
          <p:cNvPr id="561" name="Google Shape;561;p22">
            <a:extLst xmlns:a="http://schemas.openxmlformats.org/drawingml/2006/main">
              <a:ext uri="{FF2B5EF4-FFF2-40B4-BE49-F238E27FC236}">
                <a16:creationId xmlns:a16="http://schemas.microsoft.com/office/drawing/2014/main" id="{57AC2A3A-647C-4082-A021-429A1C976BC1}"/>
              </a:ext>
            </a:extLst>
          </p:cNvPr>
          <p:cNvSpPr>
            <a:spLocks xmlns:a="http://schemas.openxmlformats.org/drawingml/2006/main" noGrp="1"/>
          </p:cNvSpPr>
          <p:nvPr/>
        </p:nvSpPr>
        <p:spPr>
          <a:xfrm xmlns:a="http://schemas.openxmlformats.org/drawingml/2006/main">
            <a:off x="2533650" y="37623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HARMONIZATION</a:t>
            </a:r>
            <a:endParaRPr/>
          </a:p>
        </p:txBody>
      </p:sp>
      <p:sp>
        <p:nvSpPr>
          <p:cNvPr id="562" name="Google Shape;562;p22">
            <a:extLst xmlns:a="http://schemas.openxmlformats.org/drawingml/2006/main">
              <a:ext uri="{FF2B5EF4-FFF2-40B4-BE49-F238E27FC236}">
                <a16:creationId xmlns:a16="http://schemas.microsoft.com/office/drawing/2014/main" id="{6134BDBC-7C29-4BBC-898B-7B232F2C3DA3}"/>
              </a:ext>
            </a:extLst>
          </p:cNvPr>
          <p:cNvSpPr>
            <a:spLocks xmlns:a="http://schemas.openxmlformats.org/drawingml/2006/main" noGrp="1"/>
          </p:cNvSpPr>
          <p:nvPr/>
        </p:nvSpPr>
        <p:spPr>
          <a:xfrm xmlns:a="http://schemas.openxmlformats.org/drawingml/2006/main">
            <a:off x="4819650" y="3714750"/>
            <a:ext cx="50292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Spatial selection, calendars, units and analysis-ready structures</a:t>
            </a:r>
            <a:endParaRPr/>
          </a:p>
        </p:txBody>
      </p:sp>
      <p:sp>
        <p:nvSpPr>
          <p:cNvPr id="563" name="Google Shape;563;p22">
            <a:extLst xmlns:a="http://schemas.openxmlformats.org/drawingml/2006/main">
              <a:ext uri="{FF2B5EF4-FFF2-40B4-BE49-F238E27FC236}">
                <a16:creationId xmlns:a16="http://schemas.microsoft.com/office/drawing/2014/main" id="{75990AFA-F05A-4451-85EF-6C83CADC509E}"/>
              </a:ext>
            </a:extLst>
          </p:cNvPr>
          <p:cNvSpPr>
            <a:spLocks xmlns:a="http://schemas.openxmlformats.org/drawingml/2006/main" noGrp="1"/>
          </p:cNvSpPr>
          <p:nvPr/>
        </p:nvSpPr>
        <p:spPr>
          <a:xfrm xmlns:a="http://schemas.openxmlformats.org/drawingml/2006/main">
            <a:off x="2057400" y="4476750"/>
            <a:ext cx="8077200" cy="628650"/>
          </a:xfrm>
          <a:prstGeom xmlns:a="http://schemas.openxmlformats.org/drawingml/2006/main" prst="rect">
            <a:avLst/>
          </a:prstGeom>
          <a:solidFill xmlns:a="http://schemas.openxmlformats.org/drawingml/2006/main">
            <a:srgbClr val="F2B632">
              <a:alpha val="2000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4" name="Google Shape;564;p22">
            <a:extLst xmlns:a="http://schemas.openxmlformats.org/drawingml/2006/main">
              <a:ext uri="{FF2B5EF4-FFF2-40B4-BE49-F238E27FC236}">
                <a16:creationId xmlns:a16="http://schemas.microsoft.com/office/drawing/2014/main" id="{682C9F5E-E9D4-4C24-A21F-84930EFE7713}"/>
              </a:ext>
            </a:extLst>
          </p:cNvPr>
          <p:cNvSpPr>
            <a:spLocks xmlns:a="http://schemas.openxmlformats.org/drawingml/2006/main" noGrp="1"/>
          </p:cNvSpPr>
          <p:nvPr/>
        </p:nvSpPr>
        <p:spPr>
          <a:xfrm xmlns:a="http://schemas.openxmlformats.org/drawingml/2006/main">
            <a:off x="2286000" y="46386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125"/>
              <a:buFont typeface="Lato"/>
              <a:buNone/>
            </a:pPr>
            <a:r>
              <a:rPr sz="1125" b="1" i="0">
                <a:solidFill>
                  <a:srgbClr val="FFD879"/>
                </a:solidFill>
                <a:latin typeface="Lato"/>
                <a:ea typeface="Lato"/>
                <a:cs typeface="Lato"/>
              </a:rPr>
              <a:t>04</a:t>
            </a:r>
            <a:endParaRPr/>
          </a:p>
        </p:txBody>
      </p:sp>
      <p:sp>
        <p:nvSpPr>
          <p:cNvPr id="565" name="Google Shape;565;p22">
            <a:extLst xmlns:a="http://schemas.openxmlformats.org/drawingml/2006/main">
              <a:ext uri="{FF2B5EF4-FFF2-40B4-BE49-F238E27FC236}">
                <a16:creationId xmlns:a16="http://schemas.microsoft.com/office/drawing/2014/main" id="{71694DEA-9C48-405B-9DF3-BD72D347BEC0}"/>
              </a:ext>
            </a:extLst>
          </p:cNvPr>
          <p:cNvSpPr>
            <a:spLocks xmlns:a="http://schemas.openxmlformats.org/drawingml/2006/main" noGrp="1"/>
          </p:cNvSpPr>
          <p:nvPr/>
        </p:nvSpPr>
        <p:spPr>
          <a:xfrm xmlns:a="http://schemas.openxmlformats.org/drawingml/2006/main">
            <a:off x="2895600" y="46386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050"/>
              <a:buFont typeface="Lato"/>
              <a:buNone/>
            </a:pPr>
            <a:r>
              <a:rPr sz="1050" b="1" i="0">
                <a:solidFill>
                  <a:srgbClr val="FFD879"/>
                </a:solidFill>
                <a:latin typeface="Lato"/>
                <a:ea typeface="Lato"/>
                <a:cs typeface="Lato"/>
              </a:rPr>
              <a:t>ANALYTICAL OUTPUTS</a:t>
            </a:r>
            <a:endParaRPr/>
          </a:p>
        </p:txBody>
      </p:sp>
      <p:sp>
        <p:nvSpPr>
          <p:cNvPr id="566" name="Google Shape;566;p22">
            <a:extLst xmlns:a="http://schemas.openxmlformats.org/drawingml/2006/main">
              <a:ext uri="{FF2B5EF4-FFF2-40B4-BE49-F238E27FC236}">
                <a16:creationId xmlns:a16="http://schemas.microsoft.com/office/drawing/2014/main" id="{65FAD138-7EBD-494A-8450-03967A164282}"/>
              </a:ext>
            </a:extLst>
          </p:cNvPr>
          <p:cNvSpPr>
            <a:spLocks xmlns:a="http://schemas.openxmlformats.org/drawingml/2006/main" noGrp="1"/>
          </p:cNvSpPr>
          <p:nvPr/>
        </p:nvSpPr>
        <p:spPr>
          <a:xfrm xmlns:a="http://schemas.openxmlformats.org/drawingml/2006/main">
            <a:off x="5181600" y="4591050"/>
            <a:ext cx="43053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50"/>
              <a:buFont typeface="Lato"/>
              <a:buNone/>
            </a:pPr>
            <a:r>
              <a:rPr sz="1250" b="0" i="0">
                <a:solidFill>
                  <a:srgbClr val="FFFFFF"/>
                </a:solidFill>
                <a:latin typeface="Lato"/>
                <a:ea typeface="Lato"/>
                <a:cs typeface="Lato"/>
              </a:rPr>
              <a:t>Indicators, maps, time series and data for downstream workflows</a:t>
            </a:r>
            <a:endParaRPr/>
          </a:p>
        </p:txBody>
      </p:sp>
      <p:sp>
        <p:nvSpPr>
          <p:cNvPr id="567" name="Google Shape;567;p22">
            <a:extLst xmlns:a="http://schemas.openxmlformats.org/drawingml/2006/main">
              <a:ext uri="{FF2B5EF4-FFF2-40B4-BE49-F238E27FC236}">
                <a16:creationId xmlns:a16="http://schemas.microsoft.com/office/drawing/2014/main" id="{F8C562E6-FB3E-4BD9-8D44-0D03865786E6}"/>
              </a:ext>
            </a:extLst>
          </p:cNvPr>
          <p:cNvSpPr>
            <a:spLocks xmlns:a="http://schemas.openxmlformats.org/drawingml/2006/main" noGrp="1"/>
          </p:cNvSpPr>
          <p:nvPr/>
        </p:nvSpPr>
        <p:spPr>
          <a:xfrm xmlns:a="http://schemas.openxmlformats.org/drawingml/2006/main">
            <a:off x="2381250" y="5648325"/>
            <a:ext cx="7429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Confirm production services, dataset catalogue and responsibilities with Cantabria</a:t>
            </a:r>
            <a:endParaRPr/>
          </a:p>
        </p:txBody>
      </p:sp>
      <p:sp>
        <p:nvSpPr>
          <p:cNvPr id="568" name="Google Shape;568;p22">
            <a:extLst xmlns:a="http://schemas.openxmlformats.org/drawingml/2006/main">
              <a:ext uri="{FF2B5EF4-FFF2-40B4-BE49-F238E27FC236}">
                <a16:creationId xmlns:a16="http://schemas.microsoft.com/office/drawing/2014/main" id="{604A72C8-315B-4276-B001-E0CC725AB4F8}"/>
              </a:ext>
            </a:extLst>
          </p:cNvPr>
          <p:cNvSpPr>
            <a:spLocks xmlns:a="http://schemas.openxmlformats.org/drawingml/2006/main" noGrp="1"/>
          </p:cNvSpPr>
          <p:nvPr/>
        </p:nvSpPr>
        <p:spPr>
          <a:xfrm xmlns:a="http://schemas.openxmlformats.org/drawingml/2006/main">
            <a:off x="733425" y="6229350"/>
            <a:ext cx="10810875"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9" name="Google Shape;569;p22">
            <a:extLst xmlns:a="http://schemas.openxmlformats.org/drawingml/2006/main">
              <a:ext uri="{FF2B5EF4-FFF2-40B4-BE49-F238E27FC236}">
                <a16:creationId xmlns:a16="http://schemas.microsoft.com/office/drawing/2014/main" id="{42AD9E7F-6629-4BB1-9BE0-3D40AA5A8F3A}"/>
              </a:ext>
            </a:extLst>
          </p:cNvPr>
          <p:cNvSpPr>
            <a:spLocks xmlns:a="http://schemas.openxmlformats.org/drawingml/2006/main" noGrp="1"/>
          </p:cNvSpPr>
          <p:nvPr/>
        </p:nvSpPr>
        <p:spPr>
          <a:xfrm xmlns:a="http://schemas.openxmlformats.org/drawingml/2006/main">
            <a:off x="742950" y="6353175"/>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6C5CF"/>
              </a:buClr>
              <a:buSzPts val="750"/>
              <a:buFont typeface="Lato"/>
              <a:buNone/>
            </a:pPr>
            <a:r>
              <a:rPr sz="750" b="1" i="0">
                <a:solidFill>
                  <a:srgbClr val="B6C5CF"/>
                </a:solidFill>
                <a:latin typeface="Lato"/>
                <a:ea typeface="Lato"/>
                <a:cs typeface="Lato"/>
              </a:rPr>
              <a:t>CAVA MODULE 1</a:t>
            </a:r>
            <a:endParaRPr/>
          </a:p>
        </p:txBody>
      </p:sp>
      <p:sp>
        <p:nvSpPr>
          <p:cNvPr id="570" name="Google Shape;570;p22">
            <a:extLst xmlns:a="http://schemas.openxmlformats.org/drawingml/2006/main">
              <a:ext uri="{FF2B5EF4-FFF2-40B4-BE49-F238E27FC236}">
                <a16:creationId xmlns:a16="http://schemas.microsoft.com/office/drawing/2014/main" id="{0150FC6F-93B6-4D5C-97C9-3DB0B35E805C}"/>
              </a:ext>
            </a:extLst>
          </p:cNvPr>
          <p:cNvSpPr>
            <a:spLocks xmlns:a="http://schemas.openxmlformats.org/drawingml/2006/main" noGrp="1"/>
          </p:cNvSpPr>
          <p:nvPr/>
        </p:nvSpPr>
        <p:spPr>
          <a:xfrm xmlns:a="http://schemas.openxmlformats.org/drawingml/2006/main">
            <a:off x="11049000" y="6353175"/>
            <a:ext cx="476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22</a:t>
            </a:r>
            <a:endParaRPr/>
          </a:p>
        </p:txBody>
      </p:sp>
    </p:spTree>
    <p:extLst>
      <p:ext uri="{BB962C8B-B14F-4D97-AF65-F5344CB8AC3E}">
        <p14:creationId xmlns:p14="http://schemas.microsoft.com/office/powerpoint/2010/main" val="1523179726"/>
      </p:ext>
    </p:extLst>
  </p:cSld>
</p:sld>
</file>

<file path=ppt/slides/slide2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76" name="Google Shape;576;p23">
            <a:extLst xmlns:a="http://schemas.openxmlformats.org/drawingml/2006/main">
              <a:ext uri="{FF2B5EF4-FFF2-40B4-BE49-F238E27FC236}">
                <a16:creationId xmlns:a16="http://schemas.microsoft.com/office/drawing/2014/main" id="{D0A838EF-2B6A-4D2D-99E0-E8141A8ED900}"/>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Source data and remote services</a:t>
            </a:r>
            <a:endParaRPr/>
          </a:p>
        </p:txBody>
      </p:sp>
      <p:sp>
        <p:nvSpPr>
          <p:cNvPr id="577" name="Google Shape;577;p23">
            <a:extLst xmlns:a="http://schemas.openxmlformats.org/drawingml/2006/main">
              <a:ext uri="{FF2B5EF4-FFF2-40B4-BE49-F238E27FC236}">
                <a16:creationId xmlns:a16="http://schemas.microsoft.com/office/drawing/2014/main" id="{77206FA5-0A9A-4970-88AF-81FD17485AC4}"/>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same underlying data services can support no-code, R and Python workflows</a:t>
            </a:r>
            <a:endParaRPr/>
          </a:p>
        </p:txBody>
      </p:sp>
      <p:sp>
        <p:nvSpPr>
          <p:cNvPr id="578" name="Google Shape;578;p23">
            <a:extLst xmlns:a="http://schemas.openxmlformats.org/drawingml/2006/main">
              <a:ext uri="{FF2B5EF4-FFF2-40B4-BE49-F238E27FC236}">
                <a16:creationId xmlns:a16="http://schemas.microsoft.com/office/drawing/2014/main" id="{0756DAB3-97AC-4C8B-B954-4E5CFF4146D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79" name="Google Shape;579;p23">
            <a:extLst xmlns:a="http://schemas.openxmlformats.org/drawingml/2006/main">
              <a:ext uri="{FF2B5EF4-FFF2-40B4-BE49-F238E27FC236}">
                <a16:creationId xmlns:a16="http://schemas.microsoft.com/office/drawing/2014/main" id="{EA791C06-9D71-4CD7-B572-A7432B13894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0" name="Google Shape;580;p23">
            <a:extLst xmlns:a="http://schemas.openxmlformats.org/drawingml/2006/main">
              <a:ext uri="{FF2B5EF4-FFF2-40B4-BE49-F238E27FC236}">
                <a16:creationId xmlns:a16="http://schemas.microsoft.com/office/drawing/2014/main" id="{3E44BDBA-3177-43B7-AABF-FEE68CD0E894}"/>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1" name="Google Shape;581;p23">
            <a:extLst xmlns:a="http://schemas.openxmlformats.org/drawingml/2006/main">
              <a:ext uri="{FF2B5EF4-FFF2-40B4-BE49-F238E27FC236}">
                <a16:creationId xmlns:a16="http://schemas.microsoft.com/office/drawing/2014/main" id="{8D732DF3-F314-4B10-9027-0A3640145140}"/>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82" name="Google Shape;582;p23">
            <a:extLst xmlns:a="http://schemas.openxmlformats.org/drawingml/2006/main">
              <a:ext uri="{FF2B5EF4-FFF2-40B4-BE49-F238E27FC236}">
                <a16:creationId xmlns:a16="http://schemas.microsoft.com/office/drawing/2014/main" id="{297AB4A9-83DA-4DB3-896A-21F14CFD55D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23</a:t>
            </a:r>
            <a:endParaRPr/>
          </a:p>
        </p:txBody>
      </p:sp>
      <p:sp>
        <p:nvSpPr>
          <p:cNvPr id="583" name="Google Shape;583;p23">
            <a:extLst xmlns:a="http://schemas.openxmlformats.org/drawingml/2006/main">
              <a:ext uri="{FF2B5EF4-FFF2-40B4-BE49-F238E27FC236}">
                <a16:creationId xmlns:a16="http://schemas.microsoft.com/office/drawing/2014/main" id="{7B2F4D4E-93D9-415F-B903-0BDAC6823F6A}"/>
              </a:ext>
            </a:extLst>
          </p:cNvPr>
          <p:cNvSpPr>
            <a:spLocks xmlns:a="http://schemas.openxmlformats.org/drawingml/2006/main" noGrp="1"/>
          </p:cNvSpPr>
          <p:nvPr/>
        </p:nvSpPr>
        <p:spPr>
          <a:xfrm xmlns:a="http://schemas.openxmlformats.org/drawingml/2006/main">
            <a:off x="88106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CLIMATE ARCHIVES</a:t>
            </a:r>
            <a:endParaRPr/>
          </a:p>
        </p:txBody>
      </p:sp>
      <p:sp>
        <p:nvSpPr>
          <p:cNvPr id="584" name="Google Shape;584;p23">
            <a:extLst xmlns:a="http://schemas.openxmlformats.org/drawingml/2006/main">
              <a:ext uri="{FF2B5EF4-FFF2-40B4-BE49-F238E27FC236}">
                <a16:creationId xmlns:a16="http://schemas.microsoft.com/office/drawing/2014/main" id="{1290778D-15E1-4E20-B83F-1BA3B2E25E5E}"/>
              </a:ext>
            </a:extLst>
          </p:cNvPr>
          <p:cNvSpPr>
            <a:spLocks xmlns:a="http://schemas.openxmlformats.org/drawingml/2006/main" noGrp="1"/>
          </p:cNvSpPr>
          <p:nvPr/>
        </p:nvSpPr>
        <p:spPr>
          <a:xfrm xmlns:a="http://schemas.openxmlformats.org/drawingml/2006/main">
            <a:off x="881063" y="2315050"/>
            <a:ext cx="2333700" cy="1543200"/>
          </a:xfrm>
          <a:prstGeom xmlns:a="http://schemas.openxmlformats.org/drawingml/2006/main" prst="roundRect">
            <a:avLst>
              <a:gd name="adj" fmla="val 4938"/>
            </a:avLst>
          </a:prstGeom>
          <a:solidFill xmlns:a="http://schemas.openxmlformats.org/drawingml/2006/main">
            <a:srgbClr val="EAF3F8"/>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5" name="Google Shape;585;p23">
            <a:extLst xmlns:a="http://schemas.openxmlformats.org/drawingml/2006/main">
              <a:ext uri="{FF2B5EF4-FFF2-40B4-BE49-F238E27FC236}">
                <a16:creationId xmlns:a16="http://schemas.microsoft.com/office/drawing/2014/main" id="{1B89514C-B1C2-47D3-9BE8-FFD9269F0AE0}"/>
              </a:ext>
            </a:extLst>
          </p:cNvPr>
          <p:cNvSpPr>
            <a:spLocks xmlns:a="http://schemas.openxmlformats.org/drawingml/2006/main" noGrp="1"/>
          </p:cNvSpPr>
          <p:nvPr/>
        </p:nvSpPr>
        <p:spPr>
          <a:xfrm xmlns:a="http://schemas.openxmlformats.org/drawingml/2006/main">
            <a:off x="1052525" y="2487100"/>
            <a:ext cx="1990800" cy="116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ERA5</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CORDEX-CORE-BC</a:t>
            </a:r>
            <a:endParaRPr b="1" i="0">
              <a:solidFill>
                <a:srgbClr val="12304E"/>
              </a:solidFill>
              <a:latin typeface="Lato"/>
              <a:ea typeface="Lato"/>
              <a:cs typeface="Lato"/>
            </a:endParaRPr>
          </a:p>
          <a:p xmlns:a="http://schemas.openxmlformats.org/drawingml/2006/main">
            <a:pPr marL="0" marR="0" lvl="0" indent="0" algn="ctr">
              <a:lnSpc>
                <a:spcPct val="125000"/>
              </a:lnSpc>
              <a:spcBef>
                <a:spcPts val="0"/>
              </a:spcBef>
              <a:spcAft>
                <a:spcPts val="0"/>
              </a:spcAft>
              <a:buClr>
                <a:srgbClr val="12304E"/>
              </a:buClr>
              <a:buSzPts val="1200"/>
              <a:buFont typeface="Lato"/>
              <a:buNone/>
            </a:pPr>
            <a:r>
              <a:rPr sz="1200" b="1">
                <a:solidFill>
                  <a:srgbClr val="12304E"/>
                </a:solidFill>
                <a:latin typeface="Lato"/>
                <a:ea typeface="Lato"/>
                <a:cs typeface="Lato"/>
              </a:rPr>
              <a:t>(&gt;200,000 NetCDF files)</a:t>
            </a:r>
            <a:endParaRPr sz="1200" b="1">
              <a:solidFill>
                <a:srgbClr val="12304E"/>
              </a:solidFill>
              <a:latin typeface="Lato"/>
              <a:ea typeface="Lato"/>
              <a:cs typeface="Lato"/>
            </a:endParaRPr>
          </a:p>
        </p:txBody>
      </p:sp>
      <p:sp>
        <p:nvSpPr>
          <p:cNvPr id="586" name="Google Shape;586;p23">
            <a:extLst xmlns:a="http://schemas.openxmlformats.org/drawingml/2006/main">
              <a:ext uri="{FF2B5EF4-FFF2-40B4-BE49-F238E27FC236}">
                <a16:creationId xmlns:a16="http://schemas.microsoft.com/office/drawing/2014/main" id="{05F9B075-99A8-4A47-857F-318199BEAA27}"/>
              </a:ext>
            </a:extLst>
          </p:cNvPr>
          <p:cNvSpPr>
            <a:spLocks xmlns:a="http://schemas.openxmlformats.org/drawingml/2006/main" noGrp="1"/>
          </p:cNvSpPr>
          <p:nvPr/>
        </p:nvSpPr>
        <p:spPr>
          <a:xfrm xmlns:a="http://schemas.openxmlformats.org/drawingml/2006/main">
            <a:off x="4624388" y="1838800"/>
            <a:ext cx="29529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DATA SERVICES</a:t>
            </a:r>
            <a:r>
              <a:rPr sz="1125" b="1" i="0">
                <a:solidFill>
                  <a:srgbClr val="00A88F"/>
                </a:solidFill>
                <a:latin typeface="Lato"/>
                <a:ea typeface="Lato"/>
                <a:cs typeface="Lato"/>
              </a:rPr>
              <a:t> + PROCESSING</a:t>
            </a:r>
            <a:endParaRPr/>
          </a:p>
        </p:txBody>
      </p:sp>
      <p:sp>
        <p:nvSpPr>
          <p:cNvPr id="587" name="Google Shape;587;p23">
            <a:extLst xmlns:a="http://schemas.openxmlformats.org/drawingml/2006/main">
              <a:ext uri="{FF2B5EF4-FFF2-40B4-BE49-F238E27FC236}">
                <a16:creationId xmlns:a16="http://schemas.microsoft.com/office/drawing/2014/main" id="{F31669DE-4C8E-4C7A-9A43-662985D7667C}"/>
              </a:ext>
            </a:extLst>
          </p:cNvPr>
          <p:cNvSpPr>
            <a:spLocks xmlns:a="http://schemas.openxmlformats.org/drawingml/2006/main" noGrp="1"/>
          </p:cNvSpPr>
          <p:nvPr/>
        </p:nvSpPr>
        <p:spPr>
          <a:xfrm xmlns:a="http://schemas.openxmlformats.org/drawingml/2006/main">
            <a:off x="4433888" y="2315050"/>
            <a:ext cx="3333900" cy="1543200"/>
          </a:xfrm>
          <a:prstGeom xmlns:a="http://schemas.openxmlformats.org/drawingml/2006/main" prst="roundRect">
            <a:avLst>
              <a:gd name="adj" fmla="val 4938"/>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8" name="Google Shape;588;p23">
            <a:extLst xmlns:a="http://schemas.openxmlformats.org/drawingml/2006/main">
              <a:ext uri="{FF2B5EF4-FFF2-40B4-BE49-F238E27FC236}">
                <a16:creationId xmlns:a16="http://schemas.microsoft.com/office/drawing/2014/main" id="{F217A1B8-C2BB-4BCE-9EF2-87A97BB109E4}"/>
              </a:ext>
            </a:extLst>
          </p:cNvPr>
          <p:cNvSpPr>
            <a:spLocks xmlns:a="http://schemas.openxmlformats.org/drawingml/2006/main" noGrp="1"/>
          </p:cNvSpPr>
          <p:nvPr/>
        </p:nvSpPr>
        <p:spPr>
          <a:xfrm xmlns:a="http://schemas.openxmlformats.org/drawingml/2006/main">
            <a:off x="4814888" y="2600800"/>
            <a:ext cx="2571900" cy="9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Remote subset</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Harmonize</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Aggregate and calculate</a:t>
            </a:r>
            <a:endParaRPr/>
          </a:p>
        </p:txBody>
      </p:sp>
      <p:sp>
        <p:nvSpPr>
          <p:cNvPr id="589" name="Google Shape;589;p23">
            <a:extLst xmlns:a="http://schemas.openxmlformats.org/drawingml/2006/main">
              <a:ext uri="{FF2B5EF4-FFF2-40B4-BE49-F238E27FC236}">
                <a16:creationId xmlns:a16="http://schemas.microsoft.com/office/drawing/2014/main" id="{812B2EE6-C475-4189-A718-55A2907C0572}"/>
              </a:ext>
            </a:extLst>
          </p:cNvPr>
          <p:cNvSpPr>
            <a:spLocks xmlns:a="http://schemas.openxmlformats.org/drawingml/2006/main" noGrp="1"/>
          </p:cNvSpPr>
          <p:nvPr/>
        </p:nvSpPr>
        <p:spPr>
          <a:xfrm xmlns:a="http://schemas.openxmlformats.org/drawingml/2006/main">
            <a:off x="912971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USER ENTRY POINTS</a:t>
            </a:r>
            <a:endParaRPr/>
          </a:p>
        </p:txBody>
      </p:sp>
      <p:sp>
        <p:nvSpPr>
          <p:cNvPr id="590" name="Google Shape;590;p23">
            <a:extLst xmlns:a="http://schemas.openxmlformats.org/drawingml/2006/main">
              <a:ext uri="{FF2B5EF4-FFF2-40B4-BE49-F238E27FC236}">
                <a16:creationId xmlns:a16="http://schemas.microsoft.com/office/drawing/2014/main" id="{2094C1A6-B036-4A71-B03E-1C473D04C615}"/>
              </a:ext>
            </a:extLst>
          </p:cNvPr>
          <p:cNvSpPr>
            <a:spLocks xmlns:a="http://schemas.openxmlformats.org/drawingml/2006/main" noGrp="1"/>
          </p:cNvSpPr>
          <p:nvPr/>
        </p:nvSpPr>
        <p:spPr>
          <a:xfrm xmlns:a="http://schemas.openxmlformats.org/drawingml/2006/main">
            <a:off x="8939213" y="2315050"/>
            <a:ext cx="2524200" cy="428700"/>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 Platform (W</a:t>
            </a:r>
            <a:r>
              <a:rPr sz="1350" b="1">
                <a:solidFill>
                  <a:srgbClr val="12304E"/>
                </a:solidFill>
                <a:latin typeface="Lato"/>
                <a:ea typeface="Lato"/>
                <a:cs typeface="Lato"/>
              </a:rPr>
              <a:t>eb)</a:t>
            </a:r>
            <a:endParaRPr/>
          </a:p>
        </p:txBody>
      </p:sp>
      <p:sp>
        <p:nvSpPr>
          <p:cNvPr id="591" name="Google Shape;591;p23">
            <a:extLst xmlns:a="http://schemas.openxmlformats.org/drawingml/2006/main">
              <a:ext uri="{FF2B5EF4-FFF2-40B4-BE49-F238E27FC236}">
                <a16:creationId xmlns:a16="http://schemas.microsoft.com/office/drawing/2014/main" id="{887F5169-8A42-4AD8-A37D-6598C9EC2B9B}"/>
              </a:ext>
            </a:extLst>
          </p:cNvPr>
          <p:cNvSpPr>
            <a:spLocks xmlns:a="http://schemas.openxmlformats.org/drawingml/2006/main" noGrp="1"/>
          </p:cNvSpPr>
          <p:nvPr/>
        </p:nvSpPr>
        <p:spPr>
          <a:xfrm xmlns:a="http://schemas.openxmlformats.org/drawingml/2006/main">
            <a:off x="8939213" y="2867500"/>
            <a:ext cx="2524200" cy="42870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CAVAanalytics </a:t>
            </a:r>
            <a:r>
              <a:rPr sz="1350" b="1">
                <a:solidFill>
                  <a:srgbClr val="12304E"/>
                </a:solidFill>
                <a:latin typeface="Lato"/>
                <a:ea typeface="Lato"/>
                <a:cs typeface="Lato"/>
              </a:rPr>
              <a:t>(R)</a:t>
            </a:r>
            <a:endParaRPr/>
          </a:p>
        </p:txBody>
      </p:sp>
      <p:sp>
        <p:nvSpPr>
          <p:cNvPr id="592" name="Google Shape;592;p23">
            <a:extLst xmlns:a="http://schemas.openxmlformats.org/drawingml/2006/main">
              <a:ext uri="{FF2B5EF4-FFF2-40B4-BE49-F238E27FC236}">
                <a16:creationId xmlns:a16="http://schemas.microsoft.com/office/drawing/2014/main" id="{27AE2144-6F54-4B1A-99FE-DC7B3F5E73C0}"/>
              </a:ext>
            </a:extLst>
          </p:cNvPr>
          <p:cNvSpPr>
            <a:spLocks xmlns:a="http://schemas.openxmlformats.org/drawingml/2006/main" noGrp="1"/>
          </p:cNvSpPr>
          <p:nvPr/>
        </p:nvSpPr>
        <p:spPr>
          <a:xfrm xmlns:a="http://schemas.openxmlformats.org/drawingml/2006/main">
            <a:off x="8939213" y="3419950"/>
            <a:ext cx="2524200" cy="428700"/>
          </a:xfrm>
          <a:prstGeom xmlns:a="http://schemas.openxmlformats.org/drawingml/2006/main" prst="roundRect">
            <a:avLst>
              <a:gd name="adj" fmla="val 17778"/>
            </a:avLst>
          </a:prstGeom>
          <a:solidFill xmlns:a="http://schemas.openxmlformats.org/drawingml/2006/main">
            <a:srgbClr val="FFF3D1"/>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cavapy </a:t>
            </a:r>
            <a:r>
              <a:rPr sz="1350" b="1">
                <a:solidFill>
                  <a:srgbClr val="12304E"/>
                </a:solidFill>
                <a:latin typeface="Lato"/>
                <a:ea typeface="Lato"/>
                <a:cs typeface="Lato"/>
              </a:rPr>
              <a:t>(Python)</a:t>
            </a:r>
            <a:endParaRPr/>
          </a:p>
        </p:txBody>
      </p:sp>
      <p:sp>
        <p:nvSpPr>
          <p:cNvPr id="593" name="Google Shape;593;p23">
            <a:extLst xmlns:a="http://schemas.openxmlformats.org/drawingml/2006/main">
              <a:ext uri="{FF2B5EF4-FFF2-40B4-BE49-F238E27FC236}">
                <a16:creationId xmlns:a16="http://schemas.microsoft.com/office/drawing/2014/main" id="{5FC30CED-A288-4DAE-BAE2-4A1A6ACC2A64}"/>
              </a:ext>
            </a:extLst>
          </p:cNvPr>
          <p:cNvSpPr>
            <a:spLocks xmlns:a="http://schemas.openxmlformats.org/drawingml/2006/main" noGrp="1"/>
          </p:cNvSpPr>
          <p:nvPr/>
        </p:nvSpPr>
        <p:spPr>
          <a:xfrm xmlns:a="http://schemas.openxmlformats.org/drawingml/2006/main">
            <a:off x="3214688" y="3067525"/>
            <a:ext cx="12192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4" name="Google Shape;594;p23">
            <a:extLst xmlns:a="http://schemas.openxmlformats.org/drawingml/2006/main">
              <a:ext uri="{FF2B5EF4-FFF2-40B4-BE49-F238E27FC236}">
                <a16:creationId xmlns:a16="http://schemas.microsoft.com/office/drawing/2014/main" id="{F5DC6D03-8068-4C25-9B77-664A0D7B38CE}"/>
              </a:ext>
            </a:extLst>
          </p:cNvPr>
          <p:cNvSpPr>
            <a:spLocks xmlns:a="http://schemas.openxmlformats.org/drawingml/2006/main" noGrp="1"/>
          </p:cNvSpPr>
          <p:nvPr/>
        </p:nvSpPr>
        <p:spPr>
          <a:xfrm xmlns:a="http://schemas.openxmlformats.org/drawingml/2006/main">
            <a:off x="7767638" y="3067525"/>
            <a:ext cx="1171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5" name="Google Shape;595;p23">
            <a:extLst xmlns:a="http://schemas.openxmlformats.org/drawingml/2006/main">
              <a:ext uri="{FF2B5EF4-FFF2-40B4-BE49-F238E27FC236}">
                <a16:creationId xmlns:a16="http://schemas.microsoft.com/office/drawing/2014/main" id="{2CEE25A6-4813-4F91-8DBB-1EF45489D719}"/>
              </a:ext>
            </a:extLst>
          </p:cNvPr>
          <p:cNvSpPr>
            <a:spLocks xmlns:a="http://schemas.openxmlformats.org/drawingml/2006/main" noGrp="1"/>
          </p:cNvSpPr>
          <p:nvPr/>
        </p:nvSpPr>
        <p:spPr>
          <a:xfrm xmlns:a="http://schemas.openxmlformats.org/drawingml/2006/main">
            <a:off x="1481138" y="408717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6" name="Google Shape;596;p23">
            <a:extLst xmlns:a="http://schemas.openxmlformats.org/drawingml/2006/main">
              <a:ext uri="{FF2B5EF4-FFF2-40B4-BE49-F238E27FC236}">
                <a16:creationId xmlns:a16="http://schemas.microsoft.com/office/drawing/2014/main" id="{1BB2500E-FE5C-4E4F-98B9-EBF1F4B3FA17}"/>
              </a:ext>
            </a:extLst>
          </p:cNvPr>
          <p:cNvSpPr>
            <a:spLocks xmlns:a="http://schemas.openxmlformats.org/drawingml/2006/main" noGrp="1"/>
          </p:cNvSpPr>
          <p:nvPr/>
        </p:nvSpPr>
        <p:spPr>
          <a:xfrm xmlns:a="http://schemas.openxmlformats.org/drawingml/2006/main">
            <a:off x="1738313" y="431577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Design principle</a:t>
            </a:r>
            <a:endParaRPr/>
          </a:p>
        </p:txBody>
      </p:sp>
      <p:sp>
        <p:nvSpPr>
          <p:cNvPr id="597" name="Google Shape;597;p23">
            <a:extLst xmlns:a="http://schemas.openxmlformats.org/drawingml/2006/main">
              <a:ext uri="{FF2B5EF4-FFF2-40B4-BE49-F238E27FC236}">
                <a16:creationId xmlns:a16="http://schemas.microsoft.com/office/drawing/2014/main" id="{2B967A55-DE96-414C-871A-AB1849E45814}"/>
              </a:ext>
            </a:extLst>
          </p:cNvPr>
          <p:cNvSpPr>
            <a:spLocks xmlns:a="http://schemas.openxmlformats.org/drawingml/2006/main" noGrp="1"/>
          </p:cNvSpPr>
          <p:nvPr/>
        </p:nvSpPr>
        <p:spPr>
          <a:xfrm xmlns:a="http://schemas.openxmlformats.org/drawingml/2006/main">
            <a:off x="3643313" y="4249100"/>
            <a:ext cx="6686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09"/>
              <a:buFont typeface="Lato"/>
              <a:buNone/>
            </a:pPr>
            <a:r>
              <a:rPr sz="1310" b="0" i="0">
                <a:solidFill>
                  <a:srgbClr val="12304E"/>
                </a:solidFill>
                <a:latin typeface="Lato"/>
                <a:ea typeface="Lato"/>
                <a:cs typeface="Lato"/>
              </a:rPr>
              <a:t>Users choose an interface that matches their task and technical skills without rebuilding the data pipeline.</a:t>
            </a:r>
            <a:endParaRPr/>
          </a:p>
        </p:txBody>
      </p:sp>
      <p:sp>
        <p:nvSpPr>
          <p:cNvPr id="598" name="Google Shape;598;p23">
            <a:extLst xmlns:a="http://schemas.openxmlformats.org/drawingml/2006/main">
              <a:ext uri="{FF2B5EF4-FFF2-40B4-BE49-F238E27FC236}">
                <a16:creationId xmlns:a16="http://schemas.microsoft.com/office/drawing/2014/main" id="{D4F5F2FF-94CA-44BC-9ABF-00C32C3C43A6}"/>
              </a:ext>
            </a:extLst>
          </p:cNvPr>
          <p:cNvSpPr>
            <a:spLocks xmlns:a="http://schemas.openxmlformats.org/drawingml/2006/main" noGrp="1"/>
          </p:cNvSpPr>
          <p:nvPr/>
        </p:nvSpPr>
        <p:spPr>
          <a:xfrm xmlns:a="http://schemas.openxmlformats.org/drawingml/2006/main">
            <a:off x="1481150" y="508682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9" name="Google Shape;599;p23">
            <a:extLst xmlns:a="http://schemas.openxmlformats.org/drawingml/2006/main">
              <a:ext uri="{FF2B5EF4-FFF2-40B4-BE49-F238E27FC236}">
                <a16:creationId xmlns:a16="http://schemas.microsoft.com/office/drawing/2014/main" id="{FA6B80B9-2DCC-456E-AA82-56873C7DABDF}"/>
              </a:ext>
            </a:extLst>
          </p:cNvPr>
          <p:cNvSpPr>
            <a:spLocks xmlns:a="http://schemas.openxmlformats.org/drawingml/2006/main" noGrp="1"/>
          </p:cNvSpPr>
          <p:nvPr/>
        </p:nvSpPr>
        <p:spPr>
          <a:xfrm xmlns:a="http://schemas.openxmlformats.org/drawingml/2006/main">
            <a:off x="1738325" y="531542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a:solidFill>
                  <a:srgbClr val="008D7A"/>
                </a:solidFill>
                <a:latin typeface="Lato"/>
                <a:ea typeface="Lato"/>
                <a:cs typeface="Lato"/>
              </a:rPr>
              <a:t>Remote data access enabled</a:t>
            </a:r>
            <a:endParaRPr/>
          </a:p>
        </p:txBody>
      </p:sp>
      <p:sp>
        <p:nvSpPr>
          <p:cNvPr id="600" name="Google Shape;600;p23">
            <a:extLst xmlns:a="http://schemas.openxmlformats.org/drawingml/2006/main">
              <a:ext uri="{FF2B5EF4-FFF2-40B4-BE49-F238E27FC236}">
                <a16:creationId xmlns:a16="http://schemas.microsoft.com/office/drawing/2014/main" id="{4F4C58CD-0519-4B22-9495-7E3F653241C7}"/>
              </a:ext>
            </a:extLst>
          </p:cNvPr>
          <p:cNvSpPr>
            <a:spLocks xmlns:a="http://schemas.openxmlformats.org/drawingml/2006/main" noGrp="1"/>
          </p:cNvSpPr>
          <p:nvPr/>
        </p:nvSpPr>
        <p:spPr>
          <a:xfrm xmlns:a="http://schemas.openxmlformats.org/drawingml/2006/main">
            <a:off x="3643325" y="5248750"/>
            <a:ext cx="6686700" cy="53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1309"/>
              <a:buFont typeface="Lato"/>
              <a:buNone/>
            </a:pPr>
            <a:r>
              <a:rPr sz="1310">
                <a:solidFill>
                  <a:srgbClr val="12304E"/>
                </a:solidFill>
                <a:latin typeface="Lato"/>
                <a:ea typeface="Lato"/>
                <a:cs typeface="Lato"/>
              </a:rPr>
              <a:t>No need to download thousands of NetCDF files, URLs provide transparent access to analysis ready data (ARD) and data cubes.</a:t>
            </a:r>
            <a:endParaRPr>
              <a:solidFill>
                <a:schemeClr val="dk1"/>
              </a:solidFill>
            </a:endParaRPr>
          </a:p>
          <a:p xmlns:a="http://schemas.openxmlformats.org/drawingml/2006/main">
            <a:pPr marL="0" marR="0" lvl="0" indent="0" algn="l">
              <a:lnSpc>
                <a:spcPct val="105000"/>
              </a:lnSpc>
              <a:spcBef>
                <a:spcPts val="0"/>
              </a:spcBef>
              <a:spcAft>
                <a:spcPts val="0"/>
              </a:spcAft>
              <a:buClr>
                <a:srgbClr val="12304E"/>
              </a:buClr>
              <a:buSzPts val="1309"/>
              <a:buFont typeface="Lato"/>
              <a:buNone/>
            </a:pPr>
            <a:r>
              <a:t/>
            </a:r>
            <a:endParaRPr sz="1310">
              <a:solidFill>
                <a:srgbClr val="12304E"/>
              </a:solidFill>
              <a:latin typeface="Lato"/>
              <a:ea typeface="Lato"/>
              <a:cs typeface="Lato"/>
            </a:endParaRPr>
          </a:p>
        </p:txBody>
      </p:sp>
    </p:spTree>
    <p:extLst>
      <p:ext uri="{BB962C8B-B14F-4D97-AF65-F5344CB8AC3E}">
        <p14:creationId xmlns:p14="http://schemas.microsoft.com/office/powerpoint/2010/main" val="575419749"/>
      </p:ext>
    </p:extLst>
  </p:cSld>
</p:sld>
</file>

<file path=ppt/slides/slide2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06" name="Google Shape;606;p24">
            <a:extLst xmlns:a="http://schemas.openxmlformats.org/drawingml/2006/main">
              <a:ext uri="{FF2B5EF4-FFF2-40B4-BE49-F238E27FC236}">
                <a16:creationId xmlns:a16="http://schemas.microsoft.com/office/drawing/2014/main" id="{87D6C119-484A-4664-B083-0B8848E19BE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Three ways into the same CAVA workflow</a:t>
            </a:r>
            <a:endParaRPr sz="2250" b="1">
              <a:solidFill>
                <a:srgbClr val="12304E"/>
              </a:solidFill>
              <a:latin typeface="Lato"/>
              <a:ea typeface="Lato"/>
              <a:cs typeface="Lato"/>
            </a:endParaRPr>
          </a:p>
        </p:txBody>
      </p:sp>
      <p:sp>
        <p:nvSpPr>
          <p:cNvPr id="607" name="Google Shape;607;p24">
            <a:extLst xmlns:a="http://schemas.openxmlformats.org/drawingml/2006/main">
              <a:ext uri="{FF2B5EF4-FFF2-40B4-BE49-F238E27FC236}">
                <a16:creationId xmlns:a16="http://schemas.microsoft.com/office/drawing/2014/main" id="{3744885A-37E1-41BC-865C-CECF3B00349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Choose the interface that matches the task—from exploration to reproducible analysis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08" name="Google Shape;608;p24">
            <a:extLst xmlns:a="http://schemas.openxmlformats.org/drawingml/2006/main">
              <a:ext uri="{FF2B5EF4-FFF2-40B4-BE49-F238E27FC236}">
                <a16:creationId xmlns:a16="http://schemas.microsoft.com/office/drawing/2014/main" id="{77731847-6F01-49BF-BB19-3F4A971E556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09" name="Google Shape;609;p24">
            <a:extLst xmlns:a="http://schemas.openxmlformats.org/drawingml/2006/main">
              <a:ext uri="{FF2B5EF4-FFF2-40B4-BE49-F238E27FC236}">
                <a16:creationId xmlns:a16="http://schemas.microsoft.com/office/drawing/2014/main" id="{8766A6AB-4A59-4DD4-BCB3-3220A3678B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0" name="Google Shape;610;p24">
            <a:extLst xmlns:a="http://schemas.openxmlformats.org/drawingml/2006/main">
              <a:ext uri="{FF2B5EF4-FFF2-40B4-BE49-F238E27FC236}">
                <a16:creationId xmlns:a16="http://schemas.microsoft.com/office/drawing/2014/main" id="{36BBA04F-31A3-4D32-AA3E-85C8E58A839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1" name="Google Shape;611;p24">
            <a:extLst xmlns:a="http://schemas.openxmlformats.org/drawingml/2006/main">
              <a:ext uri="{FF2B5EF4-FFF2-40B4-BE49-F238E27FC236}">
                <a16:creationId xmlns:a16="http://schemas.microsoft.com/office/drawing/2014/main" id="{256996D8-D881-4C5C-893D-90DF378F82D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12" name="Google Shape;612;p24">
            <a:extLst xmlns:a="http://schemas.openxmlformats.org/drawingml/2006/main">
              <a:ext uri="{FF2B5EF4-FFF2-40B4-BE49-F238E27FC236}">
                <a16:creationId xmlns:a16="http://schemas.microsoft.com/office/drawing/2014/main" id="{130EAC8D-82F6-4F41-BAC2-45500D00F95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24</a:t>
            </a:r>
            <a:endParaRPr/>
          </a:p>
        </p:txBody>
      </p:sp>
      <p:sp>
        <p:nvSpPr>
          <p:cNvPr id="613" name="Google Shape;613;p24">
            <a:extLst xmlns:a="http://schemas.openxmlformats.org/drawingml/2006/main">
              <a:ext uri="{FF2B5EF4-FFF2-40B4-BE49-F238E27FC236}">
                <a16:creationId xmlns:a16="http://schemas.microsoft.com/office/drawing/2014/main" id="{B1DF0BB3-266F-41AD-9441-1115A1F15B88}"/>
              </a:ext>
            </a:extLst>
          </p:cNvPr>
          <p:cNvSpPr>
            <a:spLocks xmlns:a="http://schemas.openxmlformats.org/drawingml/2006/main" noGrp="1"/>
          </p:cNvSpPr>
          <p:nvPr/>
        </p:nvSpPr>
        <p:spPr>
          <a:xfrm xmlns:a="http://schemas.openxmlformats.org/drawingml/2006/main">
            <a:off x="666750" y="1790700"/>
            <a:ext cx="3429000" cy="21526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639" name="Google Shape;614;p24"/>
          <p:cNvPicPr>
            <a:picLocks xmlns:a="http://schemas.openxmlformats.org/drawingml/2006/main" noChangeAspect="1"/>
          </p:cNvPicPr>
          <p:nvPr/>
        </p:nvPicPr>
        <p:blipFill rotWithShape="1">
          <a:blip xmlns:r="http://schemas.openxmlformats.org/officeDocument/2006/relationships" xmlns:a="http://schemas.openxmlformats.org/drawingml/2006/main" r:embed="R37a3e7d5987243d5">
            <a:alphaModFix/>
          </a:blip>
          <a:srcRect xmlns:a="http://schemas.openxmlformats.org/drawingml/2006/main" l="0" t="6801" r="0" b="6801"/>
          <a:stretch xmlns:a="http://schemas.openxmlformats.org/drawingml/2006/main"/>
        </p:blipFill>
        <p:spPr>
          <a:xfrm xmlns:a="http://schemas.openxmlformats.org/drawingml/2006/main">
            <a:off x="666750" y="1790700"/>
            <a:ext cx="3429000" cy="2152650"/>
          </a:xfrm>
          <a:prstGeom xmlns:a="http://schemas.openxmlformats.org/drawingml/2006/main" prst="rect">
            <a:avLst/>
          </a:prstGeom>
          <a:ln xmlns:a="http://schemas.openxmlformats.org/drawingml/2006/main">
            <a:noFill/>
          </a:ln>
        </p:spPr>
      </p:pic>
      <p:sp>
        <p:nvSpPr>
          <p:cNvPr id="615" name="Google Shape;615;p24">
            <a:extLst xmlns:a="http://schemas.openxmlformats.org/drawingml/2006/main">
              <a:ext uri="{FF2B5EF4-FFF2-40B4-BE49-F238E27FC236}">
                <a16:creationId xmlns:a16="http://schemas.microsoft.com/office/drawing/2014/main" id="{285D9A65-5A3B-46B2-B60D-D3304806DF90}"/>
              </a:ext>
            </a:extLst>
          </p:cNvPr>
          <p:cNvSpPr>
            <a:spLocks xmlns:a="http://schemas.openxmlformats.org/drawingml/2006/main" noGrp="1"/>
          </p:cNvSpPr>
          <p:nvPr/>
        </p:nvSpPr>
        <p:spPr>
          <a:xfrm xmlns:a="http://schemas.openxmlformats.org/drawingml/2006/main">
            <a:off x="6667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EXPLORE</a:t>
            </a:r>
            <a:endParaRPr/>
          </a:p>
        </p:txBody>
      </p:sp>
      <p:sp>
        <p:nvSpPr>
          <p:cNvPr id="616" name="Google Shape;616;p24">
            <a:extLst xmlns:a="http://schemas.openxmlformats.org/drawingml/2006/main">
              <a:ext uri="{FF2B5EF4-FFF2-40B4-BE49-F238E27FC236}">
                <a16:creationId xmlns:a16="http://schemas.microsoft.com/office/drawing/2014/main" id="{B1BA2888-79E4-4A98-B9E3-0FCFCB25222D}"/>
              </a:ext>
            </a:extLst>
          </p:cNvPr>
          <p:cNvSpPr>
            <a:spLocks xmlns:a="http://schemas.openxmlformats.org/drawingml/2006/main" noGrp="1"/>
          </p:cNvSpPr>
          <p:nvPr/>
        </p:nvSpPr>
        <p:spPr>
          <a:xfrm xmlns:a="http://schemas.openxmlformats.org/drawingml/2006/main">
            <a:off x="6667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CAVA Platform</a:t>
            </a:r>
            <a:endParaRPr/>
          </a:p>
        </p:txBody>
      </p:sp>
      <p:sp>
        <p:nvSpPr>
          <p:cNvPr id="617" name="Google Shape;617;p24">
            <a:extLst xmlns:a="http://schemas.openxmlformats.org/drawingml/2006/main">
              <a:ext uri="{FF2B5EF4-FFF2-40B4-BE49-F238E27FC236}">
                <a16:creationId xmlns:a16="http://schemas.microsoft.com/office/drawing/2014/main" id="{299FDB85-AAD4-4B92-89BE-A18F7A4139A7}"/>
              </a:ext>
            </a:extLst>
          </p:cNvPr>
          <p:cNvSpPr>
            <a:spLocks xmlns:a="http://schemas.openxmlformats.org/drawingml/2006/main" noGrp="1"/>
          </p:cNvSpPr>
          <p:nvPr/>
        </p:nvSpPr>
        <p:spPr>
          <a:xfrm xmlns:a="http://schemas.openxmlformats.org/drawingml/2006/main">
            <a:off x="666750" y="5019675"/>
            <a:ext cx="3238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Explore maps and climate-impact information
cavaplatform.fao.org</a:t>
            </a:r>
            <a:endParaRPr/>
          </a:p>
        </p:txBody>
      </p:sp>
      <p:sp>
        <p:nvSpPr>
          <p:cNvPr id="618" name="Google Shape;618;p24">
            <a:extLst xmlns:a="http://schemas.openxmlformats.org/drawingml/2006/main">
              <a:ext uri="{FF2B5EF4-FFF2-40B4-BE49-F238E27FC236}">
                <a16:creationId xmlns:a16="http://schemas.microsoft.com/office/drawing/2014/main" id="{2A5E3187-77D5-444D-B520-B7E40708C51A}"/>
              </a:ext>
            </a:extLst>
          </p:cNvPr>
          <p:cNvSpPr>
            <a:spLocks xmlns:a="http://schemas.openxmlformats.org/drawingml/2006/main" noGrp="1"/>
          </p:cNvSpPr>
          <p:nvPr/>
        </p:nvSpPr>
        <p:spPr>
          <a:xfrm xmlns:a="http://schemas.openxmlformats.org/drawingml/2006/main">
            <a:off x="4495800" y="1790700"/>
            <a:ext cx="3124200" cy="2152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9" name="Google Shape;619;p24">
            <a:extLst xmlns:a="http://schemas.openxmlformats.org/drawingml/2006/main">
              <a:ext uri="{FF2B5EF4-FFF2-40B4-BE49-F238E27FC236}">
                <a16:creationId xmlns:a16="http://schemas.microsoft.com/office/drawing/2014/main" id="{298B701B-72EA-42BC-B41D-BA8E4F25CE93}"/>
              </a:ext>
            </a:extLst>
          </p:cNvPr>
          <p:cNvSpPr>
            <a:spLocks xmlns:a="http://schemas.openxmlformats.org/drawingml/2006/main" noGrp="1"/>
          </p:cNvSpPr>
          <p:nvPr/>
        </p:nvSpPr>
        <p:spPr>
          <a:xfrm xmlns:a="http://schemas.openxmlformats.org/drawingml/2006/main">
            <a:off x="4762500" y="2009775"/>
            <a:ext cx="25908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7200"/>
              <a:buFont typeface="Lato"/>
              <a:buNone/>
            </a:pPr>
            <a:r>
              <a:rPr sz="7200" b="1" i="0">
                <a:solidFill>
                  <a:srgbClr val="FFFFFF"/>
                </a:solidFill>
                <a:latin typeface="Lato"/>
                <a:ea typeface="Lato"/>
                <a:cs typeface="Lato"/>
              </a:rPr>
              <a:t>R</a:t>
            </a:r>
            <a:endParaRPr/>
          </a:p>
        </p:txBody>
      </p:sp>
      <p:sp>
        <p:nvSpPr>
          <p:cNvPr id="620" name="Google Shape;620;p24">
            <a:extLst xmlns:a="http://schemas.openxmlformats.org/drawingml/2006/main">
              <a:ext uri="{FF2B5EF4-FFF2-40B4-BE49-F238E27FC236}">
                <a16:creationId xmlns:a16="http://schemas.microsoft.com/office/drawing/2014/main" id="{BDC8751D-FC32-4F80-82A7-CCD9F765BBF6}"/>
              </a:ext>
            </a:extLst>
          </p:cNvPr>
          <p:cNvSpPr>
            <a:spLocks xmlns:a="http://schemas.openxmlformats.org/drawingml/2006/main" noGrp="1"/>
          </p:cNvSpPr>
          <p:nvPr/>
        </p:nvSpPr>
        <p:spPr>
          <a:xfrm xmlns:a="http://schemas.openxmlformats.org/drawingml/2006/main">
            <a:off x="4762500" y="3200400"/>
            <a:ext cx="2590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950"/>
              <a:buFont typeface="Lato"/>
              <a:buNone/>
            </a:pPr>
            <a:r>
              <a:rPr sz="1950" b="1" i="0">
                <a:solidFill>
                  <a:srgbClr val="FFFFFF"/>
                </a:solidFill>
                <a:latin typeface="Lato"/>
                <a:ea typeface="Lato"/>
                <a:cs typeface="Lato"/>
              </a:rPr>
              <a:t>CAVAanalytics</a:t>
            </a:r>
            <a:endParaRPr/>
          </a:p>
        </p:txBody>
      </p:sp>
      <p:sp>
        <p:nvSpPr>
          <p:cNvPr id="621" name="Google Shape;621;p24">
            <a:extLst xmlns:a="http://schemas.openxmlformats.org/drawingml/2006/main">
              <a:ext uri="{FF2B5EF4-FFF2-40B4-BE49-F238E27FC236}">
                <a16:creationId xmlns:a16="http://schemas.microsoft.com/office/drawing/2014/main" id="{025C4C8F-FBCC-4F37-BD9E-F89C10378469}"/>
              </a:ext>
            </a:extLst>
          </p:cNvPr>
          <p:cNvSpPr>
            <a:spLocks xmlns:a="http://schemas.openxmlformats.org/drawingml/2006/main" noGrp="1"/>
          </p:cNvSpPr>
          <p:nvPr/>
        </p:nvSpPr>
        <p:spPr>
          <a:xfrm xmlns:a="http://schemas.openxmlformats.org/drawingml/2006/main">
            <a:off x="4495800" y="42100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ANALYSE</a:t>
            </a:r>
            <a:endParaRPr/>
          </a:p>
        </p:txBody>
      </p:sp>
      <p:sp>
        <p:nvSpPr>
          <p:cNvPr id="622" name="Google Shape;622;p24">
            <a:extLst xmlns:a="http://schemas.openxmlformats.org/drawingml/2006/main">
              <a:ext uri="{FF2B5EF4-FFF2-40B4-BE49-F238E27FC236}">
                <a16:creationId xmlns:a16="http://schemas.microsoft.com/office/drawing/2014/main" id="{CFAC2078-6F08-496C-AB3F-CFB6B70F3FE1}"/>
              </a:ext>
            </a:extLst>
          </p:cNvPr>
          <p:cNvSpPr>
            <a:spLocks xmlns:a="http://schemas.openxmlformats.org/drawingml/2006/main" noGrp="1"/>
          </p:cNvSpPr>
          <p:nvPr/>
        </p:nvSpPr>
        <p:spPr>
          <a:xfrm xmlns:a="http://schemas.openxmlformats.org/drawingml/2006/main">
            <a:off x="4495800" y="4543425"/>
            <a:ext cx="285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R workflows</a:t>
            </a:r>
            <a:endParaRPr/>
          </a:p>
        </p:txBody>
      </p:sp>
      <p:sp>
        <p:nvSpPr>
          <p:cNvPr id="623" name="Google Shape;623;p24">
            <a:extLst xmlns:a="http://schemas.openxmlformats.org/drawingml/2006/main">
              <a:ext uri="{FF2B5EF4-FFF2-40B4-BE49-F238E27FC236}">
                <a16:creationId xmlns:a16="http://schemas.microsoft.com/office/drawing/2014/main" id="{91AE08E0-78D3-439D-9DA8-507E539CA450}"/>
              </a:ext>
            </a:extLst>
          </p:cNvPr>
          <p:cNvSpPr>
            <a:spLocks xmlns:a="http://schemas.openxmlformats.org/drawingml/2006/main" noGrp="1"/>
          </p:cNvSpPr>
          <p:nvPr/>
        </p:nvSpPr>
        <p:spPr>
          <a:xfrm xmlns:a="http://schemas.openxmlformats.org/drawingml/2006/main">
            <a:off x="4495800" y="5019675"/>
            <a:ext cx="31242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Process, calculate indicators and visualize
github.com/un-fao/CAVAanalytics</a:t>
            </a:r>
            <a:endParaRPr/>
          </a:p>
        </p:txBody>
      </p:sp>
      <p:sp>
        <p:nvSpPr>
          <p:cNvPr id="624" name="Google Shape;624;p24">
            <a:extLst xmlns:a="http://schemas.openxmlformats.org/drawingml/2006/main">
              <a:ext uri="{FF2B5EF4-FFF2-40B4-BE49-F238E27FC236}">
                <a16:creationId xmlns:a16="http://schemas.microsoft.com/office/drawing/2014/main" id="{34F60859-062E-4B90-A324-EFEE328965F2}"/>
              </a:ext>
            </a:extLst>
          </p:cNvPr>
          <p:cNvSpPr>
            <a:spLocks xmlns:a="http://schemas.openxmlformats.org/drawingml/2006/main" noGrp="1"/>
          </p:cNvSpPr>
          <p:nvPr/>
        </p:nvSpPr>
        <p:spPr>
          <a:xfrm xmlns:a="http://schemas.openxmlformats.org/drawingml/2006/main">
            <a:off x="8020050" y="1790700"/>
            <a:ext cx="3505200" cy="21526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25" name="Google Shape;625;p24">
            <a:extLst xmlns:a="http://schemas.openxmlformats.org/drawingml/2006/main">
              <a:ext uri="{FF2B5EF4-FFF2-40B4-BE49-F238E27FC236}">
                <a16:creationId xmlns:a16="http://schemas.microsoft.com/office/drawing/2014/main" id="{3C2A7BD1-642D-41A5-AB18-89B25C94A718}"/>
              </a:ext>
            </a:extLst>
          </p:cNvPr>
          <p:cNvSpPr>
            <a:spLocks xmlns:a="http://schemas.openxmlformats.org/drawingml/2006/main" noGrp="1"/>
          </p:cNvSpPr>
          <p:nvPr/>
        </p:nvSpPr>
        <p:spPr>
          <a:xfrm xmlns:a="http://schemas.openxmlformats.org/drawingml/2006/main">
            <a:off x="8305800" y="2009775"/>
            <a:ext cx="29337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6150"/>
              <a:buFont typeface="Lato"/>
              <a:buNone/>
            </a:pPr>
            <a:r>
              <a:rPr sz="6150" b="1" i="0">
                <a:solidFill>
                  <a:srgbClr val="F2B632"/>
                </a:solidFill>
                <a:latin typeface="Lato"/>
                <a:ea typeface="Lato"/>
                <a:cs typeface="Lato"/>
              </a:rPr>
              <a:t>PY</a:t>
            </a:r>
            <a:endParaRPr/>
          </a:p>
        </p:txBody>
      </p:sp>
      <p:sp>
        <p:nvSpPr>
          <p:cNvPr id="626" name="Google Shape;626;p24">
            <a:extLst xmlns:a="http://schemas.openxmlformats.org/drawingml/2006/main">
              <a:ext uri="{FF2B5EF4-FFF2-40B4-BE49-F238E27FC236}">
                <a16:creationId xmlns:a16="http://schemas.microsoft.com/office/drawing/2014/main" id="{F34F2FC4-5F4B-4F77-AB69-E2FCF5B2D8C4}"/>
              </a:ext>
            </a:extLst>
          </p:cNvPr>
          <p:cNvSpPr>
            <a:spLocks xmlns:a="http://schemas.openxmlformats.org/drawingml/2006/main" noGrp="1"/>
          </p:cNvSpPr>
          <p:nvPr/>
        </p:nvSpPr>
        <p:spPr>
          <a:xfrm xmlns:a="http://schemas.openxmlformats.org/drawingml/2006/main">
            <a:off x="8305800" y="3200400"/>
            <a:ext cx="29337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950"/>
              <a:buFont typeface="Lato"/>
              <a:buNone/>
            </a:pPr>
            <a:r>
              <a:rPr sz="1950" b="1" i="0">
                <a:solidFill>
                  <a:srgbClr val="12304E"/>
                </a:solidFill>
                <a:latin typeface="Lato"/>
                <a:ea typeface="Lato"/>
                <a:cs typeface="Lato"/>
              </a:rPr>
              <a:t>cavapy</a:t>
            </a:r>
            <a:endParaRPr/>
          </a:p>
        </p:txBody>
      </p:sp>
      <p:sp>
        <p:nvSpPr>
          <p:cNvPr id="627" name="Google Shape;627;p24">
            <a:extLst xmlns:a="http://schemas.openxmlformats.org/drawingml/2006/main">
              <a:ext uri="{FF2B5EF4-FFF2-40B4-BE49-F238E27FC236}">
                <a16:creationId xmlns:a16="http://schemas.microsoft.com/office/drawing/2014/main" id="{C14617F7-6D21-4CA0-9690-A99E9F79A770}"/>
              </a:ext>
            </a:extLst>
          </p:cNvPr>
          <p:cNvSpPr>
            <a:spLocks xmlns:a="http://schemas.openxmlformats.org/drawingml/2006/main" noGrp="1"/>
          </p:cNvSpPr>
          <p:nvPr/>
        </p:nvSpPr>
        <p:spPr>
          <a:xfrm xmlns:a="http://schemas.openxmlformats.org/drawingml/2006/main">
            <a:off x="80200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INTEGRATE</a:t>
            </a:r>
            <a:endParaRPr/>
          </a:p>
        </p:txBody>
      </p:sp>
      <p:sp>
        <p:nvSpPr>
          <p:cNvPr id="628" name="Google Shape;628;p24">
            <a:extLst xmlns:a="http://schemas.openxmlformats.org/drawingml/2006/main">
              <a:ext uri="{FF2B5EF4-FFF2-40B4-BE49-F238E27FC236}">
                <a16:creationId xmlns:a16="http://schemas.microsoft.com/office/drawing/2014/main" id="{C74C68A3-5540-418A-B0D8-863B8E710631}"/>
              </a:ext>
            </a:extLst>
          </p:cNvPr>
          <p:cNvSpPr>
            <a:spLocks xmlns:a="http://schemas.openxmlformats.org/drawingml/2006/main" noGrp="1"/>
          </p:cNvSpPr>
          <p:nvPr/>
        </p:nvSpPr>
        <p:spPr>
          <a:xfrm xmlns:a="http://schemas.openxmlformats.org/drawingml/2006/main">
            <a:off x="80200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Python workflows</a:t>
            </a:r>
            <a:endParaRPr/>
          </a:p>
        </p:txBody>
      </p:sp>
      <p:sp>
        <p:nvSpPr>
          <p:cNvPr id="629" name="Google Shape;629;p24">
            <a:extLst xmlns:a="http://schemas.openxmlformats.org/drawingml/2006/main">
              <a:ext uri="{FF2B5EF4-FFF2-40B4-BE49-F238E27FC236}">
                <a16:creationId xmlns:a16="http://schemas.microsoft.com/office/drawing/2014/main" id="{8FE504DA-2E18-4912-81F9-AA6F7E8413DD}"/>
              </a:ext>
            </a:extLst>
          </p:cNvPr>
          <p:cNvSpPr>
            <a:spLocks xmlns:a="http://schemas.openxmlformats.org/drawingml/2006/main" noGrp="1"/>
          </p:cNvSpPr>
          <p:nvPr/>
        </p:nvSpPr>
        <p:spPr>
          <a:xfrm xmlns:a="http://schemas.openxmlformats.org/drawingml/2006/main">
            <a:off x="8020050" y="5019675"/>
            <a:ext cx="328612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Retrieve, subset and integrate programmatically
github.com/un-fao/cavapy</a:t>
            </a:r>
            <a:endParaRPr/>
          </a:p>
        </p:txBody>
      </p:sp>
    </p:spTree>
    <p:extLst>
      <p:ext uri="{BB962C8B-B14F-4D97-AF65-F5344CB8AC3E}">
        <p14:creationId xmlns:p14="http://schemas.microsoft.com/office/powerpoint/2010/main" val="1472014941"/>
      </p:ext>
    </p:extLst>
  </p:cSld>
</p:sld>
</file>

<file path=ppt/slides/slide2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5" name="Google Shape;635;p25">
            <a:extLst xmlns:a="http://schemas.openxmlformats.org/drawingml/2006/main">
              <a:ext uri="{FF2B5EF4-FFF2-40B4-BE49-F238E27FC236}">
                <a16:creationId xmlns:a16="http://schemas.microsoft.com/office/drawing/2014/main" id="{6AAD3194-3F29-48AF-855E-AC96C42C2D5B}"/>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Coming soon: CAVA Datalab</a:t>
            </a:r>
            <a:endParaRPr sz="2025" b="1">
              <a:solidFill>
                <a:srgbClr val="12304E"/>
              </a:solidFill>
              <a:latin typeface="Lato"/>
              <a:ea typeface="Lato"/>
              <a:cs typeface="Lato"/>
            </a:endParaRPr>
          </a:p>
        </p:txBody>
      </p:sp>
      <p:sp>
        <p:nvSpPr>
          <p:cNvPr id="636" name="Google Shape;636;p25">
            <a:extLst xmlns:a="http://schemas.openxmlformats.org/drawingml/2006/main">
              <a:ext uri="{FF2B5EF4-FFF2-40B4-BE49-F238E27FC236}">
                <a16:creationId xmlns:a16="http://schemas.microsoft.com/office/drawing/2014/main" id="{47BD2C12-6EE0-4AF7-8C91-E31919FAF53F}"/>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A planned cloud workspace for working directly with CAVA data and code</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37" name="Google Shape;637;p25">
            <a:extLst xmlns:a="http://schemas.openxmlformats.org/drawingml/2006/main">
              <a:ext uri="{FF2B5EF4-FFF2-40B4-BE49-F238E27FC236}">
                <a16:creationId xmlns:a16="http://schemas.microsoft.com/office/drawing/2014/main" id="{6095A5F1-97D4-4575-AD09-AF34B014CF36}"/>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8" name="Google Shape;638;p25">
            <a:extLst xmlns:a="http://schemas.openxmlformats.org/drawingml/2006/main">
              <a:ext uri="{FF2B5EF4-FFF2-40B4-BE49-F238E27FC236}">
                <a16:creationId xmlns:a16="http://schemas.microsoft.com/office/drawing/2014/main" id="{2B2E1732-D3AE-4C45-A468-D95B90DA4B92}"/>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9" name="Google Shape;639;p25">
            <a:extLst xmlns:a="http://schemas.openxmlformats.org/drawingml/2006/main">
              <a:ext uri="{FF2B5EF4-FFF2-40B4-BE49-F238E27FC236}">
                <a16:creationId xmlns:a16="http://schemas.microsoft.com/office/drawing/2014/main" id="{2C51765D-1665-437A-BF3D-92FCB0B11334}"/>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40" name="Google Shape;640;p25">
            <a:extLst xmlns:a="http://schemas.openxmlformats.org/drawingml/2006/main">
              <a:ext uri="{FF2B5EF4-FFF2-40B4-BE49-F238E27FC236}">
                <a16:creationId xmlns:a16="http://schemas.microsoft.com/office/drawing/2014/main" id="{6FBC3FBB-DA84-4DFF-99E8-10469F011C6A}"/>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41" name="Google Shape;641;p25">
            <a:extLst xmlns:a="http://schemas.openxmlformats.org/drawingml/2006/main">
              <a:ext uri="{FF2B5EF4-FFF2-40B4-BE49-F238E27FC236}">
                <a16:creationId xmlns:a16="http://schemas.microsoft.com/office/drawing/2014/main" id="{42E19A02-39A1-480E-B019-9B2CD55D1758}"/>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25</a:t>
            </a:r>
            <a:endParaRPr/>
          </a:p>
        </p:txBody>
      </p:sp>
      <p:sp>
        <p:nvSpPr>
          <p:cNvPr id="642" name="Google Shape;642;p25">
            <a:extLst xmlns:a="http://schemas.openxmlformats.org/drawingml/2006/main">
              <a:ext uri="{FF2B5EF4-FFF2-40B4-BE49-F238E27FC236}">
                <a16:creationId xmlns:a16="http://schemas.microsoft.com/office/drawing/2014/main" id="{D777C626-53CD-46E5-9CFD-B98FB915D35F}"/>
              </a:ext>
            </a:extLst>
          </p:cNvPr>
          <p:cNvSpPr>
            <a:spLocks xmlns:a="http://schemas.openxmlformats.org/drawingml/2006/main" noGrp="1"/>
          </p:cNvSpPr>
          <p:nvPr/>
        </p:nvSpPr>
        <p:spPr>
          <a:xfrm xmlns:a="http://schemas.openxmlformats.org/drawingml/2006/main">
            <a:off x="647700" y="1726238"/>
            <a:ext cx="6289200" cy="422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None/>
            </a:pPr>
            <a:r>
              <a:rPr sz="2100" b="1">
                <a:solidFill>
                  <a:srgbClr val="12304E"/>
                </a:solidFill>
                <a:latin typeface="Lato"/>
                <a:ea typeface="Lato"/>
                <a:cs typeface="Lato"/>
              </a:rPr>
              <a:t>What it adds</a:t>
            </a:r>
            <a:endParaRPr sz="2100" b="1">
              <a:solidFill>
                <a:srgbClr val="12304E"/>
              </a:solidFill>
              <a:latin typeface="Lato"/>
              <a:ea typeface="Lato"/>
              <a:cs typeface="Lato"/>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lnSpc>
                <a:spcPct val="105000"/>
              </a:lnSpc>
              <a:spcBef>
                <a:spcPts val="0"/>
              </a:spcBef>
              <a:spcAft>
                <a:spcPts val="0"/>
              </a:spcAft>
              <a:buClr>
                <a:srgbClr val="687984"/>
              </a:buClr>
              <a:buSzPts val="1275"/>
              <a:buFont typeface="Lato"/>
              <a:buNone/>
            </a:pPr>
            <a:r>
              <a:rPr sz="1575">
                <a:solidFill>
                  <a:srgbClr val="687984"/>
                </a:solidFill>
                <a:latin typeface="Lato"/>
                <a:ea typeface="Lato"/>
                <a:cs typeface="Lato"/>
              </a:rPr>
              <a:t>Single-click analysis-ready cloud environments in the browser for everyone.</a:t>
            </a:r>
            <a:endParaRPr sz="1700"/>
          </a:p>
        </p:txBody>
      </p:sp>
      <p:pic>
        <p:nvPicPr>
          <p:cNvPr id="652" name="Google Shape;643;p25"/>
          <p:cNvPicPr>
            <a:picLocks xmlns:a="http://schemas.openxmlformats.org/drawingml/2006/main" noChangeAspect="1"/>
          </p:cNvPicPr>
          <p:nvPr/>
        </p:nvPicPr>
        <p:blipFill>
          <a:blip xmlns:r="http://schemas.openxmlformats.org/officeDocument/2006/relationships" xmlns:a="http://schemas.openxmlformats.org/drawingml/2006/main" r:embed="R3cb22f444f1b4830">
            <a:alphaModFix/>
          </a:blip>
          <a:stretch xmlns:a="http://schemas.openxmlformats.org/drawingml/2006/main">
            <a:fillRect l="0" t="0" r="0" b="0"/>
          </a:stretch>
        </p:blipFill>
        <p:spPr>
          <a:xfrm xmlns:a="http://schemas.openxmlformats.org/drawingml/2006/main">
            <a:off x="7550184" y="1419225"/>
            <a:ext cx="4070242" cy="470542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65661236"/>
      </p:ext>
    </p:extLst>
  </p:cSld>
</p:sld>
</file>

<file path=ppt/slides/slide2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49" name="Google Shape;649;p26">
            <a:extLst xmlns:a="http://schemas.openxmlformats.org/drawingml/2006/main">
              <a:ext uri="{FF2B5EF4-FFF2-40B4-BE49-F238E27FC236}">
                <a16:creationId xmlns:a16="http://schemas.microsoft.com/office/drawing/2014/main" id="{B5312281-6BBE-4F5D-A4B4-AA327FE6734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End-to-end example: extreme heat</a:t>
            </a:r>
            <a:endParaRPr/>
          </a:p>
        </p:txBody>
      </p:sp>
      <p:sp>
        <p:nvSpPr>
          <p:cNvPr id="650" name="Google Shape;650;p26">
            <a:extLst xmlns:a="http://schemas.openxmlformats.org/drawingml/2006/main">
              <a:ext uri="{FF2B5EF4-FFF2-40B4-BE49-F238E27FC236}">
                <a16:creationId xmlns:a16="http://schemas.microsoft.com/office/drawing/2014/main" id="{80DBC90B-E81D-490E-8B6B-D92BF2C8D85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workflow keeps the decision question connected to every technical choice</a:t>
            </a:r>
            <a:endParaRPr/>
          </a:p>
        </p:txBody>
      </p:sp>
      <p:sp>
        <p:nvSpPr>
          <p:cNvPr id="651" name="Google Shape;651;p26">
            <a:extLst xmlns:a="http://schemas.openxmlformats.org/drawingml/2006/main">
              <a:ext uri="{FF2B5EF4-FFF2-40B4-BE49-F238E27FC236}">
                <a16:creationId xmlns:a16="http://schemas.microsoft.com/office/drawing/2014/main" id="{EA82408B-1C33-4183-9F6C-EA31F576161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2" name="Google Shape;652;p26">
            <a:extLst xmlns:a="http://schemas.openxmlformats.org/drawingml/2006/main">
              <a:ext uri="{FF2B5EF4-FFF2-40B4-BE49-F238E27FC236}">
                <a16:creationId xmlns:a16="http://schemas.microsoft.com/office/drawing/2014/main" id="{A67C28E4-A05D-4B48-AB97-1C30E3ABEE1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3" name="Google Shape;653;p26">
            <a:extLst xmlns:a="http://schemas.openxmlformats.org/drawingml/2006/main">
              <a:ext uri="{FF2B5EF4-FFF2-40B4-BE49-F238E27FC236}">
                <a16:creationId xmlns:a16="http://schemas.microsoft.com/office/drawing/2014/main" id="{DACBE9FA-D664-4CC7-8DD3-7F61261FEC4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4" name="Google Shape;654;p26">
            <a:extLst xmlns:a="http://schemas.openxmlformats.org/drawingml/2006/main">
              <a:ext uri="{FF2B5EF4-FFF2-40B4-BE49-F238E27FC236}">
                <a16:creationId xmlns:a16="http://schemas.microsoft.com/office/drawing/2014/main" id="{F232D637-EFC2-4304-80C0-B674B7D8E6E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55" name="Google Shape;655;p26">
            <a:extLst xmlns:a="http://schemas.openxmlformats.org/drawingml/2006/main">
              <a:ext uri="{FF2B5EF4-FFF2-40B4-BE49-F238E27FC236}">
                <a16:creationId xmlns:a16="http://schemas.microsoft.com/office/drawing/2014/main" id="{5E381C10-7E3C-48C0-B5F4-560C4794DC7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26</a:t>
            </a:r>
            <a:endParaRPr/>
          </a:p>
        </p:txBody>
      </p:sp>
      <p:sp>
        <p:nvSpPr>
          <p:cNvPr id="656" name="Google Shape;656;p26">
            <a:extLst xmlns:a="http://schemas.openxmlformats.org/drawingml/2006/main">
              <a:ext uri="{FF2B5EF4-FFF2-40B4-BE49-F238E27FC236}">
                <a16:creationId xmlns:a16="http://schemas.microsoft.com/office/drawing/2014/main" id="{8710DAE7-242A-40F2-814C-2AA54D52B19E}"/>
              </a:ext>
            </a:extLst>
          </p:cNvPr>
          <p:cNvSpPr>
            <a:spLocks xmlns:a="http://schemas.openxmlformats.org/drawingml/2006/main" noGrp="1"/>
          </p:cNvSpPr>
          <p:nvPr/>
        </p:nvSpPr>
        <p:spPr>
          <a:xfrm xmlns:a="http://schemas.openxmlformats.org/drawingml/2006/main">
            <a:off x="866775" y="3305175"/>
            <a:ext cx="10458450" cy="47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7" name="Google Shape;657;p26">
            <a:extLst xmlns:a="http://schemas.openxmlformats.org/drawingml/2006/main">
              <a:ext uri="{FF2B5EF4-FFF2-40B4-BE49-F238E27FC236}">
                <a16:creationId xmlns:a16="http://schemas.microsoft.com/office/drawing/2014/main" id="{829C8B3E-11D4-4DD9-B4EF-418EBA13055B}"/>
              </a:ext>
            </a:extLst>
          </p:cNvPr>
          <p:cNvSpPr>
            <a:spLocks xmlns:a="http://schemas.openxmlformats.org/drawingml/2006/main" noGrp="1"/>
          </p:cNvSpPr>
          <p:nvPr/>
        </p:nvSpPr>
        <p:spPr>
          <a:xfrm xmlns:a="http://schemas.openxmlformats.org/drawingml/2006/main">
            <a:off x="8667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01</a:t>
            </a:r>
            <a:endParaRPr/>
          </a:p>
        </p:txBody>
      </p:sp>
      <p:sp>
        <p:nvSpPr>
          <p:cNvPr id="658" name="Google Shape;658;p26">
            <a:extLst xmlns:a="http://schemas.openxmlformats.org/drawingml/2006/main">
              <a:ext uri="{FF2B5EF4-FFF2-40B4-BE49-F238E27FC236}">
                <a16:creationId xmlns:a16="http://schemas.microsoft.com/office/drawing/2014/main" id="{5C5BC169-B0B1-42E8-AC80-95832AF4FA04}"/>
              </a:ext>
            </a:extLst>
          </p:cNvPr>
          <p:cNvSpPr>
            <a:spLocks xmlns:a="http://schemas.openxmlformats.org/drawingml/2006/main" noGrp="1"/>
          </p:cNvSpPr>
          <p:nvPr/>
        </p:nvSpPr>
        <p:spPr>
          <a:xfrm xmlns:a="http://schemas.openxmlformats.org/drawingml/2006/main">
            <a:off x="8477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QUESTION</a:t>
            </a:r>
            <a:endParaRPr/>
          </a:p>
        </p:txBody>
      </p:sp>
      <p:sp>
        <p:nvSpPr>
          <p:cNvPr id="659" name="Google Shape;659;p26">
            <a:extLst xmlns:a="http://schemas.openxmlformats.org/drawingml/2006/main">
              <a:ext uri="{FF2B5EF4-FFF2-40B4-BE49-F238E27FC236}">
                <a16:creationId xmlns:a16="http://schemas.microsoft.com/office/drawing/2014/main" id="{8817F7D7-CC19-42CC-99FF-08F948D3CB09}"/>
              </a:ext>
            </a:extLst>
          </p:cNvPr>
          <p:cNvSpPr>
            <a:spLocks xmlns:a="http://schemas.openxmlformats.org/drawingml/2006/main" noGrp="1"/>
          </p:cNvSpPr>
          <p:nvPr/>
        </p:nvSpPr>
        <p:spPr>
          <a:xfrm xmlns:a="http://schemas.openxmlformats.org/drawingml/2006/main">
            <a:off x="8477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Will extreme heat increase in the project area?</a:t>
            </a:r>
            <a:endParaRPr/>
          </a:p>
        </p:txBody>
      </p:sp>
      <p:sp>
        <p:nvSpPr>
          <p:cNvPr id="660" name="Google Shape;660;p26">
            <a:extLst xmlns:a="http://schemas.openxmlformats.org/drawingml/2006/main">
              <a:ext uri="{FF2B5EF4-FFF2-40B4-BE49-F238E27FC236}">
                <a16:creationId xmlns:a16="http://schemas.microsoft.com/office/drawing/2014/main" id="{B6BF35E1-E4AF-44D3-B18D-43322651EE90}"/>
              </a:ext>
            </a:extLst>
          </p:cNvPr>
          <p:cNvSpPr>
            <a:spLocks xmlns:a="http://schemas.openxmlformats.org/drawingml/2006/main" noGrp="1"/>
          </p:cNvSpPr>
          <p:nvPr/>
        </p:nvSpPr>
        <p:spPr>
          <a:xfrm xmlns:a="http://schemas.openxmlformats.org/drawingml/2006/main">
            <a:off x="26098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02</a:t>
            </a:r>
            <a:endParaRPr/>
          </a:p>
        </p:txBody>
      </p:sp>
      <p:sp>
        <p:nvSpPr>
          <p:cNvPr id="661" name="Google Shape;661;p26">
            <a:extLst xmlns:a="http://schemas.openxmlformats.org/drawingml/2006/main">
              <a:ext uri="{FF2B5EF4-FFF2-40B4-BE49-F238E27FC236}">
                <a16:creationId xmlns:a16="http://schemas.microsoft.com/office/drawing/2014/main" id="{6E010EB1-F6A8-4B66-BE63-22E118C64991}"/>
              </a:ext>
            </a:extLst>
          </p:cNvPr>
          <p:cNvSpPr>
            <a:spLocks xmlns:a="http://schemas.openxmlformats.org/drawingml/2006/main" noGrp="1"/>
          </p:cNvSpPr>
          <p:nvPr/>
        </p:nvSpPr>
        <p:spPr>
          <a:xfrm xmlns:a="http://schemas.openxmlformats.org/drawingml/2006/main">
            <a:off x="25908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REFERENCE</a:t>
            </a:r>
            <a:endParaRPr/>
          </a:p>
        </p:txBody>
      </p:sp>
      <p:sp>
        <p:nvSpPr>
          <p:cNvPr id="662" name="Google Shape;662;p26">
            <a:extLst xmlns:a="http://schemas.openxmlformats.org/drawingml/2006/main">
              <a:ext uri="{FF2B5EF4-FFF2-40B4-BE49-F238E27FC236}">
                <a16:creationId xmlns:a16="http://schemas.microsoft.com/office/drawing/2014/main" id="{9EAD83A7-3F4C-4FD0-8CB7-B66A76F1063D}"/>
              </a:ext>
            </a:extLst>
          </p:cNvPr>
          <p:cNvSpPr>
            <a:spLocks xmlns:a="http://schemas.openxmlformats.org/drawingml/2006/main" noGrp="1"/>
          </p:cNvSpPr>
          <p:nvPr/>
        </p:nvSpPr>
        <p:spPr>
          <a:xfrm xmlns:a="http://schemas.openxmlformats.org/drawingml/2006/main">
            <a:off x="25908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Choose a baseline and historical dataset</a:t>
            </a:r>
            <a:endParaRPr/>
          </a:p>
        </p:txBody>
      </p:sp>
      <p:sp>
        <p:nvSpPr>
          <p:cNvPr id="663" name="Google Shape;663;p26">
            <a:extLst xmlns:a="http://schemas.openxmlformats.org/drawingml/2006/main">
              <a:ext uri="{FF2B5EF4-FFF2-40B4-BE49-F238E27FC236}">
                <a16:creationId xmlns:a16="http://schemas.microsoft.com/office/drawing/2014/main" id="{143A917A-6E39-4760-81D1-1132FAB933FE}"/>
              </a:ext>
            </a:extLst>
          </p:cNvPr>
          <p:cNvSpPr>
            <a:spLocks xmlns:a="http://schemas.openxmlformats.org/drawingml/2006/main" noGrp="1"/>
          </p:cNvSpPr>
          <p:nvPr/>
        </p:nvSpPr>
        <p:spPr>
          <a:xfrm xmlns:a="http://schemas.openxmlformats.org/drawingml/2006/main">
            <a:off x="435292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03</a:t>
            </a:r>
            <a:endParaRPr/>
          </a:p>
        </p:txBody>
      </p:sp>
      <p:sp>
        <p:nvSpPr>
          <p:cNvPr id="664" name="Google Shape;664;p26">
            <a:extLst xmlns:a="http://schemas.openxmlformats.org/drawingml/2006/main">
              <a:ext uri="{FF2B5EF4-FFF2-40B4-BE49-F238E27FC236}">
                <a16:creationId xmlns:a16="http://schemas.microsoft.com/office/drawing/2014/main" id="{3F3CF173-BFC0-4509-92C5-76685A8E51D1}"/>
              </a:ext>
            </a:extLst>
          </p:cNvPr>
          <p:cNvSpPr>
            <a:spLocks xmlns:a="http://schemas.openxmlformats.org/drawingml/2006/main" noGrp="1"/>
          </p:cNvSpPr>
          <p:nvPr/>
        </p:nvSpPr>
        <p:spPr>
          <a:xfrm xmlns:a="http://schemas.openxmlformats.org/drawingml/2006/main">
            <a:off x="433387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PROJECTIONS</a:t>
            </a:r>
            <a:endParaRPr/>
          </a:p>
        </p:txBody>
      </p:sp>
      <p:sp>
        <p:nvSpPr>
          <p:cNvPr id="665" name="Google Shape;665;p26">
            <a:extLst xmlns:a="http://schemas.openxmlformats.org/drawingml/2006/main">
              <a:ext uri="{FF2B5EF4-FFF2-40B4-BE49-F238E27FC236}">
                <a16:creationId xmlns:a16="http://schemas.microsoft.com/office/drawing/2014/main" id="{4B87692B-EDB2-4E02-A63A-94597A48CDFE}"/>
              </a:ext>
            </a:extLst>
          </p:cNvPr>
          <p:cNvSpPr>
            <a:spLocks xmlns:a="http://schemas.openxmlformats.org/drawingml/2006/main" noGrp="1"/>
          </p:cNvSpPr>
          <p:nvPr/>
        </p:nvSpPr>
        <p:spPr>
          <a:xfrm xmlns:a="http://schemas.openxmlformats.org/drawingml/2006/main">
            <a:off x="433387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Select scenarios and a multi-model ensemble</a:t>
            </a:r>
            <a:endParaRPr/>
          </a:p>
        </p:txBody>
      </p:sp>
      <p:sp>
        <p:nvSpPr>
          <p:cNvPr id="666" name="Google Shape;666;p26">
            <a:extLst xmlns:a="http://schemas.openxmlformats.org/drawingml/2006/main">
              <a:ext uri="{FF2B5EF4-FFF2-40B4-BE49-F238E27FC236}">
                <a16:creationId xmlns:a16="http://schemas.microsoft.com/office/drawing/2014/main" id="{E9EED9A1-1ED9-4C20-BD78-9E405749C910}"/>
              </a:ext>
            </a:extLst>
          </p:cNvPr>
          <p:cNvSpPr>
            <a:spLocks xmlns:a="http://schemas.openxmlformats.org/drawingml/2006/main" noGrp="1"/>
          </p:cNvSpPr>
          <p:nvPr/>
        </p:nvSpPr>
        <p:spPr>
          <a:xfrm xmlns:a="http://schemas.openxmlformats.org/drawingml/2006/main">
            <a:off x="609600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04</a:t>
            </a:r>
            <a:endParaRPr/>
          </a:p>
        </p:txBody>
      </p:sp>
      <p:sp>
        <p:nvSpPr>
          <p:cNvPr id="667" name="Google Shape;667;p26">
            <a:extLst xmlns:a="http://schemas.openxmlformats.org/drawingml/2006/main">
              <a:ext uri="{FF2B5EF4-FFF2-40B4-BE49-F238E27FC236}">
                <a16:creationId xmlns:a16="http://schemas.microsoft.com/office/drawing/2014/main" id="{C5F8CD8F-7E1C-4A41-B563-BBFCF7B82DEE}"/>
              </a:ext>
            </a:extLst>
          </p:cNvPr>
          <p:cNvSpPr>
            <a:spLocks xmlns:a="http://schemas.openxmlformats.org/drawingml/2006/main" noGrp="1"/>
          </p:cNvSpPr>
          <p:nvPr/>
        </p:nvSpPr>
        <p:spPr>
          <a:xfrm xmlns:a="http://schemas.openxmlformats.org/drawingml/2006/main">
            <a:off x="607695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PROCESS</a:t>
            </a:r>
            <a:endParaRPr/>
          </a:p>
        </p:txBody>
      </p:sp>
      <p:sp>
        <p:nvSpPr>
          <p:cNvPr id="668" name="Google Shape;668;p26">
            <a:extLst xmlns:a="http://schemas.openxmlformats.org/drawingml/2006/main">
              <a:ext uri="{FF2B5EF4-FFF2-40B4-BE49-F238E27FC236}">
                <a16:creationId xmlns:a16="http://schemas.microsoft.com/office/drawing/2014/main" id="{1A90FE26-5DE8-41A6-89AE-3A5079831757}"/>
              </a:ext>
            </a:extLst>
          </p:cNvPr>
          <p:cNvSpPr>
            <a:spLocks xmlns:a="http://schemas.openxmlformats.org/drawingml/2006/main" noGrp="1"/>
          </p:cNvSpPr>
          <p:nvPr/>
        </p:nvSpPr>
        <p:spPr>
          <a:xfrm xmlns:a="http://schemas.openxmlformats.org/drawingml/2006/main">
            <a:off x="607695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3"/>
              <a:buFont typeface="Lato"/>
              <a:buNone/>
            </a:pPr>
            <a:r>
              <a:rPr sz="1273" b="1" i="0">
                <a:solidFill>
                  <a:srgbClr val="12304E"/>
                </a:solidFill>
                <a:latin typeface="Lato"/>
                <a:ea typeface="Lato"/>
                <a:cs typeface="Lato"/>
              </a:rPr>
              <a:t>Subset, harmonize and apply correction where appropriate</a:t>
            </a:r>
            <a:endParaRPr/>
          </a:p>
        </p:txBody>
      </p:sp>
      <p:sp>
        <p:nvSpPr>
          <p:cNvPr id="669" name="Google Shape;669;p26">
            <a:extLst xmlns:a="http://schemas.openxmlformats.org/drawingml/2006/main">
              <a:ext uri="{FF2B5EF4-FFF2-40B4-BE49-F238E27FC236}">
                <a16:creationId xmlns:a16="http://schemas.microsoft.com/office/drawing/2014/main" id="{BF19FD76-566F-4957-B5B7-19F8741D9ADF}"/>
              </a:ext>
            </a:extLst>
          </p:cNvPr>
          <p:cNvSpPr>
            <a:spLocks xmlns:a="http://schemas.openxmlformats.org/drawingml/2006/main" noGrp="1"/>
          </p:cNvSpPr>
          <p:nvPr/>
        </p:nvSpPr>
        <p:spPr>
          <a:xfrm xmlns:a="http://schemas.openxmlformats.org/drawingml/2006/main">
            <a:off x="78390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05</a:t>
            </a:r>
            <a:endParaRPr/>
          </a:p>
        </p:txBody>
      </p:sp>
      <p:sp>
        <p:nvSpPr>
          <p:cNvPr id="670" name="Google Shape;670;p26">
            <a:extLst xmlns:a="http://schemas.openxmlformats.org/drawingml/2006/main">
              <a:ext uri="{FF2B5EF4-FFF2-40B4-BE49-F238E27FC236}">
                <a16:creationId xmlns:a16="http://schemas.microsoft.com/office/drawing/2014/main" id="{0E9F73EF-3FAB-4C43-A875-2B7BF460BF6D}"/>
              </a:ext>
            </a:extLst>
          </p:cNvPr>
          <p:cNvSpPr>
            <a:spLocks xmlns:a="http://schemas.openxmlformats.org/drawingml/2006/main" noGrp="1"/>
          </p:cNvSpPr>
          <p:nvPr/>
        </p:nvSpPr>
        <p:spPr>
          <a:xfrm xmlns:a="http://schemas.openxmlformats.org/drawingml/2006/main">
            <a:off x="78200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671" name="Google Shape;671;p26">
            <a:extLst xmlns:a="http://schemas.openxmlformats.org/drawingml/2006/main">
              <a:ext uri="{FF2B5EF4-FFF2-40B4-BE49-F238E27FC236}">
                <a16:creationId xmlns:a16="http://schemas.microsoft.com/office/drawing/2014/main" id="{92B5B8A0-9B2C-4599-A404-2EE109E51358}"/>
              </a:ext>
            </a:extLst>
          </p:cNvPr>
          <p:cNvSpPr>
            <a:spLocks xmlns:a="http://schemas.openxmlformats.org/drawingml/2006/main" noGrp="1"/>
          </p:cNvSpPr>
          <p:nvPr/>
        </p:nvSpPr>
        <p:spPr>
          <a:xfrm xmlns:a="http://schemas.openxmlformats.org/drawingml/2006/main">
            <a:off x="78200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Calculate days above 35°C</a:t>
            </a:r>
            <a:endParaRPr/>
          </a:p>
        </p:txBody>
      </p:sp>
      <p:sp>
        <p:nvSpPr>
          <p:cNvPr id="672" name="Google Shape;672;p26">
            <a:extLst xmlns:a="http://schemas.openxmlformats.org/drawingml/2006/main">
              <a:ext uri="{FF2B5EF4-FFF2-40B4-BE49-F238E27FC236}">
                <a16:creationId xmlns:a16="http://schemas.microsoft.com/office/drawing/2014/main" id="{9F020656-534A-49A3-A8EA-31FE8109C0A1}"/>
              </a:ext>
            </a:extLst>
          </p:cNvPr>
          <p:cNvSpPr>
            <a:spLocks xmlns:a="http://schemas.openxmlformats.org/drawingml/2006/main" noGrp="1"/>
          </p:cNvSpPr>
          <p:nvPr/>
        </p:nvSpPr>
        <p:spPr>
          <a:xfrm xmlns:a="http://schemas.openxmlformats.org/drawingml/2006/main">
            <a:off x="95821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06</a:t>
            </a:r>
            <a:endParaRPr/>
          </a:p>
        </p:txBody>
      </p:sp>
      <p:sp>
        <p:nvSpPr>
          <p:cNvPr id="673" name="Google Shape;673;p26">
            <a:extLst xmlns:a="http://schemas.openxmlformats.org/drawingml/2006/main">
              <a:ext uri="{FF2B5EF4-FFF2-40B4-BE49-F238E27FC236}">
                <a16:creationId xmlns:a16="http://schemas.microsoft.com/office/drawing/2014/main" id="{C552B367-E33E-420F-A5CF-44BC7F100EE2}"/>
              </a:ext>
            </a:extLst>
          </p:cNvPr>
          <p:cNvSpPr>
            <a:spLocks xmlns:a="http://schemas.openxmlformats.org/drawingml/2006/main" noGrp="1"/>
          </p:cNvSpPr>
          <p:nvPr/>
        </p:nvSpPr>
        <p:spPr>
          <a:xfrm xmlns:a="http://schemas.openxmlformats.org/drawingml/2006/main">
            <a:off x="95631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INTERPRET</a:t>
            </a:r>
            <a:endParaRPr/>
          </a:p>
        </p:txBody>
      </p:sp>
      <p:sp>
        <p:nvSpPr>
          <p:cNvPr id="674" name="Google Shape;674;p26">
            <a:extLst xmlns:a="http://schemas.openxmlformats.org/drawingml/2006/main">
              <a:ext uri="{FF2B5EF4-FFF2-40B4-BE49-F238E27FC236}">
                <a16:creationId xmlns:a16="http://schemas.microsoft.com/office/drawing/2014/main" id="{48B49553-77EB-4005-94DF-B77EDC814998}"/>
              </a:ext>
            </a:extLst>
          </p:cNvPr>
          <p:cNvSpPr>
            <a:spLocks xmlns:a="http://schemas.openxmlformats.org/drawingml/2006/main" noGrp="1"/>
          </p:cNvSpPr>
          <p:nvPr/>
        </p:nvSpPr>
        <p:spPr>
          <a:xfrm xmlns:a="http://schemas.openxmlformats.org/drawingml/2006/main">
            <a:off x="95631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Compare periods, spread and model agreement</a:t>
            </a:r>
            <a:endParaRPr/>
          </a:p>
        </p:txBody>
      </p:sp>
      <p:sp>
        <p:nvSpPr>
          <p:cNvPr id="675" name="Google Shape;675;p26">
            <a:extLst xmlns:a="http://schemas.openxmlformats.org/drawingml/2006/main">
              <a:ext uri="{FF2B5EF4-FFF2-40B4-BE49-F238E27FC236}">
                <a16:creationId xmlns:a16="http://schemas.microsoft.com/office/drawing/2014/main" id="{6D08F8C8-A239-4423-A920-6DE6076AB27F}"/>
              </a:ext>
            </a:extLst>
          </p:cNvPr>
          <p:cNvSpPr>
            <a:spLocks xmlns:a="http://schemas.openxmlformats.org/drawingml/2006/main" noGrp="1"/>
          </p:cNvSpPr>
          <p:nvPr/>
        </p:nvSpPr>
        <p:spPr>
          <a:xfrm xmlns:a="http://schemas.openxmlformats.org/drawingml/2006/main">
            <a:off x="866775" y="5162550"/>
            <a:ext cx="10458450" cy="5905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76" name="Google Shape;676;p26">
            <a:extLst xmlns:a="http://schemas.openxmlformats.org/drawingml/2006/main">
              <a:ext uri="{FF2B5EF4-FFF2-40B4-BE49-F238E27FC236}">
                <a16:creationId xmlns:a16="http://schemas.microsoft.com/office/drawing/2014/main" id="{79DACF74-FA86-4C28-8576-57B8BF2CAA7A}"/>
              </a:ext>
            </a:extLst>
          </p:cNvPr>
          <p:cNvSpPr>
            <a:spLocks xmlns:a="http://schemas.openxmlformats.org/drawingml/2006/main" noGrp="1"/>
          </p:cNvSpPr>
          <p:nvPr/>
        </p:nvSpPr>
        <p:spPr>
          <a:xfrm xmlns:a="http://schemas.openxmlformats.org/drawingml/2006/main">
            <a:off x="1114425" y="5334000"/>
            <a:ext cx="1047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00"/>
              <a:buFont typeface="Lato"/>
              <a:buNone/>
            </a:pPr>
            <a:r>
              <a:rPr sz="1200" b="1" i="0">
                <a:solidFill>
                  <a:srgbClr val="F2B632"/>
                </a:solidFill>
                <a:latin typeface="Lato"/>
                <a:ea typeface="Lato"/>
                <a:cs typeface="Lato"/>
              </a:rPr>
              <a:t>OUTPUT</a:t>
            </a:r>
            <a:endParaRPr/>
          </a:p>
        </p:txBody>
      </p:sp>
      <p:sp>
        <p:nvSpPr>
          <p:cNvPr id="677" name="Google Shape;677;p26">
            <a:extLst xmlns:a="http://schemas.openxmlformats.org/drawingml/2006/main">
              <a:ext uri="{FF2B5EF4-FFF2-40B4-BE49-F238E27FC236}">
                <a16:creationId xmlns:a16="http://schemas.microsoft.com/office/drawing/2014/main" id="{101140CA-A614-4946-BFE8-9CA4AE2F4BFC}"/>
              </a:ext>
            </a:extLst>
          </p:cNvPr>
          <p:cNvSpPr>
            <a:spLocks xmlns:a="http://schemas.openxmlformats.org/drawingml/2006/main" noGrp="1"/>
          </p:cNvSpPr>
          <p:nvPr/>
        </p:nvSpPr>
        <p:spPr>
          <a:xfrm xmlns:a="http://schemas.openxmlformats.org/drawingml/2006/main">
            <a:off x="2266950" y="5305425"/>
            <a:ext cx="866775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A traceable climate signal for discussion, not a stand-alone project decision</a:t>
            </a:r>
            <a:endParaRPr/>
          </a:p>
        </p:txBody>
      </p:sp>
    </p:spTree>
    <p:extLst>
      <p:ext uri="{BB962C8B-B14F-4D97-AF65-F5344CB8AC3E}">
        <p14:creationId xmlns:p14="http://schemas.microsoft.com/office/powerpoint/2010/main" val="1361627858"/>
      </p:ext>
    </p:extLst>
  </p:cSld>
</p:sld>
</file>

<file path=ppt/slides/slide2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3" name="Google Shape;683;p27">
            <a:extLst xmlns:a="http://schemas.openxmlformats.org/drawingml/2006/main">
              <a:ext uri="{FF2B5EF4-FFF2-40B4-BE49-F238E27FC236}">
                <a16:creationId xmlns:a16="http://schemas.microsoft.com/office/drawing/2014/main" id="{560EF14D-0B66-426A-B934-6BB9065CAE72}"/>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Interpreting a climate signal</a:t>
            </a:r>
            <a:endParaRPr/>
          </a:p>
        </p:txBody>
      </p:sp>
      <p:sp>
        <p:nvSpPr>
          <p:cNvPr id="684" name="Google Shape;684;p27">
            <a:extLst xmlns:a="http://schemas.openxmlformats.org/drawingml/2006/main">
              <a:ext uri="{FF2B5EF4-FFF2-40B4-BE49-F238E27FC236}">
                <a16:creationId xmlns:a16="http://schemas.microsoft.com/office/drawing/2014/main" id="{977FF2CB-17B6-46DE-8796-54FFA49E94BA}"/>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map or chart needs context before it can support a project decision</a:t>
            </a:r>
            <a:endParaRPr/>
          </a:p>
        </p:txBody>
      </p:sp>
      <p:sp>
        <p:nvSpPr>
          <p:cNvPr id="685" name="Google Shape;685;p27">
            <a:extLst xmlns:a="http://schemas.openxmlformats.org/drawingml/2006/main">
              <a:ext uri="{FF2B5EF4-FFF2-40B4-BE49-F238E27FC236}">
                <a16:creationId xmlns:a16="http://schemas.microsoft.com/office/drawing/2014/main" id="{BF6B1C31-60BB-40B7-8729-3AB129DDED0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6" name="Google Shape;686;p27">
            <a:extLst xmlns:a="http://schemas.openxmlformats.org/drawingml/2006/main">
              <a:ext uri="{FF2B5EF4-FFF2-40B4-BE49-F238E27FC236}">
                <a16:creationId xmlns:a16="http://schemas.microsoft.com/office/drawing/2014/main" id="{44FF0744-51CA-4C11-BFDF-2AD886F265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7" name="Google Shape;687;p27">
            <a:extLst xmlns:a="http://schemas.openxmlformats.org/drawingml/2006/main">
              <a:ext uri="{FF2B5EF4-FFF2-40B4-BE49-F238E27FC236}">
                <a16:creationId xmlns:a16="http://schemas.microsoft.com/office/drawing/2014/main" id="{A867A068-6D1C-4E23-A89A-1C4424F9D91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8" name="Google Shape;688;p27">
            <a:extLst xmlns:a="http://schemas.openxmlformats.org/drawingml/2006/main">
              <a:ext uri="{FF2B5EF4-FFF2-40B4-BE49-F238E27FC236}">
                <a16:creationId xmlns:a16="http://schemas.microsoft.com/office/drawing/2014/main" id="{C92957D4-B7D4-48FD-A26B-035E7B547AA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89" name="Google Shape;689;p27">
            <a:extLst xmlns:a="http://schemas.openxmlformats.org/drawingml/2006/main">
              <a:ext uri="{FF2B5EF4-FFF2-40B4-BE49-F238E27FC236}">
                <a16:creationId xmlns:a16="http://schemas.microsoft.com/office/drawing/2014/main" id="{05B107DF-3EEA-4CF6-9AED-4D06541B70B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27</a:t>
            </a:r>
            <a:endParaRPr/>
          </a:p>
        </p:txBody>
      </p:sp>
      <p:sp>
        <p:nvSpPr>
          <p:cNvPr id="690" name="Google Shape;690;p27">
            <a:extLst xmlns:a="http://schemas.openxmlformats.org/drawingml/2006/main">
              <a:ext uri="{FF2B5EF4-FFF2-40B4-BE49-F238E27FC236}">
                <a16:creationId xmlns:a16="http://schemas.microsoft.com/office/drawing/2014/main" id="{AFD49D51-DE2C-47F5-B0A3-2C6E22513036}"/>
              </a:ext>
            </a:extLst>
          </p:cNvPr>
          <p:cNvSpPr>
            <a:spLocks xmlns:a="http://schemas.openxmlformats.org/drawingml/2006/main" noGrp="1"/>
          </p:cNvSpPr>
          <p:nvPr/>
        </p:nvSpPr>
        <p:spPr>
          <a:xfrm xmlns:a="http://schemas.openxmlformats.org/drawingml/2006/main">
            <a:off x="742950" y="1790700"/>
            <a:ext cx="4572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READ THE SIGNAL</a:t>
            </a:r>
            <a:endParaRPr/>
          </a:p>
        </p:txBody>
      </p:sp>
      <p:sp>
        <p:nvSpPr>
          <p:cNvPr id="691" name="Google Shape;691;p27">
            <a:extLst xmlns:a="http://schemas.openxmlformats.org/drawingml/2006/main">
              <a:ext uri="{FF2B5EF4-FFF2-40B4-BE49-F238E27FC236}">
                <a16:creationId xmlns:a16="http://schemas.microsoft.com/office/drawing/2014/main" id="{E718EA8B-5DFC-4697-B8B0-0F59E823C153}"/>
              </a:ext>
            </a:extLst>
          </p:cNvPr>
          <p:cNvSpPr>
            <a:spLocks xmlns:a="http://schemas.openxmlformats.org/drawingml/2006/main" noGrp="1"/>
          </p:cNvSpPr>
          <p:nvPr/>
        </p:nvSpPr>
        <p:spPr>
          <a:xfrm xmlns:a="http://schemas.openxmlformats.org/drawingml/2006/main">
            <a:off x="6610350" y="17907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TEST THE INTERPRETATION</a:t>
            </a:r>
            <a:endParaRPr/>
          </a:p>
        </p:txBody>
      </p:sp>
      <p:sp>
        <p:nvSpPr>
          <p:cNvPr id="692" name="Google Shape;692;p27">
            <a:extLst xmlns:a="http://schemas.openxmlformats.org/drawingml/2006/main">
              <a:ext uri="{FF2B5EF4-FFF2-40B4-BE49-F238E27FC236}">
                <a16:creationId xmlns:a16="http://schemas.microsoft.com/office/drawing/2014/main" id="{EE0124DC-6CA9-4E27-9D68-E6FE04681092}"/>
              </a:ext>
            </a:extLst>
          </p:cNvPr>
          <p:cNvSpPr>
            <a:spLocks xmlns:a="http://schemas.openxmlformats.org/drawingml/2006/main" noGrp="1"/>
          </p:cNvSpPr>
          <p:nvPr/>
        </p:nvSpPr>
        <p:spPr>
          <a:xfrm xmlns:a="http://schemas.openxmlformats.org/drawingml/2006/main">
            <a:off x="6076950" y="1771650"/>
            <a:ext cx="9525" cy="33528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3" name="Google Shape;693;p27">
            <a:extLst xmlns:a="http://schemas.openxmlformats.org/drawingml/2006/main">
              <a:ext uri="{FF2B5EF4-FFF2-40B4-BE49-F238E27FC236}">
                <a16:creationId xmlns:a16="http://schemas.microsoft.com/office/drawing/2014/main" id="{2E04CFFF-5100-4E02-A3B8-F3B30283E751}"/>
              </a:ext>
            </a:extLst>
          </p:cNvPr>
          <p:cNvSpPr>
            <a:spLocks xmlns:a="http://schemas.openxmlformats.org/drawingml/2006/main" noGrp="1"/>
          </p:cNvSpPr>
          <p:nvPr/>
        </p:nvSpPr>
        <p:spPr>
          <a:xfrm xmlns:a="http://schemas.openxmlformats.org/drawingml/2006/main">
            <a:off x="7429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01</a:t>
            </a:r>
            <a:endParaRPr/>
          </a:p>
        </p:txBody>
      </p:sp>
      <p:sp>
        <p:nvSpPr>
          <p:cNvPr id="694" name="Google Shape;694;p27">
            <a:extLst xmlns:a="http://schemas.openxmlformats.org/drawingml/2006/main">
              <a:ext uri="{FF2B5EF4-FFF2-40B4-BE49-F238E27FC236}">
                <a16:creationId xmlns:a16="http://schemas.microsoft.com/office/drawing/2014/main" id="{80D82203-60E4-4BAA-8587-F929C97F0DA3}"/>
              </a:ext>
            </a:extLst>
          </p:cNvPr>
          <p:cNvSpPr>
            <a:spLocks xmlns:a="http://schemas.openxmlformats.org/drawingml/2006/main" noGrp="1"/>
          </p:cNvSpPr>
          <p:nvPr/>
        </p:nvSpPr>
        <p:spPr>
          <a:xfrm xmlns:a="http://schemas.openxmlformats.org/drawingml/2006/main">
            <a:off x="13335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MAGNITUDE</a:t>
            </a:r>
            <a:endParaRPr/>
          </a:p>
        </p:txBody>
      </p:sp>
      <p:sp>
        <p:nvSpPr>
          <p:cNvPr id="695" name="Google Shape;695;p27">
            <a:extLst xmlns:a="http://schemas.openxmlformats.org/drawingml/2006/main">
              <a:ext uri="{FF2B5EF4-FFF2-40B4-BE49-F238E27FC236}">
                <a16:creationId xmlns:a16="http://schemas.microsoft.com/office/drawing/2014/main" id="{3280867D-C99A-4FF9-A7C7-EB5507C93C03}"/>
              </a:ext>
            </a:extLst>
          </p:cNvPr>
          <p:cNvSpPr>
            <a:spLocks xmlns:a="http://schemas.openxmlformats.org/drawingml/2006/main" noGrp="1"/>
          </p:cNvSpPr>
          <p:nvPr/>
        </p:nvSpPr>
        <p:spPr>
          <a:xfrm xmlns:a="http://schemas.openxmlformats.org/drawingml/2006/main">
            <a:off x="13335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large is the change relative to the baseline?</a:t>
            </a:r>
            <a:endParaRPr/>
          </a:p>
        </p:txBody>
      </p:sp>
      <p:sp>
        <p:nvSpPr>
          <p:cNvPr id="696" name="Google Shape;696;p27">
            <a:extLst xmlns:a="http://schemas.openxmlformats.org/drawingml/2006/main">
              <a:ext uri="{FF2B5EF4-FFF2-40B4-BE49-F238E27FC236}">
                <a16:creationId xmlns:a16="http://schemas.microsoft.com/office/drawing/2014/main" id="{B316896B-7762-474A-A611-E20A77993D9F}"/>
              </a:ext>
            </a:extLst>
          </p:cNvPr>
          <p:cNvSpPr>
            <a:spLocks xmlns:a="http://schemas.openxmlformats.org/drawingml/2006/main" noGrp="1"/>
          </p:cNvSpPr>
          <p:nvPr/>
        </p:nvSpPr>
        <p:spPr>
          <a:xfrm xmlns:a="http://schemas.openxmlformats.org/drawingml/2006/main">
            <a:off x="7429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7" name="Google Shape;697;p27">
            <a:extLst xmlns:a="http://schemas.openxmlformats.org/drawingml/2006/main">
              <a:ext uri="{FF2B5EF4-FFF2-40B4-BE49-F238E27FC236}">
                <a16:creationId xmlns:a16="http://schemas.microsoft.com/office/drawing/2014/main" id="{1FDE5D48-6F71-4449-80B0-CE1DC5F37B66}"/>
              </a:ext>
            </a:extLst>
          </p:cNvPr>
          <p:cNvSpPr>
            <a:spLocks xmlns:a="http://schemas.openxmlformats.org/drawingml/2006/main" noGrp="1"/>
          </p:cNvSpPr>
          <p:nvPr/>
        </p:nvSpPr>
        <p:spPr>
          <a:xfrm xmlns:a="http://schemas.openxmlformats.org/drawingml/2006/main">
            <a:off x="7429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02</a:t>
            </a:r>
            <a:endParaRPr/>
          </a:p>
        </p:txBody>
      </p:sp>
      <p:sp>
        <p:nvSpPr>
          <p:cNvPr id="698" name="Google Shape;698;p27">
            <a:extLst xmlns:a="http://schemas.openxmlformats.org/drawingml/2006/main">
              <a:ext uri="{FF2B5EF4-FFF2-40B4-BE49-F238E27FC236}">
                <a16:creationId xmlns:a16="http://schemas.microsoft.com/office/drawing/2014/main" id="{22CE9D07-DF4C-4461-91F7-5AFB1AA3BBB3}"/>
              </a:ext>
            </a:extLst>
          </p:cNvPr>
          <p:cNvSpPr>
            <a:spLocks xmlns:a="http://schemas.openxmlformats.org/drawingml/2006/main" noGrp="1"/>
          </p:cNvSpPr>
          <p:nvPr/>
        </p:nvSpPr>
        <p:spPr>
          <a:xfrm xmlns:a="http://schemas.openxmlformats.org/drawingml/2006/main">
            <a:off x="13335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PATTERN</a:t>
            </a:r>
            <a:endParaRPr/>
          </a:p>
        </p:txBody>
      </p:sp>
      <p:sp>
        <p:nvSpPr>
          <p:cNvPr id="699" name="Google Shape;699;p27">
            <a:extLst xmlns:a="http://schemas.openxmlformats.org/drawingml/2006/main">
              <a:ext uri="{FF2B5EF4-FFF2-40B4-BE49-F238E27FC236}">
                <a16:creationId xmlns:a16="http://schemas.microsoft.com/office/drawing/2014/main" id="{D8C396F2-1CA7-4DED-BA25-0DC2415E51D2}"/>
              </a:ext>
            </a:extLst>
          </p:cNvPr>
          <p:cNvSpPr>
            <a:spLocks xmlns:a="http://schemas.openxmlformats.org/drawingml/2006/main" noGrp="1"/>
          </p:cNvSpPr>
          <p:nvPr/>
        </p:nvSpPr>
        <p:spPr>
          <a:xfrm xmlns:a="http://schemas.openxmlformats.org/drawingml/2006/main">
            <a:off x="13335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Where and when does the change occur?</a:t>
            </a:r>
            <a:endParaRPr/>
          </a:p>
        </p:txBody>
      </p:sp>
      <p:sp>
        <p:nvSpPr>
          <p:cNvPr id="700" name="Google Shape;700;p27">
            <a:extLst xmlns:a="http://schemas.openxmlformats.org/drawingml/2006/main">
              <a:ext uri="{FF2B5EF4-FFF2-40B4-BE49-F238E27FC236}">
                <a16:creationId xmlns:a16="http://schemas.microsoft.com/office/drawing/2014/main" id="{F9A95EA8-0A83-4D90-8EB3-10BB97903091}"/>
              </a:ext>
            </a:extLst>
          </p:cNvPr>
          <p:cNvSpPr>
            <a:spLocks xmlns:a="http://schemas.openxmlformats.org/drawingml/2006/main" noGrp="1"/>
          </p:cNvSpPr>
          <p:nvPr/>
        </p:nvSpPr>
        <p:spPr>
          <a:xfrm xmlns:a="http://schemas.openxmlformats.org/drawingml/2006/main">
            <a:off x="7429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1" name="Google Shape;701;p27">
            <a:extLst xmlns:a="http://schemas.openxmlformats.org/drawingml/2006/main">
              <a:ext uri="{FF2B5EF4-FFF2-40B4-BE49-F238E27FC236}">
                <a16:creationId xmlns:a16="http://schemas.microsoft.com/office/drawing/2014/main" id="{DBC9FCFC-7BC5-41D0-B79D-A7FD61211449}"/>
              </a:ext>
            </a:extLst>
          </p:cNvPr>
          <p:cNvSpPr>
            <a:spLocks xmlns:a="http://schemas.openxmlformats.org/drawingml/2006/main" noGrp="1"/>
          </p:cNvSpPr>
          <p:nvPr/>
        </p:nvSpPr>
        <p:spPr>
          <a:xfrm xmlns:a="http://schemas.openxmlformats.org/drawingml/2006/main">
            <a:off x="7429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03</a:t>
            </a:r>
            <a:endParaRPr/>
          </a:p>
        </p:txBody>
      </p:sp>
      <p:sp>
        <p:nvSpPr>
          <p:cNvPr id="702" name="Google Shape;702;p27">
            <a:extLst xmlns:a="http://schemas.openxmlformats.org/drawingml/2006/main">
              <a:ext uri="{FF2B5EF4-FFF2-40B4-BE49-F238E27FC236}">
                <a16:creationId xmlns:a16="http://schemas.microsoft.com/office/drawing/2014/main" id="{70B99FCA-DAE8-4AE8-8A21-5719F70EF7B3}"/>
              </a:ext>
            </a:extLst>
          </p:cNvPr>
          <p:cNvSpPr>
            <a:spLocks xmlns:a="http://schemas.openxmlformats.org/drawingml/2006/main" noGrp="1"/>
          </p:cNvSpPr>
          <p:nvPr/>
        </p:nvSpPr>
        <p:spPr>
          <a:xfrm xmlns:a="http://schemas.openxmlformats.org/drawingml/2006/main">
            <a:off x="13335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AGREEMENT</a:t>
            </a:r>
            <a:endParaRPr/>
          </a:p>
        </p:txBody>
      </p:sp>
      <p:sp>
        <p:nvSpPr>
          <p:cNvPr id="703" name="Google Shape;703;p27">
            <a:extLst xmlns:a="http://schemas.openxmlformats.org/drawingml/2006/main">
              <a:ext uri="{FF2B5EF4-FFF2-40B4-BE49-F238E27FC236}">
                <a16:creationId xmlns:a16="http://schemas.microsoft.com/office/drawing/2014/main" id="{7A1CB19A-DD48-421D-AEC4-A15F721616E6}"/>
              </a:ext>
            </a:extLst>
          </p:cNvPr>
          <p:cNvSpPr>
            <a:spLocks xmlns:a="http://schemas.openxmlformats.org/drawingml/2006/main" noGrp="1"/>
          </p:cNvSpPr>
          <p:nvPr/>
        </p:nvSpPr>
        <p:spPr>
          <a:xfrm xmlns:a="http://schemas.openxmlformats.org/drawingml/2006/main">
            <a:off x="13335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 most models show the same direction of change?</a:t>
            </a:r>
            <a:endParaRPr/>
          </a:p>
        </p:txBody>
      </p:sp>
      <p:sp>
        <p:nvSpPr>
          <p:cNvPr id="704" name="Google Shape;704;p27">
            <a:extLst xmlns:a="http://schemas.openxmlformats.org/drawingml/2006/main">
              <a:ext uri="{FF2B5EF4-FFF2-40B4-BE49-F238E27FC236}">
                <a16:creationId xmlns:a16="http://schemas.microsoft.com/office/drawing/2014/main" id="{FAAB25FC-4FDC-4960-80D9-67E25BA5C27C}"/>
              </a:ext>
            </a:extLst>
          </p:cNvPr>
          <p:cNvSpPr>
            <a:spLocks xmlns:a="http://schemas.openxmlformats.org/drawingml/2006/main" noGrp="1"/>
          </p:cNvSpPr>
          <p:nvPr/>
        </p:nvSpPr>
        <p:spPr>
          <a:xfrm xmlns:a="http://schemas.openxmlformats.org/drawingml/2006/main">
            <a:off x="66103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04</a:t>
            </a:r>
            <a:endParaRPr/>
          </a:p>
        </p:txBody>
      </p:sp>
      <p:sp>
        <p:nvSpPr>
          <p:cNvPr id="705" name="Google Shape;705;p27">
            <a:extLst xmlns:a="http://schemas.openxmlformats.org/drawingml/2006/main">
              <a:ext uri="{FF2B5EF4-FFF2-40B4-BE49-F238E27FC236}">
                <a16:creationId xmlns:a16="http://schemas.microsoft.com/office/drawing/2014/main" id="{EE4BB61A-6398-412C-88E8-3E2C81264A5F}"/>
              </a:ext>
            </a:extLst>
          </p:cNvPr>
          <p:cNvSpPr>
            <a:spLocks xmlns:a="http://schemas.openxmlformats.org/drawingml/2006/main" noGrp="1"/>
          </p:cNvSpPr>
          <p:nvPr/>
        </p:nvSpPr>
        <p:spPr>
          <a:xfrm xmlns:a="http://schemas.openxmlformats.org/drawingml/2006/main">
            <a:off x="72009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SPREAD</a:t>
            </a:r>
            <a:endParaRPr/>
          </a:p>
        </p:txBody>
      </p:sp>
      <p:sp>
        <p:nvSpPr>
          <p:cNvPr id="706" name="Google Shape;706;p27">
            <a:extLst xmlns:a="http://schemas.openxmlformats.org/drawingml/2006/main">
              <a:ext uri="{FF2B5EF4-FFF2-40B4-BE49-F238E27FC236}">
                <a16:creationId xmlns:a16="http://schemas.microsoft.com/office/drawing/2014/main" id="{BE77E02C-5CFD-4659-8E5D-6EE82F7710A2}"/>
              </a:ext>
            </a:extLst>
          </p:cNvPr>
          <p:cNvSpPr>
            <a:spLocks xmlns:a="http://schemas.openxmlformats.org/drawingml/2006/main" noGrp="1"/>
          </p:cNvSpPr>
          <p:nvPr/>
        </p:nvSpPr>
        <p:spPr>
          <a:xfrm xmlns:a="http://schemas.openxmlformats.org/drawingml/2006/main">
            <a:off x="72009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wide is the range across models and scenarios?</a:t>
            </a:r>
            <a:endParaRPr/>
          </a:p>
        </p:txBody>
      </p:sp>
      <p:sp>
        <p:nvSpPr>
          <p:cNvPr id="707" name="Google Shape;707;p27">
            <a:extLst xmlns:a="http://schemas.openxmlformats.org/drawingml/2006/main">
              <a:ext uri="{FF2B5EF4-FFF2-40B4-BE49-F238E27FC236}">
                <a16:creationId xmlns:a16="http://schemas.microsoft.com/office/drawing/2014/main" id="{235015A5-837F-4D5A-8D2C-E93BB7F025E9}"/>
              </a:ext>
            </a:extLst>
          </p:cNvPr>
          <p:cNvSpPr>
            <a:spLocks xmlns:a="http://schemas.openxmlformats.org/drawingml/2006/main" noGrp="1"/>
          </p:cNvSpPr>
          <p:nvPr/>
        </p:nvSpPr>
        <p:spPr>
          <a:xfrm xmlns:a="http://schemas.openxmlformats.org/drawingml/2006/main">
            <a:off x="66103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8" name="Google Shape;708;p27">
            <a:extLst xmlns:a="http://schemas.openxmlformats.org/drawingml/2006/main">
              <a:ext uri="{FF2B5EF4-FFF2-40B4-BE49-F238E27FC236}">
                <a16:creationId xmlns:a16="http://schemas.microsoft.com/office/drawing/2014/main" id="{A57DCBFD-13A0-4202-A042-6E80B5507A82}"/>
              </a:ext>
            </a:extLst>
          </p:cNvPr>
          <p:cNvSpPr>
            <a:spLocks xmlns:a="http://schemas.openxmlformats.org/drawingml/2006/main" noGrp="1"/>
          </p:cNvSpPr>
          <p:nvPr/>
        </p:nvSpPr>
        <p:spPr>
          <a:xfrm xmlns:a="http://schemas.openxmlformats.org/drawingml/2006/main">
            <a:off x="66103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05</a:t>
            </a:r>
            <a:endParaRPr/>
          </a:p>
        </p:txBody>
      </p:sp>
      <p:sp>
        <p:nvSpPr>
          <p:cNvPr id="709" name="Google Shape;709;p27">
            <a:extLst xmlns:a="http://schemas.openxmlformats.org/drawingml/2006/main">
              <a:ext uri="{FF2B5EF4-FFF2-40B4-BE49-F238E27FC236}">
                <a16:creationId xmlns:a16="http://schemas.microsoft.com/office/drawing/2014/main" id="{9BFDB592-8664-4641-BC30-EF755719E123}"/>
              </a:ext>
            </a:extLst>
          </p:cNvPr>
          <p:cNvSpPr>
            <a:spLocks xmlns:a="http://schemas.openxmlformats.org/drawingml/2006/main" noGrp="1"/>
          </p:cNvSpPr>
          <p:nvPr/>
        </p:nvSpPr>
        <p:spPr>
          <a:xfrm xmlns:a="http://schemas.openxmlformats.org/drawingml/2006/main">
            <a:off x="72009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RELEVANCE</a:t>
            </a:r>
            <a:endParaRPr/>
          </a:p>
        </p:txBody>
      </p:sp>
      <p:sp>
        <p:nvSpPr>
          <p:cNvPr id="710" name="Google Shape;710;p27">
            <a:extLst xmlns:a="http://schemas.openxmlformats.org/drawingml/2006/main">
              <a:ext uri="{FF2B5EF4-FFF2-40B4-BE49-F238E27FC236}">
                <a16:creationId xmlns:a16="http://schemas.microsoft.com/office/drawing/2014/main" id="{DCC19088-4B80-4BC8-A7A4-A70B1533C894}"/>
              </a:ext>
            </a:extLst>
          </p:cNvPr>
          <p:cNvSpPr>
            <a:spLocks xmlns:a="http://schemas.openxmlformats.org/drawingml/2006/main" noGrp="1"/>
          </p:cNvSpPr>
          <p:nvPr/>
        </p:nvSpPr>
        <p:spPr>
          <a:xfrm xmlns:a="http://schemas.openxmlformats.org/drawingml/2006/main">
            <a:off x="72009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49"/>
              <a:buFont typeface="Lato"/>
              <a:buNone/>
            </a:pPr>
            <a:r>
              <a:rPr sz="1250" b="0" i="0">
                <a:solidFill>
                  <a:srgbClr val="687984"/>
                </a:solidFill>
                <a:latin typeface="Lato"/>
                <a:ea typeface="Lato"/>
                <a:cs typeface="Lato"/>
              </a:rPr>
              <a:t>Does the indicator reflect the decision and exposed system?</a:t>
            </a:r>
            <a:endParaRPr/>
          </a:p>
        </p:txBody>
      </p:sp>
      <p:sp>
        <p:nvSpPr>
          <p:cNvPr id="711" name="Google Shape;711;p27">
            <a:extLst xmlns:a="http://schemas.openxmlformats.org/drawingml/2006/main">
              <a:ext uri="{FF2B5EF4-FFF2-40B4-BE49-F238E27FC236}">
                <a16:creationId xmlns:a16="http://schemas.microsoft.com/office/drawing/2014/main" id="{80E8B2D8-C572-46E2-B44B-709D5B6919B5}"/>
              </a:ext>
            </a:extLst>
          </p:cNvPr>
          <p:cNvSpPr>
            <a:spLocks xmlns:a="http://schemas.openxmlformats.org/drawingml/2006/main" noGrp="1"/>
          </p:cNvSpPr>
          <p:nvPr/>
        </p:nvSpPr>
        <p:spPr>
          <a:xfrm xmlns:a="http://schemas.openxmlformats.org/drawingml/2006/main">
            <a:off x="66103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2" name="Google Shape;712;p27">
            <a:extLst xmlns:a="http://schemas.openxmlformats.org/drawingml/2006/main">
              <a:ext uri="{FF2B5EF4-FFF2-40B4-BE49-F238E27FC236}">
                <a16:creationId xmlns:a16="http://schemas.microsoft.com/office/drawing/2014/main" id="{997CB638-708B-4B97-85F6-23A8D7BF418E}"/>
              </a:ext>
            </a:extLst>
          </p:cNvPr>
          <p:cNvSpPr>
            <a:spLocks xmlns:a="http://schemas.openxmlformats.org/drawingml/2006/main" noGrp="1"/>
          </p:cNvSpPr>
          <p:nvPr/>
        </p:nvSpPr>
        <p:spPr>
          <a:xfrm xmlns:a="http://schemas.openxmlformats.org/drawingml/2006/main">
            <a:off x="66103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06</a:t>
            </a:r>
            <a:endParaRPr/>
          </a:p>
        </p:txBody>
      </p:sp>
      <p:sp>
        <p:nvSpPr>
          <p:cNvPr id="713" name="Google Shape;713;p27">
            <a:extLst xmlns:a="http://schemas.openxmlformats.org/drawingml/2006/main">
              <a:ext uri="{FF2B5EF4-FFF2-40B4-BE49-F238E27FC236}">
                <a16:creationId xmlns:a16="http://schemas.microsoft.com/office/drawing/2014/main" id="{C3F86DBE-D43C-4EC7-A675-D895F3354869}"/>
              </a:ext>
            </a:extLst>
          </p:cNvPr>
          <p:cNvSpPr>
            <a:spLocks xmlns:a="http://schemas.openxmlformats.org/drawingml/2006/main" noGrp="1"/>
          </p:cNvSpPr>
          <p:nvPr/>
        </p:nvSpPr>
        <p:spPr>
          <a:xfrm xmlns:a="http://schemas.openxmlformats.org/drawingml/2006/main">
            <a:off x="72009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LIMITATIONS</a:t>
            </a:r>
            <a:endParaRPr/>
          </a:p>
        </p:txBody>
      </p:sp>
      <p:sp>
        <p:nvSpPr>
          <p:cNvPr id="714" name="Google Shape;714;p27">
            <a:extLst xmlns:a="http://schemas.openxmlformats.org/drawingml/2006/main">
              <a:ext uri="{FF2B5EF4-FFF2-40B4-BE49-F238E27FC236}">
                <a16:creationId xmlns:a16="http://schemas.microsoft.com/office/drawing/2014/main" id="{AFF0B4EA-A59B-4839-97F9-74F169FFFA84}"/>
              </a:ext>
            </a:extLst>
          </p:cNvPr>
          <p:cNvSpPr>
            <a:spLocks xmlns:a="http://schemas.openxmlformats.org/drawingml/2006/main" noGrp="1"/>
          </p:cNvSpPr>
          <p:nvPr/>
        </p:nvSpPr>
        <p:spPr>
          <a:xfrm xmlns:a="http://schemas.openxmlformats.org/drawingml/2006/main">
            <a:off x="72009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Which assumptions could change the interpretation?</a:t>
            </a:r>
            <a:endParaRPr/>
          </a:p>
        </p:txBody>
      </p:sp>
      <p:sp>
        <p:nvSpPr>
          <p:cNvPr id="715" name="Google Shape;715;p27">
            <a:extLst xmlns:a="http://schemas.openxmlformats.org/drawingml/2006/main">
              <a:ext uri="{FF2B5EF4-FFF2-40B4-BE49-F238E27FC236}">
                <a16:creationId xmlns:a16="http://schemas.microsoft.com/office/drawing/2014/main" id="{1A8A30E1-8B58-4036-924C-67854BDE6315}"/>
              </a:ext>
            </a:extLst>
          </p:cNvPr>
          <p:cNvSpPr>
            <a:spLocks xmlns:a="http://schemas.openxmlformats.org/drawingml/2006/main" noGrp="1"/>
          </p:cNvSpPr>
          <p:nvPr/>
        </p:nvSpPr>
        <p:spPr>
          <a:xfrm xmlns:a="http://schemas.openxmlformats.org/drawingml/2006/main">
            <a:off x="742950" y="5295900"/>
            <a:ext cx="10629900" cy="4381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6" name="Google Shape;716;p27">
            <a:extLst xmlns:a="http://schemas.openxmlformats.org/drawingml/2006/main">
              <a:ext uri="{FF2B5EF4-FFF2-40B4-BE49-F238E27FC236}">
                <a16:creationId xmlns:a16="http://schemas.microsoft.com/office/drawing/2014/main" id="{B0FCDEC9-53BD-467A-90E9-CB26AEA62400}"/>
              </a:ext>
            </a:extLst>
          </p:cNvPr>
          <p:cNvSpPr>
            <a:spLocks xmlns:a="http://schemas.openxmlformats.org/drawingml/2006/main" noGrp="1"/>
          </p:cNvSpPr>
          <p:nvPr/>
        </p:nvSpPr>
        <p:spPr>
          <a:xfrm xmlns:a="http://schemas.openxmlformats.org/drawingml/2006/main">
            <a:off x="990600" y="5400675"/>
            <a:ext cx="10134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informs judgement alongside sector expertise, local knowledge and risk preferences</a:t>
            </a:r>
            <a:endParaRPr/>
          </a:p>
        </p:txBody>
      </p:sp>
    </p:spTree>
    <p:extLst>
      <p:ext uri="{BB962C8B-B14F-4D97-AF65-F5344CB8AC3E}">
        <p14:creationId xmlns:p14="http://schemas.microsoft.com/office/powerpoint/2010/main" val="165663087"/>
      </p:ext>
    </p:extLst>
  </p:cSld>
</p:sld>
</file>

<file path=ppt/slides/slide2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2" name="Google Shape;722;p28">
            <a:extLst xmlns:a="http://schemas.openxmlformats.org/drawingml/2006/main">
              <a:ext uri="{FF2B5EF4-FFF2-40B4-BE49-F238E27FC236}">
                <a16:creationId xmlns:a16="http://schemas.microsoft.com/office/drawing/2014/main" id="{0EC65D10-1225-4291-BAB8-F94421F9598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Key messages</a:t>
            </a:r>
            <a:endParaRPr/>
          </a:p>
        </p:txBody>
      </p:sp>
      <p:sp>
        <p:nvSpPr>
          <p:cNvPr id="723" name="Google Shape;723;p28">
            <a:extLst xmlns:a="http://schemas.openxmlformats.org/drawingml/2006/main">
              <a:ext uri="{FF2B5EF4-FFF2-40B4-BE49-F238E27FC236}">
                <a16:creationId xmlns:a16="http://schemas.microsoft.com/office/drawing/2014/main" id="{BD7B2F6A-E669-4757-97FF-5FDD883C164F}"/>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ideas to carry into the practical CAVA sessions</a:t>
            </a:r>
            <a:endParaRPr/>
          </a:p>
        </p:txBody>
      </p:sp>
      <p:sp>
        <p:nvSpPr>
          <p:cNvPr id="724" name="Google Shape;724;p28">
            <a:extLst xmlns:a="http://schemas.openxmlformats.org/drawingml/2006/main">
              <a:ext uri="{FF2B5EF4-FFF2-40B4-BE49-F238E27FC236}">
                <a16:creationId xmlns:a16="http://schemas.microsoft.com/office/drawing/2014/main" id="{D9FAD073-B726-4173-9DB3-CF7CC5245B15}"/>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5" name="Google Shape;725;p28">
            <a:extLst xmlns:a="http://schemas.openxmlformats.org/drawingml/2006/main">
              <a:ext uri="{FF2B5EF4-FFF2-40B4-BE49-F238E27FC236}">
                <a16:creationId xmlns:a16="http://schemas.microsoft.com/office/drawing/2014/main" id="{5A1508DE-6D90-4625-BF11-CBB5148BD64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6" name="Google Shape;726;p28">
            <a:extLst xmlns:a="http://schemas.openxmlformats.org/drawingml/2006/main">
              <a:ext uri="{FF2B5EF4-FFF2-40B4-BE49-F238E27FC236}">
                <a16:creationId xmlns:a16="http://schemas.microsoft.com/office/drawing/2014/main" id="{891613CC-43E6-4844-BFF6-8296F99035C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7" name="Google Shape;727;p28">
            <a:extLst xmlns:a="http://schemas.openxmlformats.org/drawingml/2006/main">
              <a:ext uri="{FF2B5EF4-FFF2-40B4-BE49-F238E27FC236}">
                <a16:creationId xmlns:a16="http://schemas.microsoft.com/office/drawing/2014/main" id="{04B16D34-598E-4D15-BC5A-0DF1CB7AD7A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28" name="Google Shape;728;p28">
            <a:extLst xmlns:a="http://schemas.openxmlformats.org/drawingml/2006/main">
              <a:ext uri="{FF2B5EF4-FFF2-40B4-BE49-F238E27FC236}">
                <a16:creationId xmlns:a16="http://schemas.microsoft.com/office/drawing/2014/main" id="{96B952CD-52A4-46A1-BCAD-15B51652E54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28</a:t>
            </a:r>
            <a:endParaRPr/>
          </a:p>
        </p:txBody>
      </p:sp>
      <p:sp>
        <p:nvSpPr>
          <p:cNvPr id="729" name="Google Shape;729;p28">
            <a:extLst xmlns:a="http://schemas.openxmlformats.org/drawingml/2006/main">
              <a:ext uri="{FF2B5EF4-FFF2-40B4-BE49-F238E27FC236}">
                <a16:creationId xmlns:a16="http://schemas.microsoft.com/office/drawing/2014/main" id="{F06C1AAF-0B2F-41B7-BABE-4D8927B934A7}"/>
              </a:ext>
            </a:extLst>
          </p:cNvPr>
          <p:cNvSpPr>
            <a:spLocks xmlns:a="http://schemas.openxmlformats.org/drawingml/2006/main" noGrp="1"/>
          </p:cNvSpPr>
          <p:nvPr/>
        </p:nvSpPr>
        <p:spPr>
          <a:xfrm xmlns:a="http://schemas.openxmlformats.org/drawingml/2006/main">
            <a:off x="809625" y="18859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01</a:t>
            </a:r>
            <a:endParaRPr/>
          </a:p>
        </p:txBody>
      </p:sp>
      <p:sp>
        <p:nvSpPr>
          <p:cNvPr id="730" name="Google Shape;730;p28">
            <a:extLst xmlns:a="http://schemas.openxmlformats.org/drawingml/2006/main">
              <a:ext uri="{FF2B5EF4-FFF2-40B4-BE49-F238E27FC236}">
                <a16:creationId xmlns:a16="http://schemas.microsoft.com/office/drawing/2014/main" id="{583B941A-D8D1-48F3-9202-155CA53142C4}"/>
              </a:ext>
            </a:extLst>
          </p:cNvPr>
          <p:cNvSpPr>
            <a:spLocks xmlns:a="http://schemas.openxmlformats.org/drawingml/2006/main" noGrp="1"/>
          </p:cNvSpPr>
          <p:nvPr/>
        </p:nvSpPr>
        <p:spPr>
          <a:xfrm xmlns:a="http://schemas.openxmlformats.org/drawingml/2006/main">
            <a:off x="1524000" y="17526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Start with the decision question</a:t>
            </a:r>
            <a:endParaRPr/>
          </a:p>
        </p:txBody>
      </p:sp>
      <p:sp>
        <p:nvSpPr>
          <p:cNvPr id="731" name="Google Shape;731;p28">
            <a:extLst xmlns:a="http://schemas.openxmlformats.org/drawingml/2006/main">
              <a:ext uri="{FF2B5EF4-FFF2-40B4-BE49-F238E27FC236}">
                <a16:creationId xmlns:a16="http://schemas.microsoft.com/office/drawing/2014/main" id="{BF11F30D-0658-4260-838F-931A1EC0261A}"/>
              </a:ext>
            </a:extLst>
          </p:cNvPr>
          <p:cNvSpPr>
            <a:spLocks xmlns:a="http://schemas.openxmlformats.org/drawingml/2006/main" noGrp="1"/>
          </p:cNvSpPr>
          <p:nvPr/>
        </p:nvSpPr>
        <p:spPr>
          <a:xfrm xmlns:a="http://schemas.openxmlformats.org/drawingml/2006/main">
            <a:off x="5629275" y="17526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Geography, variable, period and indicator should follow from the intended use.</a:t>
            </a:r>
            <a:endParaRPr/>
          </a:p>
        </p:txBody>
      </p:sp>
      <p:sp>
        <p:nvSpPr>
          <p:cNvPr id="732" name="Google Shape;732;p28">
            <a:extLst xmlns:a="http://schemas.openxmlformats.org/drawingml/2006/main">
              <a:ext uri="{FF2B5EF4-FFF2-40B4-BE49-F238E27FC236}">
                <a16:creationId xmlns:a16="http://schemas.microsoft.com/office/drawing/2014/main" id="{37032A2B-AD74-4C32-AD9B-93A8A5A807DE}"/>
              </a:ext>
            </a:extLst>
          </p:cNvPr>
          <p:cNvSpPr>
            <a:spLocks xmlns:a="http://schemas.openxmlformats.org/drawingml/2006/main" noGrp="1"/>
          </p:cNvSpPr>
          <p:nvPr/>
        </p:nvSpPr>
        <p:spPr>
          <a:xfrm xmlns:a="http://schemas.openxmlformats.org/drawingml/2006/main">
            <a:off x="1524000" y="24765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3" name="Google Shape;733;p28">
            <a:extLst xmlns:a="http://schemas.openxmlformats.org/drawingml/2006/main">
              <a:ext uri="{FF2B5EF4-FFF2-40B4-BE49-F238E27FC236}">
                <a16:creationId xmlns:a16="http://schemas.microsoft.com/office/drawing/2014/main" id="{8582DB8B-2D11-4425-BB20-A1509B491654}"/>
              </a:ext>
            </a:extLst>
          </p:cNvPr>
          <p:cNvSpPr>
            <a:spLocks xmlns:a="http://schemas.openxmlformats.org/drawingml/2006/main" noGrp="1"/>
          </p:cNvSpPr>
          <p:nvPr/>
        </p:nvSpPr>
        <p:spPr>
          <a:xfrm xmlns:a="http://schemas.openxmlformats.org/drawingml/2006/main">
            <a:off x="809625" y="28575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575"/>
              <a:buFont typeface="Lato"/>
              <a:buNone/>
            </a:pPr>
            <a:r>
              <a:rPr sz="1575" b="1" i="0">
                <a:solidFill>
                  <a:srgbClr val="F2B632"/>
                </a:solidFill>
                <a:latin typeface="Lato"/>
                <a:ea typeface="Lato"/>
                <a:cs typeface="Lato"/>
              </a:rPr>
              <a:t>02</a:t>
            </a:r>
            <a:endParaRPr/>
          </a:p>
        </p:txBody>
      </p:sp>
      <p:sp>
        <p:nvSpPr>
          <p:cNvPr id="734" name="Google Shape;734;p28">
            <a:extLst xmlns:a="http://schemas.openxmlformats.org/drawingml/2006/main">
              <a:ext uri="{FF2B5EF4-FFF2-40B4-BE49-F238E27FC236}">
                <a16:creationId xmlns:a16="http://schemas.microsoft.com/office/drawing/2014/main" id="{AE2C8EDE-FF77-4A2D-93CD-7661A339334D}"/>
              </a:ext>
            </a:extLst>
          </p:cNvPr>
          <p:cNvSpPr>
            <a:spLocks xmlns:a="http://schemas.openxmlformats.org/drawingml/2006/main" noGrp="1"/>
          </p:cNvSpPr>
          <p:nvPr/>
        </p:nvSpPr>
        <p:spPr>
          <a:xfrm xmlns:a="http://schemas.openxmlformats.org/drawingml/2006/main">
            <a:off x="1524000" y="27241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Different uncertainties need different responses</a:t>
            </a:r>
            <a:endParaRPr/>
          </a:p>
        </p:txBody>
      </p:sp>
      <p:sp>
        <p:nvSpPr>
          <p:cNvPr id="735" name="Google Shape;735;p28">
            <a:extLst xmlns:a="http://schemas.openxmlformats.org/drawingml/2006/main">
              <a:ext uri="{FF2B5EF4-FFF2-40B4-BE49-F238E27FC236}">
                <a16:creationId xmlns:a16="http://schemas.microsoft.com/office/drawing/2014/main" id="{40B62961-5731-4B90-B0A9-B263D0DBDC3B}"/>
              </a:ext>
            </a:extLst>
          </p:cNvPr>
          <p:cNvSpPr>
            <a:spLocks xmlns:a="http://schemas.openxmlformats.org/drawingml/2006/main" noGrp="1"/>
          </p:cNvSpPr>
          <p:nvPr/>
        </p:nvSpPr>
        <p:spPr>
          <a:xfrm xmlns:a="http://schemas.openxmlformats.org/drawingml/2006/main">
            <a:off x="5629275" y="27241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Represent internal variability, explore scenarios, compare models and adjust diagnosed bias carefully.</a:t>
            </a:r>
            <a:endParaRPr/>
          </a:p>
        </p:txBody>
      </p:sp>
      <p:sp>
        <p:nvSpPr>
          <p:cNvPr id="736" name="Google Shape;736;p28">
            <a:extLst xmlns:a="http://schemas.openxmlformats.org/drawingml/2006/main">
              <a:ext uri="{FF2B5EF4-FFF2-40B4-BE49-F238E27FC236}">
                <a16:creationId xmlns:a16="http://schemas.microsoft.com/office/drawing/2014/main" id="{5E6F2A9E-7A3D-4291-BF8D-2DAD20CB402D}"/>
              </a:ext>
            </a:extLst>
          </p:cNvPr>
          <p:cNvSpPr>
            <a:spLocks xmlns:a="http://schemas.openxmlformats.org/drawingml/2006/main" noGrp="1"/>
          </p:cNvSpPr>
          <p:nvPr/>
        </p:nvSpPr>
        <p:spPr>
          <a:xfrm xmlns:a="http://schemas.openxmlformats.org/drawingml/2006/main">
            <a:off x="1524000" y="344805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7" name="Google Shape;737;p28">
            <a:extLst xmlns:a="http://schemas.openxmlformats.org/drawingml/2006/main">
              <a:ext uri="{FF2B5EF4-FFF2-40B4-BE49-F238E27FC236}">
                <a16:creationId xmlns:a16="http://schemas.microsoft.com/office/drawing/2014/main" id="{64860169-F82F-46E9-B615-1A4C2D7729C9}"/>
              </a:ext>
            </a:extLst>
          </p:cNvPr>
          <p:cNvSpPr>
            <a:spLocks xmlns:a="http://schemas.openxmlformats.org/drawingml/2006/main" noGrp="1"/>
          </p:cNvSpPr>
          <p:nvPr/>
        </p:nvSpPr>
        <p:spPr>
          <a:xfrm xmlns:a="http://schemas.openxmlformats.org/drawingml/2006/main">
            <a:off x="809625" y="38290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03</a:t>
            </a:r>
            <a:endParaRPr/>
          </a:p>
        </p:txBody>
      </p:sp>
      <p:sp>
        <p:nvSpPr>
          <p:cNvPr id="738" name="Google Shape;738;p28">
            <a:extLst xmlns:a="http://schemas.openxmlformats.org/drawingml/2006/main">
              <a:ext uri="{FF2B5EF4-FFF2-40B4-BE49-F238E27FC236}">
                <a16:creationId xmlns:a16="http://schemas.microsoft.com/office/drawing/2014/main" id="{B2BBE445-3330-4DB6-9350-DFC853E1D660}"/>
              </a:ext>
            </a:extLst>
          </p:cNvPr>
          <p:cNvSpPr>
            <a:spLocks xmlns:a="http://schemas.openxmlformats.org/drawingml/2006/main" noGrp="1"/>
          </p:cNvSpPr>
          <p:nvPr/>
        </p:nvSpPr>
        <p:spPr>
          <a:xfrm xmlns:a="http://schemas.openxmlformats.org/drawingml/2006/main">
            <a:off x="1524000" y="36957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6"/>
              <a:buFont typeface="Lato"/>
              <a:buNone/>
            </a:pPr>
            <a:r>
              <a:rPr sz="1507" b="1" i="0">
                <a:solidFill>
                  <a:srgbClr val="12304E"/>
                </a:solidFill>
                <a:latin typeface="Lato"/>
                <a:ea typeface="Lato"/>
                <a:cs typeface="Lato"/>
              </a:rPr>
              <a:t>Access and preparation require a workflow</a:t>
            </a:r>
            <a:endParaRPr/>
          </a:p>
        </p:txBody>
      </p:sp>
      <p:sp>
        <p:nvSpPr>
          <p:cNvPr id="739" name="Google Shape;739;p28">
            <a:extLst xmlns:a="http://schemas.openxmlformats.org/drawingml/2006/main">
              <a:ext uri="{FF2B5EF4-FFF2-40B4-BE49-F238E27FC236}">
                <a16:creationId xmlns:a16="http://schemas.microsoft.com/office/drawing/2014/main" id="{5A0860B9-3BAE-46F0-8CFD-3151D268CC1B}"/>
              </a:ext>
            </a:extLst>
          </p:cNvPr>
          <p:cNvSpPr>
            <a:spLocks xmlns:a="http://schemas.openxmlformats.org/drawingml/2006/main" noGrp="1"/>
          </p:cNvSpPr>
          <p:nvPr/>
        </p:nvSpPr>
        <p:spPr>
          <a:xfrm xmlns:a="http://schemas.openxmlformats.org/drawingml/2006/main">
            <a:off x="5629275" y="36957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Users must select, retrieve, harmonize and document data before analysis.</a:t>
            </a:r>
            <a:endParaRPr/>
          </a:p>
        </p:txBody>
      </p:sp>
      <p:sp>
        <p:nvSpPr>
          <p:cNvPr id="740" name="Google Shape;740;p28">
            <a:extLst xmlns:a="http://schemas.openxmlformats.org/drawingml/2006/main">
              <a:ext uri="{FF2B5EF4-FFF2-40B4-BE49-F238E27FC236}">
                <a16:creationId xmlns:a16="http://schemas.microsoft.com/office/drawing/2014/main" id="{37ED1AE6-0FC7-4B87-819D-773C932CF3FF}"/>
              </a:ext>
            </a:extLst>
          </p:cNvPr>
          <p:cNvSpPr>
            <a:spLocks xmlns:a="http://schemas.openxmlformats.org/drawingml/2006/main" noGrp="1"/>
          </p:cNvSpPr>
          <p:nvPr/>
        </p:nvSpPr>
        <p:spPr>
          <a:xfrm xmlns:a="http://schemas.openxmlformats.org/drawingml/2006/main">
            <a:off x="1524000" y="44196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41" name="Google Shape;741;p28">
            <a:extLst xmlns:a="http://schemas.openxmlformats.org/drawingml/2006/main">
              <a:ext uri="{FF2B5EF4-FFF2-40B4-BE49-F238E27FC236}">
                <a16:creationId xmlns:a16="http://schemas.microsoft.com/office/drawing/2014/main" id="{32FAE51B-3BBD-40CC-8E38-357A9AB20662}"/>
              </a:ext>
            </a:extLst>
          </p:cNvPr>
          <p:cNvSpPr>
            <a:spLocks xmlns:a="http://schemas.openxmlformats.org/drawingml/2006/main" noGrp="1"/>
          </p:cNvSpPr>
          <p:nvPr/>
        </p:nvSpPr>
        <p:spPr>
          <a:xfrm xmlns:a="http://schemas.openxmlformats.org/drawingml/2006/main">
            <a:off x="809625" y="48006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04</a:t>
            </a:r>
            <a:endParaRPr/>
          </a:p>
        </p:txBody>
      </p:sp>
      <p:sp>
        <p:nvSpPr>
          <p:cNvPr id="742" name="Google Shape;742;p28">
            <a:extLst xmlns:a="http://schemas.openxmlformats.org/drawingml/2006/main">
              <a:ext uri="{FF2B5EF4-FFF2-40B4-BE49-F238E27FC236}">
                <a16:creationId xmlns:a16="http://schemas.microsoft.com/office/drawing/2014/main" id="{6E075EDF-F237-4AF7-8B6C-830139185E35}"/>
              </a:ext>
            </a:extLst>
          </p:cNvPr>
          <p:cNvSpPr>
            <a:spLocks xmlns:a="http://schemas.openxmlformats.org/drawingml/2006/main" noGrp="1"/>
          </p:cNvSpPr>
          <p:nvPr/>
        </p:nvSpPr>
        <p:spPr>
          <a:xfrm xmlns:a="http://schemas.openxmlformats.org/drawingml/2006/main">
            <a:off x="1524000" y="46672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CAVA connects the workflow</a:t>
            </a:r>
            <a:endParaRPr/>
          </a:p>
        </p:txBody>
      </p:sp>
      <p:sp>
        <p:nvSpPr>
          <p:cNvPr id="743" name="Google Shape;743;p28">
            <a:extLst xmlns:a="http://schemas.openxmlformats.org/drawingml/2006/main">
              <a:ext uri="{FF2B5EF4-FFF2-40B4-BE49-F238E27FC236}">
                <a16:creationId xmlns:a16="http://schemas.microsoft.com/office/drawing/2014/main" id="{98B7E1E9-C39C-426D-AE0B-8BE70CDF99D3}"/>
              </a:ext>
            </a:extLst>
          </p:cNvPr>
          <p:cNvSpPr>
            <a:spLocks xmlns:a="http://schemas.openxmlformats.org/drawingml/2006/main" noGrp="1"/>
          </p:cNvSpPr>
          <p:nvPr/>
        </p:nvSpPr>
        <p:spPr>
          <a:xfrm xmlns:a="http://schemas.openxmlformats.org/drawingml/2006/main">
            <a:off x="5629275" y="46672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 Platform, CAVAanalytics and cavapy provide different routes through shared data and processing.</a:t>
            </a:r>
            <a:endParaRPr/>
          </a:p>
        </p:txBody>
      </p:sp>
    </p:spTree>
    <p:extLst>
      <p:ext uri="{BB962C8B-B14F-4D97-AF65-F5344CB8AC3E}">
        <p14:creationId xmlns:p14="http://schemas.microsoft.com/office/powerpoint/2010/main" val="870343893"/>
      </p:ext>
    </p:extLst>
  </p:cSld>
</p:sld>
</file>

<file path=ppt/slides/slide29.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749" name="Google Shape;749;p29">
            <a:extLst xmlns:a="http://schemas.openxmlformats.org/drawingml/2006/main">
              <a:ext uri="{FF2B5EF4-FFF2-40B4-BE49-F238E27FC236}">
                <a16:creationId xmlns:a16="http://schemas.microsoft.com/office/drawing/2014/main" id="{CF2AD93E-4730-4449-B519-F08BF87B3E4F}"/>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0" name="Google Shape;750;p29">
            <a:extLst xmlns:a="http://schemas.openxmlformats.org/drawingml/2006/main">
              <a:ext uri="{FF2B5EF4-FFF2-40B4-BE49-F238E27FC236}">
                <a16:creationId xmlns:a16="http://schemas.microsoft.com/office/drawing/2014/main" id="{B0DBC394-7177-45B8-8149-0DCD995E22B0}"/>
              </a:ext>
            </a:extLst>
          </p:cNvPr>
          <p:cNvSpPr>
            <a:spLocks xmlns:a="http://schemas.openxmlformats.org/drawingml/2006/main" noGrp="1"/>
          </p:cNvSpPr>
          <p:nvPr/>
        </p:nvSpPr>
        <p:spPr>
          <a:xfrm xmlns:a="http://schemas.openxmlformats.org/drawingml/2006/main">
            <a:off x="762000" y="895350"/>
            <a:ext cx="81915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3225"/>
              <a:buFont typeface="Lato"/>
              <a:buNone/>
            </a:pPr>
            <a:r>
              <a:rPr sz="3225" b="1" i="0">
                <a:solidFill>
                  <a:srgbClr val="FFFFFF"/>
                </a:solidFill>
                <a:latin typeface="Lato"/>
                <a:ea typeface="Lato"/>
                <a:cs typeface="Lato"/>
              </a:rPr>
              <a:t>Questions and discussion</a:t>
            </a:r>
            <a:endParaRPr/>
          </a:p>
        </p:txBody>
      </p:sp>
      <p:sp>
        <p:nvSpPr>
          <p:cNvPr id="751" name="Google Shape;751;p29">
            <a:extLst xmlns:a="http://schemas.openxmlformats.org/drawingml/2006/main">
              <a:ext uri="{FF2B5EF4-FFF2-40B4-BE49-F238E27FC236}">
                <a16:creationId xmlns:a16="http://schemas.microsoft.com/office/drawing/2014/main" id="{46944050-265D-4944-9141-7E2CA9856CBB}"/>
              </a:ext>
            </a:extLst>
          </p:cNvPr>
          <p:cNvSpPr>
            <a:spLocks xmlns:a="http://schemas.openxmlformats.org/drawingml/2006/main" noGrp="1"/>
          </p:cNvSpPr>
          <p:nvPr/>
        </p:nvSpPr>
        <p:spPr>
          <a:xfrm xmlns:a="http://schemas.openxmlformats.org/drawingml/2006/main">
            <a:off x="781050" y="20193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9E7EE"/>
              </a:buClr>
              <a:buSzPts val="1875"/>
              <a:buFont typeface="Lato"/>
              <a:buNone/>
            </a:pPr>
            <a:r>
              <a:rPr sz="1875" b="0" i="0">
                <a:solidFill>
                  <a:srgbClr val="D9E7EE"/>
                </a:solidFill>
                <a:latin typeface="Lato"/>
                <a:ea typeface="Lato"/>
                <a:cs typeface="Lato"/>
              </a:rPr>
              <a:t>What remains unclear before we use the CAVA Platform?</a:t>
            </a:r>
            <a:endParaRPr/>
          </a:p>
        </p:txBody>
      </p:sp>
      <p:sp>
        <p:nvSpPr>
          <p:cNvPr id="752" name="Google Shape;752;p29">
            <a:extLst xmlns:a="http://schemas.openxmlformats.org/drawingml/2006/main">
              <a:ext uri="{FF2B5EF4-FFF2-40B4-BE49-F238E27FC236}">
                <a16:creationId xmlns:a16="http://schemas.microsoft.com/office/drawing/2014/main" id="{748068F9-DA99-419F-98CC-B3D61234A767}"/>
              </a:ext>
            </a:extLst>
          </p:cNvPr>
          <p:cNvSpPr>
            <a:spLocks xmlns:a="http://schemas.openxmlformats.org/drawingml/2006/main" noGrp="1"/>
          </p:cNvSpPr>
          <p:nvPr/>
        </p:nvSpPr>
        <p:spPr>
          <a:xfrm xmlns:a="http://schemas.openxmlformats.org/drawingml/2006/main">
            <a:off x="781050" y="33718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01</a:t>
            </a:r>
            <a:endParaRPr/>
          </a:p>
        </p:txBody>
      </p:sp>
      <p:sp>
        <p:nvSpPr>
          <p:cNvPr id="753" name="Google Shape;753;p29">
            <a:extLst xmlns:a="http://schemas.openxmlformats.org/drawingml/2006/main">
              <a:ext uri="{FF2B5EF4-FFF2-40B4-BE49-F238E27FC236}">
                <a16:creationId xmlns:a16="http://schemas.microsoft.com/office/drawing/2014/main" id="{610855C4-DEA9-42F5-815D-06384A7F2CBA}"/>
              </a:ext>
            </a:extLst>
          </p:cNvPr>
          <p:cNvSpPr>
            <a:spLocks xmlns:a="http://schemas.openxmlformats.org/drawingml/2006/main" noGrp="1"/>
          </p:cNvSpPr>
          <p:nvPr/>
        </p:nvSpPr>
        <p:spPr>
          <a:xfrm xmlns:a="http://schemas.openxmlformats.org/drawingml/2006/main">
            <a:off x="1371600" y="33242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Climate evidence and model choices</a:t>
            </a:r>
            <a:endParaRPr/>
          </a:p>
        </p:txBody>
      </p:sp>
      <p:sp>
        <p:nvSpPr>
          <p:cNvPr id="754" name="Google Shape;754;p29">
            <a:extLst xmlns:a="http://schemas.openxmlformats.org/drawingml/2006/main">
              <a:ext uri="{FF2B5EF4-FFF2-40B4-BE49-F238E27FC236}">
                <a16:creationId xmlns:a16="http://schemas.microsoft.com/office/drawing/2014/main" id="{DB7CCC45-4129-41A1-98F2-F6662E182529}"/>
              </a:ext>
            </a:extLst>
          </p:cNvPr>
          <p:cNvSpPr>
            <a:spLocks xmlns:a="http://schemas.openxmlformats.org/drawingml/2006/main" noGrp="1"/>
          </p:cNvSpPr>
          <p:nvPr/>
        </p:nvSpPr>
        <p:spPr>
          <a:xfrm xmlns:a="http://schemas.openxmlformats.org/drawingml/2006/main">
            <a:off x="781050" y="39814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02</a:t>
            </a:r>
            <a:endParaRPr/>
          </a:p>
        </p:txBody>
      </p:sp>
      <p:sp>
        <p:nvSpPr>
          <p:cNvPr id="755" name="Google Shape;755;p29">
            <a:extLst xmlns:a="http://schemas.openxmlformats.org/drawingml/2006/main">
              <a:ext uri="{FF2B5EF4-FFF2-40B4-BE49-F238E27FC236}">
                <a16:creationId xmlns:a16="http://schemas.microsoft.com/office/drawing/2014/main" id="{39504C32-3502-4367-9CC8-F0B5E10CF5AA}"/>
              </a:ext>
            </a:extLst>
          </p:cNvPr>
          <p:cNvSpPr>
            <a:spLocks xmlns:a="http://schemas.openxmlformats.org/drawingml/2006/main" noGrp="1"/>
          </p:cNvSpPr>
          <p:nvPr/>
        </p:nvSpPr>
        <p:spPr>
          <a:xfrm xmlns:a="http://schemas.openxmlformats.org/drawingml/2006/main">
            <a:off x="1371600" y="39338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Data access and preparation workflow</a:t>
            </a:r>
            <a:endParaRPr/>
          </a:p>
        </p:txBody>
      </p:sp>
      <p:sp>
        <p:nvSpPr>
          <p:cNvPr id="756" name="Google Shape;756;p29">
            <a:extLst xmlns:a="http://schemas.openxmlformats.org/drawingml/2006/main">
              <a:ext uri="{FF2B5EF4-FFF2-40B4-BE49-F238E27FC236}">
                <a16:creationId xmlns:a16="http://schemas.microsoft.com/office/drawing/2014/main" id="{956B870C-B908-40AA-B0D9-498AF513E7EF}"/>
              </a:ext>
            </a:extLst>
          </p:cNvPr>
          <p:cNvSpPr>
            <a:spLocks xmlns:a="http://schemas.openxmlformats.org/drawingml/2006/main" noGrp="1"/>
          </p:cNvSpPr>
          <p:nvPr/>
        </p:nvSpPr>
        <p:spPr>
          <a:xfrm xmlns:a="http://schemas.openxmlformats.org/drawingml/2006/main">
            <a:off x="781050" y="45910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03</a:t>
            </a:r>
            <a:endParaRPr/>
          </a:p>
        </p:txBody>
      </p:sp>
      <p:sp>
        <p:nvSpPr>
          <p:cNvPr id="757" name="Google Shape;757;p29">
            <a:extLst xmlns:a="http://schemas.openxmlformats.org/drawingml/2006/main">
              <a:ext uri="{FF2B5EF4-FFF2-40B4-BE49-F238E27FC236}">
                <a16:creationId xmlns:a16="http://schemas.microsoft.com/office/drawing/2014/main" id="{F3016777-5636-49E4-A66B-FC5D2867B999}"/>
              </a:ext>
            </a:extLst>
          </p:cNvPr>
          <p:cNvSpPr>
            <a:spLocks xmlns:a="http://schemas.openxmlformats.org/drawingml/2006/main" noGrp="1"/>
          </p:cNvSpPr>
          <p:nvPr/>
        </p:nvSpPr>
        <p:spPr>
          <a:xfrm xmlns:a="http://schemas.openxmlformats.org/drawingml/2006/main">
            <a:off x="1371600" y="45434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CAVA tools and entry points</a:t>
            </a:r>
            <a:endParaRPr/>
          </a:p>
        </p:txBody>
      </p:sp>
      <p:sp>
        <p:nvSpPr>
          <p:cNvPr id="758" name="Google Shape;758;p29">
            <a:extLst xmlns:a="http://schemas.openxmlformats.org/drawingml/2006/main">
              <a:ext uri="{FF2B5EF4-FFF2-40B4-BE49-F238E27FC236}">
                <a16:creationId xmlns:a16="http://schemas.microsoft.com/office/drawing/2014/main" id="{19A995DC-DE13-47AD-BA24-0CC5D2C1D2B6}"/>
              </a:ext>
            </a:extLst>
          </p:cNvPr>
          <p:cNvSpPr>
            <a:spLocks xmlns:a="http://schemas.openxmlformats.org/drawingml/2006/main" noGrp="1"/>
          </p:cNvSpPr>
          <p:nvPr/>
        </p:nvSpPr>
        <p:spPr>
          <a:xfrm xmlns:a="http://schemas.openxmlformats.org/drawingml/2006/main">
            <a:off x="781050" y="5715000"/>
            <a:ext cx="4953000" cy="9525"/>
          </a:xfrm>
          <a:prstGeom xmlns:a="http://schemas.openxmlformats.org/drawingml/2006/main" prst="rect">
            <a:avLst/>
          </a:prstGeom>
          <a:solidFill xmlns:a="http://schemas.openxmlformats.org/drawingml/2006/main">
            <a:srgbClr val="647C8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9" name="Google Shape;759;p29">
            <a:extLst xmlns:a="http://schemas.openxmlformats.org/drawingml/2006/main">
              <a:ext uri="{FF2B5EF4-FFF2-40B4-BE49-F238E27FC236}">
                <a16:creationId xmlns:a16="http://schemas.microsoft.com/office/drawing/2014/main" id="{0363DCF1-89AC-4669-AEDB-2CFC52C099AA}"/>
              </a:ext>
            </a:extLst>
          </p:cNvPr>
          <p:cNvSpPr>
            <a:spLocks xmlns:a="http://schemas.openxmlformats.org/drawingml/2006/main" noGrp="1"/>
          </p:cNvSpPr>
          <p:nvPr/>
        </p:nvSpPr>
        <p:spPr>
          <a:xfrm xmlns:a="http://schemas.openxmlformats.org/drawingml/2006/main">
            <a:off x="781050" y="5905500"/>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Next: Module 2 · Using the CAVA Platform</a:t>
            </a:r>
            <a:endParaRPr/>
          </a:p>
        </p:txBody>
      </p:sp>
    </p:spTree>
    <p:extLst>
      <p:ext uri="{BB962C8B-B14F-4D97-AF65-F5344CB8AC3E}">
        <p14:creationId xmlns:p14="http://schemas.microsoft.com/office/powerpoint/2010/main" val="8508708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2026-09-23T08:15:58.0650000Z</dcterms:created>
  <dcterms:modified xsi:type="dcterms:W3CDTF">2026-09-23T08:15:58.0650000Z</dcterms:modified>
</coreProperties>
</file>