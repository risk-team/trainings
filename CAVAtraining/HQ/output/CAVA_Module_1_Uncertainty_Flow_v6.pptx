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0d0b23f2b447ab" /><Relationship Type="http://schemas.openxmlformats.org/officeDocument/2006/relationships/extended-properties" Target="/docProps/app.xml" Id="R3a3bcbe78e0d42cd" /><Relationship Type="http://schemas.openxmlformats.org/officeDocument/2006/relationships/officeDocument" Target="/ppt/presentation.xml" Id="Rfef45a8a8ba649e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38b6806fcc949aa"/>
  </p:sldMasterIdLst>
  <p:notesMasterIdLst>
    <p:notesMasterId xmlns:r="http://schemas.openxmlformats.org/officeDocument/2006/relationships" r:id="Rd7de3131866c4024"/>
  </p:notesMasterIdLst>
  <p:sldIdLst>
    <p:sldId xmlns:r="http://schemas.openxmlformats.org/officeDocument/2006/relationships" id="256" r:id="R30dc40618cca41a8"/>
    <p:sldId xmlns:r="http://schemas.openxmlformats.org/officeDocument/2006/relationships" id="257" r:id="R076372a1ab2d4f8f"/>
    <p:sldId xmlns:r="http://schemas.openxmlformats.org/officeDocument/2006/relationships" id="258" r:id="Rda502eb6b5c64bb9"/>
    <p:sldId xmlns:r="http://schemas.openxmlformats.org/officeDocument/2006/relationships" id="259" r:id="Rfb757709de164026"/>
    <p:sldId xmlns:r="http://schemas.openxmlformats.org/officeDocument/2006/relationships" id="260" r:id="R5005022ec6d64c81"/>
    <p:sldId xmlns:r="http://schemas.openxmlformats.org/officeDocument/2006/relationships" id="261" r:id="R5d384eaa9f0f4943"/>
    <p:sldId xmlns:r="http://schemas.openxmlformats.org/officeDocument/2006/relationships" id="262" r:id="Rba36e9c82dcf4098"/>
    <p:sldId xmlns:r="http://schemas.openxmlformats.org/officeDocument/2006/relationships" id="263" r:id="Rc20832db83614a93"/>
    <p:sldId xmlns:r="http://schemas.openxmlformats.org/officeDocument/2006/relationships" id="264" r:id="R64602573ce604e8b"/>
    <p:sldId xmlns:r="http://schemas.openxmlformats.org/officeDocument/2006/relationships" id="265" r:id="Raee60e39d9294c19"/>
    <p:sldId xmlns:r="http://schemas.openxmlformats.org/officeDocument/2006/relationships" id="266" r:id="R164c41c63e7c4036"/>
    <p:sldId xmlns:r="http://schemas.openxmlformats.org/officeDocument/2006/relationships" id="267" r:id="Rf2feaa3b1b0c4873"/>
    <p:sldId xmlns:r="http://schemas.openxmlformats.org/officeDocument/2006/relationships" id="268" r:id="R3f64ec48ed4d4cd2"/>
    <p:sldId xmlns:r="http://schemas.openxmlformats.org/officeDocument/2006/relationships" id="269" r:id="R86bfd10517d7452e"/>
    <p:sldId xmlns:r="http://schemas.openxmlformats.org/officeDocument/2006/relationships" id="270" r:id="R6bdbbbbedf874767"/>
    <p:sldId xmlns:r="http://schemas.openxmlformats.org/officeDocument/2006/relationships" id="271" r:id="Rb305d80a79d042f3"/>
    <p:sldId xmlns:r="http://schemas.openxmlformats.org/officeDocument/2006/relationships" id="272" r:id="R6dbf26f4ab1f42c9"/>
    <p:sldId xmlns:r="http://schemas.openxmlformats.org/officeDocument/2006/relationships" id="273" r:id="Rdaa46d59d5444bd3"/>
    <p:sldId xmlns:r="http://schemas.openxmlformats.org/officeDocument/2006/relationships" id="274" r:id="Rf0c8017e216041ac"/>
    <p:sldId xmlns:r="http://schemas.openxmlformats.org/officeDocument/2006/relationships" id="275" r:id="Rad7330421f684016"/>
    <p:sldId xmlns:r="http://schemas.openxmlformats.org/officeDocument/2006/relationships" id="276" r:id="R75f96dc494eb4190"/>
    <p:sldId xmlns:r="http://schemas.openxmlformats.org/officeDocument/2006/relationships" id="277" r:id="R73432a9b9ac2455b"/>
    <p:sldId xmlns:r="http://schemas.openxmlformats.org/officeDocument/2006/relationships" id="278" r:id="Ra8b964f2c6534c84"/>
    <p:sldId xmlns:r="http://schemas.openxmlformats.org/officeDocument/2006/relationships" id="279" r:id="Rf5600bf2298b4509"/>
    <p:sldId xmlns:r="http://schemas.openxmlformats.org/officeDocument/2006/relationships" id="280" r:id="R3a49002655f543d0"/>
    <p:sldId xmlns:r="http://schemas.openxmlformats.org/officeDocument/2006/relationships" id="281" r:id="R9e21b9d5343f4f86"/>
    <p:sldId xmlns:r="http://schemas.openxmlformats.org/officeDocument/2006/relationships" id="282" r:id="R9d58254349d24536"/>
    <p:sldId xmlns:r="http://schemas.openxmlformats.org/officeDocument/2006/relationships" id="283" r:id="Re2ed4f60dc8147a2"/>
    <p:sldId xmlns:r="http://schemas.openxmlformats.org/officeDocument/2006/relationships" id="284" r:id="R982ec70670314918"/>
  </p:sldIdLst>
  <p:sldSz cx="12192000" cy="6858000"/>
  <p:notesSz cx="6858000" cy="9144000"/>
  <p:embeddedFontLst>
    <p:embeddedFont>
      <p:font typeface="Lato"/>
      <p:regular xmlns:r="http://schemas.openxmlformats.org/officeDocument/2006/relationships" r:id="R5004516bea974e3b"/>
      <p:bold xmlns:r="http://schemas.openxmlformats.org/officeDocument/2006/relationships" r:id="R6d26ffe01a7e4983"/>
      <p:italic xmlns:r="http://schemas.openxmlformats.org/officeDocument/2006/relationships" r:id="R340f55bc6e7745b9"/>
      <p:boldItalic xmlns:r="http://schemas.openxmlformats.org/officeDocument/2006/relationships" r:id="R8833eb2b396240c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412439eb364114" /><Relationship Type="http://schemas.openxmlformats.org/officeDocument/2006/relationships/slideMaster" Target="/ppt/slideMasters/slideMaster1.xml" Id="R538b6806fcc949aa" /><Relationship Type="http://schemas.openxmlformats.org/officeDocument/2006/relationships/notesMaster" Target="/ppt/notesMasters/notesMaster1.xml" Id="Rd7de3131866c4024" /><Relationship Type="http://schemas.openxmlformats.org/officeDocument/2006/relationships/presProps" Target="/ppt/presProps.xml" Id="Re3f6cecceb0148de" /><Relationship Type="http://schemas.openxmlformats.org/officeDocument/2006/relationships/tableStyles" Target="/ppt/tableStyles.xml" Id="R2b1b3351c3e44b06" /><Relationship Type="http://schemas.openxmlformats.org/officeDocument/2006/relationships/font" Target="/ppt/fonts/font.dat" Id="R5004516bea974e3b" /><Relationship Type="http://schemas.openxmlformats.org/officeDocument/2006/relationships/font" Target="/ppt/fonts/font2.dat" Id="R6d26ffe01a7e4983" /><Relationship Type="http://schemas.openxmlformats.org/officeDocument/2006/relationships/font" Target="/ppt/fonts/font3.dat" Id="R340f55bc6e7745b9" /><Relationship Type="http://schemas.openxmlformats.org/officeDocument/2006/relationships/font" Target="/ppt/fonts/font4.dat" Id="R8833eb2b396240cb" /><Relationship Type="http://schemas.openxmlformats.org/officeDocument/2006/relationships/slide" Target="/ppt/slides/slide1.xml" Id="R30dc40618cca41a8" /><Relationship Type="http://schemas.openxmlformats.org/officeDocument/2006/relationships/slide" Target="/ppt/slides/slide2.xml" Id="R076372a1ab2d4f8f" /><Relationship Type="http://schemas.openxmlformats.org/officeDocument/2006/relationships/slide" Target="/ppt/slides/slide3.xml" Id="Rda502eb6b5c64bb9" /><Relationship Type="http://schemas.openxmlformats.org/officeDocument/2006/relationships/slide" Target="/ppt/slides/slide4.xml" Id="Rfb757709de164026" /><Relationship Type="http://schemas.openxmlformats.org/officeDocument/2006/relationships/slide" Target="/ppt/slides/slide5.xml" Id="R5005022ec6d64c81" /><Relationship Type="http://schemas.openxmlformats.org/officeDocument/2006/relationships/slide" Target="/ppt/slides/slide6.xml" Id="R5d384eaa9f0f4943" /><Relationship Type="http://schemas.openxmlformats.org/officeDocument/2006/relationships/slide" Target="/ppt/slides/slide7.xml" Id="Rba36e9c82dcf4098" /><Relationship Type="http://schemas.openxmlformats.org/officeDocument/2006/relationships/slide" Target="/ppt/slides/slide8.xml" Id="Rc20832db83614a93" /><Relationship Type="http://schemas.openxmlformats.org/officeDocument/2006/relationships/slide" Target="/ppt/slides/slide9.xml" Id="R64602573ce604e8b" /><Relationship Type="http://schemas.openxmlformats.org/officeDocument/2006/relationships/slide" Target="/ppt/slides/slide10.xml" Id="Raee60e39d9294c19" /><Relationship Type="http://schemas.openxmlformats.org/officeDocument/2006/relationships/slide" Target="/ppt/slides/slide11.xml" Id="R164c41c63e7c4036" /><Relationship Type="http://schemas.openxmlformats.org/officeDocument/2006/relationships/slide" Target="/ppt/slides/slide12.xml" Id="Rf2feaa3b1b0c4873" /><Relationship Type="http://schemas.openxmlformats.org/officeDocument/2006/relationships/slide" Target="/ppt/slides/slide13.xml" Id="R3f64ec48ed4d4cd2" /><Relationship Type="http://schemas.openxmlformats.org/officeDocument/2006/relationships/slide" Target="/ppt/slides/slide14.xml" Id="R86bfd10517d7452e" /><Relationship Type="http://schemas.openxmlformats.org/officeDocument/2006/relationships/slide" Target="/ppt/slides/slide15.xml" Id="R6bdbbbbedf874767" /><Relationship Type="http://schemas.openxmlformats.org/officeDocument/2006/relationships/slide" Target="/ppt/slides/slide16.xml" Id="Rb305d80a79d042f3" /><Relationship Type="http://schemas.openxmlformats.org/officeDocument/2006/relationships/slide" Target="/ppt/slides/slide17.xml" Id="R6dbf26f4ab1f42c9" /><Relationship Type="http://schemas.openxmlformats.org/officeDocument/2006/relationships/slide" Target="/ppt/slides/slide18.xml" Id="Rdaa46d59d5444bd3" /><Relationship Type="http://schemas.openxmlformats.org/officeDocument/2006/relationships/slide" Target="/ppt/slides/slide19.xml" Id="Rf0c8017e216041ac" /><Relationship Type="http://schemas.openxmlformats.org/officeDocument/2006/relationships/slide" Target="/ppt/slides/slide20.xml" Id="Rad7330421f684016" /><Relationship Type="http://schemas.openxmlformats.org/officeDocument/2006/relationships/slide" Target="/ppt/slides/slide21.xml" Id="R75f96dc494eb4190" /><Relationship Type="http://schemas.openxmlformats.org/officeDocument/2006/relationships/slide" Target="/ppt/slides/slide22.xml" Id="R73432a9b9ac2455b" /><Relationship Type="http://schemas.openxmlformats.org/officeDocument/2006/relationships/slide" Target="/ppt/slides/slide23.xml" Id="Ra8b964f2c6534c84" /><Relationship Type="http://schemas.openxmlformats.org/officeDocument/2006/relationships/slide" Target="/ppt/slides/slide24.xml" Id="Rf5600bf2298b4509" /><Relationship Type="http://schemas.openxmlformats.org/officeDocument/2006/relationships/slide" Target="/ppt/slides/slide25.xml" Id="R3a49002655f543d0" /><Relationship Type="http://schemas.openxmlformats.org/officeDocument/2006/relationships/slide" Target="/ppt/slides/slide26.xml" Id="R9e21b9d5343f4f86" /><Relationship Type="http://schemas.openxmlformats.org/officeDocument/2006/relationships/slide" Target="/ppt/slides/slide27.xml" Id="R9d58254349d24536" /><Relationship Type="http://schemas.openxmlformats.org/officeDocument/2006/relationships/slide" Target="/ppt/slides/slide28.xml" Id="Re2ed4f60dc8147a2" /><Relationship Type="http://schemas.openxmlformats.org/officeDocument/2006/relationships/slide" Target="/ppt/slides/slide29.xml" Id="R982ec706703149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b76d16493b4a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82a3d7dcff4783" /><Relationship Type="http://schemas.openxmlformats.org/officeDocument/2006/relationships/notesMaster" Target="/ppt/notesMasters/notesMaster1.xml" Id="R5b07dc57a9c84e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a8402b3d2745fa" /><Relationship Type="http://schemas.openxmlformats.org/officeDocument/2006/relationships/notesMaster" Target="/ppt/notesMasters/notesMaster1.xml" Id="Rf35eaa4b73a548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afe74276784e5e" /><Relationship Type="http://schemas.openxmlformats.org/officeDocument/2006/relationships/notesMaster" Target="/ppt/notesMasters/notesMaster1.xml" Id="R5ca0bee201c447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96554994e34a5a" /><Relationship Type="http://schemas.openxmlformats.org/officeDocument/2006/relationships/notesMaster" Target="/ppt/notesMasters/notesMaster1.xml" Id="Rfb5e1d4ff57340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f4b2364f6415f" /><Relationship Type="http://schemas.openxmlformats.org/officeDocument/2006/relationships/notesMaster" Target="/ppt/notesMasters/notesMaster1.xml" Id="R853f8bee72824a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76b375d3934b07" /><Relationship Type="http://schemas.openxmlformats.org/officeDocument/2006/relationships/notesMaster" Target="/ppt/notesMasters/notesMaster1.xml" Id="R7366c9b911f74b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ff7fdb1bfe4a46" /><Relationship Type="http://schemas.openxmlformats.org/officeDocument/2006/relationships/notesMaster" Target="/ppt/notesMasters/notesMaster1.xml" Id="R6e2112941cdc45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75c49ea9c74e6b" /><Relationship Type="http://schemas.openxmlformats.org/officeDocument/2006/relationships/notesMaster" Target="/ppt/notesMasters/notesMaster1.xml" Id="R0c580ffe072a49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957dd7f6f448cb" /><Relationship Type="http://schemas.openxmlformats.org/officeDocument/2006/relationships/notesMaster" Target="/ppt/notesMasters/notesMaster1.xml" Id="Rc8fddacd2793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949360181f4e69" /><Relationship Type="http://schemas.openxmlformats.org/officeDocument/2006/relationships/notesMaster" Target="/ppt/notesMasters/notesMaster1.xml" Id="R1864fc4896944a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e3c580bc0b4d92" /><Relationship Type="http://schemas.openxmlformats.org/officeDocument/2006/relationships/notesMaster" Target="/ppt/notesMasters/notesMaster1.xml" Id="Ra2271e0c9bdf4c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b1ea3c796c48f4" /><Relationship Type="http://schemas.openxmlformats.org/officeDocument/2006/relationships/notesMaster" Target="/ppt/notesMasters/notesMaster1.xml" Id="Rcadc4c20369c49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40fce7a2564c41" /><Relationship Type="http://schemas.openxmlformats.org/officeDocument/2006/relationships/notesMaster" Target="/ppt/notesMasters/notesMaster1.xml" Id="R9ba2152e4c3f4c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206c6e0b2d4827" /><Relationship Type="http://schemas.openxmlformats.org/officeDocument/2006/relationships/notesMaster" Target="/ppt/notesMasters/notesMaster1.xml" Id="Rf74b7506422242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76d398e12e4642" /><Relationship Type="http://schemas.openxmlformats.org/officeDocument/2006/relationships/notesMaster" Target="/ppt/notesMasters/notesMaster1.xml" Id="R023716024be24b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724a5fe3f54e92" /><Relationship Type="http://schemas.openxmlformats.org/officeDocument/2006/relationships/notesMaster" Target="/ppt/notesMasters/notesMaster1.xml" Id="R8ecaecb583be45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6aa77b68d944e8" /><Relationship Type="http://schemas.openxmlformats.org/officeDocument/2006/relationships/notesMaster" Target="/ppt/notesMasters/notesMaster1.xml" Id="Ree0fb54d587d4c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3c468b94854511" /><Relationship Type="http://schemas.openxmlformats.org/officeDocument/2006/relationships/notesMaster" Target="/ppt/notesMasters/notesMaster1.xml" Id="R7288316dc6a14d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d61fd4750a43f0" /><Relationship Type="http://schemas.openxmlformats.org/officeDocument/2006/relationships/notesMaster" Target="/ppt/notesMasters/notesMaster1.xml" Id="Rd340ac83d4ef49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fdecefad434ba6" /><Relationship Type="http://schemas.openxmlformats.org/officeDocument/2006/relationships/notesMaster" Target="/ppt/notesMasters/notesMaster1.xml" Id="Rac9b7dd3855949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72fae4304e4520" /><Relationship Type="http://schemas.openxmlformats.org/officeDocument/2006/relationships/notesMaster" Target="/ppt/notesMasters/notesMaster1.xml" Id="R58b5a1c612b342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ed64894f694e6f" /><Relationship Type="http://schemas.openxmlformats.org/officeDocument/2006/relationships/notesMaster" Target="/ppt/notesMasters/notesMaster1.xml" Id="Ra60939a9d3fa40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6a9699aa344f3a" /><Relationship Type="http://schemas.openxmlformats.org/officeDocument/2006/relationships/notesMaster" Target="/ppt/notesMasters/notesMaster1.xml" Id="R8ed1c5bdf4ad40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b4d938473f4751" /><Relationship Type="http://schemas.openxmlformats.org/officeDocument/2006/relationships/notesMaster" Target="/ppt/notesMasters/notesMaster1.xml" Id="R4163fb9ad95f41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aac646363474a23" /><Relationship Type="http://schemas.openxmlformats.org/officeDocument/2006/relationships/notesMaster" Target="/ppt/notesMasters/notesMaster1.xml" Id="R52d1d3945de649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8eaf43a2d34062" /><Relationship Type="http://schemas.openxmlformats.org/officeDocument/2006/relationships/notesMaster" Target="/ppt/notesMasters/notesMaster1.xml" Id="Rb8385379195c4e4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9517931f684431a" /><Relationship Type="http://schemas.openxmlformats.org/officeDocument/2006/relationships/notesMaster" Target="/ppt/notesMasters/notesMaster1.xml" Id="R17635c4cf4ff4a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0c897c6ec14cea" /><Relationship Type="http://schemas.openxmlformats.org/officeDocument/2006/relationships/notesMaster" Target="/ppt/notesMasters/notesMaster1.xml" Id="R7bbd02968de949c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011e833dfac414e" /><Relationship Type="http://schemas.openxmlformats.org/officeDocument/2006/relationships/notesMaster" Target="/ppt/notesMasters/notesMaster1.xml" Id="Ra6d73fabdaf44d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The section begins with the purpose of different climate information, then separates forecasts from projections. It uses uncertainty as the organizing framework: scenario, model response and internal variability, followed by downscaling and bias adjustment.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Begin with purpose, not file formats. Observations describe measured conditions, reanalysis provides a spatially complete estimate of the historical atmosphere, forecasts predict near-term evolution from an initialized state, and projections explore long-term climate under assumptions. Source: IPCC AR6 WGI Chapters 1, 4 and 10: https://www.ipcc.ch/report/ar6/wg1/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Forecasts depend strongly on the observed initial state. Climate projections are conditional on forcing scenarios and are interpreted through ensembles rather than as a single prediction. Source: IPCC AR6 WGI Chapter 4: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observations and reanalysis are essential reference datasets, but both contain uncertainty. Multiple observational records help evaluate regional climate and model performance. Source: IPCC AR6 WGI Chapter 10, Observations and Models as Sources of Regional Information: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Define uncertainty as a range with identifiable sources, not as ignorance. The relative contribution of each source varies with the region, variable, spatial scale and lead time. Source: IPCC AR6 WGI Chapter 10, Section 10.1.3.3: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Introduce the IPCC taxonomy: forcing or scenario uncertainty, structural or model uncertainty, and internal variability. Do not treat all ensemble spread as one thing. Source: IPCC AR6 WGI Chapter 10, Sections 10.1.3.3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Different initial-condition members share the same model and forcing but follow different sequences because the climate system is chaotic. This variability is intrinsic and cannot be corrected away. Large initial-condition ensembles help separate the forced response from the range of possible regional outcomes. Source: IPCC AR6 WGI Chapter 10, Section 10.3.4.3: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GCMs differ in their representation of processes and climate response. RCMs add regional detail but also introduce another model choice and may respond differently to the same driving GCM. Ensemble spread samples these choices but does not capture every plausible outcome. Source: IPCC AR6 WGI Chapter 10, Sections 10.3.3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Bias adjustment can reduce selected historical mismatches and may be necessary for threshold-sensitive impact models. It does not repair circulation errors or eliminate scenario, structural or internal variability. Observational uncertainty and the calibration period also affect the adjustment. Source: IPCC AR6 WGI Chapter 10, Cross-Chapter Box 10.2: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as the synthesis and transition. Internal variability is retained and sampled. Scenarios are explored. Model and GCM–RCM differences are compared through ensembles. Diagnosed bias may be adjusted carefully, while sensitivity to the reference dataset should be tested. IPCC AR6 stresses that ensemble spread is not the full uncertainty range and that bias adjustment introduces additional assumptions. Source: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Hideki has separated the scientific sources of projection spread and clarified what can be represented, compared or adjusted. Riccardo now focuses on the practical work required to find, retrieve and prepare the corresponding datasets.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425d4e4afd43b4"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b6cc9d5944a1b" /><Relationship Type="http://schemas.openxmlformats.org/officeDocument/2006/relationships/slideLayout" Target="/ppt/slideLayouts/slideLayout1.xml" Id="Rcd18f358a80c421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d18f358a80c421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b6d5094fb244f3" /><Relationship Type="http://schemas.openxmlformats.org/officeDocument/2006/relationships/image" Target="/ppt/media/image.png" Id="R0c3a175132ac4905" /><Relationship Type="http://schemas.openxmlformats.org/officeDocument/2006/relationships/notesSlide" Target="/ppt/notesSlides/notesSlide1.xml" Id="R2643937c13414f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77dd0fdb214d90" /><Relationship Type="http://schemas.openxmlformats.org/officeDocument/2006/relationships/notesSlide" Target="/ppt/notesSlides/notesSlide2.xml" Id="R86dc8894147e46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22a302f0814b9a" /><Relationship Type="http://schemas.openxmlformats.org/officeDocument/2006/relationships/notesSlide" Target="/ppt/notesSlides/notesSlide3.xml" Id="R8e6db17adf9d46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10d39b814b47b0" /><Relationship Type="http://schemas.openxmlformats.org/officeDocument/2006/relationships/notesSlide" Target="/ppt/notesSlides/notesSlide4.xml" Id="Rffd4f855545440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b4e4dc87a94284" /><Relationship Type="http://schemas.openxmlformats.org/officeDocument/2006/relationships/notesSlide" Target="/ppt/notesSlides/notesSlide5.xml" Id="Rf6ae3f55cdaa48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f9ba7bbd5a4576" /><Relationship Type="http://schemas.openxmlformats.org/officeDocument/2006/relationships/notesSlide" Target="/ppt/notesSlides/notesSlide6.xml" Id="R27c15d5b28e941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18fdf120624648" /><Relationship Type="http://schemas.openxmlformats.org/officeDocument/2006/relationships/notesSlide" Target="/ppt/notesSlides/notesSlide7.xml" Id="R2f03c90b0d7a45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eda580edca446d" /><Relationship Type="http://schemas.openxmlformats.org/officeDocument/2006/relationships/notesSlide" Target="/ppt/notesSlides/notesSlide8.xml" Id="R03ffe556589a46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276c96cd604e73" /><Relationship Type="http://schemas.openxmlformats.org/officeDocument/2006/relationships/notesSlide" Target="/ppt/notesSlides/notesSlide9.xml" Id="R3d95fd0df9dc44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04947292844b0e" /><Relationship Type="http://schemas.openxmlformats.org/officeDocument/2006/relationships/notesSlide" Target="/ppt/notesSlides/notesSlide10.xml" Id="Rf442cc14d4414e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2c46b09f2845db" /><Relationship Type="http://schemas.openxmlformats.org/officeDocument/2006/relationships/notesSlide" Target="/ppt/notesSlides/notesSlide11.xml" Id="Rbc4f92b722aa44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195f35dad843be" /><Relationship Type="http://schemas.openxmlformats.org/officeDocument/2006/relationships/notesSlide" Target="/ppt/notesSlides/notesSlide12.xml" Id="Rf0560a4f486a40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a63e5fb1734d8b" /><Relationship Type="http://schemas.openxmlformats.org/officeDocument/2006/relationships/notesSlide" Target="/ppt/notesSlides/notesSlide13.xml" Id="R1807d9018c4f4d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43addd15864648" /><Relationship Type="http://schemas.openxmlformats.org/officeDocument/2006/relationships/notesSlide" Target="/ppt/notesSlides/notesSlide14.xml" Id="Rd0e421751d0d41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61ffde77bb4f1f" /><Relationship Type="http://schemas.openxmlformats.org/officeDocument/2006/relationships/notesSlide" Target="/ppt/notesSlides/notesSlide15.xml" Id="R2de55571f62242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567a6d4b4c04d26" /><Relationship Type="http://schemas.openxmlformats.org/officeDocument/2006/relationships/notesSlide" Target="/ppt/notesSlides/notesSlide16.xml" Id="R301d13debe0d42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3e4d1ec2c14f04" /><Relationship Type="http://schemas.openxmlformats.org/officeDocument/2006/relationships/notesSlide" Target="/ppt/notesSlides/notesSlide17.xml" Id="Rcefc320f203940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4b8d824c484ec8" /><Relationship Type="http://schemas.openxmlformats.org/officeDocument/2006/relationships/notesSlide" Target="/ppt/notesSlides/notesSlide18.xml" Id="Ref67676ace684a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2db8c33003c4c91" /><Relationship Type="http://schemas.openxmlformats.org/officeDocument/2006/relationships/notesSlide" Target="/ppt/notesSlides/notesSlide19.xml" Id="Raeb9ca29ed4c4f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1fe2bd605924890" /><Relationship Type="http://schemas.openxmlformats.org/officeDocument/2006/relationships/notesSlide" Target="/ppt/notesSlides/notesSlide20.xml" Id="R255c0fbf246344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42f2bfd1e854e37" /><Relationship Type="http://schemas.openxmlformats.org/officeDocument/2006/relationships/notesSlide" Target="/ppt/notesSlides/notesSlide21.xml" Id="R60fb5ad1682144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986a7b51b554652" /><Relationship Type="http://schemas.openxmlformats.org/officeDocument/2006/relationships/notesSlide" Target="/ppt/notesSlides/notesSlide22.xml" Id="R3b46e67a26ae45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16e68ae754a4f76" /><Relationship Type="http://schemas.openxmlformats.org/officeDocument/2006/relationships/notesSlide" Target="/ppt/notesSlides/notesSlide23.xml" Id="Rfe467028af8b4d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f6ea8403e4c4714" /><Relationship Type="http://schemas.openxmlformats.org/officeDocument/2006/relationships/image" Target="/ppt/media/image.png" Id="R02cb561d2d1b4f8b" /><Relationship Type="http://schemas.openxmlformats.org/officeDocument/2006/relationships/notesSlide" Target="/ppt/notesSlides/notesSlide24.xml" Id="R0048b96a64814d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b62158afb641aa" /><Relationship Type="http://schemas.openxmlformats.org/officeDocument/2006/relationships/image" Target="/ppt/media/image2.png" Id="Reaad9f0dee2146b8" /><Relationship Type="http://schemas.openxmlformats.org/officeDocument/2006/relationships/notesSlide" Target="/ppt/notesSlides/notesSlide25.xml" Id="R2e6e56927de5471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21ae8b2eedb40e1" /><Relationship Type="http://schemas.openxmlformats.org/officeDocument/2006/relationships/notesSlide" Target="/ppt/notesSlides/notesSlide26.xml" Id="R05bab6776460408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e3257e8204246b9" /><Relationship Type="http://schemas.openxmlformats.org/officeDocument/2006/relationships/notesSlide" Target="/ppt/notesSlides/notesSlide27.xml" Id="R5b480caad6ef456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7e02a29666f48b3" /><Relationship Type="http://schemas.openxmlformats.org/officeDocument/2006/relationships/notesSlide" Target="/ppt/notesSlides/notesSlide28.xml" Id="Rd4334fc8923646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e6fb64ea0394f5a" /><Relationship Type="http://schemas.openxmlformats.org/officeDocument/2006/relationships/notesSlide" Target="/ppt/notesSlides/notesSlide29.xml" Id="Re91f1a0ff85a4e6a"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0c3a175132ac4905">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2F0D7F9-B165-406E-BDCC-86E12DC5FD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802FA02-4B8D-4BCF-8132-24A940CD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7300405-086A-4293-AC31-DC8B4C42B23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5174E616-08C7-447C-9D22-5BEFAA033360}"/>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F2A46D73-F8E5-4913-8CE1-C47BCFF3BAE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54F91F73-7E91-4A94-ACAD-A11A2CF25465}"/>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109DC502-CF1F-4786-91BF-98ACA197A297}"/>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146409F9-9E8D-4447-A66F-EE7BFA1877CE}"/>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5CCAC2A-296B-4DCE-A7C8-843A227F094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C7C056F3-F5BC-48A2-B739-1FC21CFED7CE}"/>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60B4853-1A2F-4C65-867E-0104A8B11614}"/>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2B4D00C2-7B08-46F5-99D6-9D5D08788E3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A99F062A-8083-42B5-8D0F-C22EA0E6713D}"/>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68765884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EA182D-05E4-48E2-A35A-14D631D9800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700AAA9A-C098-41C4-86A4-6BB99B3A81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FE7A4B0B-1227-43AD-AB88-04ED1A79959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8B5944B-2737-4752-BA68-7A86D9E0A4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94BCB3D7-42A2-4897-B33F-167B68F5874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9E6A3748-E58E-4ACC-8BBB-0BB37F421F6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3AAB5192-D1FE-44ED-8114-BBC41C4494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DF1D3F62-9C09-41C6-B17F-78ACB9AFF91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542767EB-3899-459F-9C27-98C33A90121C}"/>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8DCF9F8-4899-4783-8196-47537A11A9A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3010B66-B56A-451E-9887-130070967F0B}"/>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228EC0F1-A652-4C52-9D90-DF93F2AF26D8}"/>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67AED90C-5344-427D-8E91-155A785F37D4}"/>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7E863623-6484-485F-B091-08B6DBC1F3B1}"/>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14A7B096-F2F7-4B92-864B-0326BD8D7A9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E8C1AE0-7D0E-4CF2-ACD1-D1F3C8BDEC1B}"/>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75A5FB09-3489-4F62-87BC-87CFBF00DA5B}"/>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843F1102-4577-4FAA-A718-2BBA1B15E19C}"/>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29644F2B-5757-467B-AAE1-BF527C8F8565}"/>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9790EDF5-E278-4246-8794-345122EC79C9}"/>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3B250869-D8F5-45C7-97FA-B475D2CD9D7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6E75688A-29DB-4A6F-B35A-95386B711EB9}"/>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E81CFC7E-15DC-48E9-86DC-6C3BF81897B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B70F09D8-69FF-4563-BCB5-2A4116E145C8}"/>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A8B39A84-3F2F-49D8-B793-B462A0D90BA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A238CDE-2EDA-4352-A7D3-B7105DEF217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8F181846-52A8-47DB-908D-3759336DFD0F}"/>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039C660A-0217-47C1-9385-BB99509D5496}"/>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480351734"/>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9ABF2B84-A582-4CF0-8FA3-7661DF18E2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18A24345-E8FD-47DC-9B64-5B8BBD7A26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43DD024B-0B40-4663-8CF1-D757417F5E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311911E7-9E6B-4E47-AECD-A269FCAF74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DC33B3AC-F480-49E9-9AC1-C83FE1540B0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966B2F50-0EAF-48B2-B8B0-C07C28D2C3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97B06603-7181-4823-84A3-70600736A68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3AD35A94-A694-4092-8A3C-5BF5CD759840}"/>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983DD0F7-DEB3-4B02-B0B1-CED45F02B8C9}"/>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9DE6DC11-0C4F-44AC-A2F1-16F59B331878}"/>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9CE9B63-444E-4AFD-81C9-60554E1248EE}"/>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6C134318-0C70-49CD-9179-A5874AF1B05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813137E-E610-4051-A9A8-A8FAEA07E5B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152F5E5-5A99-4CC3-8ED6-5CB40568B42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AA9EF85-0F6D-44C3-B573-B07D03A05F24}"/>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55216D6-ECA2-4299-8E60-00BE8164CFD1}"/>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23DE833B-B5F7-4887-A244-4DD4CF838FB5}"/>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and uncertainty</a:t>
            </a:r>
            <a:endParaRPr/>
          </a:p>
        </p:txBody>
      </p:sp>
      <p:sp>
        <p:nvSpPr>
          <p:cNvPr id="85" name="Google Shape;85;p5">
            <a:extLst xmlns:a="http://schemas.openxmlformats.org/drawingml/2006/main">
              <a:ext uri="{FF2B5EF4-FFF2-40B4-BE49-F238E27FC236}">
                <a16:creationId xmlns:a16="http://schemas.microsoft.com/office/drawing/2014/main" id="{FE396B43-8D28-4C5C-B214-FDCB024D0FB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8A3A03B7-0992-4C25-B97E-3B2F097B5E2E}"/>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BF2917D8-1B6D-48A8-9845-5AD6BB609BA8}"/>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D76B2E02-B76D-487D-B7AC-E3A34BD6C673}"/>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A8B4039B-B9DA-49B7-959D-296E63059F5E}"/>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33ECE840-FF8E-4E35-807C-558B8BAE8627}"/>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BC6C4182-E4F1-468C-B4DD-BA9EBCC3A02D}"/>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37C8974-CA4A-452C-A461-944D50A08C39}"/>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416A72F-CD82-4CFA-96AD-6B03A205F8C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B192B452-A8F9-41D0-AEBD-FADFF652191A}"/>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16B654B1-A17C-4A68-9CD5-C3A814E51C72}"/>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D68AD2E-E3DD-4EF0-98E7-DB630A416C56}"/>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43C39A90-39B8-41EF-960C-95C0A33F50C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2B66FBBF-3D21-431C-BC89-B7DF70FEDD41}"/>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A3F0E743-072E-46C4-B235-5681861C3F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046FB8FB-7528-4A7A-94DE-25376F902502}"/>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B291A58-ACA4-4E37-9197-C0B7C50A8374}"/>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905C2EC7-1E4C-4C9A-AA9E-818CD6748F1F}"/>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8908299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55DC061-87D5-455A-9182-847942496AD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881D65C5-B1EE-4DD5-AB7B-14CBFC55F23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503FC7E-FB44-44F6-9989-4B11AEE8869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61182370-7921-438D-A97C-C33343605C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B24463BA-70A0-482F-931F-C963E58B2F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EA96A261-FB1F-4D96-9FE8-6E787D4013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91D06B3B-76E9-441D-B8C7-6FCE383A157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EBC982CC-B2F3-4AF7-B759-19B80616E488}"/>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4CCF76C9-9C92-4D37-A996-BD1BCD31F9A0}"/>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51107E3-FDEA-4C18-83E4-82FB28399AB3}"/>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893BA2C2-B505-4776-BE79-EBF2C043DA73}"/>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8498B83F-01AF-401F-AD1B-48A869247040}"/>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0E427223-F132-4C84-AE56-6C5574BC8959}"/>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151E78CC-423F-4012-A239-DB175BE4D6B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7E02C4E-4702-4CD0-9ED4-823006F61B16}"/>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A58CE6-585E-45DC-9CC2-F9665F781B0D}"/>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DA1BF011-85EE-4754-8861-0FCB4C3A15D2}"/>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8073B0BB-C261-4548-A675-AB977477CE85}"/>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0449E9F9-D534-495D-A94E-3D58A13CF989}"/>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AC73B30-4110-4067-B5ED-58B1786E246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4BA3C74B-F86D-4415-BB29-A933137262C5}"/>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32482086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8D5C4986-4785-4750-BE3B-FA74692ACE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C68D366C-153A-4D29-B496-1A79E6FEADD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B422A819-959D-4632-BAEB-BF81E3294DD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338933EF-3DA4-46C6-ACA5-92DC47136EC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F63BB3B9-FFDD-43A6-BCB5-5354BD9BAA0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C02808C-0C73-4AEF-A1A5-4FC4C1D77B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D2BD6302-C416-4401-ABE4-3461ABD2964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9995ACEE-4117-4D65-A880-4A58872F8BD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FB04218F-5B93-4E23-A6D3-CD248024FDEA}"/>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000F6742-7628-41B1-819F-8AE466274B51}"/>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24750D44-B938-47A5-9B71-58FD7C85FB5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232AF9FF-0548-497B-B583-105EEE06B10A}"/>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980F87E8-271D-4B3D-BA5A-EB0FABD861F3}"/>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55DD483-002F-46F8-914B-77B94741693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8B8AA71F-3395-4401-9219-DF477F3E6058}"/>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13B1FFF6-56FE-4D07-BC4F-B1B49EA524E7}"/>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2B754B52-496B-4C5D-985E-2CC74823C82B}"/>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31735A31-E23B-4287-AF73-931698C7462D}"/>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3EAE31CF-F74D-4A3B-A641-1A1AD17675F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D01C450D-6511-436A-9A62-6EF8400BD862}"/>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68D5635D-064D-4788-9469-BB121595915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24D03DC9-D040-49F0-871C-33ABFFA8D909}"/>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3CCE021-1B12-43C9-A0B5-DCEDEF01AD9A}"/>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C56C2D39-BF55-4D92-94CE-F419F4BAD1E7}"/>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A36E8BC3-D701-4DC4-8189-AD27A72043AF}"/>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96A3A34-3E56-4A37-9BFB-E4B1958568DD}"/>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F7DDB35E-C99C-4B60-A3D6-5D7C8F450828}"/>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90AECB97-1045-4464-92E1-61328C58C9B3}"/>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75B8CB9-BBC4-4AB0-83CF-97683D843F5E}"/>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CFA7022A-A5BC-4476-B116-90B23CE57F24}"/>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D6D03A3-F571-449E-9FA9-C8938B49DF5D}"/>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5FAA309D-539F-40FF-BA72-71165EC6171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A0FB818D-BB16-436F-B66F-30761BF61AE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C1D50949-16A8-4F3C-86D8-6F967DEBBD2A}"/>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climate information differs and why variability, model spread, scenarios and bias require different responses.</a:t>
            </a:r>
            <a:endParaRPr/>
          </a:p>
        </p:txBody>
      </p:sp>
    </p:spTree>
    <p:extLst>
      <p:ext uri="{BB962C8B-B14F-4D97-AF65-F5344CB8AC3E}">
        <p14:creationId xmlns:p14="http://schemas.microsoft.com/office/powerpoint/2010/main" val="2087388615"/>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CE8F6E1E-E03A-4040-976C-D3A731EFCFB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35335AAC-8797-42F6-8EB2-CB9E7F8B0B38}"/>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05C5DB45-D303-4D43-AC8F-97A6961A71D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Climate information and uncertainty</a:t>
            </a:r>
            <a:endParaRPr/>
          </a:p>
        </p:txBody>
      </p:sp>
      <p:sp>
        <p:nvSpPr>
          <p:cNvPr id="176" name="Google Shape;176;p8">
            <a:extLst xmlns:a="http://schemas.openxmlformats.org/drawingml/2006/main">
              <a:ext uri="{FF2B5EF4-FFF2-40B4-BE49-F238E27FC236}">
                <a16:creationId xmlns:a16="http://schemas.microsoft.com/office/drawing/2014/main" id="{A9328010-8ED0-4611-ACAE-92CB30656FB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how climate information is produced, where projection uncertainty comes from and how each source should be handled.</a:t>
            </a:r>
            <a:endParaRPr/>
          </a:p>
        </p:txBody>
      </p:sp>
      <p:sp>
        <p:nvSpPr>
          <p:cNvPr id="177" name="Google Shape;177;p8">
            <a:extLst xmlns:a="http://schemas.openxmlformats.org/drawingml/2006/main">
              <a:ext uri="{FF2B5EF4-FFF2-40B4-BE49-F238E27FC236}">
                <a16:creationId xmlns:a16="http://schemas.microsoft.com/office/drawing/2014/main" id="{F6222E84-EF78-4144-B59A-2CA5E007F6A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772A5530-F617-4FEF-B5B0-3FC012C1445F}"/>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41AADD2B-C69A-4EE6-B79A-66C31755FF14}"/>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286605820"/>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373417B-B32A-4D07-8D92-4602A9F0D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0D569C-E2ED-4C7B-A8D8-D0FF6120C29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Climate information serves different questions</a:t>
            </a:r>
          </a:p>
        </p:txBody>
      </p:sp>
      <p:sp>
        <p:nvSpPr>
          <p:cNvPr id="3" name="">
            <a:extLst xmlns:a="http://schemas.openxmlformats.org/drawingml/2006/main">
              <a:ext uri="{FF2B5EF4-FFF2-40B4-BE49-F238E27FC236}">
                <a16:creationId xmlns:a16="http://schemas.microsoft.com/office/drawing/2014/main" id="{09CAA4A3-92B3-4654-B864-77DD7967CF76}"/>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appropriate dataset depends on the decision, time horizon and quantity of interest</a:t>
            </a:r>
          </a:p>
        </p:txBody>
      </p:sp>
      <p:sp>
        <p:nvSpPr>
          <p:cNvPr id="4" name="">
            <a:extLst xmlns:a="http://schemas.openxmlformats.org/drawingml/2006/main">
              <a:ext uri="{FF2B5EF4-FFF2-40B4-BE49-F238E27FC236}">
                <a16:creationId xmlns:a16="http://schemas.microsoft.com/office/drawing/2014/main" id="{CF3F5EAC-7FEB-418B-9094-4B368B8689A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3A8483-2389-49BD-B4D6-40CDA8ABA9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1F911E-A468-4825-AA14-72C8FE7B3BD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CEF741-19B6-415D-ACF2-230E69F60C9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51040B50-66E9-4915-AF30-15A5B066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9" name="">
            <a:extLst xmlns:a="http://schemas.openxmlformats.org/drawingml/2006/main">
              <a:ext uri="{FF2B5EF4-FFF2-40B4-BE49-F238E27FC236}">
                <a16:creationId xmlns:a16="http://schemas.microsoft.com/office/drawing/2014/main" id="{7A29696D-8707-4D91-BCD8-77A401879278}"/>
              </a:ext>
            </a:extLst>
          </p:cNvPr>
          <p:cNvSpPr>
            <a:spLocks xmlns:a="http://schemas.openxmlformats.org/drawingml/2006/main" noGrp="1"/>
          </p:cNvSpPr>
          <p:nvPr/>
        </p:nvSpPr>
        <p:spPr>
          <a:xfrm xmlns:a="http://schemas.openxmlformats.org/drawingml/2006/main">
            <a:off x="914400" y="3352800"/>
            <a:ext cx="10287000" cy="38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F9549E-9B5F-4833-B273-2FDFBD5CDEBE}"/>
              </a:ext>
            </a:extLst>
          </p:cNvPr>
          <p:cNvSpPr>
            <a:spLocks xmlns:a="http://schemas.openxmlformats.org/drawingml/2006/main" noGrp="1"/>
          </p:cNvSpPr>
          <p:nvPr/>
        </p:nvSpPr>
        <p:spPr>
          <a:xfrm xmlns:a="http://schemas.openxmlformats.org/drawingml/2006/main">
            <a:off x="781050" y="2000250"/>
            <a:ext cx="2400300" cy="666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941AE2-5B40-4E3B-8239-A858F73B9FCF}"/>
              </a:ext>
            </a:extLst>
          </p:cNvPr>
          <p:cNvSpPr>
            <a:spLocks xmlns:a="http://schemas.openxmlformats.org/drawingml/2006/main" noGrp="1"/>
          </p:cNvSpPr>
          <p:nvPr/>
        </p:nvSpPr>
        <p:spPr>
          <a:xfrm xmlns:a="http://schemas.openxmlformats.org/drawingml/2006/main">
            <a:off x="7810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PAST</a:t>
            </a:r>
          </a:p>
        </p:txBody>
      </p:sp>
      <p:sp>
        <p:nvSpPr>
          <p:cNvPr id="12" name="">
            <a:extLst xmlns:a="http://schemas.openxmlformats.org/drawingml/2006/main">
              <a:ext uri="{FF2B5EF4-FFF2-40B4-BE49-F238E27FC236}">
                <a16:creationId xmlns:a16="http://schemas.microsoft.com/office/drawing/2014/main" id="{B20EDB6C-D8B0-4D1E-9487-8874F127CB54}"/>
              </a:ext>
            </a:extLst>
          </p:cNvPr>
          <p:cNvSpPr>
            <a:spLocks xmlns:a="http://schemas.openxmlformats.org/drawingml/2006/main" noGrp="1"/>
          </p:cNvSpPr>
          <p:nvPr/>
        </p:nvSpPr>
        <p:spPr>
          <a:xfrm xmlns:a="http://schemas.openxmlformats.org/drawingml/2006/main">
            <a:off x="7810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happened?</a:t>
            </a:r>
          </a:p>
        </p:txBody>
      </p:sp>
      <p:sp>
        <p:nvSpPr>
          <p:cNvPr id="13" name="">
            <a:extLst xmlns:a="http://schemas.openxmlformats.org/drawingml/2006/main">
              <a:ext uri="{FF2B5EF4-FFF2-40B4-BE49-F238E27FC236}">
                <a16:creationId xmlns:a16="http://schemas.microsoft.com/office/drawing/2014/main" id="{74FD2CCC-3952-45F9-910B-89FCD637D0CE}"/>
              </a:ext>
            </a:extLst>
          </p:cNvPr>
          <p:cNvSpPr>
            <a:spLocks xmlns:a="http://schemas.openxmlformats.org/drawingml/2006/main" noGrp="1"/>
          </p:cNvSpPr>
          <p:nvPr/>
        </p:nvSpPr>
        <p:spPr>
          <a:xfrm xmlns:a="http://schemas.openxmlformats.org/drawingml/2006/main">
            <a:off x="7810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Observations</a:t>
            </a:r>
          </a:p>
        </p:txBody>
      </p:sp>
      <p:sp>
        <p:nvSpPr>
          <p:cNvPr id="14" name="">
            <a:extLst xmlns:a="http://schemas.openxmlformats.org/drawingml/2006/main">
              <a:ext uri="{FF2B5EF4-FFF2-40B4-BE49-F238E27FC236}">
                <a16:creationId xmlns:a16="http://schemas.microsoft.com/office/drawing/2014/main" id="{761345A6-4FB3-4EA0-88CA-612B9CB1E074}"/>
              </a:ext>
            </a:extLst>
          </p:cNvPr>
          <p:cNvSpPr>
            <a:spLocks xmlns:a="http://schemas.openxmlformats.org/drawingml/2006/main" noGrp="1"/>
          </p:cNvSpPr>
          <p:nvPr/>
        </p:nvSpPr>
        <p:spPr>
          <a:xfrm xmlns:a="http://schemas.openxmlformats.org/drawingml/2006/main">
            <a:off x="33242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15" name="">
            <a:extLst xmlns:a="http://schemas.openxmlformats.org/drawingml/2006/main">
              <a:ext uri="{FF2B5EF4-FFF2-40B4-BE49-F238E27FC236}">
                <a16:creationId xmlns:a16="http://schemas.microsoft.com/office/drawing/2014/main" id="{CAEF7458-3B4B-4236-AFFD-D78716037709}"/>
              </a:ext>
            </a:extLst>
          </p:cNvPr>
          <p:cNvSpPr>
            <a:spLocks xmlns:a="http://schemas.openxmlformats.org/drawingml/2006/main" noGrp="1"/>
          </p:cNvSpPr>
          <p:nvPr/>
        </p:nvSpPr>
        <p:spPr>
          <a:xfrm xmlns:a="http://schemas.openxmlformats.org/drawingml/2006/main">
            <a:off x="3581400" y="2000250"/>
            <a:ext cx="2400300" cy="666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29E918-CE73-4C08-BE0F-A9425AD05B0B}"/>
              </a:ext>
            </a:extLst>
          </p:cNvPr>
          <p:cNvSpPr>
            <a:spLocks xmlns:a="http://schemas.openxmlformats.org/drawingml/2006/main" noGrp="1"/>
          </p:cNvSpPr>
          <p:nvPr/>
        </p:nvSpPr>
        <p:spPr>
          <a:xfrm xmlns:a="http://schemas.openxmlformats.org/drawingml/2006/main">
            <a:off x="35814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12304E"/>
                </a:solidFill>
                <a:latin typeface="Lato"/>
                <a:ea typeface="Lato"/>
                <a:cs typeface="Lato"/>
              </a:defRPr>
            </a:pPr>
            <a:r>
              <a:rPr sz="975" b="1" i="0">
                <a:solidFill>
                  <a:srgbClr val="12304E"/>
                </a:solidFill>
                <a:latin typeface="Lato"/>
                <a:ea typeface="Lato"/>
                <a:cs typeface="Lato"/>
              </a:rPr>
              <a:t>PRESENT</a:t>
            </a:r>
          </a:p>
        </p:txBody>
      </p:sp>
      <p:sp>
        <p:nvSpPr>
          <p:cNvPr id="17" name="">
            <a:extLst xmlns:a="http://schemas.openxmlformats.org/drawingml/2006/main">
              <a:ext uri="{FF2B5EF4-FFF2-40B4-BE49-F238E27FC236}">
                <a16:creationId xmlns:a16="http://schemas.microsoft.com/office/drawing/2014/main" id="{4390C45F-D9ED-4C2B-89B9-29817F02AB3D}"/>
              </a:ext>
            </a:extLst>
          </p:cNvPr>
          <p:cNvSpPr>
            <a:spLocks xmlns:a="http://schemas.openxmlformats.org/drawingml/2006/main" noGrp="1"/>
          </p:cNvSpPr>
          <p:nvPr/>
        </p:nvSpPr>
        <p:spPr>
          <a:xfrm xmlns:a="http://schemas.openxmlformats.org/drawingml/2006/main">
            <a:off x="35814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is the best estimate now?</a:t>
            </a:r>
          </a:p>
        </p:txBody>
      </p:sp>
      <p:sp>
        <p:nvSpPr>
          <p:cNvPr id="18" name="">
            <a:extLst xmlns:a="http://schemas.openxmlformats.org/drawingml/2006/main">
              <a:ext uri="{FF2B5EF4-FFF2-40B4-BE49-F238E27FC236}">
                <a16:creationId xmlns:a16="http://schemas.microsoft.com/office/drawing/2014/main" id="{5B4F33E1-489E-4195-B1CF-5EB1FDFC6FC3}"/>
              </a:ext>
            </a:extLst>
          </p:cNvPr>
          <p:cNvSpPr>
            <a:spLocks xmlns:a="http://schemas.openxmlformats.org/drawingml/2006/main" noGrp="1"/>
          </p:cNvSpPr>
          <p:nvPr/>
        </p:nvSpPr>
        <p:spPr>
          <a:xfrm xmlns:a="http://schemas.openxmlformats.org/drawingml/2006/main">
            <a:off x="35814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Reanalysis</a:t>
            </a:r>
          </a:p>
        </p:txBody>
      </p:sp>
      <p:sp>
        <p:nvSpPr>
          <p:cNvPr id="19" name="">
            <a:extLst xmlns:a="http://schemas.openxmlformats.org/drawingml/2006/main">
              <a:ext uri="{FF2B5EF4-FFF2-40B4-BE49-F238E27FC236}">
                <a16:creationId xmlns:a16="http://schemas.microsoft.com/office/drawing/2014/main" id="{3F044895-A395-4B0F-B7E8-F2026BB4AE8D}"/>
              </a:ext>
            </a:extLst>
          </p:cNvPr>
          <p:cNvSpPr>
            <a:spLocks xmlns:a="http://schemas.openxmlformats.org/drawingml/2006/main" noGrp="1"/>
          </p:cNvSpPr>
          <p:nvPr/>
        </p:nvSpPr>
        <p:spPr>
          <a:xfrm xmlns:a="http://schemas.openxmlformats.org/drawingml/2006/main">
            <a:off x="612457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0" name="">
            <a:extLst xmlns:a="http://schemas.openxmlformats.org/drawingml/2006/main">
              <a:ext uri="{FF2B5EF4-FFF2-40B4-BE49-F238E27FC236}">
                <a16:creationId xmlns:a16="http://schemas.microsoft.com/office/drawing/2014/main" id="{B249279F-DB8F-4EC4-A0E4-C40DFB548685}"/>
              </a:ext>
            </a:extLst>
          </p:cNvPr>
          <p:cNvSpPr>
            <a:spLocks xmlns:a="http://schemas.openxmlformats.org/drawingml/2006/main" noGrp="1"/>
          </p:cNvSpPr>
          <p:nvPr/>
        </p:nvSpPr>
        <p:spPr>
          <a:xfrm xmlns:a="http://schemas.openxmlformats.org/drawingml/2006/main">
            <a:off x="6381750" y="2000250"/>
            <a:ext cx="2400300" cy="666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65F715-DE5C-49B7-AF3B-99E4C2F33367}"/>
              </a:ext>
            </a:extLst>
          </p:cNvPr>
          <p:cNvSpPr>
            <a:spLocks xmlns:a="http://schemas.openxmlformats.org/drawingml/2006/main" noGrp="1"/>
          </p:cNvSpPr>
          <p:nvPr/>
        </p:nvSpPr>
        <p:spPr>
          <a:xfrm xmlns:a="http://schemas.openxmlformats.org/drawingml/2006/main">
            <a:off x="63817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F2B632"/>
                </a:solidFill>
                <a:latin typeface="Lato"/>
                <a:ea typeface="Lato"/>
                <a:cs typeface="Lato"/>
              </a:defRPr>
            </a:pPr>
            <a:r>
              <a:rPr sz="975" b="1" i="0">
                <a:solidFill>
                  <a:srgbClr val="F2B632"/>
                </a:solidFill>
                <a:latin typeface="Lato"/>
                <a:ea typeface="Lato"/>
                <a:cs typeface="Lato"/>
              </a:rPr>
              <a:t>NEAR TERM</a:t>
            </a:r>
          </a:p>
        </p:txBody>
      </p:sp>
      <p:sp>
        <p:nvSpPr>
          <p:cNvPr id="22" name="">
            <a:extLst xmlns:a="http://schemas.openxmlformats.org/drawingml/2006/main">
              <a:ext uri="{FF2B5EF4-FFF2-40B4-BE49-F238E27FC236}">
                <a16:creationId xmlns:a16="http://schemas.microsoft.com/office/drawing/2014/main" id="{24CD5280-FDC7-48B7-BD6D-123931D8ADB0}"/>
              </a:ext>
            </a:extLst>
          </p:cNvPr>
          <p:cNvSpPr>
            <a:spLocks xmlns:a="http://schemas.openxmlformats.org/drawingml/2006/main" noGrp="1"/>
          </p:cNvSpPr>
          <p:nvPr/>
        </p:nvSpPr>
        <p:spPr>
          <a:xfrm xmlns:a="http://schemas.openxmlformats.org/drawingml/2006/main">
            <a:off x="63817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may happen next?</a:t>
            </a:r>
          </a:p>
        </p:txBody>
      </p:sp>
      <p:sp>
        <p:nvSpPr>
          <p:cNvPr id="23" name="">
            <a:extLst xmlns:a="http://schemas.openxmlformats.org/drawingml/2006/main">
              <a:ext uri="{FF2B5EF4-FFF2-40B4-BE49-F238E27FC236}">
                <a16:creationId xmlns:a16="http://schemas.microsoft.com/office/drawing/2014/main" id="{67EF0A9F-643C-4010-BE60-AF051049626F}"/>
              </a:ext>
            </a:extLst>
          </p:cNvPr>
          <p:cNvSpPr>
            <a:spLocks xmlns:a="http://schemas.openxmlformats.org/drawingml/2006/main" noGrp="1"/>
          </p:cNvSpPr>
          <p:nvPr/>
        </p:nvSpPr>
        <p:spPr>
          <a:xfrm xmlns:a="http://schemas.openxmlformats.org/drawingml/2006/main">
            <a:off x="63817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Forecasts and outlooks</a:t>
            </a:r>
          </a:p>
        </p:txBody>
      </p:sp>
      <p:sp>
        <p:nvSpPr>
          <p:cNvPr id="24" name="">
            <a:extLst xmlns:a="http://schemas.openxmlformats.org/drawingml/2006/main">
              <a:ext uri="{FF2B5EF4-FFF2-40B4-BE49-F238E27FC236}">
                <a16:creationId xmlns:a16="http://schemas.microsoft.com/office/drawing/2014/main" id="{64DB937B-9D7C-4EC4-97B3-2FBAD2F425A3}"/>
              </a:ext>
            </a:extLst>
          </p:cNvPr>
          <p:cNvSpPr>
            <a:spLocks xmlns:a="http://schemas.openxmlformats.org/drawingml/2006/main" noGrp="1"/>
          </p:cNvSpPr>
          <p:nvPr/>
        </p:nvSpPr>
        <p:spPr>
          <a:xfrm xmlns:a="http://schemas.openxmlformats.org/drawingml/2006/main">
            <a:off x="89249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5" name="">
            <a:extLst xmlns:a="http://schemas.openxmlformats.org/drawingml/2006/main">
              <a:ext uri="{FF2B5EF4-FFF2-40B4-BE49-F238E27FC236}">
                <a16:creationId xmlns:a16="http://schemas.microsoft.com/office/drawing/2014/main" id="{1940C259-96AB-4CC2-9412-F1D97BEA80E1}"/>
              </a:ext>
            </a:extLst>
          </p:cNvPr>
          <p:cNvSpPr>
            <a:spLocks xmlns:a="http://schemas.openxmlformats.org/drawingml/2006/main" noGrp="1"/>
          </p:cNvSpPr>
          <p:nvPr/>
        </p:nvSpPr>
        <p:spPr>
          <a:xfrm xmlns:a="http://schemas.openxmlformats.org/drawingml/2006/main">
            <a:off x="9182100" y="2000250"/>
            <a:ext cx="2400300" cy="666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462384B-17BB-4340-944C-91A973FC0F42}"/>
              </a:ext>
            </a:extLst>
          </p:cNvPr>
          <p:cNvSpPr>
            <a:spLocks xmlns:a="http://schemas.openxmlformats.org/drawingml/2006/main" noGrp="1"/>
          </p:cNvSpPr>
          <p:nvPr/>
        </p:nvSpPr>
        <p:spPr>
          <a:xfrm xmlns:a="http://schemas.openxmlformats.org/drawingml/2006/main">
            <a:off x="91821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C95C54"/>
                </a:solidFill>
                <a:latin typeface="Lato"/>
                <a:ea typeface="Lato"/>
                <a:cs typeface="Lato"/>
              </a:defRPr>
            </a:pPr>
            <a:r>
              <a:rPr sz="975" b="1" i="0">
                <a:solidFill>
                  <a:srgbClr val="C95C54"/>
                </a:solidFill>
                <a:latin typeface="Lato"/>
                <a:ea typeface="Lato"/>
                <a:cs typeface="Lato"/>
              </a:rPr>
              <a:t>LONG TERM</a:t>
            </a:r>
          </a:p>
        </p:txBody>
      </p:sp>
      <p:sp>
        <p:nvSpPr>
          <p:cNvPr id="27" name="">
            <a:extLst xmlns:a="http://schemas.openxmlformats.org/drawingml/2006/main">
              <a:ext uri="{FF2B5EF4-FFF2-40B4-BE49-F238E27FC236}">
                <a16:creationId xmlns:a16="http://schemas.microsoft.com/office/drawing/2014/main" id="{77820668-B3C7-4EED-9409-BBF9BBD53442}"/>
              </a:ext>
            </a:extLst>
          </p:cNvPr>
          <p:cNvSpPr>
            <a:spLocks xmlns:a="http://schemas.openxmlformats.org/drawingml/2006/main" noGrp="1"/>
          </p:cNvSpPr>
          <p:nvPr/>
        </p:nvSpPr>
        <p:spPr>
          <a:xfrm xmlns:a="http://schemas.openxmlformats.org/drawingml/2006/main">
            <a:off x="91821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How could climate change?</a:t>
            </a:r>
          </a:p>
        </p:txBody>
      </p:sp>
      <p:sp>
        <p:nvSpPr>
          <p:cNvPr id="28" name="">
            <a:extLst xmlns:a="http://schemas.openxmlformats.org/drawingml/2006/main">
              <a:ext uri="{FF2B5EF4-FFF2-40B4-BE49-F238E27FC236}">
                <a16:creationId xmlns:a16="http://schemas.microsoft.com/office/drawing/2014/main" id="{F3A69206-D647-40BC-8FAD-B921C6B52C91}"/>
              </a:ext>
            </a:extLst>
          </p:cNvPr>
          <p:cNvSpPr>
            <a:spLocks xmlns:a="http://schemas.openxmlformats.org/drawingml/2006/main" noGrp="1"/>
          </p:cNvSpPr>
          <p:nvPr/>
        </p:nvSpPr>
        <p:spPr>
          <a:xfrm xmlns:a="http://schemas.openxmlformats.org/drawingml/2006/main">
            <a:off x="91821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Scenario-based projections</a:t>
            </a:r>
          </a:p>
        </p:txBody>
      </p:sp>
      <p:sp>
        <p:nvSpPr>
          <p:cNvPr id="29" name="">
            <a:extLst xmlns:a="http://schemas.openxmlformats.org/drawingml/2006/main">
              <a:ext uri="{FF2B5EF4-FFF2-40B4-BE49-F238E27FC236}">
                <a16:creationId xmlns:a16="http://schemas.microsoft.com/office/drawing/2014/main" id="{B353B0AE-8C6E-40B5-90EE-E449E3B7BEBC}"/>
              </a:ext>
            </a:extLst>
          </p:cNvPr>
          <p:cNvSpPr>
            <a:spLocks xmlns:a="http://schemas.openxmlformats.org/drawingml/2006/main" noGrp="1"/>
          </p:cNvSpPr>
          <p:nvPr/>
        </p:nvSpPr>
        <p:spPr>
          <a:xfrm xmlns:a="http://schemas.openxmlformats.org/drawingml/2006/main">
            <a:off x="904875" y="4762500"/>
            <a:ext cx="10287000" cy="6858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4B01CC3-EF07-48D3-BD07-BA0073BF908D}"/>
              </a:ext>
            </a:extLst>
          </p:cNvPr>
          <p:cNvSpPr>
            <a:spLocks xmlns:a="http://schemas.openxmlformats.org/drawingml/2006/main" noGrp="1"/>
          </p:cNvSpPr>
          <p:nvPr/>
        </p:nvSpPr>
        <p:spPr>
          <a:xfrm xmlns:a="http://schemas.openxmlformats.org/drawingml/2006/main">
            <a:off x="1190625" y="495300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i="0">
                <a:solidFill>
                  <a:srgbClr val="12304E"/>
                </a:solidFill>
                <a:latin typeface="Lato"/>
                <a:ea typeface="Lato"/>
                <a:cs typeface="Lato"/>
              </a:defRPr>
            </a:pPr>
            <a:r>
              <a:rPr sz="1575" b="1" i="0">
                <a:solidFill>
                  <a:srgbClr val="12304E"/>
                </a:solidFill>
                <a:latin typeface="Lato"/>
                <a:ea typeface="Lato"/>
                <a:cs typeface="Lato"/>
              </a:rPr>
              <a:t>The scientific question determines which source is fit for purpose</a:t>
            </a:r>
          </a:p>
        </p:txBody>
      </p:sp>
    </p:spTree>
    <p:extLst>
      <p:ext uri="{BB962C8B-B14F-4D97-AF65-F5344CB8AC3E}">
        <p14:creationId xmlns:p14="http://schemas.microsoft.com/office/powerpoint/2010/main" val="109769890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D4CB69-6142-4283-B7C5-645243B69F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C82CB8-2D62-4014-AA35-6C715D0C62A1}"/>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Forecasts and projections answer different questions</a:t>
            </a:r>
          </a:p>
        </p:txBody>
      </p:sp>
      <p:sp>
        <p:nvSpPr>
          <p:cNvPr id="3" name="">
            <a:extLst xmlns:a="http://schemas.openxmlformats.org/drawingml/2006/main">
              <a:ext uri="{FF2B5EF4-FFF2-40B4-BE49-F238E27FC236}">
                <a16:creationId xmlns:a16="http://schemas.microsoft.com/office/drawing/2014/main" id="{006DE214-B786-41E2-8FFC-FC37FDDC5D6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Both use models, but initialization and interpretation differ</a:t>
            </a:r>
          </a:p>
        </p:txBody>
      </p:sp>
      <p:sp>
        <p:nvSpPr>
          <p:cNvPr id="4" name="">
            <a:extLst xmlns:a="http://schemas.openxmlformats.org/drawingml/2006/main">
              <a:ext uri="{FF2B5EF4-FFF2-40B4-BE49-F238E27FC236}">
                <a16:creationId xmlns:a16="http://schemas.microsoft.com/office/drawing/2014/main" id="{743A999E-A034-437A-B573-5564F430C6B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BC5DBD-144E-4E47-87C4-640BAE7FF9B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3C2AE7-9B5B-4BFE-9689-02FD42E5DF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A111A4-7CE5-4853-93E8-2FF59B338A5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8CA2E93E-616C-4B3F-B8D5-A08CCF4E01A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9" name="">
            <a:extLst xmlns:a="http://schemas.openxmlformats.org/drawingml/2006/main">
              <a:ext uri="{FF2B5EF4-FFF2-40B4-BE49-F238E27FC236}">
                <a16:creationId xmlns:a16="http://schemas.microsoft.com/office/drawing/2014/main" id="{6E7E6E31-E44C-4BF7-A6B2-21BE741EDCDD}"/>
              </a:ext>
            </a:extLst>
          </p:cNvPr>
          <p:cNvSpPr>
            <a:spLocks xmlns:a="http://schemas.openxmlformats.org/drawingml/2006/main" noGrp="1"/>
          </p:cNvSpPr>
          <p:nvPr/>
        </p:nvSpPr>
        <p:spPr>
          <a:xfrm xmlns:a="http://schemas.openxmlformats.org/drawingml/2006/main">
            <a:off x="83820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FORECAST</a:t>
            </a:r>
          </a:p>
        </p:txBody>
      </p:sp>
      <p:sp>
        <p:nvSpPr>
          <p:cNvPr id="10" name="">
            <a:extLst xmlns:a="http://schemas.openxmlformats.org/drawingml/2006/main">
              <a:ext uri="{FF2B5EF4-FFF2-40B4-BE49-F238E27FC236}">
                <a16:creationId xmlns:a16="http://schemas.microsoft.com/office/drawing/2014/main" id="{2609AB78-2943-4909-B875-9365F6FA15E7}"/>
              </a:ext>
            </a:extLst>
          </p:cNvPr>
          <p:cNvSpPr>
            <a:spLocks xmlns:a="http://schemas.openxmlformats.org/drawingml/2006/main" noGrp="1"/>
          </p:cNvSpPr>
          <p:nvPr/>
        </p:nvSpPr>
        <p:spPr>
          <a:xfrm xmlns:a="http://schemas.openxmlformats.org/drawingml/2006/main">
            <a:off x="838200" y="21907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is likely from today’s state?</a:t>
            </a:r>
          </a:p>
        </p:txBody>
      </p:sp>
      <p:sp>
        <p:nvSpPr>
          <p:cNvPr id="11" name="">
            <a:extLst xmlns:a="http://schemas.openxmlformats.org/drawingml/2006/main">
              <a:ext uri="{FF2B5EF4-FFF2-40B4-BE49-F238E27FC236}">
                <a16:creationId xmlns:a16="http://schemas.microsoft.com/office/drawing/2014/main" id="{31E0F133-5DAA-4959-A439-6668A214E405}"/>
              </a:ext>
            </a:extLst>
          </p:cNvPr>
          <p:cNvSpPr>
            <a:spLocks xmlns:a="http://schemas.openxmlformats.org/drawingml/2006/main" noGrp="1"/>
          </p:cNvSpPr>
          <p:nvPr/>
        </p:nvSpPr>
        <p:spPr>
          <a:xfrm xmlns:a="http://schemas.openxmlformats.org/drawingml/2006/main">
            <a:off x="838200" y="2971800"/>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Initialized from observed conditions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Skill declines as the lead time increases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days to seasons</a:t>
            </a:r>
          </a:p>
        </p:txBody>
      </p:sp>
      <p:sp>
        <p:nvSpPr>
          <p:cNvPr id="12" name="">
            <a:extLst xmlns:a="http://schemas.openxmlformats.org/drawingml/2006/main">
              <a:ext uri="{FF2B5EF4-FFF2-40B4-BE49-F238E27FC236}">
                <a16:creationId xmlns:a16="http://schemas.microsoft.com/office/drawing/2014/main" id="{82305C4B-CF66-461F-BF23-AC22E82AC761}"/>
              </a:ext>
            </a:extLst>
          </p:cNvPr>
          <p:cNvSpPr>
            <a:spLocks xmlns:a="http://schemas.openxmlformats.org/drawingml/2006/main" noGrp="1"/>
          </p:cNvSpPr>
          <p:nvPr/>
        </p:nvSpPr>
        <p:spPr>
          <a:xfrm xmlns:a="http://schemas.openxmlformats.org/drawingml/2006/main">
            <a:off x="5772150" y="1714500"/>
            <a:ext cx="9525" cy="31432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5746AD-520A-4B99-916E-018F831CB8B3}"/>
              </a:ext>
            </a:extLst>
          </p:cNvPr>
          <p:cNvSpPr>
            <a:spLocks xmlns:a="http://schemas.openxmlformats.org/drawingml/2006/main" noGrp="1"/>
          </p:cNvSpPr>
          <p:nvPr/>
        </p:nvSpPr>
        <p:spPr>
          <a:xfrm xmlns:a="http://schemas.openxmlformats.org/drawingml/2006/main">
            <a:off x="630555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PROJECTION</a:t>
            </a:r>
          </a:p>
        </p:txBody>
      </p:sp>
      <p:sp>
        <p:nvSpPr>
          <p:cNvPr id="14" name="">
            <a:extLst xmlns:a="http://schemas.openxmlformats.org/drawingml/2006/main">
              <a:ext uri="{FF2B5EF4-FFF2-40B4-BE49-F238E27FC236}">
                <a16:creationId xmlns:a16="http://schemas.microsoft.com/office/drawing/2014/main" id="{F79C52D0-8986-4E0A-B5AD-0CFC5CE9DEF0}"/>
              </a:ext>
            </a:extLst>
          </p:cNvPr>
          <p:cNvSpPr>
            <a:spLocks xmlns:a="http://schemas.openxmlformats.org/drawingml/2006/main" noGrp="1"/>
          </p:cNvSpPr>
          <p:nvPr/>
        </p:nvSpPr>
        <p:spPr>
          <a:xfrm xmlns:a="http://schemas.openxmlformats.org/drawingml/2006/main">
            <a:off x="6305550" y="21907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climate is plausible under stated assumptions?</a:t>
            </a:r>
          </a:p>
        </p:txBody>
      </p:sp>
      <p:sp>
        <p:nvSpPr>
          <p:cNvPr id="15" name="">
            <a:extLst xmlns:a="http://schemas.openxmlformats.org/drawingml/2006/main">
              <a:ext uri="{FF2B5EF4-FFF2-40B4-BE49-F238E27FC236}">
                <a16:creationId xmlns:a16="http://schemas.microsoft.com/office/drawing/2014/main" id="{2C522F1D-3D67-4373-9012-0A6B80AF90DC}"/>
              </a:ext>
            </a:extLst>
          </p:cNvPr>
          <p:cNvSpPr>
            <a:spLocks xmlns:a="http://schemas.openxmlformats.org/drawingml/2006/main" noGrp="1"/>
          </p:cNvSpPr>
          <p:nvPr/>
        </p:nvSpPr>
        <p:spPr>
          <a:xfrm xmlns:a="http://schemas.openxmlformats.org/drawingml/2006/main">
            <a:off x="6305550" y="2971800"/>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Conditioned on an emissions pathway</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Interpreted as a range across simulations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decades</a:t>
            </a:r>
          </a:p>
        </p:txBody>
      </p:sp>
      <p:sp>
        <p:nvSpPr>
          <p:cNvPr id="16" name="">
            <a:extLst xmlns:a="http://schemas.openxmlformats.org/drawingml/2006/main">
              <a:ext uri="{FF2B5EF4-FFF2-40B4-BE49-F238E27FC236}">
                <a16:creationId xmlns:a16="http://schemas.microsoft.com/office/drawing/2014/main" id="{6787D8D1-DCF2-4A47-9EE2-6259D49560AA}"/>
              </a:ext>
            </a:extLst>
          </p:cNvPr>
          <p:cNvSpPr>
            <a:spLocks xmlns:a="http://schemas.openxmlformats.org/drawingml/2006/main" noGrp="1"/>
          </p:cNvSpPr>
          <p:nvPr/>
        </p:nvSpPr>
        <p:spPr>
          <a:xfrm xmlns:a="http://schemas.openxmlformats.org/drawingml/2006/main">
            <a:off x="838200" y="5010150"/>
            <a:ext cx="10039350" cy="5905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C07828-462F-4498-8CAF-1D46BB4617FE}"/>
              </a:ext>
            </a:extLst>
          </p:cNvPr>
          <p:cNvSpPr>
            <a:spLocks xmlns:a="http://schemas.openxmlformats.org/drawingml/2006/main" noGrp="1"/>
          </p:cNvSpPr>
          <p:nvPr/>
        </p:nvSpPr>
        <p:spPr>
          <a:xfrm xmlns:a="http://schemas.openxmlformats.org/drawingml/2006/main">
            <a:off x="1095375" y="5181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A projection does not predict one future. It describes possible climates under defined conditions.</a:t>
            </a:r>
          </a:p>
        </p:txBody>
      </p:sp>
    </p:spTree>
    <p:extLst>
      <p:ext uri="{BB962C8B-B14F-4D97-AF65-F5344CB8AC3E}">
        <p14:creationId xmlns:p14="http://schemas.microsoft.com/office/powerpoint/2010/main" val="19091576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12C2DF6-2E00-432E-994A-1B59675BC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22924-F380-46E1-B7CD-51F81CA2397B}"/>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Observations, reanalysis and simulations</a:t>
            </a:r>
          </a:p>
        </p:txBody>
      </p:sp>
      <p:sp>
        <p:nvSpPr>
          <p:cNvPr id="3" name="">
            <a:extLst xmlns:a="http://schemas.openxmlformats.org/drawingml/2006/main">
              <a:ext uri="{FF2B5EF4-FFF2-40B4-BE49-F238E27FC236}">
                <a16:creationId xmlns:a16="http://schemas.microsoft.com/office/drawing/2014/main" id="{06410779-F3CA-425E-8EA4-145D5ECECE68}"/>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Each source represents the climate system differently and contributes different evidence</a:t>
            </a:r>
          </a:p>
        </p:txBody>
      </p:sp>
      <p:sp>
        <p:nvSpPr>
          <p:cNvPr id="4" name="">
            <a:extLst xmlns:a="http://schemas.openxmlformats.org/drawingml/2006/main">
              <a:ext uri="{FF2B5EF4-FFF2-40B4-BE49-F238E27FC236}">
                <a16:creationId xmlns:a16="http://schemas.microsoft.com/office/drawing/2014/main" id="{F874762E-FDE4-471A-BC1C-0BF0806C09A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5F81B0-6212-4C14-AC1C-937ED2AEC79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F563F4-E06F-4A53-B650-C0163DB1A44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E8558A-4148-4050-9D58-872D2386AE5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A415D34A-6045-4AA9-8415-62C9BF65043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9" name="">
            <a:extLst xmlns:a="http://schemas.openxmlformats.org/drawingml/2006/main">
              <a:ext uri="{FF2B5EF4-FFF2-40B4-BE49-F238E27FC236}">
                <a16:creationId xmlns:a16="http://schemas.microsoft.com/office/drawing/2014/main" id="{A8C3D419-BB51-4B02-A674-83978EB41309}"/>
              </a:ext>
            </a:extLst>
          </p:cNvPr>
          <p:cNvSpPr>
            <a:spLocks xmlns:a="http://schemas.openxmlformats.org/drawingml/2006/main" noGrp="1"/>
          </p:cNvSpPr>
          <p:nvPr/>
        </p:nvSpPr>
        <p:spPr>
          <a:xfrm xmlns:a="http://schemas.openxmlformats.org/drawingml/2006/main">
            <a:off x="838200" y="183832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00A88F"/>
                </a:solidFill>
                <a:latin typeface="Lato"/>
                <a:ea typeface="Lato"/>
                <a:cs typeface="Lato"/>
              </a:defRPr>
            </a:pPr>
            <a:r>
              <a:rPr sz="165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FD97D349-7C25-4591-82FB-00F56790611A}"/>
              </a:ext>
            </a:extLst>
          </p:cNvPr>
          <p:cNvSpPr>
            <a:spLocks xmlns:a="http://schemas.openxmlformats.org/drawingml/2006/main" noGrp="1"/>
          </p:cNvSpPr>
          <p:nvPr/>
        </p:nvSpPr>
        <p:spPr>
          <a:xfrm xmlns:a="http://schemas.openxmlformats.org/drawingml/2006/main">
            <a:off x="1619250" y="18097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OBSERVATIONS</a:t>
            </a:r>
          </a:p>
        </p:txBody>
      </p:sp>
      <p:sp>
        <p:nvSpPr>
          <p:cNvPr id="11" name="">
            <a:extLst xmlns:a="http://schemas.openxmlformats.org/drawingml/2006/main">
              <a:ext uri="{FF2B5EF4-FFF2-40B4-BE49-F238E27FC236}">
                <a16:creationId xmlns:a16="http://schemas.microsoft.com/office/drawing/2014/main" id="{D9092EF4-EEDF-4569-A03D-1EC3DA843555}"/>
              </a:ext>
            </a:extLst>
          </p:cNvPr>
          <p:cNvSpPr>
            <a:spLocks xmlns:a="http://schemas.openxmlformats.org/drawingml/2006/main" noGrp="1"/>
          </p:cNvSpPr>
          <p:nvPr/>
        </p:nvSpPr>
        <p:spPr>
          <a:xfrm xmlns:a="http://schemas.openxmlformats.org/drawingml/2006/main">
            <a:off x="4000500" y="179070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Measured at stations or by satellites</a:t>
            </a:r>
          </a:p>
        </p:txBody>
      </p:sp>
      <p:sp>
        <p:nvSpPr>
          <p:cNvPr id="12" name="">
            <a:extLst xmlns:a="http://schemas.openxmlformats.org/drawingml/2006/main">
              <a:ext uri="{FF2B5EF4-FFF2-40B4-BE49-F238E27FC236}">
                <a16:creationId xmlns:a16="http://schemas.microsoft.com/office/drawing/2014/main" id="{EA096047-6B17-49A3-9813-53236E42FA54}"/>
              </a:ext>
            </a:extLst>
          </p:cNvPr>
          <p:cNvSpPr>
            <a:spLocks xmlns:a="http://schemas.openxmlformats.org/drawingml/2006/main" noGrp="1"/>
          </p:cNvSpPr>
          <p:nvPr/>
        </p:nvSpPr>
        <p:spPr>
          <a:xfrm xmlns:a="http://schemas.openxmlformats.org/drawingml/2006/main">
            <a:off x="7524750" y="17716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Direct evidence, but uneven coverage and measurement uncertainty</a:t>
            </a:r>
          </a:p>
        </p:txBody>
      </p:sp>
      <p:sp>
        <p:nvSpPr>
          <p:cNvPr id="13" name="">
            <a:extLst xmlns:a="http://schemas.openxmlformats.org/drawingml/2006/main">
              <a:ext uri="{FF2B5EF4-FFF2-40B4-BE49-F238E27FC236}">
                <a16:creationId xmlns:a16="http://schemas.microsoft.com/office/drawing/2014/main" id="{3EC55E91-4417-4A93-8E90-6F9A371F0427}"/>
              </a:ext>
            </a:extLst>
          </p:cNvPr>
          <p:cNvSpPr>
            <a:spLocks xmlns:a="http://schemas.openxmlformats.org/drawingml/2006/main" noGrp="1"/>
          </p:cNvSpPr>
          <p:nvPr/>
        </p:nvSpPr>
        <p:spPr>
          <a:xfrm xmlns:a="http://schemas.openxmlformats.org/drawingml/2006/main">
            <a:off x="1619250" y="2590800"/>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966554-85F5-4C0D-BA6B-80FB77E70A7F}"/>
              </a:ext>
            </a:extLst>
          </p:cNvPr>
          <p:cNvSpPr>
            <a:spLocks xmlns:a="http://schemas.openxmlformats.org/drawingml/2006/main" noGrp="1"/>
          </p:cNvSpPr>
          <p:nvPr/>
        </p:nvSpPr>
        <p:spPr>
          <a:xfrm xmlns:a="http://schemas.openxmlformats.org/drawingml/2006/main">
            <a:off x="838200" y="30289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DD61E273-AF8B-4BFF-BDF6-E0CE00086EFE}"/>
              </a:ext>
            </a:extLst>
          </p:cNvPr>
          <p:cNvSpPr>
            <a:spLocks xmlns:a="http://schemas.openxmlformats.org/drawingml/2006/main" noGrp="1"/>
          </p:cNvSpPr>
          <p:nvPr/>
        </p:nvSpPr>
        <p:spPr>
          <a:xfrm xmlns:a="http://schemas.openxmlformats.org/drawingml/2006/main">
            <a:off x="1619250" y="30003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REANALYSIS</a:t>
            </a:r>
          </a:p>
        </p:txBody>
      </p:sp>
      <p:sp>
        <p:nvSpPr>
          <p:cNvPr id="16" name="">
            <a:extLst xmlns:a="http://schemas.openxmlformats.org/drawingml/2006/main">
              <a:ext uri="{FF2B5EF4-FFF2-40B4-BE49-F238E27FC236}">
                <a16:creationId xmlns:a16="http://schemas.microsoft.com/office/drawing/2014/main" id="{01EB710B-BEE2-4AE9-B69D-223FA2BC377F}"/>
              </a:ext>
            </a:extLst>
          </p:cNvPr>
          <p:cNvSpPr>
            <a:spLocks xmlns:a="http://schemas.openxmlformats.org/drawingml/2006/main" noGrp="1"/>
          </p:cNvSpPr>
          <p:nvPr/>
        </p:nvSpPr>
        <p:spPr>
          <a:xfrm xmlns:a="http://schemas.openxmlformats.org/drawingml/2006/main">
            <a:off x="4000500" y="298132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Observations combined with a weather model</a:t>
            </a:r>
          </a:p>
        </p:txBody>
      </p:sp>
      <p:sp>
        <p:nvSpPr>
          <p:cNvPr id="17" name="">
            <a:extLst xmlns:a="http://schemas.openxmlformats.org/drawingml/2006/main">
              <a:ext uri="{FF2B5EF4-FFF2-40B4-BE49-F238E27FC236}">
                <a16:creationId xmlns:a16="http://schemas.microsoft.com/office/drawing/2014/main" id="{0C266826-A0ED-452B-80AB-49D94C058EEB}"/>
              </a:ext>
            </a:extLst>
          </p:cNvPr>
          <p:cNvSpPr>
            <a:spLocks xmlns:a="http://schemas.openxmlformats.org/drawingml/2006/main" noGrp="1"/>
          </p:cNvSpPr>
          <p:nvPr/>
        </p:nvSpPr>
        <p:spPr>
          <a:xfrm xmlns:a="http://schemas.openxmlformats.org/drawingml/2006/main">
            <a:off x="7524750" y="29622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Complete grids and internally consistent fields, but still model dependent</a:t>
            </a:r>
          </a:p>
        </p:txBody>
      </p:sp>
      <p:sp>
        <p:nvSpPr>
          <p:cNvPr id="18" name="">
            <a:extLst xmlns:a="http://schemas.openxmlformats.org/drawingml/2006/main">
              <a:ext uri="{FF2B5EF4-FFF2-40B4-BE49-F238E27FC236}">
                <a16:creationId xmlns:a16="http://schemas.microsoft.com/office/drawing/2014/main" id="{CFFA9013-F6FF-4F83-BA81-7AABC51DA2C2}"/>
              </a:ext>
            </a:extLst>
          </p:cNvPr>
          <p:cNvSpPr>
            <a:spLocks xmlns:a="http://schemas.openxmlformats.org/drawingml/2006/main" noGrp="1"/>
          </p:cNvSpPr>
          <p:nvPr/>
        </p:nvSpPr>
        <p:spPr>
          <a:xfrm xmlns:a="http://schemas.openxmlformats.org/drawingml/2006/main">
            <a:off x="1619250" y="3781425"/>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0E3666-FDBC-4EBB-8EDB-7BDA6AEA518F}"/>
              </a:ext>
            </a:extLst>
          </p:cNvPr>
          <p:cNvSpPr>
            <a:spLocks xmlns:a="http://schemas.openxmlformats.org/drawingml/2006/main" noGrp="1"/>
          </p:cNvSpPr>
          <p:nvPr/>
        </p:nvSpPr>
        <p:spPr>
          <a:xfrm xmlns:a="http://schemas.openxmlformats.org/drawingml/2006/main">
            <a:off x="838200" y="421957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F2B632"/>
                </a:solidFill>
                <a:latin typeface="Lato"/>
                <a:ea typeface="Lato"/>
                <a:cs typeface="Lato"/>
              </a:defRPr>
            </a:pPr>
            <a:r>
              <a:rPr sz="1650" b="1" i="0">
                <a:solidFill>
                  <a:srgbClr val="F2B632"/>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B7F5B5E3-03F5-489D-BCBC-8FB4F0D53915}"/>
              </a:ext>
            </a:extLst>
          </p:cNvPr>
          <p:cNvSpPr>
            <a:spLocks xmlns:a="http://schemas.openxmlformats.org/drawingml/2006/main" noGrp="1"/>
          </p:cNvSpPr>
          <p:nvPr/>
        </p:nvSpPr>
        <p:spPr>
          <a:xfrm xmlns:a="http://schemas.openxmlformats.org/drawingml/2006/main">
            <a:off x="1619250" y="4191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SIMULATIONS</a:t>
            </a:r>
          </a:p>
        </p:txBody>
      </p:sp>
      <p:sp>
        <p:nvSpPr>
          <p:cNvPr id="21" name="">
            <a:extLst xmlns:a="http://schemas.openxmlformats.org/drawingml/2006/main">
              <a:ext uri="{FF2B5EF4-FFF2-40B4-BE49-F238E27FC236}">
                <a16:creationId xmlns:a16="http://schemas.microsoft.com/office/drawing/2014/main" id="{D31E8E38-47B0-4364-9072-F64E993B37E2}"/>
              </a:ext>
            </a:extLst>
          </p:cNvPr>
          <p:cNvSpPr>
            <a:spLocks xmlns:a="http://schemas.openxmlformats.org/drawingml/2006/main" noGrp="1"/>
          </p:cNvSpPr>
          <p:nvPr/>
        </p:nvSpPr>
        <p:spPr>
          <a:xfrm xmlns:a="http://schemas.openxmlformats.org/drawingml/2006/main">
            <a:off x="4000500" y="417195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models run for historical and future conditions</a:t>
            </a:r>
          </a:p>
        </p:txBody>
      </p:sp>
      <p:sp>
        <p:nvSpPr>
          <p:cNvPr id="22" name="">
            <a:extLst xmlns:a="http://schemas.openxmlformats.org/drawingml/2006/main">
              <a:ext uri="{FF2B5EF4-FFF2-40B4-BE49-F238E27FC236}">
                <a16:creationId xmlns:a16="http://schemas.microsoft.com/office/drawing/2014/main" id="{98104386-5145-4B9B-9842-073D77D1D368}"/>
              </a:ext>
            </a:extLst>
          </p:cNvPr>
          <p:cNvSpPr>
            <a:spLocks xmlns:a="http://schemas.openxmlformats.org/drawingml/2006/main" noGrp="1"/>
          </p:cNvSpPr>
          <p:nvPr/>
        </p:nvSpPr>
        <p:spPr>
          <a:xfrm xmlns:a="http://schemas.openxmlformats.org/drawingml/2006/main">
            <a:off x="7524750" y="41529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Controlled experiments and projections, with structural limitations</a:t>
            </a:r>
          </a:p>
        </p:txBody>
      </p:sp>
      <p:sp>
        <p:nvSpPr>
          <p:cNvPr id="23" name="">
            <a:extLst xmlns:a="http://schemas.openxmlformats.org/drawingml/2006/main">
              <a:ext uri="{FF2B5EF4-FFF2-40B4-BE49-F238E27FC236}">
                <a16:creationId xmlns:a16="http://schemas.microsoft.com/office/drawing/2014/main" id="{80F3CB87-F513-42BF-800C-39C59F4695DE}"/>
              </a:ext>
            </a:extLst>
          </p:cNvPr>
          <p:cNvSpPr>
            <a:spLocks xmlns:a="http://schemas.openxmlformats.org/drawingml/2006/main" noGrp="1"/>
          </p:cNvSpPr>
          <p:nvPr/>
        </p:nvSpPr>
        <p:spPr>
          <a:xfrm xmlns:a="http://schemas.openxmlformats.org/drawingml/2006/main">
            <a:off x="838200" y="5391150"/>
            <a:ext cx="10210800" cy="4762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EDEAE1-3AEC-48D7-BEA2-367148803332}"/>
              </a:ext>
            </a:extLst>
          </p:cNvPr>
          <p:cNvSpPr>
            <a:spLocks xmlns:a="http://schemas.openxmlformats.org/drawingml/2006/main" noGrp="1"/>
          </p:cNvSpPr>
          <p:nvPr/>
        </p:nvSpPr>
        <p:spPr>
          <a:xfrm xmlns:a="http://schemas.openxmlformats.org/drawingml/2006/main">
            <a:off x="1095375" y="5514975"/>
            <a:ext cx="969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No source is a perfect truth. Confidence grows by comparing independent lines of evidence.</a:t>
            </a:r>
          </a:p>
        </p:txBody>
      </p:sp>
    </p:spTree>
    <p:extLst>
      <p:ext uri="{BB962C8B-B14F-4D97-AF65-F5344CB8AC3E}">
        <p14:creationId xmlns:p14="http://schemas.microsoft.com/office/powerpoint/2010/main" val="136864107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727BDF-62A0-44AC-8067-A684E6B2DC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E45FE8-EFB3-4E02-91BB-D8D9E6F12FB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Uncertainty in climate projections</a:t>
            </a:r>
          </a:p>
        </p:txBody>
      </p:sp>
      <p:sp>
        <p:nvSpPr>
          <p:cNvPr id="3" name="">
            <a:extLst xmlns:a="http://schemas.openxmlformats.org/drawingml/2006/main">
              <a:ext uri="{FF2B5EF4-FFF2-40B4-BE49-F238E27FC236}">
                <a16:creationId xmlns:a16="http://schemas.microsoft.com/office/drawing/2014/main" id="{2D627D69-7FC8-4844-82A3-7A8E21B0141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Uncertainty describes the range of plausible outcomes and the confidence attached to them</a:t>
            </a:r>
          </a:p>
        </p:txBody>
      </p:sp>
      <p:sp>
        <p:nvSpPr>
          <p:cNvPr id="4" name="">
            <a:extLst xmlns:a="http://schemas.openxmlformats.org/drawingml/2006/main">
              <a:ext uri="{FF2B5EF4-FFF2-40B4-BE49-F238E27FC236}">
                <a16:creationId xmlns:a16="http://schemas.microsoft.com/office/drawing/2014/main" id="{4A6CDE3D-ED70-4055-9F4C-7542260A94B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CBD8A9-9485-4B2C-ACBC-B29A478CC5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CCC402-BB48-4951-89CC-A6DC140D3E7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CB69B5-56A7-48DE-AE58-B1FF98FE39F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34D55F1-8987-44D0-936F-72EED94F9F5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9" name="">
            <a:extLst xmlns:a="http://schemas.openxmlformats.org/drawingml/2006/main">
              <a:ext uri="{FF2B5EF4-FFF2-40B4-BE49-F238E27FC236}">
                <a16:creationId xmlns:a16="http://schemas.microsoft.com/office/drawing/2014/main" id="{D56C5B2D-0BEE-4FDB-B20F-4552688417AC}"/>
              </a:ext>
            </a:extLst>
          </p:cNvPr>
          <p:cNvSpPr>
            <a:spLocks xmlns:a="http://schemas.openxmlformats.org/drawingml/2006/main" noGrp="1"/>
          </p:cNvSpPr>
          <p:nvPr/>
        </p:nvSpPr>
        <p:spPr>
          <a:xfrm xmlns:a="http://schemas.openxmlformats.org/drawingml/2006/main">
            <a:off x="838200" y="1952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87984"/>
                </a:solidFill>
                <a:latin typeface="Lato"/>
                <a:ea typeface="Lato"/>
                <a:cs typeface="Lato"/>
              </a:defRPr>
            </a:pPr>
            <a:r>
              <a:rPr sz="1350" b="1" i="0">
                <a:solidFill>
                  <a:srgbClr val="687984"/>
                </a:solidFill>
                <a:latin typeface="Lato"/>
                <a:ea typeface="Lato"/>
                <a:cs typeface="Lato"/>
              </a:rPr>
              <a:t>A projection depends on</a:t>
            </a:r>
          </a:p>
        </p:txBody>
      </p:sp>
      <p:sp>
        <p:nvSpPr>
          <p:cNvPr id="10" name="">
            <a:extLst xmlns:a="http://schemas.openxmlformats.org/drawingml/2006/main">
              <a:ext uri="{FF2B5EF4-FFF2-40B4-BE49-F238E27FC236}">
                <a16:creationId xmlns:a16="http://schemas.microsoft.com/office/drawing/2014/main" id="{BD9D6DCC-4110-41A9-92FC-E6D3359EB655}"/>
              </a:ext>
            </a:extLst>
          </p:cNvPr>
          <p:cNvSpPr>
            <a:spLocks xmlns:a="http://schemas.openxmlformats.org/drawingml/2006/main" noGrp="1"/>
          </p:cNvSpPr>
          <p:nvPr/>
        </p:nvSpPr>
        <p:spPr>
          <a:xfrm xmlns:a="http://schemas.openxmlformats.org/drawingml/2006/main">
            <a:off x="838200" y="2562225"/>
            <a:ext cx="171450" cy="171450"/>
          </a:xfrm>
          <a:prstGeom xmlns:a="http://schemas.openxmlformats.org/drawingml/2006/main" prst="ellipse">
            <a:avLst/>
          </a:prstGeom>
          <a:solidFill xmlns:a="http://schemas.openxmlformats.org/drawingml/2006/main">
            <a:srgbClr val="C95C5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663368-80D9-4A20-8835-AA4805E07623}"/>
              </a:ext>
            </a:extLst>
          </p:cNvPr>
          <p:cNvSpPr>
            <a:spLocks xmlns:a="http://schemas.openxmlformats.org/drawingml/2006/main" noGrp="1"/>
          </p:cNvSpPr>
          <p:nvPr/>
        </p:nvSpPr>
        <p:spPr>
          <a:xfrm xmlns:a="http://schemas.openxmlformats.org/drawingml/2006/main">
            <a:off x="1200150" y="25050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future pathway</a:t>
            </a:r>
          </a:p>
        </p:txBody>
      </p:sp>
      <p:sp>
        <p:nvSpPr>
          <p:cNvPr id="12" name="">
            <a:extLst xmlns:a="http://schemas.openxmlformats.org/drawingml/2006/main">
              <a:ext uri="{FF2B5EF4-FFF2-40B4-BE49-F238E27FC236}">
                <a16:creationId xmlns:a16="http://schemas.microsoft.com/office/drawing/2014/main" id="{D41CD60C-9738-4925-8A91-11CA5D08C866}"/>
              </a:ext>
            </a:extLst>
          </p:cNvPr>
          <p:cNvSpPr>
            <a:spLocks xmlns:a="http://schemas.openxmlformats.org/drawingml/2006/main" noGrp="1"/>
          </p:cNvSpPr>
          <p:nvPr/>
        </p:nvSpPr>
        <p:spPr>
          <a:xfrm xmlns:a="http://schemas.openxmlformats.org/drawingml/2006/main">
            <a:off x="838200" y="3248025"/>
            <a:ext cx="171450" cy="171450"/>
          </a:xfrm>
          <a:prstGeom xmlns:a="http://schemas.openxmlformats.org/drawingml/2006/main" prst="ellipse">
            <a:avLst/>
          </a:prstGeom>
          <a:solidFill xmlns:a="http://schemas.openxmlformats.org/drawingml/2006/main">
            <a:srgbClr val="F2B6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2D43EC-1166-4BF3-94AB-333F38C61F6E}"/>
              </a:ext>
            </a:extLst>
          </p:cNvPr>
          <p:cNvSpPr>
            <a:spLocks xmlns:a="http://schemas.openxmlformats.org/drawingml/2006/main" noGrp="1"/>
          </p:cNvSpPr>
          <p:nvPr/>
        </p:nvSpPr>
        <p:spPr>
          <a:xfrm xmlns:a="http://schemas.openxmlformats.org/drawingml/2006/main">
            <a:off x="1200150" y="31908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model response</a:t>
            </a:r>
          </a:p>
        </p:txBody>
      </p:sp>
      <p:sp>
        <p:nvSpPr>
          <p:cNvPr id="14" name="">
            <a:extLst xmlns:a="http://schemas.openxmlformats.org/drawingml/2006/main">
              <a:ext uri="{FF2B5EF4-FFF2-40B4-BE49-F238E27FC236}">
                <a16:creationId xmlns:a16="http://schemas.microsoft.com/office/drawing/2014/main" id="{3A921B5D-D799-4DC0-B84E-14C79A11B3B8}"/>
              </a:ext>
            </a:extLst>
          </p:cNvPr>
          <p:cNvSpPr>
            <a:spLocks xmlns:a="http://schemas.openxmlformats.org/drawingml/2006/main" noGrp="1"/>
          </p:cNvSpPr>
          <p:nvPr/>
        </p:nvSpPr>
        <p:spPr>
          <a:xfrm xmlns:a="http://schemas.openxmlformats.org/drawingml/2006/main">
            <a:off x="838200" y="3933825"/>
            <a:ext cx="171450" cy="1714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A4231E2-FEF0-4424-887A-706B7B4623AD}"/>
              </a:ext>
            </a:extLst>
          </p:cNvPr>
          <p:cNvSpPr>
            <a:spLocks xmlns:a="http://schemas.openxmlformats.org/drawingml/2006/main" noGrp="1"/>
          </p:cNvSpPr>
          <p:nvPr/>
        </p:nvSpPr>
        <p:spPr>
          <a:xfrm xmlns:a="http://schemas.openxmlformats.org/drawingml/2006/main">
            <a:off x="1200150" y="38766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climate’s internal variability</a:t>
            </a:r>
          </a:p>
        </p:txBody>
      </p:sp>
      <p:sp>
        <p:nvSpPr>
          <p:cNvPr id="16" name="">
            <a:extLst xmlns:a="http://schemas.openxmlformats.org/drawingml/2006/main">
              <a:ext uri="{FF2B5EF4-FFF2-40B4-BE49-F238E27FC236}">
                <a16:creationId xmlns:a16="http://schemas.microsoft.com/office/drawing/2014/main" id="{49AD8093-08E1-4BFE-B446-4E9A298FFE43}"/>
              </a:ext>
            </a:extLst>
          </p:cNvPr>
          <p:cNvSpPr>
            <a:spLocks xmlns:a="http://schemas.openxmlformats.org/drawingml/2006/main" noGrp="1"/>
          </p:cNvSpPr>
          <p:nvPr/>
        </p:nvSpPr>
        <p:spPr>
          <a:xfrm xmlns:a="http://schemas.openxmlformats.org/drawingml/2006/main">
            <a:off x="5619750" y="1762125"/>
            <a:ext cx="9525" cy="3238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A8D758-D730-4ADA-BA2C-D33666FF73A0}"/>
              </a:ext>
            </a:extLst>
          </p:cNvPr>
          <p:cNvSpPr>
            <a:spLocks xmlns:a="http://schemas.openxmlformats.org/drawingml/2006/main" noGrp="1"/>
          </p:cNvSpPr>
          <p:nvPr/>
        </p:nvSpPr>
        <p:spPr>
          <a:xfrm xmlns:a="http://schemas.openxmlformats.org/drawingml/2006/main">
            <a:off x="6191250" y="1952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The range is information</a:t>
            </a:r>
          </a:p>
        </p:txBody>
      </p:sp>
      <p:sp>
        <p:nvSpPr>
          <p:cNvPr id="18" name="">
            <a:extLst xmlns:a="http://schemas.openxmlformats.org/drawingml/2006/main">
              <a:ext uri="{FF2B5EF4-FFF2-40B4-BE49-F238E27FC236}">
                <a16:creationId xmlns:a16="http://schemas.microsoft.com/office/drawing/2014/main" id="{4102C2D1-1976-4460-A2E9-64875FE9F70F}"/>
              </a:ext>
            </a:extLst>
          </p:cNvPr>
          <p:cNvSpPr>
            <a:spLocks xmlns:a="http://schemas.openxmlformats.org/drawingml/2006/main" noGrp="1"/>
          </p:cNvSpPr>
          <p:nvPr/>
        </p:nvSpPr>
        <p:spPr>
          <a:xfrm xmlns:a="http://schemas.openxmlformats.org/drawingml/2006/main">
            <a:off x="6191250" y="26670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687984"/>
                </a:solidFill>
                <a:latin typeface="Lato"/>
                <a:ea typeface="Lato"/>
                <a:cs typeface="Lato"/>
              </a:defRPr>
            </a:pPr>
            <a:r>
              <a:rPr sz="1500" b="0" i="0">
                <a:solidFill>
                  <a:srgbClr val="687984"/>
                </a:solidFill>
                <a:latin typeface="Lato"/>
                <a:ea typeface="Lato"/>
                <a:cs typeface="Lato"/>
              </a:rPr>
              <a:t>Different simulations answer different parts of the uncertainty question. The objective is to identify the source of spread, then use the appropriate ensemble and interpretation.</a:t>
            </a:r>
          </a:p>
        </p:txBody>
      </p:sp>
      <p:sp>
        <p:nvSpPr>
          <p:cNvPr id="19" name="">
            <a:extLst xmlns:a="http://schemas.openxmlformats.org/drawingml/2006/main">
              <a:ext uri="{FF2B5EF4-FFF2-40B4-BE49-F238E27FC236}">
                <a16:creationId xmlns:a16="http://schemas.microsoft.com/office/drawing/2014/main" id="{D4BC7AD3-A9EB-4D73-BBD4-906D5F21882D}"/>
              </a:ext>
            </a:extLst>
          </p:cNvPr>
          <p:cNvSpPr>
            <a:spLocks xmlns:a="http://schemas.openxmlformats.org/drawingml/2006/main" noGrp="1"/>
          </p:cNvSpPr>
          <p:nvPr/>
        </p:nvSpPr>
        <p:spPr>
          <a:xfrm xmlns:a="http://schemas.openxmlformats.org/drawingml/2006/main">
            <a:off x="6191250" y="4400550"/>
            <a:ext cx="4429125" cy="6858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E007387-A02C-4D9D-86CA-1C7656D9D592}"/>
              </a:ext>
            </a:extLst>
          </p:cNvPr>
          <p:cNvSpPr>
            <a:spLocks xmlns:a="http://schemas.openxmlformats.org/drawingml/2006/main" noGrp="1"/>
          </p:cNvSpPr>
          <p:nvPr/>
        </p:nvSpPr>
        <p:spPr>
          <a:xfrm xmlns:a="http://schemas.openxmlformats.org/drawingml/2006/main">
            <a:off x="6457950" y="457200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34"/>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Uncertainty is structured. It should be separated, sampled and communicated.</a:t>
            </a:r>
          </a:p>
        </p:txBody>
      </p:sp>
    </p:spTree>
    <p:extLst>
      <p:ext uri="{BB962C8B-B14F-4D97-AF65-F5344CB8AC3E}">
        <p14:creationId xmlns:p14="http://schemas.microsoft.com/office/powerpoint/2010/main" val="1059243979"/>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27442D-0AF7-475C-98A5-5A5E6BA598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18A9D-F499-4DBB-8147-1985A6B691B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Three main sources of projection uncertainty</a:t>
            </a:r>
          </a:p>
        </p:txBody>
      </p:sp>
      <p:sp>
        <p:nvSpPr>
          <p:cNvPr id="3" name="">
            <a:extLst xmlns:a="http://schemas.openxmlformats.org/drawingml/2006/main">
              <a:ext uri="{FF2B5EF4-FFF2-40B4-BE49-F238E27FC236}">
                <a16:creationId xmlns:a16="http://schemas.microsoft.com/office/drawing/2014/main" id="{B91029EE-14C0-4CE3-AE42-40ECF0F148F5}"/>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categories require different experiments and different responses</a:t>
            </a:r>
          </a:p>
        </p:txBody>
      </p:sp>
      <p:sp>
        <p:nvSpPr>
          <p:cNvPr id="4" name="">
            <a:extLst xmlns:a="http://schemas.openxmlformats.org/drawingml/2006/main">
              <a:ext uri="{FF2B5EF4-FFF2-40B4-BE49-F238E27FC236}">
                <a16:creationId xmlns:a16="http://schemas.microsoft.com/office/drawing/2014/main" id="{4CB00589-377E-4521-8B10-BF617557301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C0D922-71F8-4188-8C62-B680D0F9370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496BE8-4A56-4EA2-984B-FC6EADD4BC4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F2372D-1C08-4685-8C88-A7DF423F344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D663D009-1DA9-41C2-8EB0-6C107457AA6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9" name="">
            <a:extLst xmlns:a="http://schemas.openxmlformats.org/drawingml/2006/main">
              <a:ext uri="{FF2B5EF4-FFF2-40B4-BE49-F238E27FC236}">
                <a16:creationId xmlns:a16="http://schemas.microsoft.com/office/drawing/2014/main" id="{E295FCE5-8523-442D-9556-ADC4D9B09FD8}"/>
              </a:ext>
            </a:extLst>
          </p:cNvPr>
          <p:cNvSpPr>
            <a:spLocks xmlns:a="http://schemas.openxmlformats.org/drawingml/2006/main" noGrp="1"/>
          </p:cNvSpPr>
          <p:nvPr/>
        </p:nvSpPr>
        <p:spPr>
          <a:xfrm xmlns:a="http://schemas.openxmlformats.org/drawingml/2006/main">
            <a:off x="742950" y="1857375"/>
            <a:ext cx="3333750" cy="9525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3EB35F-8427-4E20-983D-9EF4794B73F4}"/>
              </a:ext>
            </a:extLst>
          </p:cNvPr>
          <p:cNvSpPr>
            <a:spLocks xmlns:a="http://schemas.openxmlformats.org/drawingml/2006/main" noGrp="1"/>
          </p:cNvSpPr>
          <p:nvPr/>
        </p:nvSpPr>
        <p:spPr>
          <a:xfrm xmlns:a="http://schemas.openxmlformats.org/drawingml/2006/main">
            <a:off x="7429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C95C54"/>
                </a:solidFill>
                <a:latin typeface="Lato"/>
                <a:ea typeface="Lato"/>
                <a:cs typeface="Lato"/>
              </a:defRPr>
            </a:pPr>
            <a:r>
              <a:rPr sz="1125" b="1" i="0">
                <a:solidFill>
                  <a:srgbClr val="C95C54"/>
                </a:solidFill>
                <a:latin typeface="Lato"/>
                <a:ea typeface="Lato"/>
                <a:cs typeface="Lato"/>
              </a:rPr>
              <a:t>SCENARIO</a:t>
            </a:r>
          </a:p>
        </p:txBody>
      </p:sp>
      <p:sp>
        <p:nvSpPr>
          <p:cNvPr id="11" name="">
            <a:extLst xmlns:a="http://schemas.openxmlformats.org/drawingml/2006/main">
              <a:ext uri="{FF2B5EF4-FFF2-40B4-BE49-F238E27FC236}">
                <a16:creationId xmlns:a16="http://schemas.microsoft.com/office/drawing/2014/main" id="{A897BF7F-D116-44B6-9EBC-1468B5D05790}"/>
              </a:ext>
            </a:extLst>
          </p:cNvPr>
          <p:cNvSpPr>
            <a:spLocks xmlns:a="http://schemas.openxmlformats.org/drawingml/2006/main" noGrp="1"/>
          </p:cNvSpPr>
          <p:nvPr/>
        </p:nvSpPr>
        <p:spPr>
          <a:xfrm xmlns:a="http://schemas.openxmlformats.org/drawingml/2006/main">
            <a:off x="7429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Future emissions and other external forcing</a:t>
            </a:r>
          </a:p>
        </p:txBody>
      </p:sp>
      <p:sp>
        <p:nvSpPr>
          <p:cNvPr id="12" name="">
            <a:extLst xmlns:a="http://schemas.openxmlformats.org/drawingml/2006/main">
              <a:ext uri="{FF2B5EF4-FFF2-40B4-BE49-F238E27FC236}">
                <a16:creationId xmlns:a16="http://schemas.microsoft.com/office/drawing/2014/main" id="{84E8B550-DA48-4183-A69A-342F1DE152D4}"/>
              </a:ext>
            </a:extLst>
          </p:cNvPr>
          <p:cNvSpPr>
            <a:spLocks xmlns:a="http://schemas.openxmlformats.org/drawingml/2006/main" noGrp="1"/>
          </p:cNvSpPr>
          <p:nvPr/>
        </p:nvSpPr>
        <p:spPr>
          <a:xfrm xmlns:a="http://schemas.openxmlformats.org/drawingml/2006/main">
            <a:off x="742950" y="3752850"/>
            <a:ext cx="3333750" cy="1000125"/>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A0184C-F04D-4DC7-8676-750752240512}"/>
              </a:ext>
            </a:extLst>
          </p:cNvPr>
          <p:cNvSpPr>
            <a:spLocks xmlns:a="http://schemas.openxmlformats.org/drawingml/2006/main" noGrp="1"/>
          </p:cNvSpPr>
          <p:nvPr/>
        </p:nvSpPr>
        <p:spPr>
          <a:xfrm xmlns:a="http://schemas.openxmlformats.org/drawingml/2006/main">
            <a:off x="9334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5C54"/>
                </a:solidFill>
                <a:latin typeface="Lato"/>
                <a:ea typeface="Lato"/>
                <a:cs typeface="Lato"/>
              </a:defRPr>
            </a:pPr>
            <a:r>
              <a:rPr sz="900" b="1" i="0">
                <a:solidFill>
                  <a:srgbClr val="C95C54"/>
                </a:solidFill>
                <a:latin typeface="Lato"/>
                <a:ea typeface="Lato"/>
                <a:cs typeface="Lato"/>
              </a:rPr>
              <a:t>HOW TO SAMPLE IT</a:t>
            </a:r>
          </a:p>
        </p:txBody>
      </p:sp>
      <p:sp>
        <p:nvSpPr>
          <p:cNvPr id="14" name="">
            <a:extLst xmlns:a="http://schemas.openxmlformats.org/drawingml/2006/main">
              <a:ext uri="{FF2B5EF4-FFF2-40B4-BE49-F238E27FC236}">
                <a16:creationId xmlns:a16="http://schemas.microsoft.com/office/drawing/2014/main" id="{D98F68EC-5AEC-4394-82C3-1E34D129F1A8}"/>
              </a:ext>
            </a:extLst>
          </p:cNvPr>
          <p:cNvSpPr>
            <a:spLocks xmlns:a="http://schemas.openxmlformats.org/drawingml/2006/main" noGrp="1"/>
          </p:cNvSpPr>
          <p:nvPr/>
        </p:nvSpPr>
        <p:spPr>
          <a:xfrm xmlns:a="http://schemas.openxmlformats.org/drawingml/2006/main">
            <a:off x="9334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Run more than one plausible pathway</a:t>
            </a:r>
          </a:p>
        </p:txBody>
      </p:sp>
      <p:sp>
        <p:nvSpPr>
          <p:cNvPr id="15" name="">
            <a:extLst xmlns:a="http://schemas.openxmlformats.org/drawingml/2006/main">
              <a:ext uri="{FF2B5EF4-FFF2-40B4-BE49-F238E27FC236}">
                <a16:creationId xmlns:a16="http://schemas.microsoft.com/office/drawing/2014/main" id="{2F49AFD6-62DE-455E-A7DC-F7A8BA59DC1E}"/>
              </a:ext>
            </a:extLst>
          </p:cNvPr>
          <p:cNvSpPr>
            <a:spLocks xmlns:a="http://schemas.openxmlformats.org/drawingml/2006/main" noGrp="1"/>
          </p:cNvSpPr>
          <p:nvPr/>
        </p:nvSpPr>
        <p:spPr>
          <a:xfrm xmlns:a="http://schemas.openxmlformats.org/drawingml/2006/main">
            <a:off x="4457700" y="1857375"/>
            <a:ext cx="3333750" cy="9525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9F5681-D7FE-44C8-8AE6-2E851CFE41F9}"/>
              </a:ext>
            </a:extLst>
          </p:cNvPr>
          <p:cNvSpPr>
            <a:spLocks xmlns:a="http://schemas.openxmlformats.org/drawingml/2006/main" noGrp="1"/>
          </p:cNvSpPr>
          <p:nvPr/>
        </p:nvSpPr>
        <p:spPr>
          <a:xfrm xmlns:a="http://schemas.openxmlformats.org/drawingml/2006/main">
            <a:off x="445770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MODEL RESPONSE</a:t>
            </a:r>
          </a:p>
        </p:txBody>
      </p:sp>
      <p:sp>
        <p:nvSpPr>
          <p:cNvPr id="17" name="">
            <a:extLst xmlns:a="http://schemas.openxmlformats.org/drawingml/2006/main">
              <a:ext uri="{FF2B5EF4-FFF2-40B4-BE49-F238E27FC236}">
                <a16:creationId xmlns:a16="http://schemas.microsoft.com/office/drawing/2014/main" id="{080AC8ED-2ADE-4149-9F5E-ADCB59BB6465}"/>
              </a:ext>
            </a:extLst>
          </p:cNvPr>
          <p:cNvSpPr>
            <a:spLocks xmlns:a="http://schemas.openxmlformats.org/drawingml/2006/main" noGrp="1"/>
          </p:cNvSpPr>
          <p:nvPr/>
        </p:nvSpPr>
        <p:spPr>
          <a:xfrm xmlns:a="http://schemas.openxmlformats.org/drawingml/2006/main">
            <a:off x="445770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Different representations of climate processes</a:t>
            </a:r>
          </a:p>
        </p:txBody>
      </p:sp>
      <p:sp>
        <p:nvSpPr>
          <p:cNvPr id="18" name="">
            <a:extLst xmlns:a="http://schemas.openxmlformats.org/drawingml/2006/main">
              <a:ext uri="{FF2B5EF4-FFF2-40B4-BE49-F238E27FC236}">
                <a16:creationId xmlns:a16="http://schemas.microsoft.com/office/drawing/2014/main" id="{8800852C-7322-4305-9080-503F7FC77BCE}"/>
              </a:ext>
            </a:extLst>
          </p:cNvPr>
          <p:cNvSpPr>
            <a:spLocks xmlns:a="http://schemas.openxmlformats.org/drawingml/2006/main" noGrp="1"/>
          </p:cNvSpPr>
          <p:nvPr/>
        </p:nvSpPr>
        <p:spPr>
          <a:xfrm xmlns:a="http://schemas.openxmlformats.org/drawingml/2006/main">
            <a:off x="4457700" y="3752850"/>
            <a:ext cx="3333750" cy="1000125"/>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1D5C56-EA68-44CB-845D-215C1C7536F9}"/>
              </a:ext>
            </a:extLst>
          </p:cNvPr>
          <p:cNvSpPr>
            <a:spLocks xmlns:a="http://schemas.openxmlformats.org/drawingml/2006/main" noGrp="1"/>
          </p:cNvSpPr>
          <p:nvPr/>
        </p:nvSpPr>
        <p:spPr>
          <a:xfrm xmlns:a="http://schemas.openxmlformats.org/drawingml/2006/main">
            <a:off x="464820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HOW TO SAMPLE IT</a:t>
            </a:r>
          </a:p>
        </p:txBody>
      </p:sp>
      <p:sp>
        <p:nvSpPr>
          <p:cNvPr id="20" name="">
            <a:extLst xmlns:a="http://schemas.openxmlformats.org/drawingml/2006/main">
              <a:ext uri="{FF2B5EF4-FFF2-40B4-BE49-F238E27FC236}">
                <a16:creationId xmlns:a16="http://schemas.microsoft.com/office/drawing/2014/main" id="{37A3E029-BA8B-4138-82B5-773A057C323F}"/>
              </a:ext>
            </a:extLst>
          </p:cNvPr>
          <p:cNvSpPr>
            <a:spLocks xmlns:a="http://schemas.openxmlformats.org/drawingml/2006/main" noGrp="1"/>
          </p:cNvSpPr>
          <p:nvPr/>
        </p:nvSpPr>
        <p:spPr>
          <a:xfrm xmlns:a="http://schemas.openxmlformats.org/drawingml/2006/main">
            <a:off x="464820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238"/>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Compare models and evaluate relevant processes</a:t>
            </a:r>
          </a:p>
        </p:txBody>
      </p:sp>
      <p:sp>
        <p:nvSpPr>
          <p:cNvPr id="21" name="">
            <a:extLst xmlns:a="http://schemas.openxmlformats.org/drawingml/2006/main">
              <a:ext uri="{FF2B5EF4-FFF2-40B4-BE49-F238E27FC236}">
                <a16:creationId xmlns:a16="http://schemas.microsoft.com/office/drawing/2014/main" id="{C5B2BB28-1800-470F-9E2C-D34A6FDC6CCF}"/>
              </a:ext>
            </a:extLst>
          </p:cNvPr>
          <p:cNvSpPr>
            <a:spLocks xmlns:a="http://schemas.openxmlformats.org/drawingml/2006/main" noGrp="1"/>
          </p:cNvSpPr>
          <p:nvPr/>
        </p:nvSpPr>
        <p:spPr>
          <a:xfrm xmlns:a="http://schemas.openxmlformats.org/drawingml/2006/main">
            <a:off x="8172450" y="1857375"/>
            <a:ext cx="3333750" cy="9525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4E766C-4CA4-441D-B421-ACAA15869B60}"/>
              </a:ext>
            </a:extLst>
          </p:cNvPr>
          <p:cNvSpPr>
            <a:spLocks xmlns:a="http://schemas.openxmlformats.org/drawingml/2006/main" noGrp="1"/>
          </p:cNvSpPr>
          <p:nvPr/>
        </p:nvSpPr>
        <p:spPr>
          <a:xfrm xmlns:a="http://schemas.openxmlformats.org/drawingml/2006/main">
            <a:off x="81724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INTERNAL VARIABILITY</a:t>
            </a:r>
          </a:p>
        </p:txBody>
      </p:sp>
      <p:sp>
        <p:nvSpPr>
          <p:cNvPr id="23" name="">
            <a:extLst xmlns:a="http://schemas.openxmlformats.org/drawingml/2006/main">
              <a:ext uri="{FF2B5EF4-FFF2-40B4-BE49-F238E27FC236}">
                <a16:creationId xmlns:a16="http://schemas.microsoft.com/office/drawing/2014/main" id="{A55B9F51-AB2F-4D86-BC72-60185AAEA893}"/>
              </a:ext>
            </a:extLst>
          </p:cNvPr>
          <p:cNvSpPr>
            <a:spLocks xmlns:a="http://schemas.openxmlformats.org/drawingml/2006/main" noGrp="1"/>
          </p:cNvSpPr>
          <p:nvPr/>
        </p:nvSpPr>
        <p:spPr>
          <a:xfrm xmlns:a="http://schemas.openxmlformats.org/drawingml/2006/main">
            <a:off x="81724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Chaotic fluctuations within the climate system</a:t>
            </a:r>
          </a:p>
        </p:txBody>
      </p:sp>
      <p:sp>
        <p:nvSpPr>
          <p:cNvPr id="24" name="">
            <a:extLst xmlns:a="http://schemas.openxmlformats.org/drawingml/2006/main">
              <a:ext uri="{FF2B5EF4-FFF2-40B4-BE49-F238E27FC236}">
                <a16:creationId xmlns:a16="http://schemas.microsoft.com/office/drawing/2014/main" id="{773A66A7-5428-4E24-B24E-18DE6EE9A678}"/>
              </a:ext>
            </a:extLst>
          </p:cNvPr>
          <p:cNvSpPr>
            <a:spLocks xmlns:a="http://schemas.openxmlformats.org/drawingml/2006/main" noGrp="1"/>
          </p:cNvSpPr>
          <p:nvPr/>
        </p:nvSpPr>
        <p:spPr>
          <a:xfrm xmlns:a="http://schemas.openxmlformats.org/drawingml/2006/main">
            <a:off x="8172450" y="3752850"/>
            <a:ext cx="3333750" cy="1000125"/>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9B7CE1-F80B-4B21-9D3B-5B2D131F32BB}"/>
              </a:ext>
            </a:extLst>
          </p:cNvPr>
          <p:cNvSpPr>
            <a:spLocks xmlns:a="http://schemas.openxmlformats.org/drawingml/2006/main" noGrp="1"/>
          </p:cNvSpPr>
          <p:nvPr/>
        </p:nvSpPr>
        <p:spPr>
          <a:xfrm xmlns:a="http://schemas.openxmlformats.org/drawingml/2006/main">
            <a:off x="83629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HOW TO SAMPLE IT</a:t>
            </a:r>
          </a:p>
        </p:txBody>
      </p:sp>
      <p:sp>
        <p:nvSpPr>
          <p:cNvPr id="26" name="">
            <a:extLst xmlns:a="http://schemas.openxmlformats.org/drawingml/2006/main">
              <a:ext uri="{FF2B5EF4-FFF2-40B4-BE49-F238E27FC236}">
                <a16:creationId xmlns:a16="http://schemas.microsoft.com/office/drawing/2014/main" id="{13C5AA1F-7D55-43DD-BBF8-0B36242BAAB5}"/>
              </a:ext>
            </a:extLst>
          </p:cNvPr>
          <p:cNvSpPr>
            <a:spLocks xmlns:a="http://schemas.openxmlformats.org/drawingml/2006/main" noGrp="1"/>
          </p:cNvSpPr>
          <p:nvPr/>
        </p:nvSpPr>
        <p:spPr>
          <a:xfrm xmlns:a="http://schemas.openxmlformats.org/drawingml/2006/main">
            <a:off x="83629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Use multiple initial-condition runs</a:t>
            </a:r>
          </a:p>
        </p:txBody>
      </p:sp>
      <p:sp>
        <p:nvSpPr>
          <p:cNvPr id="27" name="">
            <a:extLst xmlns:a="http://schemas.openxmlformats.org/drawingml/2006/main">
              <a:ext uri="{FF2B5EF4-FFF2-40B4-BE49-F238E27FC236}">
                <a16:creationId xmlns:a16="http://schemas.microsoft.com/office/drawing/2014/main" id="{AC660E26-DEE7-4275-8B93-48351741AC21}"/>
              </a:ext>
            </a:extLst>
          </p:cNvPr>
          <p:cNvSpPr>
            <a:spLocks xmlns:a="http://schemas.openxmlformats.org/drawingml/2006/main" noGrp="1"/>
          </p:cNvSpPr>
          <p:nvPr/>
        </p:nvSpPr>
        <p:spPr>
          <a:xfrm xmlns:a="http://schemas.openxmlformats.org/drawingml/2006/main">
            <a:off x="1047750" y="5286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Their relative importance changes with variable, region, scale and lead time.</a:t>
            </a:r>
          </a:p>
        </p:txBody>
      </p:sp>
    </p:spTree>
    <p:extLst>
      <p:ext uri="{BB962C8B-B14F-4D97-AF65-F5344CB8AC3E}">
        <p14:creationId xmlns:p14="http://schemas.microsoft.com/office/powerpoint/2010/main" val="113749538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B5FE202-706D-4DE3-A942-7CE3685DD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DE145A-B8FB-470E-965F-E93193C2558A}"/>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Internal variability</a:t>
            </a:r>
          </a:p>
        </p:txBody>
      </p:sp>
      <p:sp>
        <p:nvSpPr>
          <p:cNvPr id="3" name="">
            <a:extLst xmlns:a="http://schemas.openxmlformats.org/drawingml/2006/main">
              <a:ext uri="{FF2B5EF4-FFF2-40B4-BE49-F238E27FC236}">
                <a16:creationId xmlns:a16="http://schemas.microsoft.com/office/drawing/2014/main" id="{74A4E0C7-0551-41D8-A6C7-971E4FF80E5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same model and scenario can produce different regional sequences from different initial states</a:t>
            </a:r>
          </a:p>
        </p:txBody>
      </p:sp>
      <p:sp>
        <p:nvSpPr>
          <p:cNvPr id="4" name="">
            <a:extLst xmlns:a="http://schemas.openxmlformats.org/drawingml/2006/main">
              <a:ext uri="{FF2B5EF4-FFF2-40B4-BE49-F238E27FC236}">
                <a16:creationId xmlns:a16="http://schemas.microsoft.com/office/drawing/2014/main" id="{BC4C46A9-89FB-4386-A12B-3B2B48F8855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AC23A4-29E0-450B-AA31-B5BA60CE11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98BE1F-C98B-4837-9A11-D69D4C5F9A8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9570D8-E9CF-4977-AE7A-28E08C3E88C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7A13376-E1E6-4CEC-8EFA-59C213E75FA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12</a:t>
            </a:r>
          </a:p>
        </p:txBody>
      </p:sp>
      <p:sp>
        <p:nvSpPr>
          <p:cNvPr id="9" name="">
            <a:extLst xmlns:a="http://schemas.openxmlformats.org/drawingml/2006/main">
              <a:ext uri="{FF2B5EF4-FFF2-40B4-BE49-F238E27FC236}">
                <a16:creationId xmlns:a16="http://schemas.microsoft.com/office/drawing/2014/main" id="{86686898-4E49-4DC4-ADCA-A87EB394933E}"/>
              </a:ext>
            </a:extLst>
          </p:cNvPr>
          <p:cNvSpPr>
            <a:spLocks xmlns:a="http://schemas.openxmlformats.org/drawingml/2006/main" noGrp="1"/>
          </p:cNvSpPr>
          <p:nvPr/>
        </p:nvSpPr>
        <p:spPr>
          <a:xfrm xmlns:a="http://schemas.openxmlformats.org/drawingml/2006/main">
            <a:off x="742950" y="1809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MODEL</a:t>
            </a:r>
          </a:p>
        </p:txBody>
      </p:sp>
      <p:sp>
        <p:nvSpPr>
          <p:cNvPr id="10" name="">
            <a:extLst xmlns:a="http://schemas.openxmlformats.org/drawingml/2006/main">
              <a:ext uri="{FF2B5EF4-FFF2-40B4-BE49-F238E27FC236}">
                <a16:creationId xmlns:a16="http://schemas.microsoft.com/office/drawing/2014/main" id="{DEBE4909-7885-437E-AF15-DB6DCAE5D775}"/>
              </a:ext>
            </a:extLst>
          </p:cNvPr>
          <p:cNvSpPr>
            <a:spLocks xmlns:a="http://schemas.openxmlformats.org/drawingml/2006/main" noGrp="1"/>
          </p:cNvSpPr>
          <p:nvPr/>
        </p:nvSpPr>
        <p:spPr>
          <a:xfrm xmlns:a="http://schemas.openxmlformats.org/drawingml/2006/main">
            <a:off x="742950" y="2114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SCENARIO</a:t>
            </a:r>
          </a:p>
        </p:txBody>
      </p:sp>
      <p:sp>
        <p:nvSpPr>
          <p:cNvPr id="11" name="">
            <a:extLst xmlns:a="http://schemas.openxmlformats.org/drawingml/2006/main">
              <a:ext uri="{FF2B5EF4-FFF2-40B4-BE49-F238E27FC236}">
                <a16:creationId xmlns:a16="http://schemas.microsoft.com/office/drawing/2014/main" id="{F22117EB-EE54-4826-9042-F0180B273FCB}"/>
              </a:ext>
            </a:extLst>
          </p:cNvPr>
          <p:cNvSpPr>
            <a:spLocks xmlns:a="http://schemas.openxmlformats.org/drawingml/2006/main" noGrp="1"/>
          </p:cNvSpPr>
          <p:nvPr/>
        </p:nvSpPr>
        <p:spPr>
          <a:xfrm xmlns:a="http://schemas.openxmlformats.org/drawingml/2006/main">
            <a:off x="742950" y="2419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DIFFERENT INITIAL CONDITIONS</a:t>
            </a:r>
          </a:p>
        </p:txBody>
      </p:sp>
      <p:sp>
        <p:nvSpPr>
          <p:cNvPr id="12" name="">
            <a:extLst xmlns:a="http://schemas.openxmlformats.org/drawingml/2006/main">
              <a:ext uri="{FF2B5EF4-FFF2-40B4-BE49-F238E27FC236}">
                <a16:creationId xmlns:a16="http://schemas.microsoft.com/office/drawing/2014/main" id="{BE71A9CB-8C9B-4122-AF31-9D53BC546C07}"/>
              </a:ext>
            </a:extLst>
          </p:cNvPr>
          <p:cNvSpPr>
            <a:spLocks xmlns:a="http://schemas.openxmlformats.org/drawingml/2006/main" noGrp="1"/>
          </p:cNvSpPr>
          <p:nvPr/>
        </p:nvSpPr>
        <p:spPr>
          <a:xfrm xmlns:a="http://schemas.openxmlformats.org/drawingml/2006/main">
            <a:off x="3429000" y="2095500"/>
            <a:ext cx="9525" cy="2571750"/>
          </a:xfrm>
          <a:custGeom xmlns:a="http://schemas.openxmlformats.org/drawingml/2006/main">
            <a:pathLst>
              <a:path w="9525" h="2571750">
                <a:moveTo>
                  <a:pt x="0" y="0"/>
                </a:moveTo>
                <a:lnTo>
                  <a:pt x="0" y="2571750"/>
                </a:lnTo>
              </a:path>
            </a:pathLst>
          </a:custGeom>
          <a:noFill xmlns:a="http://schemas.openxmlformats.org/drawingml/2006/main"/>
          <a:ln xmlns:a="http://schemas.openxmlformats.org/drawingml/2006/main" w="9525">
            <a:solidFill>
              <a:srgbClr val="DCE5E2"/>
            </a:solidFill>
            <a:prstDash val="solid"/>
          </a:ln>
        </p:spPr>
      </p:sp>
      <p:sp>
        <p:nvSpPr>
          <p:cNvPr id="13" name="">
            <a:extLst xmlns:a="http://schemas.openxmlformats.org/drawingml/2006/main">
              <a:ext uri="{FF2B5EF4-FFF2-40B4-BE49-F238E27FC236}">
                <a16:creationId xmlns:a16="http://schemas.microsoft.com/office/drawing/2014/main" id="{EBADC652-40F6-4CA7-A640-E82CE94E1F60}"/>
              </a:ext>
            </a:extLst>
          </p:cNvPr>
          <p:cNvSpPr>
            <a:spLocks xmlns:a="http://schemas.openxmlformats.org/drawingml/2006/main" noGrp="1"/>
          </p:cNvSpPr>
          <p:nvPr/>
        </p:nvSpPr>
        <p:spPr>
          <a:xfrm xmlns:a="http://schemas.openxmlformats.org/drawingml/2006/main">
            <a:off x="3429000" y="4667250"/>
            <a:ext cx="7219950" cy="9525"/>
          </a:xfrm>
          <a:custGeom xmlns:a="http://schemas.openxmlformats.org/drawingml/2006/main">
            <a:pathLst>
              <a:path w="7219950" h="9525">
                <a:moveTo>
                  <a:pt x="0" y="0"/>
                </a:moveTo>
                <a:lnTo>
                  <a:pt x="7219950" y="0"/>
                </a:lnTo>
              </a:path>
            </a:pathLst>
          </a:custGeom>
          <a:noFill xmlns:a="http://schemas.openxmlformats.org/drawingml/2006/main"/>
          <a:ln xmlns:a="http://schemas.openxmlformats.org/drawingml/2006/main" w="9525">
            <a:solidFill>
              <a:srgbClr val="DCE5E2"/>
            </a:solidFill>
            <a:prstDash val="solid"/>
          </a:ln>
        </p:spPr>
      </p:sp>
      <p:sp>
        <p:nvSpPr>
          <p:cNvPr id="14" name="">
            <a:extLst xmlns:a="http://schemas.openxmlformats.org/drawingml/2006/main">
              <a:ext uri="{FF2B5EF4-FFF2-40B4-BE49-F238E27FC236}">
                <a16:creationId xmlns:a16="http://schemas.microsoft.com/office/drawing/2014/main" id="{18AED12B-08E9-4450-A797-31A1E8D63DDE}"/>
              </a:ext>
            </a:extLst>
          </p:cNvPr>
          <p:cNvSpPr>
            <a:spLocks xmlns:a="http://schemas.openxmlformats.org/drawingml/2006/main" noGrp="1"/>
          </p:cNvSpPr>
          <p:nvPr/>
        </p:nvSpPr>
        <p:spPr>
          <a:xfrm xmlns:a="http://schemas.openxmlformats.org/drawingml/2006/main">
            <a:off x="3429000" y="3429000"/>
            <a:ext cx="1524000" cy="476250"/>
          </a:xfrm>
          <a:custGeom xmlns:a="http://schemas.openxmlformats.org/drawingml/2006/main">
            <a:pathLst>
              <a:path w="1524000" h="476250">
                <a:moveTo>
                  <a:pt x="0" y="476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5" name="">
            <a:extLst xmlns:a="http://schemas.openxmlformats.org/drawingml/2006/main">
              <a:ext uri="{FF2B5EF4-FFF2-40B4-BE49-F238E27FC236}">
                <a16:creationId xmlns:a16="http://schemas.microsoft.com/office/drawing/2014/main" id="{B0773B25-BF0F-413E-9310-8BC6442FD20E}"/>
              </a:ext>
            </a:extLst>
          </p:cNvPr>
          <p:cNvSpPr>
            <a:spLocks xmlns:a="http://schemas.openxmlformats.org/drawingml/2006/main" noGrp="1"/>
          </p:cNvSpPr>
          <p:nvPr/>
        </p:nvSpPr>
        <p:spPr>
          <a:xfrm xmlns:a="http://schemas.openxmlformats.org/drawingml/2006/main">
            <a:off x="4953000" y="3429000"/>
            <a:ext cx="1524000" cy="285750"/>
          </a:xfrm>
          <a:custGeom xmlns:a="http://schemas.openxmlformats.org/drawingml/2006/main">
            <a:pathLst>
              <a:path w="1524000" h="285750">
                <a:moveTo>
                  <a:pt x="0" y="0"/>
                </a:moveTo>
                <a:lnTo>
                  <a:pt x="1524000" y="285750"/>
                </a:lnTo>
              </a:path>
            </a:pathLst>
          </a:custGeom>
          <a:noFill xmlns:a="http://schemas.openxmlformats.org/drawingml/2006/main"/>
          <a:ln xmlns:a="http://schemas.openxmlformats.org/drawingml/2006/main" w="28575">
            <a:solidFill>
              <a:srgbClr val="008D7A"/>
            </a:solidFill>
            <a:prstDash val="solid"/>
          </a:ln>
        </p:spPr>
      </p:sp>
      <p:sp>
        <p:nvSpPr>
          <p:cNvPr id="16" name="">
            <a:extLst xmlns:a="http://schemas.openxmlformats.org/drawingml/2006/main">
              <a:ext uri="{FF2B5EF4-FFF2-40B4-BE49-F238E27FC236}">
                <a16:creationId xmlns:a16="http://schemas.microsoft.com/office/drawing/2014/main" id="{F0677A17-A9BE-4521-B27F-2FFEE8109D43}"/>
              </a:ext>
            </a:extLst>
          </p:cNvPr>
          <p:cNvSpPr>
            <a:spLocks xmlns:a="http://schemas.openxmlformats.org/drawingml/2006/main" noGrp="1"/>
          </p:cNvSpPr>
          <p:nvPr/>
        </p:nvSpPr>
        <p:spPr>
          <a:xfrm xmlns:a="http://schemas.openxmlformats.org/drawingml/2006/main">
            <a:off x="6477000" y="2857500"/>
            <a:ext cx="1524000" cy="857250"/>
          </a:xfrm>
          <a:custGeom xmlns:a="http://schemas.openxmlformats.org/drawingml/2006/main">
            <a:pathLst>
              <a:path w="1524000" h="857250">
                <a:moveTo>
                  <a:pt x="0" y="857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7" name="">
            <a:extLst xmlns:a="http://schemas.openxmlformats.org/drawingml/2006/main">
              <a:ext uri="{FF2B5EF4-FFF2-40B4-BE49-F238E27FC236}">
                <a16:creationId xmlns:a16="http://schemas.microsoft.com/office/drawing/2014/main" id="{742E3F53-BAE7-4D7D-975C-3C8927DEB4E3}"/>
              </a:ext>
            </a:extLst>
          </p:cNvPr>
          <p:cNvSpPr>
            <a:spLocks xmlns:a="http://schemas.openxmlformats.org/drawingml/2006/main" noGrp="1"/>
          </p:cNvSpPr>
          <p:nvPr/>
        </p:nvSpPr>
        <p:spPr>
          <a:xfrm xmlns:a="http://schemas.openxmlformats.org/drawingml/2006/main">
            <a:off x="8001000" y="261937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8" name="">
            <a:extLst xmlns:a="http://schemas.openxmlformats.org/drawingml/2006/main">
              <a:ext uri="{FF2B5EF4-FFF2-40B4-BE49-F238E27FC236}">
                <a16:creationId xmlns:a16="http://schemas.microsoft.com/office/drawing/2014/main" id="{2E65EC61-2C0E-479A-A3E2-E007CE6625B0}"/>
              </a:ext>
            </a:extLst>
          </p:cNvPr>
          <p:cNvSpPr>
            <a:spLocks xmlns:a="http://schemas.openxmlformats.org/drawingml/2006/main" noGrp="1"/>
          </p:cNvSpPr>
          <p:nvPr/>
        </p:nvSpPr>
        <p:spPr>
          <a:xfrm xmlns:a="http://schemas.openxmlformats.org/drawingml/2006/main">
            <a:off x="9525000" y="2190750"/>
            <a:ext cx="1123950" cy="428625"/>
          </a:xfrm>
          <a:custGeom xmlns:a="http://schemas.openxmlformats.org/drawingml/2006/main">
            <a:pathLst>
              <a:path w="1123950" h="428625">
                <a:moveTo>
                  <a:pt x="0" y="428625"/>
                </a:moveTo>
                <a:lnTo>
                  <a:pt x="1123950" y="0"/>
                </a:lnTo>
              </a:path>
            </a:pathLst>
          </a:custGeom>
          <a:noFill xmlns:a="http://schemas.openxmlformats.org/drawingml/2006/main"/>
          <a:ln xmlns:a="http://schemas.openxmlformats.org/drawingml/2006/main" w="28575">
            <a:solidFill>
              <a:srgbClr val="008D7A"/>
            </a:solidFill>
            <a:prstDash val="solid"/>
          </a:ln>
        </p:spPr>
      </p:sp>
      <p:sp>
        <p:nvSpPr>
          <p:cNvPr id="19" name="">
            <a:extLst xmlns:a="http://schemas.openxmlformats.org/drawingml/2006/main">
              <a:ext uri="{FF2B5EF4-FFF2-40B4-BE49-F238E27FC236}">
                <a16:creationId xmlns:a16="http://schemas.microsoft.com/office/drawing/2014/main" id="{AD31EA87-FDA0-4B7A-857D-F8B387850BEC}"/>
              </a:ext>
            </a:extLst>
          </p:cNvPr>
          <p:cNvSpPr>
            <a:spLocks xmlns:a="http://schemas.openxmlformats.org/drawingml/2006/main" noGrp="1"/>
          </p:cNvSpPr>
          <p:nvPr/>
        </p:nvSpPr>
        <p:spPr>
          <a:xfrm xmlns:a="http://schemas.openxmlformats.org/drawingml/2006/main">
            <a:off x="3429000" y="39052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0" name="">
            <a:extLst xmlns:a="http://schemas.openxmlformats.org/drawingml/2006/main">
              <a:ext uri="{FF2B5EF4-FFF2-40B4-BE49-F238E27FC236}">
                <a16:creationId xmlns:a16="http://schemas.microsoft.com/office/drawing/2014/main" id="{BA89281C-5D3C-47A5-A1F3-FA3F6A9DDC23}"/>
              </a:ext>
            </a:extLst>
          </p:cNvPr>
          <p:cNvSpPr>
            <a:spLocks xmlns:a="http://schemas.openxmlformats.org/drawingml/2006/main" noGrp="1"/>
          </p:cNvSpPr>
          <p:nvPr/>
        </p:nvSpPr>
        <p:spPr>
          <a:xfrm xmlns:a="http://schemas.openxmlformats.org/drawingml/2006/main">
            <a:off x="4953000" y="3286125"/>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1" name="">
            <a:extLst xmlns:a="http://schemas.openxmlformats.org/drawingml/2006/main">
              <a:ext uri="{FF2B5EF4-FFF2-40B4-BE49-F238E27FC236}">
                <a16:creationId xmlns:a16="http://schemas.microsoft.com/office/drawing/2014/main" id="{37C7B622-1B53-485E-89A4-AC8FA15A3C9B}"/>
              </a:ext>
            </a:extLst>
          </p:cNvPr>
          <p:cNvSpPr>
            <a:spLocks xmlns:a="http://schemas.openxmlformats.org/drawingml/2006/main" noGrp="1"/>
          </p:cNvSpPr>
          <p:nvPr/>
        </p:nvSpPr>
        <p:spPr>
          <a:xfrm xmlns:a="http://schemas.openxmlformats.org/drawingml/2006/main">
            <a:off x="6477000" y="3286125"/>
            <a:ext cx="1524000" cy="190500"/>
          </a:xfrm>
          <a:custGeom xmlns:a="http://schemas.openxmlformats.org/drawingml/2006/main">
            <a:pathLst>
              <a:path w="1524000" h="190500">
                <a:moveTo>
                  <a:pt x="0" y="0"/>
                </a:moveTo>
                <a:lnTo>
                  <a:pt x="1524000" y="190500"/>
                </a:lnTo>
              </a:path>
            </a:pathLst>
          </a:custGeom>
          <a:noFill xmlns:a="http://schemas.openxmlformats.org/drawingml/2006/main"/>
          <a:ln xmlns:a="http://schemas.openxmlformats.org/drawingml/2006/main" w="19050">
            <a:solidFill>
              <a:srgbClr val="8CCFC3"/>
            </a:solidFill>
            <a:prstDash val="solid"/>
          </a:ln>
        </p:spPr>
      </p:sp>
      <p:sp>
        <p:nvSpPr>
          <p:cNvPr id="22" name="">
            <a:extLst xmlns:a="http://schemas.openxmlformats.org/drawingml/2006/main">
              <a:ext uri="{FF2B5EF4-FFF2-40B4-BE49-F238E27FC236}">
                <a16:creationId xmlns:a16="http://schemas.microsoft.com/office/drawing/2014/main" id="{14B9A1EC-E01D-47BF-9594-99D9D45EEFB0}"/>
              </a:ext>
            </a:extLst>
          </p:cNvPr>
          <p:cNvSpPr>
            <a:spLocks xmlns:a="http://schemas.openxmlformats.org/drawingml/2006/main" noGrp="1"/>
          </p:cNvSpPr>
          <p:nvPr/>
        </p:nvSpPr>
        <p:spPr>
          <a:xfrm xmlns:a="http://schemas.openxmlformats.org/drawingml/2006/main">
            <a:off x="8001000" y="2762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3" name="">
            <a:extLst xmlns:a="http://schemas.openxmlformats.org/drawingml/2006/main">
              <a:ext uri="{FF2B5EF4-FFF2-40B4-BE49-F238E27FC236}">
                <a16:creationId xmlns:a16="http://schemas.microsoft.com/office/drawing/2014/main" id="{BC6DD9A6-4DAB-45C1-AEA8-3AB192A5AB25}"/>
              </a:ext>
            </a:extLst>
          </p:cNvPr>
          <p:cNvSpPr>
            <a:spLocks xmlns:a="http://schemas.openxmlformats.org/drawingml/2006/main" noGrp="1"/>
          </p:cNvSpPr>
          <p:nvPr/>
        </p:nvSpPr>
        <p:spPr>
          <a:xfrm xmlns:a="http://schemas.openxmlformats.org/drawingml/2006/main">
            <a:off x="9525000" y="2762250"/>
            <a:ext cx="1123950" cy="238125"/>
          </a:xfrm>
          <a:custGeom xmlns:a="http://schemas.openxmlformats.org/drawingml/2006/main">
            <a:pathLst>
              <a:path w="1123950" h="238125">
                <a:moveTo>
                  <a:pt x="0" y="0"/>
                </a:moveTo>
                <a:lnTo>
                  <a:pt x="1123950" y="238125"/>
                </a:lnTo>
              </a:path>
            </a:pathLst>
          </a:custGeom>
          <a:noFill xmlns:a="http://schemas.openxmlformats.org/drawingml/2006/main"/>
          <a:ln xmlns:a="http://schemas.openxmlformats.org/drawingml/2006/main" w="19050">
            <a:solidFill>
              <a:srgbClr val="8CCFC3"/>
            </a:solidFill>
            <a:prstDash val="solid"/>
          </a:ln>
        </p:spPr>
      </p:sp>
      <p:sp>
        <p:nvSpPr>
          <p:cNvPr id="24" name="">
            <a:extLst xmlns:a="http://schemas.openxmlformats.org/drawingml/2006/main">
              <a:ext uri="{FF2B5EF4-FFF2-40B4-BE49-F238E27FC236}">
                <a16:creationId xmlns:a16="http://schemas.microsoft.com/office/drawing/2014/main" id="{2F8178DC-AB29-4097-AFA7-F126784C76E3}"/>
              </a:ext>
            </a:extLst>
          </p:cNvPr>
          <p:cNvSpPr>
            <a:spLocks xmlns:a="http://schemas.openxmlformats.org/drawingml/2006/main" noGrp="1"/>
          </p:cNvSpPr>
          <p:nvPr/>
        </p:nvSpPr>
        <p:spPr>
          <a:xfrm xmlns:a="http://schemas.openxmlformats.org/drawingml/2006/main">
            <a:off x="3429000" y="366712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5" name="">
            <a:extLst xmlns:a="http://schemas.openxmlformats.org/drawingml/2006/main">
              <a:ext uri="{FF2B5EF4-FFF2-40B4-BE49-F238E27FC236}">
                <a16:creationId xmlns:a16="http://schemas.microsoft.com/office/drawing/2014/main" id="{8C15B3AE-4303-448B-8240-DFC1842AD9CF}"/>
              </a:ext>
            </a:extLst>
          </p:cNvPr>
          <p:cNvSpPr>
            <a:spLocks xmlns:a="http://schemas.openxmlformats.org/drawingml/2006/main" noGrp="1"/>
          </p:cNvSpPr>
          <p:nvPr/>
        </p:nvSpPr>
        <p:spPr>
          <a:xfrm xmlns:a="http://schemas.openxmlformats.org/drawingml/2006/main">
            <a:off x="4953000" y="3667125"/>
            <a:ext cx="1524000" cy="428625"/>
          </a:xfrm>
          <a:custGeom xmlns:a="http://schemas.openxmlformats.org/drawingml/2006/main">
            <a:pathLst>
              <a:path w="1524000" h="428625">
                <a:moveTo>
                  <a:pt x="0" y="0"/>
                </a:moveTo>
                <a:lnTo>
                  <a:pt x="1524000" y="428625"/>
                </a:lnTo>
              </a:path>
            </a:pathLst>
          </a:custGeom>
          <a:noFill xmlns:a="http://schemas.openxmlformats.org/drawingml/2006/main"/>
          <a:ln xmlns:a="http://schemas.openxmlformats.org/drawingml/2006/main" w="19050">
            <a:solidFill>
              <a:srgbClr val="8CCFC3"/>
            </a:solidFill>
            <a:prstDash val="solid"/>
          </a:ln>
        </p:spPr>
      </p:sp>
      <p:sp>
        <p:nvSpPr>
          <p:cNvPr id="26" name="">
            <a:extLst xmlns:a="http://schemas.openxmlformats.org/drawingml/2006/main">
              <a:ext uri="{FF2B5EF4-FFF2-40B4-BE49-F238E27FC236}">
                <a16:creationId xmlns:a16="http://schemas.microsoft.com/office/drawing/2014/main" id="{8781D8D0-E306-4B49-AA9C-275A96747FEC}"/>
              </a:ext>
            </a:extLst>
          </p:cNvPr>
          <p:cNvSpPr>
            <a:spLocks xmlns:a="http://schemas.openxmlformats.org/drawingml/2006/main" noGrp="1"/>
          </p:cNvSpPr>
          <p:nvPr/>
        </p:nvSpPr>
        <p:spPr>
          <a:xfrm xmlns:a="http://schemas.openxmlformats.org/drawingml/2006/main">
            <a:off x="6477000" y="33337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7" name="">
            <a:extLst xmlns:a="http://schemas.openxmlformats.org/drawingml/2006/main">
              <a:ext uri="{FF2B5EF4-FFF2-40B4-BE49-F238E27FC236}">
                <a16:creationId xmlns:a16="http://schemas.microsoft.com/office/drawing/2014/main" id="{8E5482B0-9D4A-40F3-A457-4F887D3C51EF}"/>
              </a:ext>
            </a:extLst>
          </p:cNvPr>
          <p:cNvSpPr>
            <a:spLocks xmlns:a="http://schemas.openxmlformats.org/drawingml/2006/main" noGrp="1"/>
          </p:cNvSpPr>
          <p:nvPr/>
        </p:nvSpPr>
        <p:spPr>
          <a:xfrm xmlns:a="http://schemas.openxmlformats.org/drawingml/2006/main">
            <a:off x="8001000" y="33337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8" name="">
            <a:extLst xmlns:a="http://schemas.openxmlformats.org/drawingml/2006/main">
              <a:ext uri="{FF2B5EF4-FFF2-40B4-BE49-F238E27FC236}">
                <a16:creationId xmlns:a16="http://schemas.microsoft.com/office/drawing/2014/main" id="{0CFD7DBC-F3C8-4086-AE6E-02538BDC5110}"/>
              </a:ext>
            </a:extLst>
          </p:cNvPr>
          <p:cNvSpPr>
            <a:spLocks xmlns:a="http://schemas.openxmlformats.org/drawingml/2006/main" noGrp="1"/>
          </p:cNvSpPr>
          <p:nvPr/>
        </p:nvSpPr>
        <p:spPr>
          <a:xfrm xmlns:a="http://schemas.openxmlformats.org/drawingml/2006/main">
            <a:off x="9525000" y="2714625"/>
            <a:ext cx="1123950" cy="762000"/>
          </a:xfrm>
          <a:custGeom xmlns:a="http://schemas.openxmlformats.org/drawingml/2006/main">
            <a:pathLst>
              <a:path w="1123950" h="762000">
                <a:moveTo>
                  <a:pt x="0" y="762000"/>
                </a:moveTo>
                <a:lnTo>
                  <a:pt x="1123950" y="0"/>
                </a:lnTo>
              </a:path>
            </a:pathLst>
          </a:custGeom>
          <a:noFill xmlns:a="http://schemas.openxmlformats.org/drawingml/2006/main"/>
          <a:ln xmlns:a="http://schemas.openxmlformats.org/drawingml/2006/main" w="19050">
            <a:solidFill>
              <a:srgbClr val="8CCFC3"/>
            </a:solidFill>
            <a:prstDash val="solid"/>
          </a:ln>
        </p:spPr>
      </p:sp>
      <p:sp>
        <p:nvSpPr>
          <p:cNvPr id="29" name="">
            <a:extLst xmlns:a="http://schemas.openxmlformats.org/drawingml/2006/main">
              <a:ext uri="{FF2B5EF4-FFF2-40B4-BE49-F238E27FC236}">
                <a16:creationId xmlns:a16="http://schemas.microsoft.com/office/drawing/2014/main" id="{698B3012-CB92-493E-A30F-A83BEB430BFF}"/>
              </a:ext>
            </a:extLst>
          </p:cNvPr>
          <p:cNvSpPr>
            <a:spLocks xmlns:a="http://schemas.openxmlformats.org/drawingml/2006/main" noGrp="1"/>
          </p:cNvSpPr>
          <p:nvPr/>
        </p:nvSpPr>
        <p:spPr>
          <a:xfrm xmlns:a="http://schemas.openxmlformats.org/drawingml/2006/main">
            <a:off x="3429000" y="31432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0" name="">
            <a:extLst xmlns:a="http://schemas.openxmlformats.org/drawingml/2006/main">
              <a:ext uri="{FF2B5EF4-FFF2-40B4-BE49-F238E27FC236}">
                <a16:creationId xmlns:a16="http://schemas.microsoft.com/office/drawing/2014/main" id="{135F5CDD-B11D-46F3-BE0C-427A30FF742C}"/>
              </a:ext>
            </a:extLst>
          </p:cNvPr>
          <p:cNvSpPr>
            <a:spLocks xmlns:a="http://schemas.openxmlformats.org/drawingml/2006/main" noGrp="1"/>
          </p:cNvSpPr>
          <p:nvPr/>
        </p:nvSpPr>
        <p:spPr>
          <a:xfrm xmlns:a="http://schemas.openxmlformats.org/drawingml/2006/main">
            <a:off x="4953000" y="3143250"/>
            <a:ext cx="1524000" cy="238125"/>
          </a:xfrm>
          <a:custGeom xmlns:a="http://schemas.openxmlformats.org/drawingml/2006/main">
            <a:pathLst>
              <a:path w="1524000" h="238125">
                <a:moveTo>
                  <a:pt x="0" y="0"/>
                </a:moveTo>
                <a:lnTo>
                  <a:pt x="1524000" y="238125"/>
                </a:lnTo>
              </a:path>
            </a:pathLst>
          </a:custGeom>
          <a:noFill xmlns:a="http://schemas.openxmlformats.org/drawingml/2006/main"/>
          <a:ln xmlns:a="http://schemas.openxmlformats.org/drawingml/2006/main" w="19050">
            <a:solidFill>
              <a:srgbClr val="8CCFC3"/>
            </a:solidFill>
            <a:prstDash val="solid"/>
          </a:ln>
        </p:spPr>
      </p:sp>
      <p:sp>
        <p:nvSpPr>
          <p:cNvPr id="31" name="">
            <a:extLst xmlns:a="http://schemas.openxmlformats.org/drawingml/2006/main">
              <a:ext uri="{FF2B5EF4-FFF2-40B4-BE49-F238E27FC236}">
                <a16:creationId xmlns:a16="http://schemas.microsoft.com/office/drawing/2014/main" id="{B347F59E-B56D-4774-AA36-4AED4E2426B6}"/>
              </a:ext>
            </a:extLst>
          </p:cNvPr>
          <p:cNvSpPr>
            <a:spLocks xmlns:a="http://schemas.openxmlformats.org/drawingml/2006/main" noGrp="1"/>
          </p:cNvSpPr>
          <p:nvPr/>
        </p:nvSpPr>
        <p:spPr>
          <a:xfrm xmlns:a="http://schemas.openxmlformats.org/drawingml/2006/main">
            <a:off x="6477000" y="3095625"/>
            <a:ext cx="1524000" cy="285750"/>
          </a:xfrm>
          <a:custGeom xmlns:a="http://schemas.openxmlformats.org/drawingml/2006/main">
            <a:pathLst>
              <a:path w="1524000" h="285750">
                <a:moveTo>
                  <a:pt x="0" y="28575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2" name="">
            <a:extLst xmlns:a="http://schemas.openxmlformats.org/drawingml/2006/main">
              <a:ext uri="{FF2B5EF4-FFF2-40B4-BE49-F238E27FC236}">
                <a16:creationId xmlns:a16="http://schemas.microsoft.com/office/drawing/2014/main" id="{3A9FE5FC-6F14-4AB3-9862-2BE1E68D9067}"/>
              </a:ext>
            </a:extLst>
          </p:cNvPr>
          <p:cNvSpPr>
            <a:spLocks xmlns:a="http://schemas.openxmlformats.org/drawingml/2006/main" noGrp="1"/>
          </p:cNvSpPr>
          <p:nvPr/>
        </p:nvSpPr>
        <p:spPr>
          <a:xfrm xmlns:a="http://schemas.openxmlformats.org/drawingml/2006/main">
            <a:off x="8001000" y="2381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3" name="">
            <a:extLst xmlns:a="http://schemas.openxmlformats.org/drawingml/2006/main">
              <a:ext uri="{FF2B5EF4-FFF2-40B4-BE49-F238E27FC236}">
                <a16:creationId xmlns:a16="http://schemas.microsoft.com/office/drawing/2014/main" id="{7FB14BCF-6DF2-43F0-A96C-51056A49AB0D}"/>
              </a:ext>
            </a:extLst>
          </p:cNvPr>
          <p:cNvSpPr>
            <a:spLocks xmlns:a="http://schemas.openxmlformats.org/drawingml/2006/main" noGrp="1"/>
          </p:cNvSpPr>
          <p:nvPr/>
        </p:nvSpPr>
        <p:spPr>
          <a:xfrm xmlns:a="http://schemas.openxmlformats.org/drawingml/2006/main">
            <a:off x="9525000" y="2381250"/>
            <a:ext cx="1123950" cy="95250"/>
          </a:xfrm>
          <a:custGeom xmlns:a="http://schemas.openxmlformats.org/drawingml/2006/main">
            <a:pathLst>
              <a:path w="1123950" h="95250">
                <a:moveTo>
                  <a:pt x="0" y="0"/>
                </a:moveTo>
                <a:lnTo>
                  <a:pt x="1123950" y="95250"/>
                </a:lnTo>
              </a:path>
            </a:pathLst>
          </a:custGeom>
          <a:noFill xmlns:a="http://schemas.openxmlformats.org/drawingml/2006/main"/>
          <a:ln xmlns:a="http://schemas.openxmlformats.org/drawingml/2006/main" w="19050">
            <a:solidFill>
              <a:srgbClr val="8CCFC3"/>
            </a:solidFill>
            <a:prstDash val="solid"/>
          </a:ln>
        </p:spPr>
      </p:sp>
      <p:sp>
        <p:nvSpPr>
          <p:cNvPr id="34" name="">
            <a:extLst xmlns:a="http://schemas.openxmlformats.org/drawingml/2006/main">
              <a:ext uri="{FF2B5EF4-FFF2-40B4-BE49-F238E27FC236}">
                <a16:creationId xmlns:a16="http://schemas.microsoft.com/office/drawing/2014/main" id="{EC81635C-857D-4933-82DB-D8C2D9686339}"/>
              </a:ext>
            </a:extLst>
          </p:cNvPr>
          <p:cNvSpPr>
            <a:spLocks xmlns:a="http://schemas.openxmlformats.org/drawingml/2006/main" noGrp="1"/>
          </p:cNvSpPr>
          <p:nvPr/>
        </p:nvSpPr>
        <p:spPr>
          <a:xfrm xmlns:a="http://schemas.openxmlformats.org/drawingml/2006/main">
            <a:off x="3429000" y="3905250"/>
            <a:ext cx="1524000" cy="381000"/>
          </a:xfrm>
          <a:custGeom xmlns:a="http://schemas.openxmlformats.org/drawingml/2006/main">
            <a:pathLst>
              <a:path w="1524000" h="381000">
                <a:moveTo>
                  <a:pt x="0" y="0"/>
                </a:moveTo>
                <a:lnTo>
                  <a:pt x="1524000" y="381000"/>
                </a:lnTo>
              </a:path>
            </a:pathLst>
          </a:custGeom>
          <a:noFill xmlns:a="http://schemas.openxmlformats.org/drawingml/2006/main"/>
          <a:ln xmlns:a="http://schemas.openxmlformats.org/drawingml/2006/main" w="19050">
            <a:solidFill>
              <a:srgbClr val="8CCFC3"/>
            </a:solidFill>
            <a:prstDash val="solid"/>
          </a:ln>
        </p:spPr>
      </p:sp>
      <p:sp>
        <p:nvSpPr>
          <p:cNvPr id="35" name="">
            <a:extLst xmlns:a="http://schemas.openxmlformats.org/drawingml/2006/main">
              <a:ext uri="{FF2B5EF4-FFF2-40B4-BE49-F238E27FC236}">
                <a16:creationId xmlns:a16="http://schemas.microsoft.com/office/drawing/2014/main" id="{C7920161-56B8-484C-ACFD-251420798D97}"/>
              </a:ext>
            </a:extLst>
          </p:cNvPr>
          <p:cNvSpPr>
            <a:spLocks xmlns:a="http://schemas.openxmlformats.org/drawingml/2006/main" noGrp="1"/>
          </p:cNvSpPr>
          <p:nvPr/>
        </p:nvSpPr>
        <p:spPr>
          <a:xfrm xmlns:a="http://schemas.openxmlformats.org/drawingml/2006/main">
            <a:off x="4953000" y="3857625"/>
            <a:ext cx="1524000" cy="428625"/>
          </a:xfrm>
          <a:custGeom xmlns:a="http://schemas.openxmlformats.org/drawingml/2006/main">
            <a:pathLst>
              <a:path w="1524000" h="428625">
                <a:moveTo>
                  <a:pt x="0" y="428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6" name="">
            <a:extLst xmlns:a="http://schemas.openxmlformats.org/drawingml/2006/main">
              <a:ext uri="{FF2B5EF4-FFF2-40B4-BE49-F238E27FC236}">
                <a16:creationId xmlns:a16="http://schemas.microsoft.com/office/drawing/2014/main" id="{41AA9555-8491-49FD-8464-A7BF68A963BD}"/>
              </a:ext>
            </a:extLst>
          </p:cNvPr>
          <p:cNvSpPr>
            <a:spLocks xmlns:a="http://schemas.openxmlformats.org/drawingml/2006/main" noGrp="1"/>
          </p:cNvSpPr>
          <p:nvPr/>
        </p:nvSpPr>
        <p:spPr>
          <a:xfrm xmlns:a="http://schemas.openxmlformats.org/drawingml/2006/main">
            <a:off x="6477000" y="3857625"/>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19050">
            <a:solidFill>
              <a:srgbClr val="8CCFC3"/>
            </a:solidFill>
            <a:prstDash val="solid"/>
          </a:ln>
        </p:spPr>
      </p:sp>
      <p:sp>
        <p:nvSpPr>
          <p:cNvPr id="37" name="">
            <a:extLst xmlns:a="http://schemas.openxmlformats.org/drawingml/2006/main">
              <a:ext uri="{FF2B5EF4-FFF2-40B4-BE49-F238E27FC236}">
                <a16:creationId xmlns:a16="http://schemas.microsoft.com/office/drawing/2014/main" id="{CB8CD4E9-20E5-44AB-9177-1CCB89C13C82}"/>
              </a:ext>
            </a:extLst>
          </p:cNvPr>
          <p:cNvSpPr>
            <a:spLocks xmlns:a="http://schemas.openxmlformats.org/drawingml/2006/main" noGrp="1"/>
          </p:cNvSpPr>
          <p:nvPr/>
        </p:nvSpPr>
        <p:spPr>
          <a:xfrm xmlns:a="http://schemas.openxmlformats.org/drawingml/2006/main">
            <a:off x="8001000" y="3143250"/>
            <a:ext cx="1524000" cy="809625"/>
          </a:xfrm>
          <a:custGeom xmlns:a="http://schemas.openxmlformats.org/drawingml/2006/main">
            <a:pathLst>
              <a:path w="1524000" h="809625">
                <a:moveTo>
                  <a:pt x="0" y="809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8" name="">
            <a:extLst xmlns:a="http://schemas.openxmlformats.org/drawingml/2006/main">
              <a:ext uri="{FF2B5EF4-FFF2-40B4-BE49-F238E27FC236}">
                <a16:creationId xmlns:a16="http://schemas.microsoft.com/office/drawing/2014/main" id="{6F43C4C8-AF24-4490-A867-1BF06051A25D}"/>
              </a:ext>
            </a:extLst>
          </p:cNvPr>
          <p:cNvSpPr>
            <a:spLocks xmlns:a="http://schemas.openxmlformats.org/drawingml/2006/main" noGrp="1"/>
          </p:cNvSpPr>
          <p:nvPr/>
        </p:nvSpPr>
        <p:spPr>
          <a:xfrm xmlns:a="http://schemas.openxmlformats.org/drawingml/2006/main">
            <a:off x="9525000" y="3143250"/>
            <a:ext cx="1123950" cy="142875"/>
          </a:xfrm>
          <a:custGeom xmlns:a="http://schemas.openxmlformats.org/drawingml/2006/main">
            <a:pathLst>
              <a:path w="1123950" h="142875">
                <a:moveTo>
                  <a:pt x="0" y="0"/>
                </a:moveTo>
                <a:lnTo>
                  <a:pt x="1123950" y="142875"/>
                </a:lnTo>
              </a:path>
            </a:pathLst>
          </a:custGeom>
          <a:noFill xmlns:a="http://schemas.openxmlformats.org/drawingml/2006/main"/>
          <a:ln xmlns:a="http://schemas.openxmlformats.org/drawingml/2006/main" w="19050">
            <a:solidFill>
              <a:srgbClr val="8CCFC3"/>
            </a:solidFill>
            <a:prstDash val="solid"/>
          </a:ln>
        </p:spPr>
      </p:sp>
      <p:sp>
        <p:nvSpPr>
          <p:cNvPr id="39" name="">
            <a:extLst xmlns:a="http://schemas.openxmlformats.org/drawingml/2006/main">
              <a:ext uri="{FF2B5EF4-FFF2-40B4-BE49-F238E27FC236}">
                <a16:creationId xmlns:a16="http://schemas.microsoft.com/office/drawing/2014/main" id="{FB4D860A-4742-4BDD-8CC1-95AF345202AB}"/>
              </a:ext>
            </a:extLst>
          </p:cNvPr>
          <p:cNvSpPr>
            <a:spLocks xmlns:a="http://schemas.openxmlformats.org/drawingml/2006/main" noGrp="1"/>
          </p:cNvSpPr>
          <p:nvPr/>
        </p:nvSpPr>
        <p:spPr>
          <a:xfrm xmlns:a="http://schemas.openxmlformats.org/drawingml/2006/main">
            <a:off x="9858375" y="481012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1" i="0">
                <a:solidFill>
                  <a:srgbClr val="687984"/>
                </a:solidFill>
                <a:latin typeface="Lato"/>
                <a:ea typeface="Lato"/>
                <a:cs typeface="Lato"/>
              </a:defRPr>
            </a:pPr>
            <a:r>
              <a:rPr sz="825" b="1" i="0">
                <a:solidFill>
                  <a:srgbClr val="687984"/>
                </a:solidFill>
                <a:latin typeface="Lato"/>
                <a:ea typeface="Lato"/>
                <a:cs typeface="Lato"/>
              </a:rPr>
              <a:t>TIME</a:t>
            </a:r>
          </a:p>
        </p:txBody>
      </p:sp>
      <p:sp>
        <p:nvSpPr>
          <p:cNvPr id="40" name="">
            <a:extLst xmlns:a="http://schemas.openxmlformats.org/drawingml/2006/main">
              <a:ext uri="{FF2B5EF4-FFF2-40B4-BE49-F238E27FC236}">
                <a16:creationId xmlns:a16="http://schemas.microsoft.com/office/drawing/2014/main" id="{D1626729-1DF3-4BC9-9CAE-379413822A94}"/>
              </a:ext>
            </a:extLst>
          </p:cNvPr>
          <p:cNvSpPr>
            <a:spLocks xmlns:a="http://schemas.openxmlformats.org/drawingml/2006/main" noGrp="1"/>
          </p:cNvSpPr>
          <p:nvPr/>
        </p:nvSpPr>
        <p:spPr>
          <a:xfrm xmlns:a="http://schemas.openxmlformats.org/drawingml/2006/main">
            <a:off x="742950" y="5219700"/>
            <a:ext cx="990600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44BB0CD-CBEB-4BBC-923E-69AA437274CC}"/>
              </a:ext>
            </a:extLst>
          </p:cNvPr>
          <p:cNvSpPr>
            <a:spLocks xmlns:a="http://schemas.openxmlformats.org/drawingml/2006/main" noGrp="1"/>
          </p:cNvSpPr>
          <p:nvPr/>
        </p:nvSpPr>
        <p:spPr>
          <a:xfrm xmlns:a="http://schemas.openxmlformats.org/drawingml/2006/main">
            <a:off x="1047750" y="53625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Intrinsic and irreducible. Initial-condition ensembles reveal the range we need to represent.</a:t>
            </a:r>
          </a:p>
        </p:txBody>
      </p:sp>
    </p:spTree>
    <p:extLst>
      <p:ext uri="{BB962C8B-B14F-4D97-AF65-F5344CB8AC3E}">
        <p14:creationId xmlns:p14="http://schemas.microsoft.com/office/powerpoint/2010/main" val="186236189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DE11039-59B7-4526-A2CC-DF3A056312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8E9FBD-F69A-43F4-8DF7-69247B0BB6A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Model and downscaling uncertainty</a:t>
            </a:r>
          </a:p>
        </p:txBody>
      </p:sp>
      <p:sp>
        <p:nvSpPr>
          <p:cNvPr id="3" name="">
            <a:extLst xmlns:a="http://schemas.openxmlformats.org/drawingml/2006/main">
              <a:ext uri="{FF2B5EF4-FFF2-40B4-BE49-F238E27FC236}">
                <a16:creationId xmlns:a16="http://schemas.microsoft.com/office/drawing/2014/main" id="{81707035-4392-4506-BD5A-45C2EC02F511}"/>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Regional projections inherit choices from the global model and add choices in the downscaling chain</a:t>
            </a:r>
          </a:p>
        </p:txBody>
      </p:sp>
      <p:sp>
        <p:nvSpPr>
          <p:cNvPr id="4" name="">
            <a:extLst xmlns:a="http://schemas.openxmlformats.org/drawingml/2006/main">
              <a:ext uri="{FF2B5EF4-FFF2-40B4-BE49-F238E27FC236}">
                <a16:creationId xmlns:a16="http://schemas.microsoft.com/office/drawing/2014/main" id="{7AB28B33-F53E-4F9E-8D5D-15173599C86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5C180E-019B-425E-943A-DA86429F3BD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3E8818-69BE-47D2-B6D0-EF1212909FA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13C2BA-0A2E-4F0F-BA87-FA8BED1CAE1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848F575-616B-4F3C-901F-5223FCAC3B5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13</a:t>
            </a:r>
          </a:p>
        </p:txBody>
      </p:sp>
      <p:sp>
        <p:nvSpPr>
          <p:cNvPr id="9" name="">
            <a:extLst xmlns:a="http://schemas.openxmlformats.org/drawingml/2006/main">
              <a:ext uri="{FF2B5EF4-FFF2-40B4-BE49-F238E27FC236}">
                <a16:creationId xmlns:a16="http://schemas.microsoft.com/office/drawing/2014/main" id="{329587D9-C64C-41AB-9A41-3F21BBF87297}"/>
              </a:ext>
            </a:extLst>
          </p:cNvPr>
          <p:cNvSpPr>
            <a:spLocks xmlns:a="http://schemas.openxmlformats.org/drawingml/2006/main" noGrp="1"/>
          </p:cNvSpPr>
          <p:nvPr/>
        </p:nvSpPr>
        <p:spPr>
          <a:xfrm xmlns:a="http://schemas.openxmlformats.org/drawingml/2006/main">
            <a:off x="838200" y="18097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GLOBAL MODELS</a:t>
            </a:r>
          </a:p>
        </p:txBody>
      </p:sp>
      <p:sp>
        <p:nvSpPr>
          <p:cNvPr id="10" name="">
            <a:extLst xmlns:a="http://schemas.openxmlformats.org/drawingml/2006/main">
              <a:ext uri="{FF2B5EF4-FFF2-40B4-BE49-F238E27FC236}">
                <a16:creationId xmlns:a16="http://schemas.microsoft.com/office/drawing/2014/main" id="{D96D88E0-37B3-463C-9021-D6AD47C1E7D8}"/>
              </a:ext>
            </a:extLst>
          </p:cNvPr>
          <p:cNvSpPr>
            <a:spLocks xmlns:a="http://schemas.openxmlformats.org/drawingml/2006/main" noGrp="1"/>
          </p:cNvSpPr>
          <p:nvPr/>
        </p:nvSpPr>
        <p:spPr>
          <a:xfrm xmlns:a="http://schemas.openxmlformats.org/drawingml/2006/main">
            <a:off x="838200" y="23336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1" name="">
            <a:extLst xmlns:a="http://schemas.openxmlformats.org/drawingml/2006/main">
              <a:ext uri="{FF2B5EF4-FFF2-40B4-BE49-F238E27FC236}">
                <a16:creationId xmlns:a16="http://schemas.microsoft.com/office/drawing/2014/main" id="{06AA0041-C41A-433D-8851-6B70AE5EFC39}"/>
              </a:ext>
            </a:extLst>
          </p:cNvPr>
          <p:cNvSpPr>
            <a:spLocks xmlns:a="http://schemas.openxmlformats.org/drawingml/2006/main" noGrp="1"/>
          </p:cNvSpPr>
          <p:nvPr/>
        </p:nvSpPr>
        <p:spPr>
          <a:xfrm xmlns:a="http://schemas.openxmlformats.org/drawingml/2006/main">
            <a:off x="838200" y="24669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A</a:t>
            </a:r>
          </a:p>
        </p:txBody>
      </p:sp>
      <p:sp>
        <p:nvSpPr>
          <p:cNvPr id="12" name="">
            <a:extLst xmlns:a="http://schemas.openxmlformats.org/drawingml/2006/main">
              <a:ext uri="{FF2B5EF4-FFF2-40B4-BE49-F238E27FC236}">
                <a16:creationId xmlns:a16="http://schemas.microsoft.com/office/drawing/2014/main" id="{774A1F60-F978-4BD9-96F7-4FE13EBD0C90}"/>
              </a:ext>
            </a:extLst>
          </p:cNvPr>
          <p:cNvSpPr>
            <a:spLocks xmlns:a="http://schemas.openxmlformats.org/drawingml/2006/main" noGrp="1"/>
          </p:cNvSpPr>
          <p:nvPr/>
        </p:nvSpPr>
        <p:spPr>
          <a:xfrm xmlns:a="http://schemas.openxmlformats.org/drawingml/2006/main">
            <a:off x="838200" y="311467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3" name="">
            <a:extLst xmlns:a="http://schemas.openxmlformats.org/drawingml/2006/main">
              <a:ext uri="{FF2B5EF4-FFF2-40B4-BE49-F238E27FC236}">
                <a16:creationId xmlns:a16="http://schemas.microsoft.com/office/drawing/2014/main" id="{E4BF2E8B-A3E8-4B28-8A01-9D7E61AB5BF0}"/>
              </a:ext>
            </a:extLst>
          </p:cNvPr>
          <p:cNvSpPr>
            <a:spLocks xmlns:a="http://schemas.openxmlformats.org/drawingml/2006/main" noGrp="1"/>
          </p:cNvSpPr>
          <p:nvPr/>
        </p:nvSpPr>
        <p:spPr>
          <a:xfrm xmlns:a="http://schemas.openxmlformats.org/drawingml/2006/main">
            <a:off x="838200" y="32480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B</a:t>
            </a:r>
          </a:p>
        </p:txBody>
      </p:sp>
      <p:sp>
        <p:nvSpPr>
          <p:cNvPr id="14" name="">
            <a:extLst xmlns:a="http://schemas.openxmlformats.org/drawingml/2006/main">
              <a:ext uri="{FF2B5EF4-FFF2-40B4-BE49-F238E27FC236}">
                <a16:creationId xmlns:a16="http://schemas.microsoft.com/office/drawing/2014/main" id="{1101D063-5355-4026-829D-F6014059E92B}"/>
              </a:ext>
            </a:extLst>
          </p:cNvPr>
          <p:cNvSpPr>
            <a:spLocks xmlns:a="http://schemas.openxmlformats.org/drawingml/2006/main" noGrp="1"/>
          </p:cNvSpPr>
          <p:nvPr/>
        </p:nvSpPr>
        <p:spPr>
          <a:xfrm xmlns:a="http://schemas.openxmlformats.org/drawingml/2006/main">
            <a:off x="838200" y="38957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5" name="">
            <a:extLst xmlns:a="http://schemas.openxmlformats.org/drawingml/2006/main">
              <a:ext uri="{FF2B5EF4-FFF2-40B4-BE49-F238E27FC236}">
                <a16:creationId xmlns:a16="http://schemas.microsoft.com/office/drawing/2014/main" id="{0C8D076C-1A9D-4D8F-BDF6-DFB77173A1C4}"/>
              </a:ext>
            </a:extLst>
          </p:cNvPr>
          <p:cNvSpPr>
            <a:spLocks xmlns:a="http://schemas.openxmlformats.org/drawingml/2006/main" noGrp="1"/>
          </p:cNvSpPr>
          <p:nvPr/>
        </p:nvSpPr>
        <p:spPr>
          <a:xfrm xmlns:a="http://schemas.openxmlformats.org/drawingml/2006/main">
            <a:off x="838200" y="40290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C</a:t>
            </a:r>
          </a:p>
        </p:txBody>
      </p:sp>
      <p:sp>
        <p:nvSpPr>
          <p:cNvPr id="16" name="">
            <a:extLst xmlns:a="http://schemas.openxmlformats.org/drawingml/2006/main">
              <a:ext uri="{FF2B5EF4-FFF2-40B4-BE49-F238E27FC236}">
                <a16:creationId xmlns:a16="http://schemas.microsoft.com/office/drawing/2014/main" id="{7092420E-B799-4FAF-B0A7-A4AA18CB8E92}"/>
              </a:ext>
            </a:extLst>
          </p:cNvPr>
          <p:cNvSpPr>
            <a:spLocks xmlns:a="http://schemas.openxmlformats.org/drawingml/2006/main" noGrp="1"/>
          </p:cNvSpPr>
          <p:nvPr/>
        </p:nvSpPr>
        <p:spPr>
          <a:xfrm xmlns:a="http://schemas.openxmlformats.org/drawingml/2006/main">
            <a:off x="4533900" y="1809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REGIONAL MODELS</a:t>
            </a:r>
          </a:p>
        </p:txBody>
      </p:sp>
      <p:sp>
        <p:nvSpPr>
          <p:cNvPr id="17" name="">
            <a:extLst xmlns:a="http://schemas.openxmlformats.org/drawingml/2006/main">
              <a:ext uri="{FF2B5EF4-FFF2-40B4-BE49-F238E27FC236}">
                <a16:creationId xmlns:a16="http://schemas.microsoft.com/office/drawing/2014/main" id="{31CD9FD9-528E-4728-B6E0-C42046213623}"/>
              </a:ext>
            </a:extLst>
          </p:cNvPr>
          <p:cNvSpPr>
            <a:spLocks xmlns:a="http://schemas.openxmlformats.org/drawingml/2006/main" noGrp="1"/>
          </p:cNvSpPr>
          <p:nvPr/>
        </p:nvSpPr>
        <p:spPr>
          <a:xfrm xmlns:a="http://schemas.openxmlformats.org/drawingml/2006/main">
            <a:off x="4533900" y="260985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18" name="">
            <a:extLst xmlns:a="http://schemas.openxmlformats.org/drawingml/2006/main">
              <a:ext uri="{FF2B5EF4-FFF2-40B4-BE49-F238E27FC236}">
                <a16:creationId xmlns:a16="http://schemas.microsoft.com/office/drawing/2014/main" id="{27A6EF66-4D4B-4CD0-A032-56791E2D35B9}"/>
              </a:ext>
            </a:extLst>
          </p:cNvPr>
          <p:cNvSpPr>
            <a:spLocks xmlns:a="http://schemas.openxmlformats.org/drawingml/2006/main" noGrp="1"/>
          </p:cNvSpPr>
          <p:nvPr/>
        </p:nvSpPr>
        <p:spPr>
          <a:xfrm xmlns:a="http://schemas.openxmlformats.org/drawingml/2006/main">
            <a:off x="4533900" y="2771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1</a:t>
            </a:r>
          </a:p>
        </p:txBody>
      </p:sp>
      <p:sp>
        <p:nvSpPr>
          <p:cNvPr id="19" name="">
            <a:extLst xmlns:a="http://schemas.openxmlformats.org/drawingml/2006/main">
              <a:ext uri="{FF2B5EF4-FFF2-40B4-BE49-F238E27FC236}">
                <a16:creationId xmlns:a16="http://schemas.microsoft.com/office/drawing/2014/main" id="{312BFD97-6433-4B62-8A67-7FCC526CC57B}"/>
              </a:ext>
            </a:extLst>
          </p:cNvPr>
          <p:cNvSpPr>
            <a:spLocks xmlns:a="http://schemas.openxmlformats.org/drawingml/2006/main" noGrp="1"/>
          </p:cNvSpPr>
          <p:nvPr/>
        </p:nvSpPr>
        <p:spPr>
          <a:xfrm xmlns:a="http://schemas.openxmlformats.org/drawingml/2006/main">
            <a:off x="6629400" y="2905125"/>
            <a:ext cx="1657350" cy="285750"/>
          </a:xfrm>
          <a:custGeom xmlns:a="http://schemas.openxmlformats.org/drawingml/2006/main">
            <a:pathLst>
              <a:path w="1657350" h="285750">
                <a:moveTo>
                  <a:pt x="0" y="0"/>
                </a:moveTo>
                <a:lnTo>
                  <a:pt x="1657350" y="285750"/>
                </a:lnTo>
              </a:path>
            </a:pathLst>
          </a:custGeom>
          <a:noFill xmlns:a="http://schemas.openxmlformats.org/drawingml/2006/main"/>
          <a:ln xmlns:a="http://schemas.openxmlformats.org/drawingml/2006/main" w="19050">
            <a:solidFill>
              <a:srgbClr val="DCE5E2"/>
            </a:solidFill>
            <a:prstDash val="solid"/>
          </a:ln>
        </p:spPr>
      </p:sp>
      <p:sp>
        <p:nvSpPr>
          <p:cNvPr id="20" name="">
            <a:extLst xmlns:a="http://schemas.openxmlformats.org/drawingml/2006/main">
              <a:ext uri="{FF2B5EF4-FFF2-40B4-BE49-F238E27FC236}">
                <a16:creationId xmlns:a16="http://schemas.microsoft.com/office/drawing/2014/main" id="{048D508D-D51E-4D33-A3C4-B926DB2A6881}"/>
              </a:ext>
            </a:extLst>
          </p:cNvPr>
          <p:cNvSpPr>
            <a:spLocks xmlns:a="http://schemas.openxmlformats.org/drawingml/2006/main" noGrp="1"/>
          </p:cNvSpPr>
          <p:nvPr/>
        </p:nvSpPr>
        <p:spPr>
          <a:xfrm xmlns:a="http://schemas.openxmlformats.org/drawingml/2006/main">
            <a:off x="4533900" y="377190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1" name="">
            <a:extLst xmlns:a="http://schemas.openxmlformats.org/drawingml/2006/main">
              <a:ext uri="{FF2B5EF4-FFF2-40B4-BE49-F238E27FC236}">
                <a16:creationId xmlns:a16="http://schemas.microsoft.com/office/drawing/2014/main" id="{A232596A-4A11-4C6F-95F8-980989010A90}"/>
              </a:ext>
            </a:extLst>
          </p:cNvPr>
          <p:cNvSpPr>
            <a:spLocks xmlns:a="http://schemas.openxmlformats.org/drawingml/2006/main" noGrp="1"/>
          </p:cNvSpPr>
          <p:nvPr/>
        </p:nvSpPr>
        <p:spPr>
          <a:xfrm xmlns:a="http://schemas.openxmlformats.org/drawingml/2006/main">
            <a:off x="4533900" y="39338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2</a:t>
            </a:r>
          </a:p>
        </p:txBody>
      </p:sp>
      <p:sp>
        <p:nvSpPr>
          <p:cNvPr id="22" name="">
            <a:extLst xmlns:a="http://schemas.openxmlformats.org/drawingml/2006/main">
              <a:ext uri="{FF2B5EF4-FFF2-40B4-BE49-F238E27FC236}">
                <a16:creationId xmlns:a16="http://schemas.microsoft.com/office/drawing/2014/main" id="{919A5702-5AA2-45AA-BD26-255CEB882725}"/>
              </a:ext>
            </a:extLst>
          </p:cNvPr>
          <p:cNvSpPr>
            <a:spLocks xmlns:a="http://schemas.openxmlformats.org/drawingml/2006/main" noGrp="1"/>
          </p:cNvSpPr>
          <p:nvPr/>
        </p:nvSpPr>
        <p:spPr>
          <a:xfrm xmlns:a="http://schemas.openxmlformats.org/drawingml/2006/main">
            <a:off x="6629400" y="3190875"/>
            <a:ext cx="1657350" cy="876300"/>
          </a:xfrm>
          <a:custGeom xmlns:a="http://schemas.openxmlformats.org/drawingml/2006/main">
            <a:pathLst>
              <a:path w="1657350" h="876300">
                <a:moveTo>
                  <a:pt x="0" y="876300"/>
                </a:moveTo>
                <a:lnTo>
                  <a:pt x="1657350" y="0"/>
                </a:lnTo>
              </a:path>
            </a:pathLst>
          </a:custGeom>
          <a:noFill xmlns:a="http://schemas.openxmlformats.org/drawingml/2006/main"/>
          <a:ln xmlns:a="http://schemas.openxmlformats.org/drawingml/2006/main" w="19050">
            <a:solidFill>
              <a:srgbClr val="DCE5E2"/>
            </a:solidFill>
            <a:prstDash val="solid"/>
          </a:ln>
        </p:spPr>
      </p:sp>
      <p:sp>
        <p:nvSpPr>
          <p:cNvPr id="23" name="">
            <a:extLst xmlns:a="http://schemas.openxmlformats.org/drawingml/2006/main">
              <a:ext uri="{FF2B5EF4-FFF2-40B4-BE49-F238E27FC236}">
                <a16:creationId xmlns:a16="http://schemas.microsoft.com/office/drawing/2014/main" id="{73A96AAE-6460-4800-96B5-10A05F72CF67}"/>
              </a:ext>
            </a:extLst>
          </p:cNvPr>
          <p:cNvSpPr>
            <a:spLocks xmlns:a="http://schemas.openxmlformats.org/drawingml/2006/main" noGrp="1"/>
          </p:cNvSpPr>
          <p:nvPr/>
        </p:nvSpPr>
        <p:spPr>
          <a:xfrm xmlns:a="http://schemas.openxmlformats.org/drawingml/2006/main">
            <a:off x="2790825" y="2590800"/>
            <a:ext cx="1743075" cy="314325"/>
          </a:xfrm>
          <a:custGeom xmlns:a="http://schemas.openxmlformats.org/drawingml/2006/main">
            <a:pathLst>
              <a:path w="1743075" h="314325">
                <a:moveTo>
                  <a:pt x="0" y="0"/>
                </a:moveTo>
                <a:lnTo>
                  <a:pt x="1743075" y="314325"/>
                </a:lnTo>
              </a:path>
            </a:pathLst>
          </a:custGeom>
          <a:noFill xmlns:a="http://schemas.openxmlformats.org/drawingml/2006/main"/>
          <a:ln xmlns:a="http://schemas.openxmlformats.org/drawingml/2006/main" w="14288">
            <a:solidFill>
              <a:srgbClr val="DCE5E2"/>
            </a:solidFill>
            <a:prstDash val="solid"/>
          </a:ln>
        </p:spPr>
      </p:sp>
      <p:sp>
        <p:nvSpPr>
          <p:cNvPr id="24" name="">
            <a:extLst xmlns:a="http://schemas.openxmlformats.org/drawingml/2006/main">
              <a:ext uri="{FF2B5EF4-FFF2-40B4-BE49-F238E27FC236}">
                <a16:creationId xmlns:a16="http://schemas.microsoft.com/office/drawing/2014/main" id="{0AB3471E-7CD5-4B73-853F-11BFEE31D349}"/>
              </a:ext>
            </a:extLst>
          </p:cNvPr>
          <p:cNvSpPr>
            <a:spLocks xmlns:a="http://schemas.openxmlformats.org/drawingml/2006/main" noGrp="1"/>
          </p:cNvSpPr>
          <p:nvPr/>
        </p:nvSpPr>
        <p:spPr>
          <a:xfrm xmlns:a="http://schemas.openxmlformats.org/drawingml/2006/main">
            <a:off x="2790825" y="2590800"/>
            <a:ext cx="1743075" cy="1476375"/>
          </a:xfrm>
          <a:custGeom xmlns:a="http://schemas.openxmlformats.org/drawingml/2006/main">
            <a:pathLst>
              <a:path w="1743075" h="1476375">
                <a:moveTo>
                  <a:pt x="0" y="0"/>
                </a:moveTo>
                <a:lnTo>
                  <a:pt x="1743075" y="1476375"/>
                </a:lnTo>
              </a:path>
            </a:pathLst>
          </a:custGeom>
          <a:noFill xmlns:a="http://schemas.openxmlformats.org/drawingml/2006/main"/>
          <a:ln xmlns:a="http://schemas.openxmlformats.org/drawingml/2006/main" w="14288">
            <a:solidFill>
              <a:srgbClr val="DCE5E2"/>
            </a:solidFill>
            <a:prstDash val="solid"/>
          </a:ln>
        </p:spPr>
      </p:sp>
      <p:sp>
        <p:nvSpPr>
          <p:cNvPr id="25" name="">
            <a:extLst xmlns:a="http://schemas.openxmlformats.org/drawingml/2006/main">
              <a:ext uri="{FF2B5EF4-FFF2-40B4-BE49-F238E27FC236}">
                <a16:creationId xmlns:a16="http://schemas.microsoft.com/office/drawing/2014/main" id="{837D8153-28F7-48F9-857B-127E59567735}"/>
              </a:ext>
            </a:extLst>
          </p:cNvPr>
          <p:cNvSpPr>
            <a:spLocks xmlns:a="http://schemas.openxmlformats.org/drawingml/2006/main" noGrp="1"/>
          </p:cNvSpPr>
          <p:nvPr/>
        </p:nvSpPr>
        <p:spPr>
          <a:xfrm xmlns:a="http://schemas.openxmlformats.org/drawingml/2006/main">
            <a:off x="2790825" y="2905125"/>
            <a:ext cx="1743075" cy="466725"/>
          </a:xfrm>
          <a:custGeom xmlns:a="http://schemas.openxmlformats.org/drawingml/2006/main">
            <a:pathLst>
              <a:path w="1743075" h="466725">
                <a:moveTo>
                  <a:pt x="0" y="466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6" name="">
            <a:extLst xmlns:a="http://schemas.openxmlformats.org/drawingml/2006/main">
              <a:ext uri="{FF2B5EF4-FFF2-40B4-BE49-F238E27FC236}">
                <a16:creationId xmlns:a16="http://schemas.microsoft.com/office/drawing/2014/main" id="{892F1F31-F403-498A-8836-33B7B0836E89}"/>
              </a:ext>
            </a:extLst>
          </p:cNvPr>
          <p:cNvSpPr>
            <a:spLocks xmlns:a="http://schemas.openxmlformats.org/drawingml/2006/main" noGrp="1"/>
          </p:cNvSpPr>
          <p:nvPr/>
        </p:nvSpPr>
        <p:spPr>
          <a:xfrm xmlns:a="http://schemas.openxmlformats.org/drawingml/2006/main">
            <a:off x="2790825" y="3371850"/>
            <a:ext cx="1743075" cy="695325"/>
          </a:xfrm>
          <a:custGeom xmlns:a="http://schemas.openxmlformats.org/drawingml/2006/main">
            <a:pathLst>
              <a:path w="1743075" h="695325">
                <a:moveTo>
                  <a:pt x="0" y="0"/>
                </a:moveTo>
                <a:lnTo>
                  <a:pt x="1743075" y="695325"/>
                </a:lnTo>
              </a:path>
            </a:pathLst>
          </a:custGeom>
          <a:noFill xmlns:a="http://schemas.openxmlformats.org/drawingml/2006/main"/>
          <a:ln xmlns:a="http://schemas.openxmlformats.org/drawingml/2006/main" w="14288">
            <a:solidFill>
              <a:srgbClr val="DCE5E2"/>
            </a:solidFill>
            <a:prstDash val="solid"/>
          </a:ln>
        </p:spPr>
      </p:sp>
      <p:sp>
        <p:nvSpPr>
          <p:cNvPr id="27" name="">
            <a:extLst xmlns:a="http://schemas.openxmlformats.org/drawingml/2006/main">
              <a:ext uri="{FF2B5EF4-FFF2-40B4-BE49-F238E27FC236}">
                <a16:creationId xmlns:a16="http://schemas.microsoft.com/office/drawing/2014/main" id="{0613C3D5-83A6-40BB-B089-4456F6D18278}"/>
              </a:ext>
            </a:extLst>
          </p:cNvPr>
          <p:cNvSpPr>
            <a:spLocks xmlns:a="http://schemas.openxmlformats.org/drawingml/2006/main" noGrp="1"/>
          </p:cNvSpPr>
          <p:nvPr/>
        </p:nvSpPr>
        <p:spPr>
          <a:xfrm xmlns:a="http://schemas.openxmlformats.org/drawingml/2006/main">
            <a:off x="2790825" y="2905125"/>
            <a:ext cx="1743075" cy="1247775"/>
          </a:xfrm>
          <a:custGeom xmlns:a="http://schemas.openxmlformats.org/drawingml/2006/main">
            <a:pathLst>
              <a:path w="1743075" h="1247775">
                <a:moveTo>
                  <a:pt x="0" y="124777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8" name="">
            <a:extLst xmlns:a="http://schemas.openxmlformats.org/drawingml/2006/main">
              <a:ext uri="{FF2B5EF4-FFF2-40B4-BE49-F238E27FC236}">
                <a16:creationId xmlns:a16="http://schemas.microsoft.com/office/drawing/2014/main" id="{4597BCFC-D8BC-41BC-83E2-9E37726D0FD4}"/>
              </a:ext>
            </a:extLst>
          </p:cNvPr>
          <p:cNvSpPr>
            <a:spLocks xmlns:a="http://schemas.openxmlformats.org/drawingml/2006/main" noGrp="1"/>
          </p:cNvSpPr>
          <p:nvPr/>
        </p:nvSpPr>
        <p:spPr>
          <a:xfrm xmlns:a="http://schemas.openxmlformats.org/drawingml/2006/main">
            <a:off x="2790825" y="4067175"/>
            <a:ext cx="1743075" cy="85725"/>
          </a:xfrm>
          <a:custGeom xmlns:a="http://schemas.openxmlformats.org/drawingml/2006/main">
            <a:pathLst>
              <a:path w="1743075" h="85725">
                <a:moveTo>
                  <a:pt x="0" y="85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9" name="">
            <a:extLst xmlns:a="http://schemas.openxmlformats.org/drawingml/2006/main">
              <a:ext uri="{FF2B5EF4-FFF2-40B4-BE49-F238E27FC236}">
                <a16:creationId xmlns:a16="http://schemas.microsoft.com/office/drawing/2014/main" id="{D7321100-AADC-49D3-8ADE-81398074DA9F}"/>
              </a:ext>
            </a:extLst>
          </p:cNvPr>
          <p:cNvSpPr>
            <a:spLocks xmlns:a="http://schemas.openxmlformats.org/drawingml/2006/main" noGrp="1"/>
          </p:cNvSpPr>
          <p:nvPr/>
        </p:nvSpPr>
        <p:spPr>
          <a:xfrm xmlns:a="http://schemas.openxmlformats.org/drawingml/2006/main">
            <a:off x="8286750" y="2476500"/>
            <a:ext cx="2762250" cy="14287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726877D-0979-42BB-A54B-C87124F6D710}"/>
              </a:ext>
            </a:extLst>
          </p:cNvPr>
          <p:cNvSpPr>
            <a:spLocks xmlns:a="http://schemas.openxmlformats.org/drawingml/2006/main" noGrp="1"/>
          </p:cNvSpPr>
          <p:nvPr/>
        </p:nvSpPr>
        <p:spPr>
          <a:xfrm xmlns:a="http://schemas.openxmlformats.org/drawingml/2006/main">
            <a:off x="8496300" y="28003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907"/>
          </a:bodyPr>
          <a:lstStyle xmlns:a="http://schemas.openxmlformats.org/drawingml/2006/main"/>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REGIONAL</a:t>
            </a:r>
          </a:p>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PROJECTION ENSEMBLE</a:t>
            </a:r>
          </a:p>
        </p:txBody>
      </p:sp>
      <p:sp>
        <p:nvSpPr>
          <p:cNvPr id="31" name="">
            <a:extLst xmlns:a="http://schemas.openxmlformats.org/drawingml/2006/main">
              <a:ext uri="{FF2B5EF4-FFF2-40B4-BE49-F238E27FC236}">
                <a16:creationId xmlns:a16="http://schemas.microsoft.com/office/drawing/2014/main" id="{36A05348-5AB6-4D0E-973B-BDC7D861E75B}"/>
              </a:ext>
            </a:extLst>
          </p:cNvPr>
          <p:cNvSpPr>
            <a:spLocks xmlns:a="http://schemas.openxmlformats.org/drawingml/2006/main" noGrp="1"/>
          </p:cNvSpPr>
          <p:nvPr/>
        </p:nvSpPr>
        <p:spPr>
          <a:xfrm xmlns:a="http://schemas.openxmlformats.org/drawingml/2006/main">
            <a:off x="838200" y="5010150"/>
            <a:ext cx="10210800" cy="714375"/>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69DD970-C6F0-4443-AA5A-8AE800A5701C}"/>
              </a:ext>
            </a:extLst>
          </p:cNvPr>
          <p:cNvSpPr>
            <a:spLocks xmlns:a="http://schemas.openxmlformats.org/drawingml/2006/main" noGrp="1"/>
          </p:cNvSpPr>
          <p:nvPr/>
        </p:nvSpPr>
        <p:spPr>
          <a:xfrm xmlns:a="http://schemas.openxmlformats.org/drawingml/2006/main">
            <a:off x="1104900" y="518160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08"/>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Multi-model and multi-RCM ensembles sample structural choices. Their spread remains an incomplete measure of uncertainty.</a:t>
            </a:r>
          </a:p>
        </p:txBody>
      </p:sp>
    </p:spTree>
    <p:extLst>
      <p:ext uri="{BB962C8B-B14F-4D97-AF65-F5344CB8AC3E}">
        <p14:creationId xmlns:p14="http://schemas.microsoft.com/office/powerpoint/2010/main" val="16158317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B41188A-5D59-4899-B958-7632AD4FD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790DF6-250C-49B8-9403-FCD9597E7086}"/>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Systematic bias and bias adjustment</a:t>
            </a:r>
          </a:p>
        </p:txBody>
      </p:sp>
      <p:sp>
        <p:nvSpPr>
          <p:cNvPr id="3" name="">
            <a:extLst xmlns:a="http://schemas.openxmlformats.org/drawingml/2006/main">
              <a:ext uri="{FF2B5EF4-FFF2-40B4-BE49-F238E27FC236}">
                <a16:creationId xmlns:a16="http://schemas.microsoft.com/office/drawing/2014/main" id="{C717372E-1FEC-403B-B9EA-F776595068F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bias is a persistent mismatch against a reference dataset, not the same concept as projection uncertainty</a:t>
            </a:r>
          </a:p>
        </p:txBody>
      </p:sp>
      <p:sp>
        <p:nvSpPr>
          <p:cNvPr id="4" name="">
            <a:extLst xmlns:a="http://schemas.openxmlformats.org/drawingml/2006/main">
              <a:ext uri="{FF2B5EF4-FFF2-40B4-BE49-F238E27FC236}">
                <a16:creationId xmlns:a16="http://schemas.microsoft.com/office/drawing/2014/main" id="{19B38161-4983-4F43-A210-F30F8D27798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BD30DB-4000-4501-BD39-454FD7667F0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79E488-35EA-4E2C-8C28-7AD742F217B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36DBEF-5955-46F4-8766-CCF5B18159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021A2B88-E53C-4C44-B314-1B4613BC341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14</a:t>
            </a:r>
          </a:p>
        </p:txBody>
      </p:sp>
      <p:sp>
        <p:nvSpPr>
          <p:cNvPr id="9" name="">
            <a:extLst xmlns:a="http://schemas.openxmlformats.org/drawingml/2006/main">
              <a:ext uri="{FF2B5EF4-FFF2-40B4-BE49-F238E27FC236}">
                <a16:creationId xmlns:a16="http://schemas.microsoft.com/office/drawing/2014/main" id="{A345EDA3-D72D-492F-837A-287857D766AC}"/>
              </a:ext>
            </a:extLst>
          </p:cNvPr>
          <p:cNvSpPr>
            <a:spLocks xmlns:a="http://schemas.openxmlformats.org/drawingml/2006/main" noGrp="1"/>
          </p:cNvSpPr>
          <p:nvPr/>
        </p:nvSpPr>
        <p:spPr>
          <a:xfrm xmlns:a="http://schemas.openxmlformats.org/drawingml/2006/main">
            <a:off x="838200" y="1809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5C54"/>
                </a:solidFill>
                <a:latin typeface="Lato"/>
                <a:ea typeface="Lato"/>
                <a:cs typeface="Lato"/>
              </a:defRPr>
            </a:pPr>
            <a:r>
              <a:rPr sz="1050" b="1" i="0">
                <a:solidFill>
                  <a:srgbClr val="C95C54"/>
                </a:solidFill>
                <a:latin typeface="Lato"/>
                <a:ea typeface="Lato"/>
                <a:cs typeface="Lato"/>
              </a:rPr>
              <a:t>RAW MODEL OUTPUT</a:t>
            </a:r>
          </a:p>
        </p:txBody>
      </p:sp>
      <p:sp>
        <p:nvSpPr>
          <p:cNvPr id="10" name="">
            <a:extLst xmlns:a="http://schemas.openxmlformats.org/drawingml/2006/main">
              <a:ext uri="{FF2B5EF4-FFF2-40B4-BE49-F238E27FC236}">
                <a16:creationId xmlns:a16="http://schemas.microsoft.com/office/drawing/2014/main" id="{B6958B05-C8B9-4001-BA50-BE9D39DD5FF3}"/>
              </a:ext>
            </a:extLst>
          </p:cNvPr>
          <p:cNvSpPr>
            <a:spLocks xmlns:a="http://schemas.openxmlformats.org/drawingml/2006/main" noGrp="1"/>
          </p:cNvSpPr>
          <p:nvPr/>
        </p:nvSpPr>
        <p:spPr>
          <a:xfrm xmlns:a="http://schemas.openxmlformats.org/drawingml/2006/main">
            <a:off x="1047750" y="4191000"/>
            <a:ext cx="3714750" cy="9525"/>
          </a:xfrm>
          <a:custGeom xmlns:a="http://schemas.openxmlformats.org/drawingml/2006/main">
            <a:pathLst>
              <a:path w="3714750" h="9525">
                <a:moveTo>
                  <a:pt x="0" y="0"/>
                </a:moveTo>
                <a:lnTo>
                  <a:pt x="3714750" y="0"/>
                </a:lnTo>
              </a:path>
            </a:pathLst>
          </a:custGeom>
          <a:noFill xmlns:a="http://schemas.openxmlformats.org/drawingml/2006/main"/>
          <a:ln xmlns:a="http://schemas.openxmlformats.org/drawingml/2006/main" w="19050">
            <a:solidFill>
              <a:srgbClr val="DCE5E2"/>
            </a:solidFill>
            <a:prstDash val="solid"/>
          </a:ln>
        </p:spPr>
      </p:sp>
      <p:sp>
        <p:nvSpPr>
          <p:cNvPr id="11" name="">
            <a:extLst xmlns:a="http://schemas.openxmlformats.org/drawingml/2006/main">
              <a:ext uri="{FF2B5EF4-FFF2-40B4-BE49-F238E27FC236}">
                <a16:creationId xmlns:a16="http://schemas.microsoft.com/office/drawing/2014/main" id="{E7E86258-B51B-4F1E-AA1C-1C2156CB131A}"/>
              </a:ext>
            </a:extLst>
          </p:cNvPr>
          <p:cNvSpPr>
            <a:spLocks xmlns:a="http://schemas.openxmlformats.org/drawingml/2006/main" noGrp="1"/>
          </p:cNvSpPr>
          <p:nvPr/>
        </p:nvSpPr>
        <p:spPr>
          <a:xfrm xmlns:a="http://schemas.openxmlformats.org/drawingml/2006/main">
            <a:off x="1762125" y="3143250"/>
            <a:ext cx="171450" cy="10477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9B18D6-7DDB-47BF-BC24-79B119870AD0}"/>
              </a:ext>
            </a:extLst>
          </p:cNvPr>
          <p:cNvSpPr>
            <a:spLocks xmlns:a="http://schemas.openxmlformats.org/drawingml/2006/main" noGrp="1"/>
          </p:cNvSpPr>
          <p:nvPr/>
        </p:nvSpPr>
        <p:spPr>
          <a:xfrm xmlns:a="http://schemas.openxmlformats.org/drawingml/2006/main">
            <a:off x="2857500" y="2476500"/>
            <a:ext cx="171450" cy="171450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AFC773-05DB-4CB5-B86B-979E51B12EE3}"/>
              </a:ext>
            </a:extLst>
          </p:cNvPr>
          <p:cNvSpPr>
            <a:spLocks xmlns:a="http://schemas.openxmlformats.org/drawingml/2006/main" noGrp="1"/>
          </p:cNvSpPr>
          <p:nvPr/>
        </p:nvSpPr>
        <p:spPr>
          <a:xfrm xmlns:a="http://schemas.openxmlformats.org/drawingml/2006/main">
            <a:off x="3952875" y="3333750"/>
            <a:ext cx="171450" cy="8572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633017-D9FB-44A3-A834-C5A7EE7FE8E2}"/>
              </a:ext>
            </a:extLst>
          </p:cNvPr>
          <p:cNvSpPr>
            <a:spLocks xmlns:a="http://schemas.openxmlformats.org/drawingml/2006/main" noGrp="1"/>
          </p:cNvSpPr>
          <p:nvPr/>
        </p:nvSpPr>
        <p:spPr>
          <a:xfrm xmlns:a="http://schemas.openxmlformats.org/drawingml/2006/main">
            <a:off x="3486150" y="2286000"/>
            <a:ext cx="9525" cy="2076450"/>
          </a:xfrm>
          <a:custGeom xmlns:a="http://schemas.openxmlformats.org/drawingml/2006/main">
            <a:pathLst>
              <a:path w="9525" h="2076450">
                <a:moveTo>
                  <a:pt x="0" y="0"/>
                </a:moveTo>
                <a:lnTo>
                  <a:pt x="0" y="2076450"/>
                </a:lnTo>
              </a:path>
            </a:pathLst>
          </a:custGeom>
          <a:noFill xmlns:a="http://schemas.openxmlformats.org/drawingml/2006/main"/>
          <a:ln xmlns:a="http://schemas.openxmlformats.org/drawingml/2006/main" w="28575">
            <a:solidFill>
              <a:srgbClr val="12304E"/>
            </a:solidFill>
            <a:prstDash val="solid"/>
          </a:ln>
        </p:spPr>
      </p:sp>
      <p:sp>
        <p:nvSpPr>
          <p:cNvPr id="15" name="">
            <a:extLst xmlns:a="http://schemas.openxmlformats.org/drawingml/2006/main">
              <a:ext uri="{FF2B5EF4-FFF2-40B4-BE49-F238E27FC236}">
                <a16:creationId xmlns:a16="http://schemas.microsoft.com/office/drawing/2014/main" id="{46EF35BB-9E4E-4778-A554-C754CCB5B3B2}"/>
              </a:ext>
            </a:extLst>
          </p:cNvPr>
          <p:cNvSpPr>
            <a:spLocks xmlns:a="http://schemas.openxmlformats.org/drawingml/2006/main" noGrp="1"/>
          </p:cNvSpPr>
          <p:nvPr/>
        </p:nvSpPr>
        <p:spPr>
          <a:xfrm xmlns:a="http://schemas.openxmlformats.org/drawingml/2006/main">
            <a:off x="3067050" y="442912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25" b="1" i="0">
                <a:solidFill>
                  <a:srgbClr val="12304E"/>
                </a:solidFill>
                <a:latin typeface="Lato"/>
                <a:ea typeface="Lato"/>
                <a:cs typeface="Lato"/>
              </a:defRPr>
            </a:pPr>
            <a:r>
              <a:rPr sz="825" b="1" i="0">
                <a:solidFill>
                  <a:srgbClr val="12304E"/>
                </a:solidFill>
                <a:latin typeface="Lato"/>
                <a:ea typeface="Lato"/>
                <a:cs typeface="Lato"/>
              </a:rPr>
              <a:t>REFERENCE</a:t>
            </a:r>
          </a:p>
        </p:txBody>
      </p:sp>
      <p:sp>
        <p:nvSpPr>
          <p:cNvPr id="16" name="">
            <a:extLst xmlns:a="http://schemas.openxmlformats.org/drawingml/2006/main">
              <a:ext uri="{FF2B5EF4-FFF2-40B4-BE49-F238E27FC236}">
                <a16:creationId xmlns:a16="http://schemas.microsoft.com/office/drawing/2014/main" id="{F19F8012-65A2-4BDF-ADF4-42FDA2652A64}"/>
              </a:ext>
            </a:extLst>
          </p:cNvPr>
          <p:cNvSpPr>
            <a:spLocks xmlns:a="http://schemas.openxmlformats.org/drawingml/2006/main" noGrp="1"/>
          </p:cNvSpPr>
          <p:nvPr/>
        </p:nvSpPr>
        <p:spPr>
          <a:xfrm xmlns:a="http://schemas.openxmlformats.org/drawingml/2006/main">
            <a:off x="1571625" y="476250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687984"/>
                </a:solidFill>
                <a:latin typeface="Lato"/>
                <a:ea typeface="Lato"/>
                <a:cs typeface="Lato"/>
              </a:defRPr>
            </a:pPr>
            <a:r>
              <a:rPr sz="1200" b="0" i="0">
                <a:solidFill>
                  <a:srgbClr val="687984"/>
                </a:solidFill>
                <a:latin typeface="Lato"/>
                <a:ea typeface="Lato"/>
                <a:cs typeface="Lato"/>
              </a:rPr>
              <a:t>systematic offset</a:t>
            </a:r>
          </a:p>
        </p:txBody>
      </p:sp>
      <p:sp>
        <p:nvSpPr>
          <p:cNvPr id="17" name="">
            <a:extLst xmlns:a="http://schemas.openxmlformats.org/drawingml/2006/main">
              <a:ext uri="{FF2B5EF4-FFF2-40B4-BE49-F238E27FC236}">
                <a16:creationId xmlns:a16="http://schemas.microsoft.com/office/drawing/2014/main" id="{BB79C1C4-17AE-4102-9C5C-3534E3823C19}"/>
              </a:ext>
            </a:extLst>
          </p:cNvPr>
          <p:cNvSpPr>
            <a:spLocks xmlns:a="http://schemas.openxmlformats.org/drawingml/2006/main" noGrp="1"/>
          </p:cNvSpPr>
          <p:nvPr/>
        </p:nvSpPr>
        <p:spPr>
          <a:xfrm xmlns:a="http://schemas.openxmlformats.org/drawingml/2006/main">
            <a:off x="6191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BIAS ADJUSTMENT</a:t>
            </a:r>
          </a:p>
        </p:txBody>
      </p:sp>
      <p:sp>
        <p:nvSpPr>
          <p:cNvPr id="18" name="">
            <a:extLst xmlns:a="http://schemas.openxmlformats.org/drawingml/2006/main">
              <a:ext uri="{FF2B5EF4-FFF2-40B4-BE49-F238E27FC236}">
                <a16:creationId xmlns:a16="http://schemas.microsoft.com/office/drawing/2014/main" id="{7C476B29-A4DB-48BA-AA98-5956949639D6}"/>
              </a:ext>
            </a:extLst>
          </p:cNvPr>
          <p:cNvSpPr>
            <a:spLocks xmlns:a="http://schemas.openxmlformats.org/drawingml/2006/main" noGrp="1"/>
          </p:cNvSpPr>
          <p:nvPr/>
        </p:nvSpPr>
        <p:spPr>
          <a:xfrm xmlns:a="http://schemas.openxmlformats.org/drawingml/2006/main">
            <a:off x="6191250" y="2333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 do</a:t>
            </a:r>
          </a:p>
        </p:txBody>
      </p:sp>
      <p:sp>
        <p:nvSpPr>
          <p:cNvPr id="19" name="">
            <a:extLst xmlns:a="http://schemas.openxmlformats.org/drawingml/2006/main">
              <a:ext uri="{FF2B5EF4-FFF2-40B4-BE49-F238E27FC236}">
                <a16:creationId xmlns:a16="http://schemas.microsoft.com/office/drawing/2014/main" id="{0A029ED8-6A58-4574-A07A-84DD7DA8D078}"/>
              </a:ext>
            </a:extLst>
          </p:cNvPr>
          <p:cNvSpPr>
            <a:spLocks xmlns:a="http://schemas.openxmlformats.org/drawingml/2006/main" noGrp="1"/>
          </p:cNvSpPr>
          <p:nvPr/>
        </p:nvSpPr>
        <p:spPr>
          <a:xfrm xmlns:a="http://schemas.openxmlformats.org/drawingml/2006/main">
            <a:off x="6191250" y="27813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Reduce selected historical distributional mismatches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Prepare inputs for threshold-sensitive impact models</a:t>
            </a:r>
          </a:p>
        </p:txBody>
      </p:sp>
      <p:sp>
        <p:nvSpPr>
          <p:cNvPr id="20" name="">
            <a:extLst xmlns:a="http://schemas.openxmlformats.org/drawingml/2006/main">
              <a:ext uri="{FF2B5EF4-FFF2-40B4-BE49-F238E27FC236}">
                <a16:creationId xmlns:a16="http://schemas.microsoft.com/office/drawing/2014/main" id="{6FB6E3F5-194B-431E-B100-6753E76A20C5}"/>
              </a:ext>
            </a:extLst>
          </p:cNvPr>
          <p:cNvSpPr>
            <a:spLocks xmlns:a="http://schemas.openxmlformats.org/drawingml/2006/main" noGrp="1"/>
          </p:cNvSpPr>
          <p:nvPr/>
        </p:nvSpPr>
        <p:spPr>
          <a:xfrm xmlns:a="http://schemas.openxmlformats.org/drawingml/2006/main">
            <a:off x="6191250" y="3857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cannot do</a:t>
            </a:r>
          </a:p>
        </p:txBody>
      </p:sp>
      <p:sp>
        <p:nvSpPr>
          <p:cNvPr id="21" name="">
            <a:extLst xmlns:a="http://schemas.openxmlformats.org/drawingml/2006/main">
              <a:ext uri="{FF2B5EF4-FFF2-40B4-BE49-F238E27FC236}">
                <a16:creationId xmlns:a16="http://schemas.microsoft.com/office/drawing/2014/main" id="{240BFF5E-A1DF-4B0B-83BC-516B41B4C127}"/>
              </a:ext>
            </a:extLst>
          </p:cNvPr>
          <p:cNvSpPr>
            <a:spLocks xmlns:a="http://schemas.openxmlformats.org/drawingml/2006/main" noGrp="1"/>
          </p:cNvSpPr>
          <p:nvPr/>
        </p:nvSpPr>
        <p:spPr>
          <a:xfrm xmlns:a="http://schemas.openxmlformats.org/drawingml/2006/main">
            <a:off x="6191250" y="43053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Repair incorrect physical processes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Remove scenario, model or internal variability</a:t>
            </a:r>
          </a:p>
        </p:txBody>
      </p:sp>
      <p:sp>
        <p:nvSpPr>
          <p:cNvPr id="22" name="">
            <a:extLst xmlns:a="http://schemas.openxmlformats.org/drawingml/2006/main">
              <a:ext uri="{FF2B5EF4-FFF2-40B4-BE49-F238E27FC236}">
                <a16:creationId xmlns:a16="http://schemas.microsoft.com/office/drawing/2014/main" id="{DC93B7C7-789B-4975-A44D-36706B635539}"/>
              </a:ext>
            </a:extLst>
          </p:cNvPr>
          <p:cNvSpPr>
            <a:spLocks xmlns:a="http://schemas.openxmlformats.org/drawingml/2006/main" noGrp="1"/>
          </p:cNvSpPr>
          <p:nvPr/>
        </p:nvSpPr>
        <p:spPr>
          <a:xfrm xmlns:a="http://schemas.openxmlformats.org/drawingml/2006/main">
            <a:off x="838200" y="5334000"/>
            <a:ext cx="9829800" cy="457200"/>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ADC641-34A6-43F4-8974-F403BA386067}"/>
              </a:ext>
            </a:extLst>
          </p:cNvPr>
          <p:cNvSpPr>
            <a:spLocks xmlns:a="http://schemas.openxmlformats.org/drawingml/2006/main" noGrp="1"/>
          </p:cNvSpPr>
          <p:nvPr/>
        </p:nvSpPr>
        <p:spPr>
          <a:xfrm xmlns:a="http://schemas.openxmlformats.org/drawingml/2006/main">
            <a:off x="1047750" y="5448300"/>
            <a:ext cx="941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Adjustment adds assumptions. Evaluate raw and adjusted data against more than one reference when possible.</a:t>
            </a:r>
          </a:p>
        </p:txBody>
      </p:sp>
    </p:spTree>
    <p:extLst>
      <p:ext uri="{BB962C8B-B14F-4D97-AF65-F5344CB8AC3E}">
        <p14:creationId xmlns:p14="http://schemas.microsoft.com/office/powerpoint/2010/main" val="1369186925"/>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40EEC21-9CAA-4721-BE1C-F9B385EA09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6FFF4-E679-4C4D-8864-49AF0FB18C49}"/>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How each source should be handled</a:t>
            </a:r>
          </a:p>
        </p:txBody>
      </p:sp>
      <p:sp>
        <p:nvSpPr>
          <p:cNvPr id="3" name="">
            <a:extLst xmlns:a="http://schemas.openxmlformats.org/drawingml/2006/main">
              <a:ext uri="{FF2B5EF4-FFF2-40B4-BE49-F238E27FC236}">
                <a16:creationId xmlns:a16="http://schemas.microsoft.com/office/drawing/2014/main" id="{59619CBB-36D2-485C-A484-38FC6A61A2A7}"/>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response depends on whether the source is intrinsic, conditional, structural or systematic</a:t>
            </a:r>
          </a:p>
        </p:txBody>
      </p:sp>
      <p:sp>
        <p:nvSpPr>
          <p:cNvPr id="4" name="">
            <a:extLst xmlns:a="http://schemas.openxmlformats.org/drawingml/2006/main">
              <a:ext uri="{FF2B5EF4-FFF2-40B4-BE49-F238E27FC236}">
                <a16:creationId xmlns:a16="http://schemas.microsoft.com/office/drawing/2014/main" id="{6B2F4290-2177-43EF-B40F-A76B3730B7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37610B-2803-46A5-BBDB-C07ECEC6ADA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610266-856B-4793-B8A4-DB13884D742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A8516B-F0D4-4205-8542-9A2D4CBBE71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6698396D-1D5B-4F4E-90D1-383622BF19F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15</a:t>
            </a:r>
          </a:p>
        </p:txBody>
      </p:sp>
      <p:sp>
        <p:nvSpPr>
          <p:cNvPr id="9" name="">
            <a:extLst xmlns:a="http://schemas.openxmlformats.org/drawingml/2006/main">
              <a:ext uri="{FF2B5EF4-FFF2-40B4-BE49-F238E27FC236}">
                <a16:creationId xmlns:a16="http://schemas.microsoft.com/office/drawing/2014/main" id="{7B99E477-A35C-4ECF-B3DD-F97AEBD3E2EB}"/>
              </a:ext>
            </a:extLst>
          </p:cNvPr>
          <p:cNvSpPr>
            <a:spLocks xmlns:a="http://schemas.openxmlformats.org/drawingml/2006/main" noGrp="1"/>
          </p:cNvSpPr>
          <p:nvPr/>
        </p:nvSpPr>
        <p:spPr>
          <a:xfrm xmlns:a="http://schemas.openxmlformats.org/drawingml/2006/main">
            <a:off x="762000" y="17526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SOURCE</a:t>
            </a:r>
          </a:p>
        </p:txBody>
      </p:sp>
      <p:sp>
        <p:nvSpPr>
          <p:cNvPr id="10" name="">
            <a:extLst xmlns:a="http://schemas.openxmlformats.org/drawingml/2006/main">
              <a:ext uri="{FF2B5EF4-FFF2-40B4-BE49-F238E27FC236}">
                <a16:creationId xmlns:a16="http://schemas.microsoft.com/office/drawing/2014/main" id="{B8343820-963F-4F0A-A17E-80E5814184FC}"/>
              </a:ext>
            </a:extLst>
          </p:cNvPr>
          <p:cNvSpPr>
            <a:spLocks xmlns:a="http://schemas.openxmlformats.org/drawingml/2006/main" noGrp="1"/>
          </p:cNvSpPr>
          <p:nvPr/>
        </p:nvSpPr>
        <p:spPr>
          <a:xfrm xmlns:a="http://schemas.openxmlformats.org/drawingml/2006/main">
            <a:off x="3429000" y="17526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TYPE</a:t>
            </a:r>
          </a:p>
        </p:txBody>
      </p:sp>
      <p:sp>
        <p:nvSpPr>
          <p:cNvPr id="11" name="">
            <a:extLst xmlns:a="http://schemas.openxmlformats.org/drawingml/2006/main">
              <a:ext uri="{FF2B5EF4-FFF2-40B4-BE49-F238E27FC236}">
                <a16:creationId xmlns:a16="http://schemas.microsoft.com/office/drawing/2014/main" id="{22E99116-32C3-48E5-8138-C0965D7EB6B1}"/>
              </a:ext>
            </a:extLst>
          </p:cNvPr>
          <p:cNvSpPr>
            <a:spLocks xmlns:a="http://schemas.openxmlformats.org/drawingml/2006/main" noGrp="1"/>
          </p:cNvSpPr>
          <p:nvPr/>
        </p:nvSpPr>
        <p:spPr>
          <a:xfrm xmlns:a="http://schemas.openxmlformats.org/drawingml/2006/main">
            <a:off x="5334000" y="17526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RESPONSE</a:t>
            </a:r>
          </a:p>
        </p:txBody>
      </p:sp>
      <p:sp>
        <p:nvSpPr>
          <p:cNvPr id="12" name="">
            <a:extLst xmlns:a="http://schemas.openxmlformats.org/drawingml/2006/main">
              <a:ext uri="{FF2B5EF4-FFF2-40B4-BE49-F238E27FC236}">
                <a16:creationId xmlns:a16="http://schemas.microsoft.com/office/drawing/2014/main" id="{4FBD1475-D415-4A77-900E-24E2092C752F}"/>
              </a:ext>
            </a:extLst>
          </p:cNvPr>
          <p:cNvSpPr>
            <a:spLocks xmlns:a="http://schemas.openxmlformats.org/drawingml/2006/main" noGrp="1"/>
          </p:cNvSpPr>
          <p:nvPr/>
        </p:nvSpPr>
        <p:spPr>
          <a:xfrm xmlns:a="http://schemas.openxmlformats.org/drawingml/2006/main">
            <a:off x="7429500" y="17526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PRACTICAL ACTION</a:t>
            </a:r>
          </a:p>
        </p:txBody>
      </p:sp>
      <p:sp>
        <p:nvSpPr>
          <p:cNvPr id="13" name="">
            <a:extLst xmlns:a="http://schemas.openxmlformats.org/drawingml/2006/main">
              <a:ext uri="{FF2B5EF4-FFF2-40B4-BE49-F238E27FC236}">
                <a16:creationId xmlns:a16="http://schemas.microsoft.com/office/drawing/2014/main" id="{7DC78764-EE8E-4003-9184-AF46409FD7F3}"/>
              </a:ext>
            </a:extLst>
          </p:cNvPr>
          <p:cNvSpPr>
            <a:spLocks xmlns:a="http://schemas.openxmlformats.org/drawingml/2006/main" noGrp="1"/>
          </p:cNvSpPr>
          <p:nvPr/>
        </p:nvSpPr>
        <p:spPr>
          <a:xfrm xmlns:a="http://schemas.openxmlformats.org/drawingml/2006/main">
            <a:off x="762000" y="2152650"/>
            <a:ext cx="95250" cy="3714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C9B040-5858-4C7A-8FAC-7F78BBBC2FCD}"/>
              </a:ext>
            </a:extLst>
          </p:cNvPr>
          <p:cNvSpPr>
            <a:spLocks xmlns:a="http://schemas.openxmlformats.org/drawingml/2006/main" noGrp="1"/>
          </p:cNvSpPr>
          <p:nvPr/>
        </p:nvSpPr>
        <p:spPr>
          <a:xfrm xmlns:a="http://schemas.openxmlformats.org/drawingml/2006/main">
            <a:off x="1009650" y="21336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INTERNAL VARIABILITY</a:t>
            </a:r>
          </a:p>
        </p:txBody>
      </p:sp>
      <p:sp>
        <p:nvSpPr>
          <p:cNvPr id="15" name="">
            <a:extLst xmlns:a="http://schemas.openxmlformats.org/drawingml/2006/main">
              <a:ext uri="{FF2B5EF4-FFF2-40B4-BE49-F238E27FC236}">
                <a16:creationId xmlns:a16="http://schemas.microsoft.com/office/drawing/2014/main" id="{FCDD4E5E-5094-4B1E-A48C-726C4F791CB6}"/>
              </a:ext>
            </a:extLst>
          </p:cNvPr>
          <p:cNvSpPr>
            <a:spLocks xmlns:a="http://schemas.openxmlformats.org/drawingml/2006/main" noGrp="1"/>
          </p:cNvSpPr>
          <p:nvPr/>
        </p:nvSpPr>
        <p:spPr>
          <a:xfrm xmlns:a="http://schemas.openxmlformats.org/drawingml/2006/main">
            <a:off x="3429000" y="21336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Intrinsic</a:t>
            </a:r>
          </a:p>
        </p:txBody>
      </p:sp>
      <p:sp>
        <p:nvSpPr>
          <p:cNvPr id="16" name="">
            <a:extLst xmlns:a="http://schemas.openxmlformats.org/drawingml/2006/main">
              <a:ext uri="{FF2B5EF4-FFF2-40B4-BE49-F238E27FC236}">
                <a16:creationId xmlns:a16="http://schemas.microsoft.com/office/drawing/2014/main" id="{A5B1137C-8CA2-4AB5-A134-B9537C9ED9B3}"/>
              </a:ext>
            </a:extLst>
          </p:cNvPr>
          <p:cNvSpPr>
            <a:spLocks xmlns:a="http://schemas.openxmlformats.org/drawingml/2006/main" noGrp="1"/>
          </p:cNvSpPr>
          <p:nvPr/>
        </p:nvSpPr>
        <p:spPr>
          <a:xfrm xmlns:a="http://schemas.openxmlformats.org/drawingml/2006/main">
            <a:off x="5334000" y="21336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Represent</a:t>
            </a:r>
          </a:p>
        </p:txBody>
      </p:sp>
      <p:sp>
        <p:nvSpPr>
          <p:cNvPr id="17" name="">
            <a:extLst xmlns:a="http://schemas.openxmlformats.org/drawingml/2006/main">
              <a:ext uri="{FF2B5EF4-FFF2-40B4-BE49-F238E27FC236}">
                <a16:creationId xmlns:a16="http://schemas.microsoft.com/office/drawing/2014/main" id="{BC0C3389-9BAC-4AEF-A210-05F5EE7E8A19}"/>
              </a:ext>
            </a:extLst>
          </p:cNvPr>
          <p:cNvSpPr>
            <a:spLocks xmlns:a="http://schemas.openxmlformats.org/drawingml/2006/main" noGrp="1"/>
          </p:cNvSpPr>
          <p:nvPr/>
        </p:nvSpPr>
        <p:spPr>
          <a:xfrm xmlns:a="http://schemas.openxmlformats.org/drawingml/2006/main">
            <a:off x="7429500" y="21145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multiple initial-condition members</a:t>
            </a:r>
          </a:p>
        </p:txBody>
      </p:sp>
      <p:sp>
        <p:nvSpPr>
          <p:cNvPr id="18" name="">
            <a:extLst xmlns:a="http://schemas.openxmlformats.org/drawingml/2006/main">
              <a:ext uri="{FF2B5EF4-FFF2-40B4-BE49-F238E27FC236}">
                <a16:creationId xmlns:a16="http://schemas.microsoft.com/office/drawing/2014/main" id="{B6A2181C-C30A-4D2C-B2B4-54023DA050CA}"/>
              </a:ext>
            </a:extLst>
          </p:cNvPr>
          <p:cNvSpPr>
            <a:spLocks xmlns:a="http://schemas.openxmlformats.org/drawingml/2006/main" noGrp="1"/>
          </p:cNvSpPr>
          <p:nvPr/>
        </p:nvSpPr>
        <p:spPr>
          <a:xfrm xmlns:a="http://schemas.openxmlformats.org/drawingml/2006/main">
            <a:off x="1009650" y="26193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0574FD-4FA4-4609-986D-D5FDBFDCF32D}"/>
              </a:ext>
            </a:extLst>
          </p:cNvPr>
          <p:cNvSpPr>
            <a:spLocks xmlns:a="http://schemas.openxmlformats.org/drawingml/2006/main" noGrp="1"/>
          </p:cNvSpPr>
          <p:nvPr/>
        </p:nvSpPr>
        <p:spPr>
          <a:xfrm xmlns:a="http://schemas.openxmlformats.org/drawingml/2006/main">
            <a:off x="762000" y="2743200"/>
            <a:ext cx="95250" cy="3714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D4890A-A51C-4FF5-9023-F2E09DF78FC4}"/>
              </a:ext>
            </a:extLst>
          </p:cNvPr>
          <p:cNvSpPr>
            <a:spLocks xmlns:a="http://schemas.openxmlformats.org/drawingml/2006/main" noGrp="1"/>
          </p:cNvSpPr>
          <p:nvPr/>
        </p:nvSpPr>
        <p:spPr>
          <a:xfrm xmlns:a="http://schemas.openxmlformats.org/drawingml/2006/main">
            <a:off x="1009650" y="27241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SCENARIO</a:t>
            </a:r>
          </a:p>
        </p:txBody>
      </p:sp>
      <p:sp>
        <p:nvSpPr>
          <p:cNvPr id="21" name="">
            <a:extLst xmlns:a="http://schemas.openxmlformats.org/drawingml/2006/main">
              <a:ext uri="{FF2B5EF4-FFF2-40B4-BE49-F238E27FC236}">
                <a16:creationId xmlns:a16="http://schemas.microsoft.com/office/drawing/2014/main" id="{5C5E0F97-3A15-4D1D-97C6-E3D4A9FB807C}"/>
              </a:ext>
            </a:extLst>
          </p:cNvPr>
          <p:cNvSpPr>
            <a:spLocks xmlns:a="http://schemas.openxmlformats.org/drawingml/2006/main" noGrp="1"/>
          </p:cNvSpPr>
          <p:nvPr/>
        </p:nvSpPr>
        <p:spPr>
          <a:xfrm xmlns:a="http://schemas.openxmlformats.org/drawingml/2006/main">
            <a:off x="3429000" y="2724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Conditional</a:t>
            </a:r>
          </a:p>
        </p:txBody>
      </p:sp>
      <p:sp>
        <p:nvSpPr>
          <p:cNvPr id="22" name="">
            <a:extLst xmlns:a="http://schemas.openxmlformats.org/drawingml/2006/main">
              <a:ext uri="{FF2B5EF4-FFF2-40B4-BE49-F238E27FC236}">
                <a16:creationId xmlns:a16="http://schemas.microsoft.com/office/drawing/2014/main" id="{54596ED1-C06F-4B9F-AE4A-480EA28798C5}"/>
              </a:ext>
            </a:extLst>
          </p:cNvPr>
          <p:cNvSpPr>
            <a:spLocks xmlns:a="http://schemas.openxmlformats.org/drawingml/2006/main" noGrp="1"/>
          </p:cNvSpPr>
          <p:nvPr/>
        </p:nvSpPr>
        <p:spPr>
          <a:xfrm xmlns:a="http://schemas.openxmlformats.org/drawingml/2006/main">
            <a:off x="5334000" y="27241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C95C54"/>
                </a:solidFill>
                <a:latin typeface="Lato"/>
                <a:ea typeface="Lato"/>
                <a:cs typeface="Lato"/>
              </a:defRPr>
            </a:pPr>
            <a:r>
              <a:rPr sz="1200" b="1" i="0">
                <a:solidFill>
                  <a:srgbClr val="C95C54"/>
                </a:solidFill>
                <a:latin typeface="Lato"/>
                <a:ea typeface="Lato"/>
                <a:cs typeface="Lato"/>
              </a:rPr>
              <a:t>Explore</a:t>
            </a:r>
          </a:p>
        </p:txBody>
      </p:sp>
      <p:sp>
        <p:nvSpPr>
          <p:cNvPr id="23" name="">
            <a:extLst xmlns:a="http://schemas.openxmlformats.org/drawingml/2006/main">
              <a:ext uri="{FF2B5EF4-FFF2-40B4-BE49-F238E27FC236}">
                <a16:creationId xmlns:a16="http://schemas.microsoft.com/office/drawing/2014/main" id="{70DF0ABC-7EA1-4D2D-B941-4AE2A409A17F}"/>
              </a:ext>
            </a:extLst>
          </p:cNvPr>
          <p:cNvSpPr>
            <a:spLocks xmlns:a="http://schemas.openxmlformats.org/drawingml/2006/main" noGrp="1"/>
          </p:cNvSpPr>
          <p:nvPr/>
        </p:nvSpPr>
        <p:spPr>
          <a:xfrm xmlns:a="http://schemas.openxmlformats.org/drawingml/2006/main">
            <a:off x="742950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plausible pathways</a:t>
            </a:r>
          </a:p>
        </p:txBody>
      </p:sp>
      <p:sp>
        <p:nvSpPr>
          <p:cNvPr id="24" name="">
            <a:extLst xmlns:a="http://schemas.openxmlformats.org/drawingml/2006/main">
              <a:ext uri="{FF2B5EF4-FFF2-40B4-BE49-F238E27FC236}">
                <a16:creationId xmlns:a16="http://schemas.microsoft.com/office/drawing/2014/main" id="{BEBE282D-3510-450D-A7E4-7E885B6FA8E9}"/>
              </a:ext>
            </a:extLst>
          </p:cNvPr>
          <p:cNvSpPr>
            <a:spLocks xmlns:a="http://schemas.openxmlformats.org/drawingml/2006/main" noGrp="1"/>
          </p:cNvSpPr>
          <p:nvPr/>
        </p:nvSpPr>
        <p:spPr>
          <a:xfrm xmlns:a="http://schemas.openxmlformats.org/drawingml/2006/main">
            <a:off x="1009650" y="32099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B96AB2-FC88-4DB5-837F-39B44AD7976D}"/>
              </a:ext>
            </a:extLst>
          </p:cNvPr>
          <p:cNvSpPr>
            <a:spLocks xmlns:a="http://schemas.openxmlformats.org/drawingml/2006/main" noGrp="1"/>
          </p:cNvSpPr>
          <p:nvPr/>
        </p:nvSpPr>
        <p:spPr>
          <a:xfrm xmlns:a="http://schemas.openxmlformats.org/drawingml/2006/main">
            <a:off x="762000" y="3333750"/>
            <a:ext cx="95250" cy="3714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D6C6121-2932-4F8C-9512-30828A8DF40D}"/>
              </a:ext>
            </a:extLst>
          </p:cNvPr>
          <p:cNvSpPr>
            <a:spLocks xmlns:a="http://schemas.openxmlformats.org/drawingml/2006/main" noGrp="1"/>
          </p:cNvSpPr>
          <p:nvPr/>
        </p:nvSpPr>
        <p:spPr>
          <a:xfrm xmlns:a="http://schemas.openxmlformats.org/drawingml/2006/main">
            <a:off x="1009650" y="33147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MODEL RESPONSE</a:t>
            </a:r>
          </a:p>
        </p:txBody>
      </p:sp>
      <p:sp>
        <p:nvSpPr>
          <p:cNvPr id="27" name="">
            <a:extLst xmlns:a="http://schemas.openxmlformats.org/drawingml/2006/main">
              <a:ext uri="{FF2B5EF4-FFF2-40B4-BE49-F238E27FC236}">
                <a16:creationId xmlns:a16="http://schemas.microsoft.com/office/drawing/2014/main" id="{BCF4772C-CED2-40D4-80B9-BE9F30508828}"/>
              </a:ext>
            </a:extLst>
          </p:cNvPr>
          <p:cNvSpPr>
            <a:spLocks xmlns:a="http://schemas.openxmlformats.org/drawingml/2006/main" noGrp="1"/>
          </p:cNvSpPr>
          <p:nvPr/>
        </p:nvSpPr>
        <p:spPr>
          <a:xfrm xmlns:a="http://schemas.openxmlformats.org/drawingml/2006/main">
            <a:off x="3429000" y="33147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28" name="">
            <a:extLst xmlns:a="http://schemas.openxmlformats.org/drawingml/2006/main">
              <a:ext uri="{FF2B5EF4-FFF2-40B4-BE49-F238E27FC236}">
                <a16:creationId xmlns:a16="http://schemas.microsoft.com/office/drawing/2014/main" id="{E95B90F4-278D-4EC8-B304-A3E77B5AACA1}"/>
              </a:ext>
            </a:extLst>
          </p:cNvPr>
          <p:cNvSpPr>
            <a:spLocks xmlns:a="http://schemas.openxmlformats.org/drawingml/2006/main" noGrp="1"/>
          </p:cNvSpPr>
          <p:nvPr/>
        </p:nvSpPr>
        <p:spPr>
          <a:xfrm xmlns:a="http://schemas.openxmlformats.org/drawingml/2006/main">
            <a:off x="5334000" y="3314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F2B632"/>
                </a:solidFill>
                <a:latin typeface="Lato"/>
                <a:ea typeface="Lato"/>
                <a:cs typeface="Lato"/>
              </a:defRPr>
            </a:pPr>
            <a:r>
              <a:rPr sz="1200" b="1" i="0">
                <a:solidFill>
                  <a:srgbClr val="F2B632"/>
                </a:solidFill>
                <a:latin typeface="Lato"/>
                <a:ea typeface="Lato"/>
                <a:cs typeface="Lato"/>
              </a:rPr>
              <a:t>Compare</a:t>
            </a:r>
          </a:p>
        </p:txBody>
      </p:sp>
      <p:sp>
        <p:nvSpPr>
          <p:cNvPr id="29" name="">
            <a:extLst xmlns:a="http://schemas.openxmlformats.org/drawingml/2006/main">
              <a:ext uri="{FF2B5EF4-FFF2-40B4-BE49-F238E27FC236}">
                <a16:creationId xmlns:a16="http://schemas.microsoft.com/office/drawing/2014/main" id="{09EEAA3A-E349-46E1-8CE6-2CFE1662C324}"/>
              </a:ext>
            </a:extLst>
          </p:cNvPr>
          <p:cNvSpPr>
            <a:spLocks xmlns:a="http://schemas.openxmlformats.org/drawingml/2006/main" noGrp="1"/>
          </p:cNvSpPr>
          <p:nvPr/>
        </p:nvSpPr>
        <p:spPr>
          <a:xfrm xmlns:a="http://schemas.openxmlformats.org/drawingml/2006/main">
            <a:off x="7429500" y="32956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an evaluated multi-model ensemble</a:t>
            </a:r>
          </a:p>
        </p:txBody>
      </p:sp>
      <p:sp>
        <p:nvSpPr>
          <p:cNvPr id="30" name="">
            <a:extLst xmlns:a="http://schemas.openxmlformats.org/drawingml/2006/main">
              <a:ext uri="{FF2B5EF4-FFF2-40B4-BE49-F238E27FC236}">
                <a16:creationId xmlns:a16="http://schemas.microsoft.com/office/drawing/2014/main" id="{7D882C8A-590C-4E39-B5D9-CB3F123FCF85}"/>
              </a:ext>
            </a:extLst>
          </p:cNvPr>
          <p:cNvSpPr>
            <a:spLocks xmlns:a="http://schemas.openxmlformats.org/drawingml/2006/main" noGrp="1"/>
          </p:cNvSpPr>
          <p:nvPr/>
        </p:nvSpPr>
        <p:spPr>
          <a:xfrm xmlns:a="http://schemas.openxmlformats.org/drawingml/2006/main">
            <a:off x="1009650" y="38004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288CFC0-CF23-44DF-89C2-57DFD9949FE3}"/>
              </a:ext>
            </a:extLst>
          </p:cNvPr>
          <p:cNvSpPr>
            <a:spLocks xmlns:a="http://schemas.openxmlformats.org/drawingml/2006/main" noGrp="1"/>
          </p:cNvSpPr>
          <p:nvPr/>
        </p:nvSpPr>
        <p:spPr>
          <a:xfrm xmlns:a="http://schemas.openxmlformats.org/drawingml/2006/main">
            <a:off x="762000" y="3924300"/>
            <a:ext cx="95250" cy="3714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D0750A1-79CD-4009-BBCD-2EF24A777F2F}"/>
              </a:ext>
            </a:extLst>
          </p:cNvPr>
          <p:cNvSpPr>
            <a:spLocks xmlns:a="http://schemas.openxmlformats.org/drawingml/2006/main" noGrp="1"/>
          </p:cNvSpPr>
          <p:nvPr/>
        </p:nvSpPr>
        <p:spPr>
          <a:xfrm xmlns:a="http://schemas.openxmlformats.org/drawingml/2006/main">
            <a:off x="1009650" y="39052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GCM–RCM CHAIN</a:t>
            </a:r>
          </a:p>
        </p:txBody>
      </p:sp>
      <p:sp>
        <p:nvSpPr>
          <p:cNvPr id="33" name="">
            <a:extLst xmlns:a="http://schemas.openxmlformats.org/drawingml/2006/main">
              <a:ext uri="{FF2B5EF4-FFF2-40B4-BE49-F238E27FC236}">
                <a16:creationId xmlns:a16="http://schemas.microsoft.com/office/drawing/2014/main" id="{BEDFA037-8934-4447-8522-431AA226C0F2}"/>
              </a:ext>
            </a:extLst>
          </p:cNvPr>
          <p:cNvSpPr>
            <a:spLocks xmlns:a="http://schemas.openxmlformats.org/drawingml/2006/main" noGrp="1"/>
          </p:cNvSpPr>
          <p:nvPr/>
        </p:nvSpPr>
        <p:spPr>
          <a:xfrm xmlns:a="http://schemas.openxmlformats.org/drawingml/2006/main">
            <a:off x="3429000" y="39052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34" name="">
            <a:extLst xmlns:a="http://schemas.openxmlformats.org/drawingml/2006/main">
              <a:ext uri="{FF2B5EF4-FFF2-40B4-BE49-F238E27FC236}">
                <a16:creationId xmlns:a16="http://schemas.microsoft.com/office/drawing/2014/main" id="{DF4891E4-92B0-47C6-A2D5-D410FCA86A6E}"/>
              </a:ext>
            </a:extLst>
          </p:cNvPr>
          <p:cNvSpPr>
            <a:spLocks xmlns:a="http://schemas.openxmlformats.org/drawingml/2006/main" noGrp="1"/>
          </p:cNvSpPr>
          <p:nvPr/>
        </p:nvSpPr>
        <p:spPr>
          <a:xfrm xmlns:a="http://schemas.openxmlformats.org/drawingml/2006/main">
            <a:off x="5334000" y="3905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Compare</a:t>
            </a:r>
          </a:p>
        </p:txBody>
      </p:sp>
      <p:sp>
        <p:nvSpPr>
          <p:cNvPr id="35" name="">
            <a:extLst xmlns:a="http://schemas.openxmlformats.org/drawingml/2006/main">
              <a:ext uri="{FF2B5EF4-FFF2-40B4-BE49-F238E27FC236}">
                <a16:creationId xmlns:a16="http://schemas.microsoft.com/office/drawing/2014/main" id="{CEEBAE3D-5DBE-46DC-9EBF-919E1947C81F}"/>
              </a:ext>
            </a:extLst>
          </p:cNvPr>
          <p:cNvSpPr>
            <a:spLocks xmlns:a="http://schemas.openxmlformats.org/drawingml/2006/main" noGrp="1"/>
          </p:cNvSpPr>
          <p:nvPr/>
        </p:nvSpPr>
        <p:spPr>
          <a:xfrm xmlns:a="http://schemas.openxmlformats.org/drawingml/2006/main">
            <a:off x="7429500" y="38862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Sample driving and regional models</a:t>
            </a:r>
          </a:p>
        </p:txBody>
      </p:sp>
      <p:sp>
        <p:nvSpPr>
          <p:cNvPr id="36" name="">
            <a:extLst xmlns:a="http://schemas.openxmlformats.org/drawingml/2006/main">
              <a:ext uri="{FF2B5EF4-FFF2-40B4-BE49-F238E27FC236}">
                <a16:creationId xmlns:a16="http://schemas.microsoft.com/office/drawing/2014/main" id="{5B9E2C1A-F056-4A27-A7B7-B24687B7649A}"/>
              </a:ext>
            </a:extLst>
          </p:cNvPr>
          <p:cNvSpPr>
            <a:spLocks xmlns:a="http://schemas.openxmlformats.org/drawingml/2006/main" noGrp="1"/>
          </p:cNvSpPr>
          <p:nvPr/>
        </p:nvSpPr>
        <p:spPr>
          <a:xfrm xmlns:a="http://schemas.openxmlformats.org/drawingml/2006/main">
            <a:off x="1009650" y="43910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270C10F-3016-4697-A590-84BFE7DC3160}"/>
              </a:ext>
            </a:extLst>
          </p:cNvPr>
          <p:cNvSpPr>
            <a:spLocks xmlns:a="http://schemas.openxmlformats.org/drawingml/2006/main" noGrp="1"/>
          </p:cNvSpPr>
          <p:nvPr/>
        </p:nvSpPr>
        <p:spPr>
          <a:xfrm xmlns:a="http://schemas.openxmlformats.org/drawingml/2006/main">
            <a:off x="762000" y="4514850"/>
            <a:ext cx="95250" cy="371475"/>
          </a:xfrm>
          <a:prstGeom xmlns:a="http://schemas.openxmlformats.org/drawingml/2006/main" prst="rect">
            <a:avLst/>
          </a:prstGeom>
          <a:solidFill xmlns:a="http://schemas.openxmlformats.org/drawingml/2006/main">
            <a:srgbClr val="008D7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E9C23CD-0641-46BA-930F-843946588023}"/>
              </a:ext>
            </a:extLst>
          </p:cNvPr>
          <p:cNvSpPr>
            <a:spLocks xmlns:a="http://schemas.openxmlformats.org/drawingml/2006/main" noGrp="1"/>
          </p:cNvSpPr>
          <p:nvPr/>
        </p:nvSpPr>
        <p:spPr>
          <a:xfrm xmlns:a="http://schemas.openxmlformats.org/drawingml/2006/main">
            <a:off x="1009650" y="44958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SYSTEMATIC BIAS</a:t>
            </a:r>
          </a:p>
        </p:txBody>
      </p:sp>
      <p:sp>
        <p:nvSpPr>
          <p:cNvPr id="39" name="">
            <a:extLst xmlns:a="http://schemas.openxmlformats.org/drawingml/2006/main">
              <a:ext uri="{FF2B5EF4-FFF2-40B4-BE49-F238E27FC236}">
                <a16:creationId xmlns:a16="http://schemas.microsoft.com/office/drawing/2014/main" id="{66031E4F-E24D-4BE8-B502-6542DE38DDAA}"/>
              </a:ext>
            </a:extLst>
          </p:cNvPr>
          <p:cNvSpPr>
            <a:spLocks xmlns:a="http://schemas.openxmlformats.org/drawingml/2006/main" noGrp="1"/>
          </p:cNvSpPr>
          <p:nvPr/>
        </p:nvSpPr>
        <p:spPr>
          <a:xfrm xmlns:a="http://schemas.openxmlformats.org/drawingml/2006/main">
            <a:off x="3429000" y="44958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Partly adjustable</a:t>
            </a:r>
          </a:p>
        </p:txBody>
      </p:sp>
      <p:sp>
        <p:nvSpPr>
          <p:cNvPr id="40" name="">
            <a:extLst xmlns:a="http://schemas.openxmlformats.org/drawingml/2006/main">
              <a:ext uri="{FF2B5EF4-FFF2-40B4-BE49-F238E27FC236}">
                <a16:creationId xmlns:a16="http://schemas.microsoft.com/office/drawing/2014/main" id="{CCDACA76-F64A-4DAD-8D2B-E1B06289FCD5}"/>
              </a:ext>
            </a:extLst>
          </p:cNvPr>
          <p:cNvSpPr>
            <a:spLocks xmlns:a="http://schemas.openxmlformats.org/drawingml/2006/main" noGrp="1"/>
          </p:cNvSpPr>
          <p:nvPr/>
        </p:nvSpPr>
        <p:spPr>
          <a:xfrm xmlns:a="http://schemas.openxmlformats.org/drawingml/2006/main">
            <a:off x="5334000" y="44958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8D7A"/>
                </a:solidFill>
                <a:latin typeface="Lato"/>
                <a:ea typeface="Lato"/>
                <a:cs typeface="Lato"/>
              </a:defRPr>
            </a:pPr>
            <a:r>
              <a:rPr sz="1200" b="1" i="0">
                <a:solidFill>
                  <a:srgbClr val="008D7A"/>
                </a:solidFill>
                <a:latin typeface="Lato"/>
                <a:ea typeface="Lato"/>
                <a:cs typeface="Lato"/>
              </a:rPr>
              <a:t>Adjust carefully</a:t>
            </a:r>
          </a:p>
        </p:txBody>
      </p:sp>
      <p:sp>
        <p:nvSpPr>
          <p:cNvPr id="41" name="">
            <a:extLst xmlns:a="http://schemas.openxmlformats.org/drawingml/2006/main">
              <a:ext uri="{FF2B5EF4-FFF2-40B4-BE49-F238E27FC236}">
                <a16:creationId xmlns:a16="http://schemas.microsoft.com/office/drawing/2014/main" id="{DEE92445-7081-4DD3-943A-7C93B5B092EC}"/>
              </a:ext>
            </a:extLst>
          </p:cNvPr>
          <p:cNvSpPr>
            <a:spLocks xmlns:a="http://schemas.openxmlformats.org/drawingml/2006/main" noGrp="1"/>
          </p:cNvSpPr>
          <p:nvPr/>
        </p:nvSpPr>
        <p:spPr>
          <a:xfrm xmlns:a="http://schemas.openxmlformats.org/drawingml/2006/main">
            <a:off x="7429500" y="4476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Validate the method and retain caveats</a:t>
            </a:r>
          </a:p>
        </p:txBody>
      </p:sp>
      <p:sp>
        <p:nvSpPr>
          <p:cNvPr id="42" name="">
            <a:extLst xmlns:a="http://schemas.openxmlformats.org/drawingml/2006/main">
              <a:ext uri="{FF2B5EF4-FFF2-40B4-BE49-F238E27FC236}">
                <a16:creationId xmlns:a16="http://schemas.microsoft.com/office/drawing/2014/main" id="{6D6350DC-CCD8-40F6-B6F0-21C8F98683AF}"/>
              </a:ext>
            </a:extLst>
          </p:cNvPr>
          <p:cNvSpPr>
            <a:spLocks xmlns:a="http://schemas.openxmlformats.org/drawingml/2006/main" noGrp="1"/>
          </p:cNvSpPr>
          <p:nvPr/>
        </p:nvSpPr>
        <p:spPr>
          <a:xfrm xmlns:a="http://schemas.openxmlformats.org/drawingml/2006/main">
            <a:off x="1009650" y="49815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219B8BC-4AB2-4EBD-BBA5-08A54944F0B4}"/>
              </a:ext>
            </a:extLst>
          </p:cNvPr>
          <p:cNvSpPr>
            <a:spLocks xmlns:a="http://schemas.openxmlformats.org/drawingml/2006/main" noGrp="1"/>
          </p:cNvSpPr>
          <p:nvPr/>
        </p:nvSpPr>
        <p:spPr>
          <a:xfrm xmlns:a="http://schemas.openxmlformats.org/drawingml/2006/main">
            <a:off x="762000" y="5105400"/>
            <a:ext cx="95250" cy="371475"/>
          </a:xfrm>
          <a:prstGeom xmlns:a="http://schemas.openxmlformats.org/drawingml/2006/main" prst="rect">
            <a:avLst/>
          </a:prstGeom>
          <a:solidFill xmlns:a="http://schemas.openxmlformats.org/drawingml/2006/main">
            <a:srgbClr val="68798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4AA5177-E9CD-4743-B810-A1FFF23AC71F}"/>
              </a:ext>
            </a:extLst>
          </p:cNvPr>
          <p:cNvSpPr>
            <a:spLocks xmlns:a="http://schemas.openxmlformats.org/drawingml/2006/main" noGrp="1"/>
          </p:cNvSpPr>
          <p:nvPr/>
        </p:nvSpPr>
        <p:spPr>
          <a:xfrm xmlns:a="http://schemas.openxmlformats.org/drawingml/2006/main">
            <a:off x="1009650" y="50863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REFERENCE DATA</a:t>
            </a:r>
          </a:p>
        </p:txBody>
      </p:sp>
      <p:sp>
        <p:nvSpPr>
          <p:cNvPr id="45" name="">
            <a:extLst xmlns:a="http://schemas.openxmlformats.org/drawingml/2006/main">
              <a:ext uri="{FF2B5EF4-FFF2-40B4-BE49-F238E27FC236}">
                <a16:creationId xmlns:a16="http://schemas.microsoft.com/office/drawing/2014/main" id="{B57DFE34-452A-4CE2-AF49-3BC952A508D8}"/>
              </a:ext>
            </a:extLst>
          </p:cNvPr>
          <p:cNvSpPr>
            <a:spLocks xmlns:a="http://schemas.openxmlformats.org/drawingml/2006/main" noGrp="1"/>
          </p:cNvSpPr>
          <p:nvPr/>
        </p:nvSpPr>
        <p:spPr>
          <a:xfrm xmlns:a="http://schemas.openxmlformats.org/drawingml/2006/main">
            <a:off x="3429000" y="50863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Observed uncertainty</a:t>
            </a:r>
          </a:p>
        </p:txBody>
      </p:sp>
      <p:sp>
        <p:nvSpPr>
          <p:cNvPr id="46" name="">
            <a:extLst xmlns:a="http://schemas.openxmlformats.org/drawingml/2006/main">
              <a:ext uri="{FF2B5EF4-FFF2-40B4-BE49-F238E27FC236}">
                <a16:creationId xmlns:a16="http://schemas.microsoft.com/office/drawing/2014/main" id="{FC6E90C1-DB16-4FDE-AC1A-023C6CB29114}"/>
              </a:ext>
            </a:extLst>
          </p:cNvPr>
          <p:cNvSpPr>
            <a:spLocks xmlns:a="http://schemas.openxmlformats.org/drawingml/2006/main" noGrp="1"/>
          </p:cNvSpPr>
          <p:nvPr/>
        </p:nvSpPr>
        <p:spPr>
          <a:xfrm xmlns:a="http://schemas.openxmlformats.org/drawingml/2006/main">
            <a:off x="5334000" y="50863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687984"/>
                </a:solidFill>
                <a:latin typeface="Lato"/>
                <a:ea typeface="Lato"/>
                <a:cs typeface="Lato"/>
              </a:defRPr>
            </a:pPr>
            <a:r>
              <a:rPr sz="1200" b="1" i="0">
                <a:solidFill>
                  <a:srgbClr val="687984"/>
                </a:solidFill>
                <a:latin typeface="Lato"/>
                <a:ea typeface="Lato"/>
                <a:cs typeface="Lato"/>
              </a:rPr>
              <a:t>Test sensitivity</a:t>
            </a:r>
          </a:p>
        </p:txBody>
      </p:sp>
      <p:sp>
        <p:nvSpPr>
          <p:cNvPr id="47" name="">
            <a:extLst xmlns:a="http://schemas.openxmlformats.org/drawingml/2006/main">
              <a:ext uri="{FF2B5EF4-FFF2-40B4-BE49-F238E27FC236}">
                <a16:creationId xmlns:a16="http://schemas.microsoft.com/office/drawing/2014/main" id="{26BBDD84-95DA-49E5-9BA9-9EB7917E90CD}"/>
              </a:ext>
            </a:extLst>
          </p:cNvPr>
          <p:cNvSpPr>
            <a:spLocks xmlns:a="http://schemas.openxmlformats.org/drawingml/2006/main" noGrp="1"/>
          </p:cNvSpPr>
          <p:nvPr/>
        </p:nvSpPr>
        <p:spPr>
          <a:xfrm xmlns:a="http://schemas.openxmlformats.org/drawingml/2006/main">
            <a:off x="7429500" y="50673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suitable observation or reanalysis products</a:t>
            </a:r>
          </a:p>
        </p:txBody>
      </p:sp>
      <p:sp>
        <p:nvSpPr>
          <p:cNvPr id="48" name="">
            <a:extLst xmlns:a="http://schemas.openxmlformats.org/drawingml/2006/main">
              <a:ext uri="{FF2B5EF4-FFF2-40B4-BE49-F238E27FC236}">
                <a16:creationId xmlns:a16="http://schemas.microsoft.com/office/drawing/2014/main" id="{BFC879D1-9700-4714-A50B-1C1074948CB1}"/>
              </a:ext>
            </a:extLst>
          </p:cNvPr>
          <p:cNvSpPr>
            <a:spLocks xmlns:a="http://schemas.openxmlformats.org/drawingml/2006/main" noGrp="1"/>
          </p:cNvSpPr>
          <p:nvPr/>
        </p:nvSpPr>
        <p:spPr>
          <a:xfrm xmlns:a="http://schemas.openxmlformats.org/drawingml/2006/main">
            <a:off x="762000" y="5743575"/>
            <a:ext cx="10382250" cy="3238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940E1B2-7CF0-43CE-B334-C22315B2CBD6}"/>
              </a:ext>
            </a:extLst>
          </p:cNvPr>
          <p:cNvSpPr>
            <a:spLocks xmlns:a="http://schemas.openxmlformats.org/drawingml/2006/main" noGrp="1"/>
          </p:cNvSpPr>
          <p:nvPr/>
        </p:nvSpPr>
        <p:spPr>
          <a:xfrm xmlns:a="http://schemas.openxmlformats.org/drawingml/2006/main">
            <a:off x="952500" y="58007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Keep the variability that represents plausible outcomes. Correct only diagnosed, method-specific bias.</a:t>
            </a:r>
          </a:p>
        </p:txBody>
      </p:sp>
    </p:spTree>
    <p:extLst>
      <p:ext uri="{BB962C8B-B14F-4D97-AF65-F5344CB8AC3E}">
        <p14:creationId xmlns:p14="http://schemas.microsoft.com/office/powerpoint/2010/main" val="623164409"/>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9525B984-B157-4BEE-AF33-5927E64F8A8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CF28313-1F19-4644-B889-E82A77838966}"/>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AC0A16B9-B3AB-4CC5-8983-D1A8430F0B6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7D4EDCBF-89E3-4B76-A700-BB5602393C64}"/>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0F1E1E9-340E-4EA0-8C60-42B204EE8904}"/>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DFEB86DF-7E2E-4BF5-928F-D45DD41A86D1}"/>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1CB2710E-1E72-431B-84DA-C10F92F4335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971156254"/>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C18D33BA-324B-4E8B-865A-820F99D59E61}"/>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EA411FD4-E6BD-4C8B-B139-2C9D0BCCB94E}"/>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561098F1-C8BF-456F-8781-BD01CCAC5E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C161014E-FBBC-4AFE-980D-6726839E5286}"/>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34D1826-77B8-420E-9932-246DC001302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E0C48682-143D-4A6D-B690-A5BEC7893D3E}"/>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55DC900A-955C-4013-95A3-1D46609C9D3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D903B788-B193-44F9-8C8A-29B44F08D1A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E3E6C2B-DA0E-4426-BA9F-62C23797CA25}"/>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55C08419-AE11-44B9-9F81-BF7FEAF0270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7D73BF3-D0A5-44C9-BD91-9D72309863F1}"/>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F3755BA9-49DE-4E51-B63A-DC39487E26D0}"/>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7FB11F-E650-4189-8B76-20728EB3031A}"/>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535F052F-67F3-4708-B30A-0A35ADFAB083}"/>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C4CEF1AA-E7F6-48C8-937B-46D1DF7CED65}"/>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07135F1C-8602-4B5A-A9FC-0DA68DD307B1}"/>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EB5DF212-9324-4247-B58E-8DF9CF6D12FE}"/>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043C61E1-567A-4D5F-AF94-7EB0F69D2CAF}"/>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3A24E8AD-A65A-42B0-B179-53EC1EBE621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05CBA04E-9944-4D40-A072-B4D83BADE1E9}"/>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BC050236-26A2-4F02-B4F7-AD903299F847}"/>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3F93715B-BBAB-4128-9FFC-3AE34D9CFC77}"/>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0271E370-C56E-4F85-9860-A42766762CA6}"/>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24F278A9-EB7B-436D-ABA7-EE43FD4CE7D0}"/>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7E1FEF8E-1B90-48FB-84BC-F1DECF93BD45}"/>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5653D9AD-2B32-49E9-A141-DF7F1AEB8689}"/>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703E180D-63A0-4513-BC57-1A16F3BC8C0C}"/>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4497490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14C40B-325E-41AA-9F0E-CADF34272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A85B1-92F4-427F-A709-52E48DCAE7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6D6EBC11-F245-4A33-A3DC-7420D2ABED5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3826C8F4-7677-4007-971C-2C42638F37D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DFE83-6130-4836-8954-F3BA96FF80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04F60F-BE13-4F20-9B10-64E9E40D129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6DA2E-BAE5-4546-9292-5B30148FDD2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295196E-87C1-43A5-BEAE-B18CD76D68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1310F3A3-5D77-476C-9856-EA9F873DF9D1}"/>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7E058-AAA5-44A1-99F0-65646A5C26F9}"/>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40788DA-B710-4FB9-A42A-461B06D2432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9158F316-0C9C-4990-92DC-4184C28A17C7}"/>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5DFC327B-353A-4149-8440-33D6C8DDF149}"/>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6356560F-F8C7-4D3F-A6BE-1679AE481334}"/>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BAC019DC-2337-4109-8681-09E512E56889}"/>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434C5417-C3FA-49AF-9AA2-1BFD400A9B0E}"/>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048EC5A3-9B33-440E-A9F0-A6D3D346E34C}"/>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A1CC4AC8-73D5-4CFB-870D-477B963AEC7C}"/>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BD79BF7-6DCF-4EBD-8207-4BF296DC660C}"/>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E738AA2-676D-440E-BFF0-51006CF7FC29}"/>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D9F6E8B-EBE4-4FB0-8F98-C50F40560DB9}"/>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572F460D-502E-43D5-9DCD-AA37C7F4B051}"/>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0AE6855A-9E1F-4E31-B566-1063BDEE989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B4BAE364-10FD-4E66-AAE7-62A2C183D92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8826CA-9A82-4C25-9B20-23F812D7FB4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66B314D0-837A-45C5-A6E2-BDD21F3667DE}"/>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4306083-2F78-4216-8158-BE5ABC15C4D2}"/>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53FA9894-C827-4BA8-A8B4-7C69976FE8AE}"/>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E4EC0C-2E94-4C14-9E12-085B7F0CE085}"/>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3D163408-BE71-46EA-AF1F-78E5A71ED405}"/>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1446557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5C65ED8-BDB5-4D66-AF22-91E57DFA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BE932-93AF-452E-B81E-0816E0B422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67DCB031-AAFF-4E3E-B580-734CE0AA3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339C1074-8F4B-4A07-91D4-83002B27A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08062C-6F66-441E-B022-125BFF92F26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1F207-F820-4B2D-940F-B3F5331F79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FA0E01-FD86-4FA4-9A33-CDB10137349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B83FA8C-8177-4F72-AE9E-264866EBE6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ADB8B6B-7C59-4F89-BCD4-34B7133DB4C5}"/>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49A33BB-57F8-4CA7-B1B8-27057CBFD4B0}"/>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53D2D50D-8FD4-46BE-8802-B6F232F95951}"/>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C9B37D0-A663-40A4-9CFB-0AF392FDA56A}"/>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F348ED-A5C9-4153-9BEF-1F9874EF7428}"/>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CDF99444-86EB-4EE8-BAC8-4FE421D848B5}"/>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6B110197-DA6E-43BE-85DE-8F44546997BA}"/>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9291375F-77C6-44DF-8048-23C15AE42BF7}"/>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A65ED1-2063-492B-9523-05520DCBE6CD}"/>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18E103F0-6387-4780-900F-2939015A4C1E}"/>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23D4C0C6-29C1-4B72-B1F7-E4E284B45579}"/>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7599A8DB-79B5-4047-B8D6-C80964A06AC3}"/>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BCC2B3-438F-4AF1-BAF3-E922B78E072C}"/>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862C958-0349-44AE-A9A5-ACBBF26159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9C21AB4-341B-4A48-BAEC-FF5301EC5E34}"/>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8060E2FC-967E-4291-B1FC-C026690A778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85A3C1-89B1-4040-AF36-C7886922335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332954995"/>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8AF8BBE5-2137-450C-AD7A-61C2361915F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56A5BA02-2BF8-4F07-8892-744350DF2F2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610A3753-3640-4410-936A-EA00267647E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E8AA13DA-7728-44C8-8B3E-8CA1539D409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89C41A50-DFF8-49A9-BE0E-32C2025F27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47997DD1-63DF-4EB7-BE05-31760A47E35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1653FBED-B8E4-4F69-BED9-C3C563A57C6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35980DEC-865E-47B8-8CB0-A507BC752FB8}"/>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67433233-6D4A-4EC5-B5C5-F4B7D621ACCF}"/>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A988027D-6258-4ED3-9649-D92E13152EE0}"/>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13EB2E30-BB78-4010-8AFB-6DDE1B09B063}"/>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A9F2B597-82C6-4807-BF0D-9687B6D315AF}"/>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DDC11438-6F4C-420E-89AB-8CB68801BC04}"/>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FE164D20-9300-4A69-802F-B8CD23A53C5F}"/>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5A20A2E9-C3D4-42D6-B6A8-D2A908445BEE}"/>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E503B810-2545-4261-9F84-3AFDA4B43086}"/>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D0ACAE2C-5393-4C79-A064-7A43E4C35DA3}"/>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34865F6F-4631-4AD3-8A94-A07E203FE4E4}"/>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2802D8CA-4C9C-4205-8F3B-D94841EBD48B}"/>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C1D6CF59-101D-441A-A69F-1B6E8D8E47A7}"/>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8EA2CA40-6CE8-410A-8FE9-23426E96869E}"/>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1999855271"/>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3D8B1B9-AC61-43C0-A452-A052FB6D4CA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559968F2-D3EC-402F-BA26-693D39F769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966ACF35-585F-48E5-9706-7BF73FAAA376}"/>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4E6F711C-D040-4DA3-8474-D9C9BC522259}"/>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34AED4A2-5E68-4AEF-A1FC-DDE5A6ED5338}"/>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5735361C-0A42-478D-9C6E-603A41098600}"/>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4CD05511-C166-4DA8-95D8-A5065A48FDE4}"/>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4EB6D521-3970-4065-9F54-3C9FD34402C0}"/>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244500047"/>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BEB43B71-1ED0-447E-8A49-AB94003F5E9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2BE4465E-B9E2-4D84-B04C-B8F36CB7870C}"/>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C548A6A4-7CC4-4481-9310-395C885871D0}"/>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14745C06-5CE8-4C80-BE3B-EA9EFA941C5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5528C624-6AC7-48B7-AC6E-4CC44BC55D3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95BA66E0-1EFD-4991-88D1-8CC7DE49140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8D3C830-7502-4FC3-89D6-0A3CCF2BBEC7}"/>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69E0A8CB-1641-45DF-8826-6C89E7F1D1A2}"/>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C9C1525B-CCEF-444E-9480-952E6F705711}"/>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6F5E5061-DB7D-48F1-BDE9-E79C28755D59}"/>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9EBB800B-8FE9-4ADB-8A76-6C64ED24ACA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90F978C-78A5-4DF6-88A7-5E34BDB1009A}"/>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067459C7-FFCC-4101-AC1B-0D59861E6BDD}"/>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61FA8A19-8A27-4B84-999F-F39034181A9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57AC2A3A-647C-4082-A021-429A1C976BC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6134BDBC-7C29-4BBC-898B-7B232F2C3DA3}"/>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5990AFA-F05A-4451-85EF-6C83CADC509E}"/>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82C9F5E-E9D4-4C24-A21F-84930EFE7713}"/>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1694DEA-9C48-405B-9DF3-BD72D347BEC0}"/>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65FAD138-7EBD-494A-8450-03967A164282}"/>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F8C562E6-FB3E-4BD9-8D44-0D03865786E6}"/>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604A72C8-315B-4276-B001-E0CC725AB4F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42AD9E7F-6629-4BB1-9BE0-3D40AA5A8F3A}"/>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0150FC6F-93B6-4D5C-97C9-3DB0B35E805C}"/>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1523179726"/>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D0A838EF-2B6A-4D2D-99E0-E8141A8ED90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77206FA5-0A9A-4970-88AF-81FD17485AC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0756DAB3-97AC-4C8B-B954-4E5CFF4146D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EA791C06-9D71-4CD7-B572-A7432B13894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3E44BDBA-3177-43B7-AABF-FEE68CD0E89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8D732DF3-F314-4B10-9027-0A364014514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297AB4A9-83DA-4DB3-896A-21F14CFD55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7B2F4D4E-93D9-415F-B903-0BDAC6823F6A}"/>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1290778D-15E1-4E20-B83F-1BA3B2E25E5E}"/>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1B89514C-B1C2-47D3-9BE8-FFD9269F0AE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05F9B075-99A8-4A47-857F-318199BEAA27}"/>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F31669DE-4C8E-4C7A-9A43-662985D7667C}"/>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F217A1B8-C2BB-4BCE-9EF2-87A97BB109E4}"/>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812B2EE6-C475-4189-A718-55A2907C057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094C1A6-B036-4A71-B03E-1C473D04C61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887F5169-8A42-4AD8-A37D-6598C9EC2B9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27AE2144-6F54-4B1A-99FE-DC7B3F5E73C0}"/>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5FC30CED-A288-4DAE-BAE2-4A1A6ACC2A64}"/>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F5DC6D03-8068-4C25-9B77-664A0D7B38CE}"/>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2CEE25A6-4813-4F91-8DBB-1EF45489D719}"/>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BB2500E-FE5C-4E4F-98B9-EBF1F4B3FA1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2B967A55-DE96-414C-871A-AB1849E4581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D4F5F2FF-94CA-44BC-9ABF-00C32C3C43A6}"/>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FA6B80B9-2DCC-456E-AA82-56873C7DABD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4F4C58CD-0519-4B22-9495-7E3F653241C7}"/>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575419749"/>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87D6C119-484A-4664-B083-0B8848E19B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744885A-37E1-41BC-865C-CECF3B00349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77731847-6F01-49BF-BB19-3F4A971E55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8766A6AB-4A59-4DD4-BCB3-3220A3678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36BBA04F-31A3-4D32-AA3E-85C8E58A83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256996D8-D881-4C5C-893D-90DF378F82D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130EAC8D-82F6-4F41-BAC2-45500D00F95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B1DF0BB3-266F-41AD-9441-1115A1F15B88}"/>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02cb561d2d1b4f8b">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85D9A65-5A3B-46B2-B60D-D3304806DF90}"/>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1BA2888-79E4-4A98-B9E3-0FCFCB25222D}"/>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299FDB85-AAD4-4B92-89BE-A18F7A4139A7}"/>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2A5E3187-77D5-444D-B520-B7E40708C51A}"/>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298B701B-72EA-42BC-B41D-BA8E4F25CE93}"/>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BDC8751D-FC32-4F80-82A7-CCD9F765BBF6}"/>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5C4C8F-FBCC-4F37-BD9E-F89C10378469}"/>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CFAC2078-6F08-496C-AB3F-CFB6B70F3FE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91AE08E0-78D3-439D-9DA8-507E539CA450}"/>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4F60859-062E-4B90-A324-EFEE328965F2}"/>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3C2A7BD1-642D-41A5-AB18-89B25C94A71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F34F2FC4-5F4B-4F77-AB69-E2FCF5B2D8C4}"/>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C14617F7-6D21-4CA0-9690-A99E9F79A770}"/>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C74C68A3-5540-418A-B0D8-863B8E710631}"/>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8FE504DA-2E18-4912-81F9-AA6F7E8413DD}"/>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472014941"/>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6AAD3194-3F29-48AF-855E-AC96C42C2D5B}"/>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47BD2C12-6EE0-4AF7-8C91-E31919FAF53F}"/>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6095A5F1-97D4-4575-AD09-AF34B014CF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B2E1732-D3AE-4C45-A468-D95B90DA4B92}"/>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2C51765D-1665-437A-BF3D-92FCB0B1133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6FBC3FBB-DA84-4DFF-99E8-10469F011C6A}"/>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42E19A02-39A1-480E-B019-9B2CD55D175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D777C626-53CD-46E5-9CFD-B98FB915D35F}"/>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What it adds</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eaad9f0dee2146b8">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5661236"/>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5312281-6BBE-4F5D-A4B4-AA327FE6734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80DBC90B-E81D-490E-8B6B-D92BF2C8D85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EA82408B-1C33-4183-9F6C-EA31F57616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A67C28E4-A05D-4B48-AB97-1C30E3ABEE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DACBE9FA-D664-4CC7-8DD3-7F61261FEC4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F232D637-EFC2-4304-80C0-B674B7D8E6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5E381C10-7E3C-48C0-B5F4-560C4794DC7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8710DAE7-242A-40F2-814C-2AA54D52B19E}"/>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829C8B3E-11D4-4DD9-B4EF-418EBA13055B}"/>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5C5BC169-B0B1-42E8-AC80-95832AF4FA04}"/>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8817F7D7-CC19-42CC-99FF-08F948D3CB0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B6BF35E1-E4AF-44D3-B18D-43322651EE9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E010EB1-F6A8-4B66-BE63-22E118C64991}"/>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9EAD83A7-3F4C-4FD0-8CB7-B66A76F1063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43A917A-6E39-4760-81D1-1132FAB933F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3F3CF173-BFC0-4509-92C5-76685A8E51D1}"/>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4B87692B-EDB2-4E02-A63A-94597A48CDFE}"/>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E9EED9A1-1ED9-4C20-BD78-9E405749C910}"/>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C5F8CD8F-7E1C-4A41-B563-BBFCF7B82DE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A90FE26-5DE8-41A6-89AE-3A507983175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F19FD76-566F-4957-B5B7-19F8741D9AD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0E9F73EF-3FAB-4C43-A875-2B7BF460BF6D}"/>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92B5B8A0-9B2C-4599-A404-2EE109E5135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F020656-534A-49A3-A8EA-31FE8109C0A1}"/>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C552B367-E33E-420F-A5CF-44BC7F100EE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48B49553-77EB-4005-94DF-B77EDC81499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6D08F8C8-A239-4423-A920-6DE6076AB27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79DACF74-FA86-4C28-8576-57B8BF2CAA7A}"/>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101140CA-A614-4946-BFE8-9CA4AE2F4BFC}"/>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361627858"/>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560EF14D-0B66-426A-B934-6BB9065CAE7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977FF2CB-17B6-46DE-8796-54FFA49E94B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BF6B1C31-60BB-40B7-8729-3AB129DDED0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44FF0744-51CA-4C11-BFDF-2AD886F265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A867A068-6D1C-4E23-A89A-1C4424F9D91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C92957D4-B7D4-48FD-A26B-035E7B547AA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5B107DF-3EEA-4CF6-9AED-4D06541B70B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AFD49D51-DE2C-47F5-B0A3-2C6E22513036}"/>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E718EA8B-5DFC-4697-B8B0-0F59E823C153}"/>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EE0124DC-6CA9-4E27-9D68-E6FE04681092}"/>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2E04CFFF-5100-4E02-A3B8-F3B30283E751}"/>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80D82203-60E4-4BAA-8587-F929C97F0DA3}"/>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3280867D-C99A-4FF9-A7C7-EB5507C93C0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B316896B-7762-474A-A611-E20A77993D9F}"/>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1FDE5D48-6F71-4449-80B0-CE1DC5F37B66}"/>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2CE9D07-DF4C-4461-91F7-5AFB1AA3BBB3}"/>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C396F2-1CA7-4DED-BA25-0DC2415E51D2}"/>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F9A95EA8-0A83-4D90-8EB3-10BB97903091}"/>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DBC9FCFC-7BC5-41D0-B79D-A7FD61211449}"/>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70B99FCA-DAE8-4AE8-8A21-5719F70EF7B3}"/>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7A1CB19A-DD48-421D-AEC4-A15F721616E6}"/>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FAAB25FC-4FDC-4960-80D9-67E25BA5C27C}"/>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EE4BB61A-6398-412C-88E8-3E2C81264A5F}"/>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BE77E02C-5CFD-4659-8E5D-6EE82F7710A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235015A5-837F-4D5A-8D2C-E93BB7F025E9}"/>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A57DCBFD-13A0-4202-A042-6E80B5507A8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9BFDB592-8664-4641-BC30-EF755719E123}"/>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DCC19088-4B80-4BC8-A7A4-A70B1533C894}"/>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0E8B2D8-C572-46E2-B44B-709D5B6919B5}"/>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997CB638-708B-4B97-85F6-23A8D7BF418E}"/>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C3F86DBE-D43C-4EC7-A675-D895F3354869}"/>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AFF0B4EA-A59B-4839-97F9-74F169FFFA84}"/>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1A8A30E1-8B58-4036-924C-67854BDE6315}"/>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B0FCDEC9-53BD-467A-90E9-CB26AEA62400}"/>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65663087"/>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0EC65D10-1225-4291-BAB8-F94421F959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BD7B2F6A-E669-4757-97FF-5FDD883C16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9FAD073-B726-4173-9DB3-CF7CC5245B1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5A1508DE-6D90-4625-BF11-CBB5148BD64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91613CC-43E6-4844-BFF6-8296F99035C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4B16D34-598E-4D15-BC5A-0DF1CB7AD7A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6B952CD-52A4-46A1-BCAD-15B51652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F06C1AAF-0B2F-41B7-BABE-4D8927B934A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83B941A-D8D1-48F3-9202-155CA53142C4}"/>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F11F30D-0658-4260-838F-931A1EC0261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37032A2B-AD74-4C32-AD9B-93A8A5A807D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8582DB8B-2D11-4425-BB20-A1509B491654}"/>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AE2C8EDE-FF77-4A2D-93CD-7661A339334D}"/>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Different uncertainties need different responses</a:t>
            </a:r>
            <a:endParaRPr/>
          </a:p>
        </p:txBody>
      </p:sp>
      <p:sp>
        <p:nvSpPr>
          <p:cNvPr id="735" name="Google Shape;735;p28">
            <a:extLst xmlns:a="http://schemas.openxmlformats.org/drawingml/2006/main">
              <a:ext uri="{FF2B5EF4-FFF2-40B4-BE49-F238E27FC236}">
                <a16:creationId xmlns:a16="http://schemas.microsoft.com/office/drawing/2014/main" id="{40B62961-5731-4B90-B0A9-B263D0DBDC3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Represent internal variability, explore scenarios, compare models and adjust diagnosed bias carefully.</a:t>
            </a:r>
            <a:endParaRPr/>
          </a:p>
        </p:txBody>
      </p:sp>
      <p:sp>
        <p:nvSpPr>
          <p:cNvPr id="736" name="Google Shape;736;p28">
            <a:extLst xmlns:a="http://schemas.openxmlformats.org/drawingml/2006/main">
              <a:ext uri="{FF2B5EF4-FFF2-40B4-BE49-F238E27FC236}">
                <a16:creationId xmlns:a16="http://schemas.microsoft.com/office/drawing/2014/main" id="{5E6F2A9E-7A3D-4291-BF8D-2DAD20CB402D}"/>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64860169-F82F-46E9-B615-1A4C2D7729C9}"/>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2BBE445-3330-4DB6-9350-DFC853E1D660}"/>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5A0860B9-3BAE-46F0-8CFD-3151D268CC1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7ED1AE6-0FC7-4B87-819D-773C932CF3FF}"/>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2FAE51B-3BBD-40CC-8E38-357A9AB20662}"/>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075EDF-F237-4AF7-8B6C-830139185E35}"/>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98B7E1E9-C39C-426D-AE0B-8BE70CDF99D3}"/>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870343893"/>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CF2AD93E-4730-4449-B519-F08BF87B3E4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0DBC394-7177-45B8-8149-0DCD995E22B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6944050-265D-4944-9141-7E2CA9856CBB}"/>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748068F9-DA99-419F-98CC-B3D61234A767}"/>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610855C4-DEA9-42F5-815D-06384A7F2CBA}"/>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B7CCC45-4129-41A1-98F2-F6662E182529}"/>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9504C32-3502-4367-9CC8-F0B5E10CF5AA}"/>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956B870C-B908-40AA-B0D9-498AF513E7EF}"/>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F3016777-5636-49E4-A66B-FC5D2867B9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19A995DC-DE13-47AD-BA24-0CC5D2C1D2B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0363DCF1-89AC-4669-AEDB-2CFC52C099AA}"/>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850870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2026-09-23T08:17:17.3780000Z</dcterms:created>
  <dcterms:modified xsi:type="dcterms:W3CDTF">2026-09-23T08:17:17.3780000Z</dcterms:modified>
</coreProperties>
</file>