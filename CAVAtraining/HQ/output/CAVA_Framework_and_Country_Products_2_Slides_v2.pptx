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ce59953f334002" /><Relationship Type="http://schemas.openxmlformats.org/officeDocument/2006/relationships/extended-properties" Target="/docProps/app.xml" Id="R7c6997b76e024110" /><Relationship Type="http://schemas.openxmlformats.org/officeDocument/2006/relationships/officeDocument" Target="/ppt/presentation.xml" Id="R1a0085b13ec84bd0" /></Relationships>
</file>

<file path=ppt/presentation.xml><?xml version="1.0" encoding="utf-8"?>
<p:presentation xmlns:p="http://schemas.openxmlformats.org/presentationml/2006/main">
  <p:sldMasterIdLst>
    <p:sldMasterId xmlns:r="http://schemas.openxmlformats.org/officeDocument/2006/relationships" id="2147483648" r:id="R6ad690a0db6d4c3b"/>
  </p:sldMasterIdLst>
  <p:notesMasterIdLst>
    <p:notesMasterId xmlns:r="http://schemas.openxmlformats.org/officeDocument/2006/relationships" r:id="Rc6f8e5d4d5584c6b"/>
  </p:notesMasterIdLst>
  <p:sldIdLst>
    <p:sldId xmlns:r="http://schemas.openxmlformats.org/officeDocument/2006/relationships" id="256" r:id="Rd78f2c9477164a70"/>
    <p:sldId xmlns:r="http://schemas.openxmlformats.org/officeDocument/2006/relationships" id="257" r:id="Rf9f8be6454174b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20ed90192d409c" /><Relationship Type="http://schemas.openxmlformats.org/officeDocument/2006/relationships/slideMaster" Target="/ppt/slideMasters/slideMaster1.xml" Id="R6ad690a0db6d4c3b" /><Relationship Type="http://schemas.openxmlformats.org/officeDocument/2006/relationships/notesMaster" Target="/ppt/notesMasters/notesMaster1.xml" Id="Rc6f8e5d4d5584c6b" /><Relationship Type="http://schemas.openxmlformats.org/officeDocument/2006/relationships/presProps" Target="/ppt/presProps.xml" Id="R7ebf807f99fd4129" /><Relationship Type="http://schemas.openxmlformats.org/officeDocument/2006/relationships/tableStyles" Target="/ppt/tableStyles.xml" Id="R5dba87d8d1644fec" /><Relationship Type="http://schemas.openxmlformats.org/officeDocument/2006/relationships/slide" Target="/ppt/slides/slide1.xml" Id="Rd78f2c9477164a70" /><Relationship Type="http://schemas.openxmlformats.org/officeDocument/2006/relationships/slide" Target="/ppt/slides/slide2.xml" Id="Rf9f8be6454174b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3f51611cec4d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1dec53d6554781" /><Relationship Type="http://schemas.openxmlformats.org/officeDocument/2006/relationships/notesMaster" Target="/ppt/notesMasters/notesMaster1.xml" Id="R728db08a4f074f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fd26ef7b1549c9" /><Relationship Type="http://schemas.openxmlformats.org/officeDocument/2006/relationships/notesMaster" Target="/ppt/notesMasters/notesMaster1.xml" Id="Re0fe9d433ddb4d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CAVA combines climate, agroclimatic and agricultural impact information in one analytical environment. ERA5 and CORDEX-CORE support climate indicators. ISIMIP3b crop models provide agricultural impact projections and use their own climate forcing data. CAVA therefore harmonizes these components at the indicator and interpretation level rather than claiming identical model inputs. The same framework is exposed through the web platform, R SDK and Python SDK. Source: https://cavaplatform.fao.org/about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CAVA can be deployed as a country or regional climate information system. Countries and institutions can integrate national datasets, give visibility to locally generated information, adapt indicators and workflows, and choose a deployment ranging from a visualization interface to analytical pipelines, automated reports and programmatic access. The CAVA About page lists a Southeast Asia system using Meteorological Service Singapore datasets and a Sri Lanka national implementation. Source: https://cavaplatform.fao.org/about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fdc8128e2048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ec344fc37f4c45" /><Relationship Type="http://schemas.openxmlformats.org/officeDocument/2006/relationships/slideLayout" Target="/ppt/slideLayouts/slideLayout1.xml" Id="R79a7c1e749844b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a7c1e749844b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27f35a25c7444a" /><Relationship Type="http://schemas.openxmlformats.org/officeDocument/2006/relationships/notesSlide" Target="/ppt/notesSlides/notesSlide1.xml" Id="Ra1c600a5e3d447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c2be8098a0427b" /><Relationship Type="http://schemas.openxmlformats.org/officeDocument/2006/relationships/notesSlide" Target="/ppt/notesSlides/notesSlide2.xml" Id="Rb61acc55aeef4325" /></Relationships>
</file>

<file path=ppt/slides/slide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33AB16BE-AC0F-435D-ACC1-B82F3BDBD611}"/>
              </a:ext>
            </a:extLst>
          </p:cNvPr>
          <p:cNvSpPr>
            <a:spLocks xmlns:a="http://schemas.openxmlformats.org/drawingml/2006/main" noGrp="1"/>
          </p:cNvSpPr>
          <p:nvPr/>
        </p:nvSpPr>
        <p:spPr>
          <a:xfrm xmlns:a="http://schemas.openxmlformats.org/drawingml/2006/main">
            <a:off x="647700" y="381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12304E"/>
                </a:solidFill>
                <a:latin typeface="Lato"/>
                <a:ea typeface="Lato"/>
                <a:cs typeface="Lato"/>
              </a:defRPr>
            </a:pPr>
            <a:r>
              <a:rPr sz="2250" b="1" i="0">
                <a:solidFill>
                  <a:srgbClr val="12304E"/>
                </a:solidFill>
                <a:latin typeface="Lato"/>
                <a:ea typeface="Lato"/>
                <a:cs typeface="Lato"/>
              </a:rPr>
              <a:t>One analytical backbone, multiple CAVA interfaces</a:t>
            </a:r>
          </a:p>
        </p:txBody>
      </p:sp>
      <p:sp>
        <p:nvSpPr>
          <p:cNvPr id="2" name="">
            <a:extLst xmlns:a="http://schemas.openxmlformats.org/drawingml/2006/main">
              <a:ext uri="{FF2B5EF4-FFF2-40B4-BE49-F238E27FC236}">
                <a16:creationId xmlns:a16="http://schemas.microsoft.com/office/drawing/2014/main" id="{7F4DE39F-3A0E-4CBB-8C01-AE3BF132FD42}"/>
              </a:ext>
            </a:extLst>
          </p:cNvPr>
          <p:cNvSpPr>
            <a:spLocks xmlns:a="http://schemas.openxmlformats.org/drawingml/2006/main" noGrp="1"/>
          </p:cNvSpPr>
          <p:nvPr/>
        </p:nvSpPr>
        <p:spPr>
          <a:xfrm xmlns:a="http://schemas.openxmlformats.org/drawingml/2006/main">
            <a:off x="657225" y="9334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Climate data, agricultural impacts and shared processing support different types of users</a:t>
            </a:r>
          </a:p>
        </p:txBody>
      </p:sp>
      <p:sp>
        <p:nvSpPr>
          <p:cNvPr id="3" name="">
            <a:extLst xmlns:a="http://schemas.openxmlformats.org/drawingml/2006/main">
              <a:ext uri="{FF2B5EF4-FFF2-40B4-BE49-F238E27FC236}">
                <a16:creationId xmlns:a16="http://schemas.microsoft.com/office/drawing/2014/main" id="{AE8B8E03-D12F-438E-B799-50AFED160802}"/>
              </a:ext>
            </a:extLst>
          </p:cNvPr>
          <p:cNvSpPr>
            <a:spLocks xmlns:a="http://schemas.openxmlformats.org/drawingml/2006/main" noGrp="1"/>
          </p:cNvSpPr>
          <p:nvPr/>
        </p:nvSpPr>
        <p:spPr>
          <a:xfrm xmlns:a="http://schemas.openxmlformats.org/drawingml/2006/main">
            <a:off x="647700" y="13049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5F96C25-EB99-4A5F-AE31-9AF98A0283ED}"/>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8D4DC0-2DA4-4BF0-A9DC-4A9855E6C2ED}"/>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4EE5F64-5F16-4690-844E-657A24D2417F}"/>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7" name="">
            <a:extLst xmlns:a="http://schemas.openxmlformats.org/drawingml/2006/main">
              <a:ext uri="{FF2B5EF4-FFF2-40B4-BE49-F238E27FC236}">
                <a16:creationId xmlns:a16="http://schemas.microsoft.com/office/drawing/2014/main" id="{AC6C7EE0-8F71-4CDE-8E78-801831F27BF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687984"/>
                </a:solidFill>
                <a:latin typeface="Lato"/>
                <a:ea typeface="Lato"/>
                <a:cs typeface="Lato"/>
              </a:defRPr>
            </a:pPr>
            <a:r>
              <a:rPr sz="750" b="0" i="0">
                <a:solidFill>
                  <a:srgbClr val="687984"/>
                </a:solidFill>
                <a:latin typeface="Lato"/>
                <a:ea typeface="Lato"/>
                <a:cs typeface="Lato"/>
              </a:rPr>
              <a:t>20</a:t>
            </a:r>
          </a:p>
        </p:txBody>
      </p:sp>
      <p:sp>
        <p:nvSpPr>
          <p:cNvPr id="8" name="">
            <a:extLst xmlns:a="http://schemas.openxmlformats.org/drawingml/2006/main">
              <a:ext uri="{FF2B5EF4-FFF2-40B4-BE49-F238E27FC236}">
                <a16:creationId xmlns:a16="http://schemas.microsoft.com/office/drawing/2014/main" id="{AD67A4C6-FD15-49C0-91DE-B93F24088112}"/>
              </a:ext>
            </a:extLst>
          </p:cNvPr>
          <p:cNvSpPr>
            <a:spLocks xmlns:a="http://schemas.openxmlformats.org/drawingml/2006/main" noGrp="1"/>
          </p:cNvSpPr>
          <p:nvPr/>
        </p:nvSpPr>
        <p:spPr>
          <a:xfrm xmlns:a="http://schemas.openxmlformats.org/drawingml/2006/main">
            <a:off x="742950" y="168592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687984"/>
                </a:solidFill>
                <a:latin typeface="Lato"/>
                <a:ea typeface="Lato"/>
                <a:cs typeface="Lato"/>
              </a:defRPr>
            </a:pPr>
            <a:r>
              <a:rPr sz="900" b="1" i="0">
                <a:solidFill>
                  <a:srgbClr val="687984"/>
                </a:solidFill>
                <a:latin typeface="Lato"/>
                <a:ea typeface="Lato"/>
                <a:cs typeface="Lato"/>
              </a:rPr>
              <a:t>DATA AND MODEL CONTENT</a:t>
            </a:r>
          </a:p>
        </p:txBody>
      </p:sp>
      <p:sp>
        <p:nvSpPr>
          <p:cNvPr id="9" name="">
            <a:extLst xmlns:a="http://schemas.openxmlformats.org/drawingml/2006/main">
              <a:ext uri="{FF2B5EF4-FFF2-40B4-BE49-F238E27FC236}">
                <a16:creationId xmlns:a16="http://schemas.microsoft.com/office/drawing/2014/main" id="{74346B88-EA91-4CD6-9968-A512402E7918}"/>
              </a:ext>
            </a:extLst>
          </p:cNvPr>
          <p:cNvSpPr>
            <a:spLocks xmlns:a="http://schemas.openxmlformats.org/drawingml/2006/main" noGrp="1"/>
          </p:cNvSpPr>
          <p:nvPr/>
        </p:nvSpPr>
        <p:spPr>
          <a:xfrm xmlns:a="http://schemas.openxmlformats.org/drawingml/2006/main">
            <a:off x="742950" y="2000250"/>
            <a:ext cx="3048000" cy="876300"/>
          </a:xfrm>
          <a:prstGeom xmlns:a="http://schemas.openxmlformats.org/drawingml/2006/main" prst="rect">
            <a:avLst/>
          </a:prstGeom>
          <a:solidFill xmlns:a="http://schemas.openxmlformats.org/drawingml/2006/main">
            <a:srgbClr val="EAF3F8"/>
          </a:solidFill>
          <a:ln xmlns:a="http://schemas.openxmlformats.org/drawingml/2006/main" w="9525">
            <a:solidFill>
              <a:srgbClr val="137DB4"/>
            </a:solidFill>
            <a:prstDash val="solid"/>
          </a:ln>
        </p:spPr>
      </p:sp>
      <p:sp>
        <p:nvSpPr>
          <p:cNvPr id="10" name="">
            <a:extLst xmlns:a="http://schemas.openxmlformats.org/drawingml/2006/main">
              <a:ext uri="{FF2B5EF4-FFF2-40B4-BE49-F238E27FC236}">
                <a16:creationId xmlns:a16="http://schemas.microsoft.com/office/drawing/2014/main" id="{29ADB6B3-91E7-4098-AEF2-C82B24283B6E}"/>
              </a:ext>
            </a:extLst>
          </p:cNvPr>
          <p:cNvSpPr>
            <a:spLocks xmlns:a="http://schemas.openxmlformats.org/drawingml/2006/main" noGrp="1"/>
          </p:cNvSpPr>
          <p:nvPr/>
        </p:nvSpPr>
        <p:spPr>
          <a:xfrm xmlns:a="http://schemas.openxmlformats.org/drawingml/2006/main">
            <a:off x="933450" y="214312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37DB4"/>
                </a:solidFill>
                <a:latin typeface="Lato"/>
                <a:ea typeface="Lato"/>
                <a:cs typeface="Lato"/>
              </a:defRPr>
            </a:pPr>
            <a:r>
              <a:rPr sz="900" b="1" i="0">
                <a:solidFill>
                  <a:srgbClr val="137DB4"/>
                </a:solidFill>
                <a:latin typeface="Lato"/>
                <a:ea typeface="Lato"/>
                <a:cs typeface="Lato"/>
              </a:rPr>
              <a:t>COPERNICUS</a:t>
            </a:r>
          </a:p>
        </p:txBody>
      </p:sp>
      <p:sp>
        <p:nvSpPr>
          <p:cNvPr id="11" name="">
            <a:extLst xmlns:a="http://schemas.openxmlformats.org/drawingml/2006/main">
              <a:ext uri="{FF2B5EF4-FFF2-40B4-BE49-F238E27FC236}">
                <a16:creationId xmlns:a16="http://schemas.microsoft.com/office/drawing/2014/main" id="{A72D25FC-DD97-4C7E-A4CA-C667F9EB524C}"/>
              </a:ext>
            </a:extLst>
          </p:cNvPr>
          <p:cNvSpPr>
            <a:spLocks xmlns:a="http://schemas.openxmlformats.org/drawingml/2006/main" noGrp="1"/>
          </p:cNvSpPr>
          <p:nvPr/>
        </p:nvSpPr>
        <p:spPr>
          <a:xfrm xmlns:a="http://schemas.openxmlformats.org/drawingml/2006/main">
            <a:off x="933450" y="23812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2304E"/>
                </a:solidFill>
                <a:latin typeface="Lato"/>
                <a:ea typeface="Lato"/>
                <a:cs typeface="Lato"/>
              </a:defRPr>
            </a:pPr>
            <a:r>
              <a:rPr sz="1500" b="1" i="0">
                <a:solidFill>
                  <a:srgbClr val="12304E"/>
                </a:solidFill>
                <a:latin typeface="Lato"/>
                <a:ea typeface="Lato"/>
                <a:cs typeface="Lato"/>
              </a:rPr>
              <a:t>ERA5 reanalysis</a:t>
            </a:r>
          </a:p>
        </p:txBody>
      </p:sp>
      <p:sp>
        <p:nvSpPr>
          <p:cNvPr id="12" name="">
            <a:extLst xmlns:a="http://schemas.openxmlformats.org/drawingml/2006/main">
              <a:ext uri="{FF2B5EF4-FFF2-40B4-BE49-F238E27FC236}">
                <a16:creationId xmlns:a16="http://schemas.microsoft.com/office/drawing/2014/main" id="{B3651F2B-3EF3-49C2-B72E-7282BF8F4009}"/>
              </a:ext>
            </a:extLst>
          </p:cNvPr>
          <p:cNvSpPr>
            <a:spLocks xmlns:a="http://schemas.openxmlformats.org/drawingml/2006/main" noGrp="1"/>
          </p:cNvSpPr>
          <p:nvPr/>
        </p:nvSpPr>
        <p:spPr>
          <a:xfrm xmlns:a="http://schemas.openxmlformats.org/drawingml/2006/main">
            <a:off x="933450" y="265747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687984"/>
                </a:solidFill>
                <a:latin typeface="Lato"/>
                <a:ea typeface="Lato"/>
                <a:cs typeface="Lato"/>
              </a:defRPr>
            </a:pPr>
            <a:r>
              <a:rPr sz="975" b="0" i="0">
                <a:solidFill>
                  <a:srgbClr val="687984"/>
                </a:solidFill>
                <a:latin typeface="Lato"/>
                <a:ea typeface="Lato"/>
                <a:cs typeface="Lato"/>
              </a:rPr>
              <a:t>Historical climate information</a:t>
            </a:r>
          </a:p>
        </p:txBody>
      </p:sp>
      <p:sp>
        <p:nvSpPr>
          <p:cNvPr id="13" name="">
            <a:extLst xmlns:a="http://schemas.openxmlformats.org/drawingml/2006/main">
              <a:ext uri="{FF2B5EF4-FFF2-40B4-BE49-F238E27FC236}">
                <a16:creationId xmlns:a16="http://schemas.microsoft.com/office/drawing/2014/main" id="{E7AF152D-7891-41B4-AD25-24841BDCC3A2}"/>
              </a:ext>
            </a:extLst>
          </p:cNvPr>
          <p:cNvSpPr>
            <a:spLocks xmlns:a="http://schemas.openxmlformats.org/drawingml/2006/main" noGrp="1"/>
          </p:cNvSpPr>
          <p:nvPr/>
        </p:nvSpPr>
        <p:spPr>
          <a:xfrm xmlns:a="http://schemas.openxmlformats.org/drawingml/2006/main">
            <a:off x="2066925" y="2914650"/>
            <a:ext cx="400050" cy="438150"/>
          </a:xfrm>
          <a:prstGeom xmlns:a="http://schemas.openxmlformats.org/drawingml/2006/main" prst="downArrow">
            <a:avLst/>
          </a:prstGeom>
          <a:solidFill xmlns:a="http://schemas.openxmlformats.org/drawingml/2006/main">
            <a:srgbClr val="137DB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5FA8F1F-D9EA-4FE2-9CE8-C3AEC54CCC1A}"/>
              </a:ext>
            </a:extLst>
          </p:cNvPr>
          <p:cNvSpPr>
            <a:spLocks xmlns:a="http://schemas.openxmlformats.org/drawingml/2006/main" noGrp="1"/>
          </p:cNvSpPr>
          <p:nvPr/>
        </p:nvSpPr>
        <p:spPr>
          <a:xfrm xmlns:a="http://schemas.openxmlformats.org/drawingml/2006/main">
            <a:off x="4267200" y="2000250"/>
            <a:ext cx="3048000" cy="876300"/>
          </a:xfrm>
          <a:prstGeom xmlns:a="http://schemas.openxmlformats.org/drawingml/2006/main" prst="rect">
            <a:avLst/>
          </a:prstGeom>
          <a:solidFill xmlns:a="http://schemas.openxmlformats.org/drawingml/2006/main">
            <a:srgbClr val="E7EEF3"/>
          </a:solidFill>
          <a:ln xmlns:a="http://schemas.openxmlformats.org/drawingml/2006/main" w="9525">
            <a:solidFill>
              <a:srgbClr val="1C4261"/>
            </a:solidFill>
            <a:prstDash val="solid"/>
          </a:ln>
        </p:spPr>
      </p:sp>
      <p:sp>
        <p:nvSpPr>
          <p:cNvPr id="15" name="">
            <a:extLst xmlns:a="http://schemas.openxmlformats.org/drawingml/2006/main">
              <a:ext uri="{FF2B5EF4-FFF2-40B4-BE49-F238E27FC236}">
                <a16:creationId xmlns:a16="http://schemas.microsoft.com/office/drawing/2014/main" id="{E16DB647-A74D-46BC-8F64-CB221AFB69F4}"/>
              </a:ext>
            </a:extLst>
          </p:cNvPr>
          <p:cNvSpPr>
            <a:spLocks xmlns:a="http://schemas.openxmlformats.org/drawingml/2006/main" noGrp="1"/>
          </p:cNvSpPr>
          <p:nvPr/>
        </p:nvSpPr>
        <p:spPr>
          <a:xfrm xmlns:a="http://schemas.openxmlformats.org/drawingml/2006/main">
            <a:off x="4457700" y="214312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1C4261"/>
                </a:solidFill>
                <a:latin typeface="Lato"/>
                <a:ea typeface="Lato"/>
                <a:cs typeface="Lato"/>
              </a:defRPr>
            </a:pPr>
            <a:r>
              <a:rPr sz="900" b="1" i="0">
                <a:solidFill>
                  <a:srgbClr val="1C4261"/>
                </a:solidFill>
                <a:latin typeface="Lato"/>
                <a:ea typeface="Lato"/>
                <a:cs typeface="Lato"/>
              </a:rPr>
              <a:t>ESGF</a:t>
            </a:r>
          </a:p>
        </p:txBody>
      </p:sp>
      <p:sp>
        <p:nvSpPr>
          <p:cNvPr id="16" name="">
            <a:extLst xmlns:a="http://schemas.openxmlformats.org/drawingml/2006/main">
              <a:ext uri="{FF2B5EF4-FFF2-40B4-BE49-F238E27FC236}">
                <a16:creationId xmlns:a16="http://schemas.microsoft.com/office/drawing/2014/main" id="{AEE7E970-6C62-4B5E-B2D2-C1EEF6EED93D}"/>
              </a:ext>
            </a:extLst>
          </p:cNvPr>
          <p:cNvSpPr>
            <a:spLocks xmlns:a="http://schemas.openxmlformats.org/drawingml/2006/main" noGrp="1"/>
          </p:cNvSpPr>
          <p:nvPr/>
        </p:nvSpPr>
        <p:spPr>
          <a:xfrm xmlns:a="http://schemas.openxmlformats.org/drawingml/2006/main">
            <a:off x="4457700" y="23812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2304E"/>
                </a:solidFill>
                <a:latin typeface="Lato"/>
                <a:ea typeface="Lato"/>
                <a:cs typeface="Lato"/>
              </a:defRPr>
            </a:pPr>
            <a:r>
              <a:rPr sz="1500" b="1" i="0">
                <a:solidFill>
                  <a:srgbClr val="12304E"/>
                </a:solidFill>
                <a:latin typeface="Lato"/>
                <a:ea typeface="Lato"/>
                <a:cs typeface="Lato"/>
              </a:rPr>
              <a:t>CORDEX-CORE</a:t>
            </a:r>
          </a:p>
        </p:txBody>
      </p:sp>
      <p:sp>
        <p:nvSpPr>
          <p:cNvPr id="17" name="">
            <a:extLst xmlns:a="http://schemas.openxmlformats.org/drawingml/2006/main">
              <a:ext uri="{FF2B5EF4-FFF2-40B4-BE49-F238E27FC236}">
                <a16:creationId xmlns:a16="http://schemas.microsoft.com/office/drawing/2014/main" id="{3F272A66-05F9-4987-B983-EC472DC37F12}"/>
              </a:ext>
            </a:extLst>
          </p:cNvPr>
          <p:cNvSpPr>
            <a:spLocks xmlns:a="http://schemas.openxmlformats.org/drawingml/2006/main" noGrp="1"/>
          </p:cNvSpPr>
          <p:nvPr/>
        </p:nvSpPr>
        <p:spPr>
          <a:xfrm xmlns:a="http://schemas.openxmlformats.org/drawingml/2006/main">
            <a:off x="4457700" y="265747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687984"/>
                </a:solidFill>
                <a:latin typeface="Lato"/>
                <a:ea typeface="Lato"/>
                <a:cs typeface="Lato"/>
              </a:defRPr>
            </a:pPr>
            <a:r>
              <a:rPr sz="975" b="0" i="0">
                <a:solidFill>
                  <a:srgbClr val="687984"/>
                </a:solidFill>
                <a:latin typeface="Lato"/>
                <a:ea typeface="Lato"/>
                <a:cs typeface="Lato"/>
              </a:rPr>
              <a:t>Regional climate projections</a:t>
            </a:r>
          </a:p>
        </p:txBody>
      </p:sp>
      <p:sp>
        <p:nvSpPr>
          <p:cNvPr id="18" name="">
            <a:extLst xmlns:a="http://schemas.openxmlformats.org/drawingml/2006/main">
              <a:ext uri="{FF2B5EF4-FFF2-40B4-BE49-F238E27FC236}">
                <a16:creationId xmlns:a16="http://schemas.microsoft.com/office/drawing/2014/main" id="{6D4244BC-7DFE-4BC0-B2DE-1FBD558FC322}"/>
              </a:ext>
            </a:extLst>
          </p:cNvPr>
          <p:cNvSpPr>
            <a:spLocks xmlns:a="http://schemas.openxmlformats.org/drawingml/2006/main" noGrp="1"/>
          </p:cNvSpPr>
          <p:nvPr/>
        </p:nvSpPr>
        <p:spPr>
          <a:xfrm xmlns:a="http://schemas.openxmlformats.org/drawingml/2006/main">
            <a:off x="5591175" y="2914650"/>
            <a:ext cx="400050" cy="438150"/>
          </a:xfrm>
          <a:prstGeom xmlns:a="http://schemas.openxmlformats.org/drawingml/2006/main" prst="downArrow">
            <a:avLst/>
          </a:prstGeom>
          <a:solidFill xmlns:a="http://schemas.openxmlformats.org/drawingml/2006/main">
            <a:srgbClr val="1C426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783332C-C787-43C8-BE7E-489885010087}"/>
              </a:ext>
            </a:extLst>
          </p:cNvPr>
          <p:cNvSpPr>
            <a:spLocks xmlns:a="http://schemas.openxmlformats.org/drawingml/2006/main" noGrp="1"/>
          </p:cNvSpPr>
          <p:nvPr/>
        </p:nvSpPr>
        <p:spPr>
          <a:xfrm xmlns:a="http://schemas.openxmlformats.org/drawingml/2006/main">
            <a:off x="7791450" y="2000250"/>
            <a:ext cx="3752850" cy="876300"/>
          </a:xfrm>
          <a:prstGeom xmlns:a="http://schemas.openxmlformats.org/drawingml/2006/main" prst="rect">
            <a:avLst/>
          </a:prstGeom>
          <a:solidFill xmlns:a="http://schemas.openxmlformats.org/drawingml/2006/main">
            <a:srgbClr val="EAF6ED"/>
          </a:solidFill>
          <a:ln xmlns:a="http://schemas.openxmlformats.org/drawingml/2006/main" w="9525">
            <a:solidFill>
              <a:srgbClr val="67C587"/>
            </a:solidFill>
            <a:prstDash val="solid"/>
          </a:ln>
        </p:spPr>
      </p:sp>
      <p:sp>
        <p:nvSpPr>
          <p:cNvPr id="20" name="">
            <a:extLst xmlns:a="http://schemas.openxmlformats.org/drawingml/2006/main">
              <a:ext uri="{FF2B5EF4-FFF2-40B4-BE49-F238E27FC236}">
                <a16:creationId xmlns:a16="http://schemas.microsoft.com/office/drawing/2014/main" id="{2D02174D-2541-4674-9B87-51438A3AC675}"/>
              </a:ext>
            </a:extLst>
          </p:cNvPr>
          <p:cNvSpPr>
            <a:spLocks xmlns:a="http://schemas.openxmlformats.org/drawingml/2006/main" noGrp="1"/>
          </p:cNvSpPr>
          <p:nvPr/>
        </p:nvSpPr>
        <p:spPr>
          <a:xfrm xmlns:a="http://schemas.openxmlformats.org/drawingml/2006/main">
            <a:off x="7981950" y="2143125"/>
            <a:ext cx="3371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67C587"/>
                </a:solidFill>
                <a:latin typeface="Lato"/>
                <a:ea typeface="Lato"/>
                <a:cs typeface="Lato"/>
              </a:defRPr>
            </a:pPr>
            <a:r>
              <a:rPr sz="900" b="1" i="0">
                <a:solidFill>
                  <a:srgbClr val="67C587"/>
                </a:solidFill>
                <a:latin typeface="Lato"/>
                <a:ea typeface="Lato"/>
                <a:cs typeface="Lato"/>
              </a:rPr>
              <a:t>ISIMIP3b</a:t>
            </a:r>
          </a:p>
        </p:txBody>
      </p:sp>
      <p:sp>
        <p:nvSpPr>
          <p:cNvPr id="21" name="">
            <a:extLst xmlns:a="http://schemas.openxmlformats.org/drawingml/2006/main">
              <a:ext uri="{FF2B5EF4-FFF2-40B4-BE49-F238E27FC236}">
                <a16:creationId xmlns:a16="http://schemas.microsoft.com/office/drawing/2014/main" id="{93F558C2-17B4-4D91-884E-C1CAE27D10F5}"/>
              </a:ext>
            </a:extLst>
          </p:cNvPr>
          <p:cNvSpPr>
            <a:spLocks xmlns:a="http://schemas.openxmlformats.org/drawingml/2006/main" noGrp="1"/>
          </p:cNvSpPr>
          <p:nvPr/>
        </p:nvSpPr>
        <p:spPr>
          <a:xfrm xmlns:a="http://schemas.openxmlformats.org/drawingml/2006/main">
            <a:off x="7981950" y="2381250"/>
            <a:ext cx="3371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12304E"/>
                </a:solidFill>
                <a:latin typeface="Lato"/>
                <a:ea typeface="Lato"/>
                <a:cs typeface="Lato"/>
              </a:defRPr>
            </a:pPr>
            <a:r>
              <a:rPr sz="1500" b="1" i="0">
                <a:solidFill>
                  <a:srgbClr val="12304E"/>
                </a:solidFill>
                <a:latin typeface="Lato"/>
                <a:ea typeface="Lato"/>
                <a:cs typeface="Lato"/>
              </a:rPr>
              <a:t>Crop impact projections</a:t>
            </a:r>
          </a:p>
        </p:txBody>
      </p:sp>
      <p:sp>
        <p:nvSpPr>
          <p:cNvPr id="22" name="">
            <a:extLst xmlns:a="http://schemas.openxmlformats.org/drawingml/2006/main">
              <a:ext uri="{FF2B5EF4-FFF2-40B4-BE49-F238E27FC236}">
                <a16:creationId xmlns:a16="http://schemas.microsoft.com/office/drawing/2014/main" id="{58FB9DBB-75C5-4813-BC52-7CC19AE215C6}"/>
              </a:ext>
            </a:extLst>
          </p:cNvPr>
          <p:cNvSpPr>
            <a:spLocks xmlns:a="http://schemas.openxmlformats.org/drawingml/2006/main" noGrp="1"/>
          </p:cNvSpPr>
          <p:nvPr/>
        </p:nvSpPr>
        <p:spPr>
          <a:xfrm xmlns:a="http://schemas.openxmlformats.org/drawingml/2006/main">
            <a:off x="7981950" y="2657475"/>
            <a:ext cx="3371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687984"/>
                </a:solidFill>
                <a:latin typeface="Lato"/>
                <a:ea typeface="Lato"/>
                <a:cs typeface="Lato"/>
              </a:defRPr>
            </a:pPr>
            <a:r>
              <a:rPr sz="975" b="0" i="0">
                <a:solidFill>
                  <a:srgbClr val="687984"/>
                </a:solidFill>
                <a:latin typeface="Lato"/>
                <a:ea typeface="Lato"/>
                <a:cs typeface="Lato"/>
              </a:rPr>
              <a:t>Agricultural impacts using independent forcing</a:t>
            </a:r>
          </a:p>
        </p:txBody>
      </p:sp>
      <p:sp>
        <p:nvSpPr>
          <p:cNvPr id="23" name="">
            <a:extLst xmlns:a="http://schemas.openxmlformats.org/drawingml/2006/main">
              <a:ext uri="{FF2B5EF4-FFF2-40B4-BE49-F238E27FC236}">
                <a16:creationId xmlns:a16="http://schemas.microsoft.com/office/drawing/2014/main" id="{FDB61105-928D-44EB-AA5A-8021F9335269}"/>
              </a:ext>
            </a:extLst>
          </p:cNvPr>
          <p:cNvSpPr>
            <a:spLocks xmlns:a="http://schemas.openxmlformats.org/drawingml/2006/main" noGrp="1"/>
          </p:cNvSpPr>
          <p:nvPr/>
        </p:nvSpPr>
        <p:spPr>
          <a:xfrm xmlns:a="http://schemas.openxmlformats.org/drawingml/2006/main">
            <a:off x="9467850" y="2914650"/>
            <a:ext cx="400050" cy="438150"/>
          </a:xfrm>
          <a:prstGeom xmlns:a="http://schemas.openxmlformats.org/drawingml/2006/main" prst="downArrow">
            <a:avLst/>
          </a:prstGeom>
          <a:solidFill xmlns:a="http://schemas.openxmlformats.org/drawingml/2006/main">
            <a:srgbClr val="67C58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E8547FF-D7BC-4DAD-8F36-8F281808D126}"/>
              </a:ext>
            </a:extLst>
          </p:cNvPr>
          <p:cNvSpPr>
            <a:spLocks xmlns:a="http://schemas.openxmlformats.org/drawingml/2006/main" noGrp="1"/>
          </p:cNvSpPr>
          <p:nvPr/>
        </p:nvSpPr>
        <p:spPr>
          <a:xfrm xmlns:a="http://schemas.openxmlformats.org/drawingml/2006/main">
            <a:off x="742950" y="3400425"/>
            <a:ext cx="10801350" cy="121920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8B0B541-811F-4E99-8287-B3815EDB01F6}"/>
              </a:ext>
            </a:extLst>
          </p:cNvPr>
          <p:cNvSpPr>
            <a:spLocks xmlns:a="http://schemas.openxmlformats.org/drawingml/2006/main" noGrp="1"/>
          </p:cNvSpPr>
          <p:nvPr/>
        </p:nvSpPr>
        <p:spPr>
          <a:xfrm xmlns:a="http://schemas.openxmlformats.org/drawingml/2006/main">
            <a:off x="952500" y="35718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Lato"/>
                <a:ea typeface="Lato"/>
                <a:cs typeface="Lato"/>
              </a:defRPr>
            </a:pPr>
            <a:r>
              <a:rPr sz="1800" b="1" i="0">
                <a:solidFill>
                  <a:srgbClr val="FFFFFF"/>
                </a:solidFill>
                <a:latin typeface="Lato"/>
                <a:ea typeface="Lato"/>
                <a:cs typeface="Lato"/>
              </a:rPr>
              <a:t>CAVA FRAMEWORK</a:t>
            </a:r>
          </a:p>
        </p:txBody>
      </p:sp>
      <p:sp>
        <p:nvSpPr>
          <p:cNvPr id="26" name="">
            <a:extLst xmlns:a="http://schemas.openxmlformats.org/drawingml/2006/main">
              <a:ext uri="{FF2B5EF4-FFF2-40B4-BE49-F238E27FC236}">
                <a16:creationId xmlns:a16="http://schemas.microsoft.com/office/drawing/2014/main" id="{97404A0D-905C-4545-8186-3B467D61EF47}"/>
              </a:ext>
            </a:extLst>
          </p:cNvPr>
          <p:cNvSpPr>
            <a:spLocks xmlns:a="http://schemas.openxmlformats.org/drawingml/2006/main" noGrp="1"/>
          </p:cNvSpPr>
          <p:nvPr/>
        </p:nvSpPr>
        <p:spPr>
          <a:xfrm xmlns:a="http://schemas.openxmlformats.org/drawingml/2006/main">
            <a:off x="952500" y="3924300"/>
            <a:ext cx="276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016"/>
          </a:bodyPr>
          <a:lstStyle xmlns:a="http://schemas.openxmlformats.org/drawingml/2006/main"/>
          <a:p xmlns:a="http://schemas.openxmlformats.org/drawingml/2006/main">
            <a:pPr algn="l">
              <a:lnSpc>
                <a:spcPct val="103000"/>
              </a:lnSpc>
              <a:buNone/>
              <a:defRPr sz="1200" b="0" i="0">
                <a:solidFill>
                  <a:srgbClr val="DDE8EF"/>
                </a:solidFill>
                <a:latin typeface="Lato"/>
                <a:ea typeface="Lato"/>
                <a:cs typeface="Lato"/>
              </a:defRPr>
            </a:pPr>
            <a:r>
              <a:rPr sz="1200" b="0" i="0">
                <a:solidFill>
                  <a:srgbClr val="DDE8EF"/>
                </a:solidFill>
                <a:latin typeface="Lato"/>
                <a:ea typeface="Lato"/>
                <a:cs typeface="Lato"/>
              </a:rPr>
              <a:t>A shared analytical environment that connects access, processing and interpretation</a:t>
            </a:r>
          </a:p>
        </p:txBody>
      </p:sp>
      <p:sp>
        <p:nvSpPr>
          <p:cNvPr id="27" name="">
            <a:extLst xmlns:a="http://schemas.openxmlformats.org/drawingml/2006/main">
              <a:ext uri="{FF2B5EF4-FFF2-40B4-BE49-F238E27FC236}">
                <a16:creationId xmlns:a16="http://schemas.microsoft.com/office/drawing/2014/main" id="{12589777-42CE-4F02-8814-48804EB4E935}"/>
              </a:ext>
            </a:extLst>
          </p:cNvPr>
          <p:cNvSpPr>
            <a:spLocks xmlns:a="http://schemas.openxmlformats.org/drawingml/2006/main" noGrp="1"/>
          </p:cNvSpPr>
          <p:nvPr/>
        </p:nvSpPr>
        <p:spPr>
          <a:xfrm xmlns:a="http://schemas.openxmlformats.org/drawingml/2006/main">
            <a:off x="4000500" y="3629025"/>
            <a:ext cx="9525" cy="742950"/>
          </a:xfrm>
          <a:prstGeom xmlns:a="http://schemas.openxmlformats.org/drawingml/2006/main" prst="rect">
            <a:avLst/>
          </a:prstGeom>
          <a:solidFill xmlns:a="http://schemas.openxmlformats.org/drawingml/2006/main">
            <a:srgbClr val="60768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A4F61FB-08EC-4D46-A339-2EE86399E755}"/>
              </a:ext>
            </a:extLst>
          </p:cNvPr>
          <p:cNvSpPr>
            <a:spLocks xmlns:a="http://schemas.openxmlformats.org/drawingml/2006/main" noGrp="1"/>
          </p:cNvSpPr>
          <p:nvPr/>
        </p:nvSpPr>
        <p:spPr>
          <a:xfrm xmlns:a="http://schemas.openxmlformats.org/drawingml/2006/main">
            <a:off x="4362450" y="3648075"/>
            <a:ext cx="2000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2B632"/>
                </a:solidFill>
                <a:latin typeface="Lato"/>
                <a:ea typeface="Lato"/>
                <a:cs typeface="Lato"/>
              </a:defRPr>
            </a:pPr>
            <a:r>
              <a:rPr sz="825" b="1" i="0">
                <a:solidFill>
                  <a:srgbClr val="F2B632"/>
                </a:solidFill>
                <a:latin typeface="Lato"/>
                <a:ea typeface="Lato"/>
                <a:cs typeface="Lato"/>
              </a:rPr>
              <a:t>ACCESS</a:t>
            </a:r>
          </a:p>
        </p:txBody>
      </p:sp>
      <p:sp>
        <p:nvSpPr>
          <p:cNvPr id="29" name="">
            <a:extLst xmlns:a="http://schemas.openxmlformats.org/drawingml/2006/main">
              <a:ext uri="{FF2B5EF4-FFF2-40B4-BE49-F238E27FC236}">
                <a16:creationId xmlns:a16="http://schemas.microsoft.com/office/drawing/2014/main" id="{527C8F93-5934-41E1-90DB-089B8CA34B5B}"/>
              </a:ext>
            </a:extLst>
          </p:cNvPr>
          <p:cNvSpPr>
            <a:spLocks xmlns:a="http://schemas.openxmlformats.org/drawingml/2006/main" noGrp="1"/>
          </p:cNvSpPr>
          <p:nvPr/>
        </p:nvSpPr>
        <p:spPr>
          <a:xfrm xmlns:a="http://schemas.openxmlformats.org/drawingml/2006/main">
            <a:off x="4362450" y="3943350"/>
            <a:ext cx="1952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FFFFFF"/>
                </a:solidFill>
                <a:latin typeface="Lato"/>
                <a:ea typeface="Lato"/>
                <a:cs typeface="Lato"/>
              </a:defRPr>
            </a:pPr>
            <a:r>
              <a:rPr sz="1275" b="1" i="0">
                <a:solidFill>
                  <a:srgbClr val="FFFFFF"/>
                </a:solidFill>
                <a:latin typeface="Lato"/>
                <a:ea typeface="Lato"/>
                <a:cs typeface="Lato"/>
              </a:rPr>
              <a:t>Search, subset and retrieve</a:t>
            </a:r>
          </a:p>
        </p:txBody>
      </p:sp>
      <p:sp>
        <p:nvSpPr>
          <p:cNvPr id="30" name="">
            <a:extLst xmlns:a="http://schemas.openxmlformats.org/drawingml/2006/main">
              <a:ext uri="{FF2B5EF4-FFF2-40B4-BE49-F238E27FC236}">
                <a16:creationId xmlns:a16="http://schemas.microsoft.com/office/drawing/2014/main" id="{93CDEBC0-6949-49E8-BC8A-DBD389529449}"/>
              </a:ext>
            </a:extLst>
          </p:cNvPr>
          <p:cNvSpPr>
            <a:spLocks xmlns:a="http://schemas.openxmlformats.org/drawingml/2006/main" noGrp="1"/>
          </p:cNvSpPr>
          <p:nvPr/>
        </p:nvSpPr>
        <p:spPr>
          <a:xfrm xmlns:a="http://schemas.openxmlformats.org/drawingml/2006/main">
            <a:off x="6705600" y="3648075"/>
            <a:ext cx="2000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2B632"/>
                </a:solidFill>
                <a:latin typeface="Lato"/>
                <a:ea typeface="Lato"/>
                <a:cs typeface="Lato"/>
              </a:defRPr>
            </a:pPr>
            <a:r>
              <a:rPr sz="825" b="1" i="0">
                <a:solidFill>
                  <a:srgbClr val="F2B632"/>
                </a:solidFill>
                <a:latin typeface="Lato"/>
                <a:ea typeface="Lato"/>
                <a:cs typeface="Lato"/>
              </a:rPr>
              <a:t>PROCESS</a:t>
            </a:r>
          </a:p>
        </p:txBody>
      </p:sp>
      <p:sp>
        <p:nvSpPr>
          <p:cNvPr id="31" name="">
            <a:extLst xmlns:a="http://schemas.openxmlformats.org/drawingml/2006/main">
              <a:ext uri="{FF2B5EF4-FFF2-40B4-BE49-F238E27FC236}">
                <a16:creationId xmlns:a16="http://schemas.microsoft.com/office/drawing/2014/main" id="{58D44B4B-C189-4549-A364-70D1607B002A}"/>
              </a:ext>
            </a:extLst>
          </p:cNvPr>
          <p:cNvSpPr>
            <a:spLocks xmlns:a="http://schemas.openxmlformats.org/drawingml/2006/main" noGrp="1"/>
          </p:cNvSpPr>
          <p:nvPr/>
        </p:nvSpPr>
        <p:spPr>
          <a:xfrm xmlns:a="http://schemas.openxmlformats.org/drawingml/2006/main">
            <a:off x="6705600" y="3943350"/>
            <a:ext cx="1952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FFFFFF"/>
                </a:solidFill>
                <a:latin typeface="Lato"/>
                <a:ea typeface="Lato"/>
                <a:cs typeface="Lato"/>
              </a:defRPr>
            </a:pPr>
            <a:r>
              <a:rPr sz="1275" b="1" i="0">
                <a:solidFill>
                  <a:srgbClr val="FFFFFF"/>
                </a:solidFill>
                <a:latin typeface="Lato"/>
                <a:ea typeface="Lato"/>
                <a:cs typeface="Lato"/>
              </a:rPr>
              <a:t>Harmonize and derive indicators</a:t>
            </a:r>
          </a:p>
        </p:txBody>
      </p:sp>
      <p:sp>
        <p:nvSpPr>
          <p:cNvPr id="32" name="">
            <a:extLst xmlns:a="http://schemas.openxmlformats.org/drawingml/2006/main">
              <a:ext uri="{FF2B5EF4-FFF2-40B4-BE49-F238E27FC236}">
                <a16:creationId xmlns:a16="http://schemas.microsoft.com/office/drawing/2014/main" id="{32053568-A8FB-431A-AFB3-8FF45552F754}"/>
              </a:ext>
            </a:extLst>
          </p:cNvPr>
          <p:cNvSpPr>
            <a:spLocks xmlns:a="http://schemas.openxmlformats.org/drawingml/2006/main" noGrp="1"/>
          </p:cNvSpPr>
          <p:nvPr/>
        </p:nvSpPr>
        <p:spPr>
          <a:xfrm xmlns:a="http://schemas.openxmlformats.org/drawingml/2006/main">
            <a:off x="9048750" y="3648075"/>
            <a:ext cx="2000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2B632"/>
                </a:solidFill>
                <a:latin typeface="Lato"/>
                <a:ea typeface="Lato"/>
                <a:cs typeface="Lato"/>
              </a:defRPr>
            </a:pPr>
            <a:r>
              <a:rPr sz="825" b="1" i="0">
                <a:solidFill>
                  <a:srgbClr val="F2B632"/>
                </a:solidFill>
                <a:latin typeface="Lato"/>
                <a:ea typeface="Lato"/>
                <a:cs typeface="Lato"/>
              </a:rPr>
              <a:t>TRACE</a:t>
            </a:r>
          </a:p>
        </p:txBody>
      </p:sp>
      <p:sp>
        <p:nvSpPr>
          <p:cNvPr id="33" name="">
            <a:extLst xmlns:a="http://schemas.openxmlformats.org/drawingml/2006/main">
              <a:ext uri="{FF2B5EF4-FFF2-40B4-BE49-F238E27FC236}">
                <a16:creationId xmlns:a16="http://schemas.microsoft.com/office/drawing/2014/main" id="{84D98BB4-F393-4166-A73C-8198E29F97EE}"/>
              </a:ext>
            </a:extLst>
          </p:cNvPr>
          <p:cNvSpPr>
            <a:spLocks xmlns:a="http://schemas.openxmlformats.org/drawingml/2006/main" noGrp="1"/>
          </p:cNvSpPr>
          <p:nvPr/>
        </p:nvSpPr>
        <p:spPr>
          <a:xfrm xmlns:a="http://schemas.openxmlformats.org/drawingml/2006/main">
            <a:off x="9048750" y="3943350"/>
            <a:ext cx="1952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FFFFFF"/>
                </a:solidFill>
                <a:latin typeface="Lato"/>
                <a:ea typeface="Lato"/>
                <a:cs typeface="Lato"/>
              </a:defRPr>
            </a:pPr>
            <a:r>
              <a:rPr sz="1275" b="1" i="0">
                <a:solidFill>
                  <a:srgbClr val="FFFFFF"/>
                </a:solidFill>
                <a:latin typeface="Lato"/>
                <a:ea typeface="Lato"/>
                <a:cs typeface="Lato"/>
              </a:rPr>
              <a:t>Keep sources and choices visible</a:t>
            </a:r>
          </a:p>
        </p:txBody>
      </p:sp>
      <p:sp>
        <p:nvSpPr>
          <p:cNvPr id="34" name="">
            <a:extLst xmlns:a="http://schemas.openxmlformats.org/drawingml/2006/main">
              <a:ext uri="{FF2B5EF4-FFF2-40B4-BE49-F238E27FC236}">
                <a16:creationId xmlns:a16="http://schemas.microsoft.com/office/drawing/2014/main" id="{D195B81D-031E-4040-9985-742ED2E00741}"/>
              </a:ext>
            </a:extLst>
          </p:cNvPr>
          <p:cNvSpPr>
            <a:spLocks xmlns:a="http://schemas.openxmlformats.org/drawingml/2006/main" noGrp="1"/>
          </p:cNvSpPr>
          <p:nvPr/>
        </p:nvSpPr>
        <p:spPr>
          <a:xfrm xmlns:a="http://schemas.openxmlformats.org/drawingml/2006/main">
            <a:off x="742950" y="4848225"/>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687984"/>
                </a:solidFill>
                <a:latin typeface="Lato"/>
                <a:ea typeface="Lato"/>
                <a:cs typeface="Lato"/>
              </a:defRPr>
            </a:pPr>
            <a:r>
              <a:rPr sz="900" b="1" i="0">
                <a:solidFill>
                  <a:srgbClr val="687984"/>
                </a:solidFill>
                <a:latin typeface="Lato"/>
                <a:ea typeface="Lato"/>
                <a:cs typeface="Lato"/>
              </a:rPr>
              <a:t>USER INTERFACES</a:t>
            </a:r>
          </a:p>
        </p:txBody>
      </p:sp>
      <p:sp>
        <p:nvSpPr>
          <p:cNvPr id="35" name="">
            <a:extLst xmlns:a="http://schemas.openxmlformats.org/drawingml/2006/main">
              <a:ext uri="{FF2B5EF4-FFF2-40B4-BE49-F238E27FC236}">
                <a16:creationId xmlns:a16="http://schemas.microsoft.com/office/drawing/2014/main" id="{10619871-9CAC-488E-A341-8B08702C5BA7}"/>
              </a:ext>
            </a:extLst>
          </p:cNvPr>
          <p:cNvSpPr>
            <a:spLocks xmlns:a="http://schemas.openxmlformats.org/drawingml/2006/main" noGrp="1"/>
          </p:cNvSpPr>
          <p:nvPr/>
        </p:nvSpPr>
        <p:spPr>
          <a:xfrm xmlns:a="http://schemas.openxmlformats.org/drawingml/2006/main">
            <a:off x="2228850" y="4724400"/>
            <a:ext cx="266700" cy="323850"/>
          </a:xfrm>
          <a:prstGeom xmlns:a="http://schemas.openxmlformats.org/drawingml/2006/main" prst="downArrow">
            <a:avLst/>
          </a:prstGeom>
          <a:solidFill xmlns:a="http://schemas.openxmlformats.org/drawingml/2006/main">
            <a:srgbClr val="00A88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3B8909E-F190-45CB-822D-7DAF22460EA1}"/>
              </a:ext>
            </a:extLst>
          </p:cNvPr>
          <p:cNvSpPr>
            <a:spLocks xmlns:a="http://schemas.openxmlformats.org/drawingml/2006/main" noGrp="1"/>
          </p:cNvSpPr>
          <p:nvPr/>
        </p:nvSpPr>
        <p:spPr>
          <a:xfrm xmlns:a="http://schemas.openxmlformats.org/drawingml/2006/main">
            <a:off x="5962650" y="4724400"/>
            <a:ext cx="266700" cy="323850"/>
          </a:xfrm>
          <a:prstGeom xmlns:a="http://schemas.openxmlformats.org/drawingml/2006/main" prst="downArrow">
            <a:avLst/>
          </a:prstGeom>
          <a:solidFill xmlns:a="http://schemas.openxmlformats.org/drawingml/2006/main">
            <a:srgbClr val="F2B63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273A91B-076F-4589-8302-E4AB59D97353}"/>
              </a:ext>
            </a:extLst>
          </p:cNvPr>
          <p:cNvSpPr>
            <a:spLocks xmlns:a="http://schemas.openxmlformats.org/drawingml/2006/main" noGrp="1"/>
          </p:cNvSpPr>
          <p:nvPr/>
        </p:nvSpPr>
        <p:spPr>
          <a:xfrm xmlns:a="http://schemas.openxmlformats.org/drawingml/2006/main">
            <a:off x="9744075" y="4724400"/>
            <a:ext cx="266700" cy="323850"/>
          </a:xfrm>
          <a:prstGeom xmlns:a="http://schemas.openxmlformats.org/drawingml/2006/main" prst="downArrow">
            <a:avLst/>
          </a:prstGeom>
          <a:solidFill xmlns:a="http://schemas.openxmlformats.org/drawingml/2006/main">
            <a:srgbClr val="137DB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B33AD90-C189-41D4-9CAA-0C8709E0B042}"/>
              </a:ext>
            </a:extLst>
          </p:cNvPr>
          <p:cNvSpPr>
            <a:spLocks xmlns:a="http://schemas.openxmlformats.org/drawingml/2006/main" noGrp="1"/>
          </p:cNvSpPr>
          <p:nvPr/>
        </p:nvSpPr>
        <p:spPr>
          <a:xfrm xmlns:a="http://schemas.openxmlformats.org/drawingml/2006/main">
            <a:off x="742950" y="5162550"/>
            <a:ext cx="3238500" cy="790575"/>
          </a:xfrm>
          <a:prstGeom xmlns:a="http://schemas.openxmlformats.org/drawingml/2006/main" prst="rect">
            <a:avLst/>
          </a:prstGeom>
          <a:solidFill xmlns:a="http://schemas.openxmlformats.org/drawingml/2006/main">
            <a:srgbClr val="E7F4EF"/>
          </a:solidFill>
          <a:ln xmlns:a="http://schemas.openxmlformats.org/drawingml/2006/main" w="9525">
            <a:solidFill>
              <a:srgbClr val="008D7A"/>
            </a:solidFill>
            <a:prstDash val="solid"/>
          </a:ln>
        </p:spPr>
      </p:sp>
      <p:sp>
        <p:nvSpPr>
          <p:cNvPr id="39" name="">
            <a:extLst xmlns:a="http://schemas.openxmlformats.org/drawingml/2006/main">
              <a:ext uri="{FF2B5EF4-FFF2-40B4-BE49-F238E27FC236}">
                <a16:creationId xmlns:a16="http://schemas.microsoft.com/office/drawing/2014/main" id="{2C407742-D3FD-41A7-92BE-1F6C5F8B7DE0}"/>
              </a:ext>
            </a:extLst>
          </p:cNvPr>
          <p:cNvSpPr>
            <a:spLocks xmlns:a="http://schemas.openxmlformats.org/drawingml/2006/main" noGrp="1"/>
          </p:cNvSpPr>
          <p:nvPr/>
        </p:nvSpPr>
        <p:spPr>
          <a:xfrm xmlns:a="http://schemas.openxmlformats.org/drawingml/2006/main">
            <a:off x="914400" y="5305425"/>
            <a:ext cx="2895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2304E"/>
                </a:solidFill>
                <a:latin typeface="Lato"/>
                <a:ea typeface="Lato"/>
                <a:cs typeface="Lato"/>
              </a:defRPr>
            </a:pPr>
            <a:r>
              <a:rPr sz="1425" b="1" i="0">
                <a:solidFill>
                  <a:srgbClr val="12304E"/>
                </a:solidFill>
                <a:latin typeface="Lato"/>
                <a:ea typeface="Lato"/>
                <a:cs typeface="Lato"/>
              </a:rPr>
              <a:t>CAVA Platform</a:t>
            </a:r>
          </a:p>
        </p:txBody>
      </p:sp>
      <p:sp>
        <p:nvSpPr>
          <p:cNvPr id="40" name="">
            <a:extLst xmlns:a="http://schemas.openxmlformats.org/drawingml/2006/main">
              <a:ext uri="{FF2B5EF4-FFF2-40B4-BE49-F238E27FC236}">
                <a16:creationId xmlns:a16="http://schemas.microsoft.com/office/drawing/2014/main" id="{4EC3ACE8-4F73-44DF-849B-0236E4C3CB41}"/>
              </a:ext>
            </a:extLst>
          </p:cNvPr>
          <p:cNvSpPr>
            <a:spLocks xmlns:a="http://schemas.openxmlformats.org/drawingml/2006/main" noGrp="1"/>
          </p:cNvSpPr>
          <p:nvPr/>
        </p:nvSpPr>
        <p:spPr>
          <a:xfrm xmlns:a="http://schemas.openxmlformats.org/drawingml/2006/main">
            <a:off x="914400" y="5591175"/>
            <a:ext cx="289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i="0">
                <a:solidFill>
                  <a:srgbClr val="687984"/>
                </a:solidFill>
                <a:latin typeface="Lato"/>
                <a:ea typeface="Lato"/>
                <a:cs typeface="Lato"/>
              </a:defRPr>
            </a:pPr>
            <a:r>
              <a:rPr sz="1050" b="0" i="0">
                <a:solidFill>
                  <a:srgbClr val="687984"/>
                </a:solidFill>
                <a:latin typeface="Lato"/>
                <a:ea typeface="Lato"/>
                <a:cs typeface="Lato"/>
              </a:rPr>
              <a:t>Processed indicators, maps and reports</a:t>
            </a:r>
          </a:p>
        </p:txBody>
      </p:sp>
      <p:sp>
        <p:nvSpPr>
          <p:cNvPr id="41" name="">
            <a:extLst xmlns:a="http://schemas.openxmlformats.org/drawingml/2006/main">
              <a:ext uri="{FF2B5EF4-FFF2-40B4-BE49-F238E27FC236}">
                <a16:creationId xmlns:a16="http://schemas.microsoft.com/office/drawing/2014/main" id="{8F941577-7D1B-4B61-9AA9-8E4C7E3B82F8}"/>
              </a:ext>
            </a:extLst>
          </p:cNvPr>
          <p:cNvSpPr>
            <a:spLocks xmlns:a="http://schemas.openxmlformats.org/drawingml/2006/main" noGrp="1"/>
          </p:cNvSpPr>
          <p:nvPr/>
        </p:nvSpPr>
        <p:spPr>
          <a:xfrm xmlns:a="http://schemas.openxmlformats.org/drawingml/2006/main">
            <a:off x="4476750" y="5162550"/>
            <a:ext cx="3238500" cy="790575"/>
          </a:xfrm>
          <a:prstGeom xmlns:a="http://schemas.openxmlformats.org/drawingml/2006/main" prst="rect">
            <a:avLst/>
          </a:prstGeom>
          <a:solidFill xmlns:a="http://schemas.openxmlformats.org/drawingml/2006/main">
            <a:srgbClr val="FFF3D1"/>
          </a:solidFill>
          <a:ln xmlns:a="http://schemas.openxmlformats.org/drawingml/2006/main" w="9525">
            <a:solidFill>
              <a:srgbClr val="A86F00"/>
            </a:solidFill>
            <a:prstDash val="solid"/>
          </a:ln>
        </p:spPr>
      </p:sp>
      <p:sp>
        <p:nvSpPr>
          <p:cNvPr id="42" name="">
            <a:extLst xmlns:a="http://schemas.openxmlformats.org/drawingml/2006/main">
              <a:ext uri="{FF2B5EF4-FFF2-40B4-BE49-F238E27FC236}">
                <a16:creationId xmlns:a16="http://schemas.microsoft.com/office/drawing/2014/main" id="{17E212A4-7581-428C-AE61-5BF915791AE1}"/>
              </a:ext>
            </a:extLst>
          </p:cNvPr>
          <p:cNvSpPr>
            <a:spLocks xmlns:a="http://schemas.openxmlformats.org/drawingml/2006/main" noGrp="1"/>
          </p:cNvSpPr>
          <p:nvPr/>
        </p:nvSpPr>
        <p:spPr>
          <a:xfrm xmlns:a="http://schemas.openxmlformats.org/drawingml/2006/main">
            <a:off x="4648200" y="5305425"/>
            <a:ext cx="2895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2304E"/>
                </a:solidFill>
                <a:latin typeface="Lato"/>
                <a:ea typeface="Lato"/>
                <a:cs typeface="Lato"/>
              </a:defRPr>
            </a:pPr>
            <a:r>
              <a:rPr sz="1425" b="1" i="0">
                <a:solidFill>
                  <a:srgbClr val="12304E"/>
                </a:solidFill>
                <a:latin typeface="Lato"/>
                <a:ea typeface="Lato"/>
                <a:cs typeface="Lato"/>
              </a:rPr>
              <a:t>R SDK</a:t>
            </a:r>
          </a:p>
        </p:txBody>
      </p:sp>
      <p:sp>
        <p:nvSpPr>
          <p:cNvPr id="43" name="">
            <a:extLst xmlns:a="http://schemas.openxmlformats.org/drawingml/2006/main">
              <a:ext uri="{FF2B5EF4-FFF2-40B4-BE49-F238E27FC236}">
                <a16:creationId xmlns:a16="http://schemas.microsoft.com/office/drawing/2014/main" id="{6E020854-4298-45CA-9184-88798C0A3CD6}"/>
              </a:ext>
            </a:extLst>
          </p:cNvPr>
          <p:cNvSpPr>
            <a:spLocks xmlns:a="http://schemas.openxmlformats.org/drawingml/2006/main" noGrp="1"/>
          </p:cNvSpPr>
          <p:nvPr/>
        </p:nvSpPr>
        <p:spPr>
          <a:xfrm xmlns:a="http://schemas.openxmlformats.org/drawingml/2006/main">
            <a:off x="4648200" y="5591175"/>
            <a:ext cx="2895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18"/>
          </a:bodyPr>
          <a:lstStyle xmlns:a="http://schemas.openxmlformats.org/drawingml/2006/main"/>
          <a:p xmlns:a="http://schemas.openxmlformats.org/drawingml/2006/main">
            <a:pPr algn="l">
              <a:lnSpc>
                <a:spcPct val="102000"/>
              </a:lnSpc>
              <a:buNone/>
              <a:defRPr sz="1050" b="0" i="0">
                <a:solidFill>
                  <a:srgbClr val="687984"/>
                </a:solidFill>
                <a:latin typeface="Lato"/>
                <a:ea typeface="Lato"/>
                <a:cs typeface="Lato"/>
              </a:defRPr>
            </a:pPr>
            <a:r>
              <a:rPr sz="1050" b="0" i="0">
                <a:solidFill>
                  <a:srgbClr val="687984"/>
                </a:solidFill>
                <a:latin typeface="Lato"/>
                <a:ea typeface="Lato"/>
                <a:cs typeface="Lato"/>
              </a:rPr>
              <a:t>Reproducible analysis and technical visualization</a:t>
            </a:r>
          </a:p>
        </p:txBody>
      </p:sp>
      <p:sp>
        <p:nvSpPr>
          <p:cNvPr id="44" name="">
            <a:extLst xmlns:a="http://schemas.openxmlformats.org/drawingml/2006/main">
              <a:ext uri="{FF2B5EF4-FFF2-40B4-BE49-F238E27FC236}">
                <a16:creationId xmlns:a16="http://schemas.microsoft.com/office/drawing/2014/main" id="{5D91BAA6-FC4B-4A22-B824-5FE691721B8B}"/>
              </a:ext>
            </a:extLst>
          </p:cNvPr>
          <p:cNvSpPr>
            <a:spLocks xmlns:a="http://schemas.openxmlformats.org/drawingml/2006/main" noGrp="1"/>
          </p:cNvSpPr>
          <p:nvPr/>
        </p:nvSpPr>
        <p:spPr>
          <a:xfrm xmlns:a="http://schemas.openxmlformats.org/drawingml/2006/main">
            <a:off x="8210550" y="5162550"/>
            <a:ext cx="3333750" cy="790575"/>
          </a:xfrm>
          <a:prstGeom xmlns:a="http://schemas.openxmlformats.org/drawingml/2006/main" prst="rect">
            <a:avLst/>
          </a:prstGeom>
          <a:solidFill xmlns:a="http://schemas.openxmlformats.org/drawingml/2006/main">
            <a:srgbClr val="EAF3F8"/>
          </a:solidFill>
          <a:ln xmlns:a="http://schemas.openxmlformats.org/drawingml/2006/main" w="9525">
            <a:solidFill>
              <a:srgbClr val="137DB4"/>
            </a:solidFill>
            <a:prstDash val="solid"/>
          </a:ln>
        </p:spPr>
      </p:sp>
      <p:sp>
        <p:nvSpPr>
          <p:cNvPr id="45" name="">
            <a:extLst xmlns:a="http://schemas.openxmlformats.org/drawingml/2006/main">
              <a:ext uri="{FF2B5EF4-FFF2-40B4-BE49-F238E27FC236}">
                <a16:creationId xmlns:a16="http://schemas.microsoft.com/office/drawing/2014/main" id="{10DDAA9E-0BF7-4D2F-8E3F-C4B65362DF2F}"/>
              </a:ext>
            </a:extLst>
          </p:cNvPr>
          <p:cNvSpPr>
            <a:spLocks xmlns:a="http://schemas.openxmlformats.org/drawingml/2006/main" noGrp="1"/>
          </p:cNvSpPr>
          <p:nvPr/>
        </p:nvSpPr>
        <p:spPr>
          <a:xfrm xmlns:a="http://schemas.openxmlformats.org/drawingml/2006/main">
            <a:off x="8382000" y="5305425"/>
            <a:ext cx="2990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12304E"/>
                </a:solidFill>
                <a:latin typeface="Lato"/>
                <a:ea typeface="Lato"/>
                <a:cs typeface="Lato"/>
              </a:defRPr>
            </a:pPr>
            <a:r>
              <a:rPr sz="1425" b="1" i="0">
                <a:solidFill>
                  <a:srgbClr val="12304E"/>
                </a:solidFill>
                <a:latin typeface="Lato"/>
                <a:ea typeface="Lato"/>
                <a:cs typeface="Lato"/>
              </a:rPr>
              <a:t>Python SDK</a:t>
            </a:r>
          </a:p>
        </p:txBody>
      </p:sp>
      <p:sp>
        <p:nvSpPr>
          <p:cNvPr id="46" name="">
            <a:extLst xmlns:a="http://schemas.openxmlformats.org/drawingml/2006/main">
              <a:ext uri="{FF2B5EF4-FFF2-40B4-BE49-F238E27FC236}">
                <a16:creationId xmlns:a16="http://schemas.microsoft.com/office/drawing/2014/main" id="{1C719377-DB7E-4C05-A49E-4FB13B392814}"/>
              </a:ext>
            </a:extLst>
          </p:cNvPr>
          <p:cNvSpPr>
            <a:spLocks xmlns:a="http://schemas.openxmlformats.org/drawingml/2006/main" noGrp="1"/>
          </p:cNvSpPr>
          <p:nvPr/>
        </p:nvSpPr>
        <p:spPr>
          <a:xfrm xmlns:a="http://schemas.openxmlformats.org/drawingml/2006/main">
            <a:off x="8382000" y="5591175"/>
            <a:ext cx="2990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0" i="0">
                <a:solidFill>
                  <a:srgbClr val="687984"/>
                </a:solidFill>
                <a:latin typeface="Lato"/>
                <a:ea typeface="Lato"/>
                <a:cs typeface="Lato"/>
              </a:defRPr>
            </a:pPr>
            <a:r>
              <a:rPr sz="1050" b="0" i="0">
                <a:solidFill>
                  <a:srgbClr val="687984"/>
                </a:solidFill>
                <a:latin typeface="Lato"/>
                <a:ea typeface="Lato"/>
                <a:cs typeface="Lato"/>
              </a:rPr>
              <a:t>Data retrieval and integration into other models</a:t>
            </a:r>
          </a:p>
        </p:txBody>
      </p:sp>
    </p:spTree>
    <p:extLst>
      <p:ext uri="{BB962C8B-B14F-4D97-AF65-F5344CB8AC3E}">
        <p14:creationId xmlns:p14="http://schemas.microsoft.com/office/powerpoint/2010/main" val="212455594"/>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5B3F8493-9DF1-4EDA-A50E-7EC96B74CE7A}"/>
              </a:ext>
            </a:extLst>
          </p:cNvPr>
          <p:cNvSpPr>
            <a:spLocks xmlns:a="http://schemas.openxmlformats.org/drawingml/2006/main" noGrp="1"/>
          </p:cNvSpPr>
          <p:nvPr/>
        </p:nvSpPr>
        <p:spPr>
          <a:xfrm xmlns:a="http://schemas.openxmlformats.org/drawingml/2006/main">
            <a:off x="647700" y="381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12304E"/>
                </a:solidFill>
                <a:latin typeface="Lato"/>
                <a:ea typeface="Lato"/>
                <a:cs typeface="Lato"/>
              </a:defRPr>
            </a:pPr>
            <a:r>
              <a:rPr sz="2250" b="1" i="0">
                <a:solidFill>
                  <a:srgbClr val="12304E"/>
                </a:solidFill>
                <a:latin typeface="Lato"/>
                <a:ea typeface="Lato"/>
                <a:cs typeface="Lato"/>
              </a:rPr>
              <a:t>CAVA can support country-level climate information products</a:t>
            </a:r>
          </a:p>
        </p:txBody>
      </p:sp>
      <p:sp>
        <p:nvSpPr>
          <p:cNvPr id="2" name="">
            <a:extLst xmlns:a="http://schemas.openxmlformats.org/drawingml/2006/main">
              <a:ext uri="{FF2B5EF4-FFF2-40B4-BE49-F238E27FC236}">
                <a16:creationId xmlns:a16="http://schemas.microsoft.com/office/drawing/2014/main" id="{36EC58F1-E80D-4B55-B1DE-B8E4E22A9E05}"/>
              </a:ext>
            </a:extLst>
          </p:cNvPr>
          <p:cNvSpPr>
            <a:spLocks xmlns:a="http://schemas.openxmlformats.org/drawingml/2006/main" noGrp="1"/>
          </p:cNvSpPr>
          <p:nvPr/>
        </p:nvSpPr>
        <p:spPr>
          <a:xfrm xmlns:a="http://schemas.openxmlformats.org/drawingml/2006/main">
            <a:off x="657225" y="9334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87984"/>
                </a:solidFill>
                <a:latin typeface="Lato"/>
                <a:ea typeface="Lato"/>
                <a:cs typeface="Lato"/>
              </a:defRPr>
            </a:pPr>
            <a:r>
              <a:rPr sz="1050" b="0" i="0">
                <a:solidFill>
                  <a:srgbClr val="687984"/>
                </a:solidFill>
                <a:latin typeface="Lato"/>
                <a:ea typeface="Lato"/>
                <a:cs typeface="Lato"/>
              </a:rPr>
              <a:t>Countries can reuse the analytical core while adding national data, priorities and institutional workflows</a:t>
            </a:r>
          </a:p>
        </p:txBody>
      </p:sp>
      <p:sp>
        <p:nvSpPr>
          <p:cNvPr id="3" name="">
            <a:extLst xmlns:a="http://schemas.openxmlformats.org/drawingml/2006/main">
              <a:ext uri="{FF2B5EF4-FFF2-40B4-BE49-F238E27FC236}">
                <a16:creationId xmlns:a16="http://schemas.microsoft.com/office/drawing/2014/main" id="{75E40960-A5AA-4D78-992F-CACB91FA5C67}"/>
              </a:ext>
            </a:extLst>
          </p:cNvPr>
          <p:cNvSpPr>
            <a:spLocks xmlns:a="http://schemas.openxmlformats.org/drawingml/2006/main" noGrp="1"/>
          </p:cNvSpPr>
          <p:nvPr/>
        </p:nvSpPr>
        <p:spPr>
          <a:xfrm xmlns:a="http://schemas.openxmlformats.org/drawingml/2006/main">
            <a:off x="647700" y="1304925"/>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512B7B-D085-4E6D-9586-F403AA72CFCA}"/>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692DFB-E016-4066-B22F-7775D7CAB421}"/>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A188AA-7AAA-4324-B8AB-F04218C90A4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7" name="">
            <a:extLst xmlns:a="http://schemas.openxmlformats.org/drawingml/2006/main">
              <a:ext uri="{FF2B5EF4-FFF2-40B4-BE49-F238E27FC236}">
                <a16:creationId xmlns:a16="http://schemas.microsoft.com/office/drawing/2014/main" id="{E3E05571-7E2C-4D8D-82D0-EF0055BE693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0" i="0">
                <a:solidFill>
                  <a:srgbClr val="687984"/>
                </a:solidFill>
                <a:latin typeface="Lato"/>
                <a:ea typeface="Lato"/>
                <a:cs typeface="Lato"/>
              </a:defRPr>
            </a:pPr>
            <a:r>
              <a:rPr sz="750" b="0" i="0">
                <a:solidFill>
                  <a:srgbClr val="687984"/>
                </a:solidFill>
                <a:latin typeface="Lato"/>
                <a:ea typeface="Lato"/>
                <a:cs typeface="Lato"/>
              </a:rPr>
              <a:t>21</a:t>
            </a:r>
          </a:p>
        </p:txBody>
      </p:sp>
      <p:sp>
        <p:nvSpPr>
          <p:cNvPr id="8" name="">
            <a:extLst xmlns:a="http://schemas.openxmlformats.org/drawingml/2006/main">
              <a:ext uri="{FF2B5EF4-FFF2-40B4-BE49-F238E27FC236}">
                <a16:creationId xmlns:a16="http://schemas.microsoft.com/office/drawing/2014/main" id="{8E1C91DD-F573-45B9-A143-5180D7B2E2B6}"/>
              </a:ext>
            </a:extLst>
          </p:cNvPr>
          <p:cNvSpPr>
            <a:spLocks xmlns:a="http://schemas.openxmlformats.org/drawingml/2006/main" noGrp="1"/>
          </p:cNvSpPr>
          <p:nvPr/>
        </p:nvSpPr>
        <p:spPr>
          <a:xfrm xmlns:a="http://schemas.openxmlformats.org/drawingml/2006/main">
            <a:off x="762000" y="1752600"/>
            <a:ext cx="276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REUSABLE CAVA CORE</a:t>
            </a:r>
          </a:p>
        </p:txBody>
      </p:sp>
      <p:sp>
        <p:nvSpPr>
          <p:cNvPr id="9" name="">
            <a:extLst xmlns:a="http://schemas.openxmlformats.org/drawingml/2006/main">
              <a:ext uri="{FF2B5EF4-FFF2-40B4-BE49-F238E27FC236}">
                <a16:creationId xmlns:a16="http://schemas.microsoft.com/office/drawing/2014/main" id="{772C3466-9AD1-4265-8850-2D1D877255DE}"/>
              </a:ext>
            </a:extLst>
          </p:cNvPr>
          <p:cNvSpPr>
            <a:spLocks xmlns:a="http://schemas.openxmlformats.org/drawingml/2006/main" noGrp="1"/>
          </p:cNvSpPr>
          <p:nvPr/>
        </p:nvSpPr>
        <p:spPr>
          <a:xfrm xmlns:a="http://schemas.openxmlformats.org/drawingml/2006/main">
            <a:off x="762000" y="2076450"/>
            <a:ext cx="3048000" cy="30003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6FD61DB-2728-4129-B130-2894F57C28DE}"/>
              </a:ext>
            </a:extLst>
          </p:cNvPr>
          <p:cNvSpPr>
            <a:spLocks xmlns:a="http://schemas.openxmlformats.org/drawingml/2006/main" noGrp="1"/>
          </p:cNvSpPr>
          <p:nvPr/>
        </p:nvSpPr>
        <p:spPr>
          <a:xfrm xmlns:a="http://schemas.openxmlformats.org/drawingml/2006/main">
            <a:off x="1009650" y="231457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Lato"/>
                <a:ea typeface="Lato"/>
                <a:cs typeface="Lato"/>
              </a:defRPr>
            </a:pPr>
            <a:r>
              <a:rPr sz="1725" b="1" i="0">
                <a:solidFill>
                  <a:srgbClr val="FFFFFF"/>
                </a:solidFill>
                <a:latin typeface="Lato"/>
                <a:ea typeface="Lato"/>
                <a:cs typeface="Lato"/>
              </a:rPr>
              <a:t>A tested foundation</a:t>
            </a:r>
          </a:p>
        </p:txBody>
      </p:sp>
      <p:sp>
        <p:nvSpPr>
          <p:cNvPr id="11" name="">
            <a:extLst xmlns:a="http://schemas.openxmlformats.org/drawingml/2006/main">
              <a:ext uri="{FF2B5EF4-FFF2-40B4-BE49-F238E27FC236}">
                <a16:creationId xmlns:a16="http://schemas.microsoft.com/office/drawing/2014/main" id="{2C9A2236-D824-4A9B-AF94-2E036766E1EC}"/>
              </a:ext>
            </a:extLst>
          </p:cNvPr>
          <p:cNvSpPr>
            <a:spLocks xmlns:a="http://schemas.openxmlformats.org/drawingml/2006/main" noGrp="1"/>
          </p:cNvSpPr>
          <p:nvPr/>
        </p:nvSpPr>
        <p:spPr>
          <a:xfrm xmlns:a="http://schemas.openxmlformats.org/drawingml/2006/main">
            <a:off x="1009650" y="28575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21"/>
          </a:bodyPr>
          <a:lstStyle xmlns:a="http://schemas.openxmlformats.org/drawingml/2006/main"/>
          <a:p xmlns:a="http://schemas.openxmlformats.org/drawingml/2006/main">
            <a:pPr algn="l">
              <a:lnSpc>
                <a:spcPct val="105000"/>
              </a:lnSpc>
              <a:buNone/>
              <a:defRPr sz="1275" b="1" i="0">
                <a:solidFill>
                  <a:srgbClr val="FFFFFF"/>
                </a:solidFill>
                <a:latin typeface="Lato"/>
                <a:ea typeface="Lato"/>
                <a:cs typeface="Lato"/>
              </a:defRPr>
            </a:pPr>
            <a:r>
              <a:rPr sz="1275" b="1" i="0">
                <a:solidFill>
                  <a:srgbClr val="FFFFFF"/>
                </a:solidFill>
                <a:latin typeface="Lato"/>
                <a:ea typeface="Lato"/>
                <a:cs typeface="Lato"/>
              </a:rPr>
              <a:t>Global climate and impact datasets</a:t>
            </a:r>
          </a:p>
        </p:txBody>
      </p:sp>
      <p:sp>
        <p:nvSpPr>
          <p:cNvPr id="12" name="">
            <a:extLst xmlns:a="http://schemas.openxmlformats.org/drawingml/2006/main">
              <a:ext uri="{FF2B5EF4-FFF2-40B4-BE49-F238E27FC236}">
                <a16:creationId xmlns:a16="http://schemas.microsoft.com/office/drawing/2014/main" id="{8D2AB304-DCA1-4D3D-A18D-A507EFF2DA29}"/>
              </a:ext>
            </a:extLst>
          </p:cNvPr>
          <p:cNvSpPr>
            <a:spLocks xmlns:a="http://schemas.openxmlformats.org/drawingml/2006/main" noGrp="1"/>
          </p:cNvSpPr>
          <p:nvPr/>
        </p:nvSpPr>
        <p:spPr>
          <a:xfrm xmlns:a="http://schemas.openxmlformats.org/drawingml/2006/main">
            <a:off x="1009650" y="3333750"/>
            <a:ext cx="2324100" cy="9525"/>
          </a:xfrm>
          <a:prstGeom xmlns:a="http://schemas.openxmlformats.org/drawingml/2006/main" prst="rect">
            <a:avLst/>
          </a:prstGeom>
          <a:solidFill xmlns:a="http://schemas.openxmlformats.org/drawingml/2006/main">
            <a:srgbClr val="6076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C79A35D-68F6-496C-90C1-ABD818BC8626}"/>
              </a:ext>
            </a:extLst>
          </p:cNvPr>
          <p:cNvSpPr>
            <a:spLocks xmlns:a="http://schemas.openxmlformats.org/drawingml/2006/main" noGrp="1"/>
          </p:cNvSpPr>
          <p:nvPr/>
        </p:nvSpPr>
        <p:spPr>
          <a:xfrm xmlns:a="http://schemas.openxmlformats.org/drawingml/2006/main">
            <a:off x="1009650" y="35337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1275" b="1" i="0">
                <a:solidFill>
                  <a:srgbClr val="FFFFFF"/>
                </a:solidFill>
                <a:latin typeface="Lato"/>
                <a:ea typeface="Lato"/>
                <a:cs typeface="Lato"/>
              </a:defRPr>
            </a:pPr>
            <a:r>
              <a:rPr sz="1275" b="1" i="0">
                <a:solidFill>
                  <a:srgbClr val="FFFFFF"/>
                </a:solidFill>
                <a:latin typeface="Lato"/>
                <a:ea typeface="Lato"/>
                <a:cs typeface="Lato"/>
              </a:rPr>
              <a:t>Shared processing methods and metadata</a:t>
            </a:r>
          </a:p>
        </p:txBody>
      </p:sp>
      <p:sp>
        <p:nvSpPr>
          <p:cNvPr id="14" name="">
            <a:extLst xmlns:a="http://schemas.openxmlformats.org/drawingml/2006/main">
              <a:ext uri="{FF2B5EF4-FFF2-40B4-BE49-F238E27FC236}">
                <a16:creationId xmlns:a16="http://schemas.microsoft.com/office/drawing/2014/main" id="{A8ED84C5-43B5-4698-8B0C-C5E8E6430834}"/>
              </a:ext>
            </a:extLst>
          </p:cNvPr>
          <p:cNvSpPr>
            <a:spLocks xmlns:a="http://schemas.openxmlformats.org/drawingml/2006/main" noGrp="1"/>
          </p:cNvSpPr>
          <p:nvPr/>
        </p:nvSpPr>
        <p:spPr>
          <a:xfrm xmlns:a="http://schemas.openxmlformats.org/drawingml/2006/main">
            <a:off x="1009650" y="4048125"/>
            <a:ext cx="2324100" cy="9525"/>
          </a:xfrm>
          <a:prstGeom xmlns:a="http://schemas.openxmlformats.org/drawingml/2006/main" prst="rect">
            <a:avLst/>
          </a:prstGeom>
          <a:solidFill xmlns:a="http://schemas.openxmlformats.org/drawingml/2006/main">
            <a:srgbClr val="60768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06570F0-F656-4F84-BCB6-7AC6394B8B2A}"/>
              </a:ext>
            </a:extLst>
          </p:cNvPr>
          <p:cNvSpPr>
            <a:spLocks xmlns:a="http://schemas.openxmlformats.org/drawingml/2006/main" noGrp="1"/>
          </p:cNvSpPr>
          <p:nvPr/>
        </p:nvSpPr>
        <p:spPr>
          <a:xfrm xmlns:a="http://schemas.openxmlformats.org/drawingml/2006/main">
            <a:off x="1009650" y="42481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5000"/>
              </a:lnSpc>
              <a:buNone/>
              <a:defRPr sz="1275" b="1" i="0">
                <a:solidFill>
                  <a:srgbClr val="FFFFFF"/>
                </a:solidFill>
                <a:latin typeface="Lato"/>
                <a:ea typeface="Lato"/>
                <a:cs typeface="Lato"/>
              </a:defRPr>
            </a:pPr>
            <a:r>
              <a:rPr sz="1275" b="1" i="0">
                <a:solidFill>
                  <a:srgbClr val="FFFFFF"/>
                </a:solidFill>
                <a:latin typeface="Lato"/>
                <a:ea typeface="Lato"/>
                <a:cs typeface="Lato"/>
              </a:rPr>
              <a:t>Platform, R SDK and Python SDK</a:t>
            </a:r>
          </a:p>
        </p:txBody>
      </p:sp>
      <p:sp>
        <p:nvSpPr>
          <p:cNvPr id="16" name="">
            <a:extLst xmlns:a="http://schemas.openxmlformats.org/drawingml/2006/main">
              <a:ext uri="{FF2B5EF4-FFF2-40B4-BE49-F238E27FC236}">
                <a16:creationId xmlns:a16="http://schemas.microsoft.com/office/drawing/2014/main" id="{1639CDD8-8E05-4149-A446-2F58937F0476}"/>
              </a:ext>
            </a:extLst>
          </p:cNvPr>
          <p:cNvSpPr>
            <a:spLocks xmlns:a="http://schemas.openxmlformats.org/drawingml/2006/main" noGrp="1"/>
          </p:cNvSpPr>
          <p:nvPr/>
        </p:nvSpPr>
        <p:spPr>
          <a:xfrm xmlns:a="http://schemas.openxmlformats.org/drawingml/2006/main">
            <a:off x="4000500" y="3314700"/>
            <a:ext cx="666750" cy="609600"/>
          </a:xfrm>
          <a:prstGeom xmlns:a="http://schemas.openxmlformats.org/drawingml/2006/main" prst="rightArrow">
            <a:avLst/>
          </a:prstGeom>
          <a:solidFill xmlns:a="http://schemas.openxmlformats.org/drawingml/2006/main">
            <a:srgbClr val="F2B63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84AB5E9-0289-4F32-BFE8-856C17D8FA01}"/>
              </a:ext>
            </a:extLst>
          </p:cNvPr>
          <p:cNvSpPr>
            <a:spLocks xmlns:a="http://schemas.openxmlformats.org/drawingml/2006/main" noGrp="1"/>
          </p:cNvSpPr>
          <p:nvPr/>
        </p:nvSpPr>
        <p:spPr>
          <a:xfrm xmlns:a="http://schemas.openxmlformats.org/drawingml/2006/main">
            <a:off x="4705350" y="1752600"/>
            <a:ext cx="2428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A86F00"/>
                </a:solidFill>
                <a:latin typeface="Lato"/>
                <a:ea typeface="Lato"/>
                <a:cs typeface="Lato"/>
              </a:defRPr>
            </a:pPr>
            <a:r>
              <a:rPr sz="900" b="1" i="0">
                <a:solidFill>
                  <a:srgbClr val="A86F00"/>
                </a:solidFill>
                <a:latin typeface="Lato"/>
                <a:ea typeface="Lato"/>
                <a:cs typeface="Lato"/>
              </a:rPr>
              <a:t>COUNTRY TAILORING</a:t>
            </a:r>
          </a:p>
        </p:txBody>
      </p:sp>
      <p:sp>
        <p:nvSpPr>
          <p:cNvPr id="18" name="">
            <a:extLst xmlns:a="http://schemas.openxmlformats.org/drawingml/2006/main">
              <a:ext uri="{FF2B5EF4-FFF2-40B4-BE49-F238E27FC236}">
                <a16:creationId xmlns:a16="http://schemas.microsoft.com/office/drawing/2014/main" id="{ACF20FD6-5C54-4020-BA80-1875F7DAAF9D}"/>
              </a:ext>
            </a:extLst>
          </p:cNvPr>
          <p:cNvSpPr>
            <a:spLocks xmlns:a="http://schemas.openxmlformats.org/drawingml/2006/main" noGrp="1"/>
          </p:cNvSpPr>
          <p:nvPr/>
        </p:nvSpPr>
        <p:spPr>
          <a:xfrm xmlns:a="http://schemas.openxmlformats.org/drawingml/2006/main">
            <a:off x="4705350" y="2076450"/>
            <a:ext cx="2476500" cy="3000375"/>
          </a:xfrm>
          <a:prstGeom xmlns:a="http://schemas.openxmlformats.org/drawingml/2006/main" prst="rect">
            <a:avLst/>
          </a:prstGeom>
          <a:solidFill xmlns:a="http://schemas.openxmlformats.org/drawingml/2006/main">
            <a:srgbClr val="FFF3D1"/>
          </a:solidFill>
          <a:ln xmlns:a="http://schemas.openxmlformats.org/drawingml/2006/main" w="9525">
            <a:solidFill>
              <a:srgbClr val="F2B632"/>
            </a:solidFill>
            <a:prstDash val="solid"/>
          </a:ln>
        </p:spPr>
      </p:sp>
      <p:sp>
        <p:nvSpPr>
          <p:cNvPr id="19" name="">
            <a:extLst xmlns:a="http://schemas.openxmlformats.org/drawingml/2006/main">
              <a:ext uri="{FF2B5EF4-FFF2-40B4-BE49-F238E27FC236}">
                <a16:creationId xmlns:a16="http://schemas.microsoft.com/office/drawing/2014/main" id="{3B36587B-C789-40CB-8647-950DB85787E0}"/>
              </a:ext>
            </a:extLst>
          </p:cNvPr>
          <p:cNvSpPr>
            <a:spLocks xmlns:a="http://schemas.openxmlformats.org/drawingml/2006/main" noGrp="1"/>
          </p:cNvSpPr>
          <p:nvPr/>
        </p:nvSpPr>
        <p:spPr>
          <a:xfrm xmlns:a="http://schemas.openxmlformats.org/drawingml/2006/main">
            <a:off x="4953000" y="2381250"/>
            <a:ext cx="2000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i="0">
                <a:solidFill>
                  <a:srgbClr val="12304E"/>
                </a:solidFill>
                <a:latin typeface="Lato"/>
                <a:ea typeface="Lato"/>
                <a:cs typeface="Lato"/>
              </a:defRPr>
            </a:pPr>
            <a:r>
              <a:rPr sz="1500" b="1" i="0">
                <a:solidFill>
                  <a:srgbClr val="12304E"/>
                </a:solidFill>
                <a:latin typeface="Lato"/>
                <a:ea typeface="Lato"/>
                <a:cs typeface="Lato"/>
              </a:rPr>
              <a:t>National data</a:t>
            </a:r>
          </a:p>
        </p:txBody>
      </p:sp>
      <p:sp>
        <p:nvSpPr>
          <p:cNvPr id="20" name="">
            <a:extLst xmlns:a="http://schemas.openxmlformats.org/drawingml/2006/main">
              <a:ext uri="{FF2B5EF4-FFF2-40B4-BE49-F238E27FC236}">
                <a16:creationId xmlns:a16="http://schemas.microsoft.com/office/drawing/2014/main" id="{72C9A130-DF56-47D5-B8AB-199DC773D28B}"/>
              </a:ext>
            </a:extLst>
          </p:cNvPr>
          <p:cNvSpPr>
            <a:spLocks xmlns:a="http://schemas.openxmlformats.org/drawingml/2006/main" noGrp="1"/>
          </p:cNvSpPr>
          <p:nvPr/>
        </p:nvSpPr>
        <p:spPr>
          <a:xfrm xmlns:a="http://schemas.openxmlformats.org/drawingml/2006/main">
            <a:off x="4953000" y="274320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125" b="0" i="0">
                <a:solidFill>
                  <a:srgbClr val="687984"/>
                </a:solidFill>
                <a:latin typeface="Lato"/>
                <a:ea typeface="Lato"/>
                <a:cs typeface="Lato"/>
              </a:defRPr>
            </a:pPr>
            <a:r>
              <a:rPr sz="1125" b="0" i="0">
                <a:solidFill>
                  <a:srgbClr val="687984"/>
                </a:solidFill>
                <a:latin typeface="Lato"/>
                <a:ea typeface="Lato"/>
                <a:cs typeface="Lato"/>
              </a:rPr>
              <a:t>Give visibility to nationally generated climate information</a:t>
            </a:r>
          </a:p>
        </p:txBody>
      </p:sp>
      <p:sp>
        <p:nvSpPr>
          <p:cNvPr id="21" name="">
            <a:extLst xmlns:a="http://schemas.openxmlformats.org/drawingml/2006/main">
              <a:ext uri="{FF2B5EF4-FFF2-40B4-BE49-F238E27FC236}">
                <a16:creationId xmlns:a16="http://schemas.microsoft.com/office/drawing/2014/main" id="{F0DC1F97-441F-44AD-9DC3-A2C6A8A75D92}"/>
              </a:ext>
            </a:extLst>
          </p:cNvPr>
          <p:cNvSpPr>
            <a:spLocks xmlns:a="http://schemas.openxmlformats.org/drawingml/2006/main" noGrp="1"/>
          </p:cNvSpPr>
          <p:nvPr/>
        </p:nvSpPr>
        <p:spPr>
          <a:xfrm xmlns:a="http://schemas.openxmlformats.org/drawingml/2006/main">
            <a:off x="5048250" y="3371850"/>
            <a:ext cx="1790700" cy="9525"/>
          </a:xfrm>
          <a:prstGeom xmlns:a="http://schemas.openxmlformats.org/drawingml/2006/main" prst="rect">
            <a:avLst/>
          </a:prstGeom>
          <a:solidFill xmlns:a="http://schemas.openxmlformats.org/drawingml/2006/main">
            <a:srgbClr val="E4CE8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087D343-9B80-4C62-BB20-9B788D20FB92}"/>
              </a:ext>
            </a:extLst>
          </p:cNvPr>
          <p:cNvSpPr>
            <a:spLocks xmlns:a="http://schemas.openxmlformats.org/drawingml/2006/main" noGrp="1"/>
          </p:cNvSpPr>
          <p:nvPr/>
        </p:nvSpPr>
        <p:spPr>
          <a:xfrm xmlns:a="http://schemas.openxmlformats.org/drawingml/2006/main">
            <a:off x="4953000" y="3571875"/>
            <a:ext cx="2000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i="0">
                <a:solidFill>
                  <a:srgbClr val="12304E"/>
                </a:solidFill>
                <a:latin typeface="Lato"/>
                <a:ea typeface="Lato"/>
                <a:cs typeface="Lato"/>
              </a:defRPr>
            </a:pPr>
            <a:r>
              <a:rPr sz="1500" b="1" i="0">
                <a:solidFill>
                  <a:srgbClr val="12304E"/>
                </a:solidFill>
                <a:latin typeface="Lato"/>
                <a:ea typeface="Lato"/>
                <a:cs typeface="Lato"/>
              </a:rPr>
              <a:t>Local priorities</a:t>
            </a:r>
          </a:p>
        </p:txBody>
      </p:sp>
      <p:sp>
        <p:nvSpPr>
          <p:cNvPr id="23" name="">
            <a:extLst xmlns:a="http://schemas.openxmlformats.org/drawingml/2006/main">
              <a:ext uri="{FF2B5EF4-FFF2-40B4-BE49-F238E27FC236}">
                <a16:creationId xmlns:a16="http://schemas.microsoft.com/office/drawing/2014/main" id="{68F9E2E2-501C-4E22-8035-79503BEC861E}"/>
              </a:ext>
            </a:extLst>
          </p:cNvPr>
          <p:cNvSpPr>
            <a:spLocks xmlns:a="http://schemas.openxmlformats.org/drawingml/2006/main" noGrp="1"/>
          </p:cNvSpPr>
          <p:nvPr/>
        </p:nvSpPr>
        <p:spPr>
          <a:xfrm xmlns:a="http://schemas.openxmlformats.org/drawingml/2006/main">
            <a:off x="4953000" y="3933825"/>
            <a:ext cx="200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3000"/>
              </a:lnSpc>
              <a:buNone/>
              <a:defRPr sz="1125" b="0" i="0">
                <a:solidFill>
                  <a:srgbClr val="687984"/>
                </a:solidFill>
                <a:latin typeface="Lato"/>
                <a:ea typeface="Lato"/>
                <a:cs typeface="Lato"/>
              </a:defRPr>
            </a:pPr>
            <a:r>
              <a:rPr sz="1125" b="0" i="0">
                <a:solidFill>
                  <a:srgbClr val="687984"/>
                </a:solidFill>
                <a:latin typeface="Lato"/>
                <a:ea typeface="Lato"/>
                <a:cs typeface="Lato"/>
              </a:rPr>
              <a:t>Adapt indicators, reporting and decision workflows</a:t>
            </a:r>
          </a:p>
        </p:txBody>
      </p:sp>
      <p:sp>
        <p:nvSpPr>
          <p:cNvPr id="24" name="">
            <a:extLst xmlns:a="http://schemas.openxmlformats.org/drawingml/2006/main">
              <a:ext uri="{FF2B5EF4-FFF2-40B4-BE49-F238E27FC236}">
                <a16:creationId xmlns:a16="http://schemas.microsoft.com/office/drawing/2014/main" id="{C7C842BC-8912-4BCF-9CDC-967035326FD6}"/>
              </a:ext>
            </a:extLst>
          </p:cNvPr>
          <p:cNvSpPr>
            <a:spLocks xmlns:a="http://schemas.openxmlformats.org/drawingml/2006/main" noGrp="1"/>
          </p:cNvSpPr>
          <p:nvPr/>
        </p:nvSpPr>
        <p:spPr>
          <a:xfrm xmlns:a="http://schemas.openxmlformats.org/drawingml/2006/main">
            <a:off x="4953000" y="45910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A86F00"/>
                </a:solidFill>
                <a:latin typeface="Lato"/>
                <a:ea typeface="Lato"/>
                <a:cs typeface="Lato"/>
              </a:defRPr>
            </a:pPr>
            <a:r>
              <a:rPr sz="975" b="1" i="0">
                <a:solidFill>
                  <a:srgbClr val="A86F00"/>
                </a:solidFill>
                <a:latin typeface="Lato"/>
                <a:ea typeface="Lato"/>
                <a:cs typeface="Lato"/>
              </a:rPr>
              <a:t>Flexible deployment</a:t>
            </a:r>
          </a:p>
        </p:txBody>
      </p:sp>
      <p:sp>
        <p:nvSpPr>
          <p:cNvPr id="25" name="">
            <a:extLst xmlns:a="http://schemas.openxmlformats.org/drawingml/2006/main">
              <a:ext uri="{FF2B5EF4-FFF2-40B4-BE49-F238E27FC236}">
                <a16:creationId xmlns:a16="http://schemas.microsoft.com/office/drawing/2014/main" id="{36486821-C742-4510-B586-EB4F535BCA1D}"/>
              </a:ext>
            </a:extLst>
          </p:cNvPr>
          <p:cNvSpPr>
            <a:spLocks xmlns:a="http://schemas.openxmlformats.org/drawingml/2006/main" noGrp="1"/>
          </p:cNvSpPr>
          <p:nvPr/>
        </p:nvSpPr>
        <p:spPr>
          <a:xfrm xmlns:a="http://schemas.openxmlformats.org/drawingml/2006/main">
            <a:off x="7219950" y="3314700"/>
            <a:ext cx="666750" cy="609600"/>
          </a:xfrm>
          <a:prstGeom xmlns:a="http://schemas.openxmlformats.org/drawingml/2006/main" prst="rightArrow">
            <a:avLst/>
          </a:prstGeom>
          <a:solidFill xmlns:a="http://schemas.openxmlformats.org/drawingml/2006/main">
            <a:srgbClr val="00A88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FDD5F4D-6C27-487F-AF17-FCD5A0F35029}"/>
              </a:ext>
            </a:extLst>
          </p:cNvPr>
          <p:cNvSpPr>
            <a:spLocks xmlns:a="http://schemas.openxmlformats.org/drawingml/2006/main" noGrp="1"/>
          </p:cNvSpPr>
          <p:nvPr/>
        </p:nvSpPr>
        <p:spPr>
          <a:xfrm xmlns:a="http://schemas.openxmlformats.org/drawingml/2006/main">
            <a:off x="7924800" y="1752600"/>
            <a:ext cx="3619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COUNTRY OR REGIONAL PRODUCT</a:t>
            </a:r>
          </a:p>
        </p:txBody>
      </p:sp>
      <p:sp>
        <p:nvSpPr>
          <p:cNvPr id="27" name="">
            <a:extLst xmlns:a="http://schemas.openxmlformats.org/drawingml/2006/main">
              <a:ext uri="{FF2B5EF4-FFF2-40B4-BE49-F238E27FC236}">
                <a16:creationId xmlns:a16="http://schemas.microsoft.com/office/drawing/2014/main" id="{692B9B70-453A-4E69-A442-06808672AC6D}"/>
              </a:ext>
            </a:extLst>
          </p:cNvPr>
          <p:cNvSpPr>
            <a:spLocks xmlns:a="http://schemas.openxmlformats.org/drawingml/2006/main" noGrp="1"/>
          </p:cNvSpPr>
          <p:nvPr/>
        </p:nvSpPr>
        <p:spPr>
          <a:xfrm xmlns:a="http://schemas.openxmlformats.org/drawingml/2006/main">
            <a:off x="7924800" y="2076450"/>
            <a:ext cx="3619500" cy="3000375"/>
          </a:xfrm>
          <a:prstGeom xmlns:a="http://schemas.openxmlformats.org/drawingml/2006/main" prst="rect">
            <a:avLst/>
          </a:prstGeom>
          <a:solidFill xmlns:a="http://schemas.openxmlformats.org/drawingml/2006/main">
            <a:srgbClr val="E7F4EF"/>
          </a:solidFill>
          <a:ln xmlns:a="http://schemas.openxmlformats.org/drawingml/2006/main" w="9525">
            <a:solidFill>
              <a:srgbClr val="00A88F"/>
            </a:solidFill>
            <a:prstDash val="solid"/>
          </a:ln>
        </p:spPr>
      </p:sp>
      <p:sp>
        <p:nvSpPr>
          <p:cNvPr id="28" name="">
            <a:extLst xmlns:a="http://schemas.openxmlformats.org/drawingml/2006/main">
              <a:ext uri="{FF2B5EF4-FFF2-40B4-BE49-F238E27FC236}">
                <a16:creationId xmlns:a16="http://schemas.microsoft.com/office/drawing/2014/main" id="{FAE2CF52-5927-4B18-BE39-14C496194657}"/>
              </a:ext>
            </a:extLst>
          </p:cNvPr>
          <p:cNvSpPr>
            <a:spLocks xmlns:a="http://schemas.openxmlformats.org/drawingml/2006/main" noGrp="1"/>
          </p:cNvSpPr>
          <p:nvPr/>
        </p:nvSpPr>
        <p:spPr>
          <a:xfrm xmlns:a="http://schemas.openxmlformats.org/drawingml/2006/main">
            <a:off x="8191500" y="231457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815"/>
          </a:bodyPr>
          <a:lstStyle xmlns:a="http://schemas.openxmlformats.org/drawingml/2006/main"/>
          <a:p xmlns:a="http://schemas.openxmlformats.org/drawingml/2006/main">
            <a:pPr algn="l">
              <a:lnSpc>
                <a:spcPct val="105000"/>
              </a:lnSpc>
              <a:buNone/>
              <a:defRPr sz="1725" b="1" i="0">
                <a:solidFill>
                  <a:srgbClr val="12304E"/>
                </a:solidFill>
                <a:latin typeface="Lato"/>
                <a:ea typeface="Lato"/>
                <a:cs typeface="Lato"/>
              </a:defRPr>
            </a:pPr>
            <a:r>
              <a:rPr sz="1725" b="1" i="0">
                <a:solidFill>
                  <a:srgbClr val="12304E"/>
                </a:solidFill>
                <a:latin typeface="Lato"/>
                <a:ea typeface="Lato"/>
                <a:cs typeface="Lato"/>
              </a:rPr>
              <a:t>An operational climate system</a:t>
            </a:r>
          </a:p>
        </p:txBody>
      </p:sp>
      <p:sp>
        <p:nvSpPr>
          <p:cNvPr id="29" name="">
            <a:extLst xmlns:a="http://schemas.openxmlformats.org/drawingml/2006/main">
              <a:ext uri="{FF2B5EF4-FFF2-40B4-BE49-F238E27FC236}">
                <a16:creationId xmlns:a16="http://schemas.microsoft.com/office/drawing/2014/main" id="{521C8368-04F6-42A6-9812-F8451EB9C146}"/>
              </a:ext>
            </a:extLst>
          </p:cNvPr>
          <p:cNvSpPr>
            <a:spLocks xmlns:a="http://schemas.openxmlformats.org/drawingml/2006/main" noGrp="1"/>
          </p:cNvSpPr>
          <p:nvPr/>
        </p:nvSpPr>
        <p:spPr>
          <a:xfrm xmlns:a="http://schemas.openxmlformats.org/drawingml/2006/main">
            <a:off x="8191500" y="288607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01</a:t>
            </a:r>
          </a:p>
        </p:txBody>
      </p:sp>
      <p:sp>
        <p:nvSpPr>
          <p:cNvPr id="30" name="">
            <a:extLst xmlns:a="http://schemas.openxmlformats.org/drawingml/2006/main">
              <a:ext uri="{FF2B5EF4-FFF2-40B4-BE49-F238E27FC236}">
                <a16:creationId xmlns:a16="http://schemas.microsoft.com/office/drawing/2014/main" id="{5A2E88C0-A0ED-44E0-B1BA-C77398B6A8B9}"/>
              </a:ext>
            </a:extLst>
          </p:cNvPr>
          <p:cNvSpPr>
            <a:spLocks xmlns:a="http://schemas.openxmlformats.org/drawingml/2006/main" noGrp="1"/>
          </p:cNvSpPr>
          <p:nvPr/>
        </p:nvSpPr>
        <p:spPr>
          <a:xfrm xmlns:a="http://schemas.openxmlformats.org/drawingml/2006/main">
            <a:off x="8639175" y="2867025"/>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441"/>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Locally relevant maps and indicators</a:t>
            </a:r>
          </a:p>
        </p:txBody>
      </p:sp>
      <p:sp>
        <p:nvSpPr>
          <p:cNvPr id="31" name="">
            <a:extLst xmlns:a="http://schemas.openxmlformats.org/drawingml/2006/main">
              <a:ext uri="{FF2B5EF4-FFF2-40B4-BE49-F238E27FC236}">
                <a16:creationId xmlns:a16="http://schemas.microsoft.com/office/drawing/2014/main" id="{05CDBF79-9EC4-4C35-A8F2-EFE4E06C5607}"/>
              </a:ext>
            </a:extLst>
          </p:cNvPr>
          <p:cNvSpPr>
            <a:spLocks xmlns:a="http://schemas.openxmlformats.org/drawingml/2006/main" noGrp="1"/>
          </p:cNvSpPr>
          <p:nvPr/>
        </p:nvSpPr>
        <p:spPr>
          <a:xfrm xmlns:a="http://schemas.openxmlformats.org/drawingml/2006/main">
            <a:off x="8639175" y="3209925"/>
            <a:ext cx="2524125" cy="9525"/>
          </a:xfrm>
          <a:prstGeom xmlns:a="http://schemas.openxmlformats.org/drawingml/2006/main" prst="rect">
            <a:avLst/>
          </a:prstGeom>
          <a:solidFill xmlns:a="http://schemas.openxmlformats.org/drawingml/2006/main">
            <a:srgbClr val="C9E3DC"/>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BBD2DEC-BE01-4C49-8AFF-F95BAB29D048}"/>
              </a:ext>
            </a:extLst>
          </p:cNvPr>
          <p:cNvSpPr>
            <a:spLocks xmlns:a="http://schemas.openxmlformats.org/drawingml/2006/main" noGrp="1"/>
          </p:cNvSpPr>
          <p:nvPr/>
        </p:nvSpPr>
        <p:spPr>
          <a:xfrm xmlns:a="http://schemas.openxmlformats.org/drawingml/2006/main">
            <a:off x="8191500" y="337185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02</a:t>
            </a:r>
          </a:p>
        </p:txBody>
      </p:sp>
      <p:sp>
        <p:nvSpPr>
          <p:cNvPr id="33" name="">
            <a:extLst xmlns:a="http://schemas.openxmlformats.org/drawingml/2006/main">
              <a:ext uri="{FF2B5EF4-FFF2-40B4-BE49-F238E27FC236}">
                <a16:creationId xmlns:a16="http://schemas.microsoft.com/office/drawing/2014/main" id="{36E50363-DC82-4DB0-B21C-21E5F7DCBF92}"/>
              </a:ext>
            </a:extLst>
          </p:cNvPr>
          <p:cNvSpPr>
            <a:spLocks xmlns:a="http://schemas.openxmlformats.org/drawingml/2006/main" noGrp="1"/>
          </p:cNvSpPr>
          <p:nvPr/>
        </p:nvSpPr>
        <p:spPr>
          <a:xfrm xmlns:a="http://schemas.openxmlformats.org/drawingml/2006/main">
            <a:off x="8639175" y="3352800"/>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806"/>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Automated reports and analytical pipelines</a:t>
            </a:r>
          </a:p>
        </p:txBody>
      </p:sp>
      <p:sp>
        <p:nvSpPr>
          <p:cNvPr id="34" name="">
            <a:extLst xmlns:a="http://schemas.openxmlformats.org/drawingml/2006/main">
              <a:ext uri="{FF2B5EF4-FFF2-40B4-BE49-F238E27FC236}">
                <a16:creationId xmlns:a16="http://schemas.microsoft.com/office/drawing/2014/main" id="{34E52010-5EE9-44B1-B256-57777B186118}"/>
              </a:ext>
            </a:extLst>
          </p:cNvPr>
          <p:cNvSpPr>
            <a:spLocks xmlns:a="http://schemas.openxmlformats.org/drawingml/2006/main" noGrp="1"/>
          </p:cNvSpPr>
          <p:nvPr/>
        </p:nvSpPr>
        <p:spPr>
          <a:xfrm xmlns:a="http://schemas.openxmlformats.org/drawingml/2006/main">
            <a:off x="8639175" y="3695700"/>
            <a:ext cx="2524125" cy="9525"/>
          </a:xfrm>
          <a:prstGeom xmlns:a="http://schemas.openxmlformats.org/drawingml/2006/main" prst="rect">
            <a:avLst/>
          </a:prstGeom>
          <a:solidFill xmlns:a="http://schemas.openxmlformats.org/drawingml/2006/main">
            <a:srgbClr val="C9E3D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2589B38-9A18-425C-83AF-97137260189C}"/>
              </a:ext>
            </a:extLst>
          </p:cNvPr>
          <p:cNvSpPr>
            <a:spLocks xmlns:a="http://schemas.openxmlformats.org/drawingml/2006/main" noGrp="1"/>
          </p:cNvSpPr>
          <p:nvPr/>
        </p:nvSpPr>
        <p:spPr>
          <a:xfrm xmlns:a="http://schemas.openxmlformats.org/drawingml/2006/main">
            <a:off x="8191500" y="3857625"/>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03</a:t>
            </a:r>
          </a:p>
        </p:txBody>
      </p:sp>
      <p:sp>
        <p:nvSpPr>
          <p:cNvPr id="36" name="">
            <a:extLst xmlns:a="http://schemas.openxmlformats.org/drawingml/2006/main">
              <a:ext uri="{FF2B5EF4-FFF2-40B4-BE49-F238E27FC236}">
                <a16:creationId xmlns:a16="http://schemas.microsoft.com/office/drawing/2014/main" id="{C8415E05-EA52-457F-9FCC-ABEB2AE047DD}"/>
              </a:ext>
            </a:extLst>
          </p:cNvPr>
          <p:cNvSpPr>
            <a:spLocks xmlns:a="http://schemas.openxmlformats.org/drawingml/2006/main" noGrp="1"/>
          </p:cNvSpPr>
          <p:nvPr/>
        </p:nvSpPr>
        <p:spPr>
          <a:xfrm xmlns:a="http://schemas.openxmlformats.org/drawingml/2006/main">
            <a:off x="8639175" y="3838575"/>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806"/>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Programmatic access for national applications</a:t>
            </a:r>
          </a:p>
        </p:txBody>
      </p:sp>
      <p:sp>
        <p:nvSpPr>
          <p:cNvPr id="37" name="">
            <a:extLst xmlns:a="http://schemas.openxmlformats.org/drawingml/2006/main">
              <a:ext uri="{FF2B5EF4-FFF2-40B4-BE49-F238E27FC236}">
                <a16:creationId xmlns:a16="http://schemas.microsoft.com/office/drawing/2014/main" id="{71B0AE3B-2441-4E30-9144-186A1C02C317}"/>
              </a:ext>
            </a:extLst>
          </p:cNvPr>
          <p:cNvSpPr>
            <a:spLocks xmlns:a="http://schemas.openxmlformats.org/drawingml/2006/main" noGrp="1"/>
          </p:cNvSpPr>
          <p:nvPr/>
        </p:nvSpPr>
        <p:spPr>
          <a:xfrm xmlns:a="http://schemas.openxmlformats.org/drawingml/2006/main">
            <a:off x="8639175" y="4181475"/>
            <a:ext cx="2524125" cy="9525"/>
          </a:xfrm>
          <a:prstGeom xmlns:a="http://schemas.openxmlformats.org/drawingml/2006/main" prst="rect">
            <a:avLst/>
          </a:prstGeom>
          <a:solidFill xmlns:a="http://schemas.openxmlformats.org/drawingml/2006/main">
            <a:srgbClr val="C9E3DC"/>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6A70DC1-8809-4028-BBE1-6C9F0A58D32F}"/>
              </a:ext>
            </a:extLst>
          </p:cNvPr>
          <p:cNvSpPr>
            <a:spLocks xmlns:a="http://schemas.openxmlformats.org/drawingml/2006/main" noGrp="1"/>
          </p:cNvSpPr>
          <p:nvPr/>
        </p:nvSpPr>
        <p:spPr>
          <a:xfrm xmlns:a="http://schemas.openxmlformats.org/drawingml/2006/main">
            <a:off x="8191500" y="4343400"/>
            <a:ext cx="342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008D7A"/>
                </a:solidFill>
                <a:latin typeface="Lato"/>
                <a:ea typeface="Lato"/>
                <a:cs typeface="Lato"/>
              </a:defRPr>
            </a:pPr>
            <a:r>
              <a:rPr sz="900" b="1" i="0">
                <a:solidFill>
                  <a:srgbClr val="008D7A"/>
                </a:solidFill>
                <a:latin typeface="Lato"/>
                <a:ea typeface="Lato"/>
                <a:cs typeface="Lato"/>
              </a:rPr>
              <a:t>04</a:t>
            </a:r>
          </a:p>
        </p:txBody>
      </p:sp>
      <p:sp>
        <p:nvSpPr>
          <p:cNvPr id="39" name="">
            <a:extLst xmlns:a="http://schemas.openxmlformats.org/drawingml/2006/main">
              <a:ext uri="{FF2B5EF4-FFF2-40B4-BE49-F238E27FC236}">
                <a16:creationId xmlns:a16="http://schemas.microsoft.com/office/drawing/2014/main" id="{779B51E6-2840-41D1-9517-9E9DEF6AB072}"/>
              </a:ext>
            </a:extLst>
          </p:cNvPr>
          <p:cNvSpPr>
            <a:spLocks xmlns:a="http://schemas.openxmlformats.org/drawingml/2006/main" noGrp="1"/>
          </p:cNvSpPr>
          <p:nvPr/>
        </p:nvSpPr>
        <p:spPr>
          <a:xfrm xmlns:a="http://schemas.openxmlformats.org/drawingml/2006/main">
            <a:off x="8639175" y="4324350"/>
            <a:ext cx="255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716"/>
          </a:bodyPr>
          <a:lstStyle xmlns:a="http://schemas.openxmlformats.org/drawingml/2006/main"/>
          <a:p xmlns:a="http://schemas.openxmlformats.org/drawingml/2006/main">
            <a:pPr algn="l">
              <a:lnSpc>
                <a:spcPct val="105000"/>
              </a:lnSpc>
              <a:buNone/>
              <a:defRPr sz="1200" b="1" i="0">
                <a:solidFill>
                  <a:srgbClr val="17324D"/>
                </a:solidFill>
                <a:latin typeface="Lato"/>
                <a:ea typeface="Lato"/>
                <a:cs typeface="Lato"/>
              </a:defRPr>
            </a:pPr>
            <a:r>
              <a:rPr sz="1200" b="1" i="0">
                <a:solidFill>
                  <a:srgbClr val="17324D"/>
                </a:solidFill>
                <a:latin typeface="Lato"/>
                <a:ea typeface="Lato"/>
                <a:cs typeface="Lato"/>
              </a:rPr>
              <a:t>A system adapted to institutional needs</a:t>
            </a:r>
          </a:p>
        </p:txBody>
      </p:sp>
      <p:sp>
        <p:nvSpPr>
          <p:cNvPr id="40" name="">
            <a:extLst xmlns:a="http://schemas.openxmlformats.org/drawingml/2006/main">
              <a:ext uri="{FF2B5EF4-FFF2-40B4-BE49-F238E27FC236}">
                <a16:creationId xmlns:a16="http://schemas.microsoft.com/office/drawing/2014/main" id="{79CC006E-7EB4-46F3-8211-E95DB97FD3F0}"/>
              </a:ext>
            </a:extLst>
          </p:cNvPr>
          <p:cNvSpPr>
            <a:spLocks xmlns:a="http://schemas.openxmlformats.org/drawingml/2006/main" noGrp="1"/>
          </p:cNvSpPr>
          <p:nvPr/>
        </p:nvSpPr>
        <p:spPr>
          <a:xfrm xmlns:a="http://schemas.openxmlformats.org/drawingml/2006/main">
            <a:off x="762000" y="5334000"/>
            <a:ext cx="1619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687984"/>
                </a:solidFill>
                <a:latin typeface="Lato"/>
                <a:ea typeface="Lato"/>
                <a:cs typeface="Lato"/>
              </a:defRPr>
            </a:pPr>
            <a:r>
              <a:rPr sz="825" b="1" i="0">
                <a:solidFill>
                  <a:srgbClr val="687984"/>
                </a:solidFill>
                <a:latin typeface="Lato"/>
                <a:ea typeface="Lato"/>
                <a:cs typeface="Lato"/>
              </a:rPr>
              <a:t>CURRENT EXAMPLES</a:t>
            </a:r>
          </a:p>
        </p:txBody>
      </p:sp>
      <p:sp>
        <p:nvSpPr>
          <p:cNvPr id="41" name="">
            <a:extLst xmlns:a="http://schemas.openxmlformats.org/drawingml/2006/main">
              <a:ext uri="{FF2B5EF4-FFF2-40B4-BE49-F238E27FC236}">
                <a16:creationId xmlns:a16="http://schemas.microsoft.com/office/drawing/2014/main" id="{2ADD9961-BE31-41B1-BBF9-83C058B1E8A1}"/>
              </a:ext>
            </a:extLst>
          </p:cNvPr>
          <p:cNvSpPr>
            <a:spLocks xmlns:a="http://schemas.openxmlformats.org/drawingml/2006/main" noGrp="1"/>
          </p:cNvSpPr>
          <p:nvPr/>
        </p:nvSpPr>
        <p:spPr>
          <a:xfrm xmlns:a="http://schemas.openxmlformats.org/drawingml/2006/main">
            <a:off x="2381250" y="52959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12304E"/>
                </a:solidFill>
                <a:latin typeface="Lato"/>
                <a:ea typeface="Lato"/>
                <a:cs typeface="Lato"/>
              </a:defRPr>
            </a:pPr>
            <a:r>
              <a:rPr sz="1200" b="1" i="0">
                <a:solidFill>
                  <a:srgbClr val="12304E"/>
                </a:solidFill>
                <a:latin typeface="Lato"/>
                <a:ea typeface="Lato"/>
                <a:cs typeface="Lato"/>
              </a:rPr>
              <a:t>Southeast Asia</a:t>
            </a:r>
          </a:p>
        </p:txBody>
      </p:sp>
      <p:sp>
        <p:nvSpPr>
          <p:cNvPr id="42" name="">
            <a:extLst xmlns:a="http://schemas.openxmlformats.org/drawingml/2006/main">
              <a:ext uri="{FF2B5EF4-FFF2-40B4-BE49-F238E27FC236}">
                <a16:creationId xmlns:a16="http://schemas.microsoft.com/office/drawing/2014/main" id="{B85C71C2-596C-4B4D-B2C3-B4306D70B977}"/>
              </a:ext>
            </a:extLst>
          </p:cNvPr>
          <p:cNvSpPr>
            <a:spLocks xmlns:a="http://schemas.openxmlformats.org/drawingml/2006/main" noGrp="1"/>
          </p:cNvSpPr>
          <p:nvPr/>
        </p:nvSpPr>
        <p:spPr>
          <a:xfrm xmlns:a="http://schemas.openxmlformats.org/drawingml/2006/main">
            <a:off x="2381250" y="5543550"/>
            <a:ext cx="200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687984"/>
                </a:solidFill>
                <a:latin typeface="Lato"/>
                <a:ea typeface="Lato"/>
                <a:cs typeface="Lato"/>
              </a:defRPr>
            </a:pPr>
            <a:r>
              <a:rPr sz="975" b="0" i="0">
                <a:solidFill>
                  <a:srgbClr val="687984"/>
                </a:solidFill>
                <a:latin typeface="Lato"/>
                <a:ea typeface="Lato"/>
                <a:cs typeface="Lato"/>
              </a:rPr>
              <a:t>MSS regional climate system</a:t>
            </a:r>
          </a:p>
        </p:txBody>
      </p:sp>
      <p:sp>
        <p:nvSpPr>
          <p:cNvPr id="43" name="">
            <a:extLst xmlns:a="http://schemas.openxmlformats.org/drawingml/2006/main">
              <a:ext uri="{FF2B5EF4-FFF2-40B4-BE49-F238E27FC236}">
                <a16:creationId xmlns:a16="http://schemas.microsoft.com/office/drawing/2014/main" id="{FC1BE4AF-1BFA-411C-922B-F1704FF8053B}"/>
              </a:ext>
            </a:extLst>
          </p:cNvPr>
          <p:cNvSpPr>
            <a:spLocks xmlns:a="http://schemas.openxmlformats.org/drawingml/2006/main" noGrp="1"/>
          </p:cNvSpPr>
          <p:nvPr/>
        </p:nvSpPr>
        <p:spPr>
          <a:xfrm xmlns:a="http://schemas.openxmlformats.org/drawingml/2006/main">
            <a:off x="4610100" y="5324475"/>
            <a:ext cx="9525" cy="438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F69178E-1238-44E9-AF6E-B0B7E8E831D3}"/>
              </a:ext>
            </a:extLst>
          </p:cNvPr>
          <p:cNvSpPr>
            <a:spLocks xmlns:a="http://schemas.openxmlformats.org/drawingml/2006/main" noGrp="1"/>
          </p:cNvSpPr>
          <p:nvPr/>
        </p:nvSpPr>
        <p:spPr>
          <a:xfrm xmlns:a="http://schemas.openxmlformats.org/drawingml/2006/main">
            <a:off x="4895850" y="52959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12304E"/>
                </a:solidFill>
                <a:latin typeface="Lato"/>
                <a:ea typeface="Lato"/>
                <a:cs typeface="Lato"/>
              </a:defRPr>
            </a:pPr>
            <a:r>
              <a:rPr sz="1200" b="1" i="0">
                <a:solidFill>
                  <a:srgbClr val="12304E"/>
                </a:solidFill>
                <a:latin typeface="Lato"/>
                <a:ea typeface="Lato"/>
                <a:cs typeface="Lato"/>
              </a:rPr>
              <a:t>Sri Lanka</a:t>
            </a:r>
          </a:p>
        </p:txBody>
      </p:sp>
      <p:sp>
        <p:nvSpPr>
          <p:cNvPr id="45" name="">
            <a:extLst xmlns:a="http://schemas.openxmlformats.org/drawingml/2006/main">
              <a:ext uri="{FF2B5EF4-FFF2-40B4-BE49-F238E27FC236}">
                <a16:creationId xmlns:a16="http://schemas.microsoft.com/office/drawing/2014/main" id="{86FD9B8A-313C-4083-B35A-711D4AAE905C}"/>
              </a:ext>
            </a:extLst>
          </p:cNvPr>
          <p:cNvSpPr>
            <a:spLocks xmlns:a="http://schemas.openxmlformats.org/drawingml/2006/main" noGrp="1"/>
          </p:cNvSpPr>
          <p:nvPr/>
        </p:nvSpPr>
        <p:spPr>
          <a:xfrm xmlns:a="http://schemas.openxmlformats.org/drawingml/2006/main">
            <a:off x="4895850" y="5543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i="0">
                <a:solidFill>
                  <a:srgbClr val="687984"/>
                </a:solidFill>
                <a:latin typeface="Lato"/>
                <a:ea typeface="Lato"/>
                <a:cs typeface="Lato"/>
              </a:defRPr>
            </a:pPr>
            <a:r>
              <a:rPr sz="975" b="0" i="0">
                <a:solidFill>
                  <a:srgbClr val="687984"/>
                </a:solidFill>
                <a:latin typeface="Lato"/>
                <a:ea typeface="Lato"/>
                <a:cs typeface="Lato"/>
              </a:rPr>
              <a:t>National CAVA system</a:t>
            </a:r>
          </a:p>
        </p:txBody>
      </p:sp>
      <p:sp>
        <p:nvSpPr>
          <p:cNvPr id="46" name="">
            <a:extLst xmlns:a="http://schemas.openxmlformats.org/drawingml/2006/main">
              <a:ext uri="{FF2B5EF4-FFF2-40B4-BE49-F238E27FC236}">
                <a16:creationId xmlns:a16="http://schemas.microsoft.com/office/drawing/2014/main" id="{C6B68626-E8B8-4FD6-BE02-3FE5E252148A}"/>
              </a:ext>
            </a:extLst>
          </p:cNvPr>
          <p:cNvSpPr>
            <a:spLocks xmlns:a="http://schemas.openxmlformats.org/drawingml/2006/main" noGrp="1"/>
          </p:cNvSpPr>
          <p:nvPr/>
        </p:nvSpPr>
        <p:spPr>
          <a:xfrm xmlns:a="http://schemas.openxmlformats.org/drawingml/2006/main">
            <a:off x="6858000" y="5324475"/>
            <a:ext cx="9525" cy="438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576F725-A831-4404-AD4F-54C552CE6A55}"/>
              </a:ext>
            </a:extLst>
          </p:cNvPr>
          <p:cNvSpPr>
            <a:spLocks xmlns:a="http://schemas.openxmlformats.org/drawingml/2006/main" noGrp="1"/>
          </p:cNvSpPr>
          <p:nvPr/>
        </p:nvSpPr>
        <p:spPr>
          <a:xfrm xmlns:a="http://schemas.openxmlformats.org/drawingml/2006/main">
            <a:off x="7143750" y="53340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8D7A"/>
                </a:solidFill>
                <a:latin typeface="Lato"/>
                <a:ea typeface="Lato"/>
                <a:cs typeface="Lato"/>
              </a:defRPr>
            </a:pPr>
            <a:r>
              <a:rPr sz="825" b="1" i="0">
                <a:solidFill>
                  <a:srgbClr val="008D7A"/>
                </a:solidFill>
                <a:latin typeface="Lato"/>
                <a:ea typeface="Lato"/>
                <a:cs typeface="Lato"/>
              </a:rPr>
              <a:t>ADDED VALUE</a:t>
            </a:r>
          </a:p>
        </p:txBody>
      </p:sp>
      <p:sp>
        <p:nvSpPr>
          <p:cNvPr id="48" name="">
            <a:extLst xmlns:a="http://schemas.openxmlformats.org/drawingml/2006/main">
              <a:ext uri="{FF2B5EF4-FFF2-40B4-BE49-F238E27FC236}">
                <a16:creationId xmlns:a16="http://schemas.microsoft.com/office/drawing/2014/main" id="{E6A4BCE7-8ED7-4D3F-8B36-EF5B4E7D6BCD}"/>
              </a:ext>
            </a:extLst>
          </p:cNvPr>
          <p:cNvSpPr>
            <a:spLocks xmlns:a="http://schemas.openxmlformats.org/drawingml/2006/main" noGrp="1"/>
          </p:cNvSpPr>
          <p:nvPr/>
        </p:nvSpPr>
        <p:spPr>
          <a:xfrm xmlns:a="http://schemas.openxmlformats.org/drawingml/2006/main">
            <a:off x="8248650" y="5276850"/>
            <a:ext cx="3295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728"/>
          </a:bodyPr>
          <a:lstStyle xmlns:a="http://schemas.openxmlformats.org/drawingml/2006/main"/>
          <a:p xmlns:a="http://schemas.openxmlformats.org/drawingml/2006/main">
            <a:pPr algn="l">
              <a:lnSpc>
                <a:spcPct val="102000"/>
              </a:lnSpc>
              <a:buNone/>
              <a:defRPr sz="1200" b="1" i="0">
                <a:solidFill>
                  <a:srgbClr val="12304E"/>
                </a:solidFill>
                <a:latin typeface="Lato"/>
                <a:ea typeface="Lato"/>
                <a:cs typeface="Lato"/>
              </a:defRPr>
            </a:pPr>
            <a:r>
              <a:rPr sz="1200" b="1" i="0">
                <a:solidFill>
                  <a:srgbClr val="12304E"/>
                </a:solidFill>
                <a:latin typeface="Lato"/>
                <a:ea typeface="Lato"/>
                <a:cs typeface="Lato"/>
              </a:rPr>
              <a:t>Countries reuse the technical foundation while keeping national information and priorities visible.</a:t>
            </a:r>
          </a:p>
        </p:txBody>
      </p:sp>
    </p:spTree>
    <p:extLst>
      <p:ext uri="{BB962C8B-B14F-4D97-AF65-F5344CB8AC3E}">
        <p14:creationId xmlns:p14="http://schemas.microsoft.com/office/powerpoint/2010/main" val="13192174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2026-09-23T08:59:03.3720000Z</dcterms:created>
  <dcterms:modified xsi:type="dcterms:W3CDTF">2026-09-23T08:59:03.3720000Z</dcterms:modified>
</coreProperties>
</file>