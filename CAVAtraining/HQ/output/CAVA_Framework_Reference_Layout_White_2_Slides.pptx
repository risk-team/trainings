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ff2f2716ce47fe" /><Relationship Type="http://schemas.openxmlformats.org/officeDocument/2006/relationships/extended-properties" Target="/docProps/app.xml" Id="Rbe87ecc3d2934e2e" /><Relationship Type="http://schemas.openxmlformats.org/officeDocument/2006/relationships/officeDocument" Target="/ppt/presentation.xml" Id="R59ad06b95f4942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81141c3c464d91"/>
  </p:sldMasterIdLst>
  <p:notesMasterIdLst>
    <p:notesMasterId xmlns:r="http://schemas.openxmlformats.org/officeDocument/2006/relationships" r:id="R1c5d4c0fb843403e"/>
  </p:notesMasterIdLst>
  <p:sldIdLst>
    <p:sldId xmlns:r="http://schemas.openxmlformats.org/officeDocument/2006/relationships" id="256" r:id="Radfdfa2662254078"/>
    <p:sldId xmlns:r="http://schemas.openxmlformats.org/officeDocument/2006/relationships" id="257" r:id="R13aef7b4e56541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608c5748e3464b" /><Relationship Type="http://schemas.openxmlformats.org/officeDocument/2006/relationships/slideMaster" Target="/ppt/slideMasters/slideMaster1.xml" Id="R4381141c3c464d91" /><Relationship Type="http://schemas.openxmlformats.org/officeDocument/2006/relationships/notesMaster" Target="/ppt/notesMasters/notesMaster1.xml" Id="R1c5d4c0fb843403e" /><Relationship Type="http://schemas.openxmlformats.org/officeDocument/2006/relationships/presProps" Target="/ppt/presProps.xml" Id="R6eb8210a94af40b3" /><Relationship Type="http://schemas.openxmlformats.org/officeDocument/2006/relationships/tableStyles" Target="/ppt/tableStyles.xml" Id="R7d030aabd163487a" /><Relationship Type="http://schemas.openxmlformats.org/officeDocument/2006/relationships/slide" Target="/ppt/slides/slide1.xml" Id="Radfdfa2662254078" /><Relationship Type="http://schemas.openxmlformats.org/officeDocument/2006/relationships/slide" Target="/ppt/slides/slide2.xml" Id="R13aef7b4e56541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c85aec289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50aa67d56646ab" /><Relationship Type="http://schemas.openxmlformats.org/officeDocument/2006/relationships/notesMaster" Target="/ppt/notesMasters/notesMaster1.xml" Id="Rd1389e71bb4347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1677c3c77c430b" /><Relationship Type="http://schemas.openxmlformats.org/officeDocument/2006/relationships/notesMaster" Target="/ppt/notesMasters/notesMaster1.xml" Id="Rac599ab9b97247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structure from top to bottom. Copernicus and ESGF provide access to climate information, including ERA5 and CORDEX-CORE. ISIMIP3b provides crop-impact projections. CAVA connects these components through a framework that supports a web platform, the cavapy Python SDK and the CAVAanalytics R SDK. ISIMIP impact outputs use independent climate forcing, so CAVA harmonizes interpretation rather than claiming identical inputs. Sources: https://cavaplatform.fao.org/about ; https://www.isimip.org/about/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CAVA can be deployed as a country or regional climate information system. Countries and institutions can integrate national datasets, give visibility to locally generated information, adapt indicators and workflows, and choose a deployment ranging from a visualization interface to analytical pipelines, automated reports and programmatic access. The CAVA About page lists a Southeast Asia system using Meteorological Service Singapore datasets and a Sri Lanka national implementation. Source: https://cavaplatform.fao.org/about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248bafcb94c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5375a95fae44c3" /><Relationship Type="http://schemas.openxmlformats.org/officeDocument/2006/relationships/slideLayout" Target="/ppt/slideLayouts/slideLayout1.xml" Id="Rf0ae1d28030d49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ae1d28030d49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f010e6af341da" /><Relationship Type="http://schemas.openxmlformats.org/officeDocument/2006/relationships/notesSlide" Target="/ppt/notesSlides/notesSlide1.xml" Id="Rbd2df3004f49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215b2108b4616" /><Relationship Type="http://schemas.openxmlformats.org/officeDocument/2006/relationships/notesSlide" Target="/ppt/notesSlides/notesSlide2.xml" Id="R7c199db35a8942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4A9EA3-B4C5-4F6A-835D-7AC7E05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1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State-of-the-art climate and agriculture datasets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EC012-30D7-42C5-9307-E661CCB0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8477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Climate evidence and agricultural impacts connect through one CAVA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A2661-840B-4CD3-9788-35581970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287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7AB53-C893-4A2A-9D27-3926803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5FE73-2EBC-480B-A11E-D8687CBB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525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 i="0">
                <a:solidFill>
                  <a:srgbClr val="0067A3"/>
                </a:solidFill>
                <a:latin typeface="Lato"/>
                <a:ea typeface="Lato"/>
                <a:cs typeface="Lato"/>
              </a:defRPr>
            </a:pPr>
            <a:r>
              <a:rPr sz="2100" b="1" i="0">
                <a:solidFill>
                  <a:srgbClr val="0067A3"/>
                </a:solidFill>
                <a:latin typeface="Lato"/>
                <a:ea typeface="Lato"/>
                <a:cs typeface="Lato"/>
              </a:rPr>
              <a:t>COPERNICUS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3B0DC-9FF1-45FB-AC1A-6D9E49D8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Europe's Earth observation programme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F96BF-DEEB-4E86-8AFA-BFA0165C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5732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925" b="1" i="1">
                <a:solidFill>
                  <a:srgbClr val="07569A"/>
                </a:solidFill>
                <a:latin typeface="Lato"/>
                <a:ea typeface="Lato"/>
                <a:cs typeface="Lato"/>
              </a:defRPr>
            </a:pPr>
            <a:r>
              <a:rPr sz="2925" b="1" i="1">
                <a:solidFill>
                  <a:srgbClr val="07569A"/>
                </a:solidFill>
                <a:latin typeface="Lato"/>
                <a:ea typeface="Lato"/>
                <a:cs typeface="Lato"/>
              </a:rPr>
              <a:t>ESGF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53859-3835-4023-86F9-1A23D80E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Earth System Grid Federation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4414B-49D5-41D9-B52D-C97B4A8B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525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5" b="1" i="0">
                <a:solidFill>
                  <a:srgbClr val="0879BE"/>
                </a:solidFill>
                <a:latin typeface="Lato"/>
                <a:ea typeface="Lato"/>
                <a:cs typeface="Lato"/>
              </a:defRPr>
            </a:pPr>
            <a:r>
              <a:rPr sz="2325" b="1" i="0">
                <a:solidFill>
                  <a:srgbClr val="0879BE"/>
                </a:solidFill>
                <a:latin typeface="Lato"/>
                <a:ea typeface="Lato"/>
                <a:cs typeface="Lato"/>
              </a:rPr>
              <a:t>ISIMIP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3BF6F-AD8A-4371-B38D-7A349A01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Inter-Sectoral Impact Model Intercomparison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53D8F-2BD8-4076-8642-7906E0E7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5095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37DB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DDBA7-395F-4AFE-BC74-D6ABB64E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4562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Climate data module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118FE-22C6-472A-BAB9-E3F1FC24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4562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E6F4FB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E6F4FB"/>
                </a:solidFill>
                <a:latin typeface="Lato"/>
                <a:ea typeface="Lato"/>
                <a:cs typeface="Lato"/>
              </a:rPr>
              <a:t>ERA5 reanalysis and CORDEX-CORE projections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0B0EB-39DC-455F-B93A-E1459246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62200"/>
            <a:ext cx="5095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69C98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E9ADF-6921-47AF-B26A-DB85CEB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05075"/>
            <a:ext cx="4562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65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Agricultural impact module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965DB-5C1D-4E8F-A689-1C73F0A7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67025"/>
            <a:ext cx="4562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F2FFF5"/>
                </a:solidFill>
                <a:latin typeface="Lato"/>
                <a:ea typeface="Lato"/>
                <a:cs typeface="Lato"/>
              </a:defRPr>
            </a:pPr>
            <a:r>
              <a:rPr sz="1200" b="0" i="0">
                <a:solidFill>
                  <a:srgbClr val="F2FFF5"/>
                </a:solidFill>
                <a:latin typeface="Lato"/>
                <a:ea typeface="Lato"/>
                <a:cs typeface="Lato"/>
              </a:rPr>
              <a:t>ISIMIP3b crop-yield projections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6D47E-1AD3-415A-A221-C5AFBB8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95650"/>
            <a:ext cx="381000" cy="3714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9B2B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58339-29D5-4BC0-BACA-6CE2AA1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95650"/>
            <a:ext cx="381000" cy="3714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9B2B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47B8E-5FE3-479D-AE05-823225DF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99441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DFEAE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2A78D-4257-4104-BBA8-C20D54E5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2100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CAVA Framework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F2F29-CF07-461D-B425-48D5185B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6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CE3D2B-05CD-4DC6-B496-A3F55BE8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62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ANALYTICS SDKs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3F80A-7DD2-41B1-9A39-90A127E8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43815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331ED-356D-449D-8BCD-6E44A460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 i="0">
                <a:solidFill>
                  <a:srgbClr val="0067A3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0067A3"/>
                </a:solidFill>
                <a:latin typeface="Lato"/>
                <a:ea typeface="Lato"/>
                <a:cs typeface="Lato"/>
              </a:rPr>
              <a:t>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3060C-D249-4A86-942D-A7B5FBCE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62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Climate summaries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1BFD9-E4BA-4B85-AD2D-AA30C199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2917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2D16E2-04A9-4F8A-A3F9-90597578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577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 i="0">
                <a:solidFill>
                  <a:srgbClr val="0067A3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0067A3"/>
                </a:solidFill>
                <a:latin typeface="Lato"/>
                <a:ea typeface="Lato"/>
                <a:cs typeface="Lato"/>
              </a:rPr>
              <a:t>MAPS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86D6BF-1131-4839-8243-5ED65F93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62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Spatial exploration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DC4405-834A-4D02-9303-6D2D05BB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2917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8B3BF-FF47-47AD-8A14-F6FBD251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 i="0">
                <a:solidFill>
                  <a:srgbClr val="0067A3"/>
                </a:solidFill>
                <a:latin typeface="Lato"/>
                <a:ea typeface="Lato"/>
                <a:cs typeface="Lato"/>
              </a:defRPr>
            </a:pPr>
            <a:r>
              <a:rPr sz="1050" b="1" i="0">
                <a:solidFill>
                  <a:srgbClr val="0067A3"/>
                </a:solidFill>
                <a:latin typeface="Lato"/>
                <a:ea typeface="Lato"/>
                <a:cs typeface="Lato"/>
              </a:rPr>
              <a:t>TIME SERIES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882B88-9AA0-4167-A5FB-B808C28B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6255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8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Change over time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8A84C6-140B-46BD-A79C-0B2F2133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76775"/>
            <a:ext cx="43815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4E538-BDE4-4BC5-9EC0-D9EFB1BB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 i="0">
                <a:solidFill>
                  <a:srgbClr val="137DB4"/>
                </a:solidFill>
                <a:latin typeface="Lato"/>
                <a:ea typeface="Lato"/>
                <a:cs typeface="Lato"/>
              </a:defRPr>
            </a:pPr>
            <a:r>
              <a:rPr sz="1800" b="1" i="0">
                <a:solidFill>
                  <a:srgbClr val="137DB4"/>
                </a:solidFill>
                <a:latin typeface="Lato"/>
                <a:ea typeface="Lato"/>
                <a:cs typeface="Lato"/>
              </a:rPr>
              <a:t>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25683B-C4FF-46FF-81D3-E1226952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196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5C65E-6070-4607-9F25-52AB323C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339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Python data access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B46457-CB7B-4A45-89FF-67B2A583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2917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017ABC-6DDC-469E-A4E8-8982AEFA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101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276DC3"/>
                </a:solidFill>
                <a:latin typeface="Lato"/>
                <a:ea typeface="Lato"/>
                <a:cs typeface="Lato"/>
              </a:defRPr>
            </a:pPr>
            <a:r>
              <a:rPr sz="1875" b="1" i="0">
                <a:solidFill>
                  <a:srgbClr val="276DC3"/>
                </a:solidFill>
                <a:latin typeface="Lato"/>
                <a:ea typeface="Lato"/>
                <a:cs typeface="Lato"/>
              </a:rPr>
              <a:t>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5DE41C-E33E-45C6-858E-49A2C430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96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3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CAVAanalytics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894834-0C11-4FEA-9E55-3FDCA87F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33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8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R analytical workflows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72048A-9BAB-4908-92B7-3492F89C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0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One connected framework for visual exploration, reproducible analysis and integration into other systems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9DE769-EA6C-4F61-9169-93131FF1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B57FC8-8D74-4212-BF40-9E552F65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E6E707-FAA4-413B-8445-900F1870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2455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3F8493-9DF1-4EDA-A50E-7EC96B74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225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CAVA can support country-level climate information products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C58F1-E80D-4B55-B1DE-B8E4E22A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9334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0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Countries can reuse the analytical core while adding national data, priorities and institutional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40960-A5AA-4D78-992F-CACB91F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12B7B-D085-4E6D-9586-F403AA7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92DFB-E016-4066-B22F-7775D7C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188AA-7AAA-4324-B8AB-F04218C9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CAVA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05571-7E2C-4D8D-82D0-EF0055BE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4365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750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C91DD-F573-45B9-A143-5180D7B2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REUSABLE CAVA 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C3466-9AD1-4265-8850-2D1D8772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0480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D61DB-2728-4129-B130-2894F57C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2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A tested 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A2236-D824-4A9B-AF94-2E036766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6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Global climate and impact datasets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2AB304-DCA1-4D3D-A18D-A507EFF2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68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9A35D-68F6-496C-90C1-ABD818BC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337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Shared processing methods and metadata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D84C5-43B5-4698-8B0C-C5E8E643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48125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68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570F0-F656-4F84-BCB6-7AC6394B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Platform, R SDK and Python SDK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9CDD8-8E05-4149-A446-2F58937F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14700"/>
            <a:ext cx="66675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B63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AB5E9-0289-4F32-BFE8-856C17D8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526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COUNTRY TAILORING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20FD6-5C54-4020-BA80-1875F7DA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76450"/>
            <a:ext cx="2476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1"/>
          </a:solidFill>
          <a:ln xmlns:a="http://schemas.openxmlformats.org/drawingml/2006/main" w="9525">
            <a:solidFill>
              <a:srgbClr val="F2B6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6587B-C789-40CB-8647-950DB857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National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9A130-DF56-47D5-B8AB-199DC773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Give visibility to nationally generated climate information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C1F97-441F-44AD-9DC3-A2C6A8A7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179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CE8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7D343-9B80-4C62-BB20-9B788D20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5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Local priorities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9E2E2-501C-4E22-8035-79503BEC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33825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112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Adapt indicators, reporting and decision workflows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842BC-8912-4BCF-9CDC-96703532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A86F00"/>
                </a:solidFill>
                <a:latin typeface="Lato"/>
                <a:ea typeface="Lato"/>
                <a:cs typeface="Lato"/>
              </a:defRPr>
            </a:pPr>
            <a:r>
              <a:rPr sz="975" b="1" i="0">
                <a:solidFill>
                  <a:srgbClr val="A86F00"/>
                </a:solidFill>
                <a:latin typeface="Lato"/>
                <a:ea typeface="Lato"/>
                <a:cs typeface="Lato"/>
              </a:rPr>
              <a:t>Flexible 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486821-C742-4510-B586-EB4F535B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666750" cy="609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88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DD5F4D-6C27-487F-AF17-FCD5A0F3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COUNTRY OR REGIONAL PRODUCT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2B9B70-453A-4E69-A442-06808672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619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00A88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2CF52-5927-4B18-BE39-14C49619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1457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8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725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An operational climate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C8368-04F6-42A6-9812-F8451EB9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2E88C0-A0ED-44E0-B1BA-C77398B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6702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324D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7324D"/>
                </a:solidFill>
                <a:latin typeface="Lato"/>
                <a:ea typeface="Lato"/>
                <a:cs typeface="Lato"/>
              </a:rPr>
              <a:t>Locally relevant maps and indicators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DBF79-9EC4-4C35-A8F2-EFE4E06C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09925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3D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D2DEC-BE01-4C49-8AFF-F95BAB29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718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E50363-DC82-4DB0-B21C-21E5F7DC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5280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324D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7324D"/>
                </a:solidFill>
                <a:latin typeface="Lato"/>
                <a:ea typeface="Lato"/>
                <a:cs typeface="Lato"/>
              </a:rPr>
              <a:t>Automated reports and analytical pipelines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E52010-5EE9-44B1-B256-57777B18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95700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3D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589B38-9A18-425C-83AF-97137260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415E05-EA52-457F-9FCC-ABEB2AE0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838575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324D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7324D"/>
                </a:solidFill>
                <a:latin typeface="Lato"/>
                <a:ea typeface="Lato"/>
                <a:cs typeface="Lato"/>
              </a:rPr>
              <a:t>Programmatic access for national applications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B0AE3B-2441-4E30-9144-186A1C02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81475"/>
            <a:ext cx="252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3D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A70DC1-8809-4028-BBE1-6C9F0A58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900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9B51E6-2840-41D1-9517-9E9DEF6A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2435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7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324D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7324D"/>
                </a:solidFill>
                <a:latin typeface="Lato"/>
                <a:ea typeface="Lato"/>
                <a:cs typeface="Lato"/>
              </a:rPr>
              <a:t>A system adapted to institutional needs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CC006E-7EB4-46F3-8211-E95DB97F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687984"/>
                </a:solidFill>
                <a:latin typeface="Lato"/>
                <a:ea typeface="Lato"/>
                <a:cs typeface="Lato"/>
              </a:rPr>
              <a:t>CURRENT EXAMPLES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DD9961-BE31-41B1-BBF9-83C058B1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95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Southeast Asia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5C71C2-596C-4B4D-B2C3-B4306D70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MSS regional climate system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1BE4AF-1BFA-411C-922B-F1704FF8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24475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69178E-1238-44E9-AF6E-B0B7E8E8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95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Sri Lanka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FD9B8A-313C-4083-B35A-711D4AAE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43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87984"/>
                </a:solidFill>
                <a:latin typeface="Lato"/>
                <a:ea typeface="Lato"/>
                <a:cs typeface="Lato"/>
              </a:defRPr>
            </a:pPr>
            <a:r>
              <a:rPr sz="975" b="0" i="0">
                <a:solidFill>
                  <a:srgbClr val="687984"/>
                </a:solidFill>
                <a:latin typeface="Lato"/>
                <a:ea typeface="Lato"/>
                <a:cs typeface="Lato"/>
              </a:rPr>
              <a:t>National CAVA system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B68626-E8B8-4FD6-BE02-3FE5E252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24475"/>
            <a:ext cx="9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76F725-A831-4404-AD4F-54C552CE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08D7A"/>
                </a:solidFill>
                <a:latin typeface="Lato"/>
                <a:ea typeface="Lato"/>
                <a:cs typeface="Lato"/>
              </a:defRPr>
            </a:pPr>
            <a:r>
              <a:rPr sz="825" b="1" i="0">
                <a:solidFill>
                  <a:srgbClr val="008D7A"/>
                </a:solidFill>
                <a:latin typeface="Lato"/>
                <a:ea typeface="Lato"/>
                <a:cs typeface="Lato"/>
              </a:rPr>
              <a:t>ADDED VALUE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A4BCE7-8ED7-4D3F-8B36-EF5B4E7D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7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12304E"/>
                </a:solidFill>
                <a:latin typeface="Lato"/>
                <a:ea typeface="Lato"/>
                <a:cs typeface="Lato"/>
              </a:defRPr>
            </a:pPr>
            <a:r>
              <a:rPr sz="1200" b="1" i="0">
                <a:solidFill>
                  <a:srgbClr val="12304E"/>
                </a:solidFill>
                <a:latin typeface="Lato"/>
                <a:ea typeface="Lato"/>
                <a:cs typeface="Lato"/>
              </a:rPr>
              <a:t>Countries reuse the technical foundation while keeping national information and priorities visible.</a:t>
            </a:r>
          </a:p>
        </p:txBody>
      </p:sp>
    </p:spTree>
    <p:extLst>
      <p:ext uri="{BB962C8B-B14F-4D97-AF65-F5344CB8AC3E}">
        <p14:creationId xmlns:p14="http://schemas.microsoft.com/office/powerpoint/2010/main" val="1319217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2026-09-23T09:13:15.6620000Z</dcterms:created>
  <dcterms:modified xsi:type="dcterms:W3CDTF">2026-09-23T09:13:15.6620000Z</dcterms:modified>
</coreProperties>
</file>