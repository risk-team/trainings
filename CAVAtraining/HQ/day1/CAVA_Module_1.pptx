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Lato"/>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Riccardo S"/>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Lato-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Lato-italic.fntdata"/><Relationship Id="rId12" Type="http://schemas.openxmlformats.org/officeDocument/2006/relationships/slide" Target="slides/slide7.xml"/><Relationship Id="rId34" Type="http://schemas.openxmlformats.org/officeDocument/2006/relationships/font" Target="fonts/Lato-bold.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Lato-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3T06:37:59.475">
    <p:pos x="6000" y="0"/>
    <p:text>@zequi3000@gmail.com You can change a bit the slides if you want Ezi and you can also take a bit more time if you need. but let me know how much you intend to talk for
_Assigned to zequi3000@gmail.com_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Welcome participants and introduce the training series. Explain that Module 1 builds a shared conceptual foundation before the hands-on platform and coding sessions. Sources: CAVA Training Series Concept Note and Module 1 run sheet supplied by the user; CAVA Platform homepage/interface, accessed 21 September 2026, https://cavaplatform.fao.org/</a:t>
            </a:r>
            <a:endParaRPr/>
          </a:p>
        </p:txBody>
      </p:sp>
      <p:sp>
        <p:nvSpPr>
          <p:cNvPr id="14" name="Google Shape;1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 name="Google Shape;3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2 minutes. Position Module 1 within the full series. The concept note lists Modules 1 and 2 as online, with Modules 3 and 4 in hybrid format.</a:t>
            </a:r>
            <a:endParaRPr/>
          </a:p>
        </p:txBody>
      </p:sp>
      <p:sp>
        <p:nvSpPr>
          <p:cNvPr id="33" name="Google Shape;33;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 name="Google Shape;6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2 minutes. Introduce the presenters and explain the handovers. The detailed timing follows the supplied Module 1 run sheet.</a:t>
            </a:r>
            <a:endParaRPr/>
          </a:p>
        </p:txBody>
      </p:sp>
      <p:sp>
        <p:nvSpPr>
          <p:cNvPr id="66" name="Google Shape;6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5" name="Google Shape;10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3 minutes. Ask participants what information they would need before showing the three application contexts. Keep the discussion focused on the decision rather than the software.</a:t>
            </a:r>
            <a:endParaRPr/>
          </a:p>
        </p:txBody>
      </p:sp>
      <p:sp>
        <p:nvSpPr>
          <p:cNvPr id="106" name="Google Shape;106;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2 minutes. Establish the journey that structures the rest of the session. Source: FAO describes CAVA as a climate service that combines a web platform with R and Python tools for harmonized historical and future climate data, indicators and analytical workflows. https://www.fao.org/agroinformatics/news/news-detail/fao-digital-solutions-now-available-as-open-source--cava-and-ex-act/en</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f8f1b8d0f7_0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g3f8f1b8d0f7_0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Transition: We now have regional projections from several models and scenarios. Can we download one file and use it directly? Timing: 1 minute.</a:t>
            </a:r>
            <a:endParaRPr/>
          </a:p>
        </p:txBody>
      </p:sp>
      <p:sp>
        <p:nvSpPr>
          <p:cNvPr id="171" name="Google Shape;171;g3f8f1b8d0f7_0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Hideki to confirm. Explain that station and satellite observations remain essential, while reanalysis combines observations with a model to provide spatially complete estimates. ERA5 covers the global atmosphere from 1940 onward. Sources: https://climate.copernicus.eu/what-copernicus-climate-change-services-era5-reanalysis-dataset and https://climate.copernicus.eu/reanalysis-qas</a:t>
            </a:r>
            <a:endParaRPr/>
          </a:p>
        </p:txBody>
      </p:sp>
      <p:sp>
        <p:nvSpPr>
          <p:cNvPr id="183" name="Google Shape;183;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7 minutes. Draft for Hideki to confirm. Use an intuitive distinction: a forecast depends strongly on the current atmospheric state, while a long-term climate projection examines statistics under assumptions about future forcing. IPCC background: https://www.ipcc.ch/report/ar6/wg1/chapter/chapter-4/</a:t>
            </a:r>
            <a:endParaRPr/>
          </a:p>
        </p:txBody>
      </p:sp>
      <p:sp>
        <p:nvSpPr>
          <p:cNvPr id="214" name="Google Shape;21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Hideki to confirm. Introduce CMIP5/RCP and CMIP6/SSP terminology only briefly. ScenarioMIP coordinates simulations driven by alternative plausible futures of emissions and land use. Source: https://wcrp-cmip.org/mips/scenariomip/</a:t>
            </a:r>
            <a:endParaRPr/>
          </a:p>
        </p:txBody>
      </p:sp>
      <p:sp>
        <p:nvSpPr>
          <p:cNvPr id="238" name="Google Shape;238;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8 minutes. Draft for Hideki to confirm. CORDEX-CORE provides a coordinated ensemble of high-resolution regional climate information, generally around 25 km, across major inhabited regions. Source: https://cordex.org/experiment-guidelines/cordex-cmip5/cordex-core/cordex-core-simulations/</a:t>
            </a:r>
            <a:endParaRPr/>
          </a:p>
        </p:txBody>
      </p:sp>
      <p:sp>
        <p:nvSpPr>
          <p:cNvPr id="260" name="Google Shape;26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f8f1b8d0f7_0_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g3f8f1b8d0f7_0_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8 minutes. Draft for Hideki to confirm. CORDEX-CORE provides a coordinated ensemble of high-resolution regional climate information, generally around 25 km, across major inhabited regions. Source: https://cordex.org/experiment-guidelines/cordex-cmip5/cordex-core/cordex-core-simulations/</a:t>
            </a:r>
            <a:endParaRPr/>
          </a:p>
        </p:txBody>
      </p:sp>
      <p:sp>
        <p:nvSpPr>
          <p:cNvPr id="312" name="Google Shape;312;g3f8f1b8d0f7_0_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Transition: We now have regional projections from several models and scenarios. Can we download one file and use it directly? Timing: 1 minute.</a:t>
            </a:r>
            <a:endParaRPr/>
          </a:p>
        </p:txBody>
      </p:sp>
      <p:sp>
        <p:nvSpPr>
          <p:cNvPr id="324" name="Google Shape;324;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Build the dimensions one by one. Emphasize that the challenge is not only file size. It is also consistent selection, calendars, units, spatial grids and repeatability. CAVAanalytics documentation describes these preparation burdens: https://un-fao.github.io/CAVAanalytics/</a:t>
            </a:r>
            <a:endParaRPr/>
          </a:p>
        </p:txBody>
      </p:sp>
      <p:sp>
        <p:nvSpPr>
          <p:cNvPr id="336" name="Google Shape;336;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6" name="Google Shape;376;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6 minutes. Explain that bias is assessed by comparing a model’s historical simulation with an appropriate historical reference such as observations or reanalysis. The chart is conceptual and contains no real data.</a:t>
            </a:r>
            <a:endParaRPr/>
          </a:p>
        </p:txBody>
      </p:sp>
      <p:sp>
        <p:nvSpPr>
          <p:cNvPr id="377" name="Google Shape;377;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7" name="Google Shape;41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Avoid presenting bias correction as a universal solution. CAVA provides access to pre-computed bias-corrected CORDEX-CORE datasets and supports bias-correction workflows where relevant. Sources: https://github.com/un-fao/cavapy and https://un-fao.github.io/CAVAanalytics/</a:t>
            </a:r>
            <a:endParaRPr/>
          </a:p>
        </p:txBody>
      </p:sp>
      <p:sp>
        <p:nvSpPr>
          <p:cNvPr id="418" name="Google Shape;418;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5" name="Google Shape;445;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Ask participants to replace the question ‘Which model is correct?’ with ‘What range of plausible outcomes does the ensemble show?’ IPCC describes ensembles as a way to sample possible outcomes and communicate uncertainty. Source: https://www.ipcc.ch/apps/njlite/srex/njlite_download.php?id=6946</a:t>
            </a:r>
            <a:endParaRPr/>
          </a:p>
        </p:txBody>
      </p:sp>
      <p:sp>
        <p:nvSpPr>
          <p:cNvPr id="446" name="Google Shape;446;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4 minutes. This is a teaching example, not a universal definition of heat hazard. CAVAanalytics supports threshold and consecutive-day indicators, including days above 35°C and heatwave-style definitions. Source: https://un-fao.github.io/CAVAanalytics/reference/observations.html</a:t>
            </a:r>
            <a:endParaRPr/>
          </a:p>
        </p:txBody>
      </p:sp>
      <p:sp>
        <p:nvSpPr>
          <p:cNvPr id="478" name="Google Shape;478;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8" name="Google Shape;508;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4 minutes. Summarize the first hour: CAVA manages recurring complexity and provides several ways to access the same climate-information ecosystem. FAO describes CAVA as access to harmonized historical and future climate data, indicators and analytical workflows. Source: https://www.fao.org/agroinformatics/news/news-detail/fao-digital-solutions-now-available-as-open-source--cava-and-ex-act/en</a:t>
            </a:r>
            <a:endParaRPr/>
          </a:p>
        </p:txBody>
      </p:sp>
      <p:sp>
        <p:nvSpPr>
          <p:cNvPr id="509" name="Google Shape;509;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0" name="Shape 530"/>
        <p:cNvGrpSpPr/>
        <p:nvPr/>
      </p:nvGrpSpPr>
      <p:grpSpPr>
        <a:xfrm>
          <a:off x="0" y="0"/>
          <a:ext cx="0" cy="0"/>
          <a:chOff x="0" y="0"/>
          <a:chExt cx="0" cy="0"/>
        </a:xfrm>
      </p:grpSpPr>
      <p:sp>
        <p:nvSpPr>
          <p:cNvPr id="531" name="Google Shape;531;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2" name="Google Shape;532;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Handover to Ezequiel / University of Cantabria. The following three slides contain draft content based on the module plan and public CAVA documentation. Confirm technical architecture and terminology before delivery.</a:t>
            </a:r>
            <a:endParaRPr/>
          </a:p>
        </p:txBody>
      </p:sp>
      <p:sp>
        <p:nvSpPr>
          <p:cNvPr id="533" name="Google Shape;533;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2" name="Shape 542"/>
        <p:cNvGrpSpPr/>
        <p:nvPr/>
      </p:nvGrpSpPr>
      <p:grpSpPr>
        <a:xfrm>
          <a:off x="0" y="0"/>
          <a:ext cx="0" cy="0"/>
          <a:chOff x="0" y="0"/>
          <a:chExt cx="0" cy="0"/>
        </a:xfrm>
      </p:grpSpPr>
      <p:sp>
        <p:nvSpPr>
          <p:cNvPr id="543" name="Google Shape;543;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4" name="Google Shape;544;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Ezequiel to confirm. Public cavapy documentation states that it retrieves, subsets and processes CORDEX-CORE and ERA5 through THREDDS/OPeNDAP and returns analysis-ready xarray objects. Source: https://github.com/un-fao/cavapy</a:t>
            </a:r>
            <a:endParaRPr/>
          </a:p>
        </p:txBody>
      </p:sp>
      <p:sp>
        <p:nvSpPr>
          <p:cNvPr id="545" name="Google Shape;545;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3" name="Google Shape;57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Ezequiel to confirm. Keep the explanation conceptual and avoid unnecessary infrastructure detail. The diagram reflects public descriptions of the Platform, CAVAanalytics and cavapy, but the operational architecture should be validated by the technical team. Sources: https://www.fao.org/agroinformatics/news/news-detail/fao-digital-solutions-now-available-as-open-source--cava-and-ex-act/en and https://github.com/un-fao/cavapy</a:t>
            </a:r>
            <a:endParaRPr/>
          </a:p>
        </p:txBody>
      </p:sp>
      <p:sp>
        <p:nvSpPr>
          <p:cNvPr id="574" name="Google Shape;57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Ezequiel to confirm. FAO describes CAVA as combining an intuitive web platform with programmatic tools in R and Python. Public documentation describes CAVAanalytics as an R framework and cavapy as a Python package. Sources: https://www.fao.org/agroinformatics/news/news-detail/fao-digital-solutions-now-available-as-open-source--cava-and-ex-act/en, https://un-fao.github.io/CAVAanalytics/, https://github.com/un-fao/cavapy</a:t>
            </a:r>
            <a:endParaRPr/>
          </a:p>
        </p:txBody>
      </p:sp>
      <p:sp>
        <p:nvSpPr>
          <p:cNvPr id="604" name="Google Shape;604;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fbd504090e_2_15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2" name="Google Shape;632;g3fbd504090e_2_15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Draft for Ezequiel to confirm. FAO describes CAVA as combining an intuitive web platform with programmatic tools in R and Python. Public documentation describes CAVAanalytics as an R framework and cavapy as a Python package. Sources: https://www.fao.org/agroinformatics/news/news-detail/fao-digital-solutions-now-available-as-open-source--cava-and-ex-act/en, https://un-fao.github.io/CAVAanalytics/, https://github.com/un-fao/cavapy</a:t>
            </a:r>
            <a:endParaRPr/>
          </a:p>
        </p:txBody>
      </p:sp>
      <p:sp>
        <p:nvSpPr>
          <p:cNvPr id="633" name="Google Shape;633;g3fbd504090e_2_15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6" name="Google Shape;64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8 minutes. Work through the example with Riccardo and Ezequiel. Ask participants to identify where judgement enters the workflow. The 35°C threshold is illustrative and must be tailored to the context. No quantitative result is claimed on this slide.</a:t>
            </a:r>
            <a:endParaRPr/>
          </a:p>
        </p:txBody>
      </p:sp>
      <p:sp>
        <p:nvSpPr>
          <p:cNvPr id="647" name="Google Shape;64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8" name="Shape 678"/>
        <p:cNvGrpSpPr/>
        <p:nvPr/>
      </p:nvGrpSpPr>
      <p:grpSpPr>
        <a:xfrm>
          <a:off x="0" y="0"/>
          <a:ext cx="0" cy="0"/>
          <a:chOff x="0" y="0"/>
          <a:chExt cx="0" cy="0"/>
        </a:xfrm>
      </p:grpSpPr>
      <p:sp>
        <p:nvSpPr>
          <p:cNvPr id="679" name="Google Shape;679;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0" name="Google Shape;680;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Use this checklist to prepare participants for Module 2, where they will interpret maps and comparisons in the CAVA Platform.</a:t>
            </a:r>
            <a:endParaRPr/>
          </a:p>
        </p:txBody>
      </p:sp>
      <p:sp>
        <p:nvSpPr>
          <p:cNvPr id="681" name="Google Shape;681;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9" name="Google Shape;71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3 minutes. Invite one participant to restate each point in their own words. Keep the recap short so there is time for questions.</a:t>
            </a:r>
            <a:endParaRPr/>
          </a:p>
        </p:txBody>
      </p:sp>
      <p:sp>
        <p:nvSpPr>
          <p:cNvPr id="720" name="Google Shape;720;p2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4" name="Shape 744"/>
        <p:cNvGrpSpPr/>
        <p:nvPr/>
      </p:nvGrpSpPr>
      <p:grpSpPr>
        <a:xfrm>
          <a:off x="0" y="0"/>
          <a:ext cx="0" cy="0"/>
          <a:chOff x="0" y="0"/>
          <a:chExt cx="0" cy="0"/>
        </a:xfrm>
      </p:grpSpPr>
      <p:sp>
        <p:nvSpPr>
          <p:cNvPr id="745" name="Google Shape;74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6" name="Google Shape;74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it-IT" sz="1200"/>
              <a:t>Timing: 5 minutes. Take questions and collect issues to revisit in Module 2. Close by confirming the next session: 29 September 2026, 10:00–11:30, online.</a:t>
            </a:r>
            <a:endParaRPr/>
          </a:p>
        </p:txBody>
      </p:sp>
      <p:sp>
        <p:nvSpPr>
          <p:cNvPr id="747" name="Google Shape;747;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omments" Target="../comments/commen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 Id="rId4" Type="http://schemas.openxmlformats.org/officeDocument/2006/relationships/hyperlink" Target="https://cavaplatform.fao.org" TargetMode="External"/><Relationship Id="rId5" Type="http://schemas.openxmlformats.org/officeDocument/2006/relationships/hyperlink" Target="https://github.com/un-fao/CAVAanalytics" TargetMode="External"/><Relationship Id="rId6" Type="http://schemas.openxmlformats.org/officeDocument/2006/relationships/hyperlink" Target="https://github.com/un-fao/cava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304E"/>
        </a:solidFill>
      </p:bgPr>
    </p:bg>
    <p:spTree>
      <p:nvGrpSpPr>
        <p:cNvPr id="15" name="Shape 15"/>
        <p:cNvGrpSpPr/>
        <p:nvPr/>
      </p:nvGrpSpPr>
      <p:grpSpPr>
        <a:xfrm>
          <a:off x="0" y="0"/>
          <a:ext cx="0" cy="0"/>
          <a:chOff x="0" y="0"/>
          <a:chExt cx="0" cy="0"/>
        </a:xfrm>
      </p:grpSpPr>
      <p:pic>
        <p:nvPicPr>
          <p:cNvPr id="16" name="Google Shape;16;p3"/>
          <p:cNvPicPr preferRelativeResize="0"/>
          <p:nvPr/>
        </p:nvPicPr>
        <p:blipFill rotWithShape="1">
          <a:blip r:embed="rId3">
            <a:alphaModFix/>
          </a:blip>
          <a:srcRect b="11293" l="0" r="0" t="11293"/>
          <a:stretch/>
        </p:blipFill>
        <p:spPr>
          <a:xfrm>
            <a:off x="0" y="0"/>
            <a:ext cx="12192000" cy="6858000"/>
          </a:xfrm>
          <a:prstGeom prst="rect">
            <a:avLst/>
          </a:prstGeom>
          <a:noFill/>
          <a:ln>
            <a:noFill/>
          </a:ln>
        </p:spPr>
      </p:pic>
      <p:sp>
        <p:nvSpPr>
          <p:cNvPr id="17" name="Google Shape;17;p3"/>
          <p:cNvSpPr/>
          <p:nvPr/>
        </p:nvSpPr>
        <p:spPr>
          <a:xfrm>
            <a:off x="0" y="0"/>
            <a:ext cx="12192000" cy="6858000"/>
          </a:xfrm>
          <a:prstGeom prst="rect">
            <a:avLst/>
          </a:prstGeom>
          <a:gradFill>
            <a:gsLst>
              <a:gs pos="0">
                <a:srgbClr val="12304E"/>
              </a:gs>
              <a:gs pos="28000">
                <a:srgbClr val="12304E">
                  <a:alpha val="98039"/>
                </a:srgbClr>
              </a:gs>
              <a:gs pos="48000">
                <a:srgbClr val="12304E">
                  <a:alpha val="83922"/>
                </a:srgbClr>
              </a:gs>
              <a:gs pos="70000">
                <a:srgbClr val="12304E">
                  <a:alpha val="36078"/>
                </a:srgbClr>
              </a:gs>
              <a:gs pos="100000">
                <a:srgbClr val="12304E">
                  <a:alpha val="10196"/>
                </a:srgbClr>
              </a:gs>
            </a:gsLst>
            <a:lin ang="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 name="Google Shape;18;p3"/>
          <p:cNvSpPr/>
          <p:nvPr/>
        </p:nvSpPr>
        <p:spPr>
          <a:xfrm>
            <a:off x="0" y="0"/>
            <a:ext cx="12192000" cy="6858000"/>
          </a:xfrm>
          <a:prstGeom prst="rect">
            <a:avLst/>
          </a:prstGeom>
          <a:gradFill>
            <a:gsLst>
              <a:gs pos="0">
                <a:srgbClr val="12304E">
                  <a:alpha val="0"/>
                </a:srgbClr>
              </a:gs>
              <a:gs pos="52000">
                <a:srgbClr val="12304E">
                  <a:alpha val="0"/>
                </a:srgbClr>
              </a:gs>
              <a:gs pos="75000">
                <a:srgbClr val="12304E">
                  <a:alpha val="18039"/>
                </a:srgbClr>
              </a:gs>
              <a:gs pos="100000">
                <a:srgbClr val="12304E">
                  <a:alpha val="72157"/>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 name="Google Shape;19;p3"/>
          <p:cNvSpPr/>
          <p:nvPr/>
        </p:nvSpPr>
        <p:spPr>
          <a:xfrm>
            <a:off x="0" y="0"/>
            <a:ext cx="9525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3"/>
          <p:cNvSpPr/>
          <p:nvPr/>
        </p:nvSpPr>
        <p:spPr>
          <a:xfrm>
            <a:off x="704850" y="609600"/>
            <a:ext cx="1028700" cy="381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 name="Google Shape;21;p3"/>
          <p:cNvSpPr/>
          <p:nvPr/>
        </p:nvSpPr>
        <p:spPr>
          <a:xfrm>
            <a:off x="704850" y="1000125"/>
            <a:ext cx="4095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78D8C8"/>
              </a:buClr>
              <a:buSzPts val="1050"/>
              <a:buFont typeface="Lato"/>
              <a:buNone/>
            </a:pPr>
            <a:r>
              <a:rPr b="1" i="0" lang="it-IT" sz="1050">
                <a:solidFill>
                  <a:srgbClr val="78D8C8"/>
                </a:solidFill>
                <a:latin typeface="Lato"/>
                <a:ea typeface="Lato"/>
                <a:cs typeface="Lato"/>
                <a:sym typeface="Lato"/>
              </a:rPr>
              <a:t>CAVA TRAINING SERIES</a:t>
            </a:r>
            <a:endParaRPr/>
          </a:p>
        </p:txBody>
      </p:sp>
      <p:sp>
        <p:nvSpPr>
          <p:cNvPr id="22" name="Google Shape;22;p3"/>
          <p:cNvSpPr/>
          <p:nvPr/>
        </p:nvSpPr>
        <p:spPr>
          <a:xfrm>
            <a:off x="704850" y="1743075"/>
            <a:ext cx="5238750" cy="2238375"/>
          </a:xfrm>
          <a:prstGeom prst="rect">
            <a:avLst/>
          </a:prstGeom>
          <a:noFill/>
          <a:ln>
            <a:noFill/>
          </a:ln>
        </p:spPr>
        <p:txBody>
          <a:bodyPr anchorCtr="0" anchor="t" bIns="0" lIns="0" spcFirstLastPara="1" rIns="0" wrap="square" tIns="0">
            <a:noAutofit/>
          </a:bodyPr>
          <a:lstStyle/>
          <a:p>
            <a:pPr indent="0" lvl="0" marL="0" marR="0" rtl="0" algn="l">
              <a:lnSpc>
                <a:spcPct val="94000"/>
              </a:lnSpc>
              <a:spcBef>
                <a:spcPts val="0"/>
              </a:spcBef>
              <a:spcAft>
                <a:spcPts val="0"/>
              </a:spcAft>
              <a:buClr>
                <a:srgbClr val="FFFFFF"/>
              </a:buClr>
              <a:buSzPts val="3450"/>
              <a:buFont typeface="Lato"/>
              <a:buNone/>
            </a:pPr>
            <a:r>
              <a:rPr b="1" i="0" lang="it-IT" sz="3450">
                <a:solidFill>
                  <a:srgbClr val="FFFFFF"/>
                </a:solidFill>
                <a:latin typeface="Lato"/>
                <a:ea typeface="Lato"/>
                <a:cs typeface="Lato"/>
                <a:sym typeface="Lato"/>
              </a:rPr>
              <a:t>Understanding climate information and the CAVA ecosystem</a:t>
            </a:r>
            <a:endParaRPr/>
          </a:p>
        </p:txBody>
      </p:sp>
      <p:sp>
        <p:nvSpPr>
          <p:cNvPr id="23" name="Google Shape;23;p3"/>
          <p:cNvSpPr/>
          <p:nvPr/>
        </p:nvSpPr>
        <p:spPr>
          <a:xfrm>
            <a:off x="714375" y="4457700"/>
            <a:ext cx="17145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350"/>
              <a:buFont typeface="Lato"/>
              <a:buNone/>
            </a:pPr>
            <a:r>
              <a:rPr b="1" i="0" lang="it-IT" sz="1350">
                <a:solidFill>
                  <a:srgbClr val="F2B632"/>
                </a:solidFill>
                <a:latin typeface="Lato"/>
                <a:ea typeface="Lato"/>
                <a:cs typeface="Lato"/>
                <a:sym typeface="Lato"/>
              </a:rPr>
              <a:t>MODULE 1</a:t>
            </a:r>
            <a:endParaRPr/>
          </a:p>
        </p:txBody>
      </p:sp>
      <p:sp>
        <p:nvSpPr>
          <p:cNvPr id="24" name="Google Shape;24;p3"/>
          <p:cNvSpPr/>
          <p:nvPr/>
        </p:nvSpPr>
        <p:spPr>
          <a:xfrm>
            <a:off x="714375" y="4953000"/>
            <a:ext cx="209550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28 September 2026</a:t>
            </a:r>
            <a:endParaRPr/>
          </a:p>
        </p:txBody>
      </p:sp>
      <p:sp>
        <p:nvSpPr>
          <p:cNvPr id="25" name="Google Shape;25;p3"/>
          <p:cNvSpPr/>
          <p:nvPr/>
        </p:nvSpPr>
        <p:spPr>
          <a:xfrm>
            <a:off x="714375" y="5257800"/>
            <a:ext cx="2476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D7E5EC"/>
              </a:buClr>
              <a:buSzPts val="1050"/>
              <a:buFont typeface="Lato"/>
              <a:buNone/>
            </a:pPr>
            <a:r>
              <a:rPr b="0" i="0" lang="it-IT" sz="1050">
                <a:solidFill>
                  <a:srgbClr val="D7E5EC"/>
                </a:solidFill>
                <a:latin typeface="Lato"/>
                <a:ea typeface="Lato"/>
                <a:cs typeface="Lato"/>
                <a:sym typeface="Lato"/>
              </a:rPr>
              <a:t>10:00–11:30  ·  Online</a:t>
            </a:r>
            <a:endParaRPr/>
          </a:p>
        </p:txBody>
      </p:sp>
      <p:sp>
        <p:nvSpPr>
          <p:cNvPr id="26" name="Google Shape;26;p3"/>
          <p:cNvSpPr/>
          <p:nvPr/>
        </p:nvSpPr>
        <p:spPr>
          <a:xfrm>
            <a:off x="714375" y="6019800"/>
            <a:ext cx="4381500" cy="9525"/>
          </a:xfrm>
          <a:prstGeom prst="rect">
            <a:avLst/>
          </a:prstGeom>
          <a:solidFill>
            <a:srgbClr val="A8C0CD">
              <a:alpha val="54902"/>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 name="Google Shape;27;p3"/>
          <p:cNvSpPr/>
          <p:nvPr/>
        </p:nvSpPr>
        <p:spPr>
          <a:xfrm>
            <a:off x="714375" y="6172200"/>
            <a:ext cx="4381500" cy="23812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D7E5EC"/>
              </a:buClr>
              <a:buSzPts val="900"/>
              <a:buFont typeface="Lato"/>
              <a:buNone/>
            </a:pPr>
            <a:r>
              <a:rPr b="0" i="0" lang="it-IT" sz="900">
                <a:solidFill>
                  <a:srgbClr val="D7E5EC"/>
                </a:solidFill>
                <a:latin typeface="Lato"/>
                <a:ea typeface="Lato"/>
                <a:cs typeface="Lato"/>
                <a:sym typeface="Lato"/>
              </a:rPr>
              <a:t>From climate information to climate impact analysis</a:t>
            </a:r>
            <a:endParaRPr/>
          </a:p>
        </p:txBody>
      </p:sp>
      <p:sp>
        <p:nvSpPr>
          <p:cNvPr id="28" name="Google Shape;28;p3"/>
          <p:cNvSpPr/>
          <p:nvPr/>
        </p:nvSpPr>
        <p:spPr>
          <a:xfrm>
            <a:off x="9525000" y="647700"/>
            <a:ext cx="1952625" cy="7429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FFFFFF"/>
              </a:buClr>
              <a:buSzPts val="4642"/>
              <a:buFont typeface="Lato"/>
              <a:buNone/>
            </a:pPr>
            <a:r>
              <a:rPr b="1" i="0" lang="it-IT" sz="4643">
                <a:solidFill>
                  <a:srgbClr val="FFFFFF"/>
                </a:solidFill>
                <a:latin typeface="Lato"/>
                <a:ea typeface="Lato"/>
                <a:cs typeface="Lato"/>
                <a:sym typeface="Lato"/>
              </a:rPr>
              <a:t>CAVA</a:t>
            </a:r>
            <a:endParaRPr/>
          </a:p>
        </p:txBody>
      </p:sp>
      <p:sp>
        <p:nvSpPr>
          <p:cNvPr id="29" name="Google Shape;29;p3"/>
          <p:cNvSpPr/>
          <p:nvPr/>
        </p:nvSpPr>
        <p:spPr>
          <a:xfrm>
            <a:off x="8362950" y="1419225"/>
            <a:ext cx="3114675" cy="495300"/>
          </a:xfrm>
          <a:prstGeom prst="rect">
            <a:avLst/>
          </a:prstGeom>
          <a:noFill/>
          <a:ln>
            <a:noFill/>
          </a:ln>
        </p:spPr>
        <p:txBody>
          <a:bodyPr anchorCtr="0" anchor="t" bIns="0" lIns="0" spcFirstLastPara="1" rIns="0" wrap="square" tIns="0">
            <a:noAutofit/>
          </a:bodyPr>
          <a:lstStyle/>
          <a:p>
            <a:pPr indent="0" lvl="0" marL="0" marR="0" rtl="0" algn="r">
              <a:lnSpc>
                <a:spcPct val="115000"/>
              </a:lnSpc>
              <a:spcBef>
                <a:spcPts val="0"/>
              </a:spcBef>
              <a:spcAft>
                <a:spcPts val="0"/>
              </a:spcAft>
              <a:buClr>
                <a:srgbClr val="FFFFFF"/>
              </a:buClr>
              <a:buSzPts val="825"/>
              <a:buFont typeface="Lato"/>
              <a:buNone/>
            </a:pPr>
            <a:r>
              <a:rPr b="1" i="0" lang="it-IT" sz="825">
                <a:solidFill>
                  <a:srgbClr val="FFFFFF"/>
                </a:solidFill>
                <a:latin typeface="Lato"/>
                <a:ea typeface="Lato"/>
                <a:cs typeface="Lato"/>
                <a:sym typeface="Lato"/>
              </a:rPr>
              <a:t>CLIMATE AND AGRICULTURE RISK</a:t>
            </a:r>
            <a:endParaRPr/>
          </a:p>
          <a:p>
            <a:pPr indent="0" lvl="0" marL="0" marR="0" rtl="0" algn="r">
              <a:lnSpc>
                <a:spcPct val="115000"/>
              </a:lnSpc>
              <a:spcBef>
                <a:spcPts val="0"/>
              </a:spcBef>
              <a:spcAft>
                <a:spcPts val="0"/>
              </a:spcAft>
              <a:buClr>
                <a:srgbClr val="FFFFFF"/>
              </a:buClr>
              <a:buSzPts val="825"/>
              <a:buFont typeface="Lato"/>
              <a:buNone/>
            </a:pPr>
            <a:r>
              <a:rPr b="1" i="0" lang="it-IT" sz="825">
                <a:solidFill>
                  <a:srgbClr val="FFFFFF"/>
                </a:solidFill>
                <a:latin typeface="Lato"/>
                <a:ea typeface="Lato"/>
                <a:cs typeface="Lato"/>
                <a:sym typeface="Lato"/>
              </a:rPr>
              <a:t>VISUALIZATION AND ASSESSMENT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34" name="Shape 34"/>
        <p:cNvGrpSpPr/>
        <p:nvPr/>
      </p:nvGrpSpPr>
      <p:grpSpPr>
        <a:xfrm>
          <a:off x="0" y="0"/>
          <a:ext cx="0" cy="0"/>
          <a:chOff x="0" y="0"/>
          <a:chExt cx="0" cy="0"/>
        </a:xfrm>
      </p:grpSpPr>
      <p:sp>
        <p:nvSpPr>
          <p:cNvPr id="35" name="Google Shape;35;p4"/>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Training series agenda</a:t>
            </a:r>
            <a:endParaRPr/>
          </a:p>
        </p:txBody>
      </p:sp>
      <p:sp>
        <p:nvSpPr>
          <p:cNvPr id="36" name="Google Shape;36;p4"/>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Four modules move from concepts to practical access, technical workflows and impact modelling</a:t>
            </a:r>
            <a:endParaRPr/>
          </a:p>
        </p:txBody>
      </p:sp>
      <p:sp>
        <p:nvSpPr>
          <p:cNvPr id="37" name="Google Shape;37;p4"/>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 name="Google Shape;38;p4"/>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4"/>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 name="Google Shape;40;p4"/>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41" name="Google Shape;41;p4"/>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02</a:t>
            </a:r>
            <a:endParaRPr/>
          </a:p>
        </p:txBody>
      </p:sp>
      <p:sp>
        <p:nvSpPr>
          <p:cNvPr id="42" name="Google Shape;42;p4"/>
          <p:cNvSpPr/>
          <p:nvPr/>
        </p:nvSpPr>
        <p:spPr>
          <a:xfrm>
            <a:off x="723900" y="1876425"/>
            <a:ext cx="5143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650"/>
              <a:buFont typeface="Lato"/>
              <a:buNone/>
            </a:pPr>
            <a:r>
              <a:rPr b="1" i="0" lang="it-IT" sz="1650">
                <a:solidFill>
                  <a:srgbClr val="00A88F"/>
                </a:solidFill>
                <a:latin typeface="Lato"/>
                <a:ea typeface="Lato"/>
                <a:cs typeface="Lato"/>
                <a:sym typeface="Lato"/>
              </a:rPr>
              <a:t>01</a:t>
            </a:r>
            <a:endParaRPr/>
          </a:p>
        </p:txBody>
      </p:sp>
      <p:sp>
        <p:nvSpPr>
          <p:cNvPr id="43" name="Google Shape;43;p4"/>
          <p:cNvSpPr/>
          <p:nvPr/>
        </p:nvSpPr>
        <p:spPr>
          <a:xfrm>
            <a:off x="1352550" y="1905000"/>
            <a:ext cx="8096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975"/>
              <a:buFont typeface="Lato"/>
              <a:buNone/>
            </a:pPr>
            <a:r>
              <a:rPr b="1" i="0" lang="it-IT" sz="975">
                <a:solidFill>
                  <a:srgbClr val="687984"/>
                </a:solidFill>
                <a:latin typeface="Lato"/>
                <a:ea typeface="Lato"/>
                <a:cs typeface="Lato"/>
                <a:sym typeface="Lato"/>
              </a:rPr>
              <a:t>28 SEP</a:t>
            </a:r>
            <a:endParaRPr/>
          </a:p>
        </p:txBody>
      </p:sp>
      <p:sp>
        <p:nvSpPr>
          <p:cNvPr id="44" name="Google Shape;44;p4"/>
          <p:cNvSpPr/>
          <p:nvPr/>
        </p:nvSpPr>
        <p:spPr>
          <a:xfrm>
            <a:off x="2324100" y="1752600"/>
            <a:ext cx="38100" cy="6858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 name="Google Shape;45;p4"/>
          <p:cNvSpPr/>
          <p:nvPr/>
        </p:nvSpPr>
        <p:spPr>
          <a:xfrm>
            <a:off x="2590800" y="1790700"/>
            <a:ext cx="5810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725"/>
              <a:buFont typeface="Lato"/>
              <a:buNone/>
            </a:pPr>
            <a:r>
              <a:rPr b="1" i="0" lang="it-IT" sz="1725">
                <a:solidFill>
                  <a:srgbClr val="12304E"/>
                </a:solidFill>
                <a:latin typeface="Lato"/>
                <a:ea typeface="Lato"/>
                <a:cs typeface="Lato"/>
                <a:sym typeface="Lato"/>
              </a:rPr>
              <a:t>Introduction to the CAVA ecosystem</a:t>
            </a:r>
            <a:endParaRPr/>
          </a:p>
        </p:txBody>
      </p:sp>
      <p:sp>
        <p:nvSpPr>
          <p:cNvPr id="46" name="Google Shape;46;p4"/>
          <p:cNvSpPr/>
          <p:nvPr/>
        </p:nvSpPr>
        <p:spPr>
          <a:xfrm>
            <a:off x="2590800" y="2152650"/>
            <a:ext cx="4762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90 min · online</a:t>
            </a:r>
            <a:endParaRPr/>
          </a:p>
        </p:txBody>
      </p:sp>
      <p:sp>
        <p:nvSpPr>
          <p:cNvPr id="47" name="Google Shape;47;p4"/>
          <p:cNvSpPr/>
          <p:nvPr/>
        </p:nvSpPr>
        <p:spPr>
          <a:xfrm>
            <a:off x="9715500" y="1924050"/>
            <a:ext cx="1104900" cy="285750"/>
          </a:xfrm>
          <a:prstGeom prst="roundRect">
            <a:avLst>
              <a:gd fmla="val 26667" name="adj"/>
            </a:avLst>
          </a:prstGeom>
          <a:solidFill>
            <a:srgbClr val="00A88F"/>
          </a:solidFill>
          <a:ln>
            <a:noFill/>
          </a:ln>
        </p:spPr>
        <p:txBody>
          <a:bodyPr anchorCtr="0" anchor="ctr" bIns="28575" lIns="76200" spcFirstLastPara="1" rIns="76200" wrap="square" tIns="28575">
            <a:noAutofit/>
          </a:bodyPr>
          <a:lstStyle/>
          <a:p>
            <a:pPr indent="0" lvl="0" marL="0" marR="0" rtl="0" algn="ctr">
              <a:lnSpc>
                <a:spcPct val="105000"/>
              </a:lnSpc>
              <a:spcBef>
                <a:spcPts val="0"/>
              </a:spcBef>
              <a:spcAft>
                <a:spcPts val="0"/>
              </a:spcAft>
              <a:buClr>
                <a:srgbClr val="FFFFFF"/>
              </a:buClr>
              <a:buSzPts val="900"/>
              <a:buFont typeface="Lato"/>
              <a:buNone/>
            </a:pPr>
            <a:r>
              <a:rPr b="1" i="0" lang="it-IT" sz="900">
                <a:solidFill>
                  <a:srgbClr val="FFFFFF"/>
                </a:solidFill>
                <a:latin typeface="Lato"/>
                <a:ea typeface="Lato"/>
                <a:cs typeface="Lato"/>
                <a:sym typeface="Lato"/>
              </a:rPr>
              <a:t>TODAY</a:t>
            </a:r>
            <a:endParaRPr/>
          </a:p>
        </p:txBody>
      </p:sp>
      <p:sp>
        <p:nvSpPr>
          <p:cNvPr id="48" name="Google Shape;48;p4"/>
          <p:cNvSpPr/>
          <p:nvPr/>
        </p:nvSpPr>
        <p:spPr>
          <a:xfrm>
            <a:off x="723900" y="2828925"/>
            <a:ext cx="5143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650"/>
              <a:buFont typeface="Lato"/>
              <a:buNone/>
            </a:pPr>
            <a:r>
              <a:rPr b="1" i="0" lang="it-IT" sz="1650">
                <a:solidFill>
                  <a:srgbClr val="183A59"/>
                </a:solidFill>
                <a:latin typeface="Lato"/>
                <a:ea typeface="Lato"/>
                <a:cs typeface="Lato"/>
                <a:sym typeface="Lato"/>
              </a:rPr>
              <a:t>02</a:t>
            </a:r>
            <a:endParaRPr/>
          </a:p>
        </p:txBody>
      </p:sp>
      <p:sp>
        <p:nvSpPr>
          <p:cNvPr id="49" name="Google Shape;49;p4"/>
          <p:cNvSpPr/>
          <p:nvPr/>
        </p:nvSpPr>
        <p:spPr>
          <a:xfrm>
            <a:off x="1352550" y="2857500"/>
            <a:ext cx="8096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975"/>
              <a:buFont typeface="Lato"/>
              <a:buNone/>
            </a:pPr>
            <a:r>
              <a:rPr b="1" i="0" lang="it-IT" sz="975">
                <a:solidFill>
                  <a:srgbClr val="687984"/>
                </a:solidFill>
                <a:latin typeface="Lato"/>
                <a:ea typeface="Lato"/>
                <a:cs typeface="Lato"/>
                <a:sym typeface="Lato"/>
              </a:rPr>
              <a:t>29 SEP</a:t>
            </a:r>
            <a:endParaRPr/>
          </a:p>
        </p:txBody>
      </p:sp>
      <p:sp>
        <p:nvSpPr>
          <p:cNvPr id="50" name="Google Shape;50;p4"/>
          <p:cNvSpPr/>
          <p:nvPr/>
        </p:nvSpPr>
        <p:spPr>
          <a:xfrm>
            <a:off x="2324100" y="2705100"/>
            <a:ext cx="38100" cy="685800"/>
          </a:xfrm>
          <a:prstGeom prst="rect">
            <a:avLst/>
          </a:prstGeom>
          <a:solidFill>
            <a:srgbClr val="183A5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 name="Google Shape;51;p4"/>
          <p:cNvSpPr/>
          <p:nvPr/>
        </p:nvSpPr>
        <p:spPr>
          <a:xfrm>
            <a:off x="2590800" y="2743200"/>
            <a:ext cx="5810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725"/>
              <a:buFont typeface="Lato"/>
              <a:buNone/>
            </a:pPr>
            <a:r>
              <a:rPr b="1" i="0" lang="it-IT" sz="1725">
                <a:solidFill>
                  <a:srgbClr val="12304E"/>
                </a:solidFill>
                <a:latin typeface="Lato"/>
                <a:ea typeface="Lato"/>
                <a:cs typeface="Lato"/>
                <a:sym typeface="Lato"/>
              </a:rPr>
              <a:t>Using the CAVA Platform</a:t>
            </a:r>
            <a:endParaRPr/>
          </a:p>
        </p:txBody>
      </p:sp>
      <p:sp>
        <p:nvSpPr>
          <p:cNvPr id="52" name="Google Shape;52;p4"/>
          <p:cNvSpPr/>
          <p:nvPr/>
        </p:nvSpPr>
        <p:spPr>
          <a:xfrm>
            <a:off x="2590800" y="3105150"/>
            <a:ext cx="4762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90 min · online</a:t>
            </a:r>
            <a:endParaRPr/>
          </a:p>
        </p:txBody>
      </p:sp>
      <p:sp>
        <p:nvSpPr>
          <p:cNvPr id="53" name="Google Shape;53;p4"/>
          <p:cNvSpPr/>
          <p:nvPr/>
        </p:nvSpPr>
        <p:spPr>
          <a:xfrm>
            <a:off x="723900" y="3781425"/>
            <a:ext cx="5143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650"/>
              <a:buFont typeface="Lato"/>
              <a:buNone/>
            </a:pPr>
            <a:r>
              <a:rPr b="1" i="0" lang="it-IT" sz="1650">
                <a:solidFill>
                  <a:srgbClr val="F2B632"/>
                </a:solidFill>
                <a:latin typeface="Lato"/>
                <a:ea typeface="Lato"/>
                <a:cs typeface="Lato"/>
                <a:sym typeface="Lato"/>
              </a:rPr>
              <a:t>03</a:t>
            </a:r>
            <a:endParaRPr/>
          </a:p>
        </p:txBody>
      </p:sp>
      <p:sp>
        <p:nvSpPr>
          <p:cNvPr id="54" name="Google Shape;54;p4"/>
          <p:cNvSpPr/>
          <p:nvPr/>
        </p:nvSpPr>
        <p:spPr>
          <a:xfrm>
            <a:off x="1352550" y="3810000"/>
            <a:ext cx="8096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975"/>
              <a:buFont typeface="Lato"/>
              <a:buNone/>
            </a:pPr>
            <a:r>
              <a:rPr b="1" i="0" lang="it-IT" sz="975">
                <a:solidFill>
                  <a:srgbClr val="687984"/>
                </a:solidFill>
                <a:latin typeface="Lato"/>
                <a:ea typeface="Lato"/>
                <a:cs typeface="Lato"/>
                <a:sym typeface="Lato"/>
              </a:rPr>
              <a:t>30 SEP</a:t>
            </a:r>
            <a:endParaRPr/>
          </a:p>
        </p:txBody>
      </p:sp>
      <p:sp>
        <p:nvSpPr>
          <p:cNvPr id="55" name="Google Shape;55;p4"/>
          <p:cNvSpPr/>
          <p:nvPr/>
        </p:nvSpPr>
        <p:spPr>
          <a:xfrm>
            <a:off x="2324100" y="3657600"/>
            <a:ext cx="38100" cy="6858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4"/>
          <p:cNvSpPr/>
          <p:nvPr/>
        </p:nvSpPr>
        <p:spPr>
          <a:xfrm>
            <a:off x="2590800" y="3695700"/>
            <a:ext cx="5810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725"/>
              <a:buFont typeface="Lato"/>
              <a:buNone/>
            </a:pPr>
            <a:r>
              <a:rPr b="1" i="0" lang="it-IT" sz="1725">
                <a:solidFill>
                  <a:srgbClr val="12304E"/>
                </a:solidFill>
                <a:latin typeface="Lato"/>
                <a:ea typeface="Lato"/>
                <a:cs typeface="Lato"/>
                <a:sym typeface="Lato"/>
              </a:rPr>
              <a:t>Climate data workflows with CAVA backend</a:t>
            </a:r>
            <a:endParaRPr b="1" i="0" sz="1725">
              <a:solidFill>
                <a:srgbClr val="12304E"/>
              </a:solidFill>
              <a:latin typeface="Lato"/>
              <a:ea typeface="Lato"/>
              <a:cs typeface="Lato"/>
              <a:sym typeface="Lato"/>
            </a:endParaRPr>
          </a:p>
        </p:txBody>
      </p:sp>
      <p:sp>
        <p:nvSpPr>
          <p:cNvPr id="57" name="Google Shape;57;p4"/>
          <p:cNvSpPr/>
          <p:nvPr/>
        </p:nvSpPr>
        <p:spPr>
          <a:xfrm>
            <a:off x="2590800" y="4057650"/>
            <a:ext cx="4762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2 hours + optional hour · hybrid</a:t>
            </a:r>
            <a:endParaRPr/>
          </a:p>
        </p:txBody>
      </p:sp>
      <p:sp>
        <p:nvSpPr>
          <p:cNvPr id="58" name="Google Shape;58;p4"/>
          <p:cNvSpPr/>
          <p:nvPr/>
        </p:nvSpPr>
        <p:spPr>
          <a:xfrm>
            <a:off x="723900" y="4733925"/>
            <a:ext cx="5143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650"/>
              <a:buFont typeface="Lato"/>
              <a:buNone/>
            </a:pPr>
            <a:r>
              <a:rPr b="1" i="0" lang="it-IT" sz="1650">
                <a:solidFill>
                  <a:srgbClr val="008D7A"/>
                </a:solidFill>
                <a:latin typeface="Lato"/>
                <a:ea typeface="Lato"/>
                <a:cs typeface="Lato"/>
                <a:sym typeface="Lato"/>
              </a:rPr>
              <a:t>04</a:t>
            </a:r>
            <a:endParaRPr/>
          </a:p>
        </p:txBody>
      </p:sp>
      <p:sp>
        <p:nvSpPr>
          <p:cNvPr id="59" name="Google Shape;59;p4"/>
          <p:cNvSpPr/>
          <p:nvPr/>
        </p:nvSpPr>
        <p:spPr>
          <a:xfrm>
            <a:off x="1352550" y="4762500"/>
            <a:ext cx="8096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975"/>
              <a:buFont typeface="Lato"/>
              <a:buNone/>
            </a:pPr>
            <a:r>
              <a:rPr b="1" i="0" lang="it-IT" sz="975">
                <a:solidFill>
                  <a:srgbClr val="687984"/>
                </a:solidFill>
                <a:latin typeface="Lato"/>
                <a:ea typeface="Lato"/>
                <a:cs typeface="Lato"/>
                <a:sym typeface="Lato"/>
              </a:rPr>
              <a:t>01 OCT</a:t>
            </a:r>
            <a:endParaRPr/>
          </a:p>
        </p:txBody>
      </p:sp>
      <p:sp>
        <p:nvSpPr>
          <p:cNvPr id="60" name="Google Shape;60;p4"/>
          <p:cNvSpPr/>
          <p:nvPr/>
        </p:nvSpPr>
        <p:spPr>
          <a:xfrm>
            <a:off x="2324100" y="4610100"/>
            <a:ext cx="38100" cy="685800"/>
          </a:xfrm>
          <a:prstGeom prst="rect">
            <a:avLst/>
          </a:prstGeom>
          <a:solidFill>
            <a:srgbClr val="008D7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 name="Google Shape;61;p4"/>
          <p:cNvSpPr/>
          <p:nvPr/>
        </p:nvSpPr>
        <p:spPr>
          <a:xfrm>
            <a:off x="2590800" y="4648200"/>
            <a:ext cx="5810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725"/>
              <a:buFont typeface="Lato"/>
              <a:buNone/>
            </a:pPr>
            <a:r>
              <a:rPr b="1" i="0" lang="it-IT" sz="1725">
                <a:solidFill>
                  <a:srgbClr val="12304E"/>
                </a:solidFill>
                <a:latin typeface="Lato"/>
                <a:ea typeface="Lato"/>
                <a:cs typeface="Lato"/>
                <a:sym typeface="Lato"/>
              </a:rPr>
              <a:t>Climate data for crop modelling</a:t>
            </a:r>
            <a:endParaRPr/>
          </a:p>
        </p:txBody>
      </p:sp>
      <p:sp>
        <p:nvSpPr>
          <p:cNvPr id="62" name="Google Shape;62;p4"/>
          <p:cNvSpPr/>
          <p:nvPr/>
        </p:nvSpPr>
        <p:spPr>
          <a:xfrm>
            <a:off x="2590800" y="5010150"/>
            <a:ext cx="4762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2 hours + optional hour · hybrid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67" name="Shape 67"/>
        <p:cNvGrpSpPr/>
        <p:nvPr/>
      </p:nvGrpSpPr>
      <p:grpSpPr>
        <a:xfrm>
          <a:off x="0" y="0"/>
          <a:ext cx="0" cy="0"/>
          <a:chOff x="0" y="0"/>
          <a:chExt cx="0" cy="0"/>
        </a:xfrm>
      </p:grpSpPr>
      <p:sp>
        <p:nvSpPr>
          <p:cNvPr id="68" name="Google Shape;68;p5"/>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Today’s learning journey</a:t>
            </a:r>
            <a:endParaRPr/>
          </a:p>
        </p:txBody>
      </p:sp>
      <p:sp>
        <p:nvSpPr>
          <p:cNvPr id="69" name="Google Shape;69;p5"/>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session follows the path from a decision question to interpretable climate information</a:t>
            </a:r>
            <a:endParaRPr/>
          </a:p>
        </p:txBody>
      </p:sp>
      <p:sp>
        <p:nvSpPr>
          <p:cNvPr id="70" name="Google Shape;70;p5"/>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 name="Google Shape;71;p5"/>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 name="Google Shape;72;p5"/>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 name="Google Shape;73;p5"/>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74" name="Google Shape;74;p5"/>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03</a:t>
            </a:r>
            <a:endParaRPr/>
          </a:p>
        </p:txBody>
      </p:sp>
      <p:sp>
        <p:nvSpPr>
          <p:cNvPr id="75" name="Google Shape;75;p5"/>
          <p:cNvSpPr/>
          <p:nvPr/>
        </p:nvSpPr>
        <p:spPr>
          <a:xfrm>
            <a:off x="1190625" y="3267075"/>
            <a:ext cx="9810750" cy="381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6" name="Google Shape;76;p5"/>
          <p:cNvSpPr/>
          <p:nvPr/>
        </p:nvSpPr>
        <p:spPr>
          <a:xfrm>
            <a:off x="1219200" y="2962275"/>
            <a:ext cx="38100" cy="32385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7" name="Google Shape;77;p5"/>
          <p:cNvSpPr/>
          <p:nvPr/>
        </p:nvSpPr>
        <p:spPr>
          <a:xfrm>
            <a:off x="1028700" y="3076575"/>
            <a:ext cx="419100" cy="41910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1</a:t>
            </a:r>
            <a:endParaRPr/>
          </a:p>
        </p:txBody>
      </p:sp>
      <p:sp>
        <p:nvSpPr>
          <p:cNvPr id="78" name="Google Shape;78;p5"/>
          <p:cNvSpPr/>
          <p:nvPr/>
        </p:nvSpPr>
        <p:spPr>
          <a:xfrm>
            <a:off x="361950" y="180975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A88F"/>
              </a:buClr>
              <a:buSzPts val="975"/>
              <a:buFont typeface="Lato"/>
              <a:buNone/>
            </a:pPr>
            <a:r>
              <a:rPr b="1" i="0" lang="it-IT" sz="975">
                <a:solidFill>
                  <a:srgbClr val="00A88F"/>
                </a:solidFill>
                <a:latin typeface="Lato"/>
                <a:ea typeface="Lato"/>
                <a:cs typeface="Lato"/>
                <a:sym typeface="Lato"/>
              </a:rPr>
              <a:t>00–05</a:t>
            </a:r>
            <a:endParaRPr/>
          </a:p>
        </p:txBody>
      </p:sp>
      <p:sp>
        <p:nvSpPr>
          <p:cNvPr id="79" name="Google Shape;79;p5"/>
          <p:cNvSpPr/>
          <p:nvPr/>
        </p:nvSpPr>
        <p:spPr>
          <a:xfrm>
            <a:off x="285750" y="2114550"/>
            <a:ext cx="1905000" cy="733425"/>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Why CAVA?</a:t>
            </a:r>
            <a:endParaRPr/>
          </a:p>
        </p:txBody>
      </p:sp>
      <p:sp>
        <p:nvSpPr>
          <p:cNvPr id="80" name="Google Shape;80;p5"/>
          <p:cNvSpPr/>
          <p:nvPr/>
        </p:nvSpPr>
        <p:spPr>
          <a:xfrm>
            <a:off x="359229" y="2787423"/>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00"/>
              <a:buFont typeface="Lato"/>
              <a:buNone/>
            </a:pPr>
            <a:r>
              <a:rPr b="1" i="0" lang="it-IT" sz="1100">
                <a:solidFill>
                  <a:srgbClr val="687984"/>
                </a:solidFill>
                <a:latin typeface="Lato"/>
                <a:ea typeface="Lato"/>
                <a:cs typeface="Lato"/>
                <a:sym typeface="Lato"/>
              </a:rPr>
              <a:t>Riccardo</a:t>
            </a:r>
            <a:endParaRPr/>
          </a:p>
        </p:txBody>
      </p:sp>
      <p:sp>
        <p:nvSpPr>
          <p:cNvPr id="81" name="Google Shape;81;p5"/>
          <p:cNvSpPr/>
          <p:nvPr/>
        </p:nvSpPr>
        <p:spPr>
          <a:xfrm>
            <a:off x="3648075" y="3305175"/>
            <a:ext cx="38100" cy="3238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3457575" y="3076575"/>
            <a:ext cx="419100" cy="41910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2</a:t>
            </a:r>
            <a:endParaRPr/>
          </a:p>
        </p:txBody>
      </p:sp>
      <p:sp>
        <p:nvSpPr>
          <p:cNvPr id="83" name="Google Shape;83;p5"/>
          <p:cNvSpPr/>
          <p:nvPr/>
        </p:nvSpPr>
        <p:spPr>
          <a:xfrm>
            <a:off x="2790825" y="3781425"/>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975"/>
              <a:buFont typeface="Lato"/>
              <a:buNone/>
            </a:pPr>
            <a:r>
              <a:rPr b="1" i="0" lang="it-IT" sz="975">
                <a:solidFill>
                  <a:srgbClr val="F2B632"/>
                </a:solidFill>
                <a:latin typeface="Lato"/>
                <a:ea typeface="Lato"/>
                <a:cs typeface="Lato"/>
                <a:sym typeface="Lato"/>
              </a:rPr>
              <a:t>05–30</a:t>
            </a:r>
            <a:endParaRPr/>
          </a:p>
        </p:txBody>
      </p:sp>
      <p:sp>
        <p:nvSpPr>
          <p:cNvPr id="84" name="Google Shape;84;p5"/>
          <p:cNvSpPr/>
          <p:nvPr/>
        </p:nvSpPr>
        <p:spPr>
          <a:xfrm>
            <a:off x="2714625" y="4086225"/>
            <a:ext cx="1905000" cy="733425"/>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Where climate information comes from</a:t>
            </a:r>
            <a:endParaRPr/>
          </a:p>
        </p:txBody>
      </p:sp>
      <p:sp>
        <p:nvSpPr>
          <p:cNvPr id="85" name="Google Shape;85;p5"/>
          <p:cNvSpPr/>
          <p:nvPr/>
        </p:nvSpPr>
        <p:spPr>
          <a:xfrm>
            <a:off x="2790825" y="485775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00"/>
              <a:buFont typeface="Lato"/>
              <a:buNone/>
            </a:pPr>
            <a:r>
              <a:rPr b="1" i="0" lang="it-IT" sz="1100">
                <a:solidFill>
                  <a:srgbClr val="687984"/>
                </a:solidFill>
                <a:latin typeface="Lato"/>
                <a:ea typeface="Lato"/>
                <a:cs typeface="Lato"/>
                <a:sym typeface="Lato"/>
              </a:rPr>
              <a:t>Hideki</a:t>
            </a:r>
            <a:endParaRPr/>
          </a:p>
        </p:txBody>
      </p:sp>
      <p:sp>
        <p:nvSpPr>
          <p:cNvPr id="86" name="Google Shape;86;p5"/>
          <p:cNvSpPr/>
          <p:nvPr/>
        </p:nvSpPr>
        <p:spPr>
          <a:xfrm>
            <a:off x="6076950" y="2962275"/>
            <a:ext cx="38100" cy="32385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5"/>
          <p:cNvSpPr/>
          <p:nvPr/>
        </p:nvSpPr>
        <p:spPr>
          <a:xfrm>
            <a:off x="5886450" y="3076575"/>
            <a:ext cx="419100" cy="41910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3</a:t>
            </a:r>
            <a:endParaRPr/>
          </a:p>
        </p:txBody>
      </p:sp>
      <p:sp>
        <p:nvSpPr>
          <p:cNvPr id="88" name="Google Shape;88;p5"/>
          <p:cNvSpPr/>
          <p:nvPr/>
        </p:nvSpPr>
        <p:spPr>
          <a:xfrm>
            <a:off x="5219700" y="180975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A88F"/>
              </a:buClr>
              <a:buSzPts val="975"/>
              <a:buFont typeface="Lato"/>
              <a:buNone/>
            </a:pPr>
            <a:r>
              <a:rPr b="1" i="0" lang="it-IT" sz="975">
                <a:solidFill>
                  <a:srgbClr val="00A88F"/>
                </a:solidFill>
                <a:latin typeface="Lato"/>
                <a:ea typeface="Lato"/>
                <a:cs typeface="Lato"/>
                <a:sym typeface="Lato"/>
              </a:rPr>
              <a:t>30–60</a:t>
            </a:r>
            <a:endParaRPr/>
          </a:p>
        </p:txBody>
      </p:sp>
      <p:sp>
        <p:nvSpPr>
          <p:cNvPr id="89" name="Google Shape;89;p5"/>
          <p:cNvSpPr/>
          <p:nvPr/>
        </p:nvSpPr>
        <p:spPr>
          <a:xfrm>
            <a:off x="5143500" y="2114550"/>
            <a:ext cx="1905000" cy="733425"/>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From model output to usable information</a:t>
            </a:r>
            <a:endParaRPr/>
          </a:p>
        </p:txBody>
      </p:sp>
      <p:sp>
        <p:nvSpPr>
          <p:cNvPr id="90" name="Google Shape;90;p5"/>
          <p:cNvSpPr/>
          <p:nvPr/>
        </p:nvSpPr>
        <p:spPr>
          <a:xfrm>
            <a:off x="5219700" y="278130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00"/>
              <a:buFont typeface="Lato"/>
              <a:buNone/>
            </a:pPr>
            <a:r>
              <a:rPr b="1" i="0" lang="it-IT" sz="1100">
                <a:solidFill>
                  <a:srgbClr val="687984"/>
                </a:solidFill>
                <a:latin typeface="Lato"/>
                <a:ea typeface="Lato"/>
                <a:cs typeface="Lato"/>
                <a:sym typeface="Lato"/>
              </a:rPr>
              <a:t>Riccardo</a:t>
            </a:r>
            <a:endParaRPr/>
          </a:p>
        </p:txBody>
      </p:sp>
      <p:sp>
        <p:nvSpPr>
          <p:cNvPr id="91" name="Google Shape;91;p5"/>
          <p:cNvSpPr/>
          <p:nvPr/>
        </p:nvSpPr>
        <p:spPr>
          <a:xfrm>
            <a:off x="8505825" y="3305175"/>
            <a:ext cx="38100" cy="3238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2" name="Google Shape;92;p5"/>
          <p:cNvSpPr/>
          <p:nvPr/>
        </p:nvSpPr>
        <p:spPr>
          <a:xfrm>
            <a:off x="8315325" y="3076575"/>
            <a:ext cx="419100" cy="41910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4</a:t>
            </a:r>
            <a:endParaRPr/>
          </a:p>
        </p:txBody>
      </p:sp>
      <p:sp>
        <p:nvSpPr>
          <p:cNvPr id="93" name="Google Shape;93;p5"/>
          <p:cNvSpPr/>
          <p:nvPr/>
        </p:nvSpPr>
        <p:spPr>
          <a:xfrm>
            <a:off x="7648575" y="3781425"/>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975"/>
              <a:buFont typeface="Lato"/>
              <a:buNone/>
            </a:pPr>
            <a:r>
              <a:rPr b="1" i="0" lang="it-IT" sz="975">
                <a:solidFill>
                  <a:srgbClr val="F2B632"/>
                </a:solidFill>
                <a:latin typeface="Lato"/>
                <a:ea typeface="Lato"/>
                <a:cs typeface="Lato"/>
                <a:sym typeface="Lato"/>
              </a:rPr>
              <a:t>60–75</a:t>
            </a:r>
            <a:endParaRPr/>
          </a:p>
        </p:txBody>
      </p:sp>
      <p:sp>
        <p:nvSpPr>
          <p:cNvPr id="94" name="Google Shape;94;p5"/>
          <p:cNvSpPr/>
          <p:nvPr/>
        </p:nvSpPr>
        <p:spPr>
          <a:xfrm>
            <a:off x="7572375" y="4086225"/>
            <a:ext cx="1905000" cy="733425"/>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How CAVA operationalizes the workflow</a:t>
            </a:r>
            <a:endParaRPr/>
          </a:p>
        </p:txBody>
      </p:sp>
      <p:sp>
        <p:nvSpPr>
          <p:cNvPr id="95" name="Google Shape;95;p5"/>
          <p:cNvSpPr/>
          <p:nvPr/>
        </p:nvSpPr>
        <p:spPr>
          <a:xfrm>
            <a:off x="7648575" y="485775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00"/>
              <a:buFont typeface="Lato"/>
              <a:buNone/>
            </a:pPr>
            <a:r>
              <a:rPr b="1" i="0" lang="it-IT" sz="1100">
                <a:solidFill>
                  <a:srgbClr val="687984"/>
                </a:solidFill>
                <a:latin typeface="Lato"/>
                <a:ea typeface="Lato"/>
                <a:cs typeface="Lato"/>
                <a:sym typeface="Lato"/>
              </a:rPr>
              <a:t>Ezequiel </a:t>
            </a:r>
            <a:endParaRPr/>
          </a:p>
        </p:txBody>
      </p:sp>
      <p:sp>
        <p:nvSpPr>
          <p:cNvPr id="96" name="Google Shape;96;p5"/>
          <p:cNvSpPr/>
          <p:nvPr/>
        </p:nvSpPr>
        <p:spPr>
          <a:xfrm>
            <a:off x="10934700" y="2962275"/>
            <a:ext cx="38100" cy="323850"/>
          </a:xfrm>
          <a:prstGeom prst="rect">
            <a:avLst/>
          </a:prstGeom>
          <a:solidFill>
            <a:srgbClr val="183A5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7" name="Google Shape;97;p5"/>
          <p:cNvSpPr/>
          <p:nvPr/>
        </p:nvSpPr>
        <p:spPr>
          <a:xfrm>
            <a:off x="10744200" y="3076575"/>
            <a:ext cx="419100" cy="419100"/>
          </a:xfrm>
          <a:prstGeom prst="ellipse">
            <a:avLst/>
          </a:prstGeom>
          <a:solidFill>
            <a:srgbClr val="183A59"/>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200"/>
              <a:buFont typeface="Lato"/>
              <a:buNone/>
            </a:pPr>
            <a:r>
              <a:rPr b="1" i="0" lang="it-IT" sz="1200">
                <a:solidFill>
                  <a:srgbClr val="FFFFFF"/>
                </a:solidFill>
                <a:latin typeface="Lato"/>
                <a:ea typeface="Lato"/>
                <a:cs typeface="Lato"/>
                <a:sym typeface="Lato"/>
              </a:rPr>
              <a:t>5</a:t>
            </a:r>
            <a:endParaRPr/>
          </a:p>
        </p:txBody>
      </p:sp>
      <p:sp>
        <p:nvSpPr>
          <p:cNvPr id="98" name="Google Shape;98;p5"/>
          <p:cNvSpPr/>
          <p:nvPr/>
        </p:nvSpPr>
        <p:spPr>
          <a:xfrm>
            <a:off x="10077450" y="1809750"/>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83A59"/>
              </a:buClr>
              <a:buSzPts val="975"/>
              <a:buFont typeface="Lato"/>
              <a:buNone/>
            </a:pPr>
            <a:r>
              <a:rPr b="1" i="0" lang="it-IT" sz="975">
                <a:solidFill>
                  <a:srgbClr val="183A59"/>
                </a:solidFill>
                <a:latin typeface="Lato"/>
                <a:ea typeface="Lato"/>
                <a:cs typeface="Lato"/>
                <a:sym typeface="Lato"/>
              </a:rPr>
              <a:t>75–90</a:t>
            </a:r>
            <a:endParaRPr/>
          </a:p>
        </p:txBody>
      </p:sp>
      <p:sp>
        <p:nvSpPr>
          <p:cNvPr id="99" name="Google Shape;99;p5"/>
          <p:cNvSpPr/>
          <p:nvPr/>
        </p:nvSpPr>
        <p:spPr>
          <a:xfrm>
            <a:off x="10001250" y="2114550"/>
            <a:ext cx="1905000" cy="733425"/>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End-to-end example and discussion</a:t>
            </a:r>
            <a:endParaRPr/>
          </a:p>
        </p:txBody>
      </p:sp>
      <p:sp>
        <p:nvSpPr>
          <p:cNvPr id="100" name="Google Shape;100;p5"/>
          <p:cNvSpPr/>
          <p:nvPr/>
        </p:nvSpPr>
        <p:spPr>
          <a:xfrm>
            <a:off x="10058400" y="2781299"/>
            <a:ext cx="1752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00"/>
              <a:buFont typeface="Lato"/>
              <a:buNone/>
            </a:pPr>
            <a:r>
              <a:rPr b="1" i="0" lang="it-IT" sz="1100">
                <a:solidFill>
                  <a:srgbClr val="687984"/>
                </a:solidFill>
                <a:latin typeface="Lato"/>
                <a:ea typeface="Lato"/>
                <a:cs typeface="Lato"/>
                <a:sym typeface="Lato"/>
              </a:rPr>
              <a:t>All</a:t>
            </a:r>
            <a:endParaRPr/>
          </a:p>
        </p:txBody>
      </p:sp>
      <p:sp>
        <p:nvSpPr>
          <p:cNvPr id="101" name="Google Shape;101;p5"/>
          <p:cNvSpPr/>
          <p:nvPr/>
        </p:nvSpPr>
        <p:spPr>
          <a:xfrm>
            <a:off x="685800" y="5348512"/>
            <a:ext cx="1809600" cy="247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Learning outcome</a:t>
            </a:r>
            <a:endParaRPr/>
          </a:p>
        </p:txBody>
      </p:sp>
      <p:sp>
        <p:nvSpPr>
          <p:cNvPr id="102" name="Google Shape;102;p5"/>
          <p:cNvSpPr/>
          <p:nvPr/>
        </p:nvSpPr>
        <p:spPr>
          <a:xfrm>
            <a:off x="2381250" y="5310412"/>
            <a:ext cx="8286900" cy="324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23"/>
              <a:buFont typeface="Lato"/>
              <a:buNone/>
            </a:pPr>
            <a:r>
              <a:rPr b="1" i="0" lang="it-IT" sz="1524">
                <a:solidFill>
                  <a:srgbClr val="12304E"/>
                </a:solidFill>
                <a:latin typeface="Lato"/>
                <a:ea typeface="Lato"/>
                <a:cs typeface="Lato"/>
                <a:sym typeface="Lato"/>
              </a:rPr>
              <a:t>A common vocabulary for interpreting climate information before using the CAVA Platform</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107" name="Shape 107"/>
        <p:cNvGrpSpPr/>
        <p:nvPr/>
      </p:nvGrpSpPr>
      <p:grpSpPr>
        <a:xfrm>
          <a:off x="0" y="0"/>
          <a:ext cx="0" cy="0"/>
          <a:chOff x="0" y="0"/>
          <a:chExt cx="0" cy="0"/>
        </a:xfrm>
      </p:grpSpPr>
      <p:sp>
        <p:nvSpPr>
          <p:cNvPr id="108" name="Google Shape;108;p6"/>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A practical climate question</a:t>
            </a:r>
            <a:endParaRPr/>
          </a:p>
        </p:txBody>
      </p:sp>
      <p:sp>
        <p:nvSpPr>
          <p:cNvPr id="109" name="Google Shape;109;p6"/>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Begin with the decision, then identify the information needed to support it</a:t>
            </a:r>
            <a:endParaRPr/>
          </a:p>
        </p:txBody>
      </p:sp>
      <p:sp>
        <p:nvSpPr>
          <p:cNvPr id="110" name="Google Shape;110;p6"/>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1" name="Google Shape;111;p6"/>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6"/>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6"/>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114" name="Google Shape;114;p6"/>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04</a:t>
            </a:r>
            <a:endParaRPr/>
          </a:p>
        </p:txBody>
      </p:sp>
      <p:sp>
        <p:nvSpPr>
          <p:cNvPr id="115" name="Google Shape;115;p6"/>
          <p:cNvSpPr/>
          <p:nvPr/>
        </p:nvSpPr>
        <p:spPr>
          <a:xfrm>
            <a:off x="990600" y="1952625"/>
            <a:ext cx="10191750" cy="10668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2304E"/>
              </a:buClr>
              <a:buSzPts val="2775"/>
              <a:buFont typeface="Lato"/>
              <a:buNone/>
            </a:pPr>
            <a:r>
              <a:rPr b="1" i="0" lang="it-IT" sz="2775">
                <a:solidFill>
                  <a:srgbClr val="12304E"/>
                </a:solidFill>
                <a:latin typeface="Lato"/>
                <a:ea typeface="Lato"/>
                <a:cs typeface="Lato"/>
                <a:sym typeface="Lato"/>
              </a:rPr>
              <a:t>How will extreme heat change in our project area over the next 30 years?</a:t>
            </a:r>
            <a:endParaRPr/>
          </a:p>
        </p:txBody>
      </p:sp>
      <p:sp>
        <p:nvSpPr>
          <p:cNvPr id="116" name="Google Shape;116;p6"/>
          <p:cNvSpPr/>
          <p:nvPr/>
        </p:nvSpPr>
        <p:spPr>
          <a:xfrm>
            <a:off x="704850" y="3638550"/>
            <a:ext cx="3429000" cy="1381125"/>
          </a:xfrm>
          <a:prstGeom prst="roundRect">
            <a:avLst>
              <a:gd fmla="val 5517"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6"/>
          <p:cNvSpPr/>
          <p:nvPr/>
        </p:nvSpPr>
        <p:spPr>
          <a:xfrm>
            <a:off x="704850" y="3790950"/>
            <a:ext cx="38100" cy="107632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8" name="Google Shape;118;p6"/>
          <p:cNvSpPr/>
          <p:nvPr/>
        </p:nvSpPr>
        <p:spPr>
          <a:xfrm>
            <a:off x="933450" y="3810000"/>
            <a:ext cx="3009900" cy="304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050"/>
              <a:buFont typeface="Lato"/>
              <a:buNone/>
            </a:pPr>
            <a:r>
              <a:rPr b="1" lang="it-IT" sz="1050">
                <a:solidFill>
                  <a:srgbClr val="12304E"/>
                </a:solidFill>
                <a:latin typeface="Lato"/>
                <a:ea typeface="Lato"/>
                <a:cs typeface="Lato"/>
                <a:sym typeface="Lato"/>
              </a:rPr>
              <a:t>DESIGNING</a:t>
            </a:r>
            <a:r>
              <a:rPr b="1" i="0" lang="it-IT" sz="1050">
                <a:solidFill>
                  <a:srgbClr val="12304E"/>
                </a:solidFill>
                <a:latin typeface="Lato"/>
                <a:ea typeface="Lato"/>
                <a:cs typeface="Lato"/>
                <a:sym typeface="Lato"/>
              </a:rPr>
              <a:t> PROJECT ACTIVITIES</a:t>
            </a:r>
            <a:endParaRPr b="1" i="0" sz="1050">
              <a:solidFill>
                <a:srgbClr val="12304E"/>
              </a:solidFill>
              <a:latin typeface="Lato"/>
              <a:ea typeface="Lato"/>
              <a:cs typeface="Lato"/>
              <a:sym typeface="Lato"/>
            </a:endParaRPr>
          </a:p>
        </p:txBody>
      </p:sp>
      <p:sp>
        <p:nvSpPr>
          <p:cNvPr id="119" name="Google Shape;119;p6"/>
          <p:cNvSpPr/>
          <p:nvPr/>
        </p:nvSpPr>
        <p:spPr>
          <a:xfrm>
            <a:off x="933450" y="4191000"/>
            <a:ext cx="2971800" cy="676275"/>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Will planned assets and activities remain viable?</a:t>
            </a:r>
            <a:endParaRPr/>
          </a:p>
        </p:txBody>
      </p:sp>
      <p:sp>
        <p:nvSpPr>
          <p:cNvPr id="120" name="Google Shape;120;p6"/>
          <p:cNvSpPr/>
          <p:nvPr/>
        </p:nvSpPr>
        <p:spPr>
          <a:xfrm>
            <a:off x="4457700" y="3638550"/>
            <a:ext cx="3429000" cy="1381125"/>
          </a:xfrm>
          <a:prstGeom prst="roundRect">
            <a:avLst>
              <a:gd fmla="val 5517"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6"/>
          <p:cNvSpPr/>
          <p:nvPr/>
        </p:nvSpPr>
        <p:spPr>
          <a:xfrm>
            <a:off x="4457700" y="3790950"/>
            <a:ext cx="38100" cy="107632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2" name="Google Shape;122;p6"/>
          <p:cNvSpPr/>
          <p:nvPr/>
        </p:nvSpPr>
        <p:spPr>
          <a:xfrm>
            <a:off x="4686300" y="3810000"/>
            <a:ext cx="3009900" cy="304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050"/>
              <a:buFont typeface="Lato"/>
              <a:buNone/>
            </a:pPr>
            <a:r>
              <a:rPr b="1" i="0" lang="it-IT" sz="1050">
                <a:solidFill>
                  <a:srgbClr val="12304E"/>
                </a:solidFill>
                <a:latin typeface="Lato"/>
                <a:ea typeface="Lato"/>
                <a:cs typeface="Lato"/>
                <a:sym typeface="Lato"/>
              </a:rPr>
              <a:t>CLIMATE RISK</a:t>
            </a:r>
            <a:r>
              <a:rPr b="1" lang="it-IT" sz="1050">
                <a:solidFill>
                  <a:srgbClr val="12304E"/>
                </a:solidFill>
                <a:latin typeface="Lato"/>
                <a:ea typeface="Lato"/>
                <a:cs typeface="Lato"/>
                <a:sym typeface="Lato"/>
              </a:rPr>
              <a:t>S </a:t>
            </a:r>
            <a:r>
              <a:rPr b="1" lang="it-IT" sz="1050">
                <a:solidFill>
                  <a:srgbClr val="12304E"/>
                </a:solidFill>
                <a:latin typeface="Lato"/>
                <a:ea typeface="Lato"/>
                <a:cs typeface="Lato"/>
                <a:sym typeface="Lato"/>
              </a:rPr>
              <a:t>CONSIDERATIONS</a:t>
            </a:r>
            <a:endParaRPr b="1" i="0" sz="1050">
              <a:solidFill>
                <a:srgbClr val="12304E"/>
              </a:solidFill>
              <a:latin typeface="Lato"/>
              <a:ea typeface="Lato"/>
              <a:cs typeface="Lato"/>
              <a:sym typeface="Lato"/>
            </a:endParaRPr>
          </a:p>
        </p:txBody>
      </p:sp>
      <p:sp>
        <p:nvSpPr>
          <p:cNvPr id="123" name="Google Shape;123;p6"/>
          <p:cNvSpPr/>
          <p:nvPr/>
        </p:nvSpPr>
        <p:spPr>
          <a:xfrm>
            <a:off x="4686300" y="4191000"/>
            <a:ext cx="2971800" cy="676275"/>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Which groups or locations may face greater exposure </a:t>
            </a:r>
            <a:r>
              <a:rPr lang="it-IT" sz="1350">
                <a:solidFill>
                  <a:srgbClr val="687984"/>
                </a:solidFill>
                <a:latin typeface="Lato"/>
                <a:ea typeface="Lato"/>
                <a:cs typeface="Lato"/>
                <a:sym typeface="Lato"/>
              </a:rPr>
              <a:t>and/or are more vulnerable</a:t>
            </a:r>
            <a:r>
              <a:rPr b="0" i="0" lang="it-IT" sz="1350">
                <a:solidFill>
                  <a:srgbClr val="687984"/>
                </a:solidFill>
                <a:latin typeface="Lato"/>
                <a:ea typeface="Lato"/>
                <a:cs typeface="Lato"/>
                <a:sym typeface="Lato"/>
              </a:rPr>
              <a:t>?</a:t>
            </a:r>
            <a:endParaRPr/>
          </a:p>
        </p:txBody>
      </p:sp>
      <p:sp>
        <p:nvSpPr>
          <p:cNvPr id="124" name="Google Shape;124;p6"/>
          <p:cNvSpPr/>
          <p:nvPr/>
        </p:nvSpPr>
        <p:spPr>
          <a:xfrm>
            <a:off x="8210550" y="3638550"/>
            <a:ext cx="3429000" cy="1381125"/>
          </a:xfrm>
          <a:prstGeom prst="roundRect">
            <a:avLst>
              <a:gd fmla="val 5517"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5" name="Google Shape;125;p6"/>
          <p:cNvSpPr/>
          <p:nvPr/>
        </p:nvSpPr>
        <p:spPr>
          <a:xfrm>
            <a:off x="8210550" y="3790950"/>
            <a:ext cx="38100" cy="1076325"/>
          </a:xfrm>
          <a:prstGeom prst="rect">
            <a:avLst/>
          </a:prstGeom>
          <a:solidFill>
            <a:srgbClr val="183A5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6" name="Google Shape;126;p6"/>
          <p:cNvSpPr/>
          <p:nvPr/>
        </p:nvSpPr>
        <p:spPr>
          <a:xfrm>
            <a:off x="8439150" y="3810000"/>
            <a:ext cx="3009900" cy="304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050"/>
              <a:buFont typeface="Lato"/>
              <a:buNone/>
            </a:pPr>
            <a:r>
              <a:rPr b="1" i="0" lang="it-IT" sz="1050">
                <a:solidFill>
                  <a:srgbClr val="12304E"/>
                </a:solidFill>
                <a:latin typeface="Lato"/>
                <a:ea typeface="Lato"/>
                <a:cs typeface="Lato"/>
                <a:sym typeface="Lato"/>
              </a:rPr>
              <a:t>ADAPTATION</a:t>
            </a:r>
            <a:endParaRPr/>
          </a:p>
        </p:txBody>
      </p:sp>
      <p:sp>
        <p:nvSpPr>
          <p:cNvPr id="127" name="Google Shape;127;p6"/>
          <p:cNvSpPr/>
          <p:nvPr/>
        </p:nvSpPr>
        <p:spPr>
          <a:xfrm>
            <a:off x="8439150" y="4191000"/>
            <a:ext cx="2971800" cy="676275"/>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Which options respond to the scale and timing of change?</a:t>
            </a:r>
            <a:endParaRPr/>
          </a:p>
        </p:txBody>
      </p:sp>
      <p:sp>
        <p:nvSpPr>
          <p:cNvPr id="128" name="Google Shape;128;p6"/>
          <p:cNvSpPr/>
          <p:nvPr/>
        </p:nvSpPr>
        <p:spPr>
          <a:xfrm>
            <a:off x="1628775" y="5438775"/>
            <a:ext cx="8905875" cy="3238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A88F"/>
              </a:buClr>
              <a:buSzPts val="1575"/>
              <a:buFont typeface="Lato"/>
              <a:buNone/>
            </a:pPr>
            <a:r>
              <a:rPr b="1" i="0" lang="it-IT" sz="1575">
                <a:solidFill>
                  <a:srgbClr val="00A88F"/>
                </a:solidFill>
                <a:latin typeface="Lato"/>
                <a:ea typeface="Lato"/>
                <a:cs typeface="Lato"/>
                <a:sym typeface="Lato"/>
              </a:rPr>
              <a:t>The question sounds simple. Answering it requires a chain of choices and processing steps.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133" name="Shape 133"/>
        <p:cNvGrpSpPr/>
        <p:nvPr/>
      </p:nvGrpSpPr>
      <p:grpSpPr>
        <a:xfrm>
          <a:off x="0" y="0"/>
          <a:ext cx="0" cy="0"/>
          <a:chOff x="0" y="0"/>
          <a:chExt cx="0" cy="0"/>
        </a:xfrm>
      </p:grpSpPr>
      <p:sp>
        <p:nvSpPr>
          <p:cNvPr id="134" name="Google Shape;134;p7"/>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From a decision question to climate information</a:t>
            </a:r>
            <a:endParaRPr/>
          </a:p>
        </p:txBody>
      </p:sp>
      <p:sp>
        <p:nvSpPr>
          <p:cNvPr id="135" name="Google Shape;135;p7"/>
          <p:cNvSpPr/>
          <p:nvPr/>
        </p:nvSpPr>
        <p:spPr>
          <a:xfrm>
            <a:off x="657225" y="962025"/>
            <a:ext cx="10572900" cy="247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Each step adds a choice that affects the final interpretation</a:t>
            </a:r>
            <a:endParaRPr/>
          </a:p>
        </p:txBody>
      </p:sp>
      <p:sp>
        <p:nvSpPr>
          <p:cNvPr id="136" name="Google Shape;136;p7"/>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7"/>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8" name="Google Shape;138;p7"/>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9" name="Google Shape;139;p7"/>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140" name="Google Shape;140;p7"/>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05</a:t>
            </a:r>
            <a:endParaRPr/>
          </a:p>
        </p:txBody>
      </p:sp>
      <p:sp>
        <p:nvSpPr>
          <p:cNvPr id="141" name="Google Shape;141;p7"/>
          <p:cNvSpPr/>
          <p:nvPr/>
        </p:nvSpPr>
        <p:spPr>
          <a:xfrm>
            <a:off x="647700" y="2009775"/>
            <a:ext cx="1952625" cy="2286000"/>
          </a:xfrm>
          <a:prstGeom prst="roundRect">
            <a:avLst>
              <a:gd fmla="val 3902"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7"/>
          <p:cNvSpPr/>
          <p:nvPr/>
        </p:nvSpPr>
        <p:spPr>
          <a:xfrm>
            <a:off x="838200" y="2219325"/>
            <a:ext cx="428625"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01</a:t>
            </a:r>
            <a:endParaRPr/>
          </a:p>
        </p:txBody>
      </p:sp>
      <p:sp>
        <p:nvSpPr>
          <p:cNvPr id="143" name="Google Shape;143;p7"/>
          <p:cNvSpPr/>
          <p:nvPr/>
        </p:nvSpPr>
        <p:spPr>
          <a:xfrm>
            <a:off x="838200" y="2752725"/>
            <a:ext cx="1571625" cy="5905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Decision question</a:t>
            </a:r>
            <a:endParaRPr/>
          </a:p>
        </p:txBody>
      </p:sp>
      <p:sp>
        <p:nvSpPr>
          <p:cNvPr id="144" name="Google Shape;144;p7"/>
          <p:cNvSpPr/>
          <p:nvPr/>
        </p:nvSpPr>
        <p:spPr>
          <a:xfrm>
            <a:off x="838200" y="3524250"/>
            <a:ext cx="15716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What must the project decide?</a:t>
            </a:r>
            <a:endParaRPr/>
          </a:p>
        </p:txBody>
      </p:sp>
      <p:sp>
        <p:nvSpPr>
          <p:cNvPr id="145" name="Google Shape;145;p7"/>
          <p:cNvSpPr/>
          <p:nvPr/>
        </p:nvSpPr>
        <p:spPr>
          <a:xfrm>
            <a:off x="2600325" y="3095625"/>
            <a:ext cx="247650" cy="2857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6" name="Google Shape;146;p7"/>
          <p:cNvSpPr/>
          <p:nvPr/>
        </p:nvSpPr>
        <p:spPr>
          <a:xfrm>
            <a:off x="2847975" y="2009775"/>
            <a:ext cx="1952625" cy="2286000"/>
          </a:xfrm>
          <a:prstGeom prst="roundRect">
            <a:avLst>
              <a:gd fmla="val 3902"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7"/>
          <p:cNvSpPr/>
          <p:nvPr/>
        </p:nvSpPr>
        <p:spPr>
          <a:xfrm>
            <a:off x="3038475" y="2219325"/>
            <a:ext cx="428625"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02</a:t>
            </a:r>
            <a:endParaRPr/>
          </a:p>
        </p:txBody>
      </p:sp>
      <p:sp>
        <p:nvSpPr>
          <p:cNvPr id="148" name="Google Shape;148;p7"/>
          <p:cNvSpPr/>
          <p:nvPr/>
        </p:nvSpPr>
        <p:spPr>
          <a:xfrm>
            <a:off x="3038475" y="2752725"/>
            <a:ext cx="1571625" cy="5905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Information need</a:t>
            </a:r>
            <a:endParaRPr/>
          </a:p>
        </p:txBody>
      </p:sp>
      <p:sp>
        <p:nvSpPr>
          <p:cNvPr id="149" name="Google Shape;149;p7"/>
          <p:cNvSpPr/>
          <p:nvPr/>
        </p:nvSpPr>
        <p:spPr>
          <a:xfrm>
            <a:off x="3038475" y="3524250"/>
            <a:ext cx="15716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Which hazard, geography and period?</a:t>
            </a:r>
            <a:endParaRPr/>
          </a:p>
        </p:txBody>
      </p:sp>
      <p:sp>
        <p:nvSpPr>
          <p:cNvPr id="150" name="Google Shape;150;p7"/>
          <p:cNvSpPr/>
          <p:nvPr/>
        </p:nvSpPr>
        <p:spPr>
          <a:xfrm>
            <a:off x="4800600" y="3095625"/>
            <a:ext cx="247650" cy="2857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7"/>
          <p:cNvSpPr/>
          <p:nvPr/>
        </p:nvSpPr>
        <p:spPr>
          <a:xfrm>
            <a:off x="5048250" y="2009775"/>
            <a:ext cx="1952625" cy="2286000"/>
          </a:xfrm>
          <a:prstGeom prst="roundRect">
            <a:avLst>
              <a:gd fmla="val 3902" name="adj"/>
            </a:avLst>
          </a:prstGeom>
          <a:solidFill>
            <a:srgbClr val="FFFFFF"/>
          </a:solidFill>
          <a:ln cap="flat" cmpd="sng" w="9525">
            <a:solidFill>
              <a:srgbClr val="FF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FF0000"/>
              </a:solidFill>
              <a:highlight>
                <a:srgbClr val="FF0000"/>
              </a:highlight>
              <a:latin typeface="Calibri"/>
              <a:ea typeface="Calibri"/>
              <a:cs typeface="Calibri"/>
              <a:sym typeface="Calibri"/>
            </a:endParaRPr>
          </a:p>
        </p:txBody>
      </p:sp>
      <p:sp>
        <p:nvSpPr>
          <p:cNvPr id="152" name="Google Shape;152;p7"/>
          <p:cNvSpPr/>
          <p:nvPr/>
        </p:nvSpPr>
        <p:spPr>
          <a:xfrm>
            <a:off x="5238750" y="2219325"/>
            <a:ext cx="428625"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350"/>
              <a:buFont typeface="Lato"/>
              <a:buNone/>
            </a:pPr>
            <a:r>
              <a:rPr b="1" i="0" lang="it-IT" sz="1350">
                <a:solidFill>
                  <a:schemeClr val="dk1"/>
                </a:solidFill>
                <a:latin typeface="Lato"/>
                <a:ea typeface="Lato"/>
                <a:cs typeface="Lato"/>
                <a:sym typeface="Lato"/>
              </a:rPr>
              <a:t>03</a:t>
            </a:r>
            <a:endParaRPr>
              <a:solidFill>
                <a:schemeClr val="dk1"/>
              </a:solidFill>
            </a:endParaRPr>
          </a:p>
        </p:txBody>
      </p:sp>
      <p:sp>
        <p:nvSpPr>
          <p:cNvPr id="153" name="Google Shape;153;p7"/>
          <p:cNvSpPr/>
          <p:nvPr/>
        </p:nvSpPr>
        <p:spPr>
          <a:xfrm>
            <a:off x="5238750" y="2752725"/>
            <a:ext cx="1571625" cy="5905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Climate evidence</a:t>
            </a:r>
            <a:endParaRPr/>
          </a:p>
        </p:txBody>
      </p:sp>
      <p:sp>
        <p:nvSpPr>
          <p:cNvPr id="154" name="Google Shape;154;p7"/>
          <p:cNvSpPr/>
          <p:nvPr/>
        </p:nvSpPr>
        <p:spPr>
          <a:xfrm>
            <a:off x="5238750" y="3524250"/>
            <a:ext cx="15716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Which reference and projections?</a:t>
            </a:r>
            <a:endParaRPr/>
          </a:p>
        </p:txBody>
      </p:sp>
      <p:sp>
        <p:nvSpPr>
          <p:cNvPr id="155" name="Google Shape;155;p7"/>
          <p:cNvSpPr/>
          <p:nvPr/>
        </p:nvSpPr>
        <p:spPr>
          <a:xfrm>
            <a:off x="7000875" y="3095625"/>
            <a:ext cx="247650" cy="2857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6" name="Google Shape;156;p7"/>
          <p:cNvSpPr/>
          <p:nvPr/>
        </p:nvSpPr>
        <p:spPr>
          <a:xfrm>
            <a:off x="7248525" y="2009775"/>
            <a:ext cx="1952625" cy="2286000"/>
          </a:xfrm>
          <a:prstGeom prst="roundRect">
            <a:avLst>
              <a:gd fmla="val 3902" name="adj"/>
            </a:avLst>
          </a:prstGeom>
          <a:solidFill>
            <a:srgbClr val="FFFFFF"/>
          </a:solidFill>
          <a:ln cap="flat" cmpd="sng" w="9525">
            <a:solidFill>
              <a:srgbClr val="FF000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7" name="Google Shape;157;p7"/>
          <p:cNvSpPr/>
          <p:nvPr/>
        </p:nvSpPr>
        <p:spPr>
          <a:xfrm>
            <a:off x="7439025" y="2219325"/>
            <a:ext cx="428625"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350"/>
              <a:buFont typeface="Lato"/>
              <a:buNone/>
            </a:pPr>
            <a:r>
              <a:rPr b="1" i="0" lang="it-IT" sz="1350">
                <a:solidFill>
                  <a:srgbClr val="183A59"/>
                </a:solidFill>
                <a:latin typeface="Lato"/>
                <a:ea typeface="Lato"/>
                <a:cs typeface="Lato"/>
                <a:sym typeface="Lato"/>
              </a:rPr>
              <a:t>04</a:t>
            </a:r>
            <a:endParaRPr/>
          </a:p>
        </p:txBody>
      </p:sp>
      <p:sp>
        <p:nvSpPr>
          <p:cNvPr id="158" name="Google Shape;158;p7"/>
          <p:cNvSpPr/>
          <p:nvPr/>
        </p:nvSpPr>
        <p:spPr>
          <a:xfrm>
            <a:off x="7439025" y="2752725"/>
            <a:ext cx="1571625" cy="5905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Processing</a:t>
            </a:r>
            <a:endParaRPr/>
          </a:p>
        </p:txBody>
      </p:sp>
      <p:sp>
        <p:nvSpPr>
          <p:cNvPr id="159" name="Google Shape;159;p7"/>
          <p:cNvSpPr/>
          <p:nvPr/>
        </p:nvSpPr>
        <p:spPr>
          <a:xfrm>
            <a:off x="7439025" y="3524250"/>
            <a:ext cx="15716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How are data made comparable?</a:t>
            </a:r>
            <a:endParaRPr/>
          </a:p>
        </p:txBody>
      </p:sp>
      <p:sp>
        <p:nvSpPr>
          <p:cNvPr id="160" name="Google Shape;160;p7"/>
          <p:cNvSpPr/>
          <p:nvPr/>
        </p:nvSpPr>
        <p:spPr>
          <a:xfrm>
            <a:off x="9201150" y="3095625"/>
            <a:ext cx="247650" cy="2857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1" name="Google Shape;161;p7"/>
          <p:cNvSpPr/>
          <p:nvPr/>
        </p:nvSpPr>
        <p:spPr>
          <a:xfrm>
            <a:off x="9448800" y="2009775"/>
            <a:ext cx="1952625" cy="2286000"/>
          </a:xfrm>
          <a:prstGeom prst="roundRect">
            <a:avLst>
              <a:gd fmla="val 3902" name="adj"/>
            </a:avLst>
          </a:prstGeom>
          <a:solidFill>
            <a:srgbClr val="FFFFFF"/>
          </a:solidFill>
          <a:ln cap="flat" cmpd="sng" w="9525">
            <a:solidFill>
              <a:schemeClr val="lt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2" name="Google Shape;162;p7"/>
          <p:cNvSpPr/>
          <p:nvPr/>
        </p:nvSpPr>
        <p:spPr>
          <a:xfrm>
            <a:off x="9639300" y="2219325"/>
            <a:ext cx="428625"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350"/>
              <a:buFont typeface="Lato"/>
              <a:buNone/>
            </a:pPr>
            <a:r>
              <a:rPr b="1" i="0" lang="it-IT" sz="1350">
                <a:solidFill>
                  <a:srgbClr val="183A59"/>
                </a:solidFill>
                <a:latin typeface="Lato"/>
                <a:ea typeface="Lato"/>
                <a:cs typeface="Lato"/>
                <a:sym typeface="Lato"/>
              </a:rPr>
              <a:t>05</a:t>
            </a:r>
            <a:endParaRPr/>
          </a:p>
        </p:txBody>
      </p:sp>
      <p:sp>
        <p:nvSpPr>
          <p:cNvPr id="163" name="Google Shape;163;p7"/>
          <p:cNvSpPr/>
          <p:nvPr/>
        </p:nvSpPr>
        <p:spPr>
          <a:xfrm>
            <a:off x="9639300" y="2752725"/>
            <a:ext cx="1571625" cy="59055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Interpretation</a:t>
            </a:r>
            <a:endParaRPr/>
          </a:p>
        </p:txBody>
      </p:sp>
      <p:sp>
        <p:nvSpPr>
          <p:cNvPr id="164" name="Google Shape;164;p7"/>
          <p:cNvSpPr/>
          <p:nvPr/>
        </p:nvSpPr>
        <p:spPr>
          <a:xfrm>
            <a:off x="9639300" y="3524250"/>
            <a:ext cx="15716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What changes, and how certain is it?</a:t>
            </a:r>
            <a:endParaRPr/>
          </a:p>
        </p:txBody>
      </p:sp>
      <p:sp>
        <p:nvSpPr>
          <p:cNvPr id="165" name="Google Shape;165;p7"/>
          <p:cNvSpPr/>
          <p:nvPr/>
        </p:nvSpPr>
        <p:spPr>
          <a:xfrm>
            <a:off x="657225" y="4686300"/>
            <a:ext cx="10715625" cy="952500"/>
          </a:xfrm>
          <a:prstGeom prst="roundRect">
            <a:avLst>
              <a:gd fmla="val 8000" name="adj"/>
            </a:avLst>
          </a:prstGeom>
          <a:solidFill>
            <a:srgbClr val="E7F4EF"/>
          </a:solidFill>
          <a:ln cap="flat" cmpd="sng" w="9525">
            <a:solidFill>
              <a:srgbClr val="E7F4E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7"/>
          <p:cNvSpPr/>
          <p:nvPr/>
        </p:nvSpPr>
        <p:spPr>
          <a:xfrm>
            <a:off x="914400" y="4876800"/>
            <a:ext cx="40005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650"/>
              <a:buFont typeface="Lato"/>
              <a:buNone/>
            </a:pPr>
            <a:r>
              <a:rPr b="1" i="0" lang="it-IT" sz="1650">
                <a:solidFill>
                  <a:srgbClr val="008D7A"/>
                </a:solidFill>
                <a:latin typeface="Lato"/>
                <a:ea typeface="Lato"/>
                <a:cs typeface="Lato"/>
                <a:sym typeface="Lato"/>
              </a:rPr>
              <a:t>CAVA supports the middle of this chain</a:t>
            </a:r>
            <a:endParaRPr/>
          </a:p>
        </p:txBody>
      </p:sp>
      <p:sp>
        <p:nvSpPr>
          <p:cNvPr id="167" name="Google Shape;167;p7"/>
          <p:cNvSpPr/>
          <p:nvPr/>
        </p:nvSpPr>
        <p:spPr>
          <a:xfrm>
            <a:off x="5067300" y="4838700"/>
            <a:ext cx="5953125"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350"/>
              <a:buFont typeface="Lato"/>
              <a:buNone/>
            </a:pPr>
            <a:r>
              <a:rPr b="0" i="0" lang="it-IT" sz="1350">
                <a:solidFill>
                  <a:srgbClr val="12304E"/>
                </a:solidFill>
                <a:latin typeface="Lato"/>
                <a:ea typeface="Lato"/>
                <a:cs typeface="Lato"/>
                <a:sym typeface="Lato"/>
              </a:rPr>
              <a:t>It connects harmonized climate data, repeatable processing and outputs that users can interpret for a project or sector.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304E"/>
        </a:solidFill>
      </p:bgPr>
    </p:bg>
    <p:spTree>
      <p:nvGrpSpPr>
        <p:cNvPr id="172" name="Shape 172"/>
        <p:cNvGrpSpPr/>
        <p:nvPr/>
      </p:nvGrpSpPr>
      <p:grpSpPr>
        <a:xfrm>
          <a:off x="0" y="0"/>
          <a:ext cx="0" cy="0"/>
          <a:chOff x="0" y="0"/>
          <a:chExt cx="0" cy="0"/>
        </a:xfrm>
      </p:grpSpPr>
      <p:sp>
        <p:nvSpPr>
          <p:cNvPr id="173" name="Google Shape;173;p8"/>
          <p:cNvSpPr/>
          <p:nvPr/>
        </p:nvSpPr>
        <p:spPr>
          <a:xfrm>
            <a:off x="0" y="0"/>
            <a:ext cx="7620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8"/>
          <p:cNvSpPr/>
          <p:nvPr/>
        </p:nvSpPr>
        <p:spPr>
          <a:xfrm>
            <a:off x="762000" y="762000"/>
            <a:ext cx="952500" cy="285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8"/>
          <p:cNvSpPr/>
          <p:nvPr/>
        </p:nvSpPr>
        <p:spPr>
          <a:xfrm>
            <a:off x="762000" y="1714500"/>
            <a:ext cx="9144000" cy="11430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FFFFFF"/>
              </a:buClr>
              <a:buSzPts val="3225"/>
              <a:buFont typeface="Lato"/>
              <a:buNone/>
            </a:pPr>
            <a:r>
              <a:rPr b="1" lang="it-IT" sz="3225">
                <a:solidFill>
                  <a:srgbClr val="FFFFFF"/>
                </a:solidFill>
                <a:latin typeface="Lato"/>
                <a:ea typeface="Lato"/>
                <a:cs typeface="Lato"/>
                <a:sym typeface="Lato"/>
              </a:rPr>
              <a:t>Where does climate information come from?</a:t>
            </a:r>
            <a:endParaRPr/>
          </a:p>
        </p:txBody>
      </p:sp>
      <p:sp>
        <p:nvSpPr>
          <p:cNvPr id="176" name="Google Shape;176;p8"/>
          <p:cNvSpPr/>
          <p:nvPr/>
        </p:nvSpPr>
        <p:spPr>
          <a:xfrm>
            <a:off x="781050" y="3143250"/>
            <a:ext cx="876300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7E5EC"/>
              </a:buClr>
              <a:buSzPts val="1650"/>
              <a:buFont typeface="Lato"/>
              <a:buNone/>
            </a:pPr>
            <a:r>
              <a:rPr b="0" i="0" lang="it-IT" sz="1650">
                <a:solidFill>
                  <a:srgbClr val="D7E5EC"/>
                </a:solidFill>
                <a:latin typeface="Lato"/>
                <a:ea typeface="Lato"/>
                <a:cs typeface="Lato"/>
                <a:sym typeface="Lato"/>
              </a:rPr>
              <a:t>The next steps address data complexity, model bias, uncertainty and the translation from variables to indicators.</a:t>
            </a:r>
            <a:endParaRPr/>
          </a:p>
        </p:txBody>
      </p:sp>
      <p:sp>
        <p:nvSpPr>
          <p:cNvPr id="177" name="Google Shape;177;p8"/>
          <p:cNvSpPr/>
          <p:nvPr/>
        </p:nvSpPr>
        <p:spPr>
          <a:xfrm>
            <a:off x="781050" y="4953000"/>
            <a:ext cx="4000500" cy="247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lang="it-IT" sz="1125">
                <a:solidFill>
                  <a:srgbClr val="00A88F"/>
                </a:solidFill>
                <a:latin typeface="Lato"/>
                <a:ea typeface="Lato"/>
                <a:cs typeface="Lato"/>
                <a:sym typeface="Lato"/>
              </a:rPr>
              <a:t>HIDEKI</a:t>
            </a:r>
            <a:r>
              <a:rPr b="1" i="0" lang="it-IT" sz="1125">
                <a:solidFill>
                  <a:srgbClr val="00A88F"/>
                </a:solidFill>
                <a:latin typeface="Lato"/>
                <a:ea typeface="Lato"/>
                <a:cs typeface="Lato"/>
                <a:sym typeface="Lato"/>
              </a:rPr>
              <a:t> · </a:t>
            </a:r>
            <a:r>
              <a:rPr b="1" lang="it-IT" sz="1125">
                <a:solidFill>
                  <a:srgbClr val="00A88F"/>
                </a:solidFill>
                <a:latin typeface="Lato"/>
                <a:ea typeface="Lato"/>
                <a:cs typeface="Lato"/>
                <a:sym typeface="Lato"/>
              </a:rPr>
              <a:t>10</a:t>
            </a:r>
            <a:r>
              <a:rPr b="1" i="0" lang="it-IT" sz="1125">
                <a:solidFill>
                  <a:srgbClr val="00A88F"/>
                </a:solidFill>
                <a:latin typeface="Lato"/>
                <a:ea typeface="Lato"/>
                <a:cs typeface="Lato"/>
                <a:sym typeface="Lato"/>
              </a:rPr>
              <a:t> MINUTES</a:t>
            </a:r>
            <a:endParaRPr/>
          </a:p>
        </p:txBody>
      </p:sp>
      <p:sp>
        <p:nvSpPr>
          <p:cNvPr id="178" name="Google Shape;178;p8"/>
          <p:cNvSpPr/>
          <p:nvPr/>
        </p:nvSpPr>
        <p:spPr>
          <a:xfrm>
            <a:off x="781050" y="5905500"/>
            <a:ext cx="4953000" cy="9600"/>
          </a:xfrm>
          <a:prstGeom prst="rect">
            <a:avLst/>
          </a:prstGeom>
          <a:solidFill>
            <a:srgbClr val="61788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8"/>
          <p:cNvSpPr/>
          <p:nvPr/>
        </p:nvSpPr>
        <p:spPr>
          <a:xfrm>
            <a:off x="11049000" y="6324600"/>
            <a:ext cx="571500" cy="1716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B6C5CF"/>
              </a:buClr>
              <a:buSzPts val="750"/>
              <a:buFont typeface="Lato"/>
              <a:buNone/>
            </a:pPr>
            <a:r>
              <a:rPr b="0" i="0" lang="it-IT" sz="750">
                <a:solidFill>
                  <a:srgbClr val="B6C5CF"/>
                </a:solidFill>
                <a:latin typeface="Lato"/>
                <a:ea typeface="Lato"/>
                <a:cs typeface="Lato"/>
                <a:sym typeface="Lato"/>
              </a:rPr>
              <a:t>10</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184" name="Shape 184"/>
        <p:cNvGrpSpPr/>
        <p:nvPr/>
      </p:nvGrpSpPr>
      <p:grpSpPr>
        <a:xfrm>
          <a:off x="0" y="0"/>
          <a:ext cx="0" cy="0"/>
          <a:chOff x="0" y="0"/>
          <a:chExt cx="0" cy="0"/>
        </a:xfrm>
      </p:grpSpPr>
      <p:sp>
        <p:nvSpPr>
          <p:cNvPr id="185" name="Google Shape;185;p9"/>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Three sources of climate information</a:t>
            </a:r>
            <a:endParaRPr/>
          </a:p>
        </p:txBody>
      </p:sp>
      <p:sp>
        <p:nvSpPr>
          <p:cNvPr id="186" name="Google Shape;186;p9"/>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Historical reference information and future projections answer different questions</a:t>
            </a:r>
            <a:endParaRPr/>
          </a:p>
        </p:txBody>
      </p:sp>
      <p:sp>
        <p:nvSpPr>
          <p:cNvPr id="187" name="Google Shape;187;p9"/>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9"/>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9"/>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9"/>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191" name="Google Shape;191;p9"/>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06</a:t>
            </a:r>
            <a:endParaRPr/>
          </a:p>
        </p:txBody>
      </p:sp>
      <p:sp>
        <p:nvSpPr>
          <p:cNvPr id="192" name="Google Shape;192;p9"/>
          <p:cNvSpPr/>
          <p:nvPr/>
        </p:nvSpPr>
        <p:spPr>
          <a:xfrm>
            <a:off x="685800" y="1790700"/>
            <a:ext cx="3429000" cy="3276600"/>
          </a:xfrm>
          <a:prstGeom prst="rect">
            <a:avLst/>
          </a:prstGeom>
          <a:solidFill>
            <a:srgbClr val="E7F4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3" name="Google Shape;193;p9"/>
          <p:cNvSpPr/>
          <p:nvPr/>
        </p:nvSpPr>
        <p:spPr>
          <a:xfrm>
            <a:off x="914400" y="2019300"/>
            <a:ext cx="952500" cy="8191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4650"/>
              <a:buFont typeface="Lato"/>
              <a:buNone/>
            </a:pPr>
            <a:r>
              <a:rPr b="1" i="0" lang="it-IT" sz="4650">
                <a:solidFill>
                  <a:srgbClr val="00A88F"/>
                </a:solidFill>
                <a:latin typeface="Lato"/>
                <a:ea typeface="Lato"/>
                <a:cs typeface="Lato"/>
                <a:sym typeface="Lato"/>
              </a:rPr>
              <a:t>01</a:t>
            </a:r>
            <a:endParaRPr/>
          </a:p>
        </p:txBody>
      </p:sp>
      <p:sp>
        <p:nvSpPr>
          <p:cNvPr id="194" name="Google Shape;194;p9"/>
          <p:cNvSpPr/>
          <p:nvPr/>
        </p:nvSpPr>
        <p:spPr>
          <a:xfrm>
            <a:off x="914400" y="2933700"/>
            <a:ext cx="29718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OBSERVATIONS</a:t>
            </a:r>
            <a:endParaRPr/>
          </a:p>
        </p:txBody>
      </p:sp>
      <p:sp>
        <p:nvSpPr>
          <p:cNvPr id="195" name="Google Shape;195;p9"/>
          <p:cNvSpPr/>
          <p:nvPr/>
        </p:nvSpPr>
        <p:spPr>
          <a:xfrm>
            <a:off x="914400" y="3429000"/>
            <a:ext cx="2952750" cy="666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43"/>
              <a:buFont typeface="Lato"/>
              <a:buNone/>
            </a:pPr>
            <a:r>
              <a:rPr b="1" i="0" lang="it-IT" sz="1544">
                <a:solidFill>
                  <a:srgbClr val="12304E"/>
                </a:solidFill>
                <a:latin typeface="Lato"/>
                <a:ea typeface="Lato"/>
                <a:cs typeface="Lato"/>
                <a:sym typeface="Lato"/>
              </a:rPr>
              <a:t>Measurements from stations, satellites and other instruments</a:t>
            </a:r>
            <a:endParaRPr/>
          </a:p>
        </p:txBody>
      </p:sp>
      <p:sp>
        <p:nvSpPr>
          <p:cNvPr id="196" name="Google Shape;196;p9"/>
          <p:cNvSpPr/>
          <p:nvPr/>
        </p:nvSpPr>
        <p:spPr>
          <a:xfrm>
            <a:off x="914400" y="4286250"/>
            <a:ext cx="704850" cy="2857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7" name="Google Shape;197;p9"/>
          <p:cNvSpPr/>
          <p:nvPr/>
        </p:nvSpPr>
        <p:spPr>
          <a:xfrm>
            <a:off x="914400" y="4495800"/>
            <a:ext cx="2952750" cy="4762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Recorded conditions at observed locations and times</a:t>
            </a:r>
            <a:endParaRPr/>
          </a:p>
        </p:txBody>
      </p:sp>
      <p:sp>
        <p:nvSpPr>
          <p:cNvPr id="198" name="Google Shape;198;p9"/>
          <p:cNvSpPr/>
          <p:nvPr/>
        </p:nvSpPr>
        <p:spPr>
          <a:xfrm>
            <a:off x="4419600" y="1790700"/>
            <a:ext cx="3429000" cy="3276600"/>
          </a:xfrm>
          <a:prstGeom prst="rect">
            <a:avLst/>
          </a:prstGeom>
          <a:solidFill>
            <a:srgbClr val="FFF3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9"/>
          <p:cNvSpPr/>
          <p:nvPr/>
        </p:nvSpPr>
        <p:spPr>
          <a:xfrm>
            <a:off x="4648200" y="2019300"/>
            <a:ext cx="952500" cy="8191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4650"/>
              <a:buFont typeface="Lato"/>
              <a:buNone/>
            </a:pPr>
            <a:r>
              <a:rPr b="1" i="0" lang="it-IT" sz="4650">
                <a:solidFill>
                  <a:srgbClr val="F2B632"/>
                </a:solidFill>
                <a:latin typeface="Lato"/>
                <a:ea typeface="Lato"/>
                <a:cs typeface="Lato"/>
                <a:sym typeface="Lato"/>
              </a:rPr>
              <a:t>02</a:t>
            </a:r>
            <a:endParaRPr/>
          </a:p>
        </p:txBody>
      </p:sp>
      <p:sp>
        <p:nvSpPr>
          <p:cNvPr id="200" name="Google Shape;200;p9"/>
          <p:cNvSpPr/>
          <p:nvPr/>
        </p:nvSpPr>
        <p:spPr>
          <a:xfrm>
            <a:off x="4648200" y="2933700"/>
            <a:ext cx="29718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350"/>
              <a:buFont typeface="Lato"/>
              <a:buNone/>
            </a:pPr>
            <a:r>
              <a:rPr b="1" i="0" lang="it-IT" sz="1350">
                <a:solidFill>
                  <a:srgbClr val="F2B632"/>
                </a:solidFill>
                <a:latin typeface="Lato"/>
                <a:ea typeface="Lato"/>
                <a:cs typeface="Lato"/>
                <a:sym typeface="Lato"/>
              </a:rPr>
              <a:t>REANALYSIS</a:t>
            </a:r>
            <a:endParaRPr/>
          </a:p>
        </p:txBody>
      </p:sp>
      <p:sp>
        <p:nvSpPr>
          <p:cNvPr id="201" name="Google Shape;201;p9"/>
          <p:cNvSpPr/>
          <p:nvPr/>
        </p:nvSpPr>
        <p:spPr>
          <a:xfrm>
            <a:off x="4648200" y="3429000"/>
            <a:ext cx="2952750" cy="666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Observations combined with a numerical model</a:t>
            </a:r>
            <a:endParaRPr/>
          </a:p>
        </p:txBody>
      </p:sp>
      <p:sp>
        <p:nvSpPr>
          <p:cNvPr id="202" name="Google Shape;202;p9"/>
          <p:cNvSpPr/>
          <p:nvPr/>
        </p:nvSpPr>
        <p:spPr>
          <a:xfrm>
            <a:off x="4648200" y="4286250"/>
            <a:ext cx="70485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3" name="Google Shape;203;p9"/>
          <p:cNvSpPr/>
          <p:nvPr/>
        </p:nvSpPr>
        <p:spPr>
          <a:xfrm>
            <a:off x="4648200" y="4495800"/>
            <a:ext cx="2952750" cy="4762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A complete gridded reconstruction of past conditions, such as ERA5</a:t>
            </a:r>
            <a:endParaRPr/>
          </a:p>
        </p:txBody>
      </p:sp>
      <p:sp>
        <p:nvSpPr>
          <p:cNvPr id="204" name="Google Shape;204;p9"/>
          <p:cNvSpPr/>
          <p:nvPr/>
        </p:nvSpPr>
        <p:spPr>
          <a:xfrm>
            <a:off x="8153400" y="1790700"/>
            <a:ext cx="3429000" cy="3276600"/>
          </a:xfrm>
          <a:prstGeom prst="rect">
            <a:avLst/>
          </a:prstGeom>
          <a:solidFill>
            <a:srgbClr val="EAF3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5" name="Google Shape;205;p9"/>
          <p:cNvSpPr/>
          <p:nvPr/>
        </p:nvSpPr>
        <p:spPr>
          <a:xfrm>
            <a:off x="8382000" y="2019300"/>
            <a:ext cx="952500" cy="8191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4650"/>
              <a:buFont typeface="Lato"/>
              <a:buNone/>
            </a:pPr>
            <a:r>
              <a:rPr b="1" i="0" lang="it-IT" sz="4650">
                <a:solidFill>
                  <a:srgbClr val="183A59"/>
                </a:solidFill>
                <a:latin typeface="Lato"/>
                <a:ea typeface="Lato"/>
                <a:cs typeface="Lato"/>
                <a:sym typeface="Lato"/>
              </a:rPr>
              <a:t>03</a:t>
            </a:r>
            <a:endParaRPr/>
          </a:p>
        </p:txBody>
      </p:sp>
      <p:sp>
        <p:nvSpPr>
          <p:cNvPr id="206" name="Google Shape;206;p9"/>
          <p:cNvSpPr/>
          <p:nvPr/>
        </p:nvSpPr>
        <p:spPr>
          <a:xfrm>
            <a:off x="8382000" y="2933700"/>
            <a:ext cx="29718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350"/>
              <a:buFont typeface="Lato"/>
              <a:buNone/>
            </a:pPr>
            <a:r>
              <a:rPr b="1" i="0" lang="it-IT" sz="1350">
                <a:solidFill>
                  <a:srgbClr val="183A59"/>
                </a:solidFill>
                <a:latin typeface="Lato"/>
                <a:ea typeface="Lato"/>
                <a:cs typeface="Lato"/>
                <a:sym typeface="Lato"/>
              </a:rPr>
              <a:t>CLIMATE SIMULATIONS</a:t>
            </a:r>
            <a:endParaRPr/>
          </a:p>
        </p:txBody>
      </p:sp>
      <p:sp>
        <p:nvSpPr>
          <p:cNvPr id="207" name="Google Shape;207;p9"/>
          <p:cNvSpPr/>
          <p:nvPr/>
        </p:nvSpPr>
        <p:spPr>
          <a:xfrm>
            <a:off x="8382000" y="3429000"/>
            <a:ext cx="2952750" cy="666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Model experiments under defined scenarios</a:t>
            </a:r>
            <a:endParaRPr/>
          </a:p>
        </p:txBody>
      </p:sp>
      <p:sp>
        <p:nvSpPr>
          <p:cNvPr id="208" name="Google Shape;208;p9"/>
          <p:cNvSpPr/>
          <p:nvPr/>
        </p:nvSpPr>
        <p:spPr>
          <a:xfrm>
            <a:off x="8382000" y="4286250"/>
            <a:ext cx="704850" cy="28575"/>
          </a:xfrm>
          <a:prstGeom prst="rect">
            <a:avLst/>
          </a:prstGeom>
          <a:solidFill>
            <a:srgbClr val="183A59"/>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9" name="Google Shape;209;p9"/>
          <p:cNvSpPr/>
          <p:nvPr/>
        </p:nvSpPr>
        <p:spPr>
          <a:xfrm>
            <a:off x="8382000" y="4495800"/>
            <a:ext cx="2952750" cy="4762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Long-term change under plausible future conditions</a:t>
            </a:r>
            <a:endParaRPr/>
          </a:p>
        </p:txBody>
      </p:sp>
      <p:sp>
        <p:nvSpPr>
          <p:cNvPr id="210" name="Google Shape;210;p9"/>
          <p:cNvSpPr/>
          <p:nvPr/>
        </p:nvSpPr>
        <p:spPr>
          <a:xfrm>
            <a:off x="1752600" y="5381625"/>
            <a:ext cx="8686800" cy="3429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650"/>
              <a:buFont typeface="Lato"/>
              <a:buNone/>
            </a:pPr>
            <a:r>
              <a:rPr b="1" i="0" lang="it-IT" sz="1650">
                <a:solidFill>
                  <a:srgbClr val="12304E"/>
                </a:solidFill>
                <a:latin typeface="Lato"/>
                <a:ea typeface="Lato"/>
                <a:cs typeface="Lato"/>
                <a:sym typeface="Lato"/>
              </a:rPr>
              <a:t>Together, they provide complementary views of the climate system</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215" name="Shape 215"/>
        <p:cNvGrpSpPr/>
        <p:nvPr/>
      </p:nvGrpSpPr>
      <p:grpSpPr>
        <a:xfrm>
          <a:off x="0" y="0"/>
          <a:ext cx="0" cy="0"/>
          <a:chOff x="0" y="0"/>
          <a:chExt cx="0" cy="0"/>
        </a:xfrm>
      </p:grpSpPr>
      <p:sp>
        <p:nvSpPr>
          <p:cNvPr id="216" name="Google Shape;216;p10"/>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Climate projection and weather forecast</a:t>
            </a:r>
            <a:endParaRPr/>
          </a:p>
        </p:txBody>
      </p:sp>
      <p:sp>
        <p:nvSpPr>
          <p:cNvPr id="217" name="Google Shape;217;p10"/>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two products differ in their starting point, time horizon and interpretation</a:t>
            </a:r>
            <a:endParaRPr/>
          </a:p>
        </p:txBody>
      </p:sp>
      <p:sp>
        <p:nvSpPr>
          <p:cNvPr id="218" name="Google Shape;218;p10"/>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10"/>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0" name="Google Shape;220;p10"/>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0"/>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222" name="Google Shape;222;p10"/>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07</a:t>
            </a:r>
            <a:endParaRPr/>
          </a:p>
        </p:txBody>
      </p:sp>
      <p:sp>
        <p:nvSpPr>
          <p:cNvPr id="223" name="Google Shape;223;p10"/>
          <p:cNvSpPr/>
          <p:nvPr/>
        </p:nvSpPr>
        <p:spPr>
          <a:xfrm>
            <a:off x="0" y="1619250"/>
            <a:ext cx="6096000" cy="4095750"/>
          </a:xfrm>
          <a:prstGeom prst="rect">
            <a:avLst/>
          </a:prstGeom>
          <a:solidFill>
            <a:srgbClr val="E7F4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0"/>
          <p:cNvSpPr/>
          <p:nvPr/>
        </p:nvSpPr>
        <p:spPr>
          <a:xfrm>
            <a:off x="6096000" y="1619250"/>
            <a:ext cx="6096000" cy="4095750"/>
          </a:xfrm>
          <a:prstGeom prst="rect">
            <a:avLst/>
          </a:prstGeom>
          <a:solidFill>
            <a:srgbClr val="FFF3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0"/>
          <p:cNvSpPr/>
          <p:nvPr/>
        </p:nvSpPr>
        <p:spPr>
          <a:xfrm>
            <a:off x="800100" y="2000250"/>
            <a:ext cx="42862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275"/>
              <a:buFont typeface="Lato"/>
              <a:buNone/>
            </a:pPr>
            <a:r>
              <a:rPr b="1" i="0" lang="it-IT" sz="1275">
                <a:solidFill>
                  <a:srgbClr val="008D7A"/>
                </a:solidFill>
                <a:latin typeface="Lato"/>
                <a:ea typeface="Lato"/>
                <a:cs typeface="Lato"/>
                <a:sym typeface="Lato"/>
              </a:rPr>
              <a:t>WEATHER FORECAST</a:t>
            </a:r>
            <a:endParaRPr/>
          </a:p>
        </p:txBody>
      </p:sp>
      <p:sp>
        <p:nvSpPr>
          <p:cNvPr id="226" name="Google Shape;226;p10"/>
          <p:cNvSpPr/>
          <p:nvPr/>
        </p:nvSpPr>
        <p:spPr>
          <a:xfrm>
            <a:off x="800100" y="2524125"/>
            <a:ext cx="4476750" cy="647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3225"/>
              <a:buFont typeface="Lato"/>
              <a:buNone/>
            </a:pPr>
            <a:r>
              <a:rPr b="1" i="0" lang="it-IT" sz="3225">
                <a:solidFill>
                  <a:srgbClr val="12304E"/>
                </a:solidFill>
                <a:latin typeface="Lato"/>
                <a:ea typeface="Lato"/>
                <a:cs typeface="Lato"/>
                <a:sym typeface="Lato"/>
              </a:rPr>
              <a:t>DAYS TO WEEKS</a:t>
            </a:r>
            <a:endParaRPr/>
          </a:p>
        </p:txBody>
      </p:sp>
      <p:sp>
        <p:nvSpPr>
          <p:cNvPr id="227" name="Google Shape;227;p10"/>
          <p:cNvSpPr/>
          <p:nvPr/>
        </p:nvSpPr>
        <p:spPr>
          <a:xfrm>
            <a:off x="800100" y="3381375"/>
            <a:ext cx="44767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Begins with the observed state of the atmosphere</a:t>
            </a:r>
            <a:endParaRPr/>
          </a:p>
        </p:txBody>
      </p:sp>
      <p:sp>
        <p:nvSpPr>
          <p:cNvPr id="228" name="Google Shape;228;p10"/>
          <p:cNvSpPr/>
          <p:nvPr/>
        </p:nvSpPr>
        <p:spPr>
          <a:xfrm>
            <a:off x="800100" y="4143375"/>
            <a:ext cx="4381500" cy="8191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Describes the sequence of weather. Skill declines as the forecast horizon increases.</a:t>
            </a:r>
            <a:endParaRPr/>
          </a:p>
        </p:txBody>
      </p:sp>
      <p:sp>
        <p:nvSpPr>
          <p:cNvPr id="229" name="Google Shape;229;p10"/>
          <p:cNvSpPr/>
          <p:nvPr/>
        </p:nvSpPr>
        <p:spPr>
          <a:xfrm>
            <a:off x="6705600" y="2000250"/>
            <a:ext cx="4381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275"/>
              <a:buFont typeface="Lato"/>
              <a:buNone/>
            </a:pPr>
            <a:r>
              <a:rPr b="1" i="0" lang="it-IT" sz="1275">
                <a:solidFill>
                  <a:srgbClr val="F2B632"/>
                </a:solidFill>
                <a:latin typeface="Lato"/>
                <a:ea typeface="Lato"/>
                <a:cs typeface="Lato"/>
                <a:sym typeface="Lato"/>
              </a:rPr>
              <a:t>CLIMATE PROJECTION</a:t>
            </a:r>
            <a:endParaRPr/>
          </a:p>
        </p:txBody>
      </p:sp>
      <p:sp>
        <p:nvSpPr>
          <p:cNvPr id="230" name="Google Shape;230;p10"/>
          <p:cNvSpPr/>
          <p:nvPr/>
        </p:nvSpPr>
        <p:spPr>
          <a:xfrm>
            <a:off x="6705600" y="2524125"/>
            <a:ext cx="4476750" cy="647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3225"/>
              <a:buFont typeface="Lato"/>
              <a:buNone/>
            </a:pPr>
            <a:r>
              <a:rPr b="1" i="0" lang="it-IT" sz="3225">
                <a:solidFill>
                  <a:srgbClr val="12304E"/>
                </a:solidFill>
                <a:latin typeface="Lato"/>
                <a:ea typeface="Lato"/>
                <a:cs typeface="Lato"/>
                <a:sym typeface="Lato"/>
              </a:rPr>
              <a:t>DECADES</a:t>
            </a:r>
            <a:endParaRPr/>
          </a:p>
        </p:txBody>
      </p:sp>
      <p:sp>
        <p:nvSpPr>
          <p:cNvPr id="231" name="Google Shape;231;p10"/>
          <p:cNvSpPr/>
          <p:nvPr/>
        </p:nvSpPr>
        <p:spPr>
          <a:xfrm>
            <a:off x="6705600" y="3381375"/>
            <a:ext cx="44767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Begins with assumptions about future forcing</a:t>
            </a:r>
            <a:endParaRPr/>
          </a:p>
        </p:txBody>
      </p:sp>
      <p:sp>
        <p:nvSpPr>
          <p:cNvPr id="232" name="Google Shape;232;p10"/>
          <p:cNvSpPr/>
          <p:nvPr/>
        </p:nvSpPr>
        <p:spPr>
          <a:xfrm>
            <a:off x="6705600" y="4143375"/>
            <a:ext cx="4381500" cy="81915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Describes climate statistics. It does not predict the weather on a specific future day.</a:t>
            </a:r>
            <a:endParaRPr/>
          </a:p>
        </p:txBody>
      </p:sp>
      <p:sp>
        <p:nvSpPr>
          <p:cNvPr id="233" name="Google Shape;233;p10"/>
          <p:cNvSpPr/>
          <p:nvPr/>
        </p:nvSpPr>
        <p:spPr>
          <a:xfrm>
            <a:off x="5962650" y="1952625"/>
            <a:ext cx="266700" cy="3333750"/>
          </a:xfrm>
          <a:prstGeom prst="rect">
            <a:avLst/>
          </a:prstGeom>
          <a:gradFill>
            <a:gsLst>
              <a:gs pos="0">
                <a:srgbClr val="00A88F">
                  <a:alpha val="0"/>
                </a:srgbClr>
              </a:gs>
              <a:gs pos="50000">
                <a:srgbClr val="12304E">
                  <a:alpha val="34902"/>
                </a:srgbClr>
              </a:gs>
              <a:gs pos="100000">
                <a:srgbClr val="F2B632">
                  <a:alpha val="0"/>
                </a:srgbClr>
              </a:gs>
            </a:gsLst>
            <a:lin ang="540000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0"/>
          <p:cNvSpPr/>
          <p:nvPr/>
        </p:nvSpPr>
        <p:spPr>
          <a:xfrm>
            <a:off x="1562100" y="5381625"/>
            <a:ext cx="9067800" cy="3429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A projection asks what climate could emerge under defined conditions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239" name="Shape 239"/>
        <p:cNvGrpSpPr/>
        <p:nvPr/>
      </p:nvGrpSpPr>
      <p:grpSpPr>
        <a:xfrm>
          <a:off x="0" y="0"/>
          <a:ext cx="0" cy="0"/>
          <a:chOff x="0" y="0"/>
          <a:chExt cx="0" cy="0"/>
        </a:xfrm>
      </p:grpSpPr>
      <p:sp>
        <p:nvSpPr>
          <p:cNvPr id="240" name="Google Shape;240;p11"/>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Why many models and scenarios?</a:t>
            </a:r>
            <a:endParaRPr/>
          </a:p>
        </p:txBody>
      </p:sp>
      <p:sp>
        <p:nvSpPr>
          <p:cNvPr id="241" name="Google Shape;241;p11"/>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Models represent the climate system differently, while scenarios represent alternative future conditions</a:t>
            </a:r>
            <a:endParaRPr/>
          </a:p>
        </p:txBody>
      </p:sp>
      <p:sp>
        <p:nvSpPr>
          <p:cNvPr id="242" name="Google Shape;242;p11"/>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11"/>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1"/>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1"/>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246" name="Google Shape;246;p11"/>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08</a:t>
            </a:r>
            <a:endParaRPr/>
          </a:p>
        </p:txBody>
      </p:sp>
      <p:sp>
        <p:nvSpPr>
          <p:cNvPr id="247" name="Google Shape;247;p11"/>
          <p:cNvSpPr/>
          <p:nvPr/>
        </p:nvSpPr>
        <p:spPr>
          <a:xfrm>
            <a:off x="819150" y="1790700"/>
            <a:ext cx="1809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MODELS</a:t>
            </a:r>
            <a:endParaRPr/>
          </a:p>
        </p:txBody>
      </p:sp>
      <p:sp>
        <p:nvSpPr>
          <p:cNvPr id="248" name="Google Shape;248;p11"/>
          <p:cNvSpPr/>
          <p:nvPr/>
        </p:nvSpPr>
        <p:spPr>
          <a:xfrm>
            <a:off x="819150" y="2171700"/>
            <a:ext cx="4572000" cy="723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57"/>
              <a:buFont typeface="Lato"/>
              <a:buNone/>
            </a:pPr>
            <a:r>
              <a:rPr b="1" i="0" lang="it-IT" sz="1557">
                <a:solidFill>
                  <a:srgbClr val="12304E"/>
                </a:solidFill>
                <a:latin typeface="Lato"/>
                <a:ea typeface="Lato"/>
                <a:cs typeface="Lato"/>
                <a:sym typeface="Lato"/>
              </a:rPr>
              <a:t>Different scientific teams make different choices about how to represent physical processes.</a:t>
            </a:r>
            <a:endParaRPr/>
          </a:p>
        </p:txBody>
      </p:sp>
      <p:sp>
        <p:nvSpPr>
          <p:cNvPr id="249" name="Google Shape;249;p11"/>
          <p:cNvSpPr/>
          <p:nvPr/>
        </p:nvSpPr>
        <p:spPr>
          <a:xfrm>
            <a:off x="819150" y="3143250"/>
            <a:ext cx="4572000" cy="495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A multi-model ensemble samples part of this model uncertainty.</a:t>
            </a:r>
            <a:endParaRPr/>
          </a:p>
        </p:txBody>
      </p:sp>
      <p:sp>
        <p:nvSpPr>
          <p:cNvPr id="250" name="Google Shape;250;p11"/>
          <p:cNvSpPr/>
          <p:nvPr/>
        </p:nvSpPr>
        <p:spPr>
          <a:xfrm>
            <a:off x="6000750" y="1752600"/>
            <a:ext cx="9525" cy="3143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1"/>
          <p:cNvSpPr/>
          <p:nvPr/>
        </p:nvSpPr>
        <p:spPr>
          <a:xfrm>
            <a:off x="6534150" y="1790700"/>
            <a:ext cx="1809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125"/>
              <a:buFont typeface="Lato"/>
              <a:buNone/>
            </a:pPr>
            <a:r>
              <a:rPr b="1" i="0" lang="it-IT" sz="1125">
                <a:solidFill>
                  <a:srgbClr val="F2B632"/>
                </a:solidFill>
                <a:latin typeface="Lato"/>
                <a:ea typeface="Lato"/>
                <a:cs typeface="Lato"/>
                <a:sym typeface="Lato"/>
              </a:rPr>
              <a:t>SCENARIOS</a:t>
            </a:r>
            <a:endParaRPr/>
          </a:p>
        </p:txBody>
      </p:sp>
      <p:sp>
        <p:nvSpPr>
          <p:cNvPr id="252" name="Google Shape;252;p11"/>
          <p:cNvSpPr/>
          <p:nvPr/>
        </p:nvSpPr>
        <p:spPr>
          <a:xfrm>
            <a:off x="6534150" y="2171700"/>
            <a:ext cx="4572000" cy="723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667"/>
              <a:buFont typeface="Lato"/>
              <a:buNone/>
            </a:pPr>
            <a:r>
              <a:rPr b="1" i="0" lang="it-IT" sz="1668">
                <a:solidFill>
                  <a:srgbClr val="12304E"/>
                </a:solidFill>
                <a:latin typeface="Lato"/>
                <a:ea typeface="Lato"/>
                <a:cs typeface="Lato"/>
                <a:sym typeface="Lato"/>
              </a:rPr>
              <a:t>Alternative emissions and land-use pathways produce different levels of climate forcing.</a:t>
            </a:r>
            <a:endParaRPr/>
          </a:p>
        </p:txBody>
      </p:sp>
      <p:sp>
        <p:nvSpPr>
          <p:cNvPr id="253" name="Google Shape;253;p11"/>
          <p:cNvSpPr/>
          <p:nvPr/>
        </p:nvSpPr>
        <p:spPr>
          <a:xfrm>
            <a:off x="6534150" y="3143250"/>
            <a:ext cx="4572000" cy="495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350"/>
              <a:buFont typeface="Lato"/>
              <a:buNone/>
            </a:pPr>
            <a:r>
              <a:rPr b="0" i="0" lang="it-IT" sz="1350">
                <a:solidFill>
                  <a:srgbClr val="687984"/>
                </a:solidFill>
                <a:latin typeface="Lato"/>
                <a:ea typeface="Lato"/>
                <a:cs typeface="Lato"/>
                <a:sym typeface="Lato"/>
              </a:rPr>
              <a:t>CMIP coordinates experiments so results can be compared across models and scenarios.</a:t>
            </a:r>
            <a:endParaRPr/>
          </a:p>
        </p:txBody>
      </p:sp>
      <p:sp>
        <p:nvSpPr>
          <p:cNvPr id="254" name="Google Shape;254;p11"/>
          <p:cNvSpPr/>
          <p:nvPr/>
        </p:nvSpPr>
        <p:spPr>
          <a:xfrm>
            <a:off x="809625" y="4229100"/>
            <a:ext cx="10287000" cy="952500"/>
          </a:xfrm>
          <a:prstGeom prst="roundRect">
            <a:avLst>
              <a:gd fmla="val 8000" name="adj"/>
            </a:avLst>
          </a:prstGeom>
          <a:solidFill>
            <a:srgbClr val="EAF3F8"/>
          </a:solidFill>
          <a:ln cap="flat" cmpd="sng" w="9525">
            <a:solidFill>
              <a:srgbClr val="EAF3F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5" name="Google Shape;255;p11"/>
          <p:cNvSpPr/>
          <p:nvPr/>
        </p:nvSpPr>
        <p:spPr>
          <a:xfrm>
            <a:off x="1028700" y="4457700"/>
            <a:ext cx="223837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Interpret the range</a:t>
            </a:r>
            <a:endParaRPr/>
          </a:p>
        </p:txBody>
      </p:sp>
      <p:sp>
        <p:nvSpPr>
          <p:cNvPr id="256" name="Google Shape;256;p11"/>
          <p:cNvSpPr/>
          <p:nvPr/>
        </p:nvSpPr>
        <p:spPr>
          <a:xfrm>
            <a:off x="3371850" y="4410075"/>
            <a:ext cx="7448550" cy="44767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398"/>
              <a:buFont typeface="Lato"/>
              <a:buNone/>
            </a:pPr>
            <a:r>
              <a:rPr b="0" i="0" lang="it-IT" sz="1399">
                <a:solidFill>
                  <a:srgbClr val="12304E"/>
                </a:solidFill>
                <a:latin typeface="Lato"/>
                <a:ea typeface="Lato"/>
                <a:cs typeface="Lato"/>
                <a:sym typeface="Lato"/>
              </a:rPr>
              <a:t>The spread is information about plausible outcomes, not a reason to select the most convenient model.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261" name="Shape 261"/>
        <p:cNvGrpSpPr/>
        <p:nvPr/>
      </p:nvGrpSpPr>
      <p:grpSpPr>
        <a:xfrm>
          <a:off x="0" y="0"/>
          <a:ext cx="0" cy="0"/>
          <a:chOff x="0" y="0"/>
          <a:chExt cx="0" cy="0"/>
        </a:xfrm>
      </p:grpSpPr>
      <p:sp>
        <p:nvSpPr>
          <p:cNvPr id="262" name="Google Shape;262;p12"/>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From global to regional climate information</a:t>
            </a:r>
            <a:endParaRPr/>
          </a:p>
        </p:txBody>
      </p:sp>
      <p:sp>
        <p:nvSpPr>
          <p:cNvPr id="263" name="Google Shape;263;p12"/>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Regional models add spatial detail within a global model’s large-scale climate</a:t>
            </a:r>
            <a:endParaRPr/>
          </a:p>
        </p:txBody>
      </p:sp>
      <p:sp>
        <p:nvSpPr>
          <p:cNvPr id="264" name="Google Shape;264;p12"/>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12"/>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2"/>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2"/>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268" name="Google Shape;268;p12"/>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09</a:t>
            </a:r>
            <a:endParaRPr/>
          </a:p>
        </p:txBody>
      </p:sp>
      <p:sp>
        <p:nvSpPr>
          <p:cNvPr id="269" name="Google Shape;269;p12"/>
          <p:cNvSpPr/>
          <p:nvPr/>
        </p:nvSpPr>
        <p:spPr>
          <a:xfrm>
            <a:off x="800100" y="1952625"/>
            <a:ext cx="2667000" cy="2333625"/>
          </a:xfrm>
          <a:prstGeom prst="roundRect">
            <a:avLst>
              <a:gd fmla="val 3265"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0" name="Google Shape;270;p12"/>
          <p:cNvSpPr/>
          <p:nvPr/>
        </p:nvSpPr>
        <p:spPr>
          <a:xfrm>
            <a:off x="122872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1" name="Google Shape;271;p12"/>
          <p:cNvSpPr/>
          <p:nvPr/>
        </p:nvSpPr>
        <p:spPr>
          <a:xfrm>
            <a:off x="17430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2" name="Google Shape;272;p12"/>
          <p:cNvSpPr/>
          <p:nvPr/>
        </p:nvSpPr>
        <p:spPr>
          <a:xfrm>
            <a:off x="225742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3" name="Google Shape;273;p12"/>
          <p:cNvSpPr/>
          <p:nvPr/>
        </p:nvSpPr>
        <p:spPr>
          <a:xfrm>
            <a:off x="27717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12"/>
          <p:cNvSpPr/>
          <p:nvPr/>
        </p:nvSpPr>
        <p:spPr>
          <a:xfrm>
            <a:off x="1228725" y="219075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12"/>
          <p:cNvSpPr/>
          <p:nvPr/>
        </p:nvSpPr>
        <p:spPr>
          <a:xfrm>
            <a:off x="1228725" y="270510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6" name="Google Shape;276;p12"/>
          <p:cNvSpPr/>
          <p:nvPr/>
        </p:nvSpPr>
        <p:spPr>
          <a:xfrm>
            <a:off x="1009650" y="3305175"/>
            <a:ext cx="2247900" cy="266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125"/>
              <a:buFont typeface="Lato"/>
              <a:buNone/>
            </a:pPr>
            <a:r>
              <a:rPr b="1" i="0" lang="it-IT" sz="1125">
                <a:solidFill>
                  <a:srgbClr val="12304E"/>
                </a:solidFill>
                <a:latin typeface="Lato"/>
                <a:ea typeface="Lato"/>
                <a:cs typeface="Lato"/>
                <a:sym typeface="Lato"/>
              </a:rPr>
              <a:t>GLOBAL MODEL</a:t>
            </a:r>
            <a:endParaRPr/>
          </a:p>
        </p:txBody>
      </p:sp>
      <p:sp>
        <p:nvSpPr>
          <p:cNvPr id="277" name="Google Shape;277;p12"/>
          <p:cNvSpPr/>
          <p:nvPr/>
        </p:nvSpPr>
        <p:spPr>
          <a:xfrm>
            <a:off x="1009650" y="3667125"/>
            <a:ext cx="2247900" cy="4572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Represents the whole climate system on a global grid</a:t>
            </a:r>
            <a:endParaRPr/>
          </a:p>
        </p:txBody>
      </p:sp>
      <p:sp>
        <p:nvSpPr>
          <p:cNvPr id="278" name="Google Shape;278;p12"/>
          <p:cNvSpPr/>
          <p:nvPr/>
        </p:nvSpPr>
        <p:spPr>
          <a:xfrm>
            <a:off x="3533775" y="2590800"/>
            <a:ext cx="381000" cy="4286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2678"/>
              <a:buFont typeface="Lato"/>
              <a:buNone/>
            </a:pPr>
            <a:r>
              <a:rPr b="1" i="0" lang="it-IT" sz="2679">
                <a:solidFill>
                  <a:srgbClr val="F2B632"/>
                </a:solidFill>
                <a:latin typeface="Lato"/>
                <a:ea typeface="Lato"/>
                <a:cs typeface="Lato"/>
                <a:sym typeface="Lato"/>
              </a:rPr>
              <a:t>›</a:t>
            </a:r>
            <a:endParaRPr/>
          </a:p>
        </p:txBody>
      </p:sp>
      <p:sp>
        <p:nvSpPr>
          <p:cNvPr id="279" name="Google Shape;279;p12"/>
          <p:cNvSpPr/>
          <p:nvPr/>
        </p:nvSpPr>
        <p:spPr>
          <a:xfrm>
            <a:off x="4010025" y="1952625"/>
            <a:ext cx="2667000" cy="2333625"/>
          </a:xfrm>
          <a:prstGeom prst="roundRect">
            <a:avLst>
              <a:gd fmla="val 3265" name="adj"/>
            </a:avLst>
          </a:prstGeom>
          <a:solidFill>
            <a:srgbClr val="E7F4EF"/>
          </a:solidFill>
          <a:ln cap="flat" cmpd="sng" w="9525">
            <a:solidFill>
              <a:srgbClr val="00A88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0" name="Google Shape;280;p12"/>
          <p:cNvSpPr/>
          <p:nvPr/>
        </p:nvSpPr>
        <p:spPr>
          <a:xfrm>
            <a:off x="4438650" y="2190750"/>
            <a:ext cx="9525" cy="857250"/>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12"/>
          <p:cNvSpPr/>
          <p:nvPr/>
        </p:nvSpPr>
        <p:spPr>
          <a:xfrm>
            <a:off x="4838700" y="2190750"/>
            <a:ext cx="9525" cy="857250"/>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2"/>
          <p:cNvSpPr/>
          <p:nvPr/>
        </p:nvSpPr>
        <p:spPr>
          <a:xfrm>
            <a:off x="5238750" y="2190750"/>
            <a:ext cx="9525" cy="857250"/>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3" name="Google Shape;283;p12"/>
          <p:cNvSpPr/>
          <p:nvPr/>
        </p:nvSpPr>
        <p:spPr>
          <a:xfrm>
            <a:off x="5638800" y="2190750"/>
            <a:ext cx="9525" cy="857250"/>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p12"/>
          <p:cNvSpPr/>
          <p:nvPr/>
        </p:nvSpPr>
        <p:spPr>
          <a:xfrm>
            <a:off x="6038850" y="2190750"/>
            <a:ext cx="9525" cy="857250"/>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5" name="Google Shape;285;p12"/>
          <p:cNvSpPr/>
          <p:nvPr/>
        </p:nvSpPr>
        <p:spPr>
          <a:xfrm>
            <a:off x="4438650" y="2190750"/>
            <a:ext cx="1809750" cy="9525"/>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12"/>
          <p:cNvSpPr/>
          <p:nvPr/>
        </p:nvSpPr>
        <p:spPr>
          <a:xfrm>
            <a:off x="4438650" y="2590800"/>
            <a:ext cx="1809750" cy="9525"/>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12"/>
          <p:cNvSpPr/>
          <p:nvPr/>
        </p:nvSpPr>
        <p:spPr>
          <a:xfrm>
            <a:off x="4438650" y="2990850"/>
            <a:ext cx="1809750" cy="9525"/>
          </a:xfrm>
          <a:prstGeom prst="rect">
            <a:avLst/>
          </a:prstGeom>
          <a:solidFill>
            <a:srgbClr val="8FCFC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8" name="Google Shape;288;p12"/>
          <p:cNvSpPr/>
          <p:nvPr/>
        </p:nvSpPr>
        <p:spPr>
          <a:xfrm>
            <a:off x="4219575" y="3305175"/>
            <a:ext cx="2247900" cy="266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8D7A"/>
              </a:buClr>
              <a:buSzPts val="1125"/>
              <a:buFont typeface="Lato"/>
              <a:buNone/>
            </a:pPr>
            <a:r>
              <a:rPr b="1" i="0" lang="it-IT" sz="1125">
                <a:solidFill>
                  <a:srgbClr val="008D7A"/>
                </a:solidFill>
                <a:latin typeface="Lato"/>
                <a:ea typeface="Lato"/>
                <a:cs typeface="Lato"/>
                <a:sym typeface="Lato"/>
              </a:rPr>
              <a:t>REGIONAL MODEL</a:t>
            </a:r>
            <a:endParaRPr/>
          </a:p>
        </p:txBody>
      </p:sp>
      <p:sp>
        <p:nvSpPr>
          <p:cNvPr id="289" name="Google Shape;289;p12"/>
          <p:cNvSpPr/>
          <p:nvPr/>
        </p:nvSpPr>
        <p:spPr>
          <a:xfrm>
            <a:off x="4219575" y="3667125"/>
            <a:ext cx="2247900" cy="4572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Uses global-model boundary conditions over a defined region</a:t>
            </a:r>
            <a:endParaRPr/>
          </a:p>
        </p:txBody>
      </p:sp>
      <p:sp>
        <p:nvSpPr>
          <p:cNvPr id="290" name="Google Shape;290;p12"/>
          <p:cNvSpPr/>
          <p:nvPr/>
        </p:nvSpPr>
        <p:spPr>
          <a:xfrm>
            <a:off x="6743700" y="2590800"/>
            <a:ext cx="381000" cy="4286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2678"/>
              <a:buFont typeface="Lato"/>
              <a:buNone/>
            </a:pPr>
            <a:r>
              <a:rPr b="1" i="0" lang="it-IT" sz="2679">
                <a:solidFill>
                  <a:srgbClr val="F2B632"/>
                </a:solidFill>
                <a:latin typeface="Lato"/>
                <a:ea typeface="Lato"/>
                <a:cs typeface="Lato"/>
                <a:sym typeface="Lato"/>
              </a:rPr>
              <a:t>›</a:t>
            </a:r>
            <a:endParaRPr/>
          </a:p>
        </p:txBody>
      </p:sp>
      <p:sp>
        <p:nvSpPr>
          <p:cNvPr id="291" name="Google Shape;291;p12"/>
          <p:cNvSpPr/>
          <p:nvPr/>
        </p:nvSpPr>
        <p:spPr>
          <a:xfrm>
            <a:off x="7219950" y="1952625"/>
            <a:ext cx="2667000" cy="2333625"/>
          </a:xfrm>
          <a:prstGeom prst="roundRect">
            <a:avLst>
              <a:gd fmla="val 3265"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12"/>
          <p:cNvSpPr/>
          <p:nvPr/>
        </p:nvSpPr>
        <p:spPr>
          <a:xfrm>
            <a:off x="76485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3" name="Google Shape;293;p12"/>
          <p:cNvSpPr/>
          <p:nvPr/>
        </p:nvSpPr>
        <p:spPr>
          <a:xfrm>
            <a:off x="793432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4" name="Google Shape;294;p12"/>
          <p:cNvSpPr/>
          <p:nvPr/>
        </p:nvSpPr>
        <p:spPr>
          <a:xfrm>
            <a:off x="82200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12"/>
          <p:cNvSpPr/>
          <p:nvPr/>
        </p:nvSpPr>
        <p:spPr>
          <a:xfrm>
            <a:off x="850582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12"/>
          <p:cNvSpPr/>
          <p:nvPr/>
        </p:nvSpPr>
        <p:spPr>
          <a:xfrm>
            <a:off x="87915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7" name="Google Shape;297;p12"/>
          <p:cNvSpPr/>
          <p:nvPr/>
        </p:nvSpPr>
        <p:spPr>
          <a:xfrm>
            <a:off x="907732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8" name="Google Shape;298;p12"/>
          <p:cNvSpPr/>
          <p:nvPr/>
        </p:nvSpPr>
        <p:spPr>
          <a:xfrm>
            <a:off x="9363075" y="2190750"/>
            <a:ext cx="9525" cy="8572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12"/>
          <p:cNvSpPr/>
          <p:nvPr/>
        </p:nvSpPr>
        <p:spPr>
          <a:xfrm>
            <a:off x="7648575" y="219075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12"/>
          <p:cNvSpPr/>
          <p:nvPr/>
        </p:nvSpPr>
        <p:spPr>
          <a:xfrm>
            <a:off x="7648575" y="247650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1" name="Google Shape;301;p12"/>
          <p:cNvSpPr/>
          <p:nvPr/>
        </p:nvSpPr>
        <p:spPr>
          <a:xfrm>
            <a:off x="7648575" y="276225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2" name="Google Shape;302;p12"/>
          <p:cNvSpPr/>
          <p:nvPr/>
        </p:nvSpPr>
        <p:spPr>
          <a:xfrm>
            <a:off x="7648575" y="3048000"/>
            <a:ext cx="18097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3" name="Google Shape;303;p12"/>
          <p:cNvSpPr/>
          <p:nvPr/>
        </p:nvSpPr>
        <p:spPr>
          <a:xfrm>
            <a:off x="7429500" y="3305175"/>
            <a:ext cx="2247900" cy="266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125"/>
              <a:buFont typeface="Lato"/>
              <a:buNone/>
            </a:pPr>
            <a:r>
              <a:rPr b="1" i="0" lang="it-IT" sz="1125">
                <a:solidFill>
                  <a:srgbClr val="12304E"/>
                </a:solidFill>
                <a:latin typeface="Lato"/>
                <a:ea typeface="Lato"/>
                <a:cs typeface="Lato"/>
                <a:sym typeface="Lato"/>
              </a:rPr>
              <a:t>REGIONAL INFORMATION</a:t>
            </a:r>
            <a:endParaRPr/>
          </a:p>
        </p:txBody>
      </p:sp>
      <p:sp>
        <p:nvSpPr>
          <p:cNvPr id="304" name="Google Shape;304;p12"/>
          <p:cNvSpPr/>
          <p:nvPr/>
        </p:nvSpPr>
        <p:spPr>
          <a:xfrm>
            <a:off x="7429500" y="3667125"/>
            <a:ext cx="2247900" cy="4572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25"/>
              <a:buFont typeface="Lato"/>
              <a:buNone/>
            </a:pPr>
            <a:r>
              <a:rPr b="0" i="0" lang="it-IT" sz="1125">
                <a:solidFill>
                  <a:srgbClr val="687984"/>
                </a:solidFill>
                <a:latin typeface="Lato"/>
                <a:ea typeface="Lato"/>
                <a:cs typeface="Lato"/>
                <a:sym typeface="Lato"/>
              </a:rPr>
              <a:t>Resolves more regional features at finer grid spacing</a:t>
            </a:r>
            <a:endParaRPr/>
          </a:p>
        </p:txBody>
      </p:sp>
      <p:sp>
        <p:nvSpPr>
          <p:cNvPr id="305" name="Google Shape;305;p12"/>
          <p:cNvSpPr/>
          <p:nvPr/>
        </p:nvSpPr>
        <p:spPr>
          <a:xfrm>
            <a:off x="9906000" y="1952625"/>
            <a:ext cx="1600200" cy="2333625"/>
          </a:xfrm>
          <a:prstGeom prst="roundRect">
            <a:avLst>
              <a:gd fmla="val 4762" name="adj"/>
            </a:avLst>
          </a:prstGeom>
          <a:solidFill>
            <a:srgbClr val="FFF3D1"/>
          </a:solidFill>
          <a:ln cap="flat" cmpd="sng" w="9525">
            <a:solidFill>
              <a:srgbClr val="F2B63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6" name="Google Shape;306;p12"/>
          <p:cNvSpPr/>
          <p:nvPr/>
        </p:nvSpPr>
        <p:spPr>
          <a:xfrm>
            <a:off x="10048875" y="2324100"/>
            <a:ext cx="1314450" cy="3048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CORDEX-CORE</a:t>
            </a:r>
            <a:endParaRPr/>
          </a:p>
        </p:txBody>
      </p:sp>
      <p:sp>
        <p:nvSpPr>
          <p:cNvPr id="307" name="Google Shape;307;p12"/>
          <p:cNvSpPr/>
          <p:nvPr/>
        </p:nvSpPr>
        <p:spPr>
          <a:xfrm>
            <a:off x="10067925" y="2876550"/>
            <a:ext cx="1276350" cy="9906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125"/>
              <a:buFont typeface="Lato"/>
              <a:buNone/>
            </a:pPr>
            <a:r>
              <a:rPr b="0" i="0" lang="it-IT" sz="1125">
                <a:solidFill>
                  <a:srgbClr val="12304E"/>
                </a:solidFill>
                <a:latin typeface="Lato"/>
                <a:ea typeface="Lato"/>
                <a:cs typeface="Lato"/>
                <a:sym typeface="Lato"/>
              </a:rPr>
              <a:t>Coordinated regional simulations at about 25 km for major inhabited regions</a:t>
            </a:r>
            <a:endParaRPr/>
          </a:p>
        </p:txBody>
      </p:sp>
      <p:sp>
        <p:nvSpPr>
          <p:cNvPr id="308" name="Google Shape;308;p12"/>
          <p:cNvSpPr/>
          <p:nvPr/>
        </p:nvSpPr>
        <p:spPr>
          <a:xfrm>
            <a:off x="1571625" y="5010150"/>
            <a:ext cx="9048750" cy="48577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More detail does not remove uncertainty. It changes what regional processes and patterns the model can represent.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313" name="Shape 313"/>
        <p:cNvGrpSpPr/>
        <p:nvPr/>
      </p:nvGrpSpPr>
      <p:grpSpPr>
        <a:xfrm>
          <a:off x="0" y="0"/>
          <a:ext cx="0" cy="0"/>
          <a:chOff x="0" y="0"/>
          <a:chExt cx="0" cy="0"/>
        </a:xfrm>
      </p:grpSpPr>
      <p:sp>
        <p:nvSpPr>
          <p:cNvPr id="314" name="Google Shape;314;p13"/>
          <p:cNvSpPr/>
          <p:nvPr/>
        </p:nvSpPr>
        <p:spPr>
          <a:xfrm>
            <a:off x="647700" y="400050"/>
            <a:ext cx="10839600" cy="514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lang="it-IT" sz="2250">
                <a:solidFill>
                  <a:srgbClr val="12304E"/>
                </a:solidFill>
                <a:latin typeface="Lato"/>
                <a:ea typeface="Lato"/>
                <a:cs typeface="Lato"/>
                <a:sym typeface="Lato"/>
              </a:rPr>
              <a:t>Where do we find climate information?</a:t>
            </a:r>
            <a:endParaRPr/>
          </a:p>
        </p:txBody>
      </p:sp>
      <p:sp>
        <p:nvSpPr>
          <p:cNvPr id="315" name="Google Shape;315;p13"/>
          <p:cNvSpPr/>
          <p:nvPr/>
        </p:nvSpPr>
        <p:spPr>
          <a:xfrm>
            <a:off x="657225" y="962025"/>
            <a:ext cx="10572900" cy="2478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Regional models add spatial detail within a global model’s large-scale climate</a:t>
            </a:r>
            <a:endParaRPr/>
          </a:p>
        </p:txBody>
      </p:sp>
      <p:sp>
        <p:nvSpPr>
          <p:cNvPr id="316" name="Google Shape;316;p13"/>
          <p:cNvSpPr/>
          <p:nvPr/>
        </p:nvSpPr>
        <p:spPr>
          <a:xfrm>
            <a:off x="647700" y="1295400"/>
            <a:ext cx="10896600" cy="96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7" name="Google Shape;317;p13"/>
          <p:cNvSpPr/>
          <p:nvPr/>
        </p:nvSpPr>
        <p:spPr>
          <a:xfrm>
            <a:off x="666750" y="1419225"/>
            <a:ext cx="952500" cy="285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8" name="Google Shape;318;p13"/>
          <p:cNvSpPr/>
          <p:nvPr/>
        </p:nvSpPr>
        <p:spPr>
          <a:xfrm>
            <a:off x="609600" y="6229350"/>
            <a:ext cx="11125200" cy="96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9" name="Google Shape;319;p13"/>
          <p:cNvSpPr/>
          <p:nvPr/>
        </p:nvSpPr>
        <p:spPr>
          <a:xfrm>
            <a:off x="647700" y="6343650"/>
            <a:ext cx="4000500" cy="17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320" name="Google Shape;320;p13"/>
          <p:cNvSpPr/>
          <p:nvPr/>
        </p:nvSpPr>
        <p:spPr>
          <a:xfrm>
            <a:off x="11096625" y="6343650"/>
            <a:ext cx="523800" cy="1716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09</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304E"/>
        </a:solidFill>
      </p:bgPr>
    </p:bg>
    <p:spTree>
      <p:nvGrpSpPr>
        <p:cNvPr id="325" name="Shape 325"/>
        <p:cNvGrpSpPr/>
        <p:nvPr/>
      </p:nvGrpSpPr>
      <p:grpSpPr>
        <a:xfrm>
          <a:off x="0" y="0"/>
          <a:ext cx="0" cy="0"/>
          <a:chOff x="0" y="0"/>
          <a:chExt cx="0" cy="0"/>
        </a:xfrm>
      </p:grpSpPr>
      <p:sp>
        <p:nvSpPr>
          <p:cNvPr id="326" name="Google Shape;326;p14"/>
          <p:cNvSpPr/>
          <p:nvPr/>
        </p:nvSpPr>
        <p:spPr>
          <a:xfrm>
            <a:off x="0" y="0"/>
            <a:ext cx="7620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14"/>
          <p:cNvSpPr/>
          <p:nvPr/>
        </p:nvSpPr>
        <p:spPr>
          <a:xfrm>
            <a:off x="762000" y="762000"/>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8" name="Google Shape;328;p14"/>
          <p:cNvSpPr/>
          <p:nvPr/>
        </p:nvSpPr>
        <p:spPr>
          <a:xfrm>
            <a:off x="762000" y="1714500"/>
            <a:ext cx="9144000" cy="114300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FFFFFF"/>
              </a:buClr>
              <a:buSzPts val="3225"/>
              <a:buFont typeface="Lato"/>
              <a:buNone/>
            </a:pPr>
            <a:r>
              <a:rPr b="1" i="0" lang="it-IT" sz="3225">
                <a:solidFill>
                  <a:srgbClr val="FFFFFF"/>
                </a:solidFill>
                <a:latin typeface="Lato"/>
                <a:ea typeface="Lato"/>
                <a:cs typeface="Lato"/>
                <a:sym typeface="Lato"/>
              </a:rPr>
              <a:t>From climate-model output to usable information</a:t>
            </a:r>
            <a:endParaRPr/>
          </a:p>
        </p:txBody>
      </p:sp>
      <p:sp>
        <p:nvSpPr>
          <p:cNvPr id="329" name="Google Shape;329;p14"/>
          <p:cNvSpPr/>
          <p:nvPr/>
        </p:nvSpPr>
        <p:spPr>
          <a:xfrm>
            <a:off x="781050" y="3143250"/>
            <a:ext cx="876300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7E5EC"/>
              </a:buClr>
              <a:buSzPts val="1650"/>
              <a:buFont typeface="Lato"/>
              <a:buNone/>
            </a:pPr>
            <a:r>
              <a:rPr b="0" i="0" lang="it-IT" sz="1650">
                <a:solidFill>
                  <a:srgbClr val="D7E5EC"/>
                </a:solidFill>
                <a:latin typeface="Lato"/>
                <a:ea typeface="Lato"/>
                <a:cs typeface="Lato"/>
                <a:sym typeface="Lato"/>
              </a:rPr>
              <a:t>The next steps address data complexity, model bias, uncertainty and the translation from variables to indicators.</a:t>
            </a:r>
            <a:endParaRPr/>
          </a:p>
        </p:txBody>
      </p:sp>
      <p:sp>
        <p:nvSpPr>
          <p:cNvPr id="330" name="Google Shape;330;p14"/>
          <p:cNvSpPr/>
          <p:nvPr/>
        </p:nvSpPr>
        <p:spPr>
          <a:xfrm>
            <a:off x="781050" y="4953000"/>
            <a:ext cx="400050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RICCARDO · 30 MINUTES</a:t>
            </a:r>
            <a:endParaRPr/>
          </a:p>
        </p:txBody>
      </p:sp>
      <p:sp>
        <p:nvSpPr>
          <p:cNvPr id="331" name="Google Shape;331;p14"/>
          <p:cNvSpPr/>
          <p:nvPr/>
        </p:nvSpPr>
        <p:spPr>
          <a:xfrm>
            <a:off x="781050" y="5905500"/>
            <a:ext cx="4953000" cy="9525"/>
          </a:xfrm>
          <a:prstGeom prst="rect">
            <a:avLst/>
          </a:prstGeom>
          <a:solidFill>
            <a:srgbClr val="61788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2" name="Google Shape;332;p14"/>
          <p:cNvSpPr/>
          <p:nvPr/>
        </p:nvSpPr>
        <p:spPr>
          <a:xfrm>
            <a:off x="11049000" y="6324600"/>
            <a:ext cx="571500"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B6C5CF"/>
              </a:buClr>
              <a:buSzPts val="750"/>
              <a:buFont typeface="Lato"/>
              <a:buNone/>
            </a:pPr>
            <a:r>
              <a:rPr b="0" i="0" lang="it-IT" sz="750">
                <a:solidFill>
                  <a:srgbClr val="B6C5CF"/>
                </a:solidFill>
                <a:latin typeface="Lato"/>
                <a:ea typeface="Lato"/>
                <a:cs typeface="Lato"/>
                <a:sym typeface="Lato"/>
              </a:rPr>
              <a:t>10</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337" name="Shape 337"/>
        <p:cNvGrpSpPr/>
        <p:nvPr/>
      </p:nvGrpSpPr>
      <p:grpSpPr>
        <a:xfrm>
          <a:off x="0" y="0"/>
          <a:ext cx="0" cy="0"/>
          <a:chOff x="0" y="0"/>
          <a:chExt cx="0" cy="0"/>
        </a:xfrm>
      </p:grpSpPr>
      <p:sp>
        <p:nvSpPr>
          <p:cNvPr id="338" name="Google Shape;338;p15"/>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A simple question can require a complex dataset</a:t>
            </a:r>
            <a:endParaRPr/>
          </a:p>
        </p:txBody>
      </p:sp>
      <p:sp>
        <p:nvSpPr>
          <p:cNvPr id="339" name="Google Shape;339;p15"/>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analytical workload grows quickly across dimensions</a:t>
            </a:r>
            <a:endParaRPr/>
          </a:p>
        </p:txBody>
      </p:sp>
      <p:sp>
        <p:nvSpPr>
          <p:cNvPr id="340" name="Google Shape;340;p15"/>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15"/>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2" name="Google Shape;342;p15"/>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3" name="Google Shape;343;p15"/>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344" name="Google Shape;344;p15"/>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11</a:t>
            </a:r>
            <a:endParaRPr/>
          </a:p>
        </p:txBody>
      </p:sp>
      <p:sp>
        <p:nvSpPr>
          <p:cNvPr id="345" name="Google Shape;345;p15"/>
          <p:cNvSpPr/>
          <p:nvPr/>
        </p:nvSpPr>
        <p:spPr>
          <a:xfrm>
            <a:off x="666750" y="1695450"/>
            <a:ext cx="3429000" cy="3810000"/>
          </a:xfrm>
          <a:prstGeom prst="rect">
            <a:avLst/>
          </a:prstGeom>
          <a:solidFill>
            <a:srgbClr val="12304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6" name="Google Shape;346;p15"/>
          <p:cNvSpPr/>
          <p:nvPr/>
        </p:nvSpPr>
        <p:spPr>
          <a:xfrm>
            <a:off x="971550" y="1924050"/>
            <a:ext cx="1524000" cy="1162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7200"/>
              <a:buFont typeface="Lato"/>
              <a:buNone/>
            </a:pPr>
            <a:r>
              <a:rPr b="1" i="0" lang="it-IT" sz="7200">
                <a:solidFill>
                  <a:srgbClr val="F2B632"/>
                </a:solidFill>
                <a:latin typeface="Lato"/>
                <a:ea typeface="Lato"/>
                <a:cs typeface="Lato"/>
                <a:sym typeface="Lato"/>
              </a:rPr>
              <a:t>6</a:t>
            </a:r>
            <a:endParaRPr/>
          </a:p>
        </p:txBody>
      </p:sp>
      <p:sp>
        <p:nvSpPr>
          <p:cNvPr id="347" name="Google Shape;347;p15"/>
          <p:cNvSpPr/>
          <p:nvPr/>
        </p:nvSpPr>
        <p:spPr>
          <a:xfrm>
            <a:off x="1028700" y="3028950"/>
            <a:ext cx="238125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2400"/>
              <a:buFont typeface="Lato"/>
              <a:buNone/>
            </a:pPr>
            <a:r>
              <a:rPr b="1" i="0" lang="it-IT" sz="2400">
                <a:solidFill>
                  <a:srgbClr val="FFFFFF"/>
                </a:solidFill>
                <a:latin typeface="Lato"/>
                <a:ea typeface="Lato"/>
                <a:cs typeface="Lato"/>
                <a:sym typeface="Lato"/>
              </a:rPr>
              <a:t>dimensions</a:t>
            </a:r>
            <a:endParaRPr/>
          </a:p>
        </p:txBody>
      </p:sp>
      <p:sp>
        <p:nvSpPr>
          <p:cNvPr id="348" name="Google Shape;348;p15"/>
          <p:cNvSpPr/>
          <p:nvPr/>
        </p:nvSpPr>
        <p:spPr>
          <a:xfrm>
            <a:off x="1028700" y="3676650"/>
            <a:ext cx="2333625" cy="7429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D7E5EC"/>
              </a:buClr>
              <a:buSzPts val="1650"/>
              <a:buFont typeface="Lato"/>
              <a:buNone/>
            </a:pPr>
            <a:r>
              <a:rPr b="0" i="0" lang="it-IT" sz="1650">
                <a:solidFill>
                  <a:srgbClr val="D7E5EC"/>
                </a:solidFill>
                <a:latin typeface="Lato"/>
                <a:ea typeface="Lato"/>
                <a:cs typeface="Lato"/>
                <a:sym typeface="Lato"/>
              </a:rPr>
              <a:t>must align before analysis</a:t>
            </a:r>
            <a:endParaRPr/>
          </a:p>
        </p:txBody>
      </p:sp>
      <p:sp>
        <p:nvSpPr>
          <p:cNvPr id="349" name="Google Shape;349;p15"/>
          <p:cNvSpPr/>
          <p:nvPr/>
        </p:nvSpPr>
        <p:spPr>
          <a:xfrm>
            <a:off x="1028700" y="4762500"/>
            <a:ext cx="2047875" cy="2857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15"/>
          <p:cNvSpPr/>
          <p:nvPr/>
        </p:nvSpPr>
        <p:spPr>
          <a:xfrm>
            <a:off x="1028700" y="4972050"/>
            <a:ext cx="2286000" cy="34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50"/>
              <a:buFont typeface="Lato"/>
              <a:buNone/>
            </a:pPr>
            <a:r>
              <a:rPr b="1" i="0" lang="it-IT" sz="1050">
                <a:solidFill>
                  <a:srgbClr val="FFFFFF"/>
                </a:solidFill>
                <a:latin typeface="Lato"/>
                <a:ea typeface="Lato"/>
                <a:cs typeface="Lato"/>
                <a:sym typeface="Lato"/>
              </a:rPr>
              <a:t>Subset, harmonize and combine</a:t>
            </a:r>
            <a:endParaRPr/>
          </a:p>
        </p:txBody>
      </p:sp>
      <p:sp>
        <p:nvSpPr>
          <p:cNvPr id="351" name="Google Shape;351;p15"/>
          <p:cNvSpPr/>
          <p:nvPr/>
        </p:nvSpPr>
        <p:spPr>
          <a:xfrm>
            <a:off x="4572000" y="1781175"/>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01</a:t>
            </a:r>
            <a:endParaRPr/>
          </a:p>
        </p:txBody>
      </p:sp>
      <p:sp>
        <p:nvSpPr>
          <p:cNvPr id="352" name="Google Shape;352;p15"/>
          <p:cNvSpPr/>
          <p:nvPr/>
        </p:nvSpPr>
        <p:spPr>
          <a:xfrm>
            <a:off x="5162550" y="1743075"/>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MODELS</a:t>
            </a:r>
            <a:endParaRPr/>
          </a:p>
        </p:txBody>
      </p:sp>
      <p:sp>
        <p:nvSpPr>
          <p:cNvPr id="353" name="Google Shape;353;p15"/>
          <p:cNvSpPr/>
          <p:nvPr/>
        </p:nvSpPr>
        <p:spPr>
          <a:xfrm>
            <a:off x="6953250" y="1743075"/>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Several GCM–RCM combinations</a:t>
            </a:r>
            <a:endParaRPr/>
          </a:p>
        </p:txBody>
      </p:sp>
      <p:sp>
        <p:nvSpPr>
          <p:cNvPr id="354" name="Google Shape;354;p15"/>
          <p:cNvSpPr/>
          <p:nvPr/>
        </p:nvSpPr>
        <p:spPr>
          <a:xfrm>
            <a:off x="4572000" y="2190750"/>
            <a:ext cx="6667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15"/>
          <p:cNvSpPr/>
          <p:nvPr/>
        </p:nvSpPr>
        <p:spPr>
          <a:xfrm>
            <a:off x="4572000" y="2400300"/>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02</a:t>
            </a:r>
            <a:endParaRPr/>
          </a:p>
        </p:txBody>
      </p:sp>
      <p:sp>
        <p:nvSpPr>
          <p:cNvPr id="356" name="Google Shape;356;p15"/>
          <p:cNvSpPr/>
          <p:nvPr/>
        </p:nvSpPr>
        <p:spPr>
          <a:xfrm>
            <a:off x="5162550" y="236220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SCENARIOS</a:t>
            </a:r>
            <a:endParaRPr/>
          </a:p>
        </p:txBody>
      </p:sp>
      <p:sp>
        <p:nvSpPr>
          <p:cNvPr id="357" name="Google Shape;357;p15"/>
          <p:cNvSpPr/>
          <p:nvPr/>
        </p:nvSpPr>
        <p:spPr>
          <a:xfrm>
            <a:off x="6953250" y="2362200"/>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Alternative future pathways</a:t>
            </a:r>
            <a:endParaRPr/>
          </a:p>
        </p:txBody>
      </p:sp>
      <p:sp>
        <p:nvSpPr>
          <p:cNvPr id="358" name="Google Shape;358;p15"/>
          <p:cNvSpPr/>
          <p:nvPr/>
        </p:nvSpPr>
        <p:spPr>
          <a:xfrm>
            <a:off x="4572000" y="2809875"/>
            <a:ext cx="6667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9" name="Google Shape;359;p15"/>
          <p:cNvSpPr/>
          <p:nvPr/>
        </p:nvSpPr>
        <p:spPr>
          <a:xfrm>
            <a:off x="4572000" y="3019425"/>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03</a:t>
            </a:r>
            <a:endParaRPr/>
          </a:p>
        </p:txBody>
      </p:sp>
      <p:sp>
        <p:nvSpPr>
          <p:cNvPr id="360" name="Google Shape;360;p15"/>
          <p:cNvSpPr/>
          <p:nvPr/>
        </p:nvSpPr>
        <p:spPr>
          <a:xfrm>
            <a:off x="5162550" y="2981325"/>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VARIABLES</a:t>
            </a:r>
            <a:endParaRPr/>
          </a:p>
        </p:txBody>
      </p:sp>
      <p:sp>
        <p:nvSpPr>
          <p:cNvPr id="361" name="Google Shape;361;p15"/>
          <p:cNvSpPr/>
          <p:nvPr/>
        </p:nvSpPr>
        <p:spPr>
          <a:xfrm>
            <a:off x="6953250" y="2981325"/>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Temperature, precipitation and more</a:t>
            </a:r>
            <a:endParaRPr/>
          </a:p>
        </p:txBody>
      </p:sp>
      <p:sp>
        <p:nvSpPr>
          <p:cNvPr id="362" name="Google Shape;362;p15"/>
          <p:cNvSpPr/>
          <p:nvPr/>
        </p:nvSpPr>
        <p:spPr>
          <a:xfrm>
            <a:off x="4572000" y="3429000"/>
            <a:ext cx="6667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15"/>
          <p:cNvSpPr/>
          <p:nvPr/>
        </p:nvSpPr>
        <p:spPr>
          <a:xfrm>
            <a:off x="4572000" y="3638550"/>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04</a:t>
            </a:r>
            <a:endParaRPr/>
          </a:p>
        </p:txBody>
      </p:sp>
      <p:sp>
        <p:nvSpPr>
          <p:cNvPr id="364" name="Google Shape;364;p15"/>
          <p:cNvSpPr/>
          <p:nvPr/>
        </p:nvSpPr>
        <p:spPr>
          <a:xfrm>
            <a:off x="5162550" y="360045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TIME</a:t>
            </a:r>
            <a:endParaRPr/>
          </a:p>
        </p:txBody>
      </p:sp>
      <p:sp>
        <p:nvSpPr>
          <p:cNvPr id="365" name="Google Shape;365;p15"/>
          <p:cNvSpPr/>
          <p:nvPr/>
        </p:nvSpPr>
        <p:spPr>
          <a:xfrm>
            <a:off x="6953250" y="3600450"/>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Historical and future periods</a:t>
            </a:r>
            <a:endParaRPr/>
          </a:p>
        </p:txBody>
      </p:sp>
      <p:sp>
        <p:nvSpPr>
          <p:cNvPr id="366" name="Google Shape;366;p15"/>
          <p:cNvSpPr/>
          <p:nvPr/>
        </p:nvSpPr>
        <p:spPr>
          <a:xfrm>
            <a:off x="4572000" y="4048125"/>
            <a:ext cx="6667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7" name="Google Shape;367;p15"/>
          <p:cNvSpPr/>
          <p:nvPr/>
        </p:nvSpPr>
        <p:spPr>
          <a:xfrm>
            <a:off x="4572000" y="4257675"/>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05</a:t>
            </a:r>
            <a:endParaRPr/>
          </a:p>
        </p:txBody>
      </p:sp>
      <p:sp>
        <p:nvSpPr>
          <p:cNvPr id="368" name="Google Shape;368;p15"/>
          <p:cNvSpPr/>
          <p:nvPr/>
        </p:nvSpPr>
        <p:spPr>
          <a:xfrm>
            <a:off x="5162550" y="4219575"/>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SPACE</a:t>
            </a:r>
            <a:endParaRPr/>
          </a:p>
        </p:txBody>
      </p:sp>
      <p:sp>
        <p:nvSpPr>
          <p:cNvPr id="369" name="Google Shape;369;p15"/>
          <p:cNvSpPr/>
          <p:nvPr/>
        </p:nvSpPr>
        <p:spPr>
          <a:xfrm>
            <a:off x="6953250" y="4219575"/>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Domains, grids and project boundaries</a:t>
            </a:r>
            <a:endParaRPr/>
          </a:p>
        </p:txBody>
      </p:sp>
      <p:sp>
        <p:nvSpPr>
          <p:cNvPr id="370" name="Google Shape;370;p15"/>
          <p:cNvSpPr/>
          <p:nvPr/>
        </p:nvSpPr>
        <p:spPr>
          <a:xfrm>
            <a:off x="4572000" y="4667250"/>
            <a:ext cx="6667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5"/>
          <p:cNvSpPr/>
          <p:nvPr/>
        </p:nvSpPr>
        <p:spPr>
          <a:xfrm>
            <a:off x="4572000" y="4876800"/>
            <a:ext cx="4381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06</a:t>
            </a:r>
            <a:endParaRPr/>
          </a:p>
        </p:txBody>
      </p:sp>
      <p:sp>
        <p:nvSpPr>
          <p:cNvPr id="372" name="Google Shape;372;p15"/>
          <p:cNvSpPr/>
          <p:nvPr/>
        </p:nvSpPr>
        <p:spPr>
          <a:xfrm>
            <a:off x="5162550" y="483870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FORMATS</a:t>
            </a:r>
            <a:endParaRPr/>
          </a:p>
        </p:txBody>
      </p:sp>
      <p:sp>
        <p:nvSpPr>
          <p:cNvPr id="373" name="Google Shape;373;p15"/>
          <p:cNvSpPr/>
          <p:nvPr/>
        </p:nvSpPr>
        <p:spPr>
          <a:xfrm>
            <a:off x="6953250" y="4838700"/>
            <a:ext cx="4286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Units, calendars and file conventions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378" name="Shape 378"/>
        <p:cNvGrpSpPr/>
        <p:nvPr/>
      </p:nvGrpSpPr>
      <p:grpSpPr>
        <a:xfrm>
          <a:off x="0" y="0"/>
          <a:ext cx="0" cy="0"/>
          <a:chOff x="0" y="0"/>
          <a:chExt cx="0" cy="0"/>
        </a:xfrm>
      </p:grpSpPr>
      <p:sp>
        <p:nvSpPr>
          <p:cNvPr id="379" name="Google Shape;379;p16"/>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Model bias</a:t>
            </a:r>
            <a:endParaRPr/>
          </a:p>
        </p:txBody>
      </p:sp>
      <p:sp>
        <p:nvSpPr>
          <p:cNvPr id="380" name="Google Shape;380;p16"/>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A climate model may reproduce the broad climate while showing systematic differences from a reference dataset</a:t>
            </a:r>
            <a:endParaRPr/>
          </a:p>
        </p:txBody>
      </p:sp>
      <p:sp>
        <p:nvSpPr>
          <p:cNvPr id="381" name="Google Shape;381;p16"/>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2" name="Google Shape;382;p16"/>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3" name="Google Shape;383;p16"/>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16"/>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385" name="Google Shape;385;p16"/>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12</a:t>
            </a:r>
            <a:endParaRPr/>
          </a:p>
        </p:txBody>
      </p:sp>
      <p:sp>
        <p:nvSpPr>
          <p:cNvPr id="386" name="Google Shape;386;p16"/>
          <p:cNvSpPr/>
          <p:nvPr/>
        </p:nvSpPr>
        <p:spPr>
          <a:xfrm>
            <a:off x="952500" y="1905000"/>
            <a:ext cx="4762500" cy="2857500"/>
          </a:xfrm>
          <a:prstGeom prst="roundRect">
            <a:avLst>
              <a:gd fmla="val 2667" name="adj"/>
            </a:avLst>
          </a:prstGeom>
          <a:solidFill>
            <a:srgbClr val="FFFFFF"/>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6"/>
          <p:cNvSpPr/>
          <p:nvPr/>
        </p:nvSpPr>
        <p:spPr>
          <a:xfrm>
            <a:off x="1219200" y="2095500"/>
            <a:ext cx="4229100" cy="266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Illustrative historical distribution</a:t>
            </a:r>
            <a:endParaRPr/>
          </a:p>
        </p:txBody>
      </p:sp>
      <p:sp>
        <p:nvSpPr>
          <p:cNvPr id="388" name="Google Shape;388;p16"/>
          <p:cNvSpPr/>
          <p:nvPr/>
        </p:nvSpPr>
        <p:spPr>
          <a:xfrm>
            <a:off x="1381125" y="4238625"/>
            <a:ext cx="3762375" cy="190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9" name="Google Shape;389;p16"/>
          <p:cNvSpPr/>
          <p:nvPr/>
        </p:nvSpPr>
        <p:spPr>
          <a:xfrm>
            <a:off x="1381125" y="2667000"/>
            <a:ext cx="19050" cy="15716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6"/>
          <p:cNvSpPr/>
          <p:nvPr/>
        </p:nvSpPr>
        <p:spPr>
          <a:xfrm>
            <a:off x="1666875" y="4048125"/>
            <a:ext cx="114300" cy="1905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1" name="Google Shape;391;p16"/>
          <p:cNvSpPr/>
          <p:nvPr/>
        </p:nvSpPr>
        <p:spPr>
          <a:xfrm>
            <a:off x="1809750" y="4162425"/>
            <a:ext cx="114300" cy="762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2" name="Google Shape;392;p16"/>
          <p:cNvSpPr/>
          <p:nvPr/>
        </p:nvSpPr>
        <p:spPr>
          <a:xfrm>
            <a:off x="2009775" y="3876675"/>
            <a:ext cx="114300" cy="36195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6"/>
          <p:cNvSpPr/>
          <p:nvPr/>
        </p:nvSpPr>
        <p:spPr>
          <a:xfrm>
            <a:off x="2152650" y="4057650"/>
            <a:ext cx="114300" cy="1809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16"/>
          <p:cNvSpPr/>
          <p:nvPr/>
        </p:nvSpPr>
        <p:spPr>
          <a:xfrm>
            <a:off x="2352675" y="3609975"/>
            <a:ext cx="114300" cy="62865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16"/>
          <p:cNvSpPr/>
          <p:nvPr/>
        </p:nvSpPr>
        <p:spPr>
          <a:xfrm>
            <a:off x="2495550" y="3876675"/>
            <a:ext cx="114300" cy="3619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16"/>
          <p:cNvSpPr/>
          <p:nvPr/>
        </p:nvSpPr>
        <p:spPr>
          <a:xfrm>
            <a:off x="2695575" y="3238500"/>
            <a:ext cx="114300" cy="100012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6"/>
          <p:cNvSpPr/>
          <p:nvPr/>
        </p:nvSpPr>
        <p:spPr>
          <a:xfrm>
            <a:off x="2838450" y="3571875"/>
            <a:ext cx="114300" cy="6667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8" name="Google Shape;398;p16"/>
          <p:cNvSpPr/>
          <p:nvPr/>
        </p:nvSpPr>
        <p:spPr>
          <a:xfrm>
            <a:off x="3038475" y="2943225"/>
            <a:ext cx="114300" cy="12954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6"/>
          <p:cNvSpPr/>
          <p:nvPr/>
        </p:nvSpPr>
        <p:spPr>
          <a:xfrm>
            <a:off x="3181350" y="3209925"/>
            <a:ext cx="114300" cy="10287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16"/>
          <p:cNvSpPr/>
          <p:nvPr/>
        </p:nvSpPr>
        <p:spPr>
          <a:xfrm>
            <a:off x="3381375" y="3171825"/>
            <a:ext cx="114300" cy="10668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1" name="Google Shape;401;p16"/>
          <p:cNvSpPr/>
          <p:nvPr/>
        </p:nvSpPr>
        <p:spPr>
          <a:xfrm>
            <a:off x="3524250" y="2924175"/>
            <a:ext cx="114300" cy="13144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2" name="Google Shape;402;p16"/>
          <p:cNvSpPr/>
          <p:nvPr/>
        </p:nvSpPr>
        <p:spPr>
          <a:xfrm>
            <a:off x="3724275" y="3543300"/>
            <a:ext cx="114300" cy="69532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3" name="Google Shape;403;p16"/>
          <p:cNvSpPr/>
          <p:nvPr/>
        </p:nvSpPr>
        <p:spPr>
          <a:xfrm>
            <a:off x="3867150" y="3114675"/>
            <a:ext cx="114300" cy="11239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4" name="Google Shape;404;p16"/>
          <p:cNvSpPr/>
          <p:nvPr/>
        </p:nvSpPr>
        <p:spPr>
          <a:xfrm>
            <a:off x="4067175" y="3848100"/>
            <a:ext cx="114300" cy="390525"/>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5" name="Google Shape;405;p16"/>
          <p:cNvSpPr/>
          <p:nvPr/>
        </p:nvSpPr>
        <p:spPr>
          <a:xfrm>
            <a:off x="4210050" y="3495675"/>
            <a:ext cx="114300" cy="74295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6"/>
          <p:cNvSpPr/>
          <p:nvPr/>
        </p:nvSpPr>
        <p:spPr>
          <a:xfrm>
            <a:off x="4410075" y="4029075"/>
            <a:ext cx="114300" cy="20955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7" name="Google Shape;407;p16"/>
          <p:cNvSpPr/>
          <p:nvPr/>
        </p:nvSpPr>
        <p:spPr>
          <a:xfrm>
            <a:off x="4552950" y="3829050"/>
            <a:ext cx="114300" cy="409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16"/>
          <p:cNvSpPr/>
          <p:nvPr/>
        </p:nvSpPr>
        <p:spPr>
          <a:xfrm>
            <a:off x="1809750" y="4410075"/>
            <a:ext cx="1143000" cy="2095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975"/>
              <a:buFont typeface="Lato"/>
              <a:buNone/>
            </a:pPr>
            <a:r>
              <a:rPr b="1" i="0" lang="it-IT" sz="975">
                <a:solidFill>
                  <a:srgbClr val="00A88F"/>
                </a:solidFill>
                <a:latin typeface="Lato"/>
                <a:ea typeface="Lato"/>
                <a:cs typeface="Lato"/>
                <a:sym typeface="Lato"/>
              </a:rPr>
              <a:t>Reference</a:t>
            </a:r>
            <a:endParaRPr/>
          </a:p>
        </p:txBody>
      </p:sp>
      <p:sp>
        <p:nvSpPr>
          <p:cNvPr id="409" name="Google Shape;409;p16"/>
          <p:cNvSpPr/>
          <p:nvPr/>
        </p:nvSpPr>
        <p:spPr>
          <a:xfrm>
            <a:off x="3381375" y="4410075"/>
            <a:ext cx="952500" cy="2095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975"/>
              <a:buFont typeface="Lato"/>
              <a:buNone/>
            </a:pPr>
            <a:r>
              <a:rPr b="1" i="0" lang="it-IT" sz="975">
                <a:solidFill>
                  <a:srgbClr val="F2B632"/>
                </a:solidFill>
                <a:latin typeface="Lato"/>
                <a:ea typeface="Lato"/>
                <a:cs typeface="Lato"/>
                <a:sym typeface="Lato"/>
              </a:rPr>
              <a:t>Model</a:t>
            </a:r>
            <a:endParaRPr/>
          </a:p>
        </p:txBody>
      </p:sp>
      <p:sp>
        <p:nvSpPr>
          <p:cNvPr id="410" name="Google Shape;410;p16"/>
          <p:cNvSpPr/>
          <p:nvPr/>
        </p:nvSpPr>
        <p:spPr>
          <a:xfrm>
            <a:off x="6477000" y="2076450"/>
            <a:ext cx="4191000" cy="381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100"/>
              <a:buFont typeface="Lato"/>
              <a:buNone/>
            </a:pPr>
            <a:r>
              <a:rPr b="1" i="0" lang="it-IT" sz="2100">
                <a:solidFill>
                  <a:srgbClr val="12304E"/>
                </a:solidFill>
                <a:latin typeface="Lato"/>
                <a:ea typeface="Lato"/>
                <a:cs typeface="Lato"/>
                <a:sym typeface="Lato"/>
              </a:rPr>
              <a:t>A bias is systematic</a:t>
            </a:r>
            <a:endParaRPr/>
          </a:p>
        </p:txBody>
      </p:sp>
      <p:sp>
        <p:nvSpPr>
          <p:cNvPr id="411" name="Google Shape;411;p16"/>
          <p:cNvSpPr/>
          <p:nvPr/>
        </p:nvSpPr>
        <p:spPr>
          <a:xfrm>
            <a:off x="6477000" y="2705100"/>
            <a:ext cx="4305300" cy="10096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687984"/>
              </a:buClr>
              <a:buSzPts val="1650"/>
              <a:buFont typeface="Lato"/>
              <a:buNone/>
            </a:pPr>
            <a:r>
              <a:rPr b="0" i="0" lang="it-IT" sz="1650">
                <a:solidFill>
                  <a:srgbClr val="687984"/>
                </a:solidFill>
                <a:latin typeface="Lato"/>
                <a:ea typeface="Lato"/>
                <a:cs typeface="Lato"/>
                <a:sym typeface="Lato"/>
              </a:rPr>
              <a:t>It may affect the mean, variability, seasonality or extremes. Performance can also differ by variable and region.</a:t>
            </a:r>
            <a:endParaRPr/>
          </a:p>
        </p:txBody>
      </p:sp>
      <p:sp>
        <p:nvSpPr>
          <p:cNvPr id="412" name="Google Shape;412;p16"/>
          <p:cNvSpPr/>
          <p:nvPr/>
        </p:nvSpPr>
        <p:spPr>
          <a:xfrm>
            <a:off x="6477000" y="4038600"/>
            <a:ext cx="4000500" cy="876300"/>
          </a:xfrm>
          <a:prstGeom prst="roundRect">
            <a:avLst>
              <a:gd fmla="val 8696" name="adj"/>
            </a:avLst>
          </a:prstGeom>
          <a:solidFill>
            <a:srgbClr val="FFF3D1"/>
          </a:solidFill>
          <a:ln cap="flat" cmpd="sng" w="9525">
            <a:solidFill>
              <a:srgbClr val="FFF3D1"/>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3" name="Google Shape;413;p16"/>
          <p:cNvSpPr/>
          <p:nvPr/>
        </p:nvSpPr>
        <p:spPr>
          <a:xfrm>
            <a:off x="6705600" y="4229100"/>
            <a:ext cx="3543300" cy="495300"/>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12304E"/>
              </a:buClr>
              <a:buSzPts val="1425"/>
              <a:buFont typeface="Lato"/>
              <a:buNone/>
            </a:pPr>
            <a:r>
              <a:rPr b="1" i="0" lang="it-IT" sz="1425">
                <a:solidFill>
                  <a:srgbClr val="12304E"/>
                </a:solidFill>
                <a:latin typeface="Lato"/>
                <a:ea typeface="Lato"/>
                <a:cs typeface="Lato"/>
                <a:sym typeface="Lato"/>
              </a:rPr>
              <a:t>Model output should not automatically be treated as observations or truth.</a:t>
            </a:r>
            <a:endParaRPr/>
          </a:p>
        </p:txBody>
      </p:sp>
      <p:sp>
        <p:nvSpPr>
          <p:cNvPr id="414" name="Google Shape;414;p16"/>
          <p:cNvSpPr/>
          <p:nvPr/>
        </p:nvSpPr>
        <p:spPr>
          <a:xfrm>
            <a:off x="952500" y="5000625"/>
            <a:ext cx="4762500" cy="2095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825"/>
              <a:buFont typeface="Lato"/>
              <a:buNone/>
            </a:pPr>
            <a:r>
              <a:rPr b="0" i="0" lang="it-IT" sz="825">
                <a:solidFill>
                  <a:srgbClr val="687984"/>
                </a:solidFill>
                <a:latin typeface="Lato"/>
                <a:ea typeface="Lato"/>
                <a:cs typeface="Lato"/>
                <a:sym typeface="Lato"/>
              </a:rPr>
              <a:t>Conceptual illustration · no observed data shown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419" name="Shape 419"/>
        <p:cNvGrpSpPr/>
        <p:nvPr/>
      </p:nvGrpSpPr>
      <p:grpSpPr>
        <a:xfrm>
          <a:off x="0" y="0"/>
          <a:ext cx="0" cy="0"/>
          <a:chOff x="0" y="0"/>
          <a:chExt cx="0" cy="0"/>
        </a:xfrm>
      </p:grpSpPr>
      <p:sp>
        <p:nvSpPr>
          <p:cNvPr id="420" name="Google Shape;420;p17"/>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Bias correction</a:t>
            </a:r>
            <a:endParaRPr/>
          </a:p>
        </p:txBody>
      </p:sp>
      <p:sp>
        <p:nvSpPr>
          <p:cNvPr id="421" name="Google Shape;421;p17"/>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Adjustment can improve agreement with a historical reference, but it does not make the future certain</a:t>
            </a:r>
            <a:endParaRPr/>
          </a:p>
        </p:txBody>
      </p:sp>
      <p:sp>
        <p:nvSpPr>
          <p:cNvPr id="422" name="Google Shape;422;p17"/>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17"/>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4" name="Google Shape;424;p17"/>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5" name="Google Shape;425;p17"/>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426" name="Google Shape;426;p17"/>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13</a:t>
            </a:r>
            <a:endParaRPr/>
          </a:p>
        </p:txBody>
      </p:sp>
      <p:sp>
        <p:nvSpPr>
          <p:cNvPr id="427" name="Google Shape;427;p17"/>
          <p:cNvSpPr/>
          <p:nvPr/>
        </p:nvSpPr>
        <p:spPr>
          <a:xfrm>
            <a:off x="1066800" y="2781300"/>
            <a:ext cx="10058400" cy="381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8" name="Google Shape;428;p17"/>
          <p:cNvSpPr/>
          <p:nvPr/>
        </p:nvSpPr>
        <p:spPr>
          <a:xfrm>
            <a:off x="1257300" y="2524125"/>
            <a:ext cx="552450" cy="55245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650"/>
              <a:buFont typeface="Lato"/>
              <a:buNone/>
            </a:pPr>
            <a:r>
              <a:rPr b="1" i="0" lang="it-IT" sz="1650">
                <a:solidFill>
                  <a:srgbClr val="FFFFFF"/>
                </a:solidFill>
                <a:latin typeface="Lato"/>
                <a:ea typeface="Lato"/>
                <a:cs typeface="Lato"/>
                <a:sym typeface="Lato"/>
              </a:rPr>
              <a:t>1</a:t>
            </a:r>
            <a:endParaRPr/>
          </a:p>
        </p:txBody>
      </p:sp>
      <p:sp>
        <p:nvSpPr>
          <p:cNvPr id="429" name="Google Shape;429;p17"/>
          <p:cNvSpPr/>
          <p:nvPr/>
        </p:nvSpPr>
        <p:spPr>
          <a:xfrm>
            <a:off x="1143000" y="337185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COMPARE</a:t>
            </a:r>
            <a:endParaRPr/>
          </a:p>
        </p:txBody>
      </p:sp>
      <p:sp>
        <p:nvSpPr>
          <p:cNvPr id="430" name="Google Shape;430;p17"/>
          <p:cNvSpPr/>
          <p:nvPr/>
        </p:nvSpPr>
        <p:spPr>
          <a:xfrm>
            <a:off x="1143000" y="3790950"/>
            <a:ext cx="2190750" cy="8572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304E"/>
              </a:buClr>
              <a:buSzPts val="1350"/>
              <a:buFont typeface="Lato"/>
              <a:buNone/>
            </a:pPr>
            <a:r>
              <a:rPr b="0" i="0" lang="it-IT" sz="1350">
                <a:solidFill>
                  <a:srgbClr val="12304E"/>
                </a:solidFill>
                <a:latin typeface="Lato"/>
                <a:ea typeface="Lato"/>
                <a:cs typeface="Lato"/>
                <a:sym typeface="Lato"/>
              </a:rPr>
              <a:t>Historical model simulation with a reference dataset</a:t>
            </a:r>
            <a:endParaRPr/>
          </a:p>
        </p:txBody>
      </p:sp>
      <p:sp>
        <p:nvSpPr>
          <p:cNvPr id="431" name="Google Shape;431;p17"/>
          <p:cNvSpPr/>
          <p:nvPr/>
        </p:nvSpPr>
        <p:spPr>
          <a:xfrm>
            <a:off x="3971925" y="2524125"/>
            <a:ext cx="552450" cy="55245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650"/>
              <a:buFont typeface="Lato"/>
              <a:buNone/>
            </a:pPr>
            <a:r>
              <a:rPr b="1" i="0" lang="it-IT" sz="1650">
                <a:solidFill>
                  <a:srgbClr val="FFFFFF"/>
                </a:solidFill>
                <a:latin typeface="Lato"/>
                <a:ea typeface="Lato"/>
                <a:cs typeface="Lato"/>
                <a:sym typeface="Lato"/>
              </a:rPr>
              <a:t>2</a:t>
            </a:r>
            <a:endParaRPr/>
          </a:p>
        </p:txBody>
      </p:sp>
      <p:sp>
        <p:nvSpPr>
          <p:cNvPr id="432" name="Google Shape;432;p17"/>
          <p:cNvSpPr/>
          <p:nvPr/>
        </p:nvSpPr>
        <p:spPr>
          <a:xfrm>
            <a:off x="3857625" y="337185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350"/>
              <a:buFont typeface="Lato"/>
              <a:buNone/>
            </a:pPr>
            <a:r>
              <a:rPr b="1" i="0" lang="it-IT" sz="1350">
                <a:solidFill>
                  <a:srgbClr val="F2B632"/>
                </a:solidFill>
                <a:latin typeface="Lato"/>
                <a:ea typeface="Lato"/>
                <a:cs typeface="Lato"/>
                <a:sym typeface="Lato"/>
              </a:rPr>
              <a:t>ESTIMATE</a:t>
            </a:r>
            <a:endParaRPr/>
          </a:p>
        </p:txBody>
      </p:sp>
      <p:sp>
        <p:nvSpPr>
          <p:cNvPr id="433" name="Google Shape;433;p17"/>
          <p:cNvSpPr/>
          <p:nvPr/>
        </p:nvSpPr>
        <p:spPr>
          <a:xfrm>
            <a:off x="3857625" y="3790950"/>
            <a:ext cx="2190750" cy="8572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304E"/>
              </a:buClr>
              <a:buSzPts val="1350"/>
              <a:buFont typeface="Lato"/>
              <a:buNone/>
            </a:pPr>
            <a:r>
              <a:rPr b="0" i="0" lang="it-IT" sz="1350">
                <a:solidFill>
                  <a:srgbClr val="12304E"/>
                </a:solidFill>
                <a:latin typeface="Lato"/>
                <a:ea typeface="Lato"/>
                <a:cs typeface="Lato"/>
                <a:sym typeface="Lato"/>
              </a:rPr>
              <a:t>A statistical adjustment for the selected variable and location</a:t>
            </a:r>
            <a:endParaRPr/>
          </a:p>
        </p:txBody>
      </p:sp>
      <p:sp>
        <p:nvSpPr>
          <p:cNvPr id="434" name="Google Shape;434;p17"/>
          <p:cNvSpPr/>
          <p:nvPr/>
        </p:nvSpPr>
        <p:spPr>
          <a:xfrm>
            <a:off x="6686550" y="2524125"/>
            <a:ext cx="552450" cy="55245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650"/>
              <a:buFont typeface="Lato"/>
              <a:buNone/>
            </a:pPr>
            <a:r>
              <a:rPr b="1" i="0" lang="it-IT" sz="1650">
                <a:solidFill>
                  <a:srgbClr val="FFFFFF"/>
                </a:solidFill>
                <a:latin typeface="Lato"/>
                <a:ea typeface="Lato"/>
                <a:cs typeface="Lato"/>
                <a:sym typeface="Lato"/>
              </a:rPr>
              <a:t>3</a:t>
            </a:r>
            <a:endParaRPr/>
          </a:p>
        </p:txBody>
      </p:sp>
      <p:sp>
        <p:nvSpPr>
          <p:cNvPr id="435" name="Google Shape;435;p17"/>
          <p:cNvSpPr/>
          <p:nvPr/>
        </p:nvSpPr>
        <p:spPr>
          <a:xfrm>
            <a:off x="6572250" y="337185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APPLY</a:t>
            </a:r>
            <a:endParaRPr/>
          </a:p>
        </p:txBody>
      </p:sp>
      <p:sp>
        <p:nvSpPr>
          <p:cNvPr id="436" name="Google Shape;436;p17"/>
          <p:cNvSpPr/>
          <p:nvPr/>
        </p:nvSpPr>
        <p:spPr>
          <a:xfrm>
            <a:off x="6572250" y="3790950"/>
            <a:ext cx="2190750" cy="8572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304E"/>
              </a:buClr>
              <a:buSzPts val="1350"/>
              <a:buFont typeface="Lato"/>
              <a:buNone/>
            </a:pPr>
            <a:r>
              <a:rPr b="0" i="0" lang="it-IT" sz="1350">
                <a:solidFill>
                  <a:srgbClr val="12304E"/>
                </a:solidFill>
                <a:latin typeface="Lato"/>
                <a:ea typeface="Lato"/>
                <a:cs typeface="Lato"/>
                <a:sym typeface="Lato"/>
              </a:rPr>
              <a:t>The adjustment consistently to historical and projected data</a:t>
            </a:r>
            <a:endParaRPr/>
          </a:p>
        </p:txBody>
      </p:sp>
      <p:sp>
        <p:nvSpPr>
          <p:cNvPr id="437" name="Google Shape;437;p17"/>
          <p:cNvSpPr/>
          <p:nvPr/>
        </p:nvSpPr>
        <p:spPr>
          <a:xfrm>
            <a:off x="9401175" y="2524125"/>
            <a:ext cx="552450" cy="55245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650"/>
              <a:buFont typeface="Lato"/>
              <a:buNone/>
            </a:pPr>
            <a:r>
              <a:rPr b="1" i="0" lang="it-IT" sz="1650">
                <a:solidFill>
                  <a:srgbClr val="FFFFFF"/>
                </a:solidFill>
                <a:latin typeface="Lato"/>
                <a:ea typeface="Lato"/>
                <a:cs typeface="Lato"/>
                <a:sym typeface="Lato"/>
              </a:rPr>
              <a:t>4</a:t>
            </a:r>
            <a:endParaRPr/>
          </a:p>
        </p:txBody>
      </p:sp>
      <p:sp>
        <p:nvSpPr>
          <p:cNvPr id="438" name="Google Shape;438;p17"/>
          <p:cNvSpPr/>
          <p:nvPr/>
        </p:nvSpPr>
        <p:spPr>
          <a:xfrm>
            <a:off x="9286875" y="3371850"/>
            <a:ext cx="171450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CHECK</a:t>
            </a:r>
            <a:endParaRPr/>
          </a:p>
        </p:txBody>
      </p:sp>
      <p:sp>
        <p:nvSpPr>
          <p:cNvPr id="439" name="Google Shape;439;p17"/>
          <p:cNvSpPr/>
          <p:nvPr/>
        </p:nvSpPr>
        <p:spPr>
          <a:xfrm>
            <a:off x="9286875" y="3790950"/>
            <a:ext cx="2190750" cy="85725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2304E"/>
              </a:buClr>
              <a:buSzPts val="1350"/>
              <a:buFont typeface="Lato"/>
              <a:buNone/>
            </a:pPr>
            <a:r>
              <a:rPr b="0" i="0" lang="it-IT" sz="1350">
                <a:solidFill>
                  <a:srgbClr val="12304E"/>
                </a:solidFill>
                <a:latin typeface="Lato"/>
                <a:ea typeface="Lato"/>
                <a:cs typeface="Lato"/>
                <a:sym typeface="Lato"/>
              </a:rPr>
              <a:t>Whether the corrected data suit the intended application</a:t>
            </a:r>
            <a:endParaRPr/>
          </a:p>
        </p:txBody>
      </p:sp>
      <p:sp>
        <p:nvSpPr>
          <p:cNvPr id="440" name="Google Shape;440;p17"/>
          <p:cNvSpPr/>
          <p:nvPr/>
        </p:nvSpPr>
        <p:spPr>
          <a:xfrm>
            <a:off x="685800" y="5010150"/>
            <a:ext cx="10820400" cy="628650"/>
          </a:xfrm>
          <a:prstGeom prst="rect">
            <a:avLst/>
          </a:prstGeom>
          <a:solidFill>
            <a:srgbClr val="12304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17"/>
          <p:cNvSpPr/>
          <p:nvPr/>
        </p:nvSpPr>
        <p:spPr>
          <a:xfrm>
            <a:off x="933450" y="5200650"/>
            <a:ext cx="2095500" cy="25717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275"/>
              <a:buFont typeface="Lato"/>
              <a:buNone/>
            </a:pPr>
            <a:r>
              <a:rPr b="1" i="0" lang="it-IT" sz="1275">
                <a:solidFill>
                  <a:srgbClr val="F2B632"/>
                </a:solidFill>
                <a:latin typeface="Lato"/>
                <a:ea typeface="Lato"/>
                <a:cs typeface="Lato"/>
                <a:sym typeface="Lato"/>
              </a:rPr>
              <a:t>Limits of correction</a:t>
            </a:r>
            <a:endParaRPr/>
          </a:p>
        </p:txBody>
      </p:sp>
      <p:sp>
        <p:nvSpPr>
          <p:cNvPr id="442" name="Google Shape;442;p17"/>
          <p:cNvSpPr/>
          <p:nvPr/>
        </p:nvSpPr>
        <p:spPr>
          <a:xfrm>
            <a:off x="3143250" y="5162550"/>
            <a:ext cx="80010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350"/>
              <a:buFont typeface="Lato"/>
              <a:buNone/>
            </a:pPr>
            <a:r>
              <a:rPr b="0" i="0" lang="it-IT" sz="1350">
                <a:solidFill>
                  <a:srgbClr val="FFFFFF"/>
                </a:solidFill>
                <a:latin typeface="Lato"/>
                <a:ea typeface="Lato"/>
                <a:cs typeface="Lato"/>
                <a:sym typeface="Lato"/>
              </a:rPr>
              <a:t>It </a:t>
            </a:r>
            <a:r>
              <a:rPr lang="it-IT" sz="1350">
                <a:solidFill>
                  <a:srgbClr val="FFFFFF"/>
                </a:solidFill>
                <a:latin typeface="Lato"/>
                <a:ea typeface="Lato"/>
                <a:cs typeface="Lato"/>
                <a:sym typeface="Lato"/>
              </a:rPr>
              <a:t>does not</a:t>
            </a:r>
            <a:r>
              <a:rPr b="0" i="0" lang="it-IT" sz="1350">
                <a:solidFill>
                  <a:srgbClr val="FFFFFF"/>
                </a:solidFill>
                <a:latin typeface="Lato"/>
                <a:ea typeface="Lato"/>
                <a:cs typeface="Lato"/>
                <a:sym typeface="Lato"/>
              </a:rPr>
              <a:t> remove model uncertainty</a:t>
            </a:r>
            <a:r>
              <a:rPr lang="it-IT" sz="1350">
                <a:solidFill>
                  <a:srgbClr val="FFFFFF"/>
                </a:solidFill>
                <a:latin typeface="Lato"/>
                <a:ea typeface="Lato"/>
                <a:cs typeface="Lato"/>
                <a:sym typeface="Lato"/>
              </a:rPr>
              <a:t> </a:t>
            </a:r>
            <a:r>
              <a:rPr b="0" i="0" lang="it-IT" sz="1350">
                <a:solidFill>
                  <a:srgbClr val="FFFFFF"/>
                </a:solidFill>
                <a:latin typeface="Lato"/>
                <a:ea typeface="Lato"/>
                <a:cs typeface="Lato"/>
                <a:sym typeface="Lato"/>
              </a:rPr>
              <a:t>or repair every simulation weakness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447" name="Shape 447"/>
        <p:cNvGrpSpPr/>
        <p:nvPr/>
      </p:nvGrpSpPr>
      <p:grpSpPr>
        <a:xfrm>
          <a:off x="0" y="0"/>
          <a:ext cx="0" cy="0"/>
          <a:chOff x="0" y="0"/>
          <a:chExt cx="0" cy="0"/>
        </a:xfrm>
      </p:grpSpPr>
      <p:sp>
        <p:nvSpPr>
          <p:cNvPr id="448" name="Google Shape;448;p18"/>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Multiple models and uncertainty</a:t>
            </a:r>
            <a:endParaRPr/>
          </a:p>
        </p:txBody>
      </p:sp>
      <p:sp>
        <p:nvSpPr>
          <p:cNvPr id="449" name="Google Shape;449;p18"/>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ensemble shows a range of plausible responses across models and scenarios</a:t>
            </a:r>
            <a:endParaRPr/>
          </a:p>
        </p:txBody>
      </p:sp>
      <p:sp>
        <p:nvSpPr>
          <p:cNvPr id="450" name="Google Shape;450;p18"/>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8"/>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2" name="Google Shape;452;p18"/>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3" name="Google Shape;453;p18"/>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454" name="Google Shape;454;p18"/>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14</a:t>
            </a:r>
            <a:endParaRPr/>
          </a:p>
        </p:txBody>
      </p:sp>
      <p:sp>
        <p:nvSpPr>
          <p:cNvPr id="455" name="Google Shape;455;p18"/>
          <p:cNvSpPr/>
          <p:nvPr/>
        </p:nvSpPr>
        <p:spPr>
          <a:xfrm>
            <a:off x="838200" y="1866900"/>
            <a:ext cx="51435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425"/>
              <a:buFont typeface="Lato"/>
              <a:buNone/>
            </a:pPr>
            <a:r>
              <a:rPr b="1" i="0" lang="it-IT" sz="1425">
                <a:solidFill>
                  <a:srgbClr val="00A88F"/>
                </a:solidFill>
                <a:latin typeface="Lato"/>
                <a:ea typeface="Lato"/>
                <a:cs typeface="Lato"/>
                <a:sym typeface="Lato"/>
              </a:rPr>
              <a:t>01</a:t>
            </a:r>
            <a:endParaRPr/>
          </a:p>
        </p:txBody>
      </p:sp>
      <p:sp>
        <p:nvSpPr>
          <p:cNvPr id="456" name="Google Shape;456;p18"/>
          <p:cNvSpPr/>
          <p:nvPr/>
        </p:nvSpPr>
        <p:spPr>
          <a:xfrm>
            <a:off x="1428750" y="1885950"/>
            <a:ext cx="2571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125"/>
              <a:buFont typeface="Lato"/>
              <a:buNone/>
            </a:pPr>
            <a:r>
              <a:rPr b="1" i="0" lang="it-IT" sz="1125">
                <a:solidFill>
                  <a:srgbClr val="12304E"/>
                </a:solidFill>
                <a:latin typeface="Lato"/>
                <a:ea typeface="Lato"/>
                <a:cs typeface="Lato"/>
                <a:sym typeface="Lato"/>
              </a:rPr>
              <a:t>MODEL RESPONSE</a:t>
            </a:r>
            <a:endParaRPr/>
          </a:p>
        </p:txBody>
      </p:sp>
      <p:sp>
        <p:nvSpPr>
          <p:cNvPr id="457" name="Google Shape;457;p18"/>
          <p:cNvSpPr/>
          <p:nvPr/>
        </p:nvSpPr>
        <p:spPr>
          <a:xfrm>
            <a:off x="1428750" y="2286000"/>
            <a:ext cx="2714625" cy="5524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Different representations of the climate system</a:t>
            </a:r>
            <a:endParaRPr/>
          </a:p>
        </p:txBody>
      </p:sp>
      <p:sp>
        <p:nvSpPr>
          <p:cNvPr id="458" name="Google Shape;458;p18"/>
          <p:cNvSpPr/>
          <p:nvPr/>
        </p:nvSpPr>
        <p:spPr>
          <a:xfrm>
            <a:off x="4552950" y="1866900"/>
            <a:ext cx="51435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425"/>
              <a:buFont typeface="Lato"/>
              <a:buNone/>
            </a:pPr>
            <a:r>
              <a:rPr b="1" i="0" lang="it-IT" sz="1425">
                <a:solidFill>
                  <a:srgbClr val="F2B632"/>
                </a:solidFill>
                <a:latin typeface="Lato"/>
                <a:ea typeface="Lato"/>
                <a:cs typeface="Lato"/>
                <a:sym typeface="Lato"/>
              </a:rPr>
              <a:t>02</a:t>
            </a:r>
            <a:endParaRPr/>
          </a:p>
        </p:txBody>
      </p:sp>
      <p:sp>
        <p:nvSpPr>
          <p:cNvPr id="459" name="Google Shape;459;p18"/>
          <p:cNvSpPr/>
          <p:nvPr/>
        </p:nvSpPr>
        <p:spPr>
          <a:xfrm>
            <a:off x="5143500" y="1885950"/>
            <a:ext cx="2571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125"/>
              <a:buFont typeface="Lato"/>
              <a:buNone/>
            </a:pPr>
            <a:r>
              <a:rPr b="1" i="0" lang="it-IT" sz="1125">
                <a:solidFill>
                  <a:srgbClr val="12304E"/>
                </a:solidFill>
                <a:latin typeface="Lato"/>
                <a:ea typeface="Lato"/>
                <a:cs typeface="Lato"/>
                <a:sym typeface="Lato"/>
              </a:rPr>
              <a:t>FUTURE SCENARIO</a:t>
            </a:r>
            <a:endParaRPr/>
          </a:p>
        </p:txBody>
      </p:sp>
      <p:sp>
        <p:nvSpPr>
          <p:cNvPr id="460" name="Google Shape;460;p18"/>
          <p:cNvSpPr/>
          <p:nvPr/>
        </p:nvSpPr>
        <p:spPr>
          <a:xfrm>
            <a:off x="5143500" y="2286000"/>
            <a:ext cx="2714625" cy="5524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Different future emissions and land-use pathways</a:t>
            </a:r>
            <a:endParaRPr/>
          </a:p>
        </p:txBody>
      </p:sp>
      <p:sp>
        <p:nvSpPr>
          <p:cNvPr id="461" name="Google Shape;461;p18"/>
          <p:cNvSpPr/>
          <p:nvPr/>
        </p:nvSpPr>
        <p:spPr>
          <a:xfrm>
            <a:off x="8267700" y="1866900"/>
            <a:ext cx="51435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425"/>
              <a:buFont typeface="Lato"/>
              <a:buNone/>
            </a:pPr>
            <a:r>
              <a:rPr b="1" i="0" lang="it-IT" sz="1425">
                <a:solidFill>
                  <a:srgbClr val="183A59"/>
                </a:solidFill>
                <a:latin typeface="Lato"/>
                <a:ea typeface="Lato"/>
                <a:cs typeface="Lato"/>
                <a:sym typeface="Lato"/>
              </a:rPr>
              <a:t>03</a:t>
            </a:r>
            <a:endParaRPr/>
          </a:p>
        </p:txBody>
      </p:sp>
      <p:sp>
        <p:nvSpPr>
          <p:cNvPr id="462" name="Google Shape;462;p18"/>
          <p:cNvSpPr/>
          <p:nvPr/>
        </p:nvSpPr>
        <p:spPr>
          <a:xfrm>
            <a:off x="8858250" y="1885950"/>
            <a:ext cx="25717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125"/>
              <a:buFont typeface="Lato"/>
              <a:buNone/>
            </a:pPr>
            <a:r>
              <a:rPr b="1" i="0" lang="it-IT" sz="1125">
                <a:solidFill>
                  <a:srgbClr val="12304E"/>
                </a:solidFill>
                <a:latin typeface="Lato"/>
                <a:ea typeface="Lato"/>
                <a:cs typeface="Lato"/>
                <a:sym typeface="Lato"/>
              </a:rPr>
              <a:t>INTERNAL VARIABILITY</a:t>
            </a:r>
            <a:endParaRPr/>
          </a:p>
        </p:txBody>
      </p:sp>
      <p:sp>
        <p:nvSpPr>
          <p:cNvPr id="463" name="Google Shape;463;p18"/>
          <p:cNvSpPr/>
          <p:nvPr/>
        </p:nvSpPr>
        <p:spPr>
          <a:xfrm>
            <a:off x="8858250" y="2286000"/>
            <a:ext cx="2714625" cy="55245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Natural fluctuations within the climate system</a:t>
            </a:r>
            <a:endParaRPr/>
          </a:p>
        </p:txBody>
      </p:sp>
      <p:sp>
        <p:nvSpPr>
          <p:cNvPr id="464" name="Google Shape;464;p18"/>
          <p:cNvSpPr/>
          <p:nvPr/>
        </p:nvSpPr>
        <p:spPr>
          <a:xfrm>
            <a:off x="800100" y="3162300"/>
            <a:ext cx="10591800" cy="1009650"/>
          </a:xfrm>
          <a:prstGeom prst="rect">
            <a:avLst/>
          </a:prstGeom>
          <a:solidFill>
            <a:srgbClr val="12304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5" name="Google Shape;465;p18"/>
          <p:cNvSpPr/>
          <p:nvPr/>
        </p:nvSpPr>
        <p:spPr>
          <a:xfrm>
            <a:off x="1066800" y="3381375"/>
            <a:ext cx="2857500" cy="457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2550"/>
              <a:buFont typeface="Lato"/>
              <a:buNone/>
            </a:pPr>
            <a:r>
              <a:rPr b="1" i="0" lang="it-IT" sz="2550">
                <a:solidFill>
                  <a:srgbClr val="FFFFFF"/>
                </a:solidFill>
                <a:latin typeface="Lato"/>
                <a:ea typeface="Lato"/>
                <a:cs typeface="Lato"/>
                <a:sym typeface="Lato"/>
              </a:rPr>
              <a:t>ENSEMBLE</a:t>
            </a:r>
            <a:endParaRPr/>
          </a:p>
        </p:txBody>
      </p:sp>
      <p:sp>
        <p:nvSpPr>
          <p:cNvPr id="466" name="Google Shape;466;p18"/>
          <p:cNvSpPr/>
          <p:nvPr/>
        </p:nvSpPr>
        <p:spPr>
          <a:xfrm>
            <a:off x="4095750" y="3390900"/>
            <a:ext cx="6762750" cy="4000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D7E5EC"/>
              </a:buClr>
              <a:buSzPts val="2025"/>
              <a:buFont typeface="Lato"/>
              <a:buNone/>
            </a:pPr>
            <a:r>
              <a:rPr b="1" i="0" lang="it-IT" sz="2025">
                <a:solidFill>
                  <a:srgbClr val="D7E5EC"/>
                </a:solidFill>
                <a:latin typeface="Lato"/>
                <a:ea typeface="Lato"/>
                <a:cs typeface="Lato"/>
                <a:sym typeface="Lato"/>
              </a:rPr>
              <a:t>A range of plausible climate responses</a:t>
            </a:r>
            <a:endParaRPr/>
          </a:p>
        </p:txBody>
      </p:sp>
      <p:sp>
        <p:nvSpPr>
          <p:cNvPr id="467" name="Google Shape;467;p18"/>
          <p:cNvSpPr/>
          <p:nvPr/>
        </p:nvSpPr>
        <p:spPr>
          <a:xfrm>
            <a:off x="876300" y="4591050"/>
            <a:ext cx="3143250" cy="23812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CENTRE</a:t>
            </a:r>
            <a:endParaRPr/>
          </a:p>
        </p:txBody>
      </p:sp>
      <p:sp>
        <p:nvSpPr>
          <p:cNvPr id="468" name="Google Shape;468;p18"/>
          <p:cNvSpPr/>
          <p:nvPr/>
        </p:nvSpPr>
        <p:spPr>
          <a:xfrm>
            <a:off x="876300" y="4933950"/>
            <a:ext cx="31432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Mean or median change</a:t>
            </a:r>
            <a:endParaRPr/>
          </a:p>
        </p:txBody>
      </p:sp>
      <p:sp>
        <p:nvSpPr>
          <p:cNvPr id="469" name="Google Shape;469;p18"/>
          <p:cNvSpPr/>
          <p:nvPr/>
        </p:nvSpPr>
        <p:spPr>
          <a:xfrm>
            <a:off x="4210050" y="4552950"/>
            <a:ext cx="9525" cy="8191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0" name="Google Shape;470;p18"/>
          <p:cNvSpPr/>
          <p:nvPr/>
        </p:nvSpPr>
        <p:spPr>
          <a:xfrm>
            <a:off x="4572000" y="4591050"/>
            <a:ext cx="3143250" cy="23812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SPREAD</a:t>
            </a:r>
            <a:endParaRPr/>
          </a:p>
        </p:txBody>
      </p:sp>
      <p:sp>
        <p:nvSpPr>
          <p:cNvPr id="471" name="Google Shape;471;p18"/>
          <p:cNvSpPr/>
          <p:nvPr/>
        </p:nvSpPr>
        <p:spPr>
          <a:xfrm>
            <a:off x="4572000" y="4933950"/>
            <a:ext cx="31432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00"/>
              <a:buFont typeface="Lato"/>
              <a:buNone/>
            </a:pPr>
            <a:r>
              <a:rPr b="1" i="0" lang="it-IT" sz="1500">
                <a:solidFill>
                  <a:srgbClr val="12304E"/>
                </a:solidFill>
                <a:latin typeface="Lato"/>
                <a:ea typeface="Lato"/>
                <a:cs typeface="Lato"/>
                <a:sym typeface="Lato"/>
              </a:rPr>
              <a:t>Range across models</a:t>
            </a:r>
            <a:endParaRPr/>
          </a:p>
        </p:txBody>
      </p:sp>
      <p:sp>
        <p:nvSpPr>
          <p:cNvPr id="472" name="Google Shape;472;p18"/>
          <p:cNvSpPr/>
          <p:nvPr/>
        </p:nvSpPr>
        <p:spPr>
          <a:xfrm>
            <a:off x="7905750" y="4552950"/>
            <a:ext cx="9525" cy="81915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3" name="Google Shape;473;p18"/>
          <p:cNvSpPr/>
          <p:nvPr/>
        </p:nvSpPr>
        <p:spPr>
          <a:xfrm>
            <a:off x="8267700" y="4591050"/>
            <a:ext cx="3143250" cy="23812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050"/>
              <a:buFont typeface="Lato"/>
              <a:buNone/>
            </a:pPr>
            <a:r>
              <a:rPr b="1" i="0" lang="it-IT" sz="1050">
                <a:solidFill>
                  <a:srgbClr val="183A59"/>
                </a:solidFill>
                <a:latin typeface="Lato"/>
                <a:ea typeface="Lato"/>
                <a:cs typeface="Lato"/>
                <a:sym typeface="Lato"/>
              </a:rPr>
              <a:t>AGREEMENT</a:t>
            </a:r>
            <a:endParaRPr/>
          </a:p>
        </p:txBody>
      </p:sp>
      <p:sp>
        <p:nvSpPr>
          <p:cNvPr id="474" name="Google Shape;474;p18"/>
          <p:cNvSpPr/>
          <p:nvPr/>
        </p:nvSpPr>
        <p:spPr>
          <a:xfrm>
            <a:off x="8267700" y="4933950"/>
            <a:ext cx="31432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422"/>
              <a:buFont typeface="Lato"/>
              <a:buNone/>
            </a:pPr>
            <a:r>
              <a:rPr b="1" i="0" lang="it-IT" sz="1422">
                <a:solidFill>
                  <a:srgbClr val="12304E"/>
                </a:solidFill>
                <a:latin typeface="Lato"/>
                <a:ea typeface="Lato"/>
                <a:cs typeface="Lato"/>
                <a:sym typeface="Lato"/>
              </a:rPr>
              <a:t>Direction and consistency of change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479" name="Shape 479"/>
        <p:cNvGrpSpPr/>
        <p:nvPr/>
      </p:nvGrpSpPr>
      <p:grpSpPr>
        <a:xfrm>
          <a:off x="0" y="0"/>
          <a:ext cx="0" cy="0"/>
          <a:chOff x="0" y="0"/>
          <a:chExt cx="0" cy="0"/>
        </a:xfrm>
      </p:grpSpPr>
      <p:sp>
        <p:nvSpPr>
          <p:cNvPr id="480" name="Google Shape;480;p19"/>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From variables to indicators and hazards</a:t>
            </a:r>
            <a:endParaRPr/>
          </a:p>
        </p:txBody>
      </p:sp>
      <p:sp>
        <p:nvSpPr>
          <p:cNvPr id="481" name="Google Shape;481;p19"/>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Indicators translate climate data into quantities that relate more directly to decisions</a:t>
            </a:r>
            <a:endParaRPr/>
          </a:p>
        </p:txBody>
      </p:sp>
      <p:sp>
        <p:nvSpPr>
          <p:cNvPr id="482" name="Google Shape;482;p19"/>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3" name="Google Shape;483;p19"/>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4" name="Google Shape;484;p19"/>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5" name="Google Shape;485;p19"/>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486" name="Google Shape;486;p19"/>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15</a:t>
            </a:r>
            <a:endParaRPr/>
          </a:p>
        </p:txBody>
      </p:sp>
      <p:sp>
        <p:nvSpPr>
          <p:cNvPr id="487" name="Google Shape;487;p19"/>
          <p:cNvSpPr/>
          <p:nvPr/>
        </p:nvSpPr>
        <p:spPr>
          <a:xfrm>
            <a:off x="666750" y="2019300"/>
            <a:ext cx="2781300" cy="2266950"/>
          </a:xfrm>
          <a:prstGeom prst="rect">
            <a:avLst/>
          </a:prstGeom>
          <a:solidFill>
            <a:srgbClr val="EAF3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8" name="Google Shape;488;p19"/>
          <p:cNvSpPr/>
          <p:nvPr/>
        </p:nvSpPr>
        <p:spPr>
          <a:xfrm>
            <a:off x="895350" y="2266950"/>
            <a:ext cx="5143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350"/>
              <a:buFont typeface="Lato"/>
              <a:buNone/>
            </a:pPr>
            <a:r>
              <a:rPr b="1" i="0" lang="it-IT" sz="1350">
                <a:solidFill>
                  <a:srgbClr val="183A59"/>
                </a:solidFill>
                <a:latin typeface="Lato"/>
                <a:ea typeface="Lato"/>
                <a:cs typeface="Lato"/>
                <a:sym typeface="Lato"/>
              </a:rPr>
              <a:t>01</a:t>
            </a:r>
            <a:endParaRPr/>
          </a:p>
        </p:txBody>
      </p:sp>
      <p:sp>
        <p:nvSpPr>
          <p:cNvPr id="489" name="Google Shape;489;p19"/>
          <p:cNvSpPr/>
          <p:nvPr/>
        </p:nvSpPr>
        <p:spPr>
          <a:xfrm>
            <a:off x="895350" y="2762250"/>
            <a:ext cx="2324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050"/>
              <a:buFont typeface="Lato"/>
              <a:buNone/>
            </a:pPr>
            <a:r>
              <a:rPr b="1" i="0" lang="it-IT" sz="1050">
                <a:solidFill>
                  <a:srgbClr val="183A59"/>
                </a:solidFill>
                <a:latin typeface="Lato"/>
                <a:ea typeface="Lato"/>
                <a:cs typeface="Lato"/>
                <a:sym typeface="Lato"/>
              </a:rPr>
              <a:t>VARIABLE</a:t>
            </a:r>
            <a:endParaRPr/>
          </a:p>
        </p:txBody>
      </p:sp>
      <p:sp>
        <p:nvSpPr>
          <p:cNvPr id="490" name="Google Shape;490;p19"/>
          <p:cNvSpPr/>
          <p:nvPr/>
        </p:nvSpPr>
        <p:spPr>
          <a:xfrm>
            <a:off x="895350" y="3314700"/>
            <a:ext cx="2324100" cy="685800"/>
          </a:xfrm>
          <a:prstGeom prst="rect">
            <a:avLst/>
          </a:prstGeom>
          <a:noFill/>
          <a:ln>
            <a:noFill/>
          </a:ln>
        </p:spPr>
        <p:txBody>
          <a:bodyPr anchorCtr="0" anchor="t" bIns="0" lIns="0" spcFirstLastPara="1" rIns="0" wrap="square" tIns="0">
            <a:noAutofit/>
          </a:bodyPr>
          <a:lstStyle/>
          <a:p>
            <a:pPr indent="0" lvl="0" marL="0" marR="0" rtl="0" algn="l">
              <a:lnSpc>
                <a:spcPct val="102000"/>
              </a:lnSpc>
              <a:spcBef>
                <a:spcPts val="0"/>
              </a:spcBef>
              <a:spcAft>
                <a:spcPts val="0"/>
              </a:spcAft>
              <a:buClr>
                <a:srgbClr val="12304E"/>
              </a:buClr>
              <a:buSzPts val="1650"/>
              <a:buFont typeface="Lato"/>
              <a:buNone/>
            </a:pPr>
            <a:r>
              <a:rPr b="1" i="0" lang="it-IT" sz="1650">
                <a:solidFill>
                  <a:srgbClr val="12304E"/>
                </a:solidFill>
                <a:latin typeface="Lato"/>
                <a:ea typeface="Lato"/>
                <a:cs typeface="Lato"/>
                <a:sym typeface="Lato"/>
              </a:rPr>
              <a:t>Daily maximum temperature</a:t>
            </a:r>
            <a:endParaRPr/>
          </a:p>
        </p:txBody>
      </p:sp>
      <p:sp>
        <p:nvSpPr>
          <p:cNvPr id="491" name="Google Shape;491;p19"/>
          <p:cNvSpPr/>
          <p:nvPr/>
        </p:nvSpPr>
        <p:spPr>
          <a:xfrm>
            <a:off x="3448050" y="2019300"/>
            <a:ext cx="2781300" cy="2266950"/>
          </a:xfrm>
          <a:prstGeom prst="rect">
            <a:avLst/>
          </a:prstGeom>
          <a:solidFill>
            <a:srgbClr val="E7F4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19"/>
          <p:cNvSpPr/>
          <p:nvPr/>
        </p:nvSpPr>
        <p:spPr>
          <a:xfrm>
            <a:off x="3676650" y="2266950"/>
            <a:ext cx="5143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350"/>
              <a:buFont typeface="Lato"/>
              <a:buNone/>
            </a:pPr>
            <a:r>
              <a:rPr b="1" i="0" lang="it-IT" sz="1350">
                <a:solidFill>
                  <a:srgbClr val="00A88F"/>
                </a:solidFill>
                <a:latin typeface="Lato"/>
                <a:ea typeface="Lato"/>
                <a:cs typeface="Lato"/>
                <a:sym typeface="Lato"/>
              </a:rPr>
              <a:t>02</a:t>
            </a:r>
            <a:endParaRPr/>
          </a:p>
        </p:txBody>
      </p:sp>
      <p:sp>
        <p:nvSpPr>
          <p:cNvPr id="493" name="Google Shape;493;p19"/>
          <p:cNvSpPr/>
          <p:nvPr/>
        </p:nvSpPr>
        <p:spPr>
          <a:xfrm>
            <a:off x="3676650" y="2762250"/>
            <a:ext cx="2324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INDICATOR</a:t>
            </a:r>
            <a:endParaRPr/>
          </a:p>
        </p:txBody>
      </p:sp>
      <p:sp>
        <p:nvSpPr>
          <p:cNvPr id="494" name="Google Shape;494;p19"/>
          <p:cNvSpPr/>
          <p:nvPr/>
        </p:nvSpPr>
        <p:spPr>
          <a:xfrm>
            <a:off x="3676650" y="3314700"/>
            <a:ext cx="2324100" cy="685800"/>
          </a:xfrm>
          <a:prstGeom prst="rect">
            <a:avLst/>
          </a:prstGeom>
          <a:noFill/>
          <a:ln>
            <a:noFill/>
          </a:ln>
        </p:spPr>
        <p:txBody>
          <a:bodyPr anchorCtr="0" anchor="t" bIns="0" lIns="0" spcFirstLastPara="1" rIns="0" wrap="square" tIns="0">
            <a:noAutofit/>
          </a:bodyPr>
          <a:lstStyle/>
          <a:p>
            <a:pPr indent="0" lvl="0" marL="0" marR="0" rtl="0" algn="l">
              <a:lnSpc>
                <a:spcPct val="102000"/>
              </a:lnSpc>
              <a:spcBef>
                <a:spcPts val="0"/>
              </a:spcBef>
              <a:spcAft>
                <a:spcPts val="0"/>
              </a:spcAft>
              <a:buClr>
                <a:srgbClr val="12304E"/>
              </a:buClr>
              <a:buSzPts val="1650"/>
              <a:buFont typeface="Lato"/>
              <a:buNone/>
            </a:pPr>
            <a:r>
              <a:rPr b="1" i="0" lang="it-IT" sz="1650">
                <a:solidFill>
                  <a:srgbClr val="12304E"/>
                </a:solidFill>
                <a:latin typeface="Lato"/>
                <a:ea typeface="Lato"/>
                <a:cs typeface="Lato"/>
                <a:sym typeface="Lato"/>
              </a:rPr>
              <a:t>Days above 35°C</a:t>
            </a:r>
            <a:endParaRPr/>
          </a:p>
        </p:txBody>
      </p:sp>
      <p:sp>
        <p:nvSpPr>
          <p:cNvPr id="495" name="Google Shape;495;p19"/>
          <p:cNvSpPr/>
          <p:nvPr/>
        </p:nvSpPr>
        <p:spPr>
          <a:xfrm>
            <a:off x="6229350" y="2019300"/>
            <a:ext cx="2781300" cy="2266950"/>
          </a:xfrm>
          <a:prstGeom prst="rect">
            <a:avLst/>
          </a:prstGeom>
          <a:solidFill>
            <a:srgbClr val="FFF3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6" name="Google Shape;496;p19"/>
          <p:cNvSpPr/>
          <p:nvPr/>
        </p:nvSpPr>
        <p:spPr>
          <a:xfrm>
            <a:off x="6457950" y="2266950"/>
            <a:ext cx="5143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350"/>
              <a:buFont typeface="Lato"/>
              <a:buNone/>
            </a:pPr>
            <a:r>
              <a:rPr b="1" i="0" lang="it-IT" sz="1350">
                <a:solidFill>
                  <a:srgbClr val="F2B632"/>
                </a:solidFill>
                <a:latin typeface="Lato"/>
                <a:ea typeface="Lato"/>
                <a:cs typeface="Lato"/>
                <a:sym typeface="Lato"/>
              </a:rPr>
              <a:t>03</a:t>
            </a:r>
            <a:endParaRPr/>
          </a:p>
        </p:txBody>
      </p:sp>
      <p:sp>
        <p:nvSpPr>
          <p:cNvPr id="497" name="Google Shape;497;p19"/>
          <p:cNvSpPr/>
          <p:nvPr/>
        </p:nvSpPr>
        <p:spPr>
          <a:xfrm>
            <a:off x="6457950" y="2762250"/>
            <a:ext cx="2324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CHANGE</a:t>
            </a:r>
            <a:endParaRPr/>
          </a:p>
        </p:txBody>
      </p:sp>
      <p:sp>
        <p:nvSpPr>
          <p:cNvPr id="498" name="Google Shape;498;p19"/>
          <p:cNvSpPr/>
          <p:nvPr/>
        </p:nvSpPr>
        <p:spPr>
          <a:xfrm>
            <a:off x="6457950" y="3314700"/>
            <a:ext cx="2324100" cy="685800"/>
          </a:xfrm>
          <a:prstGeom prst="rect">
            <a:avLst/>
          </a:prstGeom>
          <a:noFill/>
          <a:ln>
            <a:noFill/>
          </a:ln>
        </p:spPr>
        <p:txBody>
          <a:bodyPr anchorCtr="0" anchor="t" bIns="0" lIns="0" spcFirstLastPara="1" rIns="0" wrap="square" tIns="0">
            <a:noAutofit/>
          </a:bodyPr>
          <a:lstStyle/>
          <a:p>
            <a:pPr indent="0" lvl="0" marL="0" marR="0" rtl="0" algn="l">
              <a:lnSpc>
                <a:spcPct val="102000"/>
              </a:lnSpc>
              <a:spcBef>
                <a:spcPts val="0"/>
              </a:spcBef>
              <a:spcAft>
                <a:spcPts val="0"/>
              </a:spcAft>
              <a:buClr>
                <a:srgbClr val="12304E"/>
              </a:buClr>
              <a:buSzPts val="1606"/>
              <a:buFont typeface="Lato"/>
              <a:buNone/>
            </a:pPr>
            <a:r>
              <a:rPr b="1" i="0" lang="it-IT" sz="1607">
                <a:solidFill>
                  <a:srgbClr val="12304E"/>
                </a:solidFill>
                <a:latin typeface="Lato"/>
                <a:ea typeface="Lato"/>
                <a:cs typeface="Lato"/>
                <a:sym typeface="Lato"/>
              </a:rPr>
              <a:t>Future period compared with baseline</a:t>
            </a:r>
            <a:endParaRPr/>
          </a:p>
        </p:txBody>
      </p:sp>
      <p:sp>
        <p:nvSpPr>
          <p:cNvPr id="499" name="Google Shape;499;p19"/>
          <p:cNvSpPr/>
          <p:nvPr/>
        </p:nvSpPr>
        <p:spPr>
          <a:xfrm>
            <a:off x="9010650" y="2019300"/>
            <a:ext cx="2781300" cy="2266950"/>
          </a:xfrm>
          <a:prstGeom prst="rect">
            <a:avLst/>
          </a:prstGeom>
          <a:solidFill>
            <a:srgbClr val="DCEBE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0" name="Google Shape;500;p19"/>
          <p:cNvSpPr/>
          <p:nvPr/>
        </p:nvSpPr>
        <p:spPr>
          <a:xfrm>
            <a:off x="9239250" y="2266950"/>
            <a:ext cx="514350" cy="2857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350"/>
              <a:buFont typeface="Lato"/>
              <a:buNone/>
            </a:pPr>
            <a:r>
              <a:rPr b="1" i="0" lang="it-IT" sz="1350">
                <a:solidFill>
                  <a:srgbClr val="008D7A"/>
                </a:solidFill>
                <a:latin typeface="Lato"/>
                <a:ea typeface="Lato"/>
                <a:cs typeface="Lato"/>
                <a:sym typeface="Lato"/>
              </a:rPr>
              <a:t>04</a:t>
            </a:r>
            <a:endParaRPr/>
          </a:p>
        </p:txBody>
      </p:sp>
      <p:sp>
        <p:nvSpPr>
          <p:cNvPr id="501" name="Google Shape;501;p19"/>
          <p:cNvSpPr/>
          <p:nvPr/>
        </p:nvSpPr>
        <p:spPr>
          <a:xfrm>
            <a:off x="9239250" y="2762250"/>
            <a:ext cx="2324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050"/>
              <a:buFont typeface="Lato"/>
              <a:buNone/>
            </a:pPr>
            <a:r>
              <a:rPr b="1" i="0" lang="it-IT" sz="1050">
                <a:solidFill>
                  <a:srgbClr val="008D7A"/>
                </a:solidFill>
                <a:latin typeface="Lato"/>
                <a:ea typeface="Lato"/>
                <a:cs typeface="Lato"/>
                <a:sym typeface="Lato"/>
              </a:rPr>
              <a:t>HAZARD SIGNAL</a:t>
            </a:r>
            <a:endParaRPr/>
          </a:p>
        </p:txBody>
      </p:sp>
      <p:sp>
        <p:nvSpPr>
          <p:cNvPr id="502" name="Google Shape;502;p19"/>
          <p:cNvSpPr/>
          <p:nvPr/>
        </p:nvSpPr>
        <p:spPr>
          <a:xfrm>
            <a:off x="9239250" y="3314700"/>
            <a:ext cx="2324100" cy="685800"/>
          </a:xfrm>
          <a:prstGeom prst="rect">
            <a:avLst/>
          </a:prstGeom>
          <a:noFill/>
          <a:ln>
            <a:noFill/>
          </a:ln>
        </p:spPr>
        <p:txBody>
          <a:bodyPr anchorCtr="0" anchor="t" bIns="0" lIns="0" spcFirstLastPara="1" rIns="0" wrap="square" tIns="0">
            <a:noAutofit/>
          </a:bodyPr>
          <a:lstStyle/>
          <a:p>
            <a:pPr indent="0" lvl="0" marL="0" marR="0" rtl="0" algn="l">
              <a:lnSpc>
                <a:spcPct val="102000"/>
              </a:lnSpc>
              <a:spcBef>
                <a:spcPts val="0"/>
              </a:spcBef>
              <a:spcAft>
                <a:spcPts val="0"/>
              </a:spcAft>
              <a:buClr>
                <a:srgbClr val="12304E"/>
              </a:buClr>
              <a:buSzPts val="1593"/>
              <a:buFont typeface="Lato"/>
              <a:buNone/>
            </a:pPr>
            <a:r>
              <a:rPr b="1" i="0" lang="it-IT" sz="1594">
                <a:solidFill>
                  <a:srgbClr val="12304E"/>
                </a:solidFill>
                <a:latin typeface="Lato"/>
                <a:ea typeface="Lato"/>
                <a:cs typeface="Lato"/>
                <a:sym typeface="Lato"/>
              </a:rPr>
              <a:t>Change in extreme-heat conditions</a:t>
            </a:r>
            <a:endParaRPr/>
          </a:p>
        </p:txBody>
      </p:sp>
      <p:sp>
        <p:nvSpPr>
          <p:cNvPr id="503" name="Google Shape;503;p19"/>
          <p:cNvSpPr/>
          <p:nvPr/>
        </p:nvSpPr>
        <p:spPr>
          <a:xfrm>
            <a:off x="666750" y="4286250"/>
            <a:ext cx="11125200" cy="66675"/>
          </a:xfrm>
          <a:prstGeom prst="rect">
            <a:avLst/>
          </a:prstGeom>
          <a:gradFill>
            <a:gsLst>
              <a:gs pos="0">
                <a:srgbClr val="183A59"/>
              </a:gs>
              <a:gs pos="38000">
                <a:srgbClr val="00A88F"/>
              </a:gs>
              <a:gs pos="70000">
                <a:srgbClr val="F2B632"/>
              </a:gs>
              <a:gs pos="100000">
                <a:srgbClr val="008D7A"/>
              </a:gs>
            </a:gsLst>
            <a:lin ang="0" scaled="0"/>
          </a:gra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4" name="Google Shape;504;p19"/>
          <p:cNvSpPr/>
          <p:nvPr/>
        </p:nvSpPr>
        <p:spPr>
          <a:xfrm>
            <a:off x="819150" y="4762500"/>
            <a:ext cx="49530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616"/>
              <a:buFont typeface="Lato"/>
              <a:buNone/>
            </a:pPr>
            <a:r>
              <a:rPr b="1" i="0" lang="it-IT" sz="1616">
                <a:solidFill>
                  <a:srgbClr val="008D7A"/>
                </a:solidFill>
                <a:latin typeface="Lato"/>
                <a:ea typeface="Lato"/>
                <a:cs typeface="Lato"/>
                <a:sym typeface="Lato"/>
              </a:rPr>
              <a:t>Context determines how the signal should be used</a:t>
            </a:r>
            <a:endParaRPr/>
          </a:p>
        </p:txBody>
      </p:sp>
      <p:sp>
        <p:nvSpPr>
          <p:cNvPr id="505" name="Google Shape;505;p19"/>
          <p:cNvSpPr/>
          <p:nvPr/>
        </p:nvSpPr>
        <p:spPr>
          <a:xfrm>
            <a:off x="6019800" y="4752975"/>
            <a:ext cx="5200650" cy="428625"/>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12304E"/>
              </a:buClr>
              <a:buSzPts val="1339"/>
              <a:buFont typeface="Lato"/>
              <a:buNone/>
            </a:pPr>
            <a:r>
              <a:rPr b="0" i="0" lang="it-IT" sz="1339">
                <a:solidFill>
                  <a:srgbClr val="12304E"/>
                </a:solidFill>
                <a:latin typeface="Lato"/>
                <a:ea typeface="Lato"/>
                <a:cs typeface="Lato"/>
                <a:sym typeface="Lato"/>
              </a:rPr>
              <a:t>Threshold, season, baseline, exposure and vulnerability all affect interpretation.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510" name="Shape 510"/>
        <p:cNvGrpSpPr/>
        <p:nvPr/>
      </p:nvGrpSpPr>
      <p:grpSpPr>
        <a:xfrm>
          <a:off x="0" y="0"/>
          <a:ext cx="0" cy="0"/>
          <a:chOff x="0" y="0"/>
          <a:chExt cx="0" cy="0"/>
        </a:xfrm>
      </p:grpSpPr>
      <p:sp>
        <p:nvSpPr>
          <p:cNvPr id="511" name="Google Shape;511;p20"/>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What problem does CAVA solve?</a:t>
            </a:r>
            <a:endParaRPr/>
          </a:p>
        </p:txBody>
      </p:sp>
      <p:sp>
        <p:nvSpPr>
          <p:cNvPr id="512" name="Google Shape;512;p20"/>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CAVA reduces repeated technical work between climate archives and decision-relevant outputs</a:t>
            </a:r>
            <a:endParaRPr/>
          </a:p>
        </p:txBody>
      </p:sp>
      <p:sp>
        <p:nvSpPr>
          <p:cNvPr id="513" name="Google Shape;513;p20"/>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4" name="Google Shape;514;p20"/>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5" name="Google Shape;515;p20"/>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20"/>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517" name="Google Shape;517;p20"/>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b="0" i="0" lang="it-IT" sz="750">
                <a:solidFill>
                  <a:srgbClr val="687984"/>
                </a:solidFill>
                <a:latin typeface="Lato"/>
                <a:ea typeface="Lato"/>
                <a:cs typeface="Lato"/>
                <a:sym typeface="Lato"/>
              </a:rPr>
              <a:t>16</a:t>
            </a:r>
            <a:endParaRPr/>
          </a:p>
        </p:txBody>
      </p:sp>
      <p:sp>
        <p:nvSpPr>
          <p:cNvPr id="518" name="Google Shape;518;p20"/>
          <p:cNvSpPr/>
          <p:nvPr/>
        </p:nvSpPr>
        <p:spPr>
          <a:xfrm>
            <a:off x="819150" y="19050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Large climate archives</a:t>
            </a:r>
            <a:endParaRPr/>
          </a:p>
        </p:txBody>
      </p:sp>
      <p:sp>
        <p:nvSpPr>
          <p:cNvPr id="519" name="Google Shape;519;p20"/>
          <p:cNvSpPr/>
          <p:nvPr/>
        </p:nvSpPr>
        <p:spPr>
          <a:xfrm>
            <a:off x="819150" y="25527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Different grids and calendars</a:t>
            </a:r>
            <a:endParaRPr/>
          </a:p>
        </p:txBody>
      </p:sp>
      <p:sp>
        <p:nvSpPr>
          <p:cNvPr id="520" name="Google Shape;520;p20"/>
          <p:cNvSpPr/>
          <p:nvPr/>
        </p:nvSpPr>
        <p:spPr>
          <a:xfrm>
            <a:off x="819150" y="32004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Multiple models and scenarios</a:t>
            </a:r>
            <a:endParaRPr/>
          </a:p>
        </p:txBody>
      </p:sp>
      <p:sp>
        <p:nvSpPr>
          <p:cNvPr id="521" name="Google Shape;521;p20"/>
          <p:cNvSpPr/>
          <p:nvPr/>
        </p:nvSpPr>
        <p:spPr>
          <a:xfrm>
            <a:off x="819150" y="38481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Repeated processing steps</a:t>
            </a:r>
            <a:endParaRPr/>
          </a:p>
        </p:txBody>
      </p:sp>
      <p:sp>
        <p:nvSpPr>
          <p:cNvPr id="522" name="Google Shape;522;p20"/>
          <p:cNvSpPr/>
          <p:nvPr/>
        </p:nvSpPr>
        <p:spPr>
          <a:xfrm>
            <a:off x="4438650" y="1866900"/>
            <a:ext cx="3314700" cy="2971800"/>
          </a:xfrm>
          <a:prstGeom prst="roundRect">
            <a:avLst>
              <a:gd fmla="val 2564" name="adj"/>
            </a:avLst>
          </a:prstGeom>
          <a:solidFill>
            <a:srgbClr val="12304E"/>
          </a:solidFill>
          <a:ln cap="flat" cmpd="sng" w="9525">
            <a:solidFill>
              <a:srgbClr val="12304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20"/>
          <p:cNvSpPr/>
          <p:nvPr/>
        </p:nvSpPr>
        <p:spPr>
          <a:xfrm>
            <a:off x="4953000" y="2228850"/>
            <a:ext cx="2286000" cy="5524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FFFFF"/>
              </a:buClr>
              <a:buSzPts val="2850"/>
              <a:buFont typeface="Lato"/>
              <a:buNone/>
            </a:pPr>
            <a:r>
              <a:rPr b="1" i="0" lang="it-IT" sz="2850">
                <a:solidFill>
                  <a:srgbClr val="FFFFFF"/>
                </a:solidFill>
                <a:latin typeface="Lato"/>
                <a:ea typeface="Lato"/>
                <a:cs typeface="Lato"/>
                <a:sym typeface="Lato"/>
              </a:rPr>
              <a:t>CAVA</a:t>
            </a:r>
            <a:endParaRPr/>
          </a:p>
        </p:txBody>
      </p:sp>
      <p:sp>
        <p:nvSpPr>
          <p:cNvPr id="524" name="Google Shape;524;p20"/>
          <p:cNvSpPr/>
          <p:nvPr/>
        </p:nvSpPr>
        <p:spPr>
          <a:xfrm>
            <a:off x="4914900" y="3086100"/>
            <a:ext cx="2362200" cy="11430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DCE8EF"/>
              </a:buClr>
              <a:buSzPts val="1500"/>
              <a:buFont typeface="Lato"/>
              <a:buNone/>
            </a:pPr>
            <a:r>
              <a:rPr b="0" i="0" lang="it-IT" sz="1500">
                <a:solidFill>
                  <a:srgbClr val="DCE8EF"/>
                </a:solidFill>
                <a:latin typeface="Lato"/>
                <a:ea typeface="Lato"/>
                <a:cs typeface="Lato"/>
                <a:sym typeface="Lato"/>
              </a:rPr>
              <a:t>Shared data access</a:t>
            </a:r>
            <a:endParaRPr/>
          </a:p>
          <a:p>
            <a:pPr indent="0" lvl="0" marL="0" marR="0" rtl="0" algn="ctr">
              <a:lnSpc>
                <a:spcPct val="125000"/>
              </a:lnSpc>
              <a:spcBef>
                <a:spcPts val="0"/>
              </a:spcBef>
              <a:spcAft>
                <a:spcPts val="0"/>
              </a:spcAft>
              <a:buClr>
                <a:srgbClr val="DCE8EF"/>
              </a:buClr>
              <a:buSzPts val="1500"/>
              <a:buFont typeface="Lato"/>
              <a:buNone/>
            </a:pPr>
            <a:r>
              <a:rPr b="0" i="0" lang="it-IT" sz="1500">
                <a:solidFill>
                  <a:srgbClr val="DCE8EF"/>
                </a:solidFill>
                <a:latin typeface="Lato"/>
                <a:ea typeface="Lato"/>
                <a:cs typeface="Lato"/>
                <a:sym typeface="Lato"/>
              </a:rPr>
              <a:t>Harmonized processing</a:t>
            </a:r>
            <a:endParaRPr/>
          </a:p>
          <a:p>
            <a:pPr indent="0" lvl="0" marL="0" marR="0" rtl="0" algn="ctr">
              <a:lnSpc>
                <a:spcPct val="125000"/>
              </a:lnSpc>
              <a:spcBef>
                <a:spcPts val="0"/>
              </a:spcBef>
              <a:spcAft>
                <a:spcPts val="0"/>
              </a:spcAft>
              <a:buClr>
                <a:srgbClr val="DCE8EF"/>
              </a:buClr>
              <a:buSzPts val="1500"/>
              <a:buFont typeface="Lato"/>
              <a:buNone/>
            </a:pPr>
            <a:r>
              <a:rPr b="0" i="0" lang="it-IT" sz="1500">
                <a:solidFill>
                  <a:srgbClr val="DCE8EF"/>
                </a:solidFill>
                <a:latin typeface="Lato"/>
                <a:ea typeface="Lato"/>
                <a:cs typeface="Lato"/>
                <a:sym typeface="Lato"/>
              </a:rPr>
              <a:t>Repeatable analytical workflows</a:t>
            </a:r>
            <a:endParaRPr/>
          </a:p>
        </p:txBody>
      </p:sp>
      <p:sp>
        <p:nvSpPr>
          <p:cNvPr id="525" name="Google Shape;525;p20"/>
          <p:cNvSpPr/>
          <p:nvPr/>
        </p:nvSpPr>
        <p:spPr>
          <a:xfrm>
            <a:off x="8439150" y="19050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296"/>
              <a:buFont typeface="Lato"/>
              <a:buNone/>
            </a:pPr>
            <a:r>
              <a:rPr b="1" i="0" lang="it-IT" sz="1296">
                <a:solidFill>
                  <a:srgbClr val="12304E"/>
                </a:solidFill>
                <a:latin typeface="Lato"/>
                <a:ea typeface="Lato"/>
                <a:cs typeface="Lato"/>
                <a:sym typeface="Lato"/>
              </a:rPr>
              <a:t>Historical and future climate data</a:t>
            </a:r>
            <a:endParaRPr/>
          </a:p>
        </p:txBody>
      </p:sp>
      <p:sp>
        <p:nvSpPr>
          <p:cNvPr id="526" name="Google Shape;526;p20"/>
          <p:cNvSpPr/>
          <p:nvPr/>
        </p:nvSpPr>
        <p:spPr>
          <a:xfrm>
            <a:off x="8439150" y="2552700"/>
            <a:ext cx="2952750" cy="428625"/>
          </a:xfrm>
          <a:prstGeom prst="roundRect">
            <a:avLst>
              <a:gd fmla="val 17778" name="adj"/>
            </a:avLst>
          </a:prstGeom>
          <a:solidFill>
            <a:srgbClr val="E7F4EF"/>
          </a:solidFill>
          <a:ln cap="flat" cmpd="sng" w="9525">
            <a:solidFill>
              <a:srgbClr val="00A88F"/>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Climate indicators</a:t>
            </a:r>
            <a:endParaRPr/>
          </a:p>
        </p:txBody>
      </p:sp>
      <p:sp>
        <p:nvSpPr>
          <p:cNvPr id="527" name="Google Shape;527;p20"/>
          <p:cNvSpPr/>
          <p:nvPr/>
        </p:nvSpPr>
        <p:spPr>
          <a:xfrm>
            <a:off x="8439150" y="32004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Maps and analytical outputs</a:t>
            </a:r>
            <a:endParaRPr/>
          </a:p>
        </p:txBody>
      </p:sp>
      <p:sp>
        <p:nvSpPr>
          <p:cNvPr id="528" name="Google Shape;528;p20"/>
          <p:cNvSpPr/>
          <p:nvPr/>
        </p:nvSpPr>
        <p:spPr>
          <a:xfrm>
            <a:off x="8439150" y="3848100"/>
            <a:ext cx="2952750" cy="428625"/>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76200" lIns="171450" spcFirstLastPara="1" rIns="114300" wrap="square" tIns="76200">
            <a:noAutofit/>
          </a:bodyPr>
          <a:lstStyle/>
          <a:p>
            <a:pPr indent="0" lvl="0" marL="0" marR="0" rtl="0" algn="l">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Inputs for downstream analysis</a:t>
            </a:r>
            <a:endParaRPr/>
          </a:p>
        </p:txBody>
      </p:sp>
      <p:sp>
        <p:nvSpPr>
          <p:cNvPr id="529" name="Google Shape;529;p20"/>
          <p:cNvSpPr/>
          <p:nvPr/>
        </p:nvSpPr>
        <p:spPr>
          <a:xfrm>
            <a:off x="3086100" y="5257800"/>
            <a:ext cx="6019800" cy="33337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A88F"/>
              </a:buClr>
              <a:buSzPts val="1800"/>
              <a:buFont typeface="Lato"/>
              <a:buNone/>
            </a:pPr>
            <a:r>
              <a:rPr b="1" i="0" lang="it-IT" sz="1800">
                <a:solidFill>
                  <a:srgbClr val="00A88F"/>
                </a:solidFill>
                <a:latin typeface="Lato"/>
                <a:ea typeface="Lato"/>
                <a:cs typeface="Lato"/>
                <a:sym typeface="Lato"/>
              </a:rPr>
              <a:t>A structured pathway, not only a data portal</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534" name="Shape 534"/>
        <p:cNvGrpSpPr/>
        <p:nvPr/>
      </p:nvGrpSpPr>
      <p:grpSpPr>
        <a:xfrm>
          <a:off x="0" y="0"/>
          <a:ext cx="0" cy="0"/>
          <a:chOff x="0" y="0"/>
          <a:chExt cx="0" cy="0"/>
        </a:xfrm>
      </p:grpSpPr>
      <p:sp>
        <p:nvSpPr>
          <p:cNvPr id="535" name="Google Shape;535;p21"/>
          <p:cNvSpPr/>
          <p:nvPr/>
        </p:nvSpPr>
        <p:spPr>
          <a:xfrm>
            <a:off x="0" y="0"/>
            <a:ext cx="4095750" cy="6858000"/>
          </a:xfrm>
          <a:prstGeom prst="rect">
            <a:avLst/>
          </a:prstGeom>
          <a:solidFill>
            <a:srgbClr val="E7F4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6" name="Google Shape;536;p21"/>
          <p:cNvSpPr/>
          <p:nvPr/>
        </p:nvSpPr>
        <p:spPr>
          <a:xfrm>
            <a:off x="0" y="0"/>
            <a:ext cx="9525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21"/>
          <p:cNvSpPr/>
          <p:nvPr/>
        </p:nvSpPr>
        <p:spPr>
          <a:xfrm>
            <a:off x="723900" y="914400"/>
            <a:ext cx="2381250" cy="17145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A8D9CF"/>
              </a:buClr>
              <a:buSzPts val="8250"/>
              <a:buFont typeface="Lato"/>
              <a:buNone/>
            </a:pPr>
            <a:r>
              <a:rPr b="1" i="0" lang="it-IT" sz="8250">
                <a:solidFill>
                  <a:srgbClr val="A8D9CF"/>
                </a:solidFill>
                <a:latin typeface="Lato"/>
                <a:ea typeface="Lato"/>
                <a:cs typeface="Lato"/>
                <a:sym typeface="Lato"/>
              </a:rPr>
              <a:t>17</a:t>
            </a:r>
            <a:endParaRPr/>
          </a:p>
        </p:txBody>
      </p:sp>
      <p:sp>
        <p:nvSpPr>
          <p:cNvPr id="538" name="Google Shape;538;p21"/>
          <p:cNvSpPr/>
          <p:nvPr/>
        </p:nvSpPr>
        <p:spPr>
          <a:xfrm>
            <a:off x="4724400" y="1200150"/>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9" name="Google Shape;539;p21"/>
          <p:cNvSpPr/>
          <p:nvPr/>
        </p:nvSpPr>
        <p:spPr>
          <a:xfrm>
            <a:off x="4724400" y="1809750"/>
            <a:ext cx="6334125" cy="1428750"/>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12304E"/>
              </a:buClr>
              <a:buSzPts val="3150"/>
              <a:buFont typeface="Lato"/>
              <a:buNone/>
            </a:pPr>
            <a:r>
              <a:rPr b="1" i="0" lang="it-IT" sz="3150">
                <a:solidFill>
                  <a:srgbClr val="12304E"/>
                </a:solidFill>
                <a:latin typeface="Lato"/>
                <a:ea typeface="Lato"/>
                <a:cs typeface="Lato"/>
                <a:sym typeface="Lato"/>
              </a:rPr>
              <a:t>How CAVA operationalizes the workflow</a:t>
            </a:r>
            <a:endParaRPr/>
          </a:p>
        </p:txBody>
      </p:sp>
      <p:sp>
        <p:nvSpPr>
          <p:cNvPr id="540" name="Google Shape;540;p21"/>
          <p:cNvSpPr/>
          <p:nvPr/>
        </p:nvSpPr>
        <p:spPr>
          <a:xfrm>
            <a:off x="4743450" y="3562350"/>
            <a:ext cx="6191250" cy="838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687984"/>
              </a:buClr>
              <a:buSzPts val="1575"/>
              <a:buFont typeface="Lato"/>
              <a:buNone/>
            </a:pPr>
            <a:r>
              <a:rPr b="0" i="0" lang="it-IT" sz="1575">
                <a:solidFill>
                  <a:srgbClr val="687984"/>
                </a:solidFill>
                <a:latin typeface="Lato"/>
                <a:ea typeface="Lato"/>
                <a:cs typeface="Lato"/>
                <a:sym typeface="Lato"/>
              </a:rPr>
              <a:t>A common data backbone supports different interfaces for different users and analytical needs.</a:t>
            </a:r>
            <a:endParaRPr/>
          </a:p>
        </p:txBody>
      </p:sp>
      <p:sp>
        <p:nvSpPr>
          <p:cNvPr id="541" name="Google Shape;541;p21"/>
          <p:cNvSpPr/>
          <p:nvPr/>
        </p:nvSpPr>
        <p:spPr>
          <a:xfrm>
            <a:off x="4743450" y="5905500"/>
            <a:ext cx="619125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304E"/>
        </a:solidFill>
      </p:bgPr>
    </p:bg>
    <p:spTree>
      <p:nvGrpSpPr>
        <p:cNvPr id="546" name="Shape 546"/>
        <p:cNvGrpSpPr/>
        <p:nvPr/>
      </p:nvGrpSpPr>
      <p:grpSpPr>
        <a:xfrm>
          <a:off x="0" y="0"/>
          <a:ext cx="0" cy="0"/>
          <a:chOff x="0" y="0"/>
          <a:chExt cx="0" cy="0"/>
        </a:xfrm>
      </p:grpSpPr>
      <p:sp>
        <p:nvSpPr>
          <p:cNvPr id="547" name="Google Shape;547;p22"/>
          <p:cNvSpPr/>
          <p:nvPr/>
        </p:nvSpPr>
        <p:spPr>
          <a:xfrm>
            <a:off x="0" y="0"/>
            <a:ext cx="9525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8" name="Google Shape;548;p22"/>
          <p:cNvSpPr/>
          <p:nvPr/>
        </p:nvSpPr>
        <p:spPr>
          <a:xfrm>
            <a:off x="723900" y="457200"/>
            <a:ext cx="7620000" cy="4762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2325"/>
              <a:buFont typeface="Lato"/>
              <a:buNone/>
            </a:pPr>
            <a:r>
              <a:rPr b="1" i="0" lang="it-IT" sz="2325">
                <a:solidFill>
                  <a:srgbClr val="FFFFFF"/>
                </a:solidFill>
                <a:latin typeface="Lato"/>
                <a:ea typeface="Lato"/>
                <a:cs typeface="Lato"/>
                <a:sym typeface="Lato"/>
              </a:rPr>
              <a:t>CAVA data backbone</a:t>
            </a:r>
            <a:endParaRPr/>
          </a:p>
        </p:txBody>
      </p:sp>
      <p:sp>
        <p:nvSpPr>
          <p:cNvPr id="549" name="Google Shape;549;p22"/>
          <p:cNvSpPr/>
          <p:nvPr/>
        </p:nvSpPr>
        <p:spPr>
          <a:xfrm>
            <a:off x="733425" y="1009650"/>
            <a:ext cx="88582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BFD0DA"/>
              </a:buClr>
              <a:buSzPts val="1125"/>
              <a:buFont typeface="Lato"/>
              <a:buNone/>
            </a:pPr>
            <a:r>
              <a:rPr b="0" i="0" lang="it-IT" sz="1125">
                <a:solidFill>
                  <a:srgbClr val="BFD0DA"/>
                </a:solidFill>
                <a:latin typeface="Lato"/>
                <a:ea typeface="Lato"/>
                <a:cs typeface="Lato"/>
                <a:sym typeface="Lato"/>
              </a:rPr>
              <a:t>A shared infrastructure connects source datasets, harmonized access and user-facing outputs</a:t>
            </a:r>
            <a:endParaRPr/>
          </a:p>
        </p:txBody>
      </p:sp>
      <p:sp>
        <p:nvSpPr>
          <p:cNvPr id="550" name="Google Shape;550;p22"/>
          <p:cNvSpPr/>
          <p:nvPr/>
        </p:nvSpPr>
        <p:spPr>
          <a:xfrm>
            <a:off x="733425" y="1447800"/>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1" name="Google Shape;551;p22"/>
          <p:cNvSpPr/>
          <p:nvPr/>
        </p:nvSpPr>
        <p:spPr>
          <a:xfrm>
            <a:off x="971550" y="1847850"/>
            <a:ext cx="10248900" cy="628650"/>
          </a:xfrm>
          <a:prstGeom prst="rect">
            <a:avLst/>
          </a:prstGeom>
          <a:solidFill>
            <a:srgbClr val="EAF3F8">
              <a:alpha val="14118"/>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22"/>
          <p:cNvSpPr/>
          <p:nvPr/>
        </p:nvSpPr>
        <p:spPr>
          <a:xfrm>
            <a:off x="1200150" y="20097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125"/>
              <a:buFont typeface="Lato"/>
              <a:buNone/>
            </a:pPr>
            <a:r>
              <a:rPr b="1" i="0" lang="it-IT" sz="1125">
                <a:solidFill>
                  <a:srgbClr val="FFFFFF"/>
                </a:solidFill>
                <a:latin typeface="Lato"/>
                <a:ea typeface="Lato"/>
                <a:cs typeface="Lato"/>
                <a:sym typeface="Lato"/>
              </a:rPr>
              <a:t>01</a:t>
            </a:r>
            <a:endParaRPr/>
          </a:p>
        </p:txBody>
      </p:sp>
      <p:sp>
        <p:nvSpPr>
          <p:cNvPr id="553" name="Google Shape;553;p22"/>
          <p:cNvSpPr/>
          <p:nvPr/>
        </p:nvSpPr>
        <p:spPr>
          <a:xfrm>
            <a:off x="1809750" y="2009775"/>
            <a:ext cx="21431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50"/>
              <a:buFont typeface="Lato"/>
              <a:buNone/>
            </a:pPr>
            <a:r>
              <a:rPr b="1" i="0" lang="it-IT" sz="1050">
                <a:solidFill>
                  <a:srgbClr val="FFFFFF"/>
                </a:solidFill>
                <a:latin typeface="Lato"/>
                <a:ea typeface="Lato"/>
                <a:cs typeface="Lato"/>
                <a:sym typeface="Lato"/>
              </a:rPr>
              <a:t>SOURCE DATA</a:t>
            </a:r>
            <a:endParaRPr/>
          </a:p>
        </p:txBody>
      </p:sp>
      <p:sp>
        <p:nvSpPr>
          <p:cNvPr id="554" name="Google Shape;554;p22"/>
          <p:cNvSpPr/>
          <p:nvPr/>
        </p:nvSpPr>
        <p:spPr>
          <a:xfrm>
            <a:off x="4095750" y="1962150"/>
            <a:ext cx="6477000" cy="40005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350"/>
              <a:buFont typeface="Lato"/>
              <a:buNone/>
            </a:pPr>
            <a:r>
              <a:rPr b="0" i="0" lang="it-IT" sz="1350">
                <a:solidFill>
                  <a:srgbClr val="FFFFFF"/>
                </a:solidFill>
                <a:latin typeface="Lato"/>
                <a:ea typeface="Lato"/>
                <a:cs typeface="Lato"/>
                <a:sym typeface="Lato"/>
              </a:rPr>
              <a:t>ERA5 and CORDEX-CORE climate datasets </a:t>
            </a:r>
            <a:r>
              <a:rPr lang="it-IT" sz="1350">
                <a:solidFill>
                  <a:srgbClr val="FFFFFF"/>
                </a:solidFill>
                <a:latin typeface="Lato"/>
                <a:ea typeface="Lato"/>
                <a:cs typeface="Lato"/>
                <a:sym typeface="Lato"/>
              </a:rPr>
              <a:t>(NetCDF, ~20 TB)</a:t>
            </a:r>
            <a:endParaRPr/>
          </a:p>
        </p:txBody>
      </p:sp>
      <p:sp>
        <p:nvSpPr>
          <p:cNvPr id="555" name="Google Shape;555;p22"/>
          <p:cNvSpPr/>
          <p:nvPr/>
        </p:nvSpPr>
        <p:spPr>
          <a:xfrm>
            <a:off x="1333500" y="2724150"/>
            <a:ext cx="9525000" cy="628650"/>
          </a:xfrm>
          <a:prstGeom prst="rect">
            <a:avLst/>
          </a:prstGeom>
          <a:solidFill>
            <a:srgbClr val="00A88F">
              <a:alpha val="21961"/>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22"/>
          <p:cNvSpPr/>
          <p:nvPr/>
        </p:nvSpPr>
        <p:spPr>
          <a:xfrm>
            <a:off x="1562100" y="28860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8BE0D2"/>
              </a:buClr>
              <a:buSzPts val="1125"/>
              <a:buFont typeface="Lato"/>
              <a:buNone/>
            </a:pPr>
            <a:r>
              <a:rPr b="1" i="0" lang="it-IT" sz="1125">
                <a:solidFill>
                  <a:srgbClr val="8BE0D2"/>
                </a:solidFill>
                <a:latin typeface="Lato"/>
                <a:ea typeface="Lato"/>
                <a:cs typeface="Lato"/>
                <a:sym typeface="Lato"/>
              </a:rPr>
              <a:t>02</a:t>
            </a:r>
            <a:endParaRPr/>
          </a:p>
        </p:txBody>
      </p:sp>
      <p:sp>
        <p:nvSpPr>
          <p:cNvPr id="557" name="Google Shape;557;p22"/>
          <p:cNvSpPr/>
          <p:nvPr/>
        </p:nvSpPr>
        <p:spPr>
          <a:xfrm>
            <a:off x="2171700" y="2886075"/>
            <a:ext cx="21431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8BE0D2"/>
              </a:buClr>
              <a:buSzPts val="1050"/>
              <a:buFont typeface="Lato"/>
              <a:buNone/>
            </a:pPr>
            <a:r>
              <a:rPr b="1" i="0" lang="it-IT" sz="1050">
                <a:solidFill>
                  <a:srgbClr val="8BE0D2"/>
                </a:solidFill>
                <a:latin typeface="Lato"/>
                <a:ea typeface="Lato"/>
                <a:cs typeface="Lato"/>
                <a:sym typeface="Lato"/>
              </a:rPr>
              <a:t>REMOTE SERVICES</a:t>
            </a:r>
            <a:endParaRPr/>
          </a:p>
        </p:txBody>
      </p:sp>
      <p:sp>
        <p:nvSpPr>
          <p:cNvPr id="558" name="Google Shape;558;p22"/>
          <p:cNvSpPr/>
          <p:nvPr/>
        </p:nvSpPr>
        <p:spPr>
          <a:xfrm>
            <a:off x="4457700" y="2838450"/>
            <a:ext cx="5753100" cy="40005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350"/>
              <a:buFont typeface="Lato"/>
              <a:buNone/>
            </a:pPr>
            <a:r>
              <a:rPr b="0" i="0" lang="it-IT" sz="1350">
                <a:solidFill>
                  <a:srgbClr val="FFFFFF"/>
                </a:solidFill>
                <a:latin typeface="Lato"/>
                <a:ea typeface="Lato"/>
                <a:cs typeface="Lato"/>
                <a:sym typeface="Lato"/>
              </a:rPr>
              <a:t>THREDDS and OPeNDAP deliver only the requested subset</a:t>
            </a:r>
            <a:endParaRPr/>
          </a:p>
        </p:txBody>
      </p:sp>
      <p:sp>
        <p:nvSpPr>
          <p:cNvPr id="559" name="Google Shape;559;p22"/>
          <p:cNvSpPr/>
          <p:nvPr/>
        </p:nvSpPr>
        <p:spPr>
          <a:xfrm>
            <a:off x="1695450" y="3600450"/>
            <a:ext cx="8801100" cy="628650"/>
          </a:xfrm>
          <a:prstGeom prst="rect">
            <a:avLst/>
          </a:prstGeom>
          <a:solidFill>
            <a:srgbClr val="FFFFFF">
              <a:alpha val="10196"/>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0" name="Google Shape;560;p22"/>
          <p:cNvSpPr/>
          <p:nvPr/>
        </p:nvSpPr>
        <p:spPr>
          <a:xfrm>
            <a:off x="1924050" y="37623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125"/>
              <a:buFont typeface="Lato"/>
              <a:buNone/>
            </a:pPr>
            <a:r>
              <a:rPr b="1" i="0" lang="it-IT" sz="1125">
                <a:solidFill>
                  <a:srgbClr val="FFFFFF"/>
                </a:solidFill>
                <a:latin typeface="Lato"/>
                <a:ea typeface="Lato"/>
                <a:cs typeface="Lato"/>
                <a:sym typeface="Lato"/>
              </a:rPr>
              <a:t>03</a:t>
            </a:r>
            <a:endParaRPr/>
          </a:p>
        </p:txBody>
      </p:sp>
      <p:sp>
        <p:nvSpPr>
          <p:cNvPr id="561" name="Google Shape;561;p22"/>
          <p:cNvSpPr/>
          <p:nvPr/>
        </p:nvSpPr>
        <p:spPr>
          <a:xfrm>
            <a:off x="2533650" y="3762375"/>
            <a:ext cx="21431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50"/>
              <a:buFont typeface="Lato"/>
              <a:buNone/>
            </a:pPr>
            <a:r>
              <a:rPr b="1" i="0" lang="it-IT" sz="1050">
                <a:solidFill>
                  <a:srgbClr val="FFFFFF"/>
                </a:solidFill>
                <a:latin typeface="Lato"/>
                <a:ea typeface="Lato"/>
                <a:cs typeface="Lato"/>
                <a:sym typeface="Lato"/>
              </a:rPr>
              <a:t>HARMONIZATION</a:t>
            </a:r>
            <a:endParaRPr/>
          </a:p>
        </p:txBody>
      </p:sp>
      <p:sp>
        <p:nvSpPr>
          <p:cNvPr id="562" name="Google Shape;562;p22"/>
          <p:cNvSpPr/>
          <p:nvPr/>
        </p:nvSpPr>
        <p:spPr>
          <a:xfrm>
            <a:off x="4819650" y="3714750"/>
            <a:ext cx="5029200" cy="40005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350"/>
              <a:buFont typeface="Lato"/>
              <a:buNone/>
            </a:pPr>
            <a:r>
              <a:rPr b="0" i="0" lang="it-IT" sz="1350">
                <a:solidFill>
                  <a:srgbClr val="FFFFFF"/>
                </a:solidFill>
                <a:latin typeface="Lato"/>
                <a:ea typeface="Lato"/>
                <a:cs typeface="Lato"/>
                <a:sym typeface="Lato"/>
              </a:rPr>
              <a:t>Spatial selection, calendars, units and analysis-ready structures</a:t>
            </a:r>
            <a:endParaRPr/>
          </a:p>
        </p:txBody>
      </p:sp>
      <p:sp>
        <p:nvSpPr>
          <p:cNvPr id="563" name="Google Shape;563;p22"/>
          <p:cNvSpPr/>
          <p:nvPr/>
        </p:nvSpPr>
        <p:spPr>
          <a:xfrm>
            <a:off x="2057400" y="4476750"/>
            <a:ext cx="8077200" cy="628650"/>
          </a:xfrm>
          <a:prstGeom prst="rect">
            <a:avLst/>
          </a:prstGeom>
          <a:solidFill>
            <a:srgbClr val="F2B632">
              <a:alpha val="20000"/>
            </a:srgb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22"/>
          <p:cNvSpPr/>
          <p:nvPr/>
        </p:nvSpPr>
        <p:spPr>
          <a:xfrm>
            <a:off x="2286000" y="46386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D879"/>
              </a:buClr>
              <a:buSzPts val="1125"/>
              <a:buFont typeface="Lato"/>
              <a:buNone/>
            </a:pPr>
            <a:r>
              <a:rPr b="1" i="0" lang="it-IT" sz="1125">
                <a:solidFill>
                  <a:srgbClr val="FFD879"/>
                </a:solidFill>
                <a:latin typeface="Lato"/>
                <a:ea typeface="Lato"/>
                <a:cs typeface="Lato"/>
                <a:sym typeface="Lato"/>
              </a:rPr>
              <a:t>04</a:t>
            </a:r>
            <a:endParaRPr/>
          </a:p>
        </p:txBody>
      </p:sp>
      <p:sp>
        <p:nvSpPr>
          <p:cNvPr id="565" name="Google Shape;565;p22"/>
          <p:cNvSpPr/>
          <p:nvPr/>
        </p:nvSpPr>
        <p:spPr>
          <a:xfrm>
            <a:off x="2895600" y="4638675"/>
            <a:ext cx="2143125"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D879"/>
              </a:buClr>
              <a:buSzPts val="1050"/>
              <a:buFont typeface="Lato"/>
              <a:buNone/>
            </a:pPr>
            <a:r>
              <a:rPr b="1" i="0" lang="it-IT" sz="1050">
                <a:solidFill>
                  <a:srgbClr val="FFD879"/>
                </a:solidFill>
                <a:latin typeface="Lato"/>
                <a:ea typeface="Lato"/>
                <a:cs typeface="Lato"/>
                <a:sym typeface="Lato"/>
              </a:rPr>
              <a:t>ANALYTICAL OUTPUTS</a:t>
            </a:r>
            <a:endParaRPr/>
          </a:p>
        </p:txBody>
      </p:sp>
      <p:sp>
        <p:nvSpPr>
          <p:cNvPr id="566" name="Google Shape;566;p22"/>
          <p:cNvSpPr/>
          <p:nvPr/>
        </p:nvSpPr>
        <p:spPr>
          <a:xfrm>
            <a:off x="5181600" y="4591050"/>
            <a:ext cx="4305300" cy="40005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FFFFFF"/>
              </a:buClr>
              <a:buSzPts val="1250"/>
              <a:buFont typeface="Lato"/>
              <a:buNone/>
            </a:pPr>
            <a:r>
              <a:rPr b="0" i="0" lang="it-IT" sz="1250">
                <a:solidFill>
                  <a:srgbClr val="FFFFFF"/>
                </a:solidFill>
                <a:latin typeface="Lato"/>
                <a:ea typeface="Lato"/>
                <a:cs typeface="Lato"/>
                <a:sym typeface="Lato"/>
              </a:rPr>
              <a:t>Indicators, maps, time series and data for downstream workflows</a:t>
            </a:r>
            <a:endParaRPr/>
          </a:p>
        </p:txBody>
      </p:sp>
      <p:sp>
        <p:nvSpPr>
          <p:cNvPr id="567" name="Google Shape;567;p22"/>
          <p:cNvSpPr/>
          <p:nvPr/>
        </p:nvSpPr>
        <p:spPr>
          <a:xfrm>
            <a:off x="2381250" y="5648325"/>
            <a:ext cx="74295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Confirm production services, dataset catalogue and responsibilities with Cantabria</a:t>
            </a:r>
            <a:endParaRPr/>
          </a:p>
        </p:txBody>
      </p:sp>
      <p:sp>
        <p:nvSpPr>
          <p:cNvPr id="568" name="Google Shape;568;p22"/>
          <p:cNvSpPr/>
          <p:nvPr/>
        </p:nvSpPr>
        <p:spPr>
          <a:xfrm>
            <a:off x="733425" y="6229350"/>
            <a:ext cx="10810875" cy="9525"/>
          </a:xfrm>
          <a:prstGeom prst="rect">
            <a:avLst/>
          </a:prstGeom>
          <a:solidFill>
            <a:srgbClr val="61788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9" name="Google Shape;569;p22"/>
          <p:cNvSpPr/>
          <p:nvPr/>
        </p:nvSpPr>
        <p:spPr>
          <a:xfrm>
            <a:off x="742950" y="6353175"/>
            <a:ext cx="238125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B6C5CF"/>
              </a:buClr>
              <a:buSzPts val="750"/>
              <a:buFont typeface="Lato"/>
              <a:buNone/>
            </a:pPr>
            <a:r>
              <a:rPr b="1" i="0" lang="it-IT" sz="750">
                <a:solidFill>
                  <a:srgbClr val="B6C5CF"/>
                </a:solidFill>
                <a:latin typeface="Lato"/>
                <a:ea typeface="Lato"/>
                <a:cs typeface="Lato"/>
                <a:sym typeface="Lato"/>
              </a:rPr>
              <a:t>CAVA MODULE 1</a:t>
            </a:r>
            <a:endParaRPr/>
          </a:p>
        </p:txBody>
      </p:sp>
      <p:sp>
        <p:nvSpPr>
          <p:cNvPr id="570" name="Google Shape;570;p22"/>
          <p:cNvSpPr/>
          <p:nvPr/>
        </p:nvSpPr>
        <p:spPr>
          <a:xfrm>
            <a:off x="11049000" y="6353175"/>
            <a:ext cx="476250"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B6C5CF"/>
              </a:buClr>
              <a:buSzPts val="750"/>
              <a:buFont typeface="Lato"/>
              <a:buNone/>
            </a:pPr>
            <a:r>
              <a:rPr b="0" i="0" lang="it-IT" sz="750">
                <a:solidFill>
                  <a:srgbClr val="B6C5CF"/>
                </a:solidFill>
                <a:latin typeface="Lato"/>
                <a:ea typeface="Lato"/>
                <a:cs typeface="Lato"/>
                <a:sym typeface="Lato"/>
              </a:rPr>
              <a:t>18</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575" name="Shape 575"/>
        <p:cNvGrpSpPr/>
        <p:nvPr/>
      </p:nvGrpSpPr>
      <p:grpSpPr>
        <a:xfrm>
          <a:off x="0" y="0"/>
          <a:ext cx="0" cy="0"/>
          <a:chOff x="0" y="0"/>
          <a:chExt cx="0" cy="0"/>
        </a:xfrm>
      </p:grpSpPr>
      <p:sp>
        <p:nvSpPr>
          <p:cNvPr id="576" name="Google Shape;576;p23"/>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025"/>
              <a:buFont typeface="Lato"/>
              <a:buNone/>
            </a:pPr>
            <a:r>
              <a:rPr b="1" lang="it-IT" sz="2025">
                <a:solidFill>
                  <a:srgbClr val="12304E"/>
                </a:solidFill>
                <a:latin typeface="Lato"/>
                <a:ea typeface="Lato"/>
                <a:cs typeface="Lato"/>
                <a:sym typeface="Lato"/>
              </a:rPr>
              <a:t>Source data and remote services</a:t>
            </a:r>
            <a:endParaRPr/>
          </a:p>
        </p:txBody>
      </p:sp>
      <p:sp>
        <p:nvSpPr>
          <p:cNvPr id="577" name="Google Shape;577;p23"/>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same underlying data services can support no-code, R and Python workflows</a:t>
            </a:r>
            <a:endParaRPr/>
          </a:p>
        </p:txBody>
      </p:sp>
      <p:sp>
        <p:nvSpPr>
          <p:cNvPr id="578" name="Google Shape;578;p23"/>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9" name="Google Shape;579;p23"/>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0" name="Google Shape;580;p23"/>
          <p:cNvSpPr/>
          <p:nvPr/>
        </p:nvSpPr>
        <p:spPr>
          <a:xfrm>
            <a:off x="609600" y="6229350"/>
            <a:ext cx="11125200" cy="96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23"/>
          <p:cNvSpPr/>
          <p:nvPr/>
        </p:nvSpPr>
        <p:spPr>
          <a:xfrm>
            <a:off x="647700" y="6343650"/>
            <a:ext cx="4000500" cy="17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582" name="Google Shape;582;p23"/>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19</a:t>
            </a:r>
            <a:endParaRPr/>
          </a:p>
        </p:txBody>
      </p:sp>
      <p:sp>
        <p:nvSpPr>
          <p:cNvPr id="583" name="Google Shape;583;p23"/>
          <p:cNvSpPr/>
          <p:nvPr/>
        </p:nvSpPr>
        <p:spPr>
          <a:xfrm>
            <a:off x="881063" y="1838800"/>
            <a:ext cx="2333700" cy="2859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25"/>
              <a:buFont typeface="Lato"/>
              <a:buNone/>
            </a:pPr>
            <a:r>
              <a:rPr b="1" i="0" lang="it-IT" sz="1125">
                <a:solidFill>
                  <a:srgbClr val="687984"/>
                </a:solidFill>
                <a:latin typeface="Lato"/>
                <a:ea typeface="Lato"/>
                <a:cs typeface="Lato"/>
                <a:sym typeface="Lato"/>
              </a:rPr>
              <a:t>CLIMATE ARCHIVES</a:t>
            </a:r>
            <a:endParaRPr/>
          </a:p>
        </p:txBody>
      </p:sp>
      <p:sp>
        <p:nvSpPr>
          <p:cNvPr id="584" name="Google Shape;584;p23"/>
          <p:cNvSpPr/>
          <p:nvPr/>
        </p:nvSpPr>
        <p:spPr>
          <a:xfrm>
            <a:off x="881063" y="2315050"/>
            <a:ext cx="2333700" cy="1543200"/>
          </a:xfrm>
          <a:prstGeom prst="roundRect">
            <a:avLst>
              <a:gd fmla="val 4938" name="adj"/>
            </a:avLst>
          </a:prstGeom>
          <a:solidFill>
            <a:srgbClr val="EAF3F8"/>
          </a:solidFill>
          <a:ln cap="flat" cmpd="sng" w="9525">
            <a:solidFill>
              <a:srgbClr val="DCE5E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23"/>
          <p:cNvSpPr/>
          <p:nvPr/>
        </p:nvSpPr>
        <p:spPr>
          <a:xfrm>
            <a:off x="1052525" y="2487100"/>
            <a:ext cx="1990800" cy="11610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12304E"/>
              </a:buClr>
              <a:buSzPts val="1200"/>
              <a:buFont typeface="Lato"/>
              <a:buNone/>
            </a:pPr>
            <a:r>
              <a:rPr b="1" i="0" lang="it-IT">
                <a:solidFill>
                  <a:srgbClr val="12304E"/>
                </a:solidFill>
                <a:latin typeface="Lato"/>
                <a:ea typeface="Lato"/>
                <a:cs typeface="Lato"/>
                <a:sym typeface="Lato"/>
              </a:rPr>
              <a:t>ERA5</a:t>
            </a:r>
            <a:endParaRPr sz="1600"/>
          </a:p>
          <a:p>
            <a:pPr indent="0" lvl="0" marL="0" marR="0" rtl="0" algn="ctr">
              <a:lnSpc>
                <a:spcPct val="125000"/>
              </a:lnSpc>
              <a:spcBef>
                <a:spcPts val="0"/>
              </a:spcBef>
              <a:spcAft>
                <a:spcPts val="0"/>
              </a:spcAft>
              <a:buClr>
                <a:srgbClr val="12304E"/>
              </a:buClr>
              <a:buSzPts val="1200"/>
              <a:buFont typeface="Lato"/>
              <a:buNone/>
            </a:pPr>
            <a:r>
              <a:rPr b="1" i="0" lang="it-IT">
                <a:solidFill>
                  <a:srgbClr val="12304E"/>
                </a:solidFill>
                <a:latin typeface="Lato"/>
                <a:ea typeface="Lato"/>
                <a:cs typeface="Lato"/>
                <a:sym typeface="Lato"/>
              </a:rPr>
              <a:t>CORDEX-CORE</a:t>
            </a:r>
            <a:endParaRPr sz="1600"/>
          </a:p>
          <a:p>
            <a:pPr indent="0" lvl="0" marL="0" marR="0" rtl="0" algn="ctr">
              <a:lnSpc>
                <a:spcPct val="125000"/>
              </a:lnSpc>
              <a:spcBef>
                <a:spcPts val="0"/>
              </a:spcBef>
              <a:spcAft>
                <a:spcPts val="0"/>
              </a:spcAft>
              <a:buClr>
                <a:srgbClr val="12304E"/>
              </a:buClr>
              <a:buSzPts val="1200"/>
              <a:buFont typeface="Lato"/>
              <a:buNone/>
            </a:pPr>
            <a:r>
              <a:rPr b="1" i="0" lang="it-IT">
                <a:solidFill>
                  <a:srgbClr val="12304E"/>
                </a:solidFill>
                <a:latin typeface="Lato"/>
                <a:ea typeface="Lato"/>
                <a:cs typeface="Lato"/>
                <a:sym typeface="Lato"/>
              </a:rPr>
              <a:t>CORDEX-CORE-BC</a:t>
            </a:r>
            <a:endParaRPr b="1" i="0">
              <a:solidFill>
                <a:srgbClr val="12304E"/>
              </a:solidFill>
              <a:latin typeface="Lato"/>
              <a:ea typeface="Lato"/>
              <a:cs typeface="Lato"/>
              <a:sym typeface="Lato"/>
            </a:endParaRPr>
          </a:p>
          <a:p>
            <a:pPr indent="0" lvl="0" marL="0" marR="0" rtl="0" algn="ctr">
              <a:lnSpc>
                <a:spcPct val="125000"/>
              </a:lnSpc>
              <a:spcBef>
                <a:spcPts val="0"/>
              </a:spcBef>
              <a:spcAft>
                <a:spcPts val="0"/>
              </a:spcAft>
              <a:buClr>
                <a:srgbClr val="12304E"/>
              </a:buClr>
              <a:buSzPts val="1200"/>
              <a:buFont typeface="Lato"/>
              <a:buNone/>
            </a:pPr>
            <a:r>
              <a:rPr b="1" lang="it-IT" sz="1200">
                <a:solidFill>
                  <a:srgbClr val="12304E"/>
                </a:solidFill>
                <a:latin typeface="Lato"/>
                <a:ea typeface="Lato"/>
                <a:cs typeface="Lato"/>
                <a:sym typeface="Lato"/>
              </a:rPr>
              <a:t>(&gt;200,000 NetCDF files)</a:t>
            </a:r>
            <a:endParaRPr b="1" sz="1200">
              <a:solidFill>
                <a:srgbClr val="12304E"/>
              </a:solidFill>
              <a:latin typeface="Lato"/>
              <a:ea typeface="Lato"/>
              <a:cs typeface="Lato"/>
              <a:sym typeface="Lato"/>
            </a:endParaRPr>
          </a:p>
        </p:txBody>
      </p:sp>
      <p:sp>
        <p:nvSpPr>
          <p:cNvPr id="586" name="Google Shape;586;p23"/>
          <p:cNvSpPr/>
          <p:nvPr/>
        </p:nvSpPr>
        <p:spPr>
          <a:xfrm>
            <a:off x="4624388" y="1838800"/>
            <a:ext cx="2952900" cy="2859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A88F"/>
              </a:buClr>
              <a:buSzPts val="1125"/>
              <a:buFont typeface="Lato"/>
              <a:buNone/>
            </a:pPr>
            <a:r>
              <a:rPr b="1" lang="it-IT" sz="1125">
                <a:solidFill>
                  <a:srgbClr val="00A88F"/>
                </a:solidFill>
                <a:latin typeface="Lato"/>
                <a:ea typeface="Lato"/>
                <a:cs typeface="Lato"/>
                <a:sym typeface="Lato"/>
              </a:rPr>
              <a:t>DATA SERVICES</a:t>
            </a:r>
            <a:r>
              <a:rPr b="1" i="0" lang="it-IT" sz="1125">
                <a:solidFill>
                  <a:srgbClr val="00A88F"/>
                </a:solidFill>
                <a:latin typeface="Lato"/>
                <a:ea typeface="Lato"/>
                <a:cs typeface="Lato"/>
                <a:sym typeface="Lato"/>
              </a:rPr>
              <a:t> + PROCESSING</a:t>
            </a:r>
            <a:endParaRPr/>
          </a:p>
        </p:txBody>
      </p:sp>
      <p:sp>
        <p:nvSpPr>
          <p:cNvPr id="587" name="Google Shape;587;p23"/>
          <p:cNvSpPr/>
          <p:nvPr/>
        </p:nvSpPr>
        <p:spPr>
          <a:xfrm>
            <a:off x="4433888" y="2315050"/>
            <a:ext cx="3333900" cy="1543200"/>
          </a:xfrm>
          <a:prstGeom prst="roundRect">
            <a:avLst>
              <a:gd fmla="val 4938" name="adj"/>
            </a:avLst>
          </a:prstGeom>
          <a:solidFill>
            <a:srgbClr val="12304E"/>
          </a:solidFill>
          <a:ln cap="flat" cmpd="sng" w="9525">
            <a:solidFill>
              <a:srgbClr val="12304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8" name="Google Shape;588;p23"/>
          <p:cNvSpPr/>
          <p:nvPr/>
        </p:nvSpPr>
        <p:spPr>
          <a:xfrm>
            <a:off x="4814888" y="2600800"/>
            <a:ext cx="2571900" cy="933600"/>
          </a:xfrm>
          <a:prstGeom prst="rect">
            <a:avLst/>
          </a:prstGeom>
          <a:noFill/>
          <a:ln>
            <a:noFill/>
          </a:ln>
        </p:spPr>
        <p:txBody>
          <a:bodyPr anchorCtr="0" anchor="t" bIns="0" lIns="0" spcFirstLastPara="1" rIns="0" wrap="square" tIns="0">
            <a:noAutofit/>
          </a:bodyPr>
          <a:lstStyle/>
          <a:p>
            <a:pPr indent="0" lvl="0" marL="0" marR="0" rtl="0" algn="ctr">
              <a:lnSpc>
                <a:spcPct val="125000"/>
              </a:lnSpc>
              <a:spcBef>
                <a:spcPts val="0"/>
              </a:spcBef>
              <a:spcAft>
                <a:spcPts val="0"/>
              </a:spcAft>
              <a:buClr>
                <a:srgbClr val="FFFFFF"/>
              </a:buClr>
              <a:buSzPts val="1575"/>
              <a:buFont typeface="Lato"/>
              <a:buNone/>
            </a:pPr>
            <a:r>
              <a:rPr b="1" i="0" lang="it-IT" sz="1575">
                <a:solidFill>
                  <a:srgbClr val="FFFFFF"/>
                </a:solidFill>
                <a:latin typeface="Lato"/>
                <a:ea typeface="Lato"/>
                <a:cs typeface="Lato"/>
                <a:sym typeface="Lato"/>
              </a:rPr>
              <a:t>Remote subset</a:t>
            </a:r>
            <a:endParaRPr/>
          </a:p>
          <a:p>
            <a:pPr indent="0" lvl="0" marL="0" marR="0" rtl="0" algn="ctr">
              <a:lnSpc>
                <a:spcPct val="125000"/>
              </a:lnSpc>
              <a:spcBef>
                <a:spcPts val="0"/>
              </a:spcBef>
              <a:spcAft>
                <a:spcPts val="0"/>
              </a:spcAft>
              <a:buClr>
                <a:srgbClr val="FFFFFF"/>
              </a:buClr>
              <a:buSzPts val="1575"/>
              <a:buFont typeface="Lato"/>
              <a:buNone/>
            </a:pPr>
            <a:r>
              <a:rPr b="1" i="0" lang="it-IT" sz="1575">
                <a:solidFill>
                  <a:srgbClr val="FFFFFF"/>
                </a:solidFill>
                <a:latin typeface="Lato"/>
                <a:ea typeface="Lato"/>
                <a:cs typeface="Lato"/>
                <a:sym typeface="Lato"/>
              </a:rPr>
              <a:t>Harmonize</a:t>
            </a:r>
            <a:endParaRPr/>
          </a:p>
          <a:p>
            <a:pPr indent="0" lvl="0" marL="0" marR="0" rtl="0" algn="ctr">
              <a:lnSpc>
                <a:spcPct val="125000"/>
              </a:lnSpc>
              <a:spcBef>
                <a:spcPts val="0"/>
              </a:spcBef>
              <a:spcAft>
                <a:spcPts val="0"/>
              </a:spcAft>
              <a:buClr>
                <a:srgbClr val="FFFFFF"/>
              </a:buClr>
              <a:buSzPts val="1575"/>
              <a:buFont typeface="Lato"/>
              <a:buNone/>
            </a:pPr>
            <a:r>
              <a:rPr b="1" i="0" lang="it-IT" sz="1575">
                <a:solidFill>
                  <a:srgbClr val="FFFFFF"/>
                </a:solidFill>
                <a:latin typeface="Lato"/>
                <a:ea typeface="Lato"/>
                <a:cs typeface="Lato"/>
                <a:sym typeface="Lato"/>
              </a:rPr>
              <a:t>Aggregate and calculate</a:t>
            </a:r>
            <a:endParaRPr/>
          </a:p>
        </p:txBody>
      </p:sp>
      <p:sp>
        <p:nvSpPr>
          <p:cNvPr id="589" name="Google Shape;589;p23"/>
          <p:cNvSpPr/>
          <p:nvPr/>
        </p:nvSpPr>
        <p:spPr>
          <a:xfrm>
            <a:off x="9129713" y="1838800"/>
            <a:ext cx="2333700" cy="2859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687984"/>
              </a:buClr>
              <a:buSzPts val="1125"/>
              <a:buFont typeface="Lato"/>
              <a:buNone/>
            </a:pPr>
            <a:r>
              <a:rPr b="1" i="0" lang="it-IT" sz="1125">
                <a:solidFill>
                  <a:srgbClr val="687984"/>
                </a:solidFill>
                <a:latin typeface="Lato"/>
                <a:ea typeface="Lato"/>
                <a:cs typeface="Lato"/>
                <a:sym typeface="Lato"/>
              </a:rPr>
              <a:t>USER ENTRY POINTS</a:t>
            </a:r>
            <a:endParaRPr/>
          </a:p>
        </p:txBody>
      </p:sp>
      <p:sp>
        <p:nvSpPr>
          <p:cNvPr id="590" name="Google Shape;590;p23"/>
          <p:cNvSpPr/>
          <p:nvPr/>
        </p:nvSpPr>
        <p:spPr>
          <a:xfrm>
            <a:off x="8939213" y="2315050"/>
            <a:ext cx="2524200" cy="428700"/>
          </a:xfrm>
          <a:prstGeom prst="roundRect">
            <a:avLst>
              <a:gd fmla="val 17778" name="adj"/>
            </a:avLst>
          </a:prstGeom>
          <a:solidFill>
            <a:srgbClr val="E7F4EF"/>
          </a:solidFill>
          <a:ln cap="flat" cmpd="sng" w="9525">
            <a:solidFill>
              <a:srgbClr val="DCE5E2"/>
            </a:solidFill>
            <a:prstDash val="solid"/>
            <a:round/>
            <a:headEnd len="sm" w="sm" type="none"/>
            <a:tailEnd len="sm" w="sm" type="none"/>
          </a:ln>
        </p:spPr>
        <p:txBody>
          <a:bodyPr anchorCtr="0" anchor="ctr" bIns="47625" lIns="76200" spcFirstLastPara="1" rIns="76200" wrap="square" tIns="47625">
            <a:noAutofit/>
          </a:bodyPr>
          <a:lstStyle/>
          <a:p>
            <a:pPr indent="0" lvl="0" marL="0" marR="0" rtl="0" algn="ctr">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CAVA Platform (W</a:t>
            </a:r>
            <a:r>
              <a:rPr b="1" lang="it-IT" sz="1350">
                <a:solidFill>
                  <a:srgbClr val="12304E"/>
                </a:solidFill>
                <a:latin typeface="Lato"/>
                <a:ea typeface="Lato"/>
                <a:cs typeface="Lato"/>
                <a:sym typeface="Lato"/>
              </a:rPr>
              <a:t>eb)</a:t>
            </a:r>
            <a:endParaRPr/>
          </a:p>
        </p:txBody>
      </p:sp>
      <p:sp>
        <p:nvSpPr>
          <p:cNvPr id="591" name="Google Shape;591;p23"/>
          <p:cNvSpPr/>
          <p:nvPr/>
        </p:nvSpPr>
        <p:spPr>
          <a:xfrm>
            <a:off x="8939213" y="2867500"/>
            <a:ext cx="2524200" cy="428700"/>
          </a:xfrm>
          <a:prstGeom prst="roundRect">
            <a:avLst>
              <a:gd fmla="val 17778" name="adj"/>
            </a:avLst>
          </a:prstGeom>
          <a:solidFill>
            <a:srgbClr val="FFFFFF"/>
          </a:solidFill>
          <a:ln cap="flat" cmpd="sng" w="9525">
            <a:solidFill>
              <a:srgbClr val="DCE5E2"/>
            </a:solidFill>
            <a:prstDash val="solid"/>
            <a:round/>
            <a:headEnd len="sm" w="sm" type="none"/>
            <a:tailEnd len="sm" w="sm" type="none"/>
          </a:ln>
        </p:spPr>
        <p:txBody>
          <a:bodyPr anchorCtr="0" anchor="ctr" bIns="47625" lIns="76200" spcFirstLastPara="1" rIns="76200" wrap="square" tIns="47625">
            <a:noAutofit/>
          </a:bodyPr>
          <a:lstStyle/>
          <a:p>
            <a:pPr indent="0" lvl="0" marL="0" marR="0" rtl="0" algn="ctr">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CAVAanalytics </a:t>
            </a:r>
            <a:r>
              <a:rPr b="1" lang="it-IT" sz="1350">
                <a:solidFill>
                  <a:srgbClr val="12304E"/>
                </a:solidFill>
                <a:latin typeface="Lato"/>
                <a:ea typeface="Lato"/>
                <a:cs typeface="Lato"/>
                <a:sym typeface="Lato"/>
              </a:rPr>
              <a:t>(R)</a:t>
            </a:r>
            <a:endParaRPr/>
          </a:p>
        </p:txBody>
      </p:sp>
      <p:sp>
        <p:nvSpPr>
          <p:cNvPr id="592" name="Google Shape;592;p23"/>
          <p:cNvSpPr/>
          <p:nvPr/>
        </p:nvSpPr>
        <p:spPr>
          <a:xfrm>
            <a:off x="8939213" y="3419950"/>
            <a:ext cx="2524200" cy="428700"/>
          </a:xfrm>
          <a:prstGeom prst="roundRect">
            <a:avLst>
              <a:gd fmla="val 17778" name="adj"/>
            </a:avLst>
          </a:prstGeom>
          <a:solidFill>
            <a:srgbClr val="FFF3D1"/>
          </a:solidFill>
          <a:ln cap="flat" cmpd="sng" w="9525">
            <a:solidFill>
              <a:srgbClr val="DCE5E2"/>
            </a:solidFill>
            <a:prstDash val="solid"/>
            <a:round/>
            <a:headEnd len="sm" w="sm" type="none"/>
            <a:tailEnd len="sm" w="sm" type="none"/>
          </a:ln>
        </p:spPr>
        <p:txBody>
          <a:bodyPr anchorCtr="0" anchor="ctr" bIns="47625" lIns="76200" spcFirstLastPara="1" rIns="76200" wrap="square" tIns="47625">
            <a:noAutofit/>
          </a:bodyPr>
          <a:lstStyle/>
          <a:p>
            <a:pPr indent="0" lvl="0" marL="0" marR="0" rtl="0" algn="ctr">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cavapy </a:t>
            </a:r>
            <a:r>
              <a:rPr b="1" lang="it-IT" sz="1350">
                <a:solidFill>
                  <a:srgbClr val="12304E"/>
                </a:solidFill>
                <a:latin typeface="Lato"/>
                <a:ea typeface="Lato"/>
                <a:cs typeface="Lato"/>
                <a:sym typeface="Lato"/>
              </a:rPr>
              <a:t>(Python)</a:t>
            </a:r>
            <a:endParaRPr/>
          </a:p>
        </p:txBody>
      </p:sp>
      <p:sp>
        <p:nvSpPr>
          <p:cNvPr id="593" name="Google Shape;593;p23"/>
          <p:cNvSpPr/>
          <p:nvPr/>
        </p:nvSpPr>
        <p:spPr>
          <a:xfrm>
            <a:off x="3214688" y="3067525"/>
            <a:ext cx="1219200" cy="285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23"/>
          <p:cNvSpPr/>
          <p:nvPr/>
        </p:nvSpPr>
        <p:spPr>
          <a:xfrm>
            <a:off x="7767638" y="3067525"/>
            <a:ext cx="1171500" cy="285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5" name="Google Shape;595;p23"/>
          <p:cNvSpPr/>
          <p:nvPr/>
        </p:nvSpPr>
        <p:spPr>
          <a:xfrm>
            <a:off x="1481138" y="4087175"/>
            <a:ext cx="9229800" cy="838200"/>
          </a:xfrm>
          <a:prstGeom prst="roundRect">
            <a:avLst>
              <a:gd fmla="val 9091" name="adj"/>
            </a:avLst>
          </a:prstGeom>
          <a:solidFill>
            <a:srgbClr val="E7F4EF"/>
          </a:solidFill>
          <a:ln cap="flat" cmpd="sng" w="9525">
            <a:solidFill>
              <a:srgbClr val="E7F4E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23"/>
          <p:cNvSpPr/>
          <p:nvPr/>
        </p:nvSpPr>
        <p:spPr>
          <a:xfrm>
            <a:off x="1738313" y="4315775"/>
            <a:ext cx="1809600" cy="23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275"/>
              <a:buFont typeface="Lato"/>
              <a:buNone/>
            </a:pPr>
            <a:r>
              <a:rPr b="1" i="0" lang="it-IT" sz="1275">
                <a:solidFill>
                  <a:srgbClr val="008D7A"/>
                </a:solidFill>
                <a:latin typeface="Lato"/>
                <a:ea typeface="Lato"/>
                <a:cs typeface="Lato"/>
                <a:sym typeface="Lato"/>
              </a:rPr>
              <a:t>Design principle</a:t>
            </a:r>
            <a:endParaRPr/>
          </a:p>
        </p:txBody>
      </p:sp>
      <p:sp>
        <p:nvSpPr>
          <p:cNvPr id="597" name="Google Shape;597;p23"/>
          <p:cNvSpPr/>
          <p:nvPr/>
        </p:nvSpPr>
        <p:spPr>
          <a:xfrm>
            <a:off x="3643313" y="4249100"/>
            <a:ext cx="6686700" cy="419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309"/>
              <a:buFont typeface="Lato"/>
              <a:buNone/>
            </a:pPr>
            <a:r>
              <a:rPr b="0" i="0" lang="it-IT" sz="1310">
                <a:solidFill>
                  <a:srgbClr val="12304E"/>
                </a:solidFill>
                <a:latin typeface="Lato"/>
                <a:ea typeface="Lato"/>
                <a:cs typeface="Lato"/>
                <a:sym typeface="Lato"/>
              </a:rPr>
              <a:t>Users choose an interface that matches their task and technical skills without rebuilding the data pipeline.</a:t>
            </a:r>
            <a:endParaRPr/>
          </a:p>
        </p:txBody>
      </p:sp>
      <p:sp>
        <p:nvSpPr>
          <p:cNvPr id="598" name="Google Shape;598;p23"/>
          <p:cNvSpPr/>
          <p:nvPr/>
        </p:nvSpPr>
        <p:spPr>
          <a:xfrm>
            <a:off x="1481150" y="5086825"/>
            <a:ext cx="9229800" cy="838200"/>
          </a:xfrm>
          <a:prstGeom prst="roundRect">
            <a:avLst>
              <a:gd fmla="val 9091" name="adj"/>
            </a:avLst>
          </a:prstGeom>
          <a:solidFill>
            <a:srgbClr val="E7F4EF"/>
          </a:solidFill>
          <a:ln cap="flat" cmpd="sng" w="9525">
            <a:solidFill>
              <a:srgbClr val="E7F4E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9" name="Google Shape;599;p23"/>
          <p:cNvSpPr/>
          <p:nvPr/>
        </p:nvSpPr>
        <p:spPr>
          <a:xfrm>
            <a:off x="1738325" y="5315425"/>
            <a:ext cx="1809600" cy="238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8D7A"/>
              </a:buClr>
              <a:buSzPts val="1275"/>
              <a:buFont typeface="Lato"/>
              <a:buNone/>
            </a:pPr>
            <a:r>
              <a:rPr b="1" lang="it-IT" sz="1275">
                <a:solidFill>
                  <a:srgbClr val="008D7A"/>
                </a:solidFill>
                <a:latin typeface="Lato"/>
                <a:ea typeface="Lato"/>
                <a:cs typeface="Lato"/>
                <a:sym typeface="Lato"/>
              </a:rPr>
              <a:t>Remote data access enabled</a:t>
            </a:r>
            <a:endParaRPr/>
          </a:p>
        </p:txBody>
      </p:sp>
      <p:sp>
        <p:nvSpPr>
          <p:cNvPr id="600" name="Google Shape;600;p23"/>
          <p:cNvSpPr/>
          <p:nvPr/>
        </p:nvSpPr>
        <p:spPr>
          <a:xfrm>
            <a:off x="3643325" y="5248750"/>
            <a:ext cx="6686700" cy="5385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rgbClr val="12304E"/>
              </a:buClr>
              <a:buSzPts val="1309"/>
              <a:buFont typeface="Lato"/>
              <a:buNone/>
            </a:pPr>
            <a:r>
              <a:rPr lang="it-IT" sz="1310">
                <a:solidFill>
                  <a:srgbClr val="12304E"/>
                </a:solidFill>
                <a:latin typeface="Lato"/>
                <a:ea typeface="Lato"/>
                <a:cs typeface="Lato"/>
                <a:sym typeface="Lato"/>
              </a:rPr>
              <a:t>No need to download thousands of NetCDF files, URLs provide transparent access to analysis ready data (ARD) and data cubes.</a:t>
            </a:r>
            <a:endParaRPr>
              <a:solidFill>
                <a:schemeClr val="dk1"/>
              </a:solidFill>
            </a:endParaRPr>
          </a:p>
          <a:p>
            <a:pPr indent="0" lvl="0" marL="0" marR="0" rtl="0" algn="l">
              <a:lnSpc>
                <a:spcPct val="105000"/>
              </a:lnSpc>
              <a:spcBef>
                <a:spcPts val="0"/>
              </a:spcBef>
              <a:spcAft>
                <a:spcPts val="0"/>
              </a:spcAft>
              <a:buClr>
                <a:srgbClr val="12304E"/>
              </a:buClr>
              <a:buSzPts val="1309"/>
              <a:buFont typeface="Lato"/>
              <a:buNone/>
            </a:pPr>
            <a:r>
              <a:t/>
            </a:r>
            <a:endParaRPr sz="1310">
              <a:solidFill>
                <a:srgbClr val="12304E"/>
              </a:solidFill>
              <a:latin typeface="Lato"/>
              <a:ea typeface="Lato"/>
              <a:cs typeface="Lato"/>
              <a:sym typeface="Lato"/>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605" name="Shape 605"/>
        <p:cNvGrpSpPr/>
        <p:nvPr/>
      </p:nvGrpSpPr>
      <p:grpSpPr>
        <a:xfrm>
          <a:off x="0" y="0"/>
          <a:ext cx="0" cy="0"/>
          <a:chOff x="0" y="0"/>
          <a:chExt cx="0" cy="0"/>
        </a:xfrm>
      </p:grpSpPr>
      <p:sp>
        <p:nvSpPr>
          <p:cNvPr id="606" name="Google Shape;606;p24"/>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rgbClr val="12304E"/>
              </a:buClr>
              <a:buSzPts val="2025"/>
              <a:buFont typeface="Lato"/>
              <a:buNone/>
            </a:pPr>
            <a:r>
              <a:rPr b="1" lang="it-IT" sz="2025">
                <a:solidFill>
                  <a:srgbClr val="12304E"/>
                </a:solidFill>
                <a:latin typeface="Lato"/>
                <a:ea typeface="Lato"/>
                <a:cs typeface="Lato"/>
                <a:sym typeface="Lato"/>
              </a:rPr>
              <a:t>Harmonization and analytical outputs</a:t>
            </a:r>
            <a:endParaRPr b="1" sz="2250">
              <a:solidFill>
                <a:srgbClr val="12304E"/>
              </a:solidFill>
              <a:latin typeface="Lato"/>
              <a:ea typeface="Lato"/>
              <a:cs typeface="Lato"/>
              <a:sym typeface="Lato"/>
            </a:endParaRPr>
          </a:p>
        </p:txBody>
      </p:sp>
      <p:sp>
        <p:nvSpPr>
          <p:cNvPr id="607" name="Google Shape;607;p24"/>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rgbClr val="687984"/>
              </a:buClr>
              <a:buSzPts val="1050"/>
              <a:buFont typeface="Lato"/>
              <a:buNone/>
            </a:pPr>
            <a:r>
              <a:rPr lang="it-IT" sz="1050">
                <a:solidFill>
                  <a:srgbClr val="687984"/>
                </a:solidFill>
                <a:latin typeface="Lato"/>
                <a:ea typeface="Lato"/>
                <a:cs typeface="Lato"/>
                <a:sym typeface="Lato"/>
              </a:rPr>
              <a:t>The same underlying data services can support no-code, R and Python workflows</a:t>
            </a:r>
            <a:endParaRPr>
              <a:solidFill>
                <a:schemeClr val="dk1"/>
              </a:solidFill>
            </a:endParaRPr>
          </a:p>
          <a:p>
            <a:pPr indent="0" lvl="0" marL="0" marR="0" rtl="0" algn="l">
              <a:lnSpc>
                <a:spcPct val="105000"/>
              </a:lnSpc>
              <a:spcBef>
                <a:spcPts val="0"/>
              </a:spcBef>
              <a:spcAft>
                <a:spcPts val="0"/>
              </a:spcAft>
              <a:buClr>
                <a:srgbClr val="687984"/>
              </a:buClr>
              <a:buSzPts val="1050"/>
              <a:buFont typeface="Lato"/>
              <a:buNone/>
            </a:pPr>
            <a:r>
              <a:t/>
            </a:r>
            <a:endParaRPr sz="1050">
              <a:solidFill>
                <a:srgbClr val="687984"/>
              </a:solidFill>
              <a:latin typeface="Lato"/>
              <a:ea typeface="Lato"/>
              <a:cs typeface="Lato"/>
              <a:sym typeface="Lato"/>
            </a:endParaRPr>
          </a:p>
        </p:txBody>
      </p:sp>
      <p:sp>
        <p:nvSpPr>
          <p:cNvPr id="608" name="Google Shape;608;p24"/>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9" name="Google Shape;609;p24"/>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0" name="Google Shape;610;p24"/>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24"/>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612" name="Google Shape;612;p24"/>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20</a:t>
            </a:r>
            <a:endParaRPr/>
          </a:p>
        </p:txBody>
      </p:sp>
      <p:sp>
        <p:nvSpPr>
          <p:cNvPr id="613" name="Google Shape;613;p24"/>
          <p:cNvSpPr/>
          <p:nvPr/>
        </p:nvSpPr>
        <p:spPr>
          <a:xfrm>
            <a:off x="666750" y="1790700"/>
            <a:ext cx="3429000" cy="2152650"/>
          </a:xfrm>
          <a:prstGeom prst="rect">
            <a:avLst/>
          </a:prstGeom>
          <a:solidFill>
            <a:srgbClr val="EAF3F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614" name="Google Shape;614;p24"/>
          <p:cNvPicPr preferRelativeResize="0"/>
          <p:nvPr/>
        </p:nvPicPr>
        <p:blipFill rotWithShape="1">
          <a:blip r:embed="rId3">
            <a:alphaModFix/>
          </a:blip>
          <a:srcRect b="6801" l="0" r="0" t="6801"/>
          <a:stretch/>
        </p:blipFill>
        <p:spPr>
          <a:xfrm>
            <a:off x="666750" y="1790700"/>
            <a:ext cx="3429000" cy="2152650"/>
          </a:xfrm>
          <a:prstGeom prst="rect">
            <a:avLst/>
          </a:prstGeom>
          <a:noFill/>
          <a:ln>
            <a:noFill/>
          </a:ln>
        </p:spPr>
      </p:pic>
      <p:sp>
        <p:nvSpPr>
          <p:cNvPr id="615" name="Google Shape;615;p24"/>
          <p:cNvSpPr/>
          <p:nvPr/>
        </p:nvSpPr>
        <p:spPr>
          <a:xfrm>
            <a:off x="666750" y="4210050"/>
            <a:ext cx="314325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EXPLORE</a:t>
            </a:r>
            <a:endParaRPr/>
          </a:p>
        </p:txBody>
      </p:sp>
      <p:sp>
        <p:nvSpPr>
          <p:cNvPr id="616" name="Google Shape;616;p24"/>
          <p:cNvSpPr/>
          <p:nvPr/>
        </p:nvSpPr>
        <p:spPr>
          <a:xfrm>
            <a:off x="666750" y="4543425"/>
            <a:ext cx="314325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100"/>
              <a:buFont typeface="Lato"/>
              <a:buNone/>
            </a:pPr>
            <a:r>
              <a:rPr b="1" i="0" lang="it-IT" sz="2100">
                <a:solidFill>
                  <a:srgbClr val="12304E"/>
                </a:solidFill>
                <a:latin typeface="Lato"/>
                <a:ea typeface="Lato"/>
                <a:cs typeface="Lato"/>
                <a:sym typeface="Lato"/>
              </a:rPr>
              <a:t>CAVA Platform</a:t>
            </a:r>
            <a:endParaRPr/>
          </a:p>
        </p:txBody>
      </p:sp>
      <p:sp>
        <p:nvSpPr>
          <p:cNvPr id="617" name="Google Shape;617;p24"/>
          <p:cNvSpPr/>
          <p:nvPr/>
        </p:nvSpPr>
        <p:spPr>
          <a:xfrm>
            <a:off x="666750" y="5019675"/>
            <a:ext cx="3238500" cy="495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Web access for maps and climate-impact information (</a:t>
            </a:r>
            <a:r>
              <a:rPr b="0" i="0" lang="it-IT" sz="1275" u="sng">
                <a:solidFill>
                  <a:schemeClr val="hlink"/>
                </a:solidFill>
                <a:latin typeface="Lato"/>
                <a:ea typeface="Lato"/>
                <a:cs typeface="Lato"/>
                <a:sym typeface="Lato"/>
                <a:hlinkClick r:id="rId4"/>
              </a:rPr>
              <a:t>https://cavaplatform.fao.org</a:t>
            </a:r>
            <a:r>
              <a:rPr b="0" i="0" lang="it-IT" sz="1275">
                <a:solidFill>
                  <a:srgbClr val="687984"/>
                </a:solidFill>
                <a:latin typeface="Lato"/>
                <a:ea typeface="Lato"/>
                <a:cs typeface="Lato"/>
                <a:sym typeface="Lato"/>
              </a:rPr>
              <a:t>)</a:t>
            </a:r>
            <a:endParaRPr/>
          </a:p>
        </p:txBody>
      </p:sp>
      <p:sp>
        <p:nvSpPr>
          <p:cNvPr id="618" name="Google Shape;618;p24"/>
          <p:cNvSpPr/>
          <p:nvPr/>
        </p:nvSpPr>
        <p:spPr>
          <a:xfrm>
            <a:off x="4495800" y="1790700"/>
            <a:ext cx="3124200" cy="2152650"/>
          </a:xfrm>
          <a:prstGeom prst="rect">
            <a:avLst/>
          </a:prstGeom>
          <a:solidFill>
            <a:srgbClr val="12304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9" name="Google Shape;619;p24"/>
          <p:cNvSpPr/>
          <p:nvPr/>
        </p:nvSpPr>
        <p:spPr>
          <a:xfrm>
            <a:off x="4762500" y="2009775"/>
            <a:ext cx="2590800" cy="12001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FFFFF"/>
              </a:buClr>
              <a:buSzPts val="7200"/>
              <a:buFont typeface="Lato"/>
              <a:buNone/>
            </a:pPr>
            <a:r>
              <a:rPr b="1" i="0" lang="it-IT" sz="7200">
                <a:solidFill>
                  <a:srgbClr val="FFFFFF"/>
                </a:solidFill>
                <a:latin typeface="Lato"/>
                <a:ea typeface="Lato"/>
                <a:cs typeface="Lato"/>
                <a:sym typeface="Lato"/>
              </a:rPr>
              <a:t>R</a:t>
            </a:r>
            <a:endParaRPr/>
          </a:p>
        </p:txBody>
      </p:sp>
      <p:sp>
        <p:nvSpPr>
          <p:cNvPr id="620" name="Google Shape;620;p24"/>
          <p:cNvSpPr/>
          <p:nvPr/>
        </p:nvSpPr>
        <p:spPr>
          <a:xfrm>
            <a:off x="4762500" y="3200400"/>
            <a:ext cx="2590800" cy="3238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FFFFF"/>
              </a:buClr>
              <a:buSzPts val="1950"/>
              <a:buFont typeface="Lato"/>
              <a:buNone/>
            </a:pPr>
            <a:r>
              <a:rPr b="1" i="0" lang="it-IT" sz="1950">
                <a:solidFill>
                  <a:srgbClr val="FFFFFF"/>
                </a:solidFill>
                <a:latin typeface="Lato"/>
                <a:ea typeface="Lato"/>
                <a:cs typeface="Lato"/>
                <a:sym typeface="Lato"/>
              </a:rPr>
              <a:t>CAVAanalytics</a:t>
            </a:r>
            <a:endParaRPr/>
          </a:p>
        </p:txBody>
      </p:sp>
      <p:sp>
        <p:nvSpPr>
          <p:cNvPr id="621" name="Google Shape;621;p24"/>
          <p:cNvSpPr/>
          <p:nvPr/>
        </p:nvSpPr>
        <p:spPr>
          <a:xfrm>
            <a:off x="4495800" y="4210050"/>
            <a:ext cx="285750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83A59"/>
              </a:buClr>
              <a:buSzPts val="1050"/>
              <a:buFont typeface="Lato"/>
              <a:buNone/>
            </a:pPr>
            <a:r>
              <a:rPr b="1" i="0" lang="it-IT" sz="1050">
                <a:solidFill>
                  <a:srgbClr val="183A59"/>
                </a:solidFill>
                <a:latin typeface="Lato"/>
                <a:ea typeface="Lato"/>
                <a:cs typeface="Lato"/>
                <a:sym typeface="Lato"/>
              </a:rPr>
              <a:t>ANALYSE</a:t>
            </a:r>
            <a:endParaRPr/>
          </a:p>
        </p:txBody>
      </p:sp>
      <p:sp>
        <p:nvSpPr>
          <p:cNvPr id="622" name="Google Shape;622;p24"/>
          <p:cNvSpPr/>
          <p:nvPr/>
        </p:nvSpPr>
        <p:spPr>
          <a:xfrm>
            <a:off x="4495800" y="4543425"/>
            <a:ext cx="285750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100"/>
              <a:buFont typeface="Lato"/>
              <a:buNone/>
            </a:pPr>
            <a:r>
              <a:rPr b="1" i="0" lang="it-IT" sz="2100">
                <a:solidFill>
                  <a:srgbClr val="12304E"/>
                </a:solidFill>
                <a:latin typeface="Lato"/>
                <a:ea typeface="Lato"/>
                <a:cs typeface="Lato"/>
                <a:sym typeface="Lato"/>
              </a:rPr>
              <a:t>R workflows</a:t>
            </a:r>
            <a:endParaRPr/>
          </a:p>
        </p:txBody>
      </p:sp>
      <p:sp>
        <p:nvSpPr>
          <p:cNvPr id="623" name="Google Shape;623;p24"/>
          <p:cNvSpPr/>
          <p:nvPr/>
        </p:nvSpPr>
        <p:spPr>
          <a:xfrm>
            <a:off x="4495800" y="5019675"/>
            <a:ext cx="3124200" cy="495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Processing, indicators and visualization (</a:t>
            </a:r>
            <a:r>
              <a:rPr lang="it-IT" sz="1275" u="sng">
                <a:solidFill>
                  <a:schemeClr val="hlink"/>
                </a:solidFill>
                <a:latin typeface="Lato"/>
                <a:ea typeface="Lato"/>
                <a:cs typeface="Lato"/>
                <a:sym typeface="Lato"/>
                <a:hlinkClick r:id="rId5"/>
              </a:rPr>
              <a:t>https://github.com/un-fao/CAVAanalytics</a:t>
            </a:r>
            <a:r>
              <a:rPr lang="it-IT" sz="1275">
                <a:solidFill>
                  <a:srgbClr val="687984"/>
                </a:solidFill>
                <a:latin typeface="Lato"/>
                <a:ea typeface="Lato"/>
                <a:cs typeface="Lato"/>
                <a:sym typeface="Lato"/>
              </a:rPr>
              <a:t>)</a:t>
            </a:r>
            <a:endParaRPr/>
          </a:p>
        </p:txBody>
      </p:sp>
      <p:sp>
        <p:nvSpPr>
          <p:cNvPr id="624" name="Google Shape;624;p24"/>
          <p:cNvSpPr/>
          <p:nvPr/>
        </p:nvSpPr>
        <p:spPr>
          <a:xfrm>
            <a:off x="8020050" y="1790700"/>
            <a:ext cx="3505200" cy="2152650"/>
          </a:xfrm>
          <a:prstGeom prst="rect">
            <a:avLst/>
          </a:prstGeom>
          <a:solidFill>
            <a:srgbClr val="FFF3D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5" name="Google Shape;625;p24"/>
          <p:cNvSpPr/>
          <p:nvPr/>
        </p:nvSpPr>
        <p:spPr>
          <a:xfrm>
            <a:off x="8305800" y="2009775"/>
            <a:ext cx="2933700" cy="12001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F2B632"/>
              </a:buClr>
              <a:buSzPts val="6150"/>
              <a:buFont typeface="Lato"/>
              <a:buNone/>
            </a:pPr>
            <a:r>
              <a:rPr b="1" i="0" lang="it-IT" sz="6150">
                <a:solidFill>
                  <a:srgbClr val="F2B632"/>
                </a:solidFill>
                <a:latin typeface="Lato"/>
                <a:ea typeface="Lato"/>
                <a:cs typeface="Lato"/>
                <a:sym typeface="Lato"/>
              </a:rPr>
              <a:t>PY</a:t>
            </a:r>
            <a:endParaRPr/>
          </a:p>
        </p:txBody>
      </p:sp>
      <p:sp>
        <p:nvSpPr>
          <p:cNvPr id="626" name="Google Shape;626;p24"/>
          <p:cNvSpPr/>
          <p:nvPr/>
        </p:nvSpPr>
        <p:spPr>
          <a:xfrm>
            <a:off x="8305800" y="3200400"/>
            <a:ext cx="2933700" cy="32385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950"/>
              <a:buFont typeface="Lato"/>
              <a:buNone/>
            </a:pPr>
            <a:r>
              <a:rPr b="1" i="0" lang="it-IT" sz="1950">
                <a:solidFill>
                  <a:srgbClr val="12304E"/>
                </a:solidFill>
                <a:latin typeface="Lato"/>
                <a:ea typeface="Lato"/>
                <a:cs typeface="Lato"/>
                <a:sym typeface="Lato"/>
              </a:rPr>
              <a:t>cavapy</a:t>
            </a:r>
            <a:endParaRPr/>
          </a:p>
        </p:txBody>
      </p:sp>
      <p:sp>
        <p:nvSpPr>
          <p:cNvPr id="627" name="Google Shape;627;p24"/>
          <p:cNvSpPr/>
          <p:nvPr/>
        </p:nvSpPr>
        <p:spPr>
          <a:xfrm>
            <a:off x="8020050" y="4210050"/>
            <a:ext cx="3143250" cy="228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INTEGRATE</a:t>
            </a:r>
            <a:endParaRPr/>
          </a:p>
        </p:txBody>
      </p:sp>
      <p:sp>
        <p:nvSpPr>
          <p:cNvPr id="628" name="Google Shape;628;p24"/>
          <p:cNvSpPr/>
          <p:nvPr/>
        </p:nvSpPr>
        <p:spPr>
          <a:xfrm>
            <a:off x="8020050" y="4543425"/>
            <a:ext cx="3143250" cy="3619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100"/>
              <a:buFont typeface="Lato"/>
              <a:buNone/>
            </a:pPr>
            <a:r>
              <a:rPr b="1" i="0" lang="it-IT" sz="2100">
                <a:solidFill>
                  <a:srgbClr val="12304E"/>
                </a:solidFill>
                <a:latin typeface="Lato"/>
                <a:ea typeface="Lato"/>
                <a:cs typeface="Lato"/>
                <a:sym typeface="Lato"/>
              </a:rPr>
              <a:t>Python workflows</a:t>
            </a:r>
            <a:endParaRPr/>
          </a:p>
        </p:txBody>
      </p:sp>
      <p:sp>
        <p:nvSpPr>
          <p:cNvPr id="629" name="Google Shape;629;p24"/>
          <p:cNvSpPr/>
          <p:nvPr/>
        </p:nvSpPr>
        <p:spPr>
          <a:xfrm>
            <a:off x="8020050" y="5019675"/>
            <a:ext cx="3286125" cy="495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Programmatic retrieval, subsetting and processing (</a:t>
            </a:r>
            <a:r>
              <a:rPr b="0" i="0" lang="it-IT" sz="1275" u="sng">
                <a:solidFill>
                  <a:schemeClr val="hlink"/>
                </a:solidFill>
                <a:latin typeface="Lato"/>
                <a:ea typeface="Lato"/>
                <a:cs typeface="Lato"/>
                <a:sym typeface="Lato"/>
                <a:hlinkClick r:id="rId6"/>
              </a:rPr>
              <a:t>https://github.com/un-fao/cavapy</a:t>
            </a:r>
            <a:r>
              <a:rPr b="0" i="0" lang="it-IT" sz="1275">
                <a:solidFill>
                  <a:srgbClr val="687984"/>
                </a:solidFill>
                <a:latin typeface="Lato"/>
                <a:ea typeface="Lato"/>
                <a:cs typeface="Lato"/>
                <a:sym typeface="Lato"/>
              </a:rPr>
              <a: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634" name="Shape 634"/>
        <p:cNvGrpSpPr/>
        <p:nvPr/>
      </p:nvGrpSpPr>
      <p:grpSpPr>
        <a:xfrm>
          <a:off x="0" y="0"/>
          <a:ext cx="0" cy="0"/>
          <a:chOff x="0" y="0"/>
          <a:chExt cx="0" cy="0"/>
        </a:xfrm>
      </p:grpSpPr>
      <p:sp>
        <p:nvSpPr>
          <p:cNvPr id="635" name="Google Shape;635;p25"/>
          <p:cNvSpPr/>
          <p:nvPr/>
        </p:nvSpPr>
        <p:spPr>
          <a:xfrm>
            <a:off x="647700" y="400050"/>
            <a:ext cx="10839600" cy="5145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rgbClr val="12304E"/>
              </a:buClr>
              <a:buSzPts val="2025"/>
              <a:buFont typeface="Lato"/>
              <a:buNone/>
            </a:pPr>
            <a:r>
              <a:rPr b="1" lang="it-IT" sz="2025">
                <a:solidFill>
                  <a:srgbClr val="12304E"/>
                </a:solidFill>
                <a:latin typeface="Lato"/>
                <a:ea typeface="Lato"/>
                <a:cs typeface="Lato"/>
                <a:sym typeface="Lato"/>
              </a:rPr>
              <a:t>CAVA data backbone</a:t>
            </a:r>
            <a:endParaRPr b="1" sz="2025">
              <a:solidFill>
                <a:srgbClr val="12304E"/>
              </a:solidFill>
              <a:latin typeface="Lato"/>
              <a:ea typeface="Lato"/>
              <a:cs typeface="Lato"/>
              <a:sym typeface="Lato"/>
            </a:endParaRPr>
          </a:p>
        </p:txBody>
      </p:sp>
      <p:sp>
        <p:nvSpPr>
          <p:cNvPr id="636" name="Google Shape;636;p25"/>
          <p:cNvSpPr/>
          <p:nvPr/>
        </p:nvSpPr>
        <p:spPr>
          <a:xfrm>
            <a:off x="657225" y="962025"/>
            <a:ext cx="10572900" cy="2478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Clr>
                <a:srgbClr val="687984"/>
              </a:buClr>
              <a:buSzPts val="1050"/>
              <a:buFont typeface="Lato"/>
              <a:buNone/>
            </a:pPr>
            <a:r>
              <a:rPr lang="it-IT" sz="1050">
                <a:solidFill>
                  <a:srgbClr val="687984"/>
                </a:solidFill>
                <a:latin typeface="Lato"/>
                <a:ea typeface="Lato"/>
                <a:cs typeface="Lato"/>
                <a:sym typeface="Lato"/>
              </a:rPr>
              <a:t>The same underlying data services can support no-code, R and Python workflows</a:t>
            </a:r>
            <a:endParaRPr>
              <a:solidFill>
                <a:schemeClr val="dk1"/>
              </a:solidFill>
            </a:endParaRPr>
          </a:p>
          <a:p>
            <a:pPr indent="0" lvl="0" marL="0" marR="0" rtl="0" algn="l">
              <a:lnSpc>
                <a:spcPct val="105000"/>
              </a:lnSpc>
              <a:spcBef>
                <a:spcPts val="0"/>
              </a:spcBef>
              <a:spcAft>
                <a:spcPts val="0"/>
              </a:spcAft>
              <a:buClr>
                <a:srgbClr val="687984"/>
              </a:buClr>
              <a:buSzPts val="1050"/>
              <a:buFont typeface="Lato"/>
              <a:buNone/>
            </a:pPr>
            <a:r>
              <a:t/>
            </a:r>
            <a:endParaRPr sz="1050">
              <a:solidFill>
                <a:srgbClr val="687984"/>
              </a:solidFill>
              <a:latin typeface="Lato"/>
              <a:ea typeface="Lato"/>
              <a:cs typeface="Lato"/>
              <a:sym typeface="Lato"/>
            </a:endParaRPr>
          </a:p>
        </p:txBody>
      </p:sp>
      <p:sp>
        <p:nvSpPr>
          <p:cNvPr id="637" name="Google Shape;637;p25"/>
          <p:cNvSpPr/>
          <p:nvPr/>
        </p:nvSpPr>
        <p:spPr>
          <a:xfrm>
            <a:off x="647700" y="1295400"/>
            <a:ext cx="10896600" cy="96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8" name="Google Shape;638;p25"/>
          <p:cNvSpPr/>
          <p:nvPr/>
        </p:nvSpPr>
        <p:spPr>
          <a:xfrm>
            <a:off x="666750" y="1419225"/>
            <a:ext cx="952500" cy="28500"/>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9" name="Google Shape;639;p25"/>
          <p:cNvSpPr/>
          <p:nvPr/>
        </p:nvSpPr>
        <p:spPr>
          <a:xfrm>
            <a:off x="609600" y="6229350"/>
            <a:ext cx="11125200" cy="96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0" name="Google Shape;640;p25"/>
          <p:cNvSpPr/>
          <p:nvPr/>
        </p:nvSpPr>
        <p:spPr>
          <a:xfrm>
            <a:off x="647700" y="6343650"/>
            <a:ext cx="4000500" cy="17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641" name="Google Shape;641;p25"/>
          <p:cNvSpPr/>
          <p:nvPr/>
        </p:nvSpPr>
        <p:spPr>
          <a:xfrm>
            <a:off x="11096625" y="6343650"/>
            <a:ext cx="523800" cy="1716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21</a:t>
            </a:r>
            <a:endParaRPr/>
          </a:p>
        </p:txBody>
      </p:sp>
      <p:sp>
        <p:nvSpPr>
          <p:cNvPr id="642" name="Google Shape;642;p25"/>
          <p:cNvSpPr txBox="1"/>
          <p:nvPr/>
        </p:nvSpPr>
        <p:spPr>
          <a:xfrm>
            <a:off x="647700" y="1726238"/>
            <a:ext cx="6289200" cy="4224600"/>
          </a:xfrm>
          <a:prstGeom prst="rect">
            <a:avLst/>
          </a:prstGeom>
          <a:noFill/>
          <a:ln>
            <a:noFill/>
          </a:ln>
        </p:spPr>
        <p:txBody>
          <a:bodyPr anchorCtr="0" anchor="t" bIns="91425" lIns="91425" spcFirstLastPara="1" rIns="91425" wrap="square" tIns="91425">
            <a:noAutofit/>
          </a:bodyPr>
          <a:lstStyle/>
          <a:p>
            <a:pPr indent="0" lvl="0" marL="0" rtl="0" algn="l">
              <a:lnSpc>
                <a:spcPct val="105000"/>
              </a:lnSpc>
              <a:spcBef>
                <a:spcPts val="0"/>
              </a:spcBef>
              <a:spcAft>
                <a:spcPts val="0"/>
              </a:spcAft>
              <a:buNone/>
            </a:pPr>
            <a:r>
              <a:rPr b="1" lang="it-IT" sz="2100">
                <a:solidFill>
                  <a:srgbClr val="12304E"/>
                </a:solidFill>
                <a:latin typeface="Lato"/>
                <a:ea typeface="Lato"/>
                <a:cs typeface="Lato"/>
                <a:sym typeface="Lato"/>
              </a:rPr>
              <a:t>Coming soon - The CAVA Datalab</a:t>
            </a:r>
            <a:endParaRPr b="1" sz="2100">
              <a:solidFill>
                <a:srgbClr val="12304E"/>
              </a:solidFill>
              <a:latin typeface="Lato"/>
              <a:ea typeface="Lato"/>
              <a:cs typeface="Lato"/>
              <a:sym typeface="Lato"/>
            </a:endParaRPr>
          </a:p>
          <a:p>
            <a:pPr indent="0" lvl="0" marL="0" rtl="0" algn="l">
              <a:spcBef>
                <a:spcPts val="0"/>
              </a:spcBef>
              <a:spcAft>
                <a:spcPts val="0"/>
              </a:spcAft>
              <a:buNone/>
            </a:pPr>
            <a:r>
              <a:t/>
            </a:r>
            <a:endParaRPr/>
          </a:p>
          <a:p>
            <a:pPr indent="0" lvl="0" marL="0" rtl="0" algn="l">
              <a:lnSpc>
                <a:spcPct val="105000"/>
              </a:lnSpc>
              <a:spcBef>
                <a:spcPts val="0"/>
              </a:spcBef>
              <a:spcAft>
                <a:spcPts val="0"/>
              </a:spcAft>
              <a:buClr>
                <a:srgbClr val="687984"/>
              </a:buClr>
              <a:buSzPts val="1275"/>
              <a:buFont typeface="Lato"/>
              <a:buNone/>
            </a:pPr>
            <a:r>
              <a:rPr lang="it-IT" sz="1575">
                <a:solidFill>
                  <a:srgbClr val="687984"/>
                </a:solidFill>
                <a:latin typeface="Lato"/>
                <a:ea typeface="Lato"/>
                <a:cs typeface="Lato"/>
                <a:sym typeface="Lato"/>
              </a:rPr>
              <a:t>Single-click analysis-ready cloud environments in the browser for everyone.</a:t>
            </a:r>
            <a:endParaRPr sz="1700"/>
          </a:p>
        </p:txBody>
      </p:sp>
      <p:pic>
        <p:nvPicPr>
          <p:cNvPr id="643" name="Google Shape;643;p25" title="datalab.png"/>
          <p:cNvPicPr preferRelativeResize="0"/>
          <p:nvPr/>
        </p:nvPicPr>
        <p:blipFill>
          <a:blip r:embed="rId3">
            <a:alphaModFix/>
          </a:blip>
          <a:stretch>
            <a:fillRect/>
          </a:stretch>
        </p:blipFill>
        <p:spPr>
          <a:xfrm>
            <a:off x="7550184" y="1419225"/>
            <a:ext cx="4070242" cy="47054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648" name="Shape 648"/>
        <p:cNvGrpSpPr/>
        <p:nvPr/>
      </p:nvGrpSpPr>
      <p:grpSpPr>
        <a:xfrm>
          <a:off x="0" y="0"/>
          <a:ext cx="0" cy="0"/>
          <a:chOff x="0" y="0"/>
          <a:chExt cx="0" cy="0"/>
        </a:xfrm>
      </p:grpSpPr>
      <p:sp>
        <p:nvSpPr>
          <p:cNvPr id="649" name="Google Shape;649;p26"/>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End-to-end example: extreme heat</a:t>
            </a:r>
            <a:endParaRPr/>
          </a:p>
        </p:txBody>
      </p:sp>
      <p:sp>
        <p:nvSpPr>
          <p:cNvPr id="650" name="Google Shape;650;p26"/>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The workflow keeps the decision question connected to every technical choice</a:t>
            </a:r>
            <a:endParaRPr/>
          </a:p>
        </p:txBody>
      </p:sp>
      <p:sp>
        <p:nvSpPr>
          <p:cNvPr id="651" name="Google Shape;651;p26"/>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2" name="Google Shape;652;p26"/>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3" name="Google Shape;653;p26"/>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26"/>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655" name="Google Shape;655;p26"/>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22</a:t>
            </a:r>
            <a:endParaRPr/>
          </a:p>
        </p:txBody>
      </p:sp>
      <p:sp>
        <p:nvSpPr>
          <p:cNvPr id="656" name="Google Shape;656;p26"/>
          <p:cNvSpPr/>
          <p:nvPr/>
        </p:nvSpPr>
        <p:spPr>
          <a:xfrm>
            <a:off x="866775" y="3305175"/>
            <a:ext cx="10458450" cy="476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7" name="Google Shape;657;p26"/>
          <p:cNvSpPr/>
          <p:nvPr/>
        </p:nvSpPr>
        <p:spPr>
          <a:xfrm>
            <a:off x="866775" y="3067050"/>
            <a:ext cx="533400" cy="53340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01</a:t>
            </a:r>
            <a:endParaRPr/>
          </a:p>
        </p:txBody>
      </p:sp>
      <p:sp>
        <p:nvSpPr>
          <p:cNvPr id="658" name="Google Shape;658;p26"/>
          <p:cNvSpPr/>
          <p:nvPr/>
        </p:nvSpPr>
        <p:spPr>
          <a:xfrm>
            <a:off x="847725" y="1790700"/>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QUESTION</a:t>
            </a:r>
            <a:endParaRPr/>
          </a:p>
        </p:txBody>
      </p:sp>
      <p:sp>
        <p:nvSpPr>
          <p:cNvPr id="659" name="Google Shape;659;p26"/>
          <p:cNvSpPr/>
          <p:nvPr/>
        </p:nvSpPr>
        <p:spPr>
          <a:xfrm>
            <a:off x="847725" y="2133600"/>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Will extreme heat increase in the project area?</a:t>
            </a:r>
            <a:endParaRPr/>
          </a:p>
        </p:txBody>
      </p:sp>
      <p:sp>
        <p:nvSpPr>
          <p:cNvPr id="660" name="Google Shape;660;p26"/>
          <p:cNvSpPr/>
          <p:nvPr/>
        </p:nvSpPr>
        <p:spPr>
          <a:xfrm>
            <a:off x="2609850" y="3067050"/>
            <a:ext cx="533400" cy="53340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02</a:t>
            </a:r>
            <a:endParaRPr/>
          </a:p>
        </p:txBody>
      </p:sp>
      <p:sp>
        <p:nvSpPr>
          <p:cNvPr id="661" name="Google Shape;661;p26"/>
          <p:cNvSpPr/>
          <p:nvPr/>
        </p:nvSpPr>
        <p:spPr>
          <a:xfrm>
            <a:off x="2590800" y="3781425"/>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REFERENCE</a:t>
            </a:r>
            <a:endParaRPr/>
          </a:p>
        </p:txBody>
      </p:sp>
      <p:sp>
        <p:nvSpPr>
          <p:cNvPr id="662" name="Google Shape;662;p26"/>
          <p:cNvSpPr/>
          <p:nvPr/>
        </p:nvSpPr>
        <p:spPr>
          <a:xfrm>
            <a:off x="2590800" y="4124325"/>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Choose a baseline and historical dataset</a:t>
            </a:r>
            <a:endParaRPr/>
          </a:p>
        </p:txBody>
      </p:sp>
      <p:sp>
        <p:nvSpPr>
          <p:cNvPr id="663" name="Google Shape;663;p26"/>
          <p:cNvSpPr/>
          <p:nvPr/>
        </p:nvSpPr>
        <p:spPr>
          <a:xfrm>
            <a:off x="4352925" y="3067050"/>
            <a:ext cx="533400" cy="53340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03</a:t>
            </a:r>
            <a:endParaRPr/>
          </a:p>
        </p:txBody>
      </p:sp>
      <p:sp>
        <p:nvSpPr>
          <p:cNvPr id="664" name="Google Shape;664;p26"/>
          <p:cNvSpPr/>
          <p:nvPr/>
        </p:nvSpPr>
        <p:spPr>
          <a:xfrm>
            <a:off x="4333875" y="1790700"/>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PROJECTIONS</a:t>
            </a:r>
            <a:endParaRPr/>
          </a:p>
        </p:txBody>
      </p:sp>
      <p:sp>
        <p:nvSpPr>
          <p:cNvPr id="665" name="Google Shape;665;p26"/>
          <p:cNvSpPr/>
          <p:nvPr/>
        </p:nvSpPr>
        <p:spPr>
          <a:xfrm>
            <a:off x="4333875" y="2133600"/>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Select scenarios and a multi-model ensemble</a:t>
            </a:r>
            <a:endParaRPr/>
          </a:p>
        </p:txBody>
      </p:sp>
      <p:sp>
        <p:nvSpPr>
          <p:cNvPr id="666" name="Google Shape;666;p26"/>
          <p:cNvSpPr/>
          <p:nvPr/>
        </p:nvSpPr>
        <p:spPr>
          <a:xfrm>
            <a:off x="6096000" y="3067050"/>
            <a:ext cx="533400" cy="53340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04</a:t>
            </a:r>
            <a:endParaRPr/>
          </a:p>
        </p:txBody>
      </p:sp>
      <p:sp>
        <p:nvSpPr>
          <p:cNvPr id="667" name="Google Shape;667;p26"/>
          <p:cNvSpPr/>
          <p:nvPr/>
        </p:nvSpPr>
        <p:spPr>
          <a:xfrm>
            <a:off x="6076950" y="3781425"/>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PROCESS</a:t>
            </a:r>
            <a:endParaRPr/>
          </a:p>
        </p:txBody>
      </p:sp>
      <p:sp>
        <p:nvSpPr>
          <p:cNvPr id="668" name="Google Shape;668;p26"/>
          <p:cNvSpPr/>
          <p:nvPr/>
        </p:nvSpPr>
        <p:spPr>
          <a:xfrm>
            <a:off x="6076950" y="4124325"/>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3"/>
              <a:buFont typeface="Lato"/>
              <a:buNone/>
            </a:pPr>
            <a:r>
              <a:rPr b="1" i="0" lang="it-IT" sz="1273">
                <a:solidFill>
                  <a:srgbClr val="12304E"/>
                </a:solidFill>
                <a:latin typeface="Lato"/>
                <a:ea typeface="Lato"/>
                <a:cs typeface="Lato"/>
                <a:sym typeface="Lato"/>
              </a:rPr>
              <a:t>Subset, harmonize and apply correction where appropriate</a:t>
            </a:r>
            <a:endParaRPr/>
          </a:p>
        </p:txBody>
      </p:sp>
      <p:sp>
        <p:nvSpPr>
          <p:cNvPr id="669" name="Google Shape;669;p26"/>
          <p:cNvSpPr/>
          <p:nvPr/>
        </p:nvSpPr>
        <p:spPr>
          <a:xfrm>
            <a:off x="7839075" y="3067050"/>
            <a:ext cx="533400" cy="533400"/>
          </a:xfrm>
          <a:prstGeom prst="ellipse">
            <a:avLst/>
          </a:prstGeom>
          <a:solidFill>
            <a:srgbClr val="00A88F"/>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05</a:t>
            </a:r>
            <a:endParaRPr/>
          </a:p>
        </p:txBody>
      </p:sp>
      <p:sp>
        <p:nvSpPr>
          <p:cNvPr id="670" name="Google Shape;670;p26"/>
          <p:cNvSpPr/>
          <p:nvPr/>
        </p:nvSpPr>
        <p:spPr>
          <a:xfrm>
            <a:off x="7820025" y="1790700"/>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050"/>
              <a:buFont typeface="Lato"/>
              <a:buNone/>
            </a:pPr>
            <a:r>
              <a:rPr b="1" i="0" lang="it-IT" sz="1050">
                <a:solidFill>
                  <a:srgbClr val="00A88F"/>
                </a:solidFill>
                <a:latin typeface="Lato"/>
                <a:ea typeface="Lato"/>
                <a:cs typeface="Lato"/>
                <a:sym typeface="Lato"/>
              </a:rPr>
              <a:t>INDICATOR</a:t>
            </a:r>
            <a:endParaRPr/>
          </a:p>
        </p:txBody>
      </p:sp>
      <p:sp>
        <p:nvSpPr>
          <p:cNvPr id="671" name="Google Shape;671;p26"/>
          <p:cNvSpPr/>
          <p:nvPr/>
        </p:nvSpPr>
        <p:spPr>
          <a:xfrm>
            <a:off x="7820025" y="2133600"/>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Calculate days above 35°C</a:t>
            </a:r>
            <a:endParaRPr/>
          </a:p>
        </p:txBody>
      </p:sp>
      <p:sp>
        <p:nvSpPr>
          <p:cNvPr id="672" name="Google Shape;672;p26"/>
          <p:cNvSpPr/>
          <p:nvPr/>
        </p:nvSpPr>
        <p:spPr>
          <a:xfrm>
            <a:off x="9582150" y="3067050"/>
            <a:ext cx="533400" cy="533400"/>
          </a:xfrm>
          <a:prstGeom prst="ellipse">
            <a:avLst/>
          </a:prstGeom>
          <a:solidFill>
            <a:srgbClr val="F2B632"/>
          </a:solid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Clr>
                <a:srgbClr val="FFFFFF"/>
              </a:buClr>
              <a:buSzPts val="1350"/>
              <a:buFont typeface="Lato"/>
              <a:buNone/>
            </a:pPr>
            <a:r>
              <a:rPr b="1" i="0" lang="it-IT" sz="1350">
                <a:solidFill>
                  <a:srgbClr val="FFFFFF"/>
                </a:solidFill>
                <a:latin typeface="Lato"/>
                <a:ea typeface="Lato"/>
                <a:cs typeface="Lato"/>
                <a:sym typeface="Lato"/>
              </a:rPr>
              <a:t>06</a:t>
            </a:r>
            <a:endParaRPr/>
          </a:p>
        </p:txBody>
      </p:sp>
      <p:sp>
        <p:nvSpPr>
          <p:cNvPr id="673" name="Google Shape;673;p26"/>
          <p:cNvSpPr/>
          <p:nvPr/>
        </p:nvSpPr>
        <p:spPr>
          <a:xfrm>
            <a:off x="9563100" y="3781425"/>
            <a:ext cx="14668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050"/>
              <a:buFont typeface="Lato"/>
              <a:buNone/>
            </a:pPr>
            <a:r>
              <a:rPr b="1" i="0" lang="it-IT" sz="1050">
                <a:solidFill>
                  <a:srgbClr val="F2B632"/>
                </a:solidFill>
                <a:latin typeface="Lato"/>
                <a:ea typeface="Lato"/>
                <a:cs typeface="Lato"/>
                <a:sym typeface="Lato"/>
              </a:rPr>
              <a:t>INTERPRET</a:t>
            </a:r>
            <a:endParaRPr/>
          </a:p>
        </p:txBody>
      </p:sp>
      <p:sp>
        <p:nvSpPr>
          <p:cNvPr id="674" name="Google Shape;674;p26"/>
          <p:cNvSpPr/>
          <p:nvPr/>
        </p:nvSpPr>
        <p:spPr>
          <a:xfrm>
            <a:off x="9563100" y="4124325"/>
            <a:ext cx="1581150" cy="6858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Compare periods, spread and model agreement</a:t>
            </a:r>
            <a:endParaRPr/>
          </a:p>
        </p:txBody>
      </p:sp>
      <p:sp>
        <p:nvSpPr>
          <p:cNvPr id="675" name="Google Shape;675;p26"/>
          <p:cNvSpPr/>
          <p:nvPr/>
        </p:nvSpPr>
        <p:spPr>
          <a:xfrm>
            <a:off x="866775" y="5162550"/>
            <a:ext cx="10458450" cy="590550"/>
          </a:xfrm>
          <a:prstGeom prst="rect">
            <a:avLst/>
          </a:prstGeom>
          <a:solidFill>
            <a:srgbClr val="12304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26"/>
          <p:cNvSpPr/>
          <p:nvPr/>
        </p:nvSpPr>
        <p:spPr>
          <a:xfrm>
            <a:off x="1114425" y="5334000"/>
            <a:ext cx="1047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200"/>
              <a:buFont typeface="Lato"/>
              <a:buNone/>
            </a:pPr>
            <a:r>
              <a:rPr b="1" i="0" lang="it-IT" sz="1200">
                <a:solidFill>
                  <a:srgbClr val="F2B632"/>
                </a:solidFill>
                <a:latin typeface="Lato"/>
                <a:ea typeface="Lato"/>
                <a:cs typeface="Lato"/>
                <a:sym typeface="Lato"/>
              </a:rPr>
              <a:t>OUTPUT</a:t>
            </a:r>
            <a:endParaRPr/>
          </a:p>
        </p:txBody>
      </p:sp>
      <p:sp>
        <p:nvSpPr>
          <p:cNvPr id="677" name="Google Shape;677;p26"/>
          <p:cNvSpPr/>
          <p:nvPr/>
        </p:nvSpPr>
        <p:spPr>
          <a:xfrm>
            <a:off x="2266950" y="5305425"/>
            <a:ext cx="8667750" cy="33337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425"/>
              <a:buFont typeface="Lato"/>
              <a:buNone/>
            </a:pPr>
            <a:r>
              <a:rPr b="1" i="0" lang="it-IT" sz="1425">
                <a:solidFill>
                  <a:srgbClr val="FFFFFF"/>
                </a:solidFill>
                <a:latin typeface="Lato"/>
                <a:ea typeface="Lato"/>
                <a:cs typeface="Lato"/>
                <a:sym typeface="Lato"/>
              </a:rPr>
              <a:t>A traceable climate signal for discussion, not a stand-alone project decision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682" name="Shape 682"/>
        <p:cNvGrpSpPr/>
        <p:nvPr/>
      </p:nvGrpSpPr>
      <p:grpSpPr>
        <a:xfrm>
          <a:off x="0" y="0"/>
          <a:ext cx="0" cy="0"/>
          <a:chOff x="0" y="0"/>
          <a:chExt cx="0" cy="0"/>
        </a:xfrm>
      </p:grpSpPr>
      <p:sp>
        <p:nvSpPr>
          <p:cNvPr id="683" name="Google Shape;683;p27"/>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Interpreting a climate signal</a:t>
            </a:r>
            <a:endParaRPr/>
          </a:p>
        </p:txBody>
      </p:sp>
      <p:sp>
        <p:nvSpPr>
          <p:cNvPr id="684" name="Google Shape;684;p27"/>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A map or chart needs context before it can support a project decision</a:t>
            </a:r>
            <a:endParaRPr/>
          </a:p>
        </p:txBody>
      </p:sp>
      <p:sp>
        <p:nvSpPr>
          <p:cNvPr id="685" name="Google Shape;685;p27"/>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6" name="Google Shape;686;p27"/>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7" name="Google Shape;687;p27"/>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8" name="Google Shape;688;p27"/>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689" name="Google Shape;689;p27"/>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23</a:t>
            </a:r>
            <a:endParaRPr/>
          </a:p>
        </p:txBody>
      </p:sp>
      <p:sp>
        <p:nvSpPr>
          <p:cNvPr id="690" name="Google Shape;690;p27"/>
          <p:cNvSpPr/>
          <p:nvPr/>
        </p:nvSpPr>
        <p:spPr>
          <a:xfrm>
            <a:off x="742950" y="1790700"/>
            <a:ext cx="45720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READ THE SIGNAL</a:t>
            </a:r>
            <a:endParaRPr/>
          </a:p>
        </p:txBody>
      </p:sp>
      <p:sp>
        <p:nvSpPr>
          <p:cNvPr id="691" name="Google Shape;691;p27"/>
          <p:cNvSpPr/>
          <p:nvPr/>
        </p:nvSpPr>
        <p:spPr>
          <a:xfrm>
            <a:off x="6610350" y="1790700"/>
            <a:ext cx="47625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125"/>
              <a:buFont typeface="Lato"/>
              <a:buNone/>
            </a:pPr>
            <a:r>
              <a:rPr b="1" i="0" lang="it-IT" sz="1125">
                <a:solidFill>
                  <a:srgbClr val="F2B632"/>
                </a:solidFill>
                <a:latin typeface="Lato"/>
                <a:ea typeface="Lato"/>
                <a:cs typeface="Lato"/>
                <a:sym typeface="Lato"/>
              </a:rPr>
              <a:t>TEST THE INTERPRETATION</a:t>
            </a:r>
            <a:endParaRPr/>
          </a:p>
        </p:txBody>
      </p:sp>
      <p:sp>
        <p:nvSpPr>
          <p:cNvPr id="692" name="Google Shape;692;p27"/>
          <p:cNvSpPr/>
          <p:nvPr/>
        </p:nvSpPr>
        <p:spPr>
          <a:xfrm>
            <a:off x="6076950" y="1771650"/>
            <a:ext cx="9525" cy="3352800"/>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3" name="Google Shape;693;p27"/>
          <p:cNvSpPr/>
          <p:nvPr/>
        </p:nvSpPr>
        <p:spPr>
          <a:xfrm>
            <a:off x="742950" y="2305050"/>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01</a:t>
            </a:r>
            <a:endParaRPr/>
          </a:p>
        </p:txBody>
      </p:sp>
      <p:sp>
        <p:nvSpPr>
          <p:cNvPr id="694" name="Google Shape;694;p27"/>
          <p:cNvSpPr/>
          <p:nvPr/>
        </p:nvSpPr>
        <p:spPr>
          <a:xfrm>
            <a:off x="1333500" y="2305050"/>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MAGNITUDE</a:t>
            </a:r>
            <a:endParaRPr/>
          </a:p>
        </p:txBody>
      </p:sp>
      <p:sp>
        <p:nvSpPr>
          <p:cNvPr id="695" name="Google Shape;695;p27"/>
          <p:cNvSpPr/>
          <p:nvPr/>
        </p:nvSpPr>
        <p:spPr>
          <a:xfrm>
            <a:off x="1333500" y="2628900"/>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How large is the change relative to the baseline?</a:t>
            </a:r>
            <a:endParaRPr/>
          </a:p>
        </p:txBody>
      </p:sp>
      <p:sp>
        <p:nvSpPr>
          <p:cNvPr id="696" name="Google Shape;696;p27"/>
          <p:cNvSpPr/>
          <p:nvPr/>
        </p:nvSpPr>
        <p:spPr>
          <a:xfrm>
            <a:off x="742950" y="3086100"/>
            <a:ext cx="4762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7" name="Google Shape;697;p27"/>
          <p:cNvSpPr/>
          <p:nvPr/>
        </p:nvSpPr>
        <p:spPr>
          <a:xfrm>
            <a:off x="742950" y="32289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125"/>
              <a:buFont typeface="Lato"/>
              <a:buNone/>
            </a:pPr>
            <a:r>
              <a:rPr b="1" i="0" lang="it-IT" sz="1125">
                <a:solidFill>
                  <a:srgbClr val="F2B632"/>
                </a:solidFill>
                <a:latin typeface="Lato"/>
                <a:ea typeface="Lato"/>
                <a:cs typeface="Lato"/>
                <a:sym typeface="Lato"/>
              </a:rPr>
              <a:t>02</a:t>
            </a:r>
            <a:endParaRPr/>
          </a:p>
        </p:txBody>
      </p:sp>
      <p:sp>
        <p:nvSpPr>
          <p:cNvPr id="698" name="Google Shape;698;p27"/>
          <p:cNvSpPr/>
          <p:nvPr/>
        </p:nvSpPr>
        <p:spPr>
          <a:xfrm>
            <a:off x="1333500" y="3228975"/>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PATTERN</a:t>
            </a:r>
            <a:endParaRPr/>
          </a:p>
        </p:txBody>
      </p:sp>
      <p:sp>
        <p:nvSpPr>
          <p:cNvPr id="699" name="Google Shape;699;p27"/>
          <p:cNvSpPr/>
          <p:nvPr/>
        </p:nvSpPr>
        <p:spPr>
          <a:xfrm>
            <a:off x="1333500" y="3552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Where and when does the change occur?</a:t>
            </a:r>
            <a:endParaRPr/>
          </a:p>
        </p:txBody>
      </p:sp>
      <p:sp>
        <p:nvSpPr>
          <p:cNvPr id="700" name="Google Shape;700;p27"/>
          <p:cNvSpPr/>
          <p:nvPr/>
        </p:nvSpPr>
        <p:spPr>
          <a:xfrm>
            <a:off x="742950" y="4010025"/>
            <a:ext cx="4762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1" name="Google Shape;701;p27"/>
          <p:cNvSpPr/>
          <p:nvPr/>
        </p:nvSpPr>
        <p:spPr>
          <a:xfrm>
            <a:off x="742950" y="4152900"/>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03</a:t>
            </a:r>
            <a:endParaRPr/>
          </a:p>
        </p:txBody>
      </p:sp>
      <p:sp>
        <p:nvSpPr>
          <p:cNvPr id="702" name="Google Shape;702;p27"/>
          <p:cNvSpPr/>
          <p:nvPr/>
        </p:nvSpPr>
        <p:spPr>
          <a:xfrm>
            <a:off x="1333500" y="4152900"/>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AGREEMENT</a:t>
            </a:r>
            <a:endParaRPr/>
          </a:p>
        </p:txBody>
      </p:sp>
      <p:sp>
        <p:nvSpPr>
          <p:cNvPr id="703" name="Google Shape;703;p27"/>
          <p:cNvSpPr/>
          <p:nvPr/>
        </p:nvSpPr>
        <p:spPr>
          <a:xfrm>
            <a:off x="1333500" y="4476750"/>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Do most models show the same direction of change?</a:t>
            </a:r>
            <a:endParaRPr/>
          </a:p>
        </p:txBody>
      </p:sp>
      <p:sp>
        <p:nvSpPr>
          <p:cNvPr id="704" name="Google Shape;704;p27"/>
          <p:cNvSpPr/>
          <p:nvPr/>
        </p:nvSpPr>
        <p:spPr>
          <a:xfrm>
            <a:off x="6610350" y="2305050"/>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04</a:t>
            </a:r>
            <a:endParaRPr/>
          </a:p>
        </p:txBody>
      </p:sp>
      <p:sp>
        <p:nvSpPr>
          <p:cNvPr id="705" name="Google Shape;705;p27"/>
          <p:cNvSpPr/>
          <p:nvPr/>
        </p:nvSpPr>
        <p:spPr>
          <a:xfrm>
            <a:off x="7200900" y="2305050"/>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SPREAD</a:t>
            </a:r>
            <a:endParaRPr/>
          </a:p>
        </p:txBody>
      </p:sp>
      <p:sp>
        <p:nvSpPr>
          <p:cNvPr id="706" name="Google Shape;706;p27"/>
          <p:cNvSpPr/>
          <p:nvPr/>
        </p:nvSpPr>
        <p:spPr>
          <a:xfrm>
            <a:off x="7200900" y="2628900"/>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How wide is the range across models and scenarios?</a:t>
            </a:r>
            <a:endParaRPr/>
          </a:p>
        </p:txBody>
      </p:sp>
      <p:sp>
        <p:nvSpPr>
          <p:cNvPr id="707" name="Google Shape;707;p27"/>
          <p:cNvSpPr/>
          <p:nvPr/>
        </p:nvSpPr>
        <p:spPr>
          <a:xfrm>
            <a:off x="6610350" y="3086100"/>
            <a:ext cx="4762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8" name="Google Shape;708;p27"/>
          <p:cNvSpPr/>
          <p:nvPr/>
        </p:nvSpPr>
        <p:spPr>
          <a:xfrm>
            <a:off x="6610350" y="3228975"/>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125"/>
              <a:buFont typeface="Lato"/>
              <a:buNone/>
            </a:pPr>
            <a:r>
              <a:rPr b="1" i="0" lang="it-IT" sz="1125">
                <a:solidFill>
                  <a:srgbClr val="F2B632"/>
                </a:solidFill>
                <a:latin typeface="Lato"/>
                <a:ea typeface="Lato"/>
                <a:cs typeface="Lato"/>
                <a:sym typeface="Lato"/>
              </a:rPr>
              <a:t>05</a:t>
            </a:r>
            <a:endParaRPr/>
          </a:p>
        </p:txBody>
      </p:sp>
      <p:sp>
        <p:nvSpPr>
          <p:cNvPr id="709" name="Google Shape;709;p27"/>
          <p:cNvSpPr/>
          <p:nvPr/>
        </p:nvSpPr>
        <p:spPr>
          <a:xfrm>
            <a:off x="7200900" y="3228975"/>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RELEVANCE</a:t>
            </a:r>
            <a:endParaRPr/>
          </a:p>
        </p:txBody>
      </p:sp>
      <p:sp>
        <p:nvSpPr>
          <p:cNvPr id="710" name="Google Shape;710;p27"/>
          <p:cNvSpPr/>
          <p:nvPr/>
        </p:nvSpPr>
        <p:spPr>
          <a:xfrm>
            <a:off x="7200900" y="3552825"/>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49"/>
              <a:buFont typeface="Lato"/>
              <a:buNone/>
            </a:pPr>
            <a:r>
              <a:rPr b="0" i="0" lang="it-IT" sz="1250">
                <a:solidFill>
                  <a:srgbClr val="687984"/>
                </a:solidFill>
                <a:latin typeface="Lato"/>
                <a:ea typeface="Lato"/>
                <a:cs typeface="Lato"/>
                <a:sym typeface="Lato"/>
              </a:rPr>
              <a:t>Does the indicator reflect the decision and exposed system?</a:t>
            </a:r>
            <a:endParaRPr/>
          </a:p>
        </p:txBody>
      </p:sp>
      <p:sp>
        <p:nvSpPr>
          <p:cNvPr id="711" name="Google Shape;711;p27"/>
          <p:cNvSpPr/>
          <p:nvPr/>
        </p:nvSpPr>
        <p:spPr>
          <a:xfrm>
            <a:off x="6610350" y="4010025"/>
            <a:ext cx="47625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27"/>
          <p:cNvSpPr/>
          <p:nvPr/>
        </p:nvSpPr>
        <p:spPr>
          <a:xfrm>
            <a:off x="6610350" y="4152900"/>
            <a:ext cx="4572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125"/>
              <a:buFont typeface="Lato"/>
              <a:buNone/>
            </a:pPr>
            <a:r>
              <a:rPr b="1" i="0" lang="it-IT" sz="1125">
                <a:solidFill>
                  <a:srgbClr val="00A88F"/>
                </a:solidFill>
                <a:latin typeface="Lato"/>
                <a:ea typeface="Lato"/>
                <a:cs typeface="Lato"/>
                <a:sym typeface="Lato"/>
              </a:rPr>
              <a:t>06</a:t>
            </a:r>
            <a:endParaRPr/>
          </a:p>
        </p:txBody>
      </p:sp>
      <p:sp>
        <p:nvSpPr>
          <p:cNvPr id="713" name="Google Shape;713;p27"/>
          <p:cNvSpPr/>
          <p:nvPr/>
        </p:nvSpPr>
        <p:spPr>
          <a:xfrm>
            <a:off x="7200900" y="4152900"/>
            <a:ext cx="180975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275"/>
              <a:buFont typeface="Lato"/>
              <a:buNone/>
            </a:pPr>
            <a:r>
              <a:rPr b="1" i="0" lang="it-IT" sz="1275">
                <a:solidFill>
                  <a:srgbClr val="12304E"/>
                </a:solidFill>
                <a:latin typeface="Lato"/>
                <a:ea typeface="Lato"/>
                <a:cs typeface="Lato"/>
                <a:sym typeface="Lato"/>
              </a:rPr>
              <a:t>LIMITATIONS</a:t>
            </a:r>
            <a:endParaRPr/>
          </a:p>
        </p:txBody>
      </p:sp>
      <p:sp>
        <p:nvSpPr>
          <p:cNvPr id="714" name="Google Shape;714;p27"/>
          <p:cNvSpPr/>
          <p:nvPr/>
        </p:nvSpPr>
        <p:spPr>
          <a:xfrm>
            <a:off x="7200900" y="4476750"/>
            <a:ext cx="4095750" cy="4000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Which assumptions could change the interpretation?</a:t>
            </a:r>
            <a:endParaRPr/>
          </a:p>
        </p:txBody>
      </p:sp>
      <p:sp>
        <p:nvSpPr>
          <p:cNvPr id="715" name="Google Shape;715;p27"/>
          <p:cNvSpPr/>
          <p:nvPr/>
        </p:nvSpPr>
        <p:spPr>
          <a:xfrm>
            <a:off x="742950" y="5295900"/>
            <a:ext cx="10629900" cy="438150"/>
          </a:xfrm>
          <a:prstGeom prst="rect">
            <a:avLst/>
          </a:prstGeom>
          <a:solidFill>
            <a:srgbClr val="E7F4E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6" name="Google Shape;716;p27"/>
          <p:cNvSpPr/>
          <p:nvPr/>
        </p:nvSpPr>
        <p:spPr>
          <a:xfrm>
            <a:off x="990600" y="5400675"/>
            <a:ext cx="10134600" cy="238125"/>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12304E"/>
              </a:buClr>
              <a:buSzPts val="1350"/>
              <a:buFont typeface="Lato"/>
              <a:buNone/>
            </a:pPr>
            <a:r>
              <a:rPr b="1" i="0" lang="it-IT" sz="1350">
                <a:solidFill>
                  <a:srgbClr val="12304E"/>
                </a:solidFill>
                <a:latin typeface="Lato"/>
                <a:ea typeface="Lato"/>
                <a:cs typeface="Lato"/>
                <a:sym typeface="Lato"/>
              </a:rPr>
              <a:t>Climate information informs judgement alongside sector expertise, local knowledge and risk preferences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8F3"/>
        </a:solidFill>
      </p:bgPr>
    </p:bg>
    <p:spTree>
      <p:nvGrpSpPr>
        <p:cNvPr id="721" name="Shape 721"/>
        <p:cNvGrpSpPr/>
        <p:nvPr/>
      </p:nvGrpSpPr>
      <p:grpSpPr>
        <a:xfrm>
          <a:off x="0" y="0"/>
          <a:ext cx="0" cy="0"/>
          <a:chOff x="0" y="0"/>
          <a:chExt cx="0" cy="0"/>
        </a:xfrm>
      </p:grpSpPr>
      <p:sp>
        <p:nvSpPr>
          <p:cNvPr id="722" name="Google Shape;722;p28"/>
          <p:cNvSpPr/>
          <p:nvPr/>
        </p:nvSpPr>
        <p:spPr>
          <a:xfrm>
            <a:off x="647700" y="400050"/>
            <a:ext cx="10839450" cy="5143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2250"/>
              <a:buFont typeface="Lato"/>
              <a:buNone/>
            </a:pPr>
            <a:r>
              <a:rPr b="1" i="0" lang="it-IT" sz="2250">
                <a:solidFill>
                  <a:srgbClr val="12304E"/>
                </a:solidFill>
                <a:latin typeface="Lato"/>
                <a:ea typeface="Lato"/>
                <a:cs typeface="Lato"/>
                <a:sym typeface="Lato"/>
              </a:rPr>
              <a:t>Key messages</a:t>
            </a:r>
            <a:endParaRPr/>
          </a:p>
        </p:txBody>
      </p:sp>
      <p:sp>
        <p:nvSpPr>
          <p:cNvPr id="723" name="Google Shape;723;p28"/>
          <p:cNvSpPr/>
          <p:nvPr/>
        </p:nvSpPr>
        <p:spPr>
          <a:xfrm>
            <a:off x="657225" y="962025"/>
            <a:ext cx="10572750" cy="2476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050"/>
              <a:buFont typeface="Lato"/>
              <a:buNone/>
            </a:pPr>
            <a:r>
              <a:rPr b="0" i="0" lang="it-IT" sz="1050">
                <a:solidFill>
                  <a:srgbClr val="687984"/>
                </a:solidFill>
                <a:latin typeface="Lato"/>
                <a:ea typeface="Lato"/>
                <a:cs typeface="Lato"/>
                <a:sym typeface="Lato"/>
              </a:rPr>
              <a:t>Four ideas to carry into the practical CAVA sessions</a:t>
            </a:r>
            <a:endParaRPr/>
          </a:p>
        </p:txBody>
      </p:sp>
      <p:sp>
        <p:nvSpPr>
          <p:cNvPr id="724" name="Google Shape;724;p28"/>
          <p:cNvSpPr/>
          <p:nvPr/>
        </p:nvSpPr>
        <p:spPr>
          <a:xfrm>
            <a:off x="647700" y="1295400"/>
            <a:ext cx="108966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5" name="Google Shape;725;p28"/>
          <p:cNvSpPr/>
          <p:nvPr/>
        </p:nvSpPr>
        <p:spPr>
          <a:xfrm>
            <a:off x="666750" y="1419225"/>
            <a:ext cx="952500" cy="28575"/>
          </a:xfrm>
          <a:prstGeom prst="rect">
            <a:avLst/>
          </a:prstGeom>
          <a:solidFill>
            <a:srgbClr val="F2B63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6" name="Google Shape;726;p28"/>
          <p:cNvSpPr/>
          <p:nvPr/>
        </p:nvSpPr>
        <p:spPr>
          <a:xfrm>
            <a:off x="609600" y="6229350"/>
            <a:ext cx="111252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27" name="Google Shape;727;p28"/>
          <p:cNvSpPr/>
          <p:nvPr/>
        </p:nvSpPr>
        <p:spPr>
          <a:xfrm>
            <a:off x="647700" y="6343650"/>
            <a:ext cx="4000500" cy="171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750"/>
              <a:buFont typeface="Lato"/>
              <a:buNone/>
            </a:pPr>
            <a:r>
              <a:rPr b="1" i="0" lang="it-IT" sz="750">
                <a:solidFill>
                  <a:srgbClr val="687984"/>
                </a:solidFill>
                <a:latin typeface="Lato"/>
                <a:ea typeface="Lato"/>
                <a:cs typeface="Lato"/>
                <a:sym typeface="Lato"/>
              </a:rPr>
              <a:t>CAVA MODULE 1</a:t>
            </a:r>
            <a:endParaRPr/>
          </a:p>
        </p:txBody>
      </p:sp>
      <p:sp>
        <p:nvSpPr>
          <p:cNvPr id="728" name="Google Shape;728;p28"/>
          <p:cNvSpPr/>
          <p:nvPr/>
        </p:nvSpPr>
        <p:spPr>
          <a:xfrm>
            <a:off x="11096625" y="6343650"/>
            <a:ext cx="523875" cy="17145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687984"/>
              </a:buClr>
              <a:buSzPts val="750"/>
              <a:buFont typeface="Lato"/>
              <a:buNone/>
            </a:pPr>
            <a:r>
              <a:rPr lang="it-IT" sz="750">
                <a:solidFill>
                  <a:srgbClr val="687984"/>
                </a:solidFill>
                <a:latin typeface="Lato"/>
                <a:ea typeface="Lato"/>
                <a:cs typeface="Lato"/>
                <a:sym typeface="Lato"/>
              </a:rPr>
              <a:t>24</a:t>
            </a:r>
            <a:endParaRPr/>
          </a:p>
        </p:txBody>
      </p:sp>
      <p:sp>
        <p:nvSpPr>
          <p:cNvPr id="729" name="Google Shape;729;p28"/>
          <p:cNvSpPr/>
          <p:nvPr/>
        </p:nvSpPr>
        <p:spPr>
          <a:xfrm>
            <a:off x="809625" y="1885950"/>
            <a:ext cx="523875" cy="34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575"/>
              <a:buFont typeface="Lato"/>
              <a:buNone/>
            </a:pPr>
            <a:r>
              <a:rPr b="1" i="0" lang="it-IT" sz="1575">
                <a:solidFill>
                  <a:srgbClr val="00A88F"/>
                </a:solidFill>
                <a:latin typeface="Lato"/>
                <a:ea typeface="Lato"/>
                <a:cs typeface="Lato"/>
                <a:sym typeface="Lato"/>
              </a:rPr>
              <a:t>01</a:t>
            </a:r>
            <a:endParaRPr/>
          </a:p>
        </p:txBody>
      </p:sp>
      <p:sp>
        <p:nvSpPr>
          <p:cNvPr id="730" name="Google Shape;730;p28"/>
          <p:cNvSpPr/>
          <p:nvPr/>
        </p:nvSpPr>
        <p:spPr>
          <a:xfrm>
            <a:off x="1524000" y="1752600"/>
            <a:ext cx="3905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Start with the decision question</a:t>
            </a:r>
            <a:endParaRPr/>
          </a:p>
        </p:txBody>
      </p:sp>
      <p:sp>
        <p:nvSpPr>
          <p:cNvPr id="731" name="Google Shape;731;p28"/>
          <p:cNvSpPr/>
          <p:nvPr/>
        </p:nvSpPr>
        <p:spPr>
          <a:xfrm>
            <a:off x="5629275" y="1752600"/>
            <a:ext cx="55721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Geography, variable, period and indicator should follow from the intended use.</a:t>
            </a:r>
            <a:endParaRPr/>
          </a:p>
        </p:txBody>
      </p:sp>
      <p:sp>
        <p:nvSpPr>
          <p:cNvPr id="732" name="Google Shape;732;p28"/>
          <p:cNvSpPr/>
          <p:nvPr/>
        </p:nvSpPr>
        <p:spPr>
          <a:xfrm>
            <a:off x="1524000" y="2476500"/>
            <a:ext cx="96774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3" name="Google Shape;733;p28"/>
          <p:cNvSpPr/>
          <p:nvPr/>
        </p:nvSpPr>
        <p:spPr>
          <a:xfrm>
            <a:off x="809625" y="2857500"/>
            <a:ext cx="523875" cy="34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575"/>
              <a:buFont typeface="Lato"/>
              <a:buNone/>
            </a:pPr>
            <a:r>
              <a:rPr b="1" i="0" lang="it-IT" sz="1575">
                <a:solidFill>
                  <a:srgbClr val="F2B632"/>
                </a:solidFill>
                <a:latin typeface="Lato"/>
                <a:ea typeface="Lato"/>
                <a:cs typeface="Lato"/>
                <a:sym typeface="Lato"/>
              </a:rPr>
              <a:t>02</a:t>
            </a:r>
            <a:endParaRPr/>
          </a:p>
        </p:txBody>
      </p:sp>
      <p:sp>
        <p:nvSpPr>
          <p:cNvPr id="734" name="Google Shape;734;p28"/>
          <p:cNvSpPr/>
          <p:nvPr/>
        </p:nvSpPr>
        <p:spPr>
          <a:xfrm>
            <a:off x="1524000" y="2724150"/>
            <a:ext cx="3905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Treat projections as conditional</a:t>
            </a:r>
            <a:endParaRPr/>
          </a:p>
        </p:txBody>
      </p:sp>
      <p:sp>
        <p:nvSpPr>
          <p:cNvPr id="735" name="Google Shape;735;p28"/>
          <p:cNvSpPr/>
          <p:nvPr/>
        </p:nvSpPr>
        <p:spPr>
          <a:xfrm>
            <a:off x="5629275" y="2724150"/>
            <a:ext cx="55721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They describe plausible climates under defined model and scenario assumptions.</a:t>
            </a:r>
            <a:endParaRPr/>
          </a:p>
        </p:txBody>
      </p:sp>
      <p:sp>
        <p:nvSpPr>
          <p:cNvPr id="736" name="Google Shape;736;p28"/>
          <p:cNvSpPr/>
          <p:nvPr/>
        </p:nvSpPr>
        <p:spPr>
          <a:xfrm>
            <a:off x="1524000" y="3448050"/>
            <a:ext cx="96774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7" name="Google Shape;737;p28"/>
          <p:cNvSpPr/>
          <p:nvPr/>
        </p:nvSpPr>
        <p:spPr>
          <a:xfrm>
            <a:off x="809625" y="3829050"/>
            <a:ext cx="523875" cy="34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575"/>
              <a:buFont typeface="Lato"/>
              <a:buNone/>
            </a:pPr>
            <a:r>
              <a:rPr b="1" i="0" lang="it-IT" sz="1575">
                <a:solidFill>
                  <a:srgbClr val="00A88F"/>
                </a:solidFill>
                <a:latin typeface="Lato"/>
                <a:ea typeface="Lato"/>
                <a:cs typeface="Lato"/>
                <a:sym typeface="Lato"/>
              </a:rPr>
              <a:t>03</a:t>
            </a:r>
            <a:endParaRPr/>
          </a:p>
        </p:txBody>
      </p:sp>
      <p:sp>
        <p:nvSpPr>
          <p:cNvPr id="738" name="Google Shape;738;p28"/>
          <p:cNvSpPr/>
          <p:nvPr/>
        </p:nvSpPr>
        <p:spPr>
          <a:xfrm>
            <a:off x="1524000" y="3695700"/>
            <a:ext cx="3905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06"/>
              <a:buFont typeface="Lato"/>
              <a:buNone/>
            </a:pPr>
            <a:r>
              <a:rPr b="1" i="0" lang="it-IT" sz="1507">
                <a:solidFill>
                  <a:srgbClr val="12304E"/>
                </a:solidFill>
                <a:latin typeface="Lato"/>
                <a:ea typeface="Lato"/>
                <a:cs typeface="Lato"/>
                <a:sym typeface="Lato"/>
              </a:rPr>
              <a:t>Interpret ensembles, not a preferred model</a:t>
            </a:r>
            <a:endParaRPr/>
          </a:p>
        </p:txBody>
      </p:sp>
      <p:sp>
        <p:nvSpPr>
          <p:cNvPr id="739" name="Google Shape;739;p28"/>
          <p:cNvSpPr/>
          <p:nvPr/>
        </p:nvSpPr>
        <p:spPr>
          <a:xfrm>
            <a:off x="5629275" y="3695700"/>
            <a:ext cx="55721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Centre, spread and agreement provide complementary information.</a:t>
            </a:r>
            <a:endParaRPr/>
          </a:p>
        </p:txBody>
      </p:sp>
      <p:sp>
        <p:nvSpPr>
          <p:cNvPr id="740" name="Google Shape;740;p28"/>
          <p:cNvSpPr/>
          <p:nvPr/>
        </p:nvSpPr>
        <p:spPr>
          <a:xfrm>
            <a:off x="1524000" y="4419600"/>
            <a:ext cx="9677400" cy="9525"/>
          </a:xfrm>
          <a:prstGeom prst="rect">
            <a:avLst/>
          </a:prstGeom>
          <a:solidFill>
            <a:srgbClr val="DCE5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1" name="Google Shape;741;p28"/>
          <p:cNvSpPr/>
          <p:nvPr/>
        </p:nvSpPr>
        <p:spPr>
          <a:xfrm>
            <a:off x="809625" y="4800600"/>
            <a:ext cx="523875" cy="3429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575"/>
              <a:buFont typeface="Lato"/>
              <a:buNone/>
            </a:pPr>
            <a:r>
              <a:rPr b="1" i="0" lang="it-IT" sz="1575">
                <a:solidFill>
                  <a:srgbClr val="00A88F"/>
                </a:solidFill>
                <a:latin typeface="Lato"/>
                <a:ea typeface="Lato"/>
                <a:cs typeface="Lato"/>
                <a:sym typeface="Lato"/>
              </a:rPr>
              <a:t>04</a:t>
            </a:r>
            <a:endParaRPr/>
          </a:p>
        </p:txBody>
      </p:sp>
      <p:sp>
        <p:nvSpPr>
          <p:cNvPr id="742" name="Google Shape;742;p28"/>
          <p:cNvSpPr/>
          <p:nvPr/>
        </p:nvSpPr>
        <p:spPr>
          <a:xfrm>
            <a:off x="1524000" y="4667250"/>
            <a:ext cx="390525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2304E"/>
              </a:buClr>
              <a:buSzPts val="1575"/>
              <a:buFont typeface="Lato"/>
              <a:buNone/>
            </a:pPr>
            <a:r>
              <a:rPr b="1" i="0" lang="it-IT" sz="1575">
                <a:solidFill>
                  <a:srgbClr val="12304E"/>
                </a:solidFill>
                <a:latin typeface="Lato"/>
                <a:ea typeface="Lato"/>
                <a:cs typeface="Lato"/>
                <a:sym typeface="Lato"/>
              </a:rPr>
              <a:t>Use CAVA as a connected ecosystem</a:t>
            </a:r>
            <a:endParaRPr/>
          </a:p>
        </p:txBody>
      </p:sp>
      <p:sp>
        <p:nvSpPr>
          <p:cNvPr id="743" name="Google Shape;743;p28"/>
          <p:cNvSpPr/>
          <p:nvPr/>
        </p:nvSpPr>
        <p:spPr>
          <a:xfrm>
            <a:off x="5629275" y="4667250"/>
            <a:ext cx="5572125" cy="5524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687984"/>
              </a:buClr>
              <a:buSzPts val="1275"/>
              <a:buFont typeface="Lato"/>
              <a:buNone/>
            </a:pPr>
            <a:r>
              <a:rPr b="0" i="0" lang="it-IT" sz="1275">
                <a:solidFill>
                  <a:srgbClr val="687984"/>
                </a:solidFill>
                <a:latin typeface="Lato"/>
                <a:ea typeface="Lato"/>
                <a:cs typeface="Lato"/>
                <a:sym typeface="Lato"/>
              </a:rPr>
              <a:t>The Platform, CAVAanalytics and cavapy provide different routes through a shared workflow.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304E"/>
        </a:solidFill>
      </p:bgPr>
    </p:bg>
    <p:spTree>
      <p:nvGrpSpPr>
        <p:cNvPr id="748" name="Shape 748"/>
        <p:cNvGrpSpPr/>
        <p:nvPr/>
      </p:nvGrpSpPr>
      <p:grpSpPr>
        <a:xfrm>
          <a:off x="0" y="0"/>
          <a:ext cx="0" cy="0"/>
          <a:chOff x="0" y="0"/>
          <a:chExt cx="0" cy="0"/>
        </a:xfrm>
      </p:grpSpPr>
      <p:sp>
        <p:nvSpPr>
          <p:cNvPr id="749" name="Google Shape;749;p29"/>
          <p:cNvSpPr/>
          <p:nvPr/>
        </p:nvSpPr>
        <p:spPr>
          <a:xfrm>
            <a:off x="0" y="0"/>
            <a:ext cx="76200" cy="6858000"/>
          </a:xfrm>
          <a:prstGeom prst="rect">
            <a:avLst/>
          </a:prstGeom>
          <a:solidFill>
            <a:srgbClr val="00A88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50" name="Google Shape;750;p29"/>
          <p:cNvSpPr/>
          <p:nvPr/>
        </p:nvSpPr>
        <p:spPr>
          <a:xfrm>
            <a:off x="762000" y="895350"/>
            <a:ext cx="8191500" cy="647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3225"/>
              <a:buFont typeface="Lato"/>
              <a:buNone/>
            </a:pPr>
            <a:r>
              <a:rPr b="1" i="0" lang="it-IT" sz="3225">
                <a:solidFill>
                  <a:srgbClr val="FFFFFF"/>
                </a:solidFill>
                <a:latin typeface="Lato"/>
                <a:ea typeface="Lato"/>
                <a:cs typeface="Lato"/>
                <a:sym typeface="Lato"/>
              </a:rPr>
              <a:t>Questions and discussion</a:t>
            </a:r>
            <a:endParaRPr/>
          </a:p>
        </p:txBody>
      </p:sp>
      <p:sp>
        <p:nvSpPr>
          <p:cNvPr id="751" name="Google Shape;751;p29"/>
          <p:cNvSpPr/>
          <p:nvPr/>
        </p:nvSpPr>
        <p:spPr>
          <a:xfrm>
            <a:off x="781050" y="2019300"/>
            <a:ext cx="7810500" cy="4191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D9E7EE"/>
              </a:buClr>
              <a:buSzPts val="1875"/>
              <a:buFont typeface="Lato"/>
              <a:buNone/>
            </a:pPr>
            <a:r>
              <a:rPr b="0" i="0" lang="it-IT" sz="1875">
                <a:solidFill>
                  <a:srgbClr val="D9E7EE"/>
                </a:solidFill>
                <a:latin typeface="Lato"/>
                <a:ea typeface="Lato"/>
                <a:cs typeface="Lato"/>
                <a:sym typeface="Lato"/>
              </a:rPr>
              <a:t>What remains unclear before we use the CAVA Platform?</a:t>
            </a:r>
            <a:endParaRPr/>
          </a:p>
        </p:txBody>
      </p:sp>
      <p:sp>
        <p:nvSpPr>
          <p:cNvPr id="752" name="Google Shape;752;p29"/>
          <p:cNvSpPr/>
          <p:nvPr/>
        </p:nvSpPr>
        <p:spPr>
          <a:xfrm>
            <a:off x="781050" y="3371850"/>
            <a:ext cx="419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200"/>
              <a:buFont typeface="Lato"/>
              <a:buNone/>
            </a:pPr>
            <a:r>
              <a:rPr b="1" i="0" lang="it-IT" sz="1200">
                <a:solidFill>
                  <a:srgbClr val="00A88F"/>
                </a:solidFill>
                <a:latin typeface="Lato"/>
                <a:ea typeface="Lato"/>
                <a:cs typeface="Lato"/>
                <a:sym typeface="Lato"/>
              </a:rPr>
              <a:t>01</a:t>
            </a:r>
            <a:endParaRPr/>
          </a:p>
        </p:txBody>
      </p:sp>
      <p:sp>
        <p:nvSpPr>
          <p:cNvPr id="753" name="Google Shape;753;p29"/>
          <p:cNvSpPr/>
          <p:nvPr/>
        </p:nvSpPr>
        <p:spPr>
          <a:xfrm>
            <a:off x="1371600" y="3324225"/>
            <a:ext cx="53340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425"/>
              <a:buFont typeface="Lato"/>
              <a:buNone/>
            </a:pPr>
            <a:r>
              <a:rPr b="1" i="0" lang="it-IT" sz="1425">
                <a:solidFill>
                  <a:srgbClr val="FFFFFF"/>
                </a:solidFill>
                <a:latin typeface="Lato"/>
                <a:ea typeface="Lato"/>
                <a:cs typeface="Lato"/>
                <a:sym typeface="Lato"/>
              </a:rPr>
              <a:t>Data sources and models</a:t>
            </a:r>
            <a:endParaRPr/>
          </a:p>
        </p:txBody>
      </p:sp>
      <p:sp>
        <p:nvSpPr>
          <p:cNvPr id="754" name="Google Shape;754;p29"/>
          <p:cNvSpPr/>
          <p:nvPr/>
        </p:nvSpPr>
        <p:spPr>
          <a:xfrm>
            <a:off x="781050" y="3981450"/>
            <a:ext cx="419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200"/>
              <a:buFont typeface="Lato"/>
              <a:buNone/>
            </a:pPr>
            <a:r>
              <a:rPr b="1" i="0" lang="it-IT" sz="1200">
                <a:solidFill>
                  <a:srgbClr val="00A88F"/>
                </a:solidFill>
                <a:latin typeface="Lato"/>
                <a:ea typeface="Lato"/>
                <a:cs typeface="Lato"/>
                <a:sym typeface="Lato"/>
              </a:rPr>
              <a:t>02</a:t>
            </a:r>
            <a:endParaRPr/>
          </a:p>
        </p:txBody>
      </p:sp>
      <p:sp>
        <p:nvSpPr>
          <p:cNvPr id="755" name="Google Shape;755;p29"/>
          <p:cNvSpPr/>
          <p:nvPr/>
        </p:nvSpPr>
        <p:spPr>
          <a:xfrm>
            <a:off x="1371600" y="3933825"/>
            <a:ext cx="53340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425"/>
              <a:buFont typeface="Lato"/>
              <a:buNone/>
            </a:pPr>
            <a:r>
              <a:rPr b="1" i="0" lang="it-IT" sz="1425">
                <a:solidFill>
                  <a:srgbClr val="FFFFFF"/>
                </a:solidFill>
                <a:latin typeface="Lato"/>
                <a:ea typeface="Lato"/>
                <a:cs typeface="Lato"/>
                <a:sym typeface="Lato"/>
              </a:rPr>
              <a:t>Bias correction and ensembles</a:t>
            </a:r>
            <a:endParaRPr/>
          </a:p>
        </p:txBody>
      </p:sp>
      <p:sp>
        <p:nvSpPr>
          <p:cNvPr id="756" name="Google Shape;756;p29"/>
          <p:cNvSpPr/>
          <p:nvPr/>
        </p:nvSpPr>
        <p:spPr>
          <a:xfrm>
            <a:off x="781050" y="4591050"/>
            <a:ext cx="419100" cy="266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A88F"/>
              </a:buClr>
              <a:buSzPts val="1200"/>
              <a:buFont typeface="Lato"/>
              <a:buNone/>
            </a:pPr>
            <a:r>
              <a:rPr b="1" i="0" lang="it-IT" sz="1200">
                <a:solidFill>
                  <a:srgbClr val="00A88F"/>
                </a:solidFill>
                <a:latin typeface="Lato"/>
                <a:ea typeface="Lato"/>
                <a:cs typeface="Lato"/>
                <a:sym typeface="Lato"/>
              </a:rPr>
              <a:t>03</a:t>
            </a:r>
            <a:endParaRPr/>
          </a:p>
        </p:txBody>
      </p:sp>
      <p:sp>
        <p:nvSpPr>
          <p:cNvPr id="757" name="Google Shape;757;p29"/>
          <p:cNvSpPr/>
          <p:nvPr/>
        </p:nvSpPr>
        <p:spPr>
          <a:xfrm>
            <a:off x="1371600" y="4543425"/>
            <a:ext cx="5334000" cy="32385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425"/>
              <a:buFont typeface="Lato"/>
              <a:buNone/>
            </a:pPr>
            <a:r>
              <a:rPr b="1" i="0" lang="it-IT" sz="1425">
                <a:solidFill>
                  <a:srgbClr val="FFFFFF"/>
                </a:solidFill>
                <a:latin typeface="Lato"/>
                <a:ea typeface="Lato"/>
                <a:cs typeface="Lato"/>
                <a:sym typeface="Lato"/>
              </a:rPr>
              <a:t>CAVA tools and entry points</a:t>
            </a:r>
            <a:endParaRPr/>
          </a:p>
        </p:txBody>
      </p:sp>
      <p:sp>
        <p:nvSpPr>
          <p:cNvPr id="758" name="Google Shape;758;p29"/>
          <p:cNvSpPr/>
          <p:nvPr/>
        </p:nvSpPr>
        <p:spPr>
          <a:xfrm>
            <a:off x="781050" y="5715000"/>
            <a:ext cx="4953000" cy="9525"/>
          </a:xfrm>
          <a:prstGeom prst="rect">
            <a:avLst/>
          </a:prstGeom>
          <a:solidFill>
            <a:srgbClr val="647C8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59" name="Google Shape;759;p29"/>
          <p:cNvSpPr/>
          <p:nvPr/>
        </p:nvSpPr>
        <p:spPr>
          <a:xfrm>
            <a:off x="781050" y="5905500"/>
            <a:ext cx="5238750" cy="238125"/>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2B632"/>
              </a:buClr>
              <a:buSzPts val="1125"/>
              <a:buFont typeface="Lato"/>
              <a:buNone/>
            </a:pPr>
            <a:r>
              <a:rPr b="1" i="0" lang="it-IT" sz="1125">
                <a:solidFill>
                  <a:srgbClr val="F2B632"/>
                </a:solidFill>
                <a:latin typeface="Lato"/>
                <a:ea typeface="Lato"/>
                <a:cs typeface="Lato"/>
                <a:sym typeface="Lato"/>
              </a:rPr>
              <a:t>Next: Module 2 · Using the CAVA Platform</a:t>
            </a:r>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