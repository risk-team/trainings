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Lato"/>
      <p:regular r:id="rId41"/>
      <p:bold r:id="rId42"/>
      <p:italic r:id="rId43"/>
      <p:boldItalic r:id="rId44"/>
    </p:embeddedFont>
    <p:embeddedFont>
      <p:font typeface="Helvetica Neue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Riccardo 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22" Type="http://schemas.openxmlformats.org/officeDocument/2006/relationships/slide" Target="slides/slide17.xml"/><Relationship Id="rId44" Type="http://schemas.openxmlformats.org/officeDocument/2006/relationships/font" Target="fonts/Lato-boldItalic.fntdata"/><Relationship Id="rId21" Type="http://schemas.openxmlformats.org/officeDocument/2006/relationships/slide" Target="slides/slide16.xml"/><Relationship Id="rId43" Type="http://schemas.openxmlformats.org/officeDocument/2006/relationships/font" Target="fonts/Lato-italic.fntdata"/><Relationship Id="rId24" Type="http://schemas.openxmlformats.org/officeDocument/2006/relationships/slide" Target="slides/slide19.xml"/><Relationship Id="rId46" Type="http://schemas.openxmlformats.org/officeDocument/2006/relationships/font" Target="fonts/HelveticaNeue-bold.fntdata"/><Relationship Id="rId23" Type="http://schemas.openxmlformats.org/officeDocument/2006/relationships/slide" Target="slides/slide18.xml"/><Relationship Id="rId45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HelveticaNeue-boldItalic.fntdata"/><Relationship Id="rId25" Type="http://schemas.openxmlformats.org/officeDocument/2006/relationships/slide" Target="slides/slide20.xml"/><Relationship Id="rId47" Type="http://schemas.openxmlformats.org/officeDocument/2006/relationships/font" Target="fonts/HelveticaNeue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9-23T08:37:08.144">
    <p:pos x="6000" y="0"/>
    <p:text>To update Hideki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5b8f0bc82cac0887_16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h5b8f0bc82cac0887_16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4" name="Google Shape;14;h5b8f0bc82cac0887_16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h5b8f0bc82cac0887_16_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h5b8f0bc82cac0887_16_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3" name="Google Shape;33;h5b8f0bc82cac0887_16_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5b8f0bc82cac0887_16_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h5b8f0bc82cac0887_16_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0" name="Google Shape;70;h5b8f0bc82cac0887_16_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385e268d64f77168_6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h385e268d64f77168_6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11" name="Google Shape;111;h385e268d64f77168_6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5b8f0bc82cac0887_16_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h5b8f0bc82cac0887_16_8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132" name="Google Shape;132;h5b8f0bc82cac0887_16_8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385e268d64f77168_6_1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h385e268d64f77168_6_1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23" name="Google Shape;223;h385e268d64f77168_6_1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5b8f0bc82cac0887_16_1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h5b8f0bc82cac0887_16_1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45" name="Google Shape;245;h5b8f0bc82cac0887_16_1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5b8f0bc82cac0887_16_1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h5b8f0bc82cac0887_16_1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61" name="Google Shape;261;h5b8f0bc82cac0887_16_1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h5b8f0bc82cac0887_16_1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h5b8f0bc82cac0887_16_16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273" name="Google Shape;273;h5b8f0bc82cac0887_16_16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5b8f0bc82cac0887_16_19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h5b8f0bc82cac0887_16_19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04" name="Google Shape;304;h5b8f0bc82cac0887_16_19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h5b8f0bc82cac0887_16_2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h5b8f0bc82cac0887_16_2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28" name="Google Shape;328;h5b8f0bc82cac0887_16_2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h5b8f0bc82cac0887_16_2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h5b8f0bc82cac0887_16_2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350" name="Google Shape;350;h5b8f0bc82cac0887_16_2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8f1b8d0f7_21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g3f8f1b8d0f7_21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02" name="Google Shape;402;g3f8f1b8d0f7_21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h5b8f0bc82cac0887_16_3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8" name="Google Shape;438;h5b8f0bc82cac0887_16_3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39" name="Google Shape;439;h5b8f0bc82cac0887_16_3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h7261dedab1ac70f3_0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0" name="Google Shape;470;h7261dedab1ac70f3_0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71" name="Google Shape;471;h7261dedab1ac70f3_0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h5b8f0bc82cac0887_16_3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h5b8f0bc82cac0887_16_3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486" name="Google Shape;486;h5b8f0bc82cac0887_16_3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h5b8f0bc82cac0887_16_36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6" name="Google Shape;526;h5b8f0bc82cac0887_16_36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27" name="Google Shape;527;h5b8f0bc82cac0887_16_36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8f1b8d0f7_21_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g3f8f1b8d0f7_21_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555" name="Google Shape;555;g3f8f1b8d0f7_21_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h5b8f0bc82cac0887_16_4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h5b8f0bc82cac0887_16_4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48" name="Google Shape;648;h5b8f0bc82cac0887_16_4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h5b8f0bc82cac0887_16_4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h5b8f0bc82cac0887_16_4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660" name="Google Shape;660;h5b8f0bc82cac0887_16_4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h5b8f0bc82cac0887_16_4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h5b8f0bc82cac0887_16_4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h5b8f0bc82cac0887_16_4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f8f1b8d0f7_31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5" name="Google Shape;715;g3f8f1b8d0f7_31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f8f1b8d0f7_31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h5b8f0bc82cac0887_24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4" name="Google Shape;754;h5b8f0bc82cac0887_24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755" name="Google Shape;755;h5b8f0bc82cac0887_24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h6866b590052a35f5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7" name="Google Shape;767;h6866b590052a35f5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h6866b590052a35f5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h5b8f0bc82cac0887_24_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0" name="Google Shape;820;h5b8f0bc82cac0887_24_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h5b8f0bc82cac0887_24_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h25be6477ae0ef566_0_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0" name="Google Shape;850;h25be6477ae0ef566_0_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h25be6477ae0ef566_0_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h5b8f0bc82cac0887_16_60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9" name="Google Shape;879;h5b8f0bc82cac0887_16_60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80" name="Google Shape;880;h5b8f0bc82cac0887_16_60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f8f203f6fd_8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1" name="Google Shape;891;g3f8f203f6fd_8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g3f8f203f6fd_8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f8f203f6fd_8_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9" name="Google Shape;919;g3f8f203f6fd_8_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g3f8f203f6fd_8_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h175059f85f094b0f_0_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9" name="Google Shape;949;h175059f85f094b0f_0_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h175059f85f094b0f_0_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3" name="Google Shape;96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3f8f203f6fd_8_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2" name="Google Shape;992;g3f8f203f6fd_8_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g3f8f203f6fd_8_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fbd504090e_2_1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7" name="Google Shape;1007;g3fbd504090e_2_1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g3fbd504090e_2_1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1" name="Google Shape;102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1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hyperlink" Target="https://cavaplatform.fao.org" TargetMode="External"/><Relationship Id="rId5" Type="http://schemas.openxmlformats.org/officeDocument/2006/relationships/hyperlink" Target="https://github.com/un-fao/CAVAanalytics" TargetMode="External"/><Relationship Id="rId6" Type="http://schemas.openxmlformats.org/officeDocument/2006/relationships/hyperlink" Target="https://github.com/un-fao/cavapy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cavaplatform.fao.org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ithub.com/zequihg50/cava-analytics-datalab" TargetMode="External"/><Relationship Id="rId4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11294" l="0" r="0" t="11294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304E"/>
              </a:gs>
              <a:gs pos="28000">
                <a:srgbClr val="12304E">
                  <a:alpha val="98039"/>
                </a:srgbClr>
              </a:gs>
              <a:gs pos="48000">
                <a:srgbClr val="12304E">
                  <a:alpha val="83922"/>
                </a:srgbClr>
              </a:gs>
              <a:gs pos="70000">
                <a:srgbClr val="12304E">
                  <a:alpha val="36078"/>
                </a:srgbClr>
              </a:gs>
              <a:gs pos="100000">
                <a:srgbClr val="12304E">
                  <a:alpha val="10196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2304E">
                  <a:alpha val="0"/>
                </a:srgbClr>
              </a:gs>
              <a:gs pos="52000">
                <a:srgbClr val="12304E">
                  <a:alpha val="0"/>
                </a:srgbClr>
              </a:gs>
              <a:gs pos="75000">
                <a:srgbClr val="12304E">
                  <a:alpha val="18039"/>
                </a:srgbClr>
              </a:gs>
              <a:gs pos="100000">
                <a:srgbClr val="12304E">
                  <a:alpha val="72157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04850" y="609600"/>
            <a:ext cx="1028700" cy="381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04850" y="1000125"/>
            <a:ext cx="4095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78D8C8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78D8C8"/>
                </a:solidFill>
                <a:latin typeface="Lato"/>
                <a:ea typeface="Lato"/>
                <a:cs typeface="Lato"/>
                <a:sym typeface="Lato"/>
              </a:rPr>
              <a:t>CAVA TRAINING SERIES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704850" y="1743075"/>
            <a:ext cx="5238900" cy="22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Lato"/>
              <a:buNone/>
            </a:pPr>
            <a:r>
              <a:rPr b="1" i="0" lang="it-IT" sz="34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Understanding climate information and the CAVA ecosystem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714375" y="445770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714375" y="4953000"/>
            <a:ext cx="2095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28 September 2026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14375" y="5257800"/>
            <a:ext cx="247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D7E5EC"/>
                </a:solidFill>
                <a:latin typeface="Lato"/>
                <a:ea typeface="Lato"/>
                <a:cs typeface="Lato"/>
                <a:sym typeface="Lato"/>
              </a:rPr>
              <a:t>10:00–11:30  ·  Online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14375" y="6019800"/>
            <a:ext cx="4381500" cy="9600"/>
          </a:xfrm>
          <a:prstGeom prst="rect">
            <a:avLst/>
          </a:prstGeom>
          <a:solidFill>
            <a:srgbClr val="A8C0CD">
              <a:alpha val="549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14375" y="6172200"/>
            <a:ext cx="43815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900"/>
              <a:buFont typeface="Lato"/>
              <a:buNone/>
            </a:pPr>
            <a:r>
              <a:rPr b="0" i="0" lang="it-IT" sz="900">
                <a:solidFill>
                  <a:srgbClr val="D7E5EC"/>
                </a:solidFill>
                <a:latin typeface="Lato"/>
                <a:ea typeface="Lato"/>
                <a:cs typeface="Lato"/>
                <a:sym typeface="Lato"/>
              </a:rPr>
              <a:t>From climate information to climate impact 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525000" y="647700"/>
            <a:ext cx="19527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42"/>
              <a:buFont typeface="Lato"/>
              <a:buNone/>
            </a:pPr>
            <a:r>
              <a:rPr b="1" i="0" lang="it-IT" sz="464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CAVA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362950" y="1419225"/>
            <a:ext cx="3114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CLIMATE AND AGRICULTURE RISK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VISUALIZATION AND ASSESSMENT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Training series agenda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Four modules move from concepts to practical access, technical workflows and impact modelling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23900" y="1876425"/>
            <a:ext cx="5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352550" y="1905000"/>
            <a:ext cx="809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28 SEP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324100" y="1752600"/>
            <a:ext cx="38100" cy="6858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2590800" y="1790700"/>
            <a:ext cx="58104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b="1" i="0" lang="it-IT" sz="17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Introduction to the CAVA ecosystem</a:t>
            </a:r>
            <a:endParaRPr b="1" i="0" sz="1725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t/>
            </a:r>
            <a:endParaRPr b="1" sz="1725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590800" y="2310532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90 min · online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715500" y="1924050"/>
            <a:ext cx="1104900" cy="285900"/>
          </a:xfrm>
          <a:prstGeom prst="roundRect">
            <a:avLst>
              <a:gd fmla="val 26667" name="adj"/>
            </a:avLst>
          </a:prstGeom>
          <a:solidFill>
            <a:srgbClr val="00A88F"/>
          </a:solidFill>
          <a:ln>
            <a:noFill/>
          </a:ln>
        </p:spPr>
        <p:txBody>
          <a:bodyPr anchorCtr="0" anchor="ctr" bIns="28575" lIns="76200" spcFirstLastPara="1" rIns="76200" wrap="square" tIns="2857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TODAY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23900" y="2828925"/>
            <a:ext cx="5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3A59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183A59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52550" y="2857500"/>
            <a:ext cx="809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29 SEP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324100" y="2705100"/>
            <a:ext cx="38100" cy="685800"/>
          </a:xfrm>
          <a:prstGeom prst="rect">
            <a:avLst/>
          </a:prstGeom>
          <a:solidFill>
            <a:srgbClr val="183A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590800" y="2743200"/>
            <a:ext cx="58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b="1" i="0" lang="it-IT" sz="17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Using the CAVA Platform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2590800" y="3253164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90 min · online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723900" y="3781425"/>
            <a:ext cx="5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352550" y="3810000"/>
            <a:ext cx="809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30 SEP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324100" y="3657600"/>
            <a:ext cx="38100" cy="6858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590800" y="3695700"/>
            <a:ext cx="58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b="1" i="0" lang="it-IT" sz="17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Climate data workflows with CAVA backend</a:t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590800" y="4195797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 hours + optional hour · hybrid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3900" y="4733925"/>
            <a:ext cx="5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352550" y="4762500"/>
            <a:ext cx="809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01 OCT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324100" y="4610100"/>
            <a:ext cx="38100" cy="685800"/>
          </a:xfrm>
          <a:prstGeom prst="rect">
            <a:avLst/>
          </a:prstGeom>
          <a:solidFill>
            <a:srgbClr val="008D7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2590800" y="4648200"/>
            <a:ext cx="58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b="1" i="0" lang="it-IT" sz="17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Climate data for crop modelling (joint training with NSL)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590800" y="5168032"/>
            <a:ext cx="476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 hours + optional hour · hybrid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2571750" y="2114792"/>
            <a:ext cx="58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b="1" i="1" lang="it-IT" sz="1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Riccardo Soldan, Hideki Kanamaru, Ezequiel Cimadevilla</a:t>
            </a:r>
            <a:endParaRPr i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2590800" y="3073816"/>
            <a:ext cx="58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b="1" i="1" lang="it-IT" sz="1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Riccardo Soldan, Andrea Setti</a:t>
            </a:r>
            <a:endParaRPr i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2611221" y="4004941"/>
            <a:ext cx="58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b="1" i="1" lang="it-IT" sz="1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Riccardo Soldan, </a:t>
            </a:r>
            <a:r>
              <a:rPr b="1" i="1" lang="it-IT" sz="1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Samuel</a:t>
            </a:r>
            <a:r>
              <a:rPr b="1" i="1" lang="it-IT" sz="1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 Greenrod</a:t>
            </a:r>
            <a:endParaRPr i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2590796" y="4936066"/>
            <a:ext cx="58104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b="1" i="1" lang="it-IT" sz="1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Riccardo Soldan, Federica Chiozza, Dario Spiller</a:t>
            </a:r>
            <a:endParaRPr i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Today’s learning journey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Climate science explains the data. The workflow determines how people can access and use it.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190625" y="3267075"/>
            <a:ext cx="9810900" cy="381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219200" y="2962275"/>
            <a:ext cx="38100" cy="324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028700" y="3076575"/>
            <a:ext cx="419100" cy="4191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361950" y="1809750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00–05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85750" y="2114550"/>
            <a:ext cx="19050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Introduction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81004" y="2724070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00"/>
              <a:buFont typeface="Lato"/>
              <a:buNone/>
            </a:pPr>
            <a:r>
              <a:rPr b="1" i="0" lang="it-IT" sz="13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Riccardo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648075" y="3305175"/>
            <a:ext cx="38100" cy="3240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3457575" y="3076575"/>
            <a:ext cx="419100" cy="419100"/>
          </a:xfrm>
          <a:prstGeom prst="ellipse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2790825" y="3781425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05–40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714625" y="4086225"/>
            <a:ext cx="19050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climate science behind the 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790825" y="4857750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00"/>
              <a:buFont typeface="Lato"/>
              <a:buNone/>
            </a:pPr>
            <a:r>
              <a:rPr b="1" i="0" lang="it-IT" sz="13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Hideki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6076950" y="2962275"/>
            <a:ext cx="38100" cy="324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5886450" y="3076575"/>
            <a:ext cx="419100" cy="4191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5219700" y="1809750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40–55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5143500" y="2114550"/>
            <a:ext cx="19050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Accessing climate data today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5219700" y="2724075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00"/>
              <a:buFont typeface="Lato"/>
              <a:buNone/>
            </a:pPr>
            <a:r>
              <a:rPr b="1" i="0" lang="it-IT" sz="13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Riccardo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8505825" y="3305175"/>
            <a:ext cx="38100" cy="3240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8315325" y="3076575"/>
            <a:ext cx="419100" cy="419100"/>
          </a:xfrm>
          <a:prstGeom prst="ellipse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7648575" y="3781425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55–70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7572375" y="4086225"/>
            <a:ext cx="19050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What CAVA changes and how it works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648575" y="4857750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00"/>
              <a:buFont typeface="Lato"/>
              <a:buNone/>
            </a:pPr>
            <a:r>
              <a:rPr b="1" i="0" lang="it-IT" sz="13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Ezequiel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0934700" y="2962275"/>
            <a:ext cx="38100" cy="324000"/>
          </a:xfrm>
          <a:prstGeom prst="rect">
            <a:avLst/>
          </a:prstGeom>
          <a:solidFill>
            <a:srgbClr val="183A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0744200" y="3076575"/>
            <a:ext cx="419100" cy="419100"/>
          </a:xfrm>
          <a:prstGeom prst="ellipse">
            <a:avLst/>
          </a:prstGeom>
          <a:solidFill>
            <a:srgbClr val="183A5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10077450" y="1809750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3A59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183A59"/>
                </a:solidFill>
                <a:latin typeface="Lato"/>
                <a:ea typeface="Lato"/>
                <a:cs typeface="Lato"/>
                <a:sym typeface="Lato"/>
              </a:rPr>
              <a:t>70–90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001250" y="2114550"/>
            <a:ext cx="19050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iscussion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058400" y="2724074"/>
            <a:ext cx="1752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00"/>
              <a:buFont typeface="Lato"/>
              <a:buNone/>
            </a:pPr>
            <a:r>
              <a:rPr b="1" i="0" lang="it-IT" sz="13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All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85800" y="5466924"/>
            <a:ext cx="18096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Learning outcome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2381250" y="5428824"/>
            <a:ext cx="82869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23"/>
              <a:buFont typeface="Lato"/>
              <a:buNone/>
            </a:pPr>
            <a:r>
              <a:rPr b="1" lang="it-IT" sz="1524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Climate models</a:t>
            </a:r>
            <a:r>
              <a:rPr b="1" i="0" lang="it-IT" sz="1524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, climate data</a:t>
            </a:r>
            <a:r>
              <a:rPr b="1" lang="it-IT" sz="1524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 a</a:t>
            </a:r>
            <a:r>
              <a:rPr b="1" i="0" lang="it-IT" sz="1524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nd the role of CAVA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11110950" y="2910950"/>
            <a:ext cx="110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Wait a second. Did we need another tool?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development justification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31520" y="1645920"/>
            <a:ext cx="4846200" cy="393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51560" y="1965960"/>
            <a:ext cx="530400" cy="530400"/>
          </a:xfrm>
          <a:prstGeom prst="ellipse">
            <a:avLst/>
          </a:prstGeom>
          <a:solidFill>
            <a:srgbClr val="2B6CB0"/>
          </a:solidFill>
          <a:ln cap="flat" cmpd="sng" w="9525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22" name="Google Shape;122;p6"/>
          <p:cNvSpPr txBox="1"/>
          <p:nvPr/>
        </p:nvSpPr>
        <p:spPr>
          <a:xfrm>
            <a:off x="1691640" y="1938528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rgbClr val="2B6CB0"/>
                </a:solidFill>
                <a:latin typeface="Calibri"/>
                <a:ea typeface="Calibri"/>
                <a:cs typeface="Calibri"/>
                <a:sym typeface="Calibri"/>
              </a:rPr>
              <a:t>Internal first</a:t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5715000" y="3154680"/>
            <a:ext cx="502800" cy="548700"/>
          </a:xfrm>
          <a:prstGeom prst="chevron">
            <a:avLst>
              <a:gd fmla="val 50000" name="adj"/>
            </a:avLst>
          </a:prstGeom>
          <a:solidFill>
            <a:srgbClr val="FF914D"/>
          </a:solidFill>
          <a:ln cap="flat" cmpd="sng" w="9525">
            <a:solidFill>
              <a:srgbClr val="FF914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6583680" y="1645920"/>
            <a:ext cx="4846200" cy="393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903720" y="1965960"/>
            <a:ext cx="530400" cy="530400"/>
          </a:xfrm>
          <a:prstGeom prst="ellipse">
            <a:avLst/>
          </a:prstGeom>
          <a:solidFill>
            <a:srgbClr val="228B62"/>
          </a:solidFill>
          <a:ln cap="flat" cmpd="sng" w="9525">
            <a:solidFill>
              <a:srgbClr val="228B6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7543800" y="1938528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rgbClr val="228B62"/>
                </a:solidFill>
                <a:latin typeface="Calibri"/>
                <a:ea typeface="Calibri"/>
                <a:cs typeface="Calibri"/>
                <a:sym typeface="Calibri"/>
              </a:rPr>
              <a:t>Opened to everyone</a:t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1074435" y="3015525"/>
            <a:ext cx="4160400" cy="15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CAVA was originally developed for the Climate Risk Team.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Its first purpose was to support climate risk assessments for GEF and GCF projects.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It continues to be used internally in project design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6926570" y="2744675"/>
            <a:ext cx="41604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We realised the same barrier affects many others: accessing and using climate information.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Because the tool was genuinely useful, we decided to make it available more broadly.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1500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The aim is to help more practitioners bring climate information into project design.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role of CAVA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Democratising </a:t>
            </a:r>
            <a:r>
              <a:rPr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access, usability and interpretation of climate information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94360" y="1536192"/>
            <a:ext cx="2880300" cy="3520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13816" y="1746504"/>
            <a:ext cx="384000" cy="384000"/>
          </a:xfrm>
          <a:prstGeom prst="ellipse">
            <a:avLst/>
          </a:prstGeom>
          <a:solidFill>
            <a:srgbClr val="1976B9"/>
          </a:solidFill>
          <a:ln cap="flat" cmpd="sng" w="12700">
            <a:solidFill>
              <a:srgbClr val="1976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13816" y="1746504"/>
            <a:ext cx="384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it-IT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307592" y="1754164"/>
            <a:ext cx="15087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3B63"/>
              </a:buClr>
              <a:buSzPts val="2100"/>
              <a:buFont typeface="Arial"/>
              <a:buNone/>
            </a:pPr>
            <a:r>
              <a:rPr b="1" i="0" lang="it-IT" sz="2100" u="none" cap="none" strike="noStrike">
                <a:solidFill>
                  <a:srgbClr val="143B63"/>
                </a:solidFill>
                <a:latin typeface="Arial"/>
                <a:ea typeface="Arial"/>
                <a:cs typeface="Arial"/>
                <a:sym typeface="Arial"/>
              </a:rPr>
              <a:t>CAVA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813825" y="2194550"/>
            <a:ext cx="27159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976B9"/>
              </a:buClr>
              <a:buSzPts val="1800"/>
              <a:buFont typeface="Arial"/>
              <a:buNone/>
            </a:pPr>
            <a:r>
              <a:rPr b="1" i="0" lang="it-IT" sz="1600" u="none" cap="none" strike="noStrike">
                <a:solidFill>
                  <a:srgbClr val="1976B9"/>
                </a:solidFill>
                <a:latin typeface="Arial"/>
                <a:ea typeface="Arial"/>
                <a:cs typeface="Arial"/>
                <a:sym typeface="Arial"/>
              </a:rPr>
              <a:t>Access</a:t>
            </a:r>
            <a:r>
              <a:rPr b="1" lang="it-IT" sz="1600">
                <a:solidFill>
                  <a:srgbClr val="1976B9"/>
                </a:solidFill>
              </a:rPr>
              <a:t>, use and interpret </a:t>
            </a:r>
            <a:r>
              <a:rPr b="1" i="0" lang="it-IT" sz="1600" u="none" cap="none" strike="noStrike">
                <a:solidFill>
                  <a:srgbClr val="1976B9"/>
                </a:solidFill>
                <a:latin typeface="Arial"/>
                <a:ea typeface="Arial"/>
                <a:cs typeface="Arial"/>
                <a:sym typeface="Arial"/>
              </a:rPr>
              <a:t>climate</a:t>
            </a:r>
            <a:r>
              <a:rPr b="1" lang="it-IT" sz="1600">
                <a:solidFill>
                  <a:srgbClr val="1976B9"/>
                </a:solidFill>
              </a:rPr>
              <a:t> </a:t>
            </a:r>
            <a:r>
              <a:rPr b="1" i="0" lang="it-IT" sz="1600" u="none" cap="none" strike="noStrike">
                <a:solidFill>
                  <a:srgbClr val="1976B9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13825" y="3136426"/>
            <a:ext cx="2441400" cy="1014900"/>
          </a:xfrm>
          <a:prstGeom prst="roundRect">
            <a:avLst>
              <a:gd fmla="val 10145" name="adj"/>
            </a:avLst>
          </a:prstGeom>
          <a:solidFill>
            <a:srgbClr val="EAF4FB"/>
          </a:solidFill>
          <a:ln cap="flat" cmpd="sng" w="12700">
            <a:solidFill>
              <a:srgbClr val="EAF4FB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005840" y="3372163"/>
            <a:ext cx="932700" cy="255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3352427"/>
            <a:ext cx="932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76B9"/>
              </a:buClr>
              <a:buSzPts val="1050"/>
              <a:buFont typeface="Arial"/>
              <a:buNone/>
            </a:pPr>
            <a:r>
              <a:rPr b="1" i="0" lang="it-IT" sz="1050" u="none" cap="none" strike="noStrike">
                <a:solidFill>
                  <a:srgbClr val="1976B9"/>
                </a:solidFill>
                <a:latin typeface="Arial"/>
                <a:ea typeface="Arial"/>
                <a:cs typeface="Arial"/>
                <a:sym typeface="Arial"/>
              </a:rPr>
              <a:t>Extreme heat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2048256" y="3648456"/>
            <a:ext cx="932700" cy="255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2048256" y="3628721"/>
            <a:ext cx="932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76B9"/>
              </a:buClr>
              <a:buSzPts val="1050"/>
              <a:buFont typeface="Arial"/>
              <a:buNone/>
            </a:pPr>
            <a:r>
              <a:rPr b="1" lang="it-IT" sz="1050">
                <a:solidFill>
                  <a:srgbClr val="1976B9"/>
                </a:solidFill>
              </a:rPr>
              <a:t>Met </a:t>
            </a:r>
            <a:r>
              <a:rPr b="1" i="0" lang="it-IT" sz="1050" u="none" cap="none" strike="noStrike">
                <a:solidFill>
                  <a:srgbClr val="1976B9"/>
                </a:solidFill>
                <a:latin typeface="Arial"/>
                <a:ea typeface="Arial"/>
                <a:cs typeface="Arial"/>
                <a:sym typeface="Arial"/>
              </a:rPr>
              <a:t>Drought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005840" y="3752132"/>
            <a:ext cx="932700" cy="2559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742264"/>
            <a:ext cx="932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976B9"/>
              </a:buClr>
              <a:buSzPts val="1050"/>
              <a:buFont typeface="Arial"/>
              <a:buNone/>
            </a:pPr>
            <a:r>
              <a:rPr b="1" i="0" lang="it-IT" sz="1050" u="none" cap="none" strike="noStrike">
                <a:solidFill>
                  <a:srgbClr val="1976B9"/>
                </a:solidFill>
                <a:latin typeface="Arial"/>
                <a:ea typeface="Arial"/>
                <a:cs typeface="Arial"/>
                <a:sym typeface="Arial"/>
              </a:rPr>
              <a:t>Heavy rain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822900" y="4238238"/>
            <a:ext cx="24414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6B7A"/>
              </a:buClr>
              <a:buSzPts val="1220"/>
              <a:buFont typeface="Arial"/>
              <a:buNone/>
            </a:pPr>
            <a:r>
              <a:rPr b="0" i="0" lang="it-IT" sz="1220" u="none" cap="none" strike="noStrike">
                <a:solidFill>
                  <a:srgbClr val="5B6B7A"/>
                </a:solidFill>
                <a:latin typeface="Arial"/>
                <a:ea typeface="Arial"/>
                <a:cs typeface="Arial"/>
                <a:sym typeface="Arial"/>
              </a:rPr>
              <a:t>CAVA helps you understand where hazards may occur, how intense they may be, and how they may chang</a:t>
            </a:r>
            <a:r>
              <a:rPr lang="it-IT" sz="1220">
                <a:solidFill>
                  <a:srgbClr val="5B6B7A"/>
                </a:solidFill>
              </a:rPr>
              <a:t>e</a:t>
            </a:r>
            <a:endParaRPr b="0" i="0" sz="12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7"/>
          <p:cNvGrpSpPr/>
          <p:nvPr/>
        </p:nvGrpSpPr>
        <p:grpSpPr>
          <a:xfrm>
            <a:off x="3529584" y="1536192"/>
            <a:ext cx="4443864" cy="3520500"/>
            <a:chOff x="3529584" y="1536192"/>
            <a:chExt cx="4443864" cy="3520500"/>
          </a:xfrm>
        </p:grpSpPr>
        <p:sp>
          <p:nvSpPr>
            <p:cNvPr id="155" name="Google Shape;155;p7"/>
            <p:cNvSpPr/>
            <p:nvPr/>
          </p:nvSpPr>
          <p:spPr>
            <a:xfrm>
              <a:off x="3813048" y="1536192"/>
              <a:ext cx="4160400" cy="35205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12700">
              <a:solidFill>
                <a:srgbClr val="FFFF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4032504" y="1746504"/>
              <a:ext cx="384000" cy="384000"/>
            </a:xfrm>
            <a:prstGeom prst="ellipse">
              <a:avLst/>
            </a:prstGeom>
            <a:solidFill>
              <a:srgbClr val="E9A23B"/>
            </a:solidFill>
            <a:ln cap="flat" cmpd="sng" w="12700">
              <a:solidFill>
                <a:srgbClr val="E9A2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4032504" y="1746504"/>
              <a:ext cx="384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Arial"/>
                <a:buNone/>
              </a:pPr>
              <a:r>
                <a:rPr b="1" i="0" lang="it-IT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4526280" y="1743488"/>
              <a:ext cx="21489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2100"/>
                <a:buFont typeface="Arial"/>
                <a:buNone/>
              </a:pPr>
              <a:r>
                <a:rPr b="1" i="0" lang="it-IT" sz="210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Climate risk lens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4032504" y="2194560"/>
              <a:ext cx="37215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9A23B"/>
                </a:buClr>
                <a:buSzPts val="1800"/>
                <a:buFont typeface="Arial"/>
                <a:buNone/>
              </a:pPr>
              <a:r>
                <a:rPr b="1" i="0" lang="it-IT" sz="1600" u="none" cap="none" strike="noStrike">
                  <a:solidFill>
                    <a:srgbClr val="E9A23B"/>
                  </a:solidFill>
                  <a:latin typeface="Arial"/>
                  <a:ea typeface="Arial"/>
                  <a:cs typeface="Arial"/>
                  <a:sym typeface="Arial"/>
                </a:rPr>
                <a:t>A hazard is not the same as a risk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7"/>
            <p:cNvSpPr/>
            <p:nvPr/>
          </p:nvSpPr>
          <p:spPr>
            <a:xfrm>
              <a:off x="4032504" y="2578608"/>
              <a:ext cx="3721500" cy="53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33548"/>
                </a:buClr>
                <a:buSzPts val="1250"/>
                <a:buFont typeface="Arial"/>
                <a:buNone/>
              </a:pPr>
              <a:r>
                <a:rPr b="0" i="0" lang="it-IT" sz="1250" u="none" cap="none" strike="noStrike">
                  <a:solidFill>
                    <a:srgbClr val="233548"/>
                  </a:solidFill>
                  <a:latin typeface="Arial"/>
                  <a:ea typeface="Arial"/>
                  <a:cs typeface="Arial"/>
                  <a:sym typeface="Arial"/>
                </a:rPr>
                <a:t>To judge whether planned activities are climate-resilient, combine hazard information with three project-specific questions:</a:t>
              </a:r>
              <a:endParaRPr b="0" i="0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7"/>
            <p:cNvSpPr/>
            <p:nvPr/>
          </p:nvSpPr>
          <p:spPr>
            <a:xfrm>
              <a:off x="4032504" y="3255264"/>
              <a:ext cx="896100" cy="1079100"/>
            </a:xfrm>
            <a:prstGeom prst="roundRect">
              <a:avLst>
                <a:gd fmla="val 14286" name="adj"/>
              </a:avLst>
            </a:prstGeom>
            <a:solidFill>
              <a:srgbClr val="FFF4DE"/>
            </a:solidFill>
            <a:ln cap="flat" cmpd="sng" w="12700">
              <a:solidFill>
                <a:srgbClr val="FFF4DE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7"/>
            <p:cNvSpPr/>
            <p:nvPr/>
          </p:nvSpPr>
          <p:spPr>
            <a:xfrm>
              <a:off x="4142232" y="3374136"/>
              <a:ext cx="274200" cy="274200"/>
            </a:xfrm>
            <a:prstGeom prst="ellipse">
              <a:avLst/>
            </a:prstGeom>
            <a:solidFill>
              <a:srgbClr val="E9A23B"/>
            </a:solidFill>
            <a:ln cap="flat" cmpd="sng" w="12700">
              <a:solidFill>
                <a:srgbClr val="E9A2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7"/>
            <p:cNvSpPr/>
            <p:nvPr/>
          </p:nvSpPr>
          <p:spPr>
            <a:xfrm>
              <a:off x="4142232" y="3374136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b="1" i="0" lang="it-IT" sz="1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7"/>
            <p:cNvSpPr/>
            <p:nvPr/>
          </p:nvSpPr>
          <p:spPr>
            <a:xfrm>
              <a:off x="4087368" y="3685032"/>
              <a:ext cx="7863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105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Hazard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7"/>
            <p:cNvSpPr/>
            <p:nvPr/>
          </p:nvSpPr>
          <p:spPr>
            <a:xfrm>
              <a:off x="4087368" y="3941064"/>
              <a:ext cx="786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870"/>
                <a:buFont typeface="Arial"/>
                <a:buNone/>
              </a:pPr>
              <a:r>
                <a:rPr b="0" i="0" lang="it-IT" sz="870" u="none" cap="none" strike="noStrike">
                  <a:solidFill>
                    <a:srgbClr val="5B6B7A"/>
                  </a:solidFill>
                  <a:latin typeface="Arial"/>
                  <a:ea typeface="Arial"/>
                  <a:cs typeface="Arial"/>
                  <a:sym typeface="Arial"/>
                </a:rPr>
                <a:t>What may happen?</a:t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5001768" y="3255264"/>
              <a:ext cx="896100" cy="1079100"/>
            </a:xfrm>
            <a:prstGeom prst="roundRect">
              <a:avLst>
                <a:gd fmla="val 14286" name="adj"/>
              </a:avLst>
            </a:prstGeom>
            <a:solidFill>
              <a:srgbClr val="EAF4FB"/>
            </a:solidFill>
            <a:ln cap="flat" cmpd="sng" w="12700">
              <a:solidFill>
                <a:srgbClr val="EAF4FB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7"/>
            <p:cNvSpPr/>
            <p:nvPr/>
          </p:nvSpPr>
          <p:spPr>
            <a:xfrm>
              <a:off x="5111496" y="3374136"/>
              <a:ext cx="274200" cy="274200"/>
            </a:xfrm>
            <a:prstGeom prst="ellipse">
              <a:avLst/>
            </a:prstGeom>
            <a:solidFill>
              <a:srgbClr val="1976B9"/>
            </a:solidFill>
            <a:ln cap="flat" cmpd="sng" w="12700">
              <a:solidFill>
                <a:srgbClr val="1976B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7"/>
            <p:cNvSpPr/>
            <p:nvPr/>
          </p:nvSpPr>
          <p:spPr>
            <a:xfrm>
              <a:off x="5111496" y="3374136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b="1" i="0" lang="it-IT" sz="1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5056632" y="3685032"/>
              <a:ext cx="7863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105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Exposure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5056632" y="3941064"/>
              <a:ext cx="786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870"/>
                <a:buFont typeface="Arial"/>
                <a:buNone/>
              </a:pPr>
              <a:r>
                <a:rPr b="0" i="0" lang="it-IT" sz="870" u="none" cap="none" strike="noStrike">
                  <a:solidFill>
                    <a:srgbClr val="5B6B7A"/>
                  </a:solidFill>
                  <a:latin typeface="Arial"/>
                  <a:ea typeface="Arial"/>
                  <a:cs typeface="Arial"/>
                  <a:sym typeface="Arial"/>
                </a:rPr>
                <a:t>What is in harm’s way?</a:t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5971032" y="3255264"/>
              <a:ext cx="896100" cy="1079100"/>
            </a:xfrm>
            <a:prstGeom prst="roundRect">
              <a:avLst>
                <a:gd fmla="val 14286" name="adj"/>
              </a:avLst>
            </a:prstGeom>
            <a:solidFill>
              <a:srgbClr val="EAF5ED"/>
            </a:solidFill>
            <a:ln cap="flat" cmpd="sng" w="12700">
              <a:solidFill>
                <a:srgbClr val="EAF5ED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6080760" y="3374136"/>
              <a:ext cx="274200" cy="274200"/>
            </a:xfrm>
            <a:prstGeom prst="ellipse">
              <a:avLst/>
            </a:prstGeom>
            <a:solidFill>
              <a:srgbClr val="3A8D5D"/>
            </a:solidFill>
            <a:ln cap="flat" cmpd="sng" w="12700">
              <a:solidFill>
                <a:srgbClr val="3A8D5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6080760" y="3374136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b="1" i="0" lang="it-IT" sz="1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6025896" y="3685032"/>
              <a:ext cx="7863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105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Vulnerability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6025896" y="3941064"/>
              <a:ext cx="786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870"/>
                <a:buFont typeface="Arial"/>
                <a:buNone/>
              </a:pPr>
              <a:r>
                <a:rPr b="0" i="0" lang="it-IT" sz="870" u="none" cap="none" strike="noStrike">
                  <a:solidFill>
                    <a:srgbClr val="5B6B7A"/>
                  </a:solidFill>
                  <a:latin typeface="Arial"/>
                  <a:ea typeface="Arial"/>
                  <a:cs typeface="Arial"/>
                  <a:sym typeface="Arial"/>
                </a:rPr>
                <a:t>How sensitive is it?</a:t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6940296" y="3255264"/>
              <a:ext cx="896100" cy="1079100"/>
            </a:xfrm>
            <a:prstGeom prst="roundRect">
              <a:avLst>
                <a:gd fmla="val 14286" name="adj"/>
              </a:avLst>
            </a:prstGeom>
            <a:solidFill>
              <a:srgbClr val="F1EEFA"/>
            </a:solidFill>
            <a:ln cap="flat" cmpd="sng" w="12700">
              <a:solidFill>
                <a:srgbClr val="F1EEFA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7050024" y="3374136"/>
              <a:ext cx="274200" cy="274200"/>
            </a:xfrm>
            <a:prstGeom prst="ellipse">
              <a:avLst/>
            </a:prstGeom>
            <a:solidFill>
              <a:srgbClr val="6F5AA8"/>
            </a:solidFill>
            <a:ln cap="flat" cmpd="sng" w="12700">
              <a:solidFill>
                <a:srgbClr val="6F5AA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7050024" y="3374136"/>
              <a:ext cx="2742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100"/>
                <a:buFont typeface="Arial"/>
                <a:buNone/>
              </a:pPr>
              <a:r>
                <a:rPr b="1" i="0" lang="it-IT" sz="1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6995160" y="3685032"/>
              <a:ext cx="7863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1050"/>
                <a:buFont typeface="Arial"/>
                <a:buNone/>
              </a:pPr>
              <a:r>
                <a:rPr b="1" i="0" lang="it-IT" sz="105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Adaptive capacity</a:t>
              </a:r>
              <a:endParaRPr b="0" i="0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6995160" y="3941064"/>
              <a:ext cx="786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870"/>
                <a:buFont typeface="Arial"/>
                <a:buNone/>
              </a:pPr>
              <a:r>
                <a:rPr b="0" i="0" lang="it-IT" sz="870" u="none" cap="none" strike="noStrike">
                  <a:solidFill>
                    <a:srgbClr val="5B6B7A"/>
                  </a:solidFill>
                  <a:latin typeface="Arial"/>
                  <a:ea typeface="Arial"/>
                  <a:cs typeface="Arial"/>
                  <a:sym typeface="Arial"/>
                </a:rPr>
                <a:t>Can it cope or adapt?</a:t>
              </a:r>
              <a:endParaRPr b="0" i="0" sz="8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032504" y="4498848"/>
              <a:ext cx="3721500" cy="32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1350"/>
                <a:buFont typeface="Arial"/>
                <a:buNone/>
              </a:pPr>
              <a:r>
                <a:rPr b="1" i="0" lang="it-IT" sz="135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Climate risk emerges from the interaction of these factors.</a:t>
              </a:r>
              <a:endParaRPr b="0" i="0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2" name="Google Shape;182;p7"/>
            <p:cNvCxnSpPr/>
            <p:nvPr/>
          </p:nvCxnSpPr>
          <p:spPr>
            <a:xfrm>
              <a:off x="3529584" y="3182112"/>
              <a:ext cx="201300" cy="0"/>
            </a:xfrm>
            <a:prstGeom prst="straightConnector1">
              <a:avLst/>
            </a:prstGeom>
            <a:noFill/>
            <a:ln cap="flat" cmpd="sng" w="30475">
              <a:solidFill>
                <a:srgbClr val="D8E1E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83" name="Google Shape;183;p7"/>
          <p:cNvGrpSpPr/>
          <p:nvPr/>
        </p:nvGrpSpPr>
        <p:grpSpPr>
          <a:xfrm>
            <a:off x="8046720" y="1536192"/>
            <a:ext cx="3547932" cy="3520500"/>
            <a:chOff x="8046720" y="1536192"/>
            <a:chExt cx="3547932" cy="3520500"/>
          </a:xfrm>
        </p:grpSpPr>
        <p:sp>
          <p:nvSpPr>
            <p:cNvPr id="184" name="Google Shape;184;p7"/>
            <p:cNvSpPr/>
            <p:nvPr/>
          </p:nvSpPr>
          <p:spPr>
            <a:xfrm>
              <a:off x="8302752" y="1536192"/>
              <a:ext cx="3291900" cy="3520500"/>
            </a:xfrm>
            <a:prstGeom prst="roundRect">
              <a:avLst>
                <a:gd fmla="val 3889" name="adj"/>
              </a:avLst>
            </a:prstGeom>
            <a:solidFill>
              <a:srgbClr val="FFFFFF"/>
            </a:solidFill>
            <a:ln cap="flat" cmpd="sng" w="12700">
              <a:solidFill>
                <a:srgbClr val="FFFFFF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8522208" y="1746504"/>
              <a:ext cx="384000" cy="384000"/>
            </a:xfrm>
            <a:prstGeom prst="ellipse">
              <a:avLst/>
            </a:prstGeom>
            <a:solidFill>
              <a:srgbClr val="2A8C82"/>
            </a:solidFill>
            <a:ln cap="flat" cmpd="sng" w="12700">
              <a:solidFill>
                <a:srgbClr val="2A8C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8522208" y="1746504"/>
              <a:ext cx="384000" cy="38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Arial"/>
                <a:buNone/>
              </a:pPr>
              <a:r>
                <a:rPr b="1" i="0" lang="it-IT" sz="1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9015984" y="1700784"/>
              <a:ext cx="20118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2100"/>
                <a:buFont typeface="Arial"/>
                <a:buNone/>
              </a:pPr>
              <a:r>
                <a:rPr b="1" i="0" lang="it-IT" sz="210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Project design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8522208" y="2194560"/>
              <a:ext cx="28530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A8C82"/>
                </a:buClr>
                <a:buSzPts val="1800"/>
                <a:buFont typeface="Arial"/>
                <a:buNone/>
              </a:pPr>
              <a:r>
                <a:rPr b="1" i="0" lang="it-IT" sz="1600" u="none" cap="none" strike="noStrike">
                  <a:solidFill>
                    <a:srgbClr val="2A8C82"/>
                  </a:solidFill>
                  <a:latin typeface="Arial"/>
                  <a:ea typeface="Arial"/>
                  <a:cs typeface="Arial"/>
                  <a:sym typeface="Arial"/>
                </a:rPr>
                <a:t>Use the risk picture to adjust activities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8577072" y="2889504"/>
              <a:ext cx="255900" cy="255900"/>
            </a:xfrm>
            <a:prstGeom prst="ellipse">
              <a:avLst/>
            </a:prstGeom>
            <a:solidFill>
              <a:srgbClr val="2A8C82"/>
            </a:solidFill>
            <a:ln cap="flat" cmpd="sng" w="12700">
              <a:solidFill>
                <a:srgbClr val="2A8C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8577072" y="2889504"/>
              <a:ext cx="255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8942832" y="2852928"/>
              <a:ext cx="8595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115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Location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9811512" y="2852928"/>
              <a:ext cx="15087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1020"/>
                <a:buFont typeface="Arial"/>
                <a:buNone/>
              </a:pPr>
              <a:r>
                <a:rPr b="0" i="0" lang="it-IT" sz="1020" u="none" cap="none" strike="noStrike">
                  <a:solidFill>
                    <a:srgbClr val="5B6B7A"/>
                  </a:solidFill>
                  <a:latin typeface="Arial"/>
                  <a:ea typeface="Arial"/>
                  <a:cs typeface="Arial"/>
                  <a:sym typeface="Arial"/>
                </a:rPr>
                <a:t>Move or protect exposed assets</a:t>
              </a:r>
              <a:endParaRPr b="0" i="0" sz="10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8577072" y="3337560"/>
              <a:ext cx="255900" cy="255900"/>
            </a:xfrm>
            <a:prstGeom prst="ellipse">
              <a:avLst/>
            </a:prstGeom>
            <a:solidFill>
              <a:srgbClr val="2A8C82"/>
            </a:solidFill>
            <a:ln cap="flat" cmpd="sng" w="12700">
              <a:solidFill>
                <a:srgbClr val="2A8C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577072" y="3337560"/>
              <a:ext cx="255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8942832" y="3300984"/>
              <a:ext cx="8595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115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Design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9811512" y="3300984"/>
              <a:ext cx="15087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1020"/>
                <a:buFont typeface="Arial"/>
                <a:buNone/>
              </a:pPr>
              <a:r>
                <a:rPr b="0" i="0" lang="it-IT" sz="1020" u="none" cap="none" strike="noStrike">
                  <a:solidFill>
                    <a:srgbClr val="5B6B7A"/>
                  </a:solidFill>
                  <a:latin typeface="Arial"/>
                  <a:ea typeface="Arial"/>
                  <a:cs typeface="Arial"/>
                  <a:sym typeface="Arial"/>
                </a:rPr>
                <a:t>Choose resilient materials / standards</a:t>
              </a:r>
              <a:endParaRPr b="0" i="0" sz="10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8577072" y="3785616"/>
              <a:ext cx="255900" cy="255900"/>
            </a:xfrm>
            <a:prstGeom prst="ellipse">
              <a:avLst/>
            </a:prstGeom>
            <a:solidFill>
              <a:srgbClr val="2A8C82"/>
            </a:solidFill>
            <a:ln cap="flat" cmpd="sng" w="12700">
              <a:solidFill>
                <a:srgbClr val="2A8C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8577072" y="3785616"/>
              <a:ext cx="255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8942832" y="3749040"/>
              <a:ext cx="8595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115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Timing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9811512" y="3749040"/>
              <a:ext cx="15087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1020"/>
                <a:buFont typeface="Arial"/>
                <a:buNone/>
              </a:pPr>
              <a:r>
                <a:rPr b="0" i="0" lang="it-IT" sz="1020" u="none" cap="none" strike="noStrike">
                  <a:solidFill>
                    <a:srgbClr val="5B6B7A"/>
                  </a:solidFill>
                  <a:latin typeface="Arial"/>
                  <a:ea typeface="Arial"/>
                  <a:cs typeface="Arial"/>
                  <a:sym typeface="Arial"/>
                </a:rPr>
                <a:t>Avoid high-risk seasons</a:t>
              </a:r>
              <a:endParaRPr b="0" i="0" sz="10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8577072" y="4233672"/>
              <a:ext cx="255900" cy="255900"/>
            </a:xfrm>
            <a:prstGeom prst="ellipse">
              <a:avLst/>
            </a:prstGeom>
            <a:solidFill>
              <a:srgbClr val="2A8C82"/>
            </a:solidFill>
            <a:ln cap="flat" cmpd="sng" w="12700">
              <a:solidFill>
                <a:srgbClr val="2A8C8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8577072" y="4233672"/>
              <a:ext cx="2559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00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8942832" y="4197096"/>
              <a:ext cx="859500" cy="25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143B63"/>
                </a:buClr>
                <a:buSzPts val="1150"/>
                <a:buFont typeface="Arial"/>
                <a:buNone/>
              </a:pPr>
              <a:r>
                <a:rPr b="1" i="0" lang="it-IT" sz="1000" u="none" cap="none" strike="noStrike">
                  <a:solidFill>
                    <a:srgbClr val="143B63"/>
                  </a:solidFill>
                  <a:latin typeface="Arial"/>
                  <a:ea typeface="Arial"/>
                  <a:cs typeface="Arial"/>
                  <a:sym typeface="Arial"/>
                </a:rPr>
                <a:t>Management</a:t>
              </a:r>
              <a:endPara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9811512" y="4197096"/>
              <a:ext cx="15087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5B6B7A"/>
                </a:buClr>
                <a:buSzPts val="1020"/>
                <a:buFont typeface="Arial"/>
                <a:buNone/>
              </a:pPr>
              <a:r>
                <a:rPr b="0" i="0" lang="it-IT" sz="1020" u="none" cap="none" strike="noStrike">
                  <a:solidFill>
                    <a:srgbClr val="5B6B7A"/>
                  </a:solidFill>
                  <a:latin typeface="Arial"/>
                  <a:ea typeface="Arial"/>
                  <a:cs typeface="Arial"/>
                  <a:sym typeface="Arial"/>
                </a:rPr>
                <a:t>Build buffers, contingency and monitoring</a:t>
              </a:r>
              <a:endParaRPr b="0" i="0" sz="10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8522208" y="4577065"/>
              <a:ext cx="2853000" cy="365700"/>
            </a:xfrm>
            <a:prstGeom prst="roundRect">
              <a:avLst>
                <a:gd fmla="val 35000" name="adj"/>
              </a:avLst>
            </a:prstGeom>
            <a:solidFill>
              <a:srgbClr val="E9F6F3"/>
            </a:solidFill>
            <a:ln cap="flat" cmpd="sng" w="12700">
              <a:solidFill>
                <a:srgbClr val="E9F6F3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8668512" y="4577065"/>
              <a:ext cx="2560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A8C82"/>
                </a:buClr>
                <a:buSzPts val="1100"/>
                <a:buFont typeface="Arial"/>
                <a:buNone/>
              </a:pPr>
              <a:r>
                <a:rPr b="1" i="0" lang="it-IT" sz="1100" u="none" cap="none" strike="noStrike">
                  <a:solidFill>
                    <a:srgbClr val="2A8C82"/>
                  </a:solidFill>
                  <a:latin typeface="Arial"/>
                  <a:ea typeface="Arial"/>
                  <a:cs typeface="Arial"/>
                  <a:sym typeface="Arial"/>
                </a:rPr>
                <a:t>Outcome: </a:t>
              </a:r>
              <a:r>
                <a:rPr b="1" lang="it-IT" sz="1100">
                  <a:solidFill>
                    <a:srgbClr val="2A8C82"/>
                  </a:solidFill>
                </a:rPr>
                <a:t>climate resilient activities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7" name="Google Shape;207;p7"/>
            <p:cNvCxnSpPr/>
            <p:nvPr/>
          </p:nvCxnSpPr>
          <p:spPr>
            <a:xfrm>
              <a:off x="8046720" y="3182112"/>
              <a:ext cx="192000" cy="0"/>
            </a:xfrm>
            <a:prstGeom prst="straightConnector1">
              <a:avLst/>
            </a:prstGeom>
            <a:noFill/>
            <a:ln cap="flat" cmpd="sng" w="30475">
              <a:solidFill>
                <a:srgbClr val="D8E1EA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08" name="Google Shape;208;p7"/>
          <p:cNvSpPr/>
          <p:nvPr/>
        </p:nvSpPr>
        <p:spPr>
          <a:xfrm>
            <a:off x="594360" y="5374041"/>
            <a:ext cx="11000100" cy="1097400"/>
          </a:xfrm>
          <a:prstGeom prst="roundRect">
            <a:avLst>
              <a:gd fmla="val 11667" name="adj"/>
            </a:avLst>
          </a:prstGeom>
          <a:solidFill>
            <a:srgbClr val="143B63"/>
          </a:solidFill>
          <a:ln cap="flat" cmpd="sng" w="12700">
            <a:solidFill>
              <a:srgbClr val="143B6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822960" y="5556921"/>
            <a:ext cx="14631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it-IT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Two quick checks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" name="Google Shape;210;p7"/>
          <p:cNvCxnSpPr/>
          <p:nvPr/>
        </p:nvCxnSpPr>
        <p:spPr>
          <a:xfrm>
            <a:off x="2423160" y="5431536"/>
            <a:ext cx="0" cy="713100"/>
          </a:xfrm>
          <a:prstGeom prst="straightConnector1">
            <a:avLst/>
          </a:prstGeom>
          <a:noFill/>
          <a:ln cap="flat" cmpd="sng" w="12700">
            <a:solidFill>
              <a:srgbClr val="6D88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7"/>
          <p:cNvSpPr/>
          <p:nvPr/>
        </p:nvSpPr>
        <p:spPr>
          <a:xfrm>
            <a:off x="2679192" y="5513832"/>
            <a:ext cx="292500" cy="292500"/>
          </a:xfrm>
          <a:prstGeom prst="ellipse">
            <a:avLst/>
          </a:prstGeom>
          <a:solidFill>
            <a:srgbClr val="E9A23B"/>
          </a:solidFill>
          <a:ln cap="flat" cmpd="sng" w="12700">
            <a:solidFill>
              <a:srgbClr val="E9A2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2679192" y="5513832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072384" y="5520345"/>
            <a:ext cx="19203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Arial"/>
              <a:buNone/>
            </a:pPr>
            <a:r>
              <a:rPr b="1" i="0" lang="it-IT" sz="13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Same hazard ≠ same impact</a:t>
            </a:r>
            <a:endParaRPr b="0" i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072384" y="5944452"/>
            <a:ext cx="3063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5"/>
              </a:buClr>
              <a:buSzPts val="1110"/>
              <a:buFont typeface="Arial"/>
              <a:buNone/>
            </a:pPr>
            <a:r>
              <a:rPr b="0" i="0" lang="it-IT" sz="1110" u="none" cap="none" strike="noStrike">
                <a:solidFill>
                  <a:srgbClr val="E7EEF5"/>
                </a:solidFill>
                <a:latin typeface="Arial"/>
                <a:ea typeface="Arial"/>
                <a:cs typeface="Arial"/>
                <a:sym typeface="Arial"/>
              </a:rPr>
              <a:t>Extreme heat can severely reduce crop yields, while a building may be much less sensitive.</a:t>
            </a:r>
            <a:endParaRPr b="0" i="0" sz="1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7"/>
          <p:cNvCxnSpPr/>
          <p:nvPr/>
        </p:nvCxnSpPr>
        <p:spPr>
          <a:xfrm>
            <a:off x="6336792" y="5431536"/>
            <a:ext cx="0" cy="713100"/>
          </a:xfrm>
          <a:prstGeom prst="straightConnector1">
            <a:avLst/>
          </a:prstGeom>
          <a:noFill/>
          <a:ln cap="flat" cmpd="sng" w="12700">
            <a:solidFill>
              <a:srgbClr val="6D88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7"/>
          <p:cNvSpPr/>
          <p:nvPr/>
        </p:nvSpPr>
        <p:spPr>
          <a:xfrm>
            <a:off x="6565392" y="5513832"/>
            <a:ext cx="292500" cy="292500"/>
          </a:xfrm>
          <a:prstGeom prst="ellipse">
            <a:avLst/>
          </a:prstGeom>
          <a:solidFill>
            <a:srgbClr val="1976B9"/>
          </a:solidFill>
          <a:ln cap="flat" cmpd="sng" w="12700">
            <a:solidFill>
              <a:srgbClr val="1976B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565392" y="5503964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it-IT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949440" y="5520345"/>
            <a:ext cx="2103000" cy="2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Arial"/>
              <a:buNone/>
            </a:pPr>
            <a:r>
              <a:rPr b="1" i="0" lang="it-IT" sz="13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exposure → little or no risk</a:t>
            </a:r>
            <a:endParaRPr b="0" i="0" sz="132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940290" y="5944452"/>
            <a:ext cx="4160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EF5"/>
              </a:buClr>
              <a:buSzPts val="1110"/>
              <a:buFont typeface="Arial"/>
              <a:buNone/>
            </a:pPr>
            <a:r>
              <a:rPr b="0" i="0" lang="it-IT" sz="1110" u="none" cap="none" strike="noStrike">
                <a:solidFill>
                  <a:srgbClr val="E7EEF5"/>
                </a:solidFill>
                <a:latin typeface="Arial"/>
                <a:ea typeface="Arial"/>
                <a:cs typeface="Arial"/>
                <a:sym typeface="Arial"/>
              </a:rPr>
              <a:t>A flood hazard may exist in the area, but a project asset outside the flood-prone zone is not exposed.</a:t>
            </a:r>
            <a:endParaRPr b="0" i="0" sz="111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in the broader FAO digital ecosystem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Climate service conceptually connected to the broader FAO’s digital ecosystem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6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66750" y="2723152"/>
            <a:ext cx="3048000" cy="202110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28575">
            <a:solidFill>
              <a:srgbClr val="D98A35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1000125" y="3085100"/>
            <a:ext cx="2381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000">
                <a:solidFill>
                  <a:srgbClr val="D98A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AIDA</a:t>
            </a:r>
            <a:endParaRPr/>
          </a:p>
        </p:txBody>
      </p:sp>
      <p:sp>
        <p:nvSpPr>
          <p:cNvPr id="234" name="Google Shape;234;p8"/>
          <p:cNvSpPr/>
          <p:nvPr/>
        </p:nvSpPr>
        <p:spPr>
          <a:xfrm>
            <a:off x="952500" y="3637550"/>
            <a:ext cx="24765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8312C"/>
              </a:buClr>
              <a:buSzPts val="1725"/>
              <a:buFont typeface="Helvetica Neue"/>
              <a:buNone/>
            </a:pPr>
            <a:r>
              <a:rPr b="1" lang="it-IT" sz="1725">
                <a:solidFill>
                  <a:srgbClr val="18312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Agro-Informatics</a:t>
            </a:r>
            <a:endParaRPr/>
          </a:p>
          <a:p>
            <a:pPr indent="0" lvl="0" marL="0" marR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18312C"/>
              </a:buClr>
              <a:buSzPts val="1725"/>
              <a:buFont typeface="Helvetica Neue"/>
              <a:buNone/>
            </a:pPr>
            <a:r>
              <a:rPr b="1" lang="it-IT" sz="1725">
                <a:solidFill>
                  <a:srgbClr val="18312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Digital Assistant</a:t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4415456" y="2423047"/>
            <a:ext cx="3321900" cy="2625900"/>
          </a:xfrm>
          <a:prstGeom prst="ellipse">
            <a:avLst/>
          </a:prstGeom>
          <a:solidFill>
            <a:srgbClr val="0A6FA8"/>
          </a:solidFill>
          <a:ln cap="flat" cmpd="sng" w="28575">
            <a:solidFill>
              <a:srgbClr val="07547E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dir="5400000" dist="19050">
              <a:srgbClr val="000000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820829" y="2995747"/>
            <a:ext cx="2476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7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CAVA</a:t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865506" y="3681547"/>
            <a:ext cx="2571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5"/>
              <a:buFont typeface="Helvetica Neue"/>
              <a:buNone/>
            </a:pPr>
            <a:r>
              <a:rPr b="1" lang="it-IT" sz="1485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Climate and Agriculture Risk</a:t>
            </a:r>
            <a:endParaRPr/>
          </a:p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85"/>
              <a:buFont typeface="Helvetica Neue"/>
              <a:buNone/>
            </a:pPr>
            <a:r>
              <a:rPr b="1" lang="it-IT" sz="1485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Visualization and Assessment</a:t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8477250" y="2889291"/>
            <a:ext cx="3048000" cy="171660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28575">
            <a:solidFill>
              <a:srgbClr val="4B8B62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8791575" y="3327443"/>
            <a:ext cx="2419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4B8B62"/>
              </a:buClr>
              <a:buSzPts val="1861"/>
              <a:buFont typeface="Helvetica Neue"/>
              <a:buNone/>
            </a:pPr>
            <a:r>
              <a:rPr b="1" lang="it-IT" sz="1862">
                <a:solidFill>
                  <a:srgbClr val="4B8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FAO Agro-informatics</a:t>
            </a:r>
            <a:endParaRPr/>
          </a:p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4B8B62"/>
              </a:buClr>
              <a:buSzPts val="1861"/>
              <a:buFont typeface="Helvetica Neue"/>
              <a:buNone/>
            </a:pPr>
            <a:r>
              <a:rPr b="1" lang="it-IT" sz="1862">
                <a:solidFill>
                  <a:srgbClr val="4B8B6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Platform</a:t>
            </a:r>
            <a:endParaRPr/>
          </a:p>
        </p:txBody>
      </p:sp>
      <p:cxnSp>
        <p:nvCxnSpPr>
          <p:cNvPr id="240" name="Google Shape;240;p8"/>
          <p:cNvCxnSpPr>
            <a:stCxn id="232" idx="3"/>
            <a:endCxn id="235" idx="2"/>
          </p:cNvCxnSpPr>
          <p:nvPr/>
        </p:nvCxnSpPr>
        <p:spPr>
          <a:xfrm>
            <a:off x="3714750" y="3733702"/>
            <a:ext cx="700800" cy="2400"/>
          </a:xfrm>
          <a:prstGeom prst="straightConnector1">
            <a:avLst/>
          </a:prstGeom>
          <a:noFill/>
          <a:ln cap="flat" cmpd="sng" w="38100">
            <a:solidFill>
              <a:srgbClr val="D98A35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41" name="Google Shape;241;p8"/>
          <p:cNvCxnSpPr>
            <a:stCxn id="235" idx="6"/>
            <a:endCxn id="238" idx="1"/>
          </p:cNvCxnSpPr>
          <p:nvPr/>
        </p:nvCxnSpPr>
        <p:spPr>
          <a:xfrm>
            <a:off x="7737356" y="3735997"/>
            <a:ext cx="739800" cy="11700"/>
          </a:xfrm>
          <a:prstGeom prst="straightConnector1">
            <a:avLst/>
          </a:prstGeom>
          <a:noFill/>
          <a:ln cap="flat" cmpd="sng" w="38100">
            <a:solidFill>
              <a:srgbClr val="4B8B6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From a decision question to climate information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Understanding what climate information is and where it comes from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657225" y="4686300"/>
            <a:ext cx="10715700" cy="952500"/>
          </a:xfrm>
          <a:prstGeom prst="roundRect">
            <a:avLst>
              <a:gd fmla="val 8000" name="adj"/>
            </a:avLst>
          </a:prstGeom>
          <a:solidFill>
            <a:srgbClr val="E7F4EF"/>
          </a:solidFill>
          <a:ln cap="flat" cmpd="sng" w="9525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914400" y="4876800"/>
            <a:ext cx="4000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First, understand the climate evidence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067300" y="4838700"/>
            <a:ext cx="59532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Different climate </a:t>
            </a:r>
            <a:r>
              <a:rPr b="0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datasets and why they differ</a:t>
            </a:r>
            <a:r>
              <a:rPr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b="0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why model bias, ensembles and indicators matter.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15963"/>
            <a:ext cx="11887197" cy="1359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762000" y="762000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762000" y="17145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25"/>
              <a:buFont typeface="Lato"/>
              <a:buNone/>
            </a:pPr>
            <a:r>
              <a:rPr b="1" lang="it-IT" sz="32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climate science behind the 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81050" y="3143250"/>
            <a:ext cx="876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1650"/>
              <a:buFont typeface="Lato"/>
              <a:buNone/>
            </a:pPr>
            <a:r>
              <a:rPr lang="it-IT" sz="1650">
                <a:solidFill>
                  <a:srgbClr val="D7E5EC"/>
                </a:solidFill>
                <a:latin typeface="Lato"/>
                <a:ea typeface="Lato"/>
                <a:cs typeface="Lato"/>
                <a:sym typeface="Lato"/>
              </a:rPr>
              <a:t>Climate information, climate projections and uncertainty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781050" y="4953000"/>
            <a:ext cx="4000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HIDEKI · 35 MINUTES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781050" y="5905500"/>
            <a:ext cx="4953000" cy="9600"/>
          </a:xfrm>
          <a:prstGeom prst="rect">
            <a:avLst/>
          </a:prstGeom>
          <a:solidFill>
            <a:srgbClr val="6178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1049000" y="6324600"/>
            <a:ext cx="57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6C5CF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B6C5CF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Three sources of climate information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Historical reference information and future projections answer different questions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85800" y="1790700"/>
            <a:ext cx="3429000" cy="3276600"/>
          </a:xfrm>
          <a:prstGeom prst="rect">
            <a:avLst/>
          </a:prstGeom>
          <a:solidFill>
            <a:srgbClr val="E7F4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914400" y="2019300"/>
            <a:ext cx="9525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4650"/>
              <a:buFont typeface="Lato"/>
              <a:buNone/>
            </a:pPr>
            <a:r>
              <a:rPr b="1" i="0" lang="it-IT" sz="46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914400" y="2933700"/>
            <a:ext cx="297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OBSERVATIONS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914400" y="3429000"/>
            <a:ext cx="2952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43"/>
              <a:buFont typeface="Lato"/>
              <a:buNone/>
            </a:pPr>
            <a:r>
              <a:rPr b="1" i="0" lang="it-IT" sz="1544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Measurements from stations, satellites and other instruments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914400" y="4286250"/>
            <a:ext cx="705000" cy="285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914400" y="4495800"/>
            <a:ext cx="2952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Recorded conditions at observed locations and times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419600" y="1790700"/>
            <a:ext cx="3429000" cy="3276600"/>
          </a:xfrm>
          <a:prstGeom prst="rect">
            <a:avLst/>
          </a:prstGeom>
          <a:solidFill>
            <a:srgbClr val="FFF3D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4648200" y="2019300"/>
            <a:ext cx="9525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4650"/>
              <a:buFont typeface="Lato"/>
              <a:buNone/>
            </a:pPr>
            <a:r>
              <a:rPr b="1" i="0" lang="it-IT" sz="46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648200" y="2933700"/>
            <a:ext cx="297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REANALYSIS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4648200" y="3429000"/>
            <a:ext cx="2952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i="0" lang="it-IT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Observations combined with a numerical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648200" y="4286250"/>
            <a:ext cx="7050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648200" y="4495800"/>
            <a:ext cx="2952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 complete gridded reconstruction of past conditions, such as ERA5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/>
          <p:nvPr/>
        </p:nvSpPr>
        <p:spPr>
          <a:xfrm>
            <a:off x="8153400" y="1790700"/>
            <a:ext cx="3429000" cy="327660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1"/>
          <p:cNvSpPr/>
          <p:nvPr/>
        </p:nvSpPr>
        <p:spPr>
          <a:xfrm>
            <a:off x="8382000" y="2019300"/>
            <a:ext cx="9525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3A59"/>
              </a:buClr>
              <a:buSzPts val="4650"/>
              <a:buFont typeface="Lato"/>
              <a:buNone/>
            </a:pPr>
            <a:r>
              <a:rPr b="1" i="0" lang="it-IT" sz="4650">
                <a:solidFill>
                  <a:srgbClr val="183A59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8382000" y="2933700"/>
            <a:ext cx="29718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3A59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83A59"/>
                </a:solidFill>
                <a:latin typeface="Lato"/>
                <a:ea typeface="Lato"/>
                <a:cs typeface="Lato"/>
                <a:sym typeface="Lato"/>
              </a:rPr>
              <a:t>CLIMATE SIMULATIONS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8382000" y="3429000"/>
            <a:ext cx="2952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i="0" lang="it-IT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Model experiments under defined scenarios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8382000" y="4286250"/>
            <a:ext cx="705000" cy="28500"/>
          </a:xfrm>
          <a:prstGeom prst="rect">
            <a:avLst/>
          </a:prstGeom>
          <a:solidFill>
            <a:srgbClr val="183A5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8382000" y="4495800"/>
            <a:ext cx="2952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Long-term change under plausible future conditions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1752600" y="5381625"/>
            <a:ext cx="8686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Together, they provide complementary views of the climate system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2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Climate projection and weather forecast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two products differ in their starting point, time horizon and interpretation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08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0" y="1619250"/>
            <a:ext cx="6096000" cy="4095900"/>
          </a:xfrm>
          <a:prstGeom prst="rect">
            <a:avLst/>
          </a:prstGeom>
          <a:solidFill>
            <a:srgbClr val="E7F4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096000" y="1619250"/>
            <a:ext cx="6096000" cy="4095900"/>
          </a:xfrm>
          <a:prstGeom prst="rect">
            <a:avLst/>
          </a:prstGeom>
          <a:solidFill>
            <a:srgbClr val="FFF3D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800100" y="2000250"/>
            <a:ext cx="4286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WEATHER FORECAST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800100" y="2524125"/>
            <a:ext cx="4476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3225"/>
              <a:buFont typeface="Lato"/>
              <a:buNone/>
            </a:pPr>
            <a:r>
              <a:rPr b="1" i="0" lang="it-IT" sz="32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DAYS TO WEEKS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800100" y="3381375"/>
            <a:ext cx="4476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i="0" lang="it-IT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Begins with the observed state of the atmosphere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800100" y="4143375"/>
            <a:ext cx="43815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Describes the sequence of weather. Skill declines as the forecast horizon increases.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6705600" y="2000250"/>
            <a:ext cx="438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CLIMATE PROJECTION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705600" y="2524125"/>
            <a:ext cx="44769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3225"/>
              <a:buFont typeface="Lato"/>
              <a:buNone/>
            </a:pPr>
            <a:r>
              <a:rPr b="1" i="0" lang="it-IT" sz="32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DECADES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6705600" y="3381375"/>
            <a:ext cx="4476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i="0" lang="it-IT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Begins with assumptions about future forcing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705600" y="4143375"/>
            <a:ext cx="43815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Describes climate statistics. It does not predict the weather on a specific future day.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5962650" y="1952625"/>
            <a:ext cx="266700" cy="3333900"/>
          </a:xfrm>
          <a:prstGeom prst="rect">
            <a:avLst/>
          </a:prstGeom>
          <a:gradFill>
            <a:gsLst>
              <a:gs pos="0">
                <a:srgbClr val="00A88F">
                  <a:alpha val="0"/>
                </a:srgbClr>
              </a:gs>
              <a:gs pos="50000">
                <a:srgbClr val="12304E">
                  <a:alpha val="34902"/>
                </a:srgbClr>
              </a:gs>
              <a:gs pos="100000">
                <a:srgbClr val="F2B632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1562100" y="5381625"/>
            <a:ext cx="9067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75"/>
              <a:buFont typeface="Lato"/>
              <a:buNone/>
            </a:pPr>
            <a:r>
              <a:rPr b="1" i="0" lang="it-IT" sz="15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 projection asks what climate could emerge under defined conditions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Why many models and scenarios?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Models represent the climate system differently, while scenarios represent alternative future conditions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09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819150" y="1790700"/>
            <a:ext cx="180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MODELS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819150" y="2171700"/>
            <a:ext cx="4572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57"/>
              <a:buFont typeface="Lato"/>
              <a:buNone/>
            </a:pPr>
            <a:r>
              <a:rPr b="1" i="0" lang="it-IT" sz="1557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Different scientific teams make different choices about how to represent physical processes.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819150" y="314325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 multi-model ensemble samples part of this model uncertainty.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000750" y="1752600"/>
            <a:ext cx="9600" cy="3143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6534150" y="1790700"/>
            <a:ext cx="18096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SCENARIOS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6534150" y="2171700"/>
            <a:ext cx="4572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67"/>
              <a:buFont typeface="Lato"/>
              <a:buNone/>
            </a:pPr>
            <a:r>
              <a:rPr b="1" i="0" lang="it-IT" sz="1668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Alternative emissions and land-use pathways produce different levels of climate forcing.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6534150" y="3143250"/>
            <a:ext cx="457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CMIP coordinates experiments so results can be compared across models and scenarios.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809625" y="4229100"/>
            <a:ext cx="10287000" cy="952500"/>
          </a:xfrm>
          <a:prstGeom prst="roundRect">
            <a:avLst>
              <a:gd fmla="val 8000" name="adj"/>
            </a:avLst>
          </a:prstGeom>
          <a:solidFill>
            <a:srgbClr val="EAF3F8"/>
          </a:solidFill>
          <a:ln cap="flat" cmpd="sng" w="9525">
            <a:solidFill>
              <a:srgbClr val="EAF3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1028700" y="4457700"/>
            <a:ext cx="2238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00"/>
              <a:buFont typeface="Lato"/>
              <a:buNone/>
            </a:pPr>
            <a:r>
              <a:rPr b="1" i="0" lang="it-IT" sz="15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Interpret the range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371850" y="4410075"/>
            <a:ext cx="7448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98"/>
              <a:buFont typeface="Lato"/>
              <a:buNone/>
            </a:pPr>
            <a:r>
              <a:rPr b="0" i="0" lang="it-IT" sz="1399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spread is information about plausible outcomes, not a reason to select the most convenient model.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4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From global to regional climate information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Regional models add spatial detail within a global model’s large-scale climate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4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4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10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800100" y="1952625"/>
            <a:ext cx="2667000" cy="233370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122872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/>
          <p:nvPr/>
        </p:nvSpPr>
        <p:spPr>
          <a:xfrm>
            <a:off x="174307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225742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277177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4"/>
          <p:cNvSpPr/>
          <p:nvPr/>
        </p:nvSpPr>
        <p:spPr>
          <a:xfrm>
            <a:off x="1228725" y="2190750"/>
            <a:ext cx="1809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4"/>
          <p:cNvSpPr/>
          <p:nvPr/>
        </p:nvSpPr>
        <p:spPr>
          <a:xfrm>
            <a:off x="1228725" y="2705100"/>
            <a:ext cx="1809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009650" y="3305175"/>
            <a:ext cx="2247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GLOBAL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1009650" y="3667125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Represents the whole climate system on a global grid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3533775" y="2590800"/>
            <a:ext cx="38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2678"/>
              <a:buFont typeface="Lato"/>
              <a:buNone/>
            </a:pPr>
            <a:r>
              <a:rPr b="1" i="0" lang="it-IT" sz="2679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4010025" y="1952625"/>
            <a:ext cx="2667000" cy="2333700"/>
          </a:xfrm>
          <a:prstGeom prst="roundRect">
            <a:avLst>
              <a:gd fmla="val 3265" name="adj"/>
            </a:avLst>
          </a:prstGeom>
          <a:solidFill>
            <a:srgbClr val="E7F4EF"/>
          </a:solidFill>
          <a:ln cap="flat" cmpd="sng" w="9525">
            <a:solidFill>
              <a:srgbClr val="00A8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4438650" y="2190750"/>
            <a:ext cx="9600" cy="857400"/>
          </a:xfrm>
          <a:prstGeom prst="rect">
            <a:avLst/>
          </a:prstGeom>
          <a:solidFill>
            <a:srgbClr val="8FCF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4838700" y="2190750"/>
            <a:ext cx="9600" cy="857400"/>
          </a:xfrm>
          <a:prstGeom prst="rect">
            <a:avLst/>
          </a:prstGeom>
          <a:solidFill>
            <a:srgbClr val="8FCF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5238750" y="2190750"/>
            <a:ext cx="9600" cy="857400"/>
          </a:xfrm>
          <a:prstGeom prst="rect">
            <a:avLst/>
          </a:prstGeom>
          <a:solidFill>
            <a:srgbClr val="8FCF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5638800" y="2190750"/>
            <a:ext cx="9600" cy="857400"/>
          </a:xfrm>
          <a:prstGeom prst="rect">
            <a:avLst/>
          </a:prstGeom>
          <a:solidFill>
            <a:srgbClr val="8FCF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6038850" y="2190750"/>
            <a:ext cx="9600" cy="857400"/>
          </a:xfrm>
          <a:prstGeom prst="rect">
            <a:avLst/>
          </a:prstGeom>
          <a:solidFill>
            <a:srgbClr val="8FCF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4438650" y="2190750"/>
            <a:ext cx="1809600" cy="9600"/>
          </a:xfrm>
          <a:prstGeom prst="rect">
            <a:avLst/>
          </a:prstGeom>
          <a:solidFill>
            <a:srgbClr val="8FCF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4438650" y="2590800"/>
            <a:ext cx="1809600" cy="9600"/>
          </a:xfrm>
          <a:prstGeom prst="rect">
            <a:avLst/>
          </a:prstGeom>
          <a:solidFill>
            <a:srgbClr val="8FCF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4438650" y="2990850"/>
            <a:ext cx="1809600" cy="9600"/>
          </a:xfrm>
          <a:prstGeom prst="rect">
            <a:avLst/>
          </a:prstGeom>
          <a:solidFill>
            <a:srgbClr val="8FCFC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4219575" y="3305175"/>
            <a:ext cx="2247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REGIONAL 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4"/>
          <p:cNvSpPr/>
          <p:nvPr/>
        </p:nvSpPr>
        <p:spPr>
          <a:xfrm>
            <a:off x="4219575" y="3667125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Uses global-model boundary conditions over a defined region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6743700" y="2590800"/>
            <a:ext cx="381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2678"/>
              <a:buFont typeface="Lato"/>
              <a:buNone/>
            </a:pPr>
            <a:r>
              <a:rPr b="1" i="0" lang="it-IT" sz="2679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›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7219950" y="1952625"/>
            <a:ext cx="2667000" cy="2333700"/>
          </a:xfrm>
          <a:prstGeom prst="roundRect">
            <a:avLst>
              <a:gd fmla="val 3265" name="adj"/>
            </a:avLst>
          </a:prstGeom>
          <a:solidFill>
            <a:srgbClr val="FFFFFF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764857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4"/>
          <p:cNvSpPr/>
          <p:nvPr/>
        </p:nvSpPr>
        <p:spPr>
          <a:xfrm>
            <a:off x="793432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4"/>
          <p:cNvSpPr/>
          <p:nvPr/>
        </p:nvSpPr>
        <p:spPr>
          <a:xfrm>
            <a:off x="822007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850582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879157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4"/>
          <p:cNvSpPr/>
          <p:nvPr/>
        </p:nvSpPr>
        <p:spPr>
          <a:xfrm>
            <a:off x="907732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4"/>
          <p:cNvSpPr/>
          <p:nvPr/>
        </p:nvSpPr>
        <p:spPr>
          <a:xfrm>
            <a:off x="9363075" y="2190750"/>
            <a:ext cx="9600" cy="8574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7648575" y="2190750"/>
            <a:ext cx="1809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7648575" y="2476500"/>
            <a:ext cx="1809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7648575" y="2762250"/>
            <a:ext cx="1809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7648575" y="3048000"/>
            <a:ext cx="1809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7429500" y="3305175"/>
            <a:ext cx="2247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REGIONAL INFORMATION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7429500" y="3667125"/>
            <a:ext cx="224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Resolves more regional features at finer grid spacing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9906000" y="1952625"/>
            <a:ext cx="1600200" cy="2333700"/>
          </a:xfrm>
          <a:prstGeom prst="roundRect">
            <a:avLst>
              <a:gd fmla="val 4762" name="adj"/>
            </a:avLst>
          </a:prstGeom>
          <a:solidFill>
            <a:srgbClr val="FFF3D1"/>
          </a:solidFill>
          <a:ln cap="flat" cmpd="sng" w="9525">
            <a:solidFill>
              <a:srgbClr val="F2B6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10048875" y="2324100"/>
            <a:ext cx="1314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CORDEX-CORE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10067925" y="2876550"/>
            <a:ext cx="1276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Coordinated regional simulations at about 25 km for major inhabited regions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1571625" y="5010150"/>
            <a:ext cx="90489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00"/>
              <a:buFont typeface="Lato"/>
              <a:buNone/>
            </a:pPr>
            <a:r>
              <a:rPr b="1" i="0" lang="it-IT" sz="15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More detail does not remove uncertainty. It changes what regional processes and patterns the model can represent.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647700" y="400050"/>
            <a:ext cx="1085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Model and downscaling uncertainty</a:t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657225" y="96202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Regional projections inherit choices from the global model and add choices in the downscaling chain</a:t>
            </a: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838200" y="1809750"/>
            <a:ext cx="2190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GLOBAL MODELS</a:t>
            </a: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838200" y="2333625"/>
            <a:ext cx="1952700" cy="514500"/>
          </a:xfrm>
          <a:prstGeom prst="rect">
            <a:avLst/>
          </a:prstGeom>
          <a:solidFill>
            <a:srgbClr val="FFF3D1"/>
          </a:solidFill>
          <a:ln cap="flat" cmpd="sng" w="9525">
            <a:solidFill>
              <a:srgbClr val="F2B6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838200" y="2466975"/>
            <a:ext cx="1952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GCM A</a:t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838200" y="3114675"/>
            <a:ext cx="1952700" cy="514500"/>
          </a:xfrm>
          <a:prstGeom prst="rect">
            <a:avLst/>
          </a:prstGeom>
          <a:solidFill>
            <a:srgbClr val="FFF3D1"/>
          </a:solidFill>
          <a:ln cap="flat" cmpd="sng" w="9525">
            <a:solidFill>
              <a:srgbClr val="F2B6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838200" y="3248025"/>
            <a:ext cx="1952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GCM B</a:t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838200" y="3895725"/>
            <a:ext cx="1952700" cy="514500"/>
          </a:xfrm>
          <a:prstGeom prst="rect">
            <a:avLst/>
          </a:prstGeom>
          <a:solidFill>
            <a:srgbClr val="FFF3D1"/>
          </a:solidFill>
          <a:ln cap="flat" cmpd="sng" w="9525">
            <a:solidFill>
              <a:srgbClr val="F2B6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838200" y="4029075"/>
            <a:ext cx="1952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GCM C</a:t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4533900" y="1809750"/>
            <a:ext cx="2381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REGIONAL MODELS</a:t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4533900" y="2609850"/>
            <a:ext cx="2095500" cy="590700"/>
          </a:xfrm>
          <a:prstGeom prst="rect">
            <a:avLst/>
          </a:prstGeom>
          <a:solidFill>
            <a:srgbClr val="E7F4EF"/>
          </a:solidFill>
          <a:ln cap="flat" cmpd="sng" w="9525">
            <a:solidFill>
              <a:srgbClr val="00A8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4533900" y="2771775"/>
            <a:ext cx="2095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RCM 1</a:t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6629400" y="2905125"/>
            <a:ext cx="1657350" cy="285750"/>
          </a:xfrm>
          <a:custGeom>
            <a:rect b="b" l="l" r="r" t="t"/>
            <a:pathLst>
              <a:path extrusionOk="0" h="285750" w="1657350">
                <a:moveTo>
                  <a:pt x="0" y="0"/>
                </a:moveTo>
                <a:lnTo>
                  <a:pt x="1657350" y="285750"/>
                </a:lnTo>
              </a:path>
            </a:pathLst>
          </a:custGeom>
          <a:noFill/>
          <a:ln cap="flat" cmpd="sng" w="19050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5"/>
          <p:cNvSpPr/>
          <p:nvPr/>
        </p:nvSpPr>
        <p:spPr>
          <a:xfrm>
            <a:off x="4533900" y="3771900"/>
            <a:ext cx="2095500" cy="590700"/>
          </a:xfrm>
          <a:prstGeom prst="rect">
            <a:avLst/>
          </a:prstGeom>
          <a:solidFill>
            <a:srgbClr val="E7F4EF"/>
          </a:solidFill>
          <a:ln cap="flat" cmpd="sng" w="9525">
            <a:solidFill>
              <a:srgbClr val="00A8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4533900" y="3933825"/>
            <a:ext cx="2095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RCM 2</a:t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6629400" y="3190875"/>
            <a:ext cx="1657350" cy="876300"/>
          </a:xfrm>
          <a:custGeom>
            <a:rect b="b" l="l" r="r" t="t"/>
            <a:pathLst>
              <a:path extrusionOk="0" h="876300" w="1657350">
                <a:moveTo>
                  <a:pt x="0" y="876300"/>
                </a:moveTo>
                <a:lnTo>
                  <a:pt x="1657350" y="0"/>
                </a:lnTo>
              </a:path>
            </a:pathLst>
          </a:custGeom>
          <a:noFill/>
          <a:ln cap="flat" cmpd="sng" w="19050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15"/>
          <p:cNvSpPr/>
          <p:nvPr/>
        </p:nvSpPr>
        <p:spPr>
          <a:xfrm>
            <a:off x="2790825" y="2590800"/>
            <a:ext cx="1743075" cy="314325"/>
          </a:xfrm>
          <a:custGeom>
            <a:rect b="b" l="l" r="r" t="t"/>
            <a:pathLst>
              <a:path extrusionOk="0" h="314325" w="1743075">
                <a:moveTo>
                  <a:pt x="0" y="0"/>
                </a:moveTo>
                <a:lnTo>
                  <a:pt x="1743075" y="314325"/>
                </a:lnTo>
              </a:path>
            </a:pathLst>
          </a:custGeom>
          <a:noFill/>
          <a:ln cap="flat" cmpd="sng" w="1427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5"/>
          <p:cNvSpPr/>
          <p:nvPr/>
        </p:nvSpPr>
        <p:spPr>
          <a:xfrm>
            <a:off x="2790825" y="2590800"/>
            <a:ext cx="1743075" cy="1476375"/>
          </a:xfrm>
          <a:custGeom>
            <a:rect b="b" l="l" r="r" t="t"/>
            <a:pathLst>
              <a:path extrusionOk="0" h="1476375" w="1743075">
                <a:moveTo>
                  <a:pt x="0" y="0"/>
                </a:moveTo>
                <a:lnTo>
                  <a:pt x="1743075" y="1476375"/>
                </a:lnTo>
              </a:path>
            </a:pathLst>
          </a:custGeom>
          <a:noFill/>
          <a:ln cap="flat" cmpd="sng" w="1427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5"/>
          <p:cNvSpPr/>
          <p:nvPr/>
        </p:nvSpPr>
        <p:spPr>
          <a:xfrm>
            <a:off x="2790825" y="2905125"/>
            <a:ext cx="1743075" cy="466725"/>
          </a:xfrm>
          <a:custGeom>
            <a:rect b="b" l="l" r="r" t="t"/>
            <a:pathLst>
              <a:path extrusionOk="0" h="466725" w="1743075">
                <a:moveTo>
                  <a:pt x="0" y="466725"/>
                </a:moveTo>
                <a:lnTo>
                  <a:pt x="1743075" y="0"/>
                </a:lnTo>
              </a:path>
            </a:pathLst>
          </a:custGeom>
          <a:noFill/>
          <a:ln cap="flat" cmpd="sng" w="1427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" name="Google Shape;429;p15"/>
          <p:cNvSpPr/>
          <p:nvPr/>
        </p:nvSpPr>
        <p:spPr>
          <a:xfrm>
            <a:off x="2790825" y="3371850"/>
            <a:ext cx="1743075" cy="695325"/>
          </a:xfrm>
          <a:custGeom>
            <a:rect b="b" l="l" r="r" t="t"/>
            <a:pathLst>
              <a:path extrusionOk="0" h="695325" w="1743075">
                <a:moveTo>
                  <a:pt x="0" y="0"/>
                </a:moveTo>
                <a:lnTo>
                  <a:pt x="1743075" y="695325"/>
                </a:lnTo>
              </a:path>
            </a:pathLst>
          </a:custGeom>
          <a:noFill/>
          <a:ln cap="flat" cmpd="sng" w="1427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15"/>
          <p:cNvSpPr/>
          <p:nvPr/>
        </p:nvSpPr>
        <p:spPr>
          <a:xfrm>
            <a:off x="2790825" y="2905125"/>
            <a:ext cx="1743075" cy="1247775"/>
          </a:xfrm>
          <a:custGeom>
            <a:rect b="b" l="l" r="r" t="t"/>
            <a:pathLst>
              <a:path extrusionOk="0" h="1247775" w="1743075">
                <a:moveTo>
                  <a:pt x="0" y="1247775"/>
                </a:moveTo>
                <a:lnTo>
                  <a:pt x="1743075" y="0"/>
                </a:lnTo>
              </a:path>
            </a:pathLst>
          </a:custGeom>
          <a:noFill/>
          <a:ln cap="flat" cmpd="sng" w="1427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5"/>
          <p:cNvSpPr/>
          <p:nvPr/>
        </p:nvSpPr>
        <p:spPr>
          <a:xfrm>
            <a:off x="2790825" y="4067175"/>
            <a:ext cx="1743075" cy="85725"/>
          </a:xfrm>
          <a:custGeom>
            <a:rect b="b" l="l" r="r" t="t"/>
            <a:pathLst>
              <a:path extrusionOk="0" h="85725" w="1743075">
                <a:moveTo>
                  <a:pt x="0" y="85725"/>
                </a:moveTo>
                <a:lnTo>
                  <a:pt x="1743075" y="0"/>
                </a:lnTo>
              </a:path>
            </a:pathLst>
          </a:custGeom>
          <a:noFill/>
          <a:ln cap="flat" cmpd="sng" w="1427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5"/>
          <p:cNvSpPr/>
          <p:nvPr/>
        </p:nvSpPr>
        <p:spPr>
          <a:xfrm>
            <a:off x="8286750" y="2476500"/>
            <a:ext cx="2762400" cy="14289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8496300" y="2800350"/>
            <a:ext cx="23433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4"/>
              <a:buFont typeface="Lato"/>
              <a:buNone/>
            </a:pPr>
            <a:r>
              <a:rPr b="1" i="0" lang="it-IT" sz="149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REGIONAL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94"/>
              <a:buFont typeface="Lato"/>
              <a:buNone/>
            </a:pPr>
            <a:r>
              <a:rPr b="1" i="0" lang="it-IT" sz="149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PROJECTION ENSEMBLE</a:t>
            </a: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838200" y="5010150"/>
            <a:ext cx="10210800" cy="71430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1104900" y="5181600"/>
            <a:ext cx="967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59"/>
              <a:buFont typeface="Lato"/>
              <a:buNone/>
            </a:pPr>
            <a:r>
              <a:rPr b="1" i="0" lang="it-IT" sz="126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Multi-model and multi-RCM ensembles sample structural choices. Their spread remains an incomplete measure of uncertainty.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6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Multiple models and uncertainty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6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ensemble shows a range of plausible responses across models and scenarios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6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6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838200" y="1866900"/>
            <a:ext cx="51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1428750" y="1885950"/>
            <a:ext cx="2571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MODEL RESPONSE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428750" y="2286000"/>
            <a:ext cx="2714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Different representations of the climate system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4552950" y="1866900"/>
            <a:ext cx="51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5143500" y="1885950"/>
            <a:ext cx="2571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FUTURE SCENARIO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5143500" y="2286000"/>
            <a:ext cx="2714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Different future emissions and land-use pathways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8267700" y="1866900"/>
            <a:ext cx="51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3A59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183A59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6"/>
          <p:cNvSpPr/>
          <p:nvPr/>
        </p:nvSpPr>
        <p:spPr>
          <a:xfrm>
            <a:off x="8858250" y="1885950"/>
            <a:ext cx="2571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INTERNAL VARIABILITY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8858250" y="2286000"/>
            <a:ext cx="27147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Natural fluctuations within the climate system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800100" y="3162300"/>
            <a:ext cx="10591800" cy="10098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1066800" y="3381375"/>
            <a:ext cx="285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ato"/>
              <a:buNone/>
            </a:pPr>
            <a:r>
              <a:rPr b="1" i="0" lang="it-IT" sz="25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ENSEMBLE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4095750" y="3390900"/>
            <a:ext cx="676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2025"/>
              <a:buFont typeface="Lato"/>
              <a:buNone/>
            </a:pPr>
            <a:r>
              <a:rPr b="1" i="0" lang="it-IT" sz="2025">
                <a:solidFill>
                  <a:srgbClr val="D7E5EC"/>
                </a:solidFill>
                <a:latin typeface="Lato"/>
                <a:ea typeface="Lato"/>
                <a:cs typeface="Lato"/>
                <a:sym typeface="Lato"/>
              </a:rPr>
              <a:t>A range of plausible climate responses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876300" y="4591050"/>
            <a:ext cx="314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CENTRE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876300" y="4933950"/>
            <a:ext cx="31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00"/>
              <a:buFont typeface="Lato"/>
              <a:buNone/>
            </a:pPr>
            <a:r>
              <a:rPr b="1" i="0" lang="it-IT" sz="15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Mean or median change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4210050" y="4552950"/>
            <a:ext cx="9600" cy="8193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4572000" y="4591050"/>
            <a:ext cx="314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SPREAD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4572000" y="4933950"/>
            <a:ext cx="31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00"/>
              <a:buFont typeface="Lato"/>
              <a:buNone/>
            </a:pPr>
            <a:r>
              <a:rPr b="1" i="0" lang="it-IT" sz="15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Range across models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905750" y="4552950"/>
            <a:ext cx="9600" cy="8193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8267700" y="4591050"/>
            <a:ext cx="314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3A59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183A59"/>
                </a:solidFill>
                <a:latin typeface="Lato"/>
                <a:ea typeface="Lato"/>
                <a:cs typeface="Lato"/>
                <a:sym typeface="Lato"/>
              </a:rPr>
              <a:t>AGREEMENT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8267700" y="4933950"/>
            <a:ext cx="314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422"/>
              <a:buFont typeface="Lato"/>
              <a:buNone/>
            </a:pPr>
            <a:r>
              <a:rPr b="1" i="0" lang="it-IT" sz="1422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Direction and consistency of change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7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Global mean temperature projections</a:t>
            </a:r>
            <a:endParaRPr b="1" sz="2250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Annual precipitation projection under 3 degrees warming, SSP5-8.5</a:t>
            </a:r>
            <a:endParaRPr b="1" sz="2250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7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0" name="Google Shape;4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00125"/>
            <a:ext cx="5353050" cy="415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5025" y="5315600"/>
            <a:ext cx="2452575" cy="94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7850" y="1457400"/>
            <a:ext cx="6534149" cy="3777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8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Model bias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8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 climate model may reproduce the broad climate while showing systematic differences from a reference dataset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8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8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8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8"/>
          <p:cNvSpPr/>
          <p:nvPr/>
        </p:nvSpPr>
        <p:spPr>
          <a:xfrm>
            <a:off x="11106493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8"/>
          <p:cNvSpPr/>
          <p:nvPr/>
        </p:nvSpPr>
        <p:spPr>
          <a:xfrm>
            <a:off x="952500" y="1905000"/>
            <a:ext cx="4762500" cy="28575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8"/>
          <p:cNvSpPr/>
          <p:nvPr/>
        </p:nvSpPr>
        <p:spPr>
          <a:xfrm>
            <a:off x="1219200" y="2095500"/>
            <a:ext cx="4229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Illustrative historical distribution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8"/>
          <p:cNvSpPr/>
          <p:nvPr/>
        </p:nvSpPr>
        <p:spPr>
          <a:xfrm>
            <a:off x="1381125" y="4238625"/>
            <a:ext cx="3762300" cy="192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8"/>
          <p:cNvSpPr/>
          <p:nvPr/>
        </p:nvSpPr>
        <p:spPr>
          <a:xfrm>
            <a:off x="1381125" y="2667000"/>
            <a:ext cx="19200" cy="15717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8"/>
          <p:cNvSpPr/>
          <p:nvPr/>
        </p:nvSpPr>
        <p:spPr>
          <a:xfrm>
            <a:off x="1666875" y="4048125"/>
            <a:ext cx="114300" cy="1905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8"/>
          <p:cNvSpPr/>
          <p:nvPr/>
        </p:nvSpPr>
        <p:spPr>
          <a:xfrm>
            <a:off x="1809750" y="4162425"/>
            <a:ext cx="114300" cy="762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/>
          <p:nvPr/>
        </p:nvSpPr>
        <p:spPr>
          <a:xfrm>
            <a:off x="2009775" y="3876675"/>
            <a:ext cx="114300" cy="3621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8"/>
          <p:cNvSpPr/>
          <p:nvPr/>
        </p:nvSpPr>
        <p:spPr>
          <a:xfrm>
            <a:off x="2152650" y="4057650"/>
            <a:ext cx="114300" cy="1809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/>
          <p:nvPr/>
        </p:nvSpPr>
        <p:spPr>
          <a:xfrm>
            <a:off x="2352675" y="3609975"/>
            <a:ext cx="114300" cy="6288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8"/>
          <p:cNvSpPr/>
          <p:nvPr/>
        </p:nvSpPr>
        <p:spPr>
          <a:xfrm>
            <a:off x="2495550" y="3876675"/>
            <a:ext cx="114300" cy="3621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8"/>
          <p:cNvSpPr/>
          <p:nvPr/>
        </p:nvSpPr>
        <p:spPr>
          <a:xfrm>
            <a:off x="2695575" y="3238500"/>
            <a:ext cx="114300" cy="10002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/>
          <p:nvPr/>
        </p:nvSpPr>
        <p:spPr>
          <a:xfrm>
            <a:off x="2838450" y="3571875"/>
            <a:ext cx="114300" cy="6669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8"/>
          <p:cNvSpPr/>
          <p:nvPr/>
        </p:nvSpPr>
        <p:spPr>
          <a:xfrm>
            <a:off x="3038475" y="2943225"/>
            <a:ext cx="114300" cy="1295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/>
          <p:nvPr/>
        </p:nvSpPr>
        <p:spPr>
          <a:xfrm>
            <a:off x="3181350" y="3209925"/>
            <a:ext cx="114300" cy="10287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8"/>
          <p:cNvSpPr/>
          <p:nvPr/>
        </p:nvSpPr>
        <p:spPr>
          <a:xfrm>
            <a:off x="3381375" y="3171825"/>
            <a:ext cx="114300" cy="10668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/>
          <p:nvPr/>
        </p:nvSpPr>
        <p:spPr>
          <a:xfrm>
            <a:off x="3524250" y="2924175"/>
            <a:ext cx="114300" cy="13146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8"/>
          <p:cNvSpPr/>
          <p:nvPr/>
        </p:nvSpPr>
        <p:spPr>
          <a:xfrm>
            <a:off x="3724275" y="3543300"/>
            <a:ext cx="114300" cy="695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3867150" y="3114675"/>
            <a:ext cx="114300" cy="11241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4067175" y="3848100"/>
            <a:ext cx="114300" cy="3906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/>
          <p:nvPr/>
        </p:nvSpPr>
        <p:spPr>
          <a:xfrm>
            <a:off x="4210050" y="3495675"/>
            <a:ext cx="114300" cy="7431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8"/>
          <p:cNvSpPr/>
          <p:nvPr/>
        </p:nvSpPr>
        <p:spPr>
          <a:xfrm>
            <a:off x="4410075" y="4029075"/>
            <a:ext cx="114300" cy="2097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4552950" y="3829050"/>
            <a:ext cx="114300" cy="409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/>
          <p:nvPr/>
        </p:nvSpPr>
        <p:spPr>
          <a:xfrm>
            <a:off x="1809750" y="4410075"/>
            <a:ext cx="1143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Reference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8"/>
          <p:cNvSpPr/>
          <p:nvPr/>
        </p:nvSpPr>
        <p:spPr>
          <a:xfrm>
            <a:off x="3381375" y="4410075"/>
            <a:ext cx="952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6477000" y="2076450"/>
            <a:ext cx="419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100"/>
              <a:buFont typeface="Lato"/>
              <a:buNone/>
            </a:pPr>
            <a:r>
              <a:rPr b="1" i="0" lang="it-IT" sz="21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 bias is systematic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6477000" y="2705100"/>
            <a:ext cx="4305300" cy="10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650"/>
              <a:buFont typeface="Lato"/>
              <a:buNone/>
            </a:pPr>
            <a:r>
              <a:rPr b="0" i="0" lang="it-IT" sz="16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It may affect the mean, variability, seasonality or extremes. Performance can also differ by variable and region.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8"/>
          <p:cNvSpPr/>
          <p:nvPr/>
        </p:nvSpPr>
        <p:spPr>
          <a:xfrm>
            <a:off x="6477000" y="4038600"/>
            <a:ext cx="4000500" cy="876300"/>
          </a:xfrm>
          <a:prstGeom prst="roundRect">
            <a:avLst>
              <a:gd fmla="val 8696" name="adj"/>
            </a:avLst>
          </a:prstGeom>
          <a:solidFill>
            <a:srgbClr val="FFF3D1"/>
          </a:solidFill>
          <a:ln cap="flat" cmpd="sng" w="9525">
            <a:solidFill>
              <a:srgbClr val="FFF3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8"/>
          <p:cNvSpPr/>
          <p:nvPr/>
        </p:nvSpPr>
        <p:spPr>
          <a:xfrm>
            <a:off x="6705600" y="4229100"/>
            <a:ext cx="3543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Model output should not automatically be treated as observations or truth.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8"/>
          <p:cNvSpPr/>
          <p:nvPr/>
        </p:nvSpPr>
        <p:spPr>
          <a:xfrm>
            <a:off x="952500" y="5000625"/>
            <a:ext cx="4762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0" i="0" lang="it-IT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Conceptual illustration · no observed data shown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9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Bias correction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Adjustment can improve agreement with a historical reference, but it does not make the future certain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9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1066800" y="2781300"/>
            <a:ext cx="10058400" cy="381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9"/>
          <p:cNvSpPr/>
          <p:nvPr/>
        </p:nvSpPr>
        <p:spPr>
          <a:xfrm>
            <a:off x="1257300" y="2524125"/>
            <a:ext cx="552600" cy="5526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1143000" y="3371850"/>
            <a:ext cx="1714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COMPARE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1143000" y="3790950"/>
            <a:ext cx="2190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Historical model simulation with a reference dataset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3971925" y="2524125"/>
            <a:ext cx="552600" cy="552600"/>
          </a:xfrm>
          <a:prstGeom prst="ellipse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3857625" y="3371850"/>
            <a:ext cx="1714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ESTIMATE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3857625" y="3790950"/>
            <a:ext cx="2190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 statistical adjustment for the selected variable and location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6686550" y="2524125"/>
            <a:ext cx="552600" cy="5526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6572250" y="3371850"/>
            <a:ext cx="1714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APPLY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6572250" y="3790950"/>
            <a:ext cx="2190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adjustment consistently to historical and projected data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9401175" y="2524125"/>
            <a:ext cx="552600" cy="5526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Lato"/>
              <a:buNone/>
            </a:pPr>
            <a:r>
              <a:rPr b="1" i="0" lang="it-IT" sz="16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9286875" y="3371850"/>
            <a:ext cx="1714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CHECK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9286875" y="3790950"/>
            <a:ext cx="21909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Whether the corrected data suit the intended application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685800" y="5010150"/>
            <a:ext cx="10820400" cy="6288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933450" y="5200650"/>
            <a:ext cx="2095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Limits of correction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3143250" y="5162550"/>
            <a:ext cx="80010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It </a:t>
            </a:r>
            <a:r>
              <a:rPr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does not</a:t>
            </a:r>
            <a:r>
              <a:rPr b="0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remove model uncertainty</a:t>
            </a:r>
            <a:r>
              <a:rPr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 repair every simulation weakness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647700" y="400050"/>
            <a:ext cx="1085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How each source should be handled</a:t>
            </a:r>
            <a:endParaRPr/>
          </a:p>
        </p:txBody>
      </p:sp>
      <p:sp>
        <p:nvSpPr>
          <p:cNvPr id="559" name="Google Shape;559;p20"/>
          <p:cNvSpPr/>
          <p:nvPr/>
        </p:nvSpPr>
        <p:spPr>
          <a:xfrm>
            <a:off x="657225" y="96202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response depends on whether the source is intrinsic, conditional, structural or systematic</a:t>
            </a:r>
            <a:endParaRPr/>
          </a:p>
        </p:txBody>
      </p:sp>
      <p:sp>
        <p:nvSpPr>
          <p:cNvPr id="560" name="Google Shape;560;p20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0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0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0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564" name="Google Shape;564;p20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15</a:t>
            </a:r>
            <a:endParaRPr/>
          </a:p>
        </p:txBody>
      </p:sp>
      <p:sp>
        <p:nvSpPr>
          <p:cNvPr id="565" name="Google Shape;565;p20"/>
          <p:cNvSpPr/>
          <p:nvPr/>
        </p:nvSpPr>
        <p:spPr>
          <a:xfrm>
            <a:off x="762000" y="1752600"/>
            <a:ext cx="2381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SOURCE</a:t>
            </a:r>
            <a:endParaRPr/>
          </a:p>
        </p:txBody>
      </p:sp>
      <p:sp>
        <p:nvSpPr>
          <p:cNvPr id="566" name="Google Shape;566;p20"/>
          <p:cNvSpPr/>
          <p:nvPr/>
        </p:nvSpPr>
        <p:spPr>
          <a:xfrm>
            <a:off x="3429000" y="175260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TYPE</a:t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5334000" y="1752600"/>
            <a:ext cx="1809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RESPONSE</a:t>
            </a:r>
            <a:endParaRPr/>
          </a:p>
        </p:txBody>
      </p:sp>
      <p:sp>
        <p:nvSpPr>
          <p:cNvPr id="568" name="Google Shape;568;p20"/>
          <p:cNvSpPr/>
          <p:nvPr/>
        </p:nvSpPr>
        <p:spPr>
          <a:xfrm>
            <a:off x="7429500" y="1752600"/>
            <a:ext cx="3714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PRACTICAL ACTION</a:t>
            </a:r>
            <a:endParaRPr/>
          </a:p>
        </p:txBody>
      </p:sp>
      <p:sp>
        <p:nvSpPr>
          <p:cNvPr id="569" name="Google Shape;569;p20"/>
          <p:cNvSpPr/>
          <p:nvPr/>
        </p:nvSpPr>
        <p:spPr>
          <a:xfrm>
            <a:off x="762000" y="2152650"/>
            <a:ext cx="95400" cy="3714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0"/>
          <p:cNvSpPr/>
          <p:nvPr/>
        </p:nvSpPr>
        <p:spPr>
          <a:xfrm>
            <a:off x="1009650" y="2133600"/>
            <a:ext cx="2286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INTERNAL VARIABILITY</a:t>
            </a:r>
            <a:endParaRPr/>
          </a:p>
        </p:txBody>
      </p:sp>
      <p:sp>
        <p:nvSpPr>
          <p:cNvPr id="571" name="Google Shape;571;p20"/>
          <p:cNvSpPr/>
          <p:nvPr/>
        </p:nvSpPr>
        <p:spPr>
          <a:xfrm>
            <a:off x="3429000" y="2133600"/>
            <a:ext cx="171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Intrinsic</a:t>
            </a:r>
            <a:endParaRPr/>
          </a:p>
        </p:txBody>
      </p:sp>
      <p:sp>
        <p:nvSpPr>
          <p:cNvPr id="572" name="Google Shape;572;p20"/>
          <p:cNvSpPr/>
          <p:nvPr/>
        </p:nvSpPr>
        <p:spPr>
          <a:xfrm>
            <a:off x="5334000" y="2133600"/>
            <a:ext cx="1809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Represent</a:t>
            </a:r>
            <a:endParaRPr/>
          </a:p>
        </p:txBody>
      </p:sp>
      <p:sp>
        <p:nvSpPr>
          <p:cNvPr id="573" name="Google Shape;573;p20"/>
          <p:cNvSpPr/>
          <p:nvPr/>
        </p:nvSpPr>
        <p:spPr>
          <a:xfrm>
            <a:off x="7429500" y="2114550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Use multiple initial-condition members</a:t>
            </a:r>
            <a:endParaRPr/>
          </a:p>
        </p:txBody>
      </p:sp>
      <p:sp>
        <p:nvSpPr>
          <p:cNvPr id="574" name="Google Shape;574;p20"/>
          <p:cNvSpPr/>
          <p:nvPr/>
        </p:nvSpPr>
        <p:spPr>
          <a:xfrm>
            <a:off x="1009650" y="2619375"/>
            <a:ext cx="10134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0"/>
          <p:cNvSpPr/>
          <p:nvPr/>
        </p:nvSpPr>
        <p:spPr>
          <a:xfrm>
            <a:off x="762000" y="2743200"/>
            <a:ext cx="95400" cy="371400"/>
          </a:xfrm>
          <a:prstGeom prst="rect">
            <a:avLst/>
          </a:prstGeom>
          <a:solidFill>
            <a:srgbClr val="C95C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0"/>
          <p:cNvSpPr/>
          <p:nvPr/>
        </p:nvSpPr>
        <p:spPr>
          <a:xfrm>
            <a:off x="1009650" y="2724150"/>
            <a:ext cx="2286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SCENARIO</a:t>
            </a:r>
            <a:endParaRPr/>
          </a:p>
        </p:txBody>
      </p:sp>
      <p:sp>
        <p:nvSpPr>
          <p:cNvPr id="577" name="Google Shape;577;p20"/>
          <p:cNvSpPr/>
          <p:nvPr/>
        </p:nvSpPr>
        <p:spPr>
          <a:xfrm>
            <a:off x="3429000" y="2724150"/>
            <a:ext cx="171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Conditional</a:t>
            </a:r>
            <a:endParaRPr/>
          </a:p>
        </p:txBody>
      </p:sp>
      <p:sp>
        <p:nvSpPr>
          <p:cNvPr id="578" name="Google Shape;578;p20"/>
          <p:cNvSpPr/>
          <p:nvPr/>
        </p:nvSpPr>
        <p:spPr>
          <a:xfrm>
            <a:off x="5334000" y="2724150"/>
            <a:ext cx="1809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95C54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C95C54"/>
                </a:solidFill>
                <a:latin typeface="Lato"/>
                <a:ea typeface="Lato"/>
                <a:cs typeface="Lato"/>
                <a:sym typeface="Lato"/>
              </a:rPr>
              <a:t>Explore</a:t>
            </a:r>
            <a:endParaRPr/>
          </a:p>
        </p:txBody>
      </p:sp>
      <p:sp>
        <p:nvSpPr>
          <p:cNvPr id="579" name="Google Shape;579;p20"/>
          <p:cNvSpPr/>
          <p:nvPr/>
        </p:nvSpPr>
        <p:spPr>
          <a:xfrm>
            <a:off x="7429500" y="2705100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Compare plausible pathways</a:t>
            </a:r>
            <a:endParaRPr/>
          </a:p>
        </p:txBody>
      </p:sp>
      <p:sp>
        <p:nvSpPr>
          <p:cNvPr id="580" name="Google Shape;580;p20"/>
          <p:cNvSpPr/>
          <p:nvPr/>
        </p:nvSpPr>
        <p:spPr>
          <a:xfrm>
            <a:off x="1009650" y="3209925"/>
            <a:ext cx="10134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0"/>
          <p:cNvSpPr/>
          <p:nvPr/>
        </p:nvSpPr>
        <p:spPr>
          <a:xfrm>
            <a:off x="762000" y="3333750"/>
            <a:ext cx="95400" cy="3714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0"/>
          <p:cNvSpPr/>
          <p:nvPr/>
        </p:nvSpPr>
        <p:spPr>
          <a:xfrm>
            <a:off x="1009650" y="3314700"/>
            <a:ext cx="2286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MODEL RESPONSE</a:t>
            </a:r>
            <a:endParaRPr/>
          </a:p>
        </p:txBody>
      </p:sp>
      <p:sp>
        <p:nvSpPr>
          <p:cNvPr id="583" name="Google Shape;583;p20"/>
          <p:cNvSpPr/>
          <p:nvPr/>
        </p:nvSpPr>
        <p:spPr>
          <a:xfrm>
            <a:off x="3429000" y="3314700"/>
            <a:ext cx="171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Structural</a:t>
            </a:r>
            <a:endParaRPr/>
          </a:p>
        </p:txBody>
      </p:sp>
      <p:sp>
        <p:nvSpPr>
          <p:cNvPr id="584" name="Google Shape;584;p20"/>
          <p:cNvSpPr/>
          <p:nvPr/>
        </p:nvSpPr>
        <p:spPr>
          <a:xfrm>
            <a:off x="7429500" y="3295650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Use</a:t>
            </a:r>
            <a:r>
              <a:rPr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multi-model ensemble</a:t>
            </a:r>
            <a:endParaRPr/>
          </a:p>
        </p:txBody>
      </p:sp>
      <p:sp>
        <p:nvSpPr>
          <p:cNvPr id="585" name="Google Shape;585;p20"/>
          <p:cNvSpPr/>
          <p:nvPr/>
        </p:nvSpPr>
        <p:spPr>
          <a:xfrm>
            <a:off x="1009650" y="3800475"/>
            <a:ext cx="10134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0"/>
          <p:cNvSpPr/>
          <p:nvPr/>
        </p:nvSpPr>
        <p:spPr>
          <a:xfrm>
            <a:off x="762000" y="3924300"/>
            <a:ext cx="95400" cy="3714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0"/>
          <p:cNvSpPr/>
          <p:nvPr/>
        </p:nvSpPr>
        <p:spPr>
          <a:xfrm>
            <a:off x="1009650" y="3905250"/>
            <a:ext cx="2286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GCM–RCM CHAIN</a:t>
            </a:r>
            <a:endParaRPr/>
          </a:p>
        </p:txBody>
      </p:sp>
      <p:sp>
        <p:nvSpPr>
          <p:cNvPr id="588" name="Google Shape;588;p20"/>
          <p:cNvSpPr/>
          <p:nvPr/>
        </p:nvSpPr>
        <p:spPr>
          <a:xfrm>
            <a:off x="3429000" y="3905250"/>
            <a:ext cx="171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Structural</a:t>
            </a: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5334000" y="3905250"/>
            <a:ext cx="1809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Compare</a:t>
            </a:r>
            <a:endParaRPr/>
          </a:p>
        </p:txBody>
      </p:sp>
      <p:sp>
        <p:nvSpPr>
          <p:cNvPr id="590" name="Google Shape;590;p20"/>
          <p:cNvSpPr/>
          <p:nvPr/>
        </p:nvSpPr>
        <p:spPr>
          <a:xfrm>
            <a:off x="7429500" y="3886200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Sample driving and regional models</a:t>
            </a:r>
            <a:endParaRPr/>
          </a:p>
        </p:txBody>
      </p:sp>
      <p:sp>
        <p:nvSpPr>
          <p:cNvPr id="591" name="Google Shape;591;p20"/>
          <p:cNvSpPr/>
          <p:nvPr/>
        </p:nvSpPr>
        <p:spPr>
          <a:xfrm>
            <a:off x="1009650" y="4391025"/>
            <a:ext cx="10134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0"/>
          <p:cNvSpPr/>
          <p:nvPr/>
        </p:nvSpPr>
        <p:spPr>
          <a:xfrm>
            <a:off x="762000" y="4514850"/>
            <a:ext cx="95400" cy="371400"/>
          </a:xfrm>
          <a:prstGeom prst="rect">
            <a:avLst/>
          </a:prstGeom>
          <a:solidFill>
            <a:srgbClr val="008D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0"/>
          <p:cNvSpPr/>
          <p:nvPr/>
        </p:nvSpPr>
        <p:spPr>
          <a:xfrm>
            <a:off x="1009650" y="4495800"/>
            <a:ext cx="2286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SYSTEMATIC BIAS</a:t>
            </a:r>
            <a:endParaRPr/>
          </a:p>
        </p:txBody>
      </p:sp>
      <p:sp>
        <p:nvSpPr>
          <p:cNvPr id="594" name="Google Shape;594;p20"/>
          <p:cNvSpPr/>
          <p:nvPr/>
        </p:nvSpPr>
        <p:spPr>
          <a:xfrm>
            <a:off x="3429000" y="4495800"/>
            <a:ext cx="171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Partly adjustable</a:t>
            </a:r>
            <a:endParaRPr/>
          </a:p>
        </p:txBody>
      </p:sp>
      <p:sp>
        <p:nvSpPr>
          <p:cNvPr id="595" name="Google Shape;595;p20"/>
          <p:cNvSpPr/>
          <p:nvPr/>
        </p:nvSpPr>
        <p:spPr>
          <a:xfrm>
            <a:off x="5334000" y="4495800"/>
            <a:ext cx="1809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Adjust carefully</a:t>
            </a:r>
            <a:endParaRPr/>
          </a:p>
        </p:txBody>
      </p:sp>
      <p:sp>
        <p:nvSpPr>
          <p:cNvPr id="596" name="Google Shape;596;p20"/>
          <p:cNvSpPr/>
          <p:nvPr/>
        </p:nvSpPr>
        <p:spPr>
          <a:xfrm>
            <a:off x="7429500" y="4476750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Validate the method and retain caveats</a:t>
            </a:r>
            <a:endParaRPr/>
          </a:p>
        </p:txBody>
      </p:sp>
      <p:sp>
        <p:nvSpPr>
          <p:cNvPr id="597" name="Google Shape;597;p20"/>
          <p:cNvSpPr/>
          <p:nvPr/>
        </p:nvSpPr>
        <p:spPr>
          <a:xfrm>
            <a:off x="1009650" y="4981575"/>
            <a:ext cx="10134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0"/>
          <p:cNvSpPr/>
          <p:nvPr/>
        </p:nvSpPr>
        <p:spPr>
          <a:xfrm>
            <a:off x="762000" y="5105400"/>
            <a:ext cx="95400" cy="371400"/>
          </a:xfrm>
          <a:prstGeom prst="rect">
            <a:avLst/>
          </a:prstGeom>
          <a:solidFill>
            <a:srgbClr val="6879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0"/>
          <p:cNvSpPr/>
          <p:nvPr/>
        </p:nvSpPr>
        <p:spPr>
          <a:xfrm>
            <a:off x="1009650" y="5086350"/>
            <a:ext cx="22860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REFERENCE DATA</a:t>
            </a:r>
            <a:endParaRPr/>
          </a:p>
        </p:txBody>
      </p:sp>
      <p:sp>
        <p:nvSpPr>
          <p:cNvPr id="600" name="Google Shape;600;p20"/>
          <p:cNvSpPr/>
          <p:nvPr/>
        </p:nvSpPr>
        <p:spPr>
          <a:xfrm>
            <a:off x="3429000" y="5086350"/>
            <a:ext cx="1714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Observed uncertainty</a:t>
            </a:r>
            <a:endParaRPr/>
          </a:p>
        </p:txBody>
      </p:sp>
      <p:sp>
        <p:nvSpPr>
          <p:cNvPr id="601" name="Google Shape;601;p20"/>
          <p:cNvSpPr/>
          <p:nvPr/>
        </p:nvSpPr>
        <p:spPr>
          <a:xfrm>
            <a:off x="5334000" y="5086350"/>
            <a:ext cx="1809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Test sensitivity</a:t>
            </a:r>
            <a:endParaRPr/>
          </a:p>
        </p:txBody>
      </p:sp>
      <p:sp>
        <p:nvSpPr>
          <p:cNvPr id="602" name="Google Shape;602;p20"/>
          <p:cNvSpPr/>
          <p:nvPr/>
        </p:nvSpPr>
        <p:spPr>
          <a:xfrm>
            <a:off x="7429500" y="5067300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Compare suitable observation or reanalysis products</a:t>
            </a:r>
            <a:endParaRPr/>
          </a:p>
        </p:txBody>
      </p:sp>
      <p:sp>
        <p:nvSpPr>
          <p:cNvPr id="603" name="Google Shape;603;p20"/>
          <p:cNvSpPr/>
          <p:nvPr/>
        </p:nvSpPr>
        <p:spPr>
          <a:xfrm>
            <a:off x="762000" y="5743575"/>
            <a:ext cx="10382400" cy="3240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0"/>
          <p:cNvSpPr/>
          <p:nvPr/>
        </p:nvSpPr>
        <p:spPr>
          <a:xfrm>
            <a:off x="952500" y="5800725"/>
            <a:ext cx="10001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Keep the variability that represents plausible outcomes. Correct only diagnosed, method-specific bias.</a:t>
            </a:r>
            <a:endParaRPr/>
          </a:p>
        </p:txBody>
      </p:sp>
      <p:sp>
        <p:nvSpPr>
          <p:cNvPr id="605" name="Google Shape;605;p20"/>
          <p:cNvSpPr/>
          <p:nvPr/>
        </p:nvSpPr>
        <p:spPr>
          <a:xfrm>
            <a:off x="5306453" y="3328938"/>
            <a:ext cx="1809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Represent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1"/>
          <p:cNvSpPr/>
          <p:nvPr/>
        </p:nvSpPr>
        <p:spPr>
          <a:xfrm>
            <a:off x="647700" y="400050"/>
            <a:ext cx="10839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Interpreting a climate signal</a:t>
            </a:r>
            <a:endParaRPr/>
          </a:p>
        </p:txBody>
      </p:sp>
      <p:sp>
        <p:nvSpPr>
          <p:cNvPr id="612" name="Google Shape;612;p21"/>
          <p:cNvSpPr/>
          <p:nvPr/>
        </p:nvSpPr>
        <p:spPr>
          <a:xfrm>
            <a:off x="657225" y="962025"/>
            <a:ext cx="1057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 map or chart needs context before it can support a project decision</a:t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666750" y="1419225"/>
            <a:ext cx="952500" cy="28575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609600" y="6229350"/>
            <a:ext cx="111252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647700" y="634365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617" name="Google Shape;617;p21"/>
          <p:cNvSpPr/>
          <p:nvPr/>
        </p:nvSpPr>
        <p:spPr>
          <a:xfrm>
            <a:off x="11096625" y="634365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16</a:t>
            </a:r>
            <a:endParaRPr/>
          </a:p>
        </p:txBody>
      </p:sp>
      <p:sp>
        <p:nvSpPr>
          <p:cNvPr id="618" name="Google Shape;618;p21"/>
          <p:cNvSpPr/>
          <p:nvPr/>
        </p:nvSpPr>
        <p:spPr>
          <a:xfrm>
            <a:off x="742950" y="1790700"/>
            <a:ext cx="4572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READ THE SIGNAL</a:t>
            </a:r>
            <a:endParaRPr/>
          </a:p>
        </p:txBody>
      </p:sp>
      <p:sp>
        <p:nvSpPr>
          <p:cNvPr id="619" name="Google Shape;619;p21"/>
          <p:cNvSpPr/>
          <p:nvPr/>
        </p:nvSpPr>
        <p:spPr>
          <a:xfrm>
            <a:off x="6610350" y="1790700"/>
            <a:ext cx="476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TEST THE INTERPRETATION</a:t>
            </a:r>
            <a:endParaRPr/>
          </a:p>
        </p:txBody>
      </p:sp>
      <p:sp>
        <p:nvSpPr>
          <p:cNvPr id="620" name="Google Shape;620;p21"/>
          <p:cNvSpPr/>
          <p:nvPr/>
        </p:nvSpPr>
        <p:spPr>
          <a:xfrm>
            <a:off x="6076950" y="1771650"/>
            <a:ext cx="9525" cy="33528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1"/>
          <p:cNvSpPr/>
          <p:nvPr/>
        </p:nvSpPr>
        <p:spPr>
          <a:xfrm>
            <a:off x="742950" y="23050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622" name="Google Shape;622;p21"/>
          <p:cNvSpPr/>
          <p:nvPr/>
        </p:nvSpPr>
        <p:spPr>
          <a:xfrm>
            <a:off x="1333500" y="2305050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MAGNITUDE</a:t>
            </a:r>
            <a:endParaRPr/>
          </a:p>
        </p:txBody>
      </p:sp>
      <p:sp>
        <p:nvSpPr>
          <p:cNvPr id="623" name="Google Shape;623;p21"/>
          <p:cNvSpPr/>
          <p:nvPr/>
        </p:nvSpPr>
        <p:spPr>
          <a:xfrm>
            <a:off x="1333500" y="26289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How large is the change relative to the baseline?</a:t>
            </a:r>
            <a:endParaRPr/>
          </a:p>
        </p:txBody>
      </p:sp>
      <p:sp>
        <p:nvSpPr>
          <p:cNvPr id="624" name="Google Shape;624;p21"/>
          <p:cNvSpPr/>
          <p:nvPr/>
        </p:nvSpPr>
        <p:spPr>
          <a:xfrm>
            <a:off x="742950" y="3086100"/>
            <a:ext cx="47625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1"/>
          <p:cNvSpPr/>
          <p:nvPr/>
        </p:nvSpPr>
        <p:spPr>
          <a:xfrm>
            <a:off x="742950" y="32289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626" name="Google Shape;626;p21"/>
          <p:cNvSpPr/>
          <p:nvPr/>
        </p:nvSpPr>
        <p:spPr>
          <a:xfrm>
            <a:off x="1333500" y="3228975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PATTERN</a:t>
            </a:r>
            <a:endParaRPr/>
          </a:p>
        </p:txBody>
      </p:sp>
      <p:sp>
        <p:nvSpPr>
          <p:cNvPr id="627" name="Google Shape;627;p21"/>
          <p:cNvSpPr/>
          <p:nvPr/>
        </p:nvSpPr>
        <p:spPr>
          <a:xfrm>
            <a:off x="1333500" y="3552825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Where and when does the change occur?</a:t>
            </a:r>
            <a:endParaRPr/>
          </a:p>
        </p:txBody>
      </p:sp>
      <p:sp>
        <p:nvSpPr>
          <p:cNvPr id="628" name="Google Shape;628;p21"/>
          <p:cNvSpPr/>
          <p:nvPr/>
        </p:nvSpPr>
        <p:spPr>
          <a:xfrm>
            <a:off x="742950" y="4010025"/>
            <a:ext cx="47625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1"/>
          <p:cNvSpPr/>
          <p:nvPr/>
        </p:nvSpPr>
        <p:spPr>
          <a:xfrm>
            <a:off x="742950" y="415290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630" name="Google Shape;630;p21"/>
          <p:cNvSpPr/>
          <p:nvPr/>
        </p:nvSpPr>
        <p:spPr>
          <a:xfrm>
            <a:off x="1333500" y="4152900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AGREEMENT</a:t>
            </a:r>
            <a:endParaRPr/>
          </a:p>
        </p:txBody>
      </p:sp>
      <p:sp>
        <p:nvSpPr>
          <p:cNvPr id="631" name="Google Shape;631;p21"/>
          <p:cNvSpPr/>
          <p:nvPr/>
        </p:nvSpPr>
        <p:spPr>
          <a:xfrm>
            <a:off x="1333500" y="447675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Do most models show the same direction of change?</a:t>
            </a:r>
            <a:endParaRPr/>
          </a:p>
        </p:txBody>
      </p:sp>
      <p:sp>
        <p:nvSpPr>
          <p:cNvPr id="632" name="Google Shape;632;p21"/>
          <p:cNvSpPr/>
          <p:nvPr/>
        </p:nvSpPr>
        <p:spPr>
          <a:xfrm>
            <a:off x="6610350" y="23050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sp>
        <p:nvSpPr>
          <p:cNvPr id="633" name="Google Shape;633;p21"/>
          <p:cNvSpPr/>
          <p:nvPr/>
        </p:nvSpPr>
        <p:spPr>
          <a:xfrm>
            <a:off x="7200900" y="2305050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SPREAD</a:t>
            </a:r>
            <a:endParaRPr/>
          </a:p>
        </p:txBody>
      </p:sp>
      <p:sp>
        <p:nvSpPr>
          <p:cNvPr id="634" name="Google Shape;634;p21"/>
          <p:cNvSpPr/>
          <p:nvPr/>
        </p:nvSpPr>
        <p:spPr>
          <a:xfrm>
            <a:off x="7200900" y="262890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How wide is the range across models and scenarios?</a:t>
            </a:r>
            <a:endParaRPr/>
          </a:p>
        </p:txBody>
      </p:sp>
      <p:sp>
        <p:nvSpPr>
          <p:cNvPr id="635" name="Google Shape;635;p21"/>
          <p:cNvSpPr/>
          <p:nvPr/>
        </p:nvSpPr>
        <p:spPr>
          <a:xfrm>
            <a:off x="6610350" y="3086100"/>
            <a:ext cx="47625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1"/>
          <p:cNvSpPr/>
          <p:nvPr/>
        </p:nvSpPr>
        <p:spPr>
          <a:xfrm>
            <a:off x="6610350" y="32289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/>
          </a:p>
        </p:txBody>
      </p:sp>
      <p:sp>
        <p:nvSpPr>
          <p:cNvPr id="637" name="Google Shape;637;p21"/>
          <p:cNvSpPr/>
          <p:nvPr/>
        </p:nvSpPr>
        <p:spPr>
          <a:xfrm>
            <a:off x="7200900" y="3228975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RELEVANCE</a:t>
            </a:r>
            <a:endParaRPr/>
          </a:p>
        </p:txBody>
      </p:sp>
      <p:sp>
        <p:nvSpPr>
          <p:cNvPr id="638" name="Google Shape;638;p21"/>
          <p:cNvSpPr/>
          <p:nvPr/>
        </p:nvSpPr>
        <p:spPr>
          <a:xfrm>
            <a:off x="7200900" y="3552825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49"/>
              <a:buFont typeface="Lato"/>
              <a:buNone/>
            </a:pPr>
            <a:r>
              <a:rPr b="0" i="0" lang="it-IT" sz="12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Does the indicator reflect the decision and exposed system?</a:t>
            </a:r>
            <a:endParaRPr/>
          </a:p>
        </p:txBody>
      </p:sp>
      <p:sp>
        <p:nvSpPr>
          <p:cNvPr id="639" name="Google Shape;639;p21"/>
          <p:cNvSpPr/>
          <p:nvPr/>
        </p:nvSpPr>
        <p:spPr>
          <a:xfrm>
            <a:off x="6610350" y="4010025"/>
            <a:ext cx="47625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1"/>
          <p:cNvSpPr/>
          <p:nvPr/>
        </p:nvSpPr>
        <p:spPr>
          <a:xfrm>
            <a:off x="6610350" y="415290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06</a:t>
            </a:r>
            <a:endParaRPr/>
          </a:p>
        </p:txBody>
      </p:sp>
      <p:sp>
        <p:nvSpPr>
          <p:cNvPr id="641" name="Google Shape;641;p21"/>
          <p:cNvSpPr/>
          <p:nvPr/>
        </p:nvSpPr>
        <p:spPr>
          <a:xfrm>
            <a:off x="7200900" y="4152900"/>
            <a:ext cx="1809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LIMITATIONS</a:t>
            </a:r>
            <a:endParaRPr/>
          </a:p>
        </p:txBody>
      </p:sp>
      <p:sp>
        <p:nvSpPr>
          <p:cNvPr id="642" name="Google Shape;642;p21"/>
          <p:cNvSpPr/>
          <p:nvPr/>
        </p:nvSpPr>
        <p:spPr>
          <a:xfrm>
            <a:off x="7200900" y="4476750"/>
            <a:ext cx="4095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Which assumptions could change the interpretation?</a:t>
            </a:r>
            <a:endParaRPr/>
          </a:p>
        </p:txBody>
      </p:sp>
      <p:sp>
        <p:nvSpPr>
          <p:cNvPr id="643" name="Google Shape;643;p21"/>
          <p:cNvSpPr/>
          <p:nvPr/>
        </p:nvSpPr>
        <p:spPr>
          <a:xfrm>
            <a:off x="742950" y="5295900"/>
            <a:ext cx="10629900" cy="438150"/>
          </a:xfrm>
          <a:prstGeom prst="rect">
            <a:avLst/>
          </a:prstGeom>
          <a:solidFill>
            <a:srgbClr val="E7F4E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1"/>
          <p:cNvSpPr/>
          <p:nvPr/>
        </p:nvSpPr>
        <p:spPr>
          <a:xfrm>
            <a:off x="990600" y="5400675"/>
            <a:ext cx="10134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Climate information informs judgement alongside sector expertise, local knowledge and risk preferences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E"/>
        </a:solid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2"/>
          <p:cNvSpPr/>
          <p:nvPr/>
        </p:nvSpPr>
        <p:spPr>
          <a:xfrm>
            <a:off x="762000" y="762000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2"/>
          <p:cNvSpPr/>
          <p:nvPr/>
        </p:nvSpPr>
        <p:spPr>
          <a:xfrm>
            <a:off x="762000" y="17145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25"/>
              <a:buFont typeface="Lato"/>
              <a:buNone/>
            </a:pPr>
            <a:r>
              <a:rPr b="1" i="0" lang="it-IT" sz="32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Accessing climate data today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781050" y="3143250"/>
            <a:ext cx="876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7E5EC"/>
              </a:buClr>
              <a:buSzPts val="1650"/>
              <a:buFont typeface="Lato"/>
              <a:buNone/>
            </a:pPr>
            <a:r>
              <a:rPr b="0" i="0" lang="it-IT" sz="1650">
                <a:solidFill>
                  <a:srgbClr val="D7E5EC"/>
                </a:solidFill>
                <a:latin typeface="Lato"/>
                <a:ea typeface="Lato"/>
                <a:cs typeface="Lato"/>
                <a:sym typeface="Lato"/>
              </a:rPr>
              <a:t>Climate data are available, but users still have to locate, select, retrieve and prepare them before analysis.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781050" y="4953000"/>
            <a:ext cx="4000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RICCARDO · 15 MINUTES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22"/>
          <p:cNvSpPr/>
          <p:nvPr/>
        </p:nvSpPr>
        <p:spPr>
          <a:xfrm>
            <a:off x="781050" y="5905500"/>
            <a:ext cx="4953000" cy="9600"/>
          </a:xfrm>
          <a:prstGeom prst="rect">
            <a:avLst/>
          </a:prstGeom>
          <a:solidFill>
            <a:srgbClr val="6178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2"/>
          <p:cNvSpPr/>
          <p:nvPr/>
        </p:nvSpPr>
        <p:spPr>
          <a:xfrm>
            <a:off x="11049000" y="6324600"/>
            <a:ext cx="57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6C5CF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B6C5C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it-IT" sz="750">
                <a:solidFill>
                  <a:srgbClr val="B6C5CF"/>
                </a:solidFill>
                <a:latin typeface="Lato"/>
                <a:ea typeface="Lato"/>
                <a:cs typeface="Lato"/>
                <a:sym typeface="Lato"/>
              </a:rPr>
              <a:t>7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3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Where climate information is found today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23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Climate data are distributed across catalogues, archives and technical services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23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3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3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3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23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8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23"/>
          <p:cNvSpPr/>
          <p:nvPr/>
        </p:nvSpPr>
        <p:spPr>
          <a:xfrm>
            <a:off x="1944059" y="1809750"/>
            <a:ext cx="666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2550"/>
              <a:buFont typeface="Lato"/>
              <a:buNone/>
            </a:pPr>
            <a:r>
              <a:rPr b="1" i="0" lang="it-IT" sz="25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2667959" y="1905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900"/>
              <a:buFont typeface="Lato"/>
              <a:buNone/>
            </a:pPr>
            <a:r>
              <a:rPr b="1" i="0" lang="it-IT" sz="16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WEB PORTALS</a:t>
            </a:r>
            <a:endParaRPr sz="2100"/>
          </a:p>
        </p:txBody>
      </p:sp>
      <p:sp>
        <p:nvSpPr>
          <p:cNvPr id="671" name="Google Shape;671;p23"/>
          <p:cNvSpPr/>
          <p:nvPr/>
        </p:nvSpPr>
        <p:spPr>
          <a:xfrm>
            <a:off x="1944059" y="3143250"/>
            <a:ext cx="2857500" cy="285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3"/>
          <p:cNvSpPr/>
          <p:nvPr/>
        </p:nvSpPr>
        <p:spPr>
          <a:xfrm>
            <a:off x="1944059" y="3429000"/>
            <a:ext cx="2857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Copernicus Climate Data Store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t/>
            </a:r>
            <a:endParaRPr/>
          </a:p>
        </p:txBody>
      </p:sp>
      <p:sp>
        <p:nvSpPr>
          <p:cNvPr id="673" name="Google Shape;673;p23"/>
          <p:cNvSpPr/>
          <p:nvPr/>
        </p:nvSpPr>
        <p:spPr>
          <a:xfrm>
            <a:off x="6337757" y="1809750"/>
            <a:ext cx="9600" cy="27243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3"/>
          <p:cNvSpPr/>
          <p:nvPr/>
        </p:nvSpPr>
        <p:spPr>
          <a:xfrm>
            <a:off x="6775907" y="1809750"/>
            <a:ext cx="666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2550"/>
              <a:buFont typeface="Lato"/>
              <a:buNone/>
            </a:pPr>
            <a:r>
              <a:rPr b="1" i="0" lang="it-IT" sz="25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7499807" y="1905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00"/>
              <a:buFont typeface="Lato"/>
              <a:buNone/>
            </a:pPr>
            <a:r>
              <a:rPr b="1" i="0" lang="it-IT" sz="150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DISTRIBUTED ARCHIVES</a:t>
            </a:r>
            <a:endParaRPr sz="1500"/>
          </a:p>
        </p:txBody>
      </p:sp>
      <p:sp>
        <p:nvSpPr>
          <p:cNvPr id="676" name="Google Shape;676;p23"/>
          <p:cNvSpPr/>
          <p:nvPr/>
        </p:nvSpPr>
        <p:spPr>
          <a:xfrm>
            <a:off x="6775907" y="3143250"/>
            <a:ext cx="2857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23"/>
          <p:cNvSpPr/>
          <p:nvPr/>
        </p:nvSpPr>
        <p:spPr>
          <a:xfrm>
            <a:off x="6775907" y="3429000"/>
            <a:ext cx="2857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ESGF data nodes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Institutional repositories</a:t>
            </a:r>
            <a:endParaRPr/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Files organised by experiment</a:t>
            </a:r>
            <a:endParaRPr/>
          </a:p>
        </p:txBody>
      </p:sp>
      <p:sp>
        <p:nvSpPr>
          <p:cNvPr id="678" name="Google Shape;678;p23"/>
          <p:cNvSpPr/>
          <p:nvPr/>
        </p:nvSpPr>
        <p:spPr>
          <a:xfrm>
            <a:off x="819150" y="5000625"/>
            <a:ext cx="10287000" cy="66690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1104900" y="5181600"/>
            <a:ext cx="2428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725"/>
              <a:buFont typeface="Lato"/>
              <a:buNone/>
            </a:pPr>
            <a:r>
              <a:rPr b="1" i="0" lang="it-IT" sz="17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data exist</a:t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3762375" y="5172075"/>
            <a:ext cx="7048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Access patterns, accounts and request methods vary by source.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24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 climate-data request becomes a workflow</a:t>
            </a:r>
            <a:endParaRPr/>
          </a:p>
        </p:txBody>
      </p:sp>
      <p:sp>
        <p:nvSpPr>
          <p:cNvPr id="688" name="Google Shape;688;p24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Most of the work happens before the indicator is calculated</a:t>
            </a:r>
            <a:endParaRPr/>
          </a:p>
        </p:txBody>
      </p:sp>
      <p:sp>
        <p:nvSpPr>
          <p:cNvPr id="689" name="Google Shape;689;p24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4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4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4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693" name="Google Shape;693;p24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18</a:t>
            </a:r>
            <a:endParaRPr/>
          </a:p>
        </p:txBody>
      </p:sp>
      <p:sp>
        <p:nvSpPr>
          <p:cNvPr id="694" name="Google Shape;694;p24"/>
          <p:cNvSpPr/>
          <p:nvPr/>
        </p:nvSpPr>
        <p:spPr>
          <a:xfrm>
            <a:off x="1666395" y="1809750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DISCOVER</a:t>
            </a:r>
            <a:endParaRPr/>
          </a:p>
        </p:txBody>
      </p:sp>
      <p:sp>
        <p:nvSpPr>
          <p:cNvPr id="695" name="Google Shape;695;p24"/>
          <p:cNvSpPr/>
          <p:nvPr/>
        </p:nvSpPr>
        <p:spPr>
          <a:xfrm>
            <a:off x="1666395" y="2152650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Find the relevant catalogue or service</a:t>
            </a:r>
            <a:endParaRPr/>
          </a:p>
        </p:txBody>
      </p:sp>
      <p:sp>
        <p:nvSpPr>
          <p:cNvPr id="696" name="Google Shape;696;p24"/>
          <p:cNvSpPr/>
          <p:nvPr/>
        </p:nvSpPr>
        <p:spPr>
          <a:xfrm>
            <a:off x="3399945" y="4143375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Choose dataset, model, scenario, variable and period</a:t>
            </a:r>
            <a:endParaRPr/>
          </a:p>
        </p:txBody>
      </p:sp>
      <p:sp>
        <p:nvSpPr>
          <p:cNvPr id="697" name="Google Shape;697;p24"/>
          <p:cNvSpPr/>
          <p:nvPr/>
        </p:nvSpPr>
        <p:spPr>
          <a:xfrm>
            <a:off x="5133495" y="1809750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REQUEST</a:t>
            </a:r>
            <a:endParaRPr/>
          </a:p>
        </p:txBody>
      </p:sp>
      <p:sp>
        <p:nvSpPr>
          <p:cNvPr id="698" name="Google Shape;698;p24"/>
          <p:cNvSpPr/>
          <p:nvPr/>
        </p:nvSpPr>
        <p:spPr>
          <a:xfrm>
            <a:off x="5133495" y="2152650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Configure access, </a:t>
            </a:r>
            <a:r>
              <a:rPr b="1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register</a:t>
            </a: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 and API calls</a:t>
            </a:r>
            <a:endParaRPr/>
          </a:p>
        </p:txBody>
      </p:sp>
      <p:sp>
        <p:nvSpPr>
          <p:cNvPr id="699" name="Google Shape;699;p24"/>
          <p:cNvSpPr/>
          <p:nvPr/>
        </p:nvSpPr>
        <p:spPr>
          <a:xfrm>
            <a:off x="6867045" y="3800475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SUBSET</a:t>
            </a:r>
            <a:endParaRPr/>
          </a:p>
        </p:txBody>
      </p:sp>
      <p:sp>
        <p:nvSpPr>
          <p:cNvPr id="700" name="Google Shape;700;p24"/>
          <p:cNvSpPr/>
          <p:nvPr/>
        </p:nvSpPr>
        <p:spPr>
          <a:xfrm>
            <a:off x="6867045" y="4143375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Limit the data to the project area and dates</a:t>
            </a:r>
            <a:endParaRPr/>
          </a:p>
        </p:txBody>
      </p:sp>
      <p:sp>
        <p:nvSpPr>
          <p:cNvPr id="701" name="Google Shape;701;p24"/>
          <p:cNvSpPr/>
          <p:nvPr/>
        </p:nvSpPr>
        <p:spPr>
          <a:xfrm>
            <a:off x="8600595" y="1809750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HARMONIZE</a:t>
            </a:r>
            <a:endParaRPr/>
          </a:p>
        </p:txBody>
      </p:sp>
      <p:sp>
        <p:nvSpPr>
          <p:cNvPr id="702" name="Google Shape;702;p24"/>
          <p:cNvSpPr/>
          <p:nvPr/>
        </p:nvSpPr>
        <p:spPr>
          <a:xfrm>
            <a:off x="8600595" y="2152650"/>
            <a:ext cx="1600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Align units, calendars and spatial grids</a:t>
            </a:r>
            <a:endParaRPr/>
          </a:p>
        </p:txBody>
      </p:sp>
      <p:sp>
        <p:nvSpPr>
          <p:cNvPr id="703" name="Google Shape;703;p24"/>
          <p:cNvSpPr/>
          <p:nvPr/>
        </p:nvSpPr>
        <p:spPr>
          <a:xfrm>
            <a:off x="876300" y="5200650"/>
            <a:ext cx="10420500" cy="5526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4"/>
          <p:cNvSpPr/>
          <p:nvPr/>
        </p:nvSpPr>
        <p:spPr>
          <a:xfrm>
            <a:off x="1114425" y="5353050"/>
            <a:ext cx="1047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RESULT</a:t>
            </a:r>
            <a:endParaRPr/>
          </a:p>
        </p:txBody>
      </p:sp>
      <p:sp>
        <p:nvSpPr>
          <p:cNvPr id="705" name="Google Shape;705;p24"/>
          <p:cNvSpPr/>
          <p:nvPr/>
        </p:nvSpPr>
        <p:spPr>
          <a:xfrm>
            <a:off x="2266950" y="5314950"/>
            <a:ext cx="85725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defensible workflow, but one that users must assemble and repeat</a:t>
            </a:r>
            <a:endParaRPr/>
          </a:p>
        </p:txBody>
      </p:sp>
      <p:sp>
        <p:nvSpPr>
          <p:cNvPr id="706" name="Google Shape;706;p24"/>
          <p:cNvSpPr/>
          <p:nvPr/>
        </p:nvSpPr>
        <p:spPr>
          <a:xfrm>
            <a:off x="1837845" y="3457575"/>
            <a:ext cx="7836900" cy="969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4"/>
          <p:cNvSpPr/>
          <p:nvPr/>
        </p:nvSpPr>
        <p:spPr>
          <a:xfrm>
            <a:off x="1837845" y="3209925"/>
            <a:ext cx="533400" cy="5334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708" name="Google Shape;708;p24"/>
          <p:cNvSpPr/>
          <p:nvPr/>
        </p:nvSpPr>
        <p:spPr>
          <a:xfrm>
            <a:off x="3571395" y="3209925"/>
            <a:ext cx="533400" cy="533400"/>
          </a:xfrm>
          <a:prstGeom prst="ellipse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709" name="Google Shape;709;p24"/>
          <p:cNvSpPr/>
          <p:nvPr/>
        </p:nvSpPr>
        <p:spPr>
          <a:xfrm>
            <a:off x="3552345" y="3952875"/>
            <a:ext cx="15051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SPECIFY</a:t>
            </a:r>
            <a:endParaRPr/>
          </a:p>
        </p:txBody>
      </p:sp>
      <p:sp>
        <p:nvSpPr>
          <p:cNvPr id="710" name="Google Shape;710;p24"/>
          <p:cNvSpPr/>
          <p:nvPr/>
        </p:nvSpPr>
        <p:spPr>
          <a:xfrm>
            <a:off x="5304945" y="3209925"/>
            <a:ext cx="533400" cy="5334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711" name="Google Shape;711;p24"/>
          <p:cNvSpPr/>
          <p:nvPr/>
        </p:nvSpPr>
        <p:spPr>
          <a:xfrm>
            <a:off x="7038495" y="3209925"/>
            <a:ext cx="533400" cy="533400"/>
          </a:xfrm>
          <a:prstGeom prst="ellipse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sp>
        <p:nvSpPr>
          <p:cNvPr id="712" name="Google Shape;712;p24"/>
          <p:cNvSpPr/>
          <p:nvPr/>
        </p:nvSpPr>
        <p:spPr>
          <a:xfrm>
            <a:off x="8772045" y="3209925"/>
            <a:ext cx="533400" cy="533400"/>
          </a:xfrm>
          <a:prstGeom prst="ellipse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5"/>
          <p:cNvSpPr/>
          <p:nvPr/>
        </p:nvSpPr>
        <p:spPr>
          <a:xfrm>
            <a:off x="647700" y="381000"/>
            <a:ext cx="1085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What problem does CAVA solve?</a:t>
            </a:r>
            <a:endParaRPr/>
          </a:p>
        </p:txBody>
      </p:sp>
      <p:sp>
        <p:nvSpPr>
          <p:cNvPr id="719" name="Google Shape;719;p25"/>
          <p:cNvSpPr/>
          <p:nvPr/>
        </p:nvSpPr>
        <p:spPr>
          <a:xfrm>
            <a:off x="657225" y="93345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Climate archives contain valuable information, but users repeatedly perform specialist preparation before analysis can begin</a:t>
            </a:r>
            <a:endParaRPr/>
          </a:p>
        </p:txBody>
      </p:sp>
      <p:sp>
        <p:nvSpPr>
          <p:cNvPr id="720" name="Google Shape;720;p25"/>
          <p:cNvSpPr/>
          <p:nvPr/>
        </p:nvSpPr>
        <p:spPr>
          <a:xfrm>
            <a:off x="647700" y="1304925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25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25"/>
          <p:cNvSpPr/>
          <p:nvPr/>
        </p:nvSpPr>
        <p:spPr>
          <a:xfrm>
            <a:off x="647700" y="1695450"/>
            <a:ext cx="3524400" cy="3476700"/>
          </a:xfrm>
          <a:prstGeom prst="rect">
            <a:avLst/>
          </a:prstGeom>
          <a:solidFill>
            <a:srgbClr val="FFF3D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5"/>
          <p:cNvSpPr/>
          <p:nvPr/>
        </p:nvSpPr>
        <p:spPr>
          <a:xfrm>
            <a:off x="876300" y="1905000"/>
            <a:ext cx="2857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86F00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A86F00"/>
                </a:solidFill>
                <a:latin typeface="Lato"/>
                <a:ea typeface="Lato"/>
                <a:cs typeface="Lato"/>
                <a:sym typeface="Lato"/>
              </a:rPr>
              <a:t>THE BOTTLENECK</a:t>
            </a:r>
            <a:endParaRPr/>
          </a:p>
        </p:txBody>
      </p:sp>
      <p:sp>
        <p:nvSpPr>
          <p:cNvPr id="724" name="Google Shape;724;p25"/>
          <p:cNvSpPr/>
          <p:nvPr/>
        </p:nvSpPr>
        <p:spPr>
          <a:xfrm>
            <a:off x="876300" y="2209800"/>
            <a:ext cx="2876700" cy="19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None/>
            </a:pPr>
            <a:r>
              <a:rPr b="1" lang="it-IT" sz="1339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Accessing and interpreting climate information is challenging:</a:t>
            </a:r>
            <a:endParaRPr b="1" sz="1339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3627" lvl="0" marL="4572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AutoNum type="arabicPeriod"/>
            </a:pPr>
            <a:r>
              <a:rPr b="1" lang="it-IT" sz="1339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Choice of climate information</a:t>
            </a:r>
            <a:endParaRPr b="1" sz="1339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3627" lvl="0" marL="4572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AutoNum type="arabicPeriod"/>
            </a:pPr>
            <a:r>
              <a:rPr b="1" lang="it-IT" sz="1339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Access</a:t>
            </a:r>
            <a:endParaRPr b="1" sz="1339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3627" lvl="0" marL="4572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AutoNum type="arabicPeriod"/>
            </a:pPr>
            <a:r>
              <a:rPr b="1" lang="it-IT" sz="1339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Processing </a:t>
            </a:r>
            <a:endParaRPr b="1" sz="1339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3627" lvl="0" marL="45720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AutoNum type="arabicPeriod"/>
            </a:pPr>
            <a:r>
              <a:rPr b="1" lang="it-IT" sz="1339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Interpretation</a:t>
            </a:r>
            <a:endParaRPr b="1" sz="1339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39"/>
              <a:buFont typeface="Lato"/>
              <a:buNone/>
            </a:pPr>
            <a:r>
              <a:t/>
            </a:r>
            <a:endParaRPr b="1" sz="1339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39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25" name="Google Shape;725;p25"/>
          <p:cNvSpPr/>
          <p:nvPr/>
        </p:nvSpPr>
        <p:spPr>
          <a:xfrm>
            <a:off x="4438650" y="1695450"/>
            <a:ext cx="3276600" cy="34767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5"/>
          <p:cNvSpPr/>
          <p:nvPr/>
        </p:nvSpPr>
        <p:spPr>
          <a:xfrm>
            <a:off x="4810125" y="1990725"/>
            <a:ext cx="2533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Lato"/>
              <a:buNone/>
            </a:pPr>
            <a:r>
              <a:rPr b="1" i="0" lang="it-IT" sz="25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CAVA</a:t>
            </a:r>
            <a:endParaRPr/>
          </a:p>
        </p:txBody>
      </p:sp>
      <p:sp>
        <p:nvSpPr>
          <p:cNvPr id="727" name="Google Shape;727;p25"/>
          <p:cNvSpPr/>
          <p:nvPr/>
        </p:nvSpPr>
        <p:spPr>
          <a:xfrm>
            <a:off x="4876800" y="2571750"/>
            <a:ext cx="240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DDE8EF"/>
              </a:buClr>
              <a:buSzPts val="1274"/>
              <a:buFont typeface="Lato"/>
              <a:buNone/>
            </a:pPr>
            <a:r>
              <a:rPr b="0" i="0" lang="it-IT" sz="1274">
                <a:solidFill>
                  <a:srgbClr val="DDE8EF"/>
                </a:solidFill>
                <a:latin typeface="Lato"/>
                <a:ea typeface="Lato"/>
                <a:cs typeface="Lato"/>
                <a:sym typeface="Lato"/>
              </a:rPr>
              <a:t>A shared access and processing layer</a:t>
            </a:r>
            <a:endParaRPr/>
          </a:p>
        </p:txBody>
      </p:sp>
      <p:sp>
        <p:nvSpPr>
          <p:cNvPr id="728" name="Google Shape;728;p25"/>
          <p:cNvSpPr/>
          <p:nvPr/>
        </p:nvSpPr>
        <p:spPr>
          <a:xfrm>
            <a:off x="4991100" y="3133725"/>
            <a:ext cx="2171700" cy="9600"/>
          </a:xfrm>
          <a:prstGeom prst="rect">
            <a:avLst/>
          </a:prstGeom>
          <a:solidFill>
            <a:srgbClr val="5C74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25"/>
          <p:cNvSpPr/>
          <p:nvPr/>
        </p:nvSpPr>
        <p:spPr>
          <a:xfrm>
            <a:off x="4762500" y="3371850"/>
            <a:ext cx="857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ACCESS</a:t>
            </a:r>
            <a:endParaRPr/>
          </a:p>
        </p:txBody>
      </p:sp>
      <p:sp>
        <p:nvSpPr>
          <p:cNvPr id="730" name="Google Shape;730;p25"/>
          <p:cNvSpPr/>
          <p:nvPr/>
        </p:nvSpPr>
        <p:spPr>
          <a:xfrm>
            <a:off x="5676900" y="3352800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Retrieve only the place, period and variables needed</a:t>
            </a:r>
            <a:endParaRPr/>
          </a:p>
        </p:txBody>
      </p:sp>
      <p:sp>
        <p:nvSpPr>
          <p:cNvPr id="731" name="Google Shape;731;p25"/>
          <p:cNvSpPr/>
          <p:nvPr/>
        </p:nvSpPr>
        <p:spPr>
          <a:xfrm>
            <a:off x="4762500" y="3914775"/>
            <a:ext cx="857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HARMONIZE</a:t>
            </a:r>
            <a:endParaRPr/>
          </a:p>
        </p:txBody>
      </p:sp>
      <p:sp>
        <p:nvSpPr>
          <p:cNvPr id="732" name="Google Shape;732;p25"/>
          <p:cNvSpPr/>
          <p:nvPr/>
        </p:nvSpPr>
        <p:spPr>
          <a:xfrm>
            <a:off x="5676900" y="3895725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Apply consistent handling of formats and conventions</a:t>
            </a:r>
            <a:endParaRPr/>
          </a:p>
        </p:txBody>
      </p:sp>
      <p:sp>
        <p:nvSpPr>
          <p:cNvPr id="733" name="Google Shape;733;p25"/>
          <p:cNvSpPr/>
          <p:nvPr/>
        </p:nvSpPr>
        <p:spPr>
          <a:xfrm>
            <a:off x="4762500" y="4457700"/>
            <a:ext cx="857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REUSE</a:t>
            </a:r>
            <a:endParaRPr/>
          </a:p>
        </p:txBody>
      </p:sp>
      <p:sp>
        <p:nvSpPr>
          <p:cNvPr id="734" name="Google Shape;734;p25"/>
          <p:cNvSpPr/>
          <p:nvPr/>
        </p:nvSpPr>
        <p:spPr>
          <a:xfrm>
            <a:off x="5676900" y="4438650"/>
            <a:ext cx="171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8"/>
              <a:buFont typeface="Lato"/>
              <a:buNone/>
            </a:pPr>
            <a:r>
              <a:rPr b="0" i="0" lang="it-IT" sz="88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Expose the same workflow through web tools, code and APIs</a:t>
            </a:r>
            <a:endParaRPr/>
          </a:p>
        </p:txBody>
      </p:sp>
      <p:sp>
        <p:nvSpPr>
          <p:cNvPr id="735" name="Google Shape;735;p25"/>
          <p:cNvSpPr/>
          <p:nvPr/>
        </p:nvSpPr>
        <p:spPr>
          <a:xfrm>
            <a:off x="7981950" y="1695450"/>
            <a:ext cx="3562200" cy="3476700"/>
          </a:xfrm>
          <a:prstGeom prst="rect">
            <a:avLst/>
          </a:prstGeom>
          <a:solidFill>
            <a:srgbClr val="E7F4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25"/>
          <p:cNvSpPr/>
          <p:nvPr/>
        </p:nvSpPr>
        <p:spPr>
          <a:xfrm>
            <a:off x="8210550" y="1905000"/>
            <a:ext cx="2857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WHAT CHANGES</a:t>
            </a:r>
            <a:endParaRPr/>
          </a:p>
        </p:txBody>
      </p:sp>
      <p:sp>
        <p:nvSpPr>
          <p:cNvPr id="737" name="Google Shape;737;p25"/>
          <p:cNvSpPr/>
          <p:nvPr/>
        </p:nvSpPr>
        <p:spPr>
          <a:xfrm>
            <a:off x="8210550" y="2209800"/>
            <a:ext cx="29529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8"/>
              <a:buFont typeface="Lato"/>
              <a:buNone/>
            </a:pPr>
            <a:r>
              <a:rPr b="1" i="0" lang="it-IT" sz="1359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Climate data become easier to use without hiding the scientific choices</a:t>
            </a:r>
            <a:endParaRPr/>
          </a:p>
        </p:txBody>
      </p:sp>
      <p:sp>
        <p:nvSpPr>
          <p:cNvPr id="738" name="Google Shape;738;p25"/>
          <p:cNvSpPr/>
          <p:nvPr/>
        </p:nvSpPr>
        <p:spPr>
          <a:xfrm>
            <a:off x="8210550" y="3300789"/>
            <a:ext cx="838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READY</a:t>
            </a:r>
            <a:endParaRPr/>
          </a:p>
        </p:txBody>
      </p:sp>
      <p:sp>
        <p:nvSpPr>
          <p:cNvPr id="739" name="Google Shape;739;p25"/>
          <p:cNvSpPr/>
          <p:nvPr/>
        </p:nvSpPr>
        <p:spPr>
          <a:xfrm>
            <a:off x="9163050" y="3272214"/>
            <a:ext cx="201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Analysis-ready historical and future data</a:t>
            </a:r>
            <a:endParaRPr/>
          </a:p>
        </p:txBody>
      </p:sp>
      <p:sp>
        <p:nvSpPr>
          <p:cNvPr id="740" name="Google Shape;740;p25"/>
          <p:cNvSpPr/>
          <p:nvPr/>
        </p:nvSpPr>
        <p:spPr>
          <a:xfrm>
            <a:off x="9163050" y="3708651"/>
            <a:ext cx="2000100" cy="9600"/>
          </a:xfrm>
          <a:prstGeom prst="rect">
            <a:avLst/>
          </a:prstGeom>
          <a:solidFill>
            <a:srgbClr val="C9E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5"/>
          <p:cNvSpPr/>
          <p:nvPr/>
        </p:nvSpPr>
        <p:spPr>
          <a:xfrm>
            <a:off x="8210550" y="3948489"/>
            <a:ext cx="838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CONSISTENT</a:t>
            </a:r>
            <a:endParaRPr/>
          </a:p>
        </p:txBody>
      </p:sp>
      <p:sp>
        <p:nvSpPr>
          <p:cNvPr id="742" name="Google Shape;742;p25"/>
          <p:cNvSpPr/>
          <p:nvPr/>
        </p:nvSpPr>
        <p:spPr>
          <a:xfrm>
            <a:off x="9163050" y="3919914"/>
            <a:ext cx="2019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Comparable indicators, maps and outputs</a:t>
            </a:r>
            <a:endParaRPr/>
          </a:p>
        </p:txBody>
      </p:sp>
      <p:sp>
        <p:nvSpPr>
          <p:cNvPr id="743" name="Google Shape;743;p25"/>
          <p:cNvSpPr/>
          <p:nvPr/>
        </p:nvSpPr>
        <p:spPr>
          <a:xfrm>
            <a:off x="9163050" y="4356351"/>
            <a:ext cx="2000100" cy="9600"/>
          </a:xfrm>
          <a:prstGeom prst="rect">
            <a:avLst/>
          </a:prstGeom>
          <a:solidFill>
            <a:srgbClr val="C9E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5"/>
          <p:cNvSpPr/>
          <p:nvPr/>
        </p:nvSpPr>
        <p:spPr>
          <a:xfrm>
            <a:off x="4057650" y="3124200"/>
            <a:ext cx="495300" cy="60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25"/>
          <p:cNvSpPr/>
          <p:nvPr/>
        </p:nvSpPr>
        <p:spPr>
          <a:xfrm>
            <a:off x="7600950" y="3124200"/>
            <a:ext cx="495300" cy="60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5"/>
          <p:cNvSpPr/>
          <p:nvPr/>
        </p:nvSpPr>
        <p:spPr>
          <a:xfrm>
            <a:off x="647700" y="5438775"/>
            <a:ext cx="10896600" cy="561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25"/>
          <p:cNvSpPr/>
          <p:nvPr/>
        </p:nvSpPr>
        <p:spPr>
          <a:xfrm>
            <a:off x="647700" y="5438775"/>
            <a:ext cx="76200" cy="5619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5"/>
          <p:cNvSpPr/>
          <p:nvPr/>
        </p:nvSpPr>
        <p:spPr>
          <a:xfrm>
            <a:off x="933450" y="5591175"/>
            <a:ext cx="10325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</a:t>
            </a:r>
            <a:r>
              <a:rPr b="1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democratises access and interpretation of climate information while retaining scientific approach</a:t>
            </a:r>
            <a:endParaRPr/>
          </a:p>
        </p:txBody>
      </p:sp>
      <p:sp>
        <p:nvSpPr>
          <p:cNvPr id="749" name="Google Shape;749;p25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5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751" name="Google Shape;751;p25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20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26"/>
          <p:cNvSpPr/>
          <p:nvPr/>
        </p:nvSpPr>
        <p:spPr>
          <a:xfrm>
            <a:off x="647700" y="400050"/>
            <a:ext cx="1085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One CAVA framework, several entry points</a:t>
            </a:r>
            <a:endParaRPr/>
          </a:p>
        </p:txBody>
      </p:sp>
      <p:sp>
        <p:nvSpPr>
          <p:cNvPr id="758" name="Google Shape;758;p26"/>
          <p:cNvSpPr/>
          <p:nvPr/>
        </p:nvSpPr>
        <p:spPr>
          <a:xfrm>
            <a:off x="657225" y="96202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 common backend supports guided exploration, reproducible analysis and integration into other workflows</a:t>
            </a:r>
            <a:endParaRPr/>
          </a:p>
        </p:txBody>
      </p:sp>
      <p:sp>
        <p:nvSpPr>
          <p:cNvPr id="759" name="Google Shape;759;p26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6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6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6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763" name="Google Shape;763;p26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/>
          </a:p>
        </p:txBody>
      </p:sp>
      <p:pic>
        <p:nvPicPr>
          <p:cNvPr id="764" name="Google Shape;764;p26" title="ChatGPT Image Sep 23, 2026, 11_30_3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9063" y="1628188"/>
            <a:ext cx="7804323" cy="4392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647700" y="381000"/>
            <a:ext cx="10858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can support country-level climate information products</a:t>
            </a: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657225" y="93345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Countries can reuse the analytical core while adding national data, priorities and institutional workflows</a:t>
            </a:r>
            <a:endParaRPr/>
          </a:p>
        </p:txBody>
      </p:sp>
      <p:sp>
        <p:nvSpPr>
          <p:cNvPr id="772" name="Google Shape;772;p27"/>
          <p:cNvSpPr/>
          <p:nvPr/>
        </p:nvSpPr>
        <p:spPr>
          <a:xfrm>
            <a:off x="647700" y="1304925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7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27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27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776" name="Google Shape;776;p27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/>
          </a:p>
        </p:txBody>
      </p:sp>
      <p:sp>
        <p:nvSpPr>
          <p:cNvPr id="777" name="Google Shape;777;p27"/>
          <p:cNvSpPr/>
          <p:nvPr/>
        </p:nvSpPr>
        <p:spPr>
          <a:xfrm>
            <a:off x="762000" y="1752600"/>
            <a:ext cx="27624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REUSABLE CAVA CORE</a:t>
            </a:r>
            <a:endParaRPr/>
          </a:p>
        </p:txBody>
      </p:sp>
      <p:sp>
        <p:nvSpPr>
          <p:cNvPr id="778" name="Google Shape;778;p27"/>
          <p:cNvSpPr/>
          <p:nvPr/>
        </p:nvSpPr>
        <p:spPr>
          <a:xfrm>
            <a:off x="762000" y="2076450"/>
            <a:ext cx="3048000" cy="30003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7"/>
          <p:cNvSpPr/>
          <p:nvPr/>
        </p:nvSpPr>
        <p:spPr>
          <a:xfrm>
            <a:off x="1009650" y="2314575"/>
            <a:ext cx="2571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5"/>
              <a:buFont typeface="Lato"/>
              <a:buNone/>
            </a:pPr>
            <a:r>
              <a:rPr b="1" i="0" lang="it-IT" sz="17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 tested foundation</a:t>
            </a:r>
            <a:endParaRPr/>
          </a:p>
        </p:txBody>
      </p:sp>
      <p:sp>
        <p:nvSpPr>
          <p:cNvPr id="780" name="Google Shape;780;p27"/>
          <p:cNvSpPr/>
          <p:nvPr/>
        </p:nvSpPr>
        <p:spPr>
          <a:xfrm>
            <a:off x="1009650" y="2857500"/>
            <a:ext cx="24765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5"/>
              <a:buFont typeface="Lato"/>
              <a:buNone/>
            </a:pPr>
            <a:r>
              <a:rPr b="1" i="0" lang="it-IT" sz="115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Global climate and impact datasets</a:t>
            </a:r>
            <a:endParaRPr/>
          </a:p>
        </p:txBody>
      </p:sp>
      <p:sp>
        <p:nvSpPr>
          <p:cNvPr id="781" name="Google Shape;781;p27"/>
          <p:cNvSpPr/>
          <p:nvPr/>
        </p:nvSpPr>
        <p:spPr>
          <a:xfrm>
            <a:off x="1009650" y="3333750"/>
            <a:ext cx="2324100" cy="9600"/>
          </a:xfrm>
          <a:prstGeom prst="rect">
            <a:avLst/>
          </a:prstGeom>
          <a:solidFill>
            <a:srgbClr val="6076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27"/>
          <p:cNvSpPr/>
          <p:nvPr/>
        </p:nvSpPr>
        <p:spPr>
          <a:xfrm>
            <a:off x="1009650" y="3533775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9"/>
              <a:buFont typeface="Lato"/>
              <a:buNone/>
            </a:pPr>
            <a:r>
              <a:rPr b="1" i="0" lang="it-IT" sz="12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Shared processing methods and metadata</a:t>
            </a:r>
            <a:endParaRPr/>
          </a:p>
        </p:txBody>
      </p:sp>
      <p:sp>
        <p:nvSpPr>
          <p:cNvPr id="783" name="Google Shape;783;p27"/>
          <p:cNvSpPr/>
          <p:nvPr/>
        </p:nvSpPr>
        <p:spPr>
          <a:xfrm>
            <a:off x="1009650" y="4048125"/>
            <a:ext cx="2324100" cy="9600"/>
          </a:xfrm>
          <a:prstGeom prst="rect">
            <a:avLst/>
          </a:prstGeom>
          <a:solidFill>
            <a:srgbClr val="60768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27"/>
          <p:cNvSpPr/>
          <p:nvPr/>
        </p:nvSpPr>
        <p:spPr>
          <a:xfrm>
            <a:off x="1009650" y="4248150"/>
            <a:ext cx="247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9"/>
              <a:buFont typeface="Lato"/>
              <a:buNone/>
            </a:pPr>
            <a:r>
              <a:rPr b="1" i="0" lang="it-IT" sz="12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Platform, R SDK and Python SDK</a:t>
            </a:r>
            <a:endParaRPr/>
          </a:p>
        </p:txBody>
      </p:sp>
      <p:sp>
        <p:nvSpPr>
          <p:cNvPr id="785" name="Google Shape;785;p27"/>
          <p:cNvSpPr/>
          <p:nvPr/>
        </p:nvSpPr>
        <p:spPr>
          <a:xfrm>
            <a:off x="4000500" y="3314700"/>
            <a:ext cx="666900" cy="60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7"/>
          <p:cNvSpPr/>
          <p:nvPr/>
        </p:nvSpPr>
        <p:spPr>
          <a:xfrm>
            <a:off x="4705350" y="1752600"/>
            <a:ext cx="24288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86F00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A86F00"/>
                </a:solidFill>
                <a:latin typeface="Lato"/>
                <a:ea typeface="Lato"/>
                <a:cs typeface="Lato"/>
                <a:sym typeface="Lato"/>
              </a:rPr>
              <a:t>COUNTRY TAILORING</a:t>
            </a:r>
            <a:endParaRPr/>
          </a:p>
        </p:txBody>
      </p:sp>
      <p:sp>
        <p:nvSpPr>
          <p:cNvPr id="787" name="Google Shape;787;p27"/>
          <p:cNvSpPr/>
          <p:nvPr/>
        </p:nvSpPr>
        <p:spPr>
          <a:xfrm>
            <a:off x="4705350" y="2076450"/>
            <a:ext cx="2476500" cy="3000300"/>
          </a:xfrm>
          <a:prstGeom prst="rect">
            <a:avLst/>
          </a:prstGeom>
          <a:solidFill>
            <a:srgbClr val="FFF3D1"/>
          </a:solidFill>
          <a:ln cap="flat" cmpd="sng" w="9525">
            <a:solidFill>
              <a:srgbClr val="F2B6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27"/>
          <p:cNvSpPr/>
          <p:nvPr/>
        </p:nvSpPr>
        <p:spPr>
          <a:xfrm>
            <a:off x="4953000" y="2381250"/>
            <a:ext cx="2000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00"/>
              <a:buFont typeface="Lato"/>
              <a:buNone/>
            </a:pPr>
            <a:r>
              <a:rPr b="1" i="0" lang="it-IT" sz="15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National data</a:t>
            </a:r>
            <a:endParaRPr/>
          </a:p>
        </p:txBody>
      </p:sp>
      <p:sp>
        <p:nvSpPr>
          <p:cNvPr id="789" name="Google Shape;789;p27"/>
          <p:cNvSpPr/>
          <p:nvPr/>
        </p:nvSpPr>
        <p:spPr>
          <a:xfrm>
            <a:off x="4953000" y="2743200"/>
            <a:ext cx="20001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Give visibility to nationally generated climate information</a:t>
            </a:r>
            <a:endParaRPr/>
          </a:p>
        </p:txBody>
      </p:sp>
      <p:sp>
        <p:nvSpPr>
          <p:cNvPr id="790" name="Google Shape;790;p27"/>
          <p:cNvSpPr/>
          <p:nvPr/>
        </p:nvSpPr>
        <p:spPr>
          <a:xfrm>
            <a:off x="5048250" y="3371850"/>
            <a:ext cx="1790700" cy="9600"/>
          </a:xfrm>
          <a:prstGeom prst="rect">
            <a:avLst/>
          </a:prstGeom>
          <a:solidFill>
            <a:srgbClr val="E4CE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7"/>
          <p:cNvSpPr/>
          <p:nvPr/>
        </p:nvSpPr>
        <p:spPr>
          <a:xfrm>
            <a:off x="4953000" y="3571875"/>
            <a:ext cx="2000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500"/>
              <a:buFont typeface="Lato"/>
              <a:buNone/>
            </a:pPr>
            <a:r>
              <a:rPr b="1" i="0" lang="it-IT" sz="15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Local priorities</a:t>
            </a:r>
            <a:endParaRPr/>
          </a:p>
        </p:txBody>
      </p:sp>
      <p:sp>
        <p:nvSpPr>
          <p:cNvPr id="792" name="Google Shape;792;p27"/>
          <p:cNvSpPr/>
          <p:nvPr/>
        </p:nvSpPr>
        <p:spPr>
          <a:xfrm>
            <a:off x="4953000" y="3933825"/>
            <a:ext cx="2000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Adapt indicators, reporting and decision workflows</a:t>
            </a:r>
            <a:endParaRPr/>
          </a:p>
        </p:txBody>
      </p:sp>
      <p:sp>
        <p:nvSpPr>
          <p:cNvPr id="793" name="Google Shape;793;p27"/>
          <p:cNvSpPr/>
          <p:nvPr/>
        </p:nvSpPr>
        <p:spPr>
          <a:xfrm>
            <a:off x="4953000" y="4591050"/>
            <a:ext cx="200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A86F00"/>
              </a:buClr>
              <a:buSzPts val="975"/>
              <a:buFont typeface="Lato"/>
              <a:buNone/>
            </a:pPr>
            <a:r>
              <a:rPr b="1" i="0" lang="it-IT" sz="975">
                <a:solidFill>
                  <a:srgbClr val="A86F00"/>
                </a:solidFill>
                <a:latin typeface="Lato"/>
                <a:ea typeface="Lato"/>
                <a:cs typeface="Lato"/>
                <a:sym typeface="Lato"/>
              </a:rPr>
              <a:t>Flexible deployment</a:t>
            </a:r>
            <a:endParaRPr/>
          </a:p>
        </p:txBody>
      </p:sp>
      <p:sp>
        <p:nvSpPr>
          <p:cNvPr id="794" name="Google Shape;794;p27"/>
          <p:cNvSpPr/>
          <p:nvPr/>
        </p:nvSpPr>
        <p:spPr>
          <a:xfrm>
            <a:off x="7219950" y="3314700"/>
            <a:ext cx="666900" cy="609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A88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7"/>
          <p:cNvSpPr/>
          <p:nvPr/>
        </p:nvSpPr>
        <p:spPr>
          <a:xfrm>
            <a:off x="7924800" y="1752600"/>
            <a:ext cx="36195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COUNTRY OR REGIONAL PRODUCT</a:t>
            </a:r>
            <a:endParaRPr/>
          </a:p>
        </p:txBody>
      </p:sp>
      <p:sp>
        <p:nvSpPr>
          <p:cNvPr id="796" name="Google Shape;796;p27"/>
          <p:cNvSpPr/>
          <p:nvPr/>
        </p:nvSpPr>
        <p:spPr>
          <a:xfrm>
            <a:off x="7924800" y="2076450"/>
            <a:ext cx="3619500" cy="3000300"/>
          </a:xfrm>
          <a:prstGeom prst="rect">
            <a:avLst/>
          </a:prstGeom>
          <a:solidFill>
            <a:srgbClr val="E7F4EF"/>
          </a:solidFill>
          <a:ln cap="flat" cmpd="sng" w="9525">
            <a:solidFill>
              <a:srgbClr val="00A8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7"/>
          <p:cNvSpPr/>
          <p:nvPr/>
        </p:nvSpPr>
        <p:spPr>
          <a:xfrm>
            <a:off x="8191500" y="2314575"/>
            <a:ext cx="3095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87"/>
              <a:buFont typeface="Lato"/>
              <a:buNone/>
            </a:pPr>
            <a:r>
              <a:rPr b="1" i="0" lang="it-IT" sz="1687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An operational climate system</a:t>
            </a:r>
            <a:endParaRPr/>
          </a:p>
        </p:txBody>
      </p:sp>
      <p:sp>
        <p:nvSpPr>
          <p:cNvPr id="798" name="Google Shape;798;p27"/>
          <p:cNvSpPr/>
          <p:nvPr/>
        </p:nvSpPr>
        <p:spPr>
          <a:xfrm>
            <a:off x="8191500" y="2886075"/>
            <a:ext cx="342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799" name="Google Shape;799;p27"/>
          <p:cNvSpPr/>
          <p:nvPr/>
        </p:nvSpPr>
        <p:spPr>
          <a:xfrm>
            <a:off x="8639175" y="2867025"/>
            <a:ext cx="2552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45"/>
              <a:buFont typeface="Lato"/>
              <a:buNone/>
            </a:pPr>
            <a:r>
              <a:rPr b="1" i="0" lang="it-IT" sz="1145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Locally relevant maps and indicators</a:t>
            </a:r>
            <a:endParaRPr/>
          </a:p>
        </p:txBody>
      </p:sp>
      <p:sp>
        <p:nvSpPr>
          <p:cNvPr id="800" name="Google Shape;800;p27"/>
          <p:cNvSpPr/>
          <p:nvPr/>
        </p:nvSpPr>
        <p:spPr>
          <a:xfrm>
            <a:off x="8639175" y="3209925"/>
            <a:ext cx="2524200" cy="9600"/>
          </a:xfrm>
          <a:prstGeom prst="rect">
            <a:avLst/>
          </a:prstGeom>
          <a:solidFill>
            <a:srgbClr val="C9E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27"/>
          <p:cNvSpPr/>
          <p:nvPr/>
        </p:nvSpPr>
        <p:spPr>
          <a:xfrm>
            <a:off x="8191500" y="3371850"/>
            <a:ext cx="342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802" name="Google Shape;802;p27"/>
          <p:cNvSpPr/>
          <p:nvPr/>
        </p:nvSpPr>
        <p:spPr>
          <a:xfrm>
            <a:off x="8639175" y="3352800"/>
            <a:ext cx="2552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41"/>
              <a:buFont typeface="Lato"/>
              <a:buNone/>
            </a:pPr>
            <a:r>
              <a:rPr b="1" i="0" lang="it-IT" sz="1042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Automated reports and analytical pipelines</a:t>
            </a:r>
            <a:endParaRPr/>
          </a:p>
        </p:txBody>
      </p:sp>
      <p:sp>
        <p:nvSpPr>
          <p:cNvPr id="803" name="Google Shape;803;p27"/>
          <p:cNvSpPr/>
          <p:nvPr/>
        </p:nvSpPr>
        <p:spPr>
          <a:xfrm>
            <a:off x="8639175" y="3695700"/>
            <a:ext cx="2524200" cy="9600"/>
          </a:xfrm>
          <a:prstGeom prst="rect">
            <a:avLst/>
          </a:prstGeom>
          <a:solidFill>
            <a:srgbClr val="C9E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7"/>
          <p:cNvSpPr/>
          <p:nvPr/>
        </p:nvSpPr>
        <p:spPr>
          <a:xfrm>
            <a:off x="8191500" y="3857625"/>
            <a:ext cx="342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805" name="Google Shape;805;p27"/>
          <p:cNvSpPr/>
          <p:nvPr/>
        </p:nvSpPr>
        <p:spPr>
          <a:xfrm>
            <a:off x="8639175" y="3838575"/>
            <a:ext cx="2552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41"/>
              <a:buFont typeface="Lato"/>
              <a:buNone/>
            </a:pPr>
            <a:r>
              <a:rPr b="1" i="0" lang="it-IT" sz="1042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Programmatic access for national applications</a:t>
            </a:r>
            <a:endParaRPr/>
          </a:p>
        </p:txBody>
      </p:sp>
      <p:sp>
        <p:nvSpPr>
          <p:cNvPr id="806" name="Google Shape;806;p27"/>
          <p:cNvSpPr/>
          <p:nvPr/>
        </p:nvSpPr>
        <p:spPr>
          <a:xfrm>
            <a:off x="8639175" y="4181475"/>
            <a:ext cx="2524200" cy="9600"/>
          </a:xfrm>
          <a:prstGeom prst="rect">
            <a:avLst/>
          </a:prstGeom>
          <a:solidFill>
            <a:srgbClr val="C9E3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7"/>
          <p:cNvSpPr/>
          <p:nvPr/>
        </p:nvSpPr>
        <p:spPr>
          <a:xfrm>
            <a:off x="8191500" y="4343400"/>
            <a:ext cx="3429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sp>
        <p:nvSpPr>
          <p:cNvPr id="808" name="Google Shape;808;p27"/>
          <p:cNvSpPr/>
          <p:nvPr/>
        </p:nvSpPr>
        <p:spPr>
          <a:xfrm>
            <a:off x="8639175" y="4324350"/>
            <a:ext cx="2552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64"/>
              <a:buFont typeface="Lato"/>
              <a:buNone/>
            </a:pPr>
            <a:r>
              <a:rPr b="1" i="0" lang="it-IT" sz="1065">
                <a:solidFill>
                  <a:srgbClr val="17324D"/>
                </a:solidFill>
                <a:latin typeface="Lato"/>
                <a:ea typeface="Lato"/>
                <a:cs typeface="Lato"/>
                <a:sym typeface="Lato"/>
              </a:rPr>
              <a:t>A system adapted to institutional needs</a:t>
            </a:r>
            <a:endParaRPr/>
          </a:p>
        </p:txBody>
      </p:sp>
      <p:sp>
        <p:nvSpPr>
          <p:cNvPr id="809" name="Google Shape;809;p27"/>
          <p:cNvSpPr/>
          <p:nvPr/>
        </p:nvSpPr>
        <p:spPr>
          <a:xfrm>
            <a:off x="762000" y="5334000"/>
            <a:ext cx="1619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CURRENT EXAMPLES</a:t>
            </a:r>
            <a:endParaRPr/>
          </a:p>
        </p:txBody>
      </p:sp>
      <p:sp>
        <p:nvSpPr>
          <p:cNvPr id="810" name="Google Shape;810;p27"/>
          <p:cNvSpPr/>
          <p:nvPr/>
        </p:nvSpPr>
        <p:spPr>
          <a:xfrm>
            <a:off x="2381250" y="52959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Southeast Asia</a:t>
            </a:r>
            <a:endParaRPr/>
          </a:p>
        </p:txBody>
      </p:sp>
      <p:sp>
        <p:nvSpPr>
          <p:cNvPr id="811" name="Google Shape;811;p27"/>
          <p:cNvSpPr/>
          <p:nvPr/>
        </p:nvSpPr>
        <p:spPr>
          <a:xfrm>
            <a:off x="2381250" y="5543550"/>
            <a:ext cx="2000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75"/>
              <a:buFont typeface="Lato"/>
              <a:buNone/>
            </a:pPr>
            <a:r>
              <a:rPr b="0" i="0" lang="it-IT" sz="9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MSS regional climate system</a:t>
            </a:r>
            <a:endParaRPr/>
          </a:p>
        </p:txBody>
      </p:sp>
      <p:sp>
        <p:nvSpPr>
          <p:cNvPr id="812" name="Google Shape;812;p27"/>
          <p:cNvSpPr/>
          <p:nvPr/>
        </p:nvSpPr>
        <p:spPr>
          <a:xfrm>
            <a:off x="4610100" y="5324475"/>
            <a:ext cx="9600" cy="4383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27"/>
          <p:cNvSpPr/>
          <p:nvPr/>
        </p:nvSpPr>
        <p:spPr>
          <a:xfrm>
            <a:off x="4895850" y="5295900"/>
            <a:ext cx="1238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Sri Lanka</a:t>
            </a:r>
            <a:endParaRPr/>
          </a:p>
        </p:txBody>
      </p:sp>
      <p:sp>
        <p:nvSpPr>
          <p:cNvPr id="814" name="Google Shape;814;p27"/>
          <p:cNvSpPr/>
          <p:nvPr/>
        </p:nvSpPr>
        <p:spPr>
          <a:xfrm>
            <a:off x="4895850" y="5543550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975"/>
              <a:buFont typeface="Lato"/>
              <a:buNone/>
            </a:pPr>
            <a:r>
              <a:rPr b="0" i="0" lang="it-IT" sz="9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National CAVA system</a:t>
            </a:r>
            <a:endParaRPr/>
          </a:p>
        </p:txBody>
      </p:sp>
      <p:sp>
        <p:nvSpPr>
          <p:cNvPr id="815" name="Google Shape;815;p27"/>
          <p:cNvSpPr/>
          <p:nvPr/>
        </p:nvSpPr>
        <p:spPr>
          <a:xfrm>
            <a:off x="6858000" y="5324475"/>
            <a:ext cx="9600" cy="4383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7"/>
          <p:cNvSpPr/>
          <p:nvPr/>
        </p:nvSpPr>
        <p:spPr>
          <a:xfrm>
            <a:off x="7143750" y="5334000"/>
            <a:ext cx="1143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ADDED VALUE</a:t>
            </a:r>
            <a:endParaRPr/>
          </a:p>
        </p:txBody>
      </p:sp>
      <p:sp>
        <p:nvSpPr>
          <p:cNvPr id="817" name="Google Shape;817;p27"/>
          <p:cNvSpPr/>
          <p:nvPr/>
        </p:nvSpPr>
        <p:spPr>
          <a:xfrm>
            <a:off x="8248650" y="5276850"/>
            <a:ext cx="3295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088"/>
              <a:buFont typeface="Lato"/>
              <a:buNone/>
            </a:pPr>
            <a:r>
              <a:rPr b="1" i="0" lang="it-IT" sz="1089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Countries reuse the technical foundation while keeping national information and priorities visible.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8"/>
          <p:cNvSpPr/>
          <p:nvPr/>
        </p:nvSpPr>
        <p:spPr>
          <a:xfrm>
            <a:off x="647700" y="400050"/>
            <a:ext cx="108585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250"/>
              <a:buFont typeface="Lato"/>
              <a:buNone/>
            </a:pPr>
            <a:r>
              <a:rPr b="1" i="0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Why CAVA </a:t>
            </a:r>
            <a:r>
              <a:rPr b="1" lang="it-IT" sz="22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framework was applied to CORDEX datasets</a:t>
            </a:r>
            <a:endParaRPr/>
          </a:p>
        </p:txBody>
      </p:sp>
      <p:sp>
        <p:nvSpPr>
          <p:cNvPr id="825" name="Google Shape;825;p28"/>
          <p:cNvSpPr/>
          <p:nvPr/>
        </p:nvSpPr>
        <p:spPr>
          <a:xfrm>
            <a:off x="657225" y="962025"/>
            <a:ext cx="1066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Shared infrastructure creates the greatest benefit where scientific value and technical reuse costs are both high</a:t>
            </a:r>
            <a:endParaRPr/>
          </a:p>
        </p:txBody>
      </p:sp>
      <p:sp>
        <p:nvSpPr>
          <p:cNvPr id="826" name="Google Shape;826;p28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28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8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8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830" name="Google Shape;830;p28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/>
          </a:p>
        </p:txBody>
      </p:sp>
      <p:sp>
        <p:nvSpPr>
          <p:cNvPr id="831" name="Google Shape;831;p28"/>
          <p:cNvSpPr/>
          <p:nvPr/>
        </p:nvSpPr>
        <p:spPr>
          <a:xfrm>
            <a:off x="781050" y="1752600"/>
            <a:ext cx="42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COMMUNITY INVESTMENT</a:t>
            </a:r>
            <a:endParaRPr/>
          </a:p>
        </p:txBody>
      </p:sp>
      <p:sp>
        <p:nvSpPr>
          <p:cNvPr id="832" name="Google Shape;832;p28"/>
          <p:cNvSpPr/>
          <p:nvPr/>
        </p:nvSpPr>
        <p:spPr>
          <a:xfrm>
            <a:off x="781050" y="2171700"/>
            <a:ext cx="4476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655"/>
              <a:buFont typeface="Lato"/>
              <a:buNone/>
            </a:pPr>
            <a:r>
              <a:rPr b="1" i="0" lang="it-IT" sz="165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Regional climate simulations require sustained scientific and computational effort</a:t>
            </a:r>
            <a:endParaRPr/>
          </a:p>
        </p:txBody>
      </p:sp>
      <p:sp>
        <p:nvSpPr>
          <p:cNvPr id="833" name="Google Shape;833;p28"/>
          <p:cNvSpPr/>
          <p:nvPr/>
        </p:nvSpPr>
        <p:spPr>
          <a:xfrm>
            <a:off x="800100" y="3091171"/>
            <a:ext cx="381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834" name="Google Shape;834;p28"/>
          <p:cNvSpPr/>
          <p:nvPr/>
        </p:nvSpPr>
        <p:spPr>
          <a:xfrm>
            <a:off x="1314450" y="3072121"/>
            <a:ext cx="39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15"/>
              <a:buFont typeface="Lato"/>
              <a:buNone/>
            </a:pPr>
            <a:r>
              <a:rPr b="0" i="0" lang="it-IT" sz="121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Coordinated experiments across regional modelling groups</a:t>
            </a:r>
            <a:endParaRPr/>
          </a:p>
        </p:txBody>
      </p:sp>
      <p:sp>
        <p:nvSpPr>
          <p:cNvPr id="835" name="Google Shape;835;p28"/>
          <p:cNvSpPr/>
          <p:nvPr/>
        </p:nvSpPr>
        <p:spPr>
          <a:xfrm>
            <a:off x="5734050" y="1714500"/>
            <a:ext cx="9600" cy="34290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8"/>
          <p:cNvSpPr/>
          <p:nvPr/>
        </p:nvSpPr>
        <p:spPr>
          <a:xfrm>
            <a:off x="6191250" y="1752600"/>
            <a:ext cx="4476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REUSE BARRIERS</a:t>
            </a:r>
            <a:endParaRPr/>
          </a:p>
        </p:txBody>
      </p:sp>
      <p:sp>
        <p:nvSpPr>
          <p:cNvPr id="837" name="Google Shape;837;p28"/>
          <p:cNvSpPr/>
          <p:nvPr/>
        </p:nvSpPr>
        <p:spPr>
          <a:xfrm>
            <a:off x="6191250" y="21717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875"/>
              <a:buFont typeface="Lato"/>
              <a:buNone/>
            </a:pPr>
            <a:r>
              <a:rPr b="1" i="0" lang="it-IT" sz="187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same scientific richness creates substantial preparation work for users</a:t>
            </a:r>
            <a:endParaRPr/>
          </a:p>
        </p:txBody>
      </p:sp>
      <p:sp>
        <p:nvSpPr>
          <p:cNvPr id="838" name="Google Shape;838;p28"/>
          <p:cNvSpPr/>
          <p:nvPr/>
        </p:nvSpPr>
        <p:spPr>
          <a:xfrm>
            <a:off x="6191250" y="3143250"/>
            <a:ext cx="1000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FILES</a:t>
            </a:r>
            <a:endParaRPr/>
          </a:p>
        </p:txBody>
      </p:sp>
      <p:sp>
        <p:nvSpPr>
          <p:cNvPr id="839" name="Google Shape;839;p28"/>
          <p:cNvSpPr/>
          <p:nvPr/>
        </p:nvSpPr>
        <p:spPr>
          <a:xfrm>
            <a:off x="7334250" y="3124200"/>
            <a:ext cx="371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00"/>
              <a:buFont typeface="Lato"/>
              <a:buNone/>
            </a:pPr>
            <a:r>
              <a:rPr b="0" i="0" lang="it-IT" sz="12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Large NetCDF collections distributed across archives</a:t>
            </a:r>
            <a:endParaRPr/>
          </a:p>
        </p:txBody>
      </p:sp>
      <p:sp>
        <p:nvSpPr>
          <p:cNvPr id="840" name="Google Shape;840;p28"/>
          <p:cNvSpPr/>
          <p:nvPr/>
        </p:nvSpPr>
        <p:spPr>
          <a:xfrm>
            <a:off x="6191250" y="3657600"/>
            <a:ext cx="1000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GRIDS</a:t>
            </a:r>
            <a:endParaRPr/>
          </a:p>
        </p:txBody>
      </p:sp>
      <p:sp>
        <p:nvSpPr>
          <p:cNvPr id="841" name="Google Shape;841;p28"/>
          <p:cNvSpPr/>
          <p:nvPr/>
        </p:nvSpPr>
        <p:spPr>
          <a:xfrm>
            <a:off x="7334250" y="3638550"/>
            <a:ext cx="371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90"/>
              <a:buFont typeface="Lato"/>
              <a:buNone/>
            </a:pPr>
            <a:r>
              <a:rPr b="0" i="0" lang="it-IT" sz="119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Rotated or curvilinear coordinates require specialist handling</a:t>
            </a:r>
            <a:endParaRPr/>
          </a:p>
        </p:txBody>
      </p:sp>
      <p:sp>
        <p:nvSpPr>
          <p:cNvPr id="842" name="Google Shape;842;p28"/>
          <p:cNvSpPr/>
          <p:nvPr/>
        </p:nvSpPr>
        <p:spPr>
          <a:xfrm>
            <a:off x="6191250" y="4171950"/>
            <a:ext cx="1000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TIME</a:t>
            </a:r>
            <a:endParaRPr/>
          </a:p>
        </p:txBody>
      </p:sp>
      <p:sp>
        <p:nvSpPr>
          <p:cNvPr id="843" name="Google Shape;843;p28"/>
          <p:cNvSpPr/>
          <p:nvPr/>
        </p:nvSpPr>
        <p:spPr>
          <a:xfrm>
            <a:off x="7334250" y="4152900"/>
            <a:ext cx="371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00"/>
              <a:buFont typeface="Lato"/>
              <a:buNone/>
            </a:pPr>
            <a:r>
              <a:rPr b="0" i="0" lang="it-IT" sz="120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Non-Gregorian calendars and long daily time series</a:t>
            </a:r>
            <a:endParaRPr/>
          </a:p>
        </p:txBody>
      </p:sp>
      <p:sp>
        <p:nvSpPr>
          <p:cNvPr id="844" name="Google Shape;844;p28"/>
          <p:cNvSpPr/>
          <p:nvPr/>
        </p:nvSpPr>
        <p:spPr>
          <a:xfrm>
            <a:off x="6191250" y="4686300"/>
            <a:ext cx="1000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900"/>
              <a:buFont typeface="Lato"/>
              <a:buNone/>
            </a:pPr>
            <a:r>
              <a:rPr b="1" i="0" lang="it-IT" sz="90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ENSEMBLES</a:t>
            </a:r>
            <a:endParaRPr/>
          </a:p>
        </p:txBody>
      </p:sp>
      <p:sp>
        <p:nvSpPr>
          <p:cNvPr id="845" name="Google Shape;845;p28"/>
          <p:cNvSpPr/>
          <p:nvPr/>
        </p:nvSpPr>
        <p:spPr>
          <a:xfrm>
            <a:off x="7334250" y="4667250"/>
            <a:ext cx="3714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90"/>
              <a:buFont typeface="Lato"/>
              <a:buNone/>
            </a:pPr>
            <a:r>
              <a:rPr b="0" i="0" lang="it-IT" sz="119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GCM, RCM, scenario and member combinations must remain traceable</a:t>
            </a:r>
            <a:endParaRPr/>
          </a:p>
        </p:txBody>
      </p:sp>
      <p:sp>
        <p:nvSpPr>
          <p:cNvPr id="846" name="Google Shape;846;p28"/>
          <p:cNvSpPr/>
          <p:nvPr/>
        </p:nvSpPr>
        <p:spPr>
          <a:xfrm>
            <a:off x="781050" y="5391150"/>
            <a:ext cx="10268100" cy="51450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8"/>
          <p:cNvSpPr/>
          <p:nvPr/>
        </p:nvSpPr>
        <p:spPr>
          <a:xfrm>
            <a:off x="1047750" y="5534025"/>
            <a:ext cx="97347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CAVA turns a hard-to-reuse archive into consistent access while preserving the scientific choices.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9"/>
          <p:cNvSpPr/>
          <p:nvPr/>
        </p:nvSpPr>
        <p:spPr>
          <a:xfrm>
            <a:off x="628650" y="400050"/>
            <a:ext cx="10915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325"/>
              <a:buFont typeface="Lato"/>
              <a:buNone/>
            </a:pPr>
            <a:r>
              <a:rPr b="1" i="0" lang="it-IT" sz="23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Case studies and peer-reviewed evidence</a:t>
            </a:r>
            <a:endParaRPr/>
          </a:p>
        </p:txBody>
      </p:sp>
      <p:sp>
        <p:nvSpPr>
          <p:cNvPr id="854" name="Google Shape;854;p29"/>
          <p:cNvSpPr/>
          <p:nvPr/>
        </p:nvSpPr>
        <p:spPr>
          <a:xfrm>
            <a:off x="647700" y="1343025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9"/>
          <p:cNvSpPr/>
          <p:nvPr/>
        </p:nvSpPr>
        <p:spPr>
          <a:xfrm>
            <a:off x="657225" y="1457325"/>
            <a:ext cx="990600" cy="285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9"/>
          <p:cNvSpPr/>
          <p:nvPr/>
        </p:nvSpPr>
        <p:spPr>
          <a:xfrm>
            <a:off x="647700" y="6238875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9"/>
          <p:cNvSpPr/>
          <p:nvPr/>
        </p:nvSpPr>
        <p:spPr>
          <a:xfrm>
            <a:off x="657225" y="6353175"/>
            <a:ext cx="23814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× CORDEX</a:t>
            </a:r>
            <a:endParaRPr/>
          </a:p>
        </p:txBody>
      </p:sp>
      <p:sp>
        <p:nvSpPr>
          <p:cNvPr id="858" name="Google Shape;858;p29"/>
          <p:cNvSpPr/>
          <p:nvPr/>
        </p:nvSpPr>
        <p:spPr>
          <a:xfrm>
            <a:off x="11049000" y="6343650"/>
            <a:ext cx="4572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0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09</a:t>
            </a:r>
            <a:endParaRPr/>
          </a:p>
        </p:txBody>
      </p:sp>
      <p:sp>
        <p:nvSpPr>
          <p:cNvPr id="859" name="Google Shape;859;p29"/>
          <p:cNvSpPr/>
          <p:nvPr/>
        </p:nvSpPr>
        <p:spPr>
          <a:xfrm>
            <a:off x="666750" y="1781175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INVESTMENT CASE STUDIES</a:t>
            </a:r>
            <a:endParaRPr/>
          </a:p>
        </p:txBody>
      </p:sp>
      <p:sp>
        <p:nvSpPr>
          <p:cNvPr id="860" name="Google Shape;860;p29"/>
          <p:cNvSpPr/>
          <p:nvPr/>
        </p:nvSpPr>
        <p:spPr>
          <a:xfrm>
            <a:off x="666750" y="2114550"/>
            <a:ext cx="6705600" cy="9282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9"/>
          <p:cNvSpPr/>
          <p:nvPr/>
        </p:nvSpPr>
        <p:spPr>
          <a:xfrm>
            <a:off x="666750" y="2114550"/>
            <a:ext cx="57000" cy="928200"/>
          </a:xfrm>
          <a:prstGeom prst="roundRect">
            <a:avLst>
              <a:gd fmla="val 50000" name="adj"/>
            </a:avLst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9"/>
          <p:cNvSpPr/>
          <p:nvPr/>
        </p:nvSpPr>
        <p:spPr>
          <a:xfrm>
            <a:off x="895350" y="2305050"/>
            <a:ext cx="6267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425"/>
              <a:buFont typeface="Lato"/>
              <a:buNone/>
            </a:pPr>
            <a:r>
              <a:rPr b="1" lang="it-IT" sz="14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DaIMA – Dairy Interventions for Mitigation and Adaptation (IFAD-GCF)</a:t>
            </a:r>
            <a:endParaRPr/>
          </a:p>
        </p:txBody>
      </p:sp>
      <p:sp>
        <p:nvSpPr>
          <p:cNvPr id="863" name="Google Shape;863;p29"/>
          <p:cNvSpPr/>
          <p:nvPr/>
        </p:nvSpPr>
        <p:spPr>
          <a:xfrm>
            <a:off x="895350" y="2705100"/>
            <a:ext cx="62676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Assessment of climate change impacts on livestock </a:t>
            </a:r>
            <a:endParaRPr/>
          </a:p>
        </p:txBody>
      </p:sp>
      <p:sp>
        <p:nvSpPr>
          <p:cNvPr id="864" name="Google Shape;864;p29"/>
          <p:cNvSpPr/>
          <p:nvPr/>
        </p:nvSpPr>
        <p:spPr>
          <a:xfrm>
            <a:off x="7820025" y="1781175"/>
            <a:ext cx="3333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825"/>
              <a:buFont typeface="Lato"/>
              <a:buNone/>
            </a:pPr>
            <a:r>
              <a:rPr b="1" i="0" lang="it-IT" sz="8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PEER-REVIEWED PUBLICATIONS</a:t>
            </a:r>
            <a:endParaRPr/>
          </a:p>
        </p:txBody>
      </p:sp>
      <p:pic>
        <p:nvPicPr>
          <p:cNvPr id="865" name="Google Shape;8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8900" y="2025223"/>
            <a:ext cx="2874801" cy="8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6" name="Google Shape;86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0975" y="2964300"/>
            <a:ext cx="2874800" cy="82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0975" y="3903375"/>
            <a:ext cx="2918951" cy="10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28900" y="5098150"/>
            <a:ext cx="2918949" cy="704850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29"/>
          <p:cNvSpPr/>
          <p:nvPr/>
        </p:nvSpPr>
        <p:spPr>
          <a:xfrm>
            <a:off x="666750" y="3271775"/>
            <a:ext cx="6705600" cy="12954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29"/>
          <p:cNvSpPr/>
          <p:nvPr/>
        </p:nvSpPr>
        <p:spPr>
          <a:xfrm>
            <a:off x="666750" y="3271775"/>
            <a:ext cx="57000" cy="12954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9"/>
          <p:cNvSpPr/>
          <p:nvPr/>
        </p:nvSpPr>
        <p:spPr>
          <a:xfrm>
            <a:off x="895350" y="3462263"/>
            <a:ext cx="6267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425"/>
              <a:buFont typeface="Lato"/>
              <a:buNone/>
            </a:pPr>
            <a:r>
              <a:rPr b="1" lang="it-IT" sz="14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Transforming the Indus Basin with Climate Resilient Agriculture and Water Management (FAO-GCF)</a:t>
            </a:r>
            <a:endParaRPr/>
          </a:p>
        </p:txBody>
      </p:sp>
      <p:sp>
        <p:nvSpPr>
          <p:cNvPr id="872" name="Google Shape;872;p29"/>
          <p:cNvSpPr/>
          <p:nvPr/>
        </p:nvSpPr>
        <p:spPr>
          <a:xfrm>
            <a:off x="895350" y="3862313"/>
            <a:ext cx="62676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t/>
            </a:r>
            <a:endParaRPr sz="112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Assessment of climate change impacts on sugarcane and wheat</a:t>
            </a:r>
            <a:endParaRPr sz="112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Climate Trends and Extremes in the Indus River Basin, Pakistan</a:t>
            </a:r>
            <a:endParaRPr sz="112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73" name="Google Shape;873;p29"/>
          <p:cNvSpPr/>
          <p:nvPr/>
        </p:nvSpPr>
        <p:spPr>
          <a:xfrm>
            <a:off x="666750" y="4755250"/>
            <a:ext cx="6705600" cy="1295400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9"/>
          <p:cNvSpPr/>
          <p:nvPr/>
        </p:nvSpPr>
        <p:spPr>
          <a:xfrm>
            <a:off x="666750" y="4755250"/>
            <a:ext cx="57000" cy="1295400"/>
          </a:xfrm>
          <a:prstGeom prst="roundRect">
            <a:avLst>
              <a:gd fmla="val 50000" name="adj"/>
            </a:avLst>
          </a:prstGeom>
          <a:solidFill>
            <a:srgbClr val="4A86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9"/>
          <p:cNvSpPr/>
          <p:nvPr/>
        </p:nvSpPr>
        <p:spPr>
          <a:xfrm>
            <a:off x="895350" y="4945738"/>
            <a:ext cx="6267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425"/>
              <a:buFont typeface="Lato"/>
              <a:buNone/>
            </a:pPr>
            <a:r>
              <a:rPr b="1" lang="it-IT" sz="14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Strengthening of NDA and enabling strategic frameworks for engagement with GCF in Yemen</a:t>
            </a:r>
            <a:endParaRPr/>
          </a:p>
        </p:txBody>
      </p:sp>
      <p:sp>
        <p:nvSpPr>
          <p:cNvPr id="876" name="Google Shape;876;p29"/>
          <p:cNvSpPr/>
          <p:nvPr/>
        </p:nvSpPr>
        <p:spPr>
          <a:xfrm>
            <a:off x="895350" y="5345788"/>
            <a:ext cx="62676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t/>
            </a:r>
            <a:endParaRPr sz="112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Assessing past and future temperature/precipitation-based indicators in Yemen</a:t>
            </a:r>
            <a:endParaRPr sz="112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E"/>
        </a:solidFill>
      </p:bgPr>
    </p:bg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30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0"/>
          <p:cNvSpPr/>
          <p:nvPr/>
        </p:nvSpPr>
        <p:spPr>
          <a:xfrm>
            <a:off x="762000" y="762000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30"/>
          <p:cNvSpPr/>
          <p:nvPr/>
        </p:nvSpPr>
        <p:spPr>
          <a:xfrm>
            <a:off x="762000" y="17145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3150"/>
              <a:buFont typeface="Lato"/>
              <a:buNone/>
            </a:pPr>
            <a:r>
              <a:rPr b="1" lang="it-IT" sz="315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How CAVA operationalizes the workflow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0"/>
          <p:cNvSpPr/>
          <p:nvPr/>
        </p:nvSpPr>
        <p:spPr>
          <a:xfrm>
            <a:off x="781050" y="3143250"/>
            <a:ext cx="8763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575"/>
              <a:buFont typeface="Lato"/>
              <a:buNone/>
            </a:pPr>
            <a:r>
              <a:rPr lang="it-IT" sz="1575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 common data backbone supports different interfaces for different users and analytical needs.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30"/>
          <p:cNvSpPr/>
          <p:nvPr/>
        </p:nvSpPr>
        <p:spPr>
          <a:xfrm>
            <a:off x="781050" y="4953000"/>
            <a:ext cx="40005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EZEQUIEL</a:t>
            </a: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 · 15 MINUTES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0"/>
          <p:cNvSpPr/>
          <p:nvPr/>
        </p:nvSpPr>
        <p:spPr>
          <a:xfrm>
            <a:off x="781050" y="5905500"/>
            <a:ext cx="4953000" cy="9600"/>
          </a:xfrm>
          <a:prstGeom prst="rect">
            <a:avLst/>
          </a:prstGeom>
          <a:solidFill>
            <a:srgbClr val="6178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0"/>
          <p:cNvSpPr/>
          <p:nvPr/>
        </p:nvSpPr>
        <p:spPr>
          <a:xfrm>
            <a:off x="11049000" y="6324600"/>
            <a:ext cx="571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6C5CF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B6C5CF"/>
                </a:solidFill>
                <a:latin typeface="Lato"/>
                <a:ea typeface="Lato"/>
                <a:cs typeface="Lato"/>
                <a:sym typeface="Lato"/>
              </a:rPr>
              <a:t>24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E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1"/>
          <p:cNvSpPr/>
          <p:nvPr/>
        </p:nvSpPr>
        <p:spPr>
          <a:xfrm>
            <a:off x="0" y="0"/>
            <a:ext cx="95400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1"/>
          <p:cNvSpPr/>
          <p:nvPr/>
        </p:nvSpPr>
        <p:spPr>
          <a:xfrm>
            <a:off x="723900" y="4572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5"/>
              <a:buFont typeface="Lato"/>
              <a:buNone/>
            </a:pPr>
            <a:r>
              <a:rPr b="1" i="0" lang="it-IT" sz="23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CAVA data backbone</a:t>
            </a:r>
            <a:endParaRPr/>
          </a:p>
        </p:txBody>
      </p:sp>
      <p:sp>
        <p:nvSpPr>
          <p:cNvPr id="896" name="Google Shape;896;p31"/>
          <p:cNvSpPr/>
          <p:nvPr/>
        </p:nvSpPr>
        <p:spPr>
          <a:xfrm>
            <a:off x="733425" y="1009650"/>
            <a:ext cx="88584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FD0DA"/>
              </a:buClr>
              <a:buSzPts val="1125"/>
              <a:buFont typeface="Lato"/>
              <a:buNone/>
            </a:pPr>
            <a:r>
              <a:rPr b="0" i="0" lang="it-IT" sz="1125">
                <a:solidFill>
                  <a:srgbClr val="BFD0DA"/>
                </a:solidFill>
                <a:latin typeface="Lato"/>
                <a:ea typeface="Lato"/>
                <a:cs typeface="Lato"/>
                <a:sym typeface="Lato"/>
              </a:rPr>
              <a:t>A shared infrastructure connects source datasets, harmonized access and user-facing outputs</a:t>
            </a:r>
            <a:endParaRPr/>
          </a:p>
        </p:txBody>
      </p:sp>
      <p:sp>
        <p:nvSpPr>
          <p:cNvPr id="897" name="Google Shape;897;p31"/>
          <p:cNvSpPr/>
          <p:nvPr/>
        </p:nvSpPr>
        <p:spPr>
          <a:xfrm>
            <a:off x="733425" y="1447800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1"/>
          <p:cNvSpPr/>
          <p:nvPr/>
        </p:nvSpPr>
        <p:spPr>
          <a:xfrm>
            <a:off x="971550" y="1847850"/>
            <a:ext cx="10248900" cy="628800"/>
          </a:xfrm>
          <a:prstGeom prst="rect">
            <a:avLst/>
          </a:prstGeom>
          <a:solidFill>
            <a:srgbClr val="EAF3F8">
              <a:alpha val="1412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1"/>
          <p:cNvSpPr/>
          <p:nvPr/>
        </p:nvSpPr>
        <p:spPr>
          <a:xfrm>
            <a:off x="1200150" y="20097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900" name="Google Shape;900;p31"/>
          <p:cNvSpPr/>
          <p:nvPr/>
        </p:nvSpPr>
        <p:spPr>
          <a:xfrm>
            <a:off x="1809750" y="2009775"/>
            <a:ext cx="2143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SOURCE DATA</a:t>
            </a:r>
            <a:endParaRPr/>
          </a:p>
        </p:txBody>
      </p:sp>
      <p:sp>
        <p:nvSpPr>
          <p:cNvPr id="901" name="Google Shape;901;p31"/>
          <p:cNvSpPr/>
          <p:nvPr/>
        </p:nvSpPr>
        <p:spPr>
          <a:xfrm>
            <a:off x="4095750" y="1962150"/>
            <a:ext cx="647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ERA5 and CORDEX-CORE climate datasets </a:t>
            </a:r>
            <a:r>
              <a:rPr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(NetCDF, ~20 TB)</a:t>
            </a:r>
            <a:endParaRPr/>
          </a:p>
        </p:txBody>
      </p:sp>
      <p:sp>
        <p:nvSpPr>
          <p:cNvPr id="902" name="Google Shape;902;p31"/>
          <p:cNvSpPr/>
          <p:nvPr/>
        </p:nvSpPr>
        <p:spPr>
          <a:xfrm>
            <a:off x="1333500" y="2724150"/>
            <a:ext cx="9525000" cy="628800"/>
          </a:xfrm>
          <a:prstGeom prst="rect">
            <a:avLst/>
          </a:prstGeom>
          <a:solidFill>
            <a:srgbClr val="00A88F">
              <a:alpha val="2196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1"/>
          <p:cNvSpPr/>
          <p:nvPr/>
        </p:nvSpPr>
        <p:spPr>
          <a:xfrm>
            <a:off x="1562100" y="28860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BE0D2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8BE0D2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904" name="Google Shape;904;p31"/>
          <p:cNvSpPr/>
          <p:nvPr/>
        </p:nvSpPr>
        <p:spPr>
          <a:xfrm>
            <a:off x="2171700" y="2886075"/>
            <a:ext cx="2143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8BE0D2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8BE0D2"/>
                </a:solidFill>
                <a:latin typeface="Lato"/>
                <a:ea typeface="Lato"/>
                <a:cs typeface="Lato"/>
                <a:sym typeface="Lato"/>
              </a:rPr>
              <a:t>REMOTE SERVICES AND COMPUTE</a:t>
            </a:r>
            <a:endParaRPr/>
          </a:p>
        </p:txBody>
      </p:sp>
      <p:sp>
        <p:nvSpPr>
          <p:cNvPr id="905" name="Google Shape;905;p31"/>
          <p:cNvSpPr/>
          <p:nvPr/>
        </p:nvSpPr>
        <p:spPr>
          <a:xfrm>
            <a:off x="4457700" y="2838450"/>
            <a:ext cx="575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THREDDS and OPeNDAP deliver only the requested subset</a:t>
            </a:r>
            <a:endParaRPr/>
          </a:p>
        </p:txBody>
      </p:sp>
      <p:sp>
        <p:nvSpPr>
          <p:cNvPr id="906" name="Google Shape;906;p31"/>
          <p:cNvSpPr/>
          <p:nvPr/>
        </p:nvSpPr>
        <p:spPr>
          <a:xfrm>
            <a:off x="1695450" y="3600450"/>
            <a:ext cx="8801100" cy="628800"/>
          </a:xfrm>
          <a:prstGeom prst="rect">
            <a:avLst/>
          </a:prstGeom>
          <a:solidFill>
            <a:srgbClr val="FFFFFF">
              <a:alpha val="102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1"/>
          <p:cNvSpPr/>
          <p:nvPr/>
        </p:nvSpPr>
        <p:spPr>
          <a:xfrm>
            <a:off x="1924050" y="37623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908" name="Google Shape;908;p31"/>
          <p:cNvSpPr/>
          <p:nvPr/>
        </p:nvSpPr>
        <p:spPr>
          <a:xfrm>
            <a:off x="2533650" y="3762375"/>
            <a:ext cx="2143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HARMONIZATION</a:t>
            </a:r>
            <a:endParaRPr/>
          </a:p>
        </p:txBody>
      </p:sp>
      <p:sp>
        <p:nvSpPr>
          <p:cNvPr id="909" name="Google Shape;909;p31"/>
          <p:cNvSpPr/>
          <p:nvPr/>
        </p:nvSpPr>
        <p:spPr>
          <a:xfrm>
            <a:off x="4819650" y="3714750"/>
            <a:ext cx="502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Lato"/>
              <a:buNone/>
            </a:pPr>
            <a:r>
              <a:rPr b="0" i="0" lang="it-IT" sz="13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Spatial selection, calendars, units and analysis-ready structures</a:t>
            </a:r>
            <a:endParaRPr/>
          </a:p>
        </p:txBody>
      </p:sp>
      <p:sp>
        <p:nvSpPr>
          <p:cNvPr id="910" name="Google Shape;910;p31"/>
          <p:cNvSpPr/>
          <p:nvPr/>
        </p:nvSpPr>
        <p:spPr>
          <a:xfrm>
            <a:off x="2057400" y="4476750"/>
            <a:ext cx="8077200" cy="628800"/>
          </a:xfrm>
          <a:prstGeom prst="rect">
            <a:avLst/>
          </a:prstGeom>
          <a:solidFill>
            <a:srgbClr val="F2B632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1"/>
          <p:cNvSpPr/>
          <p:nvPr/>
        </p:nvSpPr>
        <p:spPr>
          <a:xfrm>
            <a:off x="2286000" y="4638675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D879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FFD879"/>
                </a:solidFill>
                <a:latin typeface="Lato"/>
                <a:ea typeface="Lato"/>
                <a:cs typeface="Lato"/>
                <a:sym typeface="Lato"/>
              </a:rPr>
              <a:t>04</a:t>
            </a:r>
            <a:endParaRPr/>
          </a:p>
        </p:txBody>
      </p:sp>
      <p:sp>
        <p:nvSpPr>
          <p:cNvPr id="912" name="Google Shape;912;p31"/>
          <p:cNvSpPr/>
          <p:nvPr/>
        </p:nvSpPr>
        <p:spPr>
          <a:xfrm>
            <a:off x="2895600" y="4638675"/>
            <a:ext cx="2143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D879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FFD879"/>
                </a:solidFill>
                <a:latin typeface="Lato"/>
                <a:ea typeface="Lato"/>
                <a:cs typeface="Lato"/>
                <a:sym typeface="Lato"/>
              </a:rPr>
              <a:t>ANALYTICAL OUTPUTS</a:t>
            </a:r>
            <a:endParaRPr/>
          </a:p>
        </p:txBody>
      </p:sp>
      <p:sp>
        <p:nvSpPr>
          <p:cNvPr id="913" name="Google Shape;913;p31"/>
          <p:cNvSpPr/>
          <p:nvPr/>
        </p:nvSpPr>
        <p:spPr>
          <a:xfrm>
            <a:off x="5181600" y="4591050"/>
            <a:ext cx="430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Lato"/>
              <a:buNone/>
            </a:pPr>
            <a:r>
              <a:rPr b="0" i="0" lang="it-IT" sz="12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Indicators, maps, time series and data for downstream workflows</a:t>
            </a:r>
            <a:endParaRPr/>
          </a:p>
        </p:txBody>
      </p:sp>
      <p:sp>
        <p:nvSpPr>
          <p:cNvPr id="914" name="Google Shape;914;p31"/>
          <p:cNvSpPr/>
          <p:nvPr/>
        </p:nvSpPr>
        <p:spPr>
          <a:xfrm>
            <a:off x="733425" y="6229350"/>
            <a:ext cx="10810800" cy="9600"/>
          </a:xfrm>
          <a:prstGeom prst="rect">
            <a:avLst/>
          </a:prstGeom>
          <a:solidFill>
            <a:srgbClr val="61788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1"/>
          <p:cNvSpPr/>
          <p:nvPr/>
        </p:nvSpPr>
        <p:spPr>
          <a:xfrm>
            <a:off x="742950" y="6353175"/>
            <a:ext cx="2381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6C5CF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B6C5CF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916" name="Google Shape;916;p31"/>
          <p:cNvSpPr/>
          <p:nvPr/>
        </p:nvSpPr>
        <p:spPr>
          <a:xfrm>
            <a:off x="11049000" y="6353175"/>
            <a:ext cx="476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6C5CF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B6C5CF"/>
                </a:solidFill>
                <a:latin typeface="Lato"/>
                <a:ea typeface="Lato"/>
                <a:cs typeface="Lato"/>
                <a:sym typeface="Lato"/>
              </a:rPr>
              <a:t>25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2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b="1" lang="it-IT" sz="2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data backbone</a:t>
            </a:r>
            <a:endParaRPr b="1" sz="2025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3" name="Google Shape;923;p32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b="0" i="0"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same underlying data services can support no-code, R and Python workflows</a:t>
            </a:r>
            <a:endParaRPr/>
          </a:p>
        </p:txBody>
      </p:sp>
      <p:sp>
        <p:nvSpPr>
          <p:cNvPr id="924" name="Google Shape;924;p32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2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2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2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928" name="Google Shape;928;p32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26</a:t>
            </a:r>
            <a:endParaRPr/>
          </a:p>
        </p:txBody>
      </p:sp>
      <p:sp>
        <p:nvSpPr>
          <p:cNvPr id="929" name="Google Shape;929;p32"/>
          <p:cNvSpPr/>
          <p:nvPr/>
        </p:nvSpPr>
        <p:spPr>
          <a:xfrm>
            <a:off x="881063" y="1838800"/>
            <a:ext cx="2333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CLIMATE ARCHIVES</a:t>
            </a:r>
            <a:endParaRPr/>
          </a:p>
        </p:txBody>
      </p:sp>
      <p:sp>
        <p:nvSpPr>
          <p:cNvPr id="930" name="Google Shape;930;p32"/>
          <p:cNvSpPr/>
          <p:nvPr/>
        </p:nvSpPr>
        <p:spPr>
          <a:xfrm>
            <a:off x="881063" y="2315050"/>
            <a:ext cx="2333700" cy="1543200"/>
          </a:xfrm>
          <a:prstGeom prst="roundRect">
            <a:avLst>
              <a:gd fmla="val 4938" name="adj"/>
            </a:avLst>
          </a:prstGeom>
          <a:solidFill>
            <a:srgbClr val="EAF3F8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2"/>
          <p:cNvSpPr/>
          <p:nvPr/>
        </p:nvSpPr>
        <p:spPr>
          <a:xfrm>
            <a:off x="1052525" y="2487100"/>
            <a:ext cx="19908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00"/>
              <a:buFont typeface="Lato"/>
              <a:buNone/>
            </a:pPr>
            <a:r>
              <a:rPr b="1" i="0" lang="it-IT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ERA5</a:t>
            </a:r>
            <a:endParaRPr sz="1600"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00"/>
              <a:buFont typeface="Lato"/>
              <a:buNone/>
            </a:pPr>
            <a:r>
              <a:rPr b="1" i="0" lang="it-IT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CORDEX-CORE</a:t>
            </a:r>
            <a:endParaRPr sz="1600"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00"/>
              <a:buFont typeface="Lato"/>
              <a:buNone/>
            </a:pPr>
            <a:r>
              <a:rPr b="1" i="0" lang="it-IT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CORDEX-CORE-BC</a:t>
            </a:r>
            <a:endParaRPr b="1" i="0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200"/>
              <a:buFont typeface="Lato"/>
              <a:buNone/>
            </a:pPr>
            <a:r>
              <a:rPr b="1" lang="it-IT" sz="12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(&gt;200,000 NetCDF files)</a:t>
            </a:r>
            <a:endParaRPr b="1" sz="1200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2" name="Google Shape;932;p32"/>
          <p:cNvSpPr/>
          <p:nvPr/>
        </p:nvSpPr>
        <p:spPr>
          <a:xfrm>
            <a:off x="4624388" y="1838800"/>
            <a:ext cx="29529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125"/>
              <a:buFont typeface="Lato"/>
              <a:buNone/>
            </a:pPr>
            <a:r>
              <a:rPr b="1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DATA SERVICES</a:t>
            </a:r>
            <a:r>
              <a:rPr b="1" i="0" lang="it-IT" sz="1125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 + PROCESSING</a:t>
            </a:r>
            <a:endParaRPr/>
          </a:p>
        </p:txBody>
      </p:sp>
      <p:sp>
        <p:nvSpPr>
          <p:cNvPr id="933" name="Google Shape;933;p32"/>
          <p:cNvSpPr/>
          <p:nvPr/>
        </p:nvSpPr>
        <p:spPr>
          <a:xfrm>
            <a:off x="4433888" y="2315050"/>
            <a:ext cx="3333900" cy="1543200"/>
          </a:xfrm>
          <a:prstGeom prst="roundRect">
            <a:avLst>
              <a:gd fmla="val 4938" name="adj"/>
            </a:avLst>
          </a:prstGeom>
          <a:solidFill>
            <a:srgbClr val="12304E"/>
          </a:solidFill>
          <a:ln cap="flat" cmpd="sng" w="9525">
            <a:solidFill>
              <a:srgbClr val="1230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2"/>
          <p:cNvSpPr/>
          <p:nvPr/>
        </p:nvSpPr>
        <p:spPr>
          <a:xfrm>
            <a:off x="4814888" y="2600800"/>
            <a:ext cx="25719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Lato"/>
              <a:buNone/>
            </a:pPr>
            <a:r>
              <a:rPr b="1" i="0" lang="it-IT" sz="15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Remote subset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Lato"/>
              <a:buNone/>
            </a:pPr>
            <a:r>
              <a:rPr b="1" i="0" lang="it-IT" sz="15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Harmonize</a:t>
            </a:r>
            <a:endParaRPr/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75"/>
              <a:buFont typeface="Lato"/>
              <a:buNone/>
            </a:pPr>
            <a:r>
              <a:rPr b="1" i="0" lang="it-IT" sz="157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Aggregate and calculate</a:t>
            </a:r>
            <a:endParaRPr/>
          </a:p>
        </p:txBody>
      </p:sp>
      <p:sp>
        <p:nvSpPr>
          <p:cNvPr id="935" name="Google Shape;935;p32"/>
          <p:cNvSpPr/>
          <p:nvPr/>
        </p:nvSpPr>
        <p:spPr>
          <a:xfrm>
            <a:off x="9129713" y="1838800"/>
            <a:ext cx="23337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USER ENTRY POINTS</a:t>
            </a:r>
            <a:endParaRPr/>
          </a:p>
        </p:txBody>
      </p:sp>
      <p:sp>
        <p:nvSpPr>
          <p:cNvPr id="936" name="Google Shape;936;p32"/>
          <p:cNvSpPr/>
          <p:nvPr/>
        </p:nvSpPr>
        <p:spPr>
          <a:xfrm>
            <a:off x="8939213" y="2315050"/>
            <a:ext cx="2524200" cy="428700"/>
          </a:xfrm>
          <a:prstGeom prst="roundRect">
            <a:avLst>
              <a:gd fmla="val 17778" name="adj"/>
            </a:avLst>
          </a:prstGeom>
          <a:solidFill>
            <a:srgbClr val="E7F4EF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76200" spcFirstLastPara="1" rIns="76200" wrap="square" tIns="476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Platform and Datalab</a:t>
            </a:r>
            <a:endParaRPr/>
          </a:p>
        </p:txBody>
      </p:sp>
      <p:sp>
        <p:nvSpPr>
          <p:cNvPr id="937" name="Google Shape;937;p32"/>
          <p:cNvSpPr/>
          <p:nvPr/>
        </p:nvSpPr>
        <p:spPr>
          <a:xfrm>
            <a:off x="8939213" y="2867500"/>
            <a:ext cx="2524200" cy="428700"/>
          </a:xfrm>
          <a:prstGeom prst="roundRect">
            <a:avLst>
              <a:gd fmla="val 17778" name="adj"/>
            </a:avLst>
          </a:prstGeom>
          <a:solidFill>
            <a:srgbClr val="FFFFFF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76200" spcFirstLastPara="1" rIns="76200" wrap="square" tIns="476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CAVAanalytics </a:t>
            </a:r>
            <a:r>
              <a:rPr b="1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(R)</a:t>
            </a:r>
            <a:endParaRPr/>
          </a:p>
        </p:txBody>
      </p:sp>
      <p:sp>
        <p:nvSpPr>
          <p:cNvPr id="938" name="Google Shape;938;p32"/>
          <p:cNvSpPr/>
          <p:nvPr/>
        </p:nvSpPr>
        <p:spPr>
          <a:xfrm>
            <a:off x="8939213" y="3419950"/>
            <a:ext cx="2524200" cy="428700"/>
          </a:xfrm>
          <a:prstGeom prst="roundRect">
            <a:avLst>
              <a:gd fmla="val 17778" name="adj"/>
            </a:avLst>
          </a:prstGeom>
          <a:solidFill>
            <a:srgbClr val="FFF3D1"/>
          </a:solidFill>
          <a:ln cap="flat" cmpd="sng" w="9525">
            <a:solidFill>
              <a:srgbClr val="DCE5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625" lIns="76200" spcFirstLastPara="1" rIns="76200" wrap="square" tIns="47625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50"/>
              <a:buFont typeface="Lato"/>
              <a:buNone/>
            </a:pPr>
            <a:r>
              <a:rPr b="1" i="0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cavapy </a:t>
            </a:r>
            <a:r>
              <a:rPr b="1" lang="it-IT" sz="13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(Python)</a:t>
            </a:r>
            <a:endParaRPr/>
          </a:p>
        </p:txBody>
      </p:sp>
      <p:sp>
        <p:nvSpPr>
          <p:cNvPr id="939" name="Google Shape;939;p32"/>
          <p:cNvSpPr/>
          <p:nvPr/>
        </p:nvSpPr>
        <p:spPr>
          <a:xfrm>
            <a:off x="3214688" y="3067525"/>
            <a:ext cx="12192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2"/>
          <p:cNvSpPr/>
          <p:nvPr/>
        </p:nvSpPr>
        <p:spPr>
          <a:xfrm>
            <a:off x="7767638" y="3067525"/>
            <a:ext cx="1171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2"/>
          <p:cNvSpPr/>
          <p:nvPr/>
        </p:nvSpPr>
        <p:spPr>
          <a:xfrm>
            <a:off x="1481138" y="4087175"/>
            <a:ext cx="9229800" cy="838200"/>
          </a:xfrm>
          <a:prstGeom prst="roundRect">
            <a:avLst>
              <a:gd fmla="val 9091" name="adj"/>
            </a:avLst>
          </a:prstGeom>
          <a:solidFill>
            <a:srgbClr val="E7F4EF"/>
          </a:solidFill>
          <a:ln cap="flat" cmpd="sng" w="9525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1738313" y="4315775"/>
            <a:ext cx="1809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1275"/>
              <a:buFont typeface="Lato"/>
              <a:buNone/>
            </a:pPr>
            <a:r>
              <a:rPr b="1" i="0" lang="it-IT" sz="1275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Design principle</a:t>
            </a:r>
            <a:endParaRPr/>
          </a:p>
        </p:txBody>
      </p:sp>
      <p:sp>
        <p:nvSpPr>
          <p:cNvPr id="943" name="Google Shape;943;p32"/>
          <p:cNvSpPr/>
          <p:nvPr/>
        </p:nvSpPr>
        <p:spPr>
          <a:xfrm>
            <a:off x="3643313" y="4249100"/>
            <a:ext cx="6686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09"/>
              <a:buFont typeface="Lato"/>
              <a:buNone/>
            </a:pPr>
            <a:r>
              <a:rPr b="0" i="0" lang="it-IT" sz="131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Users choose an interface that matches their task and technical skills without rebuilding the data pipeline.</a:t>
            </a:r>
            <a:endParaRPr/>
          </a:p>
        </p:txBody>
      </p:sp>
      <p:sp>
        <p:nvSpPr>
          <p:cNvPr id="944" name="Google Shape;944;p32"/>
          <p:cNvSpPr/>
          <p:nvPr/>
        </p:nvSpPr>
        <p:spPr>
          <a:xfrm>
            <a:off x="1481150" y="5086825"/>
            <a:ext cx="9229800" cy="838200"/>
          </a:xfrm>
          <a:prstGeom prst="roundRect">
            <a:avLst>
              <a:gd fmla="val 9091" name="adj"/>
            </a:avLst>
          </a:prstGeom>
          <a:solidFill>
            <a:srgbClr val="E7F4EF"/>
          </a:solidFill>
          <a:ln cap="flat" cmpd="sng" w="9525">
            <a:solidFill>
              <a:srgbClr val="E7F4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2"/>
          <p:cNvSpPr/>
          <p:nvPr/>
        </p:nvSpPr>
        <p:spPr>
          <a:xfrm>
            <a:off x="1738325" y="5315425"/>
            <a:ext cx="1809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8D7A"/>
              </a:buClr>
              <a:buSzPts val="1275"/>
              <a:buFont typeface="Lato"/>
              <a:buNone/>
            </a:pPr>
            <a:r>
              <a:rPr b="1" lang="it-IT" sz="1275">
                <a:solidFill>
                  <a:srgbClr val="008D7A"/>
                </a:solidFill>
                <a:latin typeface="Lato"/>
                <a:ea typeface="Lato"/>
                <a:cs typeface="Lato"/>
                <a:sym typeface="Lato"/>
              </a:rPr>
              <a:t>Remote data access enabled</a:t>
            </a:r>
            <a:endParaRPr/>
          </a:p>
        </p:txBody>
      </p:sp>
      <p:sp>
        <p:nvSpPr>
          <p:cNvPr id="946" name="Google Shape;946;p32"/>
          <p:cNvSpPr/>
          <p:nvPr/>
        </p:nvSpPr>
        <p:spPr>
          <a:xfrm>
            <a:off x="3643325" y="5248750"/>
            <a:ext cx="66867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09"/>
              <a:buFont typeface="Lato"/>
              <a:buNone/>
            </a:pPr>
            <a:r>
              <a:rPr lang="it-IT" sz="131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No need to download thousands of NetCDF files, URLs provide transparent access to analysis ready data (ARD) and data cubes.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309"/>
              <a:buFont typeface="Lato"/>
              <a:buNone/>
            </a:pPr>
            <a:r>
              <a:t/>
            </a:r>
            <a:endParaRPr sz="1310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3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b="1" lang="it-IT" sz="2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data backbone</a:t>
            </a:r>
            <a:endParaRPr b="1" sz="2025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3" name="Google Shape;953;p33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same underlying data services can support no-code, R and Python workflows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t/>
            </a:r>
            <a:endParaRPr sz="1050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4" name="Google Shape;954;p33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3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3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3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958" name="Google Shape;958;p33"/>
          <p:cNvSpPr txBox="1"/>
          <p:nvPr/>
        </p:nvSpPr>
        <p:spPr>
          <a:xfrm>
            <a:off x="647700" y="1726250"/>
            <a:ext cx="4818300" cy="4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1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Virtual Analysis Ready Data</a:t>
            </a:r>
            <a:endParaRPr b="1" sz="2100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huge amount of NetCDF files makes it hard to navigate datasets.</a:t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t/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lang="it-IT" sz="360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⚠</a:t>
            </a: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 Most of the time in data analysis is spent doing the </a:t>
            </a:r>
            <a:r>
              <a:rPr b="1"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boilerplate code</a:t>
            </a: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 required to deal with file systems and large amounts of NetCDF files.</a:t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t/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By adopting </a:t>
            </a:r>
            <a:r>
              <a:rPr b="1"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Analysis Ready Data</a:t>
            </a: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 boilerplate code is reduced significantly, heavily simplifying client applications and user experience.</a:t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t/>
            </a:r>
            <a:endParaRPr b="1"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59" name="Google Shape;959;p33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27</a:t>
            </a:r>
            <a:endParaRPr/>
          </a:p>
        </p:txBody>
      </p:sp>
      <p:pic>
        <p:nvPicPr>
          <p:cNvPr id="960" name="Google Shape;960;p33" title="ncml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6750" y="1540962"/>
            <a:ext cx="6421197" cy="4176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4"/>
          <p:cNvSpPr/>
          <p:nvPr/>
        </p:nvSpPr>
        <p:spPr>
          <a:xfrm>
            <a:off x="647700" y="400050"/>
            <a:ext cx="10839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b="1" lang="it-IT" sz="2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data backbone</a:t>
            </a:r>
            <a:endParaRPr b="1" sz="2025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7" name="Google Shape;967;p34"/>
          <p:cNvSpPr/>
          <p:nvPr/>
        </p:nvSpPr>
        <p:spPr>
          <a:xfrm>
            <a:off x="657225" y="962025"/>
            <a:ext cx="105727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same underlying data services can support no-code, R and Python workflows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t/>
            </a:r>
            <a:endParaRPr sz="1050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68" name="Google Shape;968;p34"/>
          <p:cNvSpPr/>
          <p:nvPr/>
        </p:nvSpPr>
        <p:spPr>
          <a:xfrm>
            <a:off x="647700" y="1295400"/>
            <a:ext cx="108966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4"/>
          <p:cNvSpPr/>
          <p:nvPr/>
        </p:nvSpPr>
        <p:spPr>
          <a:xfrm>
            <a:off x="666750" y="1419225"/>
            <a:ext cx="952500" cy="28575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4"/>
          <p:cNvSpPr/>
          <p:nvPr/>
        </p:nvSpPr>
        <p:spPr>
          <a:xfrm>
            <a:off x="609600" y="6229350"/>
            <a:ext cx="11125200" cy="9525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4"/>
          <p:cNvSpPr/>
          <p:nvPr/>
        </p:nvSpPr>
        <p:spPr>
          <a:xfrm>
            <a:off x="647700" y="6343650"/>
            <a:ext cx="40005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972" name="Google Shape;972;p34"/>
          <p:cNvSpPr/>
          <p:nvPr/>
        </p:nvSpPr>
        <p:spPr>
          <a:xfrm>
            <a:off x="11096625" y="6343650"/>
            <a:ext cx="5238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28</a:t>
            </a:r>
            <a:endParaRPr/>
          </a:p>
        </p:txBody>
      </p:sp>
      <p:sp>
        <p:nvSpPr>
          <p:cNvPr id="973" name="Google Shape;973;p34"/>
          <p:cNvSpPr/>
          <p:nvPr/>
        </p:nvSpPr>
        <p:spPr>
          <a:xfrm>
            <a:off x="666750" y="1790700"/>
            <a:ext cx="3429000" cy="2152650"/>
          </a:xfrm>
          <a:prstGeom prst="rect">
            <a:avLst/>
          </a:prstGeom>
          <a:solidFill>
            <a:srgbClr val="EAF3F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4" name="Google Shape;974;p34"/>
          <p:cNvPicPr preferRelativeResize="0"/>
          <p:nvPr/>
        </p:nvPicPr>
        <p:blipFill rotWithShape="1">
          <a:blip r:embed="rId3">
            <a:alphaModFix/>
          </a:blip>
          <a:srcRect b="6801" l="0" r="0" t="6801"/>
          <a:stretch/>
        </p:blipFill>
        <p:spPr>
          <a:xfrm>
            <a:off x="666750" y="1790700"/>
            <a:ext cx="3429000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34"/>
          <p:cNvSpPr/>
          <p:nvPr/>
        </p:nvSpPr>
        <p:spPr>
          <a:xfrm>
            <a:off x="666750" y="421005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EXPLORE</a:t>
            </a:r>
            <a:endParaRPr/>
          </a:p>
        </p:txBody>
      </p:sp>
      <p:sp>
        <p:nvSpPr>
          <p:cNvPr id="976" name="Google Shape;976;p34"/>
          <p:cNvSpPr/>
          <p:nvPr/>
        </p:nvSpPr>
        <p:spPr>
          <a:xfrm>
            <a:off x="666750" y="4543425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100"/>
              <a:buFont typeface="Lato"/>
              <a:buNone/>
            </a:pPr>
            <a:r>
              <a:rPr b="1" i="0" lang="it-IT" sz="21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Platform</a:t>
            </a:r>
            <a:endParaRPr/>
          </a:p>
        </p:txBody>
      </p:sp>
      <p:sp>
        <p:nvSpPr>
          <p:cNvPr id="977" name="Google Shape;977;p34"/>
          <p:cNvSpPr/>
          <p:nvPr/>
        </p:nvSpPr>
        <p:spPr>
          <a:xfrm>
            <a:off x="666750" y="5019675"/>
            <a:ext cx="3238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Web access for maps and climate-impact information (</a:t>
            </a:r>
            <a:r>
              <a:rPr b="0" i="0" lang="it-IT" sz="1275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https://cavaplatform.fao.org</a:t>
            </a: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/>
          </a:p>
        </p:txBody>
      </p:sp>
      <p:sp>
        <p:nvSpPr>
          <p:cNvPr id="978" name="Google Shape;978;p34"/>
          <p:cNvSpPr/>
          <p:nvPr/>
        </p:nvSpPr>
        <p:spPr>
          <a:xfrm>
            <a:off x="4495800" y="1790700"/>
            <a:ext cx="3124200" cy="2152650"/>
          </a:xfrm>
          <a:prstGeom prst="rect">
            <a:avLst/>
          </a:prstGeom>
          <a:solidFill>
            <a:srgbClr val="1230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4"/>
          <p:cNvSpPr/>
          <p:nvPr/>
        </p:nvSpPr>
        <p:spPr>
          <a:xfrm>
            <a:off x="4762500" y="2009775"/>
            <a:ext cx="25908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Lato"/>
              <a:buNone/>
            </a:pPr>
            <a:r>
              <a:rPr b="1" i="0" lang="it-IT" sz="72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endParaRPr/>
          </a:p>
        </p:txBody>
      </p:sp>
      <p:sp>
        <p:nvSpPr>
          <p:cNvPr id="980" name="Google Shape;980;p34"/>
          <p:cNvSpPr/>
          <p:nvPr/>
        </p:nvSpPr>
        <p:spPr>
          <a:xfrm>
            <a:off x="4762500" y="3200400"/>
            <a:ext cx="25908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Lato"/>
              <a:buNone/>
            </a:pPr>
            <a:r>
              <a:rPr b="1" i="0" lang="it-IT" sz="195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CAVAanalytics</a:t>
            </a:r>
            <a:endParaRPr/>
          </a:p>
        </p:txBody>
      </p:sp>
      <p:sp>
        <p:nvSpPr>
          <p:cNvPr id="981" name="Google Shape;981;p34"/>
          <p:cNvSpPr/>
          <p:nvPr/>
        </p:nvSpPr>
        <p:spPr>
          <a:xfrm>
            <a:off x="4495800" y="42100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83A59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183A59"/>
                </a:solidFill>
                <a:latin typeface="Lato"/>
                <a:ea typeface="Lato"/>
                <a:cs typeface="Lato"/>
                <a:sym typeface="Lato"/>
              </a:rPr>
              <a:t>ANALYSE</a:t>
            </a:r>
            <a:endParaRPr/>
          </a:p>
        </p:txBody>
      </p:sp>
      <p:sp>
        <p:nvSpPr>
          <p:cNvPr id="982" name="Google Shape;982;p34"/>
          <p:cNvSpPr/>
          <p:nvPr/>
        </p:nvSpPr>
        <p:spPr>
          <a:xfrm>
            <a:off x="4495800" y="4543425"/>
            <a:ext cx="2857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100"/>
              <a:buFont typeface="Lato"/>
              <a:buNone/>
            </a:pPr>
            <a:r>
              <a:rPr b="1" i="0" lang="it-IT" sz="21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R workflows</a:t>
            </a:r>
            <a:endParaRPr/>
          </a:p>
        </p:txBody>
      </p:sp>
      <p:sp>
        <p:nvSpPr>
          <p:cNvPr id="983" name="Google Shape;983;p34"/>
          <p:cNvSpPr/>
          <p:nvPr/>
        </p:nvSpPr>
        <p:spPr>
          <a:xfrm>
            <a:off x="4495800" y="5019675"/>
            <a:ext cx="3124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Processing, indicators and visualization (</a:t>
            </a:r>
            <a:r>
              <a:rPr lang="it-IT" sz="1275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https://github.com/un-fao/CAVAanalytics</a:t>
            </a:r>
            <a:r>
              <a:rPr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/>
          </a:p>
        </p:txBody>
      </p:sp>
      <p:sp>
        <p:nvSpPr>
          <p:cNvPr id="984" name="Google Shape;984;p34"/>
          <p:cNvSpPr/>
          <p:nvPr/>
        </p:nvSpPr>
        <p:spPr>
          <a:xfrm>
            <a:off x="8020050" y="1790700"/>
            <a:ext cx="3505200" cy="2152650"/>
          </a:xfrm>
          <a:prstGeom prst="rect">
            <a:avLst/>
          </a:prstGeom>
          <a:solidFill>
            <a:srgbClr val="FFF3D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4"/>
          <p:cNvSpPr/>
          <p:nvPr/>
        </p:nvSpPr>
        <p:spPr>
          <a:xfrm>
            <a:off x="8305800" y="2009775"/>
            <a:ext cx="29337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6150"/>
              <a:buFont typeface="Lato"/>
              <a:buNone/>
            </a:pPr>
            <a:r>
              <a:rPr b="1" lang="it-IT" sz="61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Python</a:t>
            </a:r>
            <a:endParaRPr/>
          </a:p>
        </p:txBody>
      </p:sp>
      <p:sp>
        <p:nvSpPr>
          <p:cNvPr id="986" name="Google Shape;986;p34"/>
          <p:cNvSpPr/>
          <p:nvPr/>
        </p:nvSpPr>
        <p:spPr>
          <a:xfrm>
            <a:off x="8305800" y="3200400"/>
            <a:ext cx="2933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1950"/>
              <a:buFont typeface="Lato"/>
              <a:buNone/>
            </a:pPr>
            <a:r>
              <a:rPr b="1" i="0" lang="it-IT" sz="195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cavapy</a:t>
            </a:r>
            <a:endParaRPr/>
          </a:p>
        </p:txBody>
      </p:sp>
      <p:sp>
        <p:nvSpPr>
          <p:cNvPr id="987" name="Google Shape;987;p34"/>
          <p:cNvSpPr/>
          <p:nvPr/>
        </p:nvSpPr>
        <p:spPr>
          <a:xfrm>
            <a:off x="8020050" y="4210050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050"/>
              <a:buFont typeface="Lato"/>
              <a:buNone/>
            </a:pPr>
            <a:r>
              <a:rPr b="1" i="0" lang="it-IT" sz="105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INTEGRATE</a:t>
            </a:r>
            <a:endParaRPr/>
          </a:p>
        </p:txBody>
      </p:sp>
      <p:sp>
        <p:nvSpPr>
          <p:cNvPr id="988" name="Google Shape;988;p34"/>
          <p:cNvSpPr/>
          <p:nvPr/>
        </p:nvSpPr>
        <p:spPr>
          <a:xfrm>
            <a:off x="8020050" y="4543425"/>
            <a:ext cx="3143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100"/>
              <a:buFont typeface="Lato"/>
              <a:buNone/>
            </a:pPr>
            <a:r>
              <a:rPr b="1" i="0" lang="it-IT" sz="21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Python workflows</a:t>
            </a:r>
            <a:endParaRPr/>
          </a:p>
        </p:txBody>
      </p:sp>
      <p:sp>
        <p:nvSpPr>
          <p:cNvPr id="989" name="Google Shape;989;p34"/>
          <p:cNvSpPr/>
          <p:nvPr/>
        </p:nvSpPr>
        <p:spPr>
          <a:xfrm>
            <a:off x="8020050" y="5019675"/>
            <a:ext cx="32861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Programmatic retrieval, subsetting and processing (</a:t>
            </a:r>
            <a:r>
              <a:rPr b="0" i="0" lang="it-IT" sz="1275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6"/>
              </a:rPr>
              <a:t>https://github.com/un-fao/cavapy</a:t>
            </a:r>
            <a:r>
              <a:rPr b="0" i="0" lang="it-IT" sz="12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35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b="1" lang="it-IT" sz="2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data backbone</a:t>
            </a:r>
            <a:endParaRPr b="1" sz="2025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6" name="Google Shape;996;p35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same underlying data services can support no-code, R and Python workflows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t/>
            </a:r>
            <a:endParaRPr sz="1050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7" name="Google Shape;997;p35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35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5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5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1001" name="Google Shape;1001;p35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29</a:t>
            </a:r>
            <a:endParaRPr/>
          </a:p>
        </p:txBody>
      </p:sp>
      <p:sp>
        <p:nvSpPr>
          <p:cNvPr id="1002" name="Google Shape;1002;p35"/>
          <p:cNvSpPr txBox="1"/>
          <p:nvPr/>
        </p:nvSpPr>
        <p:spPr>
          <a:xfrm>
            <a:off x="647700" y="1726250"/>
            <a:ext cx="4394100" cy="4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1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The CAVA platform</a:t>
            </a:r>
            <a:endParaRPr b="1" sz="2100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Web interface, no coding required - Available at </a:t>
            </a:r>
            <a:r>
              <a:rPr lang="it-IT" sz="1575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https://cavaplatform.fao.org</a:t>
            </a: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t/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Based on CAVA packages, user jobs are submitted to a cloud </a:t>
            </a: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infrastructure managed by IFCA (Cantabria)</a:t>
            </a: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t/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Users are notified by email when their reports are ready to download as PDF files. Data downloads supported in CSV and PNG formats too.</a:t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03" name="Google Shape;1003;p35"/>
          <p:cNvPicPr preferRelativeResize="0"/>
          <p:nvPr/>
        </p:nvPicPr>
        <p:blipFill rotWithShape="1">
          <a:blip r:embed="rId4">
            <a:alphaModFix/>
          </a:blip>
          <a:srcRect b="0" l="0" r="0" t="2487"/>
          <a:stretch/>
        </p:blipFill>
        <p:spPr>
          <a:xfrm>
            <a:off x="5041800" y="1559775"/>
            <a:ext cx="7150276" cy="3738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5625" y="2043201"/>
            <a:ext cx="2986500" cy="320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3"/>
        </a:solidFill>
      </p:bgPr>
    </p:bg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36"/>
          <p:cNvSpPr/>
          <p:nvPr/>
        </p:nvSpPr>
        <p:spPr>
          <a:xfrm>
            <a:off x="647700" y="400050"/>
            <a:ext cx="1083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2304E"/>
              </a:buClr>
              <a:buSzPts val="2025"/>
              <a:buFont typeface="Lato"/>
              <a:buNone/>
            </a:pPr>
            <a:r>
              <a:rPr b="1" lang="it-IT" sz="2025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CAVA data backbone</a:t>
            </a:r>
            <a:endParaRPr b="1" sz="2025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1" name="Google Shape;1011;p36"/>
          <p:cNvSpPr/>
          <p:nvPr/>
        </p:nvSpPr>
        <p:spPr>
          <a:xfrm>
            <a:off x="657225" y="962025"/>
            <a:ext cx="1057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rPr lang="it-IT" sz="10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same underlying data services can support no-code, R and Python workflows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050"/>
              <a:buFont typeface="Lato"/>
              <a:buNone/>
            </a:pPr>
            <a:r>
              <a:t/>
            </a:r>
            <a:endParaRPr sz="1050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2" name="Google Shape;1012;p36"/>
          <p:cNvSpPr/>
          <p:nvPr/>
        </p:nvSpPr>
        <p:spPr>
          <a:xfrm>
            <a:off x="647700" y="1295400"/>
            <a:ext cx="108966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6"/>
          <p:cNvSpPr/>
          <p:nvPr/>
        </p:nvSpPr>
        <p:spPr>
          <a:xfrm>
            <a:off x="666750" y="1419225"/>
            <a:ext cx="952500" cy="28500"/>
          </a:xfrm>
          <a:prstGeom prst="rect">
            <a:avLst/>
          </a:prstGeom>
          <a:solidFill>
            <a:srgbClr val="F2B63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6"/>
          <p:cNvSpPr/>
          <p:nvPr/>
        </p:nvSpPr>
        <p:spPr>
          <a:xfrm>
            <a:off x="609600" y="6229350"/>
            <a:ext cx="11125200" cy="9600"/>
          </a:xfrm>
          <a:prstGeom prst="rect">
            <a:avLst/>
          </a:prstGeom>
          <a:solidFill>
            <a:srgbClr val="DCE5E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6"/>
          <p:cNvSpPr/>
          <p:nvPr/>
        </p:nvSpPr>
        <p:spPr>
          <a:xfrm>
            <a:off x="647700" y="6343650"/>
            <a:ext cx="4000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b="1" i="0"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CAVA MODULE 1</a:t>
            </a:r>
            <a:endParaRPr/>
          </a:p>
        </p:txBody>
      </p:sp>
      <p:sp>
        <p:nvSpPr>
          <p:cNvPr id="1016" name="Google Shape;1016;p36"/>
          <p:cNvSpPr txBox="1"/>
          <p:nvPr/>
        </p:nvSpPr>
        <p:spPr>
          <a:xfrm>
            <a:off x="647700" y="1726250"/>
            <a:ext cx="4818300" cy="42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100">
                <a:solidFill>
                  <a:srgbClr val="12304E"/>
                </a:solidFill>
                <a:latin typeface="Lato"/>
                <a:ea typeface="Lato"/>
                <a:cs typeface="Lato"/>
                <a:sym typeface="Lato"/>
              </a:rPr>
              <a:t>Coming soon - The CAVA datalab</a:t>
            </a:r>
            <a:endParaRPr b="1" sz="2100">
              <a:solidFill>
                <a:srgbClr val="12304E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Single-click analysis-ready programming cloud environments in the browser for everyone.</a:t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t/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The datalab provides freely available computing infrastructures in the cloud required to connect users to the storage infrastructure managed by IFCA (remote data access).</a:t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t/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Still work in progress - Available at </a:t>
            </a:r>
            <a:r>
              <a:rPr lang="it-IT" sz="1575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Github</a:t>
            </a:r>
            <a:r>
              <a:rPr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t/>
            </a:r>
            <a:endParaRPr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1275"/>
              <a:buFont typeface="Lato"/>
              <a:buNone/>
            </a:pPr>
            <a:r>
              <a:rPr lang="it-IT" sz="3600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⚠</a:t>
            </a:r>
            <a:r>
              <a:rPr lang="it-IT" sz="307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it-IT" sz="1575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Coding skills required!</a:t>
            </a:r>
            <a:endParaRPr b="1" sz="1575">
              <a:solidFill>
                <a:srgbClr val="687984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7" name="Google Shape;1017;p36"/>
          <p:cNvSpPr/>
          <p:nvPr/>
        </p:nvSpPr>
        <p:spPr>
          <a:xfrm>
            <a:off x="11096625" y="6343650"/>
            <a:ext cx="523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87984"/>
              </a:buClr>
              <a:buSzPts val="750"/>
              <a:buFont typeface="Lato"/>
              <a:buNone/>
            </a:pPr>
            <a:r>
              <a:rPr lang="it-IT" sz="750">
                <a:solidFill>
                  <a:srgbClr val="687984"/>
                </a:solidFill>
                <a:latin typeface="Lato"/>
                <a:ea typeface="Lato"/>
                <a:cs typeface="Lato"/>
                <a:sym typeface="Lato"/>
              </a:rPr>
              <a:t>21</a:t>
            </a:r>
            <a:endParaRPr/>
          </a:p>
        </p:txBody>
      </p:sp>
      <p:pic>
        <p:nvPicPr>
          <p:cNvPr id="1018" name="Google Shape;101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6075" y="962018"/>
            <a:ext cx="6666301" cy="5475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304E"/>
        </a:soli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37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7"/>
          <p:cNvSpPr/>
          <p:nvPr/>
        </p:nvSpPr>
        <p:spPr>
          <a:xfrm>
            <a:off x="762000" y="895350"/>
            <a:ext cx="81915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25"/>
              <a:buFont typeface="Lato"/>
              <a:buNone/>
            </a:pPr>
            <a:r>
              <a:rPr b="1" i="0" lang="it-IT" sz="32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Questions and discussion</a:t>
            </a:r>
            <a:endParaRPr/>
          </a:p>
        </p:txBody>
      </p:sp>
      <p:sp>
        <p:nvSpPr>
          <p:cNvPr id="1026" name="Google Shape;1026;p37"/>
          <p:cNvSpPr/>
          <p:nvPr/>
        </p:nvSpPr>
        <p:spPr>
          <a:xfrm>
            <a:off x="781050" y="2019300"/>
            <a:ext cx="781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D9E7EE"/>
              </a:buClr>
              <a:buSzPts val="1875"/>
              <a:buFont typeface="Lato"/>
              <a:buNone/>
            </a:pPr>
            <a:r>
              <a:rPr b="0" i="0" lang="it-IT" sz="1875">
                <a:solidFill>
                  <a:srgbClr val="D9E7EE"/>
                </a:solidFill>
                <a:latin typeface="Lato"/>
                <a:ea typeface="Lato"/>
                <a:cs typeface="Lato"/>
                <a:sym typeface="Lato"/>
              </a:rPr>
              <a:t>What remains unclear before we </a:t>
            </a:r>
            <a:r>
              <a:rPr lang="it-IT" sz="1875">
                <a:solidFill>
                  <a:srgbClr val="D9E7EE"/>
                </a:solidFill>
                <a:latin typeface="Lato"/>
                <a:ea typeface="Lato"/>
                <a:cs typeface="Lato"/>
                <a:sym typeface="Lato"/>
              </a:rPr>
              <a:t>progress in the CAVA training tomorrow</a:t>
            </a:r>
            <a:r>
              <a:rPr b="0" i="0" lang="it-IT" sz="1875">
                <a:solidFill>
                  <a:srgbClr val="D9E7EE"/>
                </a:solidFill>
                <a:latin typeface="Lato"/>
                <a:ea typeface="Lato"/>
                <a:cs typeface="Lato"/>
                <a:sym typeface="Lato"/>
              </a:rPr>
              <a:t>?</a:t>
            </a:r>
            <a:endParaRPr/>
          </a:p>
        </p:txBody>
      </p:sp>
      <p:sp>
        <p:nvSpPr>
          <p:cNvPr id="1027" name="Google Shape;1027;p37"/>
          <p:cNvSpPr/>
          <p:nvPr/>
        </p:nvSpPr>
        <p:spPr>
          <a:xfrm>
            <a:off x="781050" y="33718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1028" name="Google Shape;1028;p37"/>
          <p:cNvSpPr/>
          <p:nvPr/>
        </p:nvSpPr>
        <p:spPr>
          <a:xfrm>
            <a:off x="1371600" y="3324225"/>
            <a:ext cx="5334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Data sources and models</a:t>
            </a:r>
            <a:endParaRPr/>
          </a:p>
        </p:txBody>
      </p:sp>
      <p:sp>
        <p:nvSpPr>
          <p:cNvPr id="1029" name="Google Shape;1029;p37"/>
          <p:cNvSpPr/>
          <p:nvPr/>
        </p:nvSpPr>
        <p:spPr>
          <a:xfrm>
            <a:off x="781050" y="39814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1030" name="Google Shape;1030;p37"/>
          <p:cNvSpPr/>
          <p:nvPr/>
        </p:nvSpPr>
        <p:spPr>
          <a:xfrm>
            <a:off x="1371600" y="3933825"/>
            <a:ext cx="5334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Bias correction and ensembles</a:t>
            </a:r>
            <a:endParaRPr/>
          </a:p>
        </p:txBody>
      </p:sp>
      <p:sp>
        <p:nvSpPr>
          <p:cNvPr id="1031" name="Google Shape;1031;p37"/>
          <p:cNvSpPr/>
          <p:nvPr/>
        </p:nvSpPr>
        <p:spPr>
          <a:xfrm>
            <a:off x="781050" y="4591050"/>
            <a:ext cx="419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A88F"/>
              </a:buClr>
              <a:buSzPts val="1200"/>
              <a:buFont typeface="Lato"/>
              <a:buNone/>
            </a:pPr>
            <a:r>
              <a:rPr b="1" i="0" lang="it-IT" sz="1200">
                <a:solidFill>
                  <a:srgbClr val="00A88F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1032" name="Google Shape;1032;p37"/>
          <p:cNvSpPr/>
          <p:nvPr/>
        </p:nvSpPr>
        <p:spPr>
          <a:xfrm>
            <a:off x="1371600" y="4543425"/>
            <a:ext cx="5334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5"/>
              <a:buFont typeface="Lato"/>
              <a:buNone/>
            </a:pPr>
            <a:r>
              <a:rPr b="1" i="0" lang="it-IT" sz="1425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CAVA tools and entry points</a:t>
            </a:r>
            <a:endParaRPr/>
          </a:p>
        </p:txBody>
      </p:sp>
      <p:sp>
        <p:nvSpPr>
          <p:cNvPr id="1033" name="Google Shape;1033;p37"/>
          <p:cNvSpPr/>
          <p:nvPr/>
        </p:nvSpPr>
        <p:spPr>
          <a:xfrm>
            <a:off x="781050" y="5715000"/>
            <a:ext cx="4953000" cy="9525"/>
          </a:xfrm>
          <a:prstGeom prst="rect">
            <a:avLst/>
          </a:prstGeom>
          <a:solidFill>
            <a:srgbClr val="647C8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7"/>
          <p:cNvSpPr/>
          <p:nvPr/>
        </p:nvSpPr>
        <p:spPr>
          <a:xfrm>
            <a:off x="781050" y="5905500"/>
            <a:ext cx="52387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2B632"/>
              </a:buClr>
              <a:buSzPts val="1125"/>
              <a:buFont typeface="Lato"/>
              <a:buNone/>
            </a:pPr>
            <a:r>
              <a:rPr b="1" i="0" lang="it-IT" sz="1125">
                <a:solidFill>
                  <a:srgbClr val="F2B632"/>
                </a:solidFill>
                <a:latin typeface="Lato"/>
                <a:ea typeface="Lato"/>
                <a:cs typeface="Lato"/>
                <a:sym typeface="Lato"/>
              </a:rPr>
              <a:t>Next: Module 2 · Using the CAVA Platform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