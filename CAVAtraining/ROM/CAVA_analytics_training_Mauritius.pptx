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3"/>
  </p:notesMasterIdLst>
  <p:sldIdLst>
    <p:sldId id="556" r:id="rId3"/>
    <p:sldId id="555" r:id="rId4"/>
    <p:sldId id="557" r:id="rId5"/>
    <p:sldId id="542" r:id="rId6"/>
    <p:sldId id="548" r:id="rId7"/>
    <p:sldId id="550" r:id="rId8"/>
    <p:sldId id="551" r:id="rId9"/>
    <p:sldId id="552" r:id="rId10"/>
    <p:sldId id="553" r:id="rId11"/>
    <p:sldId id="543" r:id="rId12"/>
    <p:sldId id="549" r:id="rId13"/>
    <p:sldId id="559" r:id="rId14"/>
    <p:sldId id="544" r:id="rId15"/>
    <p:sldId id="528" r:id="rId16"/>
    <p:sldId id="486" r:id="rId17"/>
    <p:sldId id="536" r:id="rId18"/>
    <p:sldId id="488" r:id="rId19"/>
    <p:sldId id="504" r:id="rId20"/>
    <p:sldId id="505" r:id="rId21"/>
    <p:sldId id="508" r:id="rId22"/>
    <p:sldId id="558" r:id="rId23"/>
    <p:sldId id="489" r:id="rId24"/>
    <p:sldId id="490" r:id="rId25"/>
    <p:sldId id="539" r:id="rId26"/>
    <p:sldId id="535" r:id="rId27"/>
    <p:sldId id="538" r:id="rId28"/>
    <p:sldId id="554" r:id="rId29"/>
    <p:sldId id="545" r:id="rId30"/>
    <p:sldId id="546" r:id="rId31"/>
    <p:sldId id="54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3987" autoAdjust="0"/>
  </p:normalViewPr>
  <p:slideViewPr>
    <p:cSldViewPr snapToGrid="0">
      <p:cViewPr varScale="1">
        <p:scale>
          <a:sx n="61" d="100"/>
          <a:sy n="61" d="100"/>
        </p:scale>
        <p:origin x="15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6D17B-DE85-4665-984B-71D18ED1BA6F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9F5A3-881C-49B2-815F-21435C7131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45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F53A0-AA27-422D-8892-1D17CB3489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06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4E44-022F-5CE0-D492-CF74F7A9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C4AE8C6D-9B7B-80B0-3837-D4DA50C996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10530366-834A-34F4-17CF-7D7E4A954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72768FCF-F704-A03E-9671-59A9DD9E55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879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1B04D-A2D2-C36D-4CB7-C98159CF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91074DB4-6232-001F-8A95-7EA1E939A7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4BE7FA4F-995B-56F7-162E-8783A6EF4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42BDAB25-E9ED-58C8-D8D6-EAB356C3BA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295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45469-5FA0-6D74-A07C-D1BB4B68E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492A3B1A-D132-3153-14A7-41F4DBDC79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6BDD954D-7B7D-5D99-B473-F813D836C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6D9F29D0-768A-9EC5-784B-76CECCCB90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488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24309-151A-725B-BAF6-2976F6E2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CA1C2FF5-5F6D-5394-BCF2-F7CA7CD417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B7E511FF-8CBF-BB14-8DC2-70E97D63A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5D6F6B1A-E073-8712-0F78-C1C2D31CA7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811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D3A2-AA0B-CE7E-DC33-6DE72E0A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26BF2124-277A-157F-3385-A6492EEF2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DF8311C3-91D0-6777-19EC-453785C8F8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E7406C91-9C06-9CD8-802C-CBAC952767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405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43E08-D412-C1B0-B6B1-6AFE3492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6C74553B-9239-3AC8-AE80-E25AC6DA30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1A62B3DC-7A2F-20BE-0E7E-579C469F3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F92E5DD2-10D5-6C4C-3173-A8EA87472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618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676B-3CF6-2FAA-7156-ECF36A7F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AA9F3152-5851-4313-D65D-54F613075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BADD2BEC-B392-9565-F29C-A2C6158F4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A8007481-8D8D-A13A-A1A5-E602669D1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427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0B58-F18E-06DB-9EA4-88B171DC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2CEE4393-3E07-0982-C053-9379FF6AE9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1CBD12DC-8A5D-DC59-C1C2-AEA5961FC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 eaLnBrk="1" hangingPunct="1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7C058D17-20BB-D428-85B4-9CC352279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360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C917-AAE6-F7E7-6EAE-7C5C10C1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DEEC32D6-41D8-B024-5D8F-0A2F842680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63C4DCBC-AD52-67A1-3BD6-9DF8A48D6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3194B6AE-D64A-88D7-3AF5-4726E80EDF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135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E489-9D24-CAD4-7FA0-76017F3F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67C4221A-B72F-AAFA-ACDE-22C0196CF0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C0655691-7D1F-C42A-2059-4EBB770D6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03D2B228-A85E-8DE1-3092-BC3E3A443F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407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7F3B8-9421-55D2-0F16-D7196627F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780D1CD-7205-D3F6-BDAA-D97F1B359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16EF76-5F45-2400-5EB3-923440001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EF8185-743F-ABE8-5610-9011F2B24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740517-BE5B-4B89-9ECE-C103EA1F3C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8611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ABF67-5765-7E1E-7AAA-2F88A77F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1FB56FA2-ADA5-2FB6-27DA-77B2F8A402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883F02E7-6A55-C374-B813-2F0FD4328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83AF9F4F-6E49-1384-A6BC-03A73EDFA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633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2EAF7-61AE-9176-D026-F3517E83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CFA63B60-DE2B-2F57-B55C-AB3B4EAFB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4DAF451F-CC99-3347-80D1-F7F8596858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0A94C8BB-C845-3AAC-CD66-D7F6B41C3D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085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21CD1-0BF7-8576-27AB-0D94415AD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75ABD06E-7988-898B-E265-92FC9C8702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8718A106-D481-3BE7-B29C-E9ED63F99C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Problem with EQM – it doesn’t preserve climate change signal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As the historical bias correction is applied to the future distribution, if the future distribution has a different shape and different bias then the bias correction will eat into the climate change signal.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21EA841B-991A-E02F-FD96-4029CDFD65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814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F82F-6DBE-8142-839B-3925F733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39BB8D7F-8B1E-1763-B9D1-8C2869C1BD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CBB92065-54B8-5BC6-4E1F-E4835E0A0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Lunch break after here</a:t>
            </a:r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24D87CE0-AF10-9F63-EF74-5105D0F31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3739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5F7B-4C07-3880-BB75-92B25F15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E8DE6A-F7C2-174A-3817-028F784DF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CC3957-CD5D-DE0D-1BB0-2EAFEA3B7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510E3E-A64B-798E-B5A2-F02D0A510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740517-BE5B-4B89-9ECE-C103EA1F3C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361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DD8F9-5816-BCB5-23FF-29441CCD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461B1638-8363-72F2-1B5A-1D81F2955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8E7852B5-906F-C3CB-B0EA-BAE80D058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380069C4-ECF9-F409-81A5-C96F6E9F20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244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DC22-6F94-E9EE-D8EB-DC0DA8566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166630C1-BB5B-F98F-131F-8947BF3B79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89FF4C1A-7CEE-C03E-0FEE-F54D1D3DB5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5CBD0B97-2F91-504A-BADC-B9B4DF926F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097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B776-241B-4CAD-8110-0A040A78A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B6309E-13CA-745B-658A-FCA68ECEB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0E7246-21F7-9543-3C81-02E7114A1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43139D-7628-5740-73BB-266C2B9E7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740517-BE5B-4B89-9ECE-C103EA1F3C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7723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36EF-57FE-D7B7-A45F-0736A17B9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661B21-A80F-EEF6-556A-5F978B8D3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91AF675-8032-5B27-DA21-4D957F8AD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13032D-638D-A6A4-0E16-076BC235E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740517-BE5B-4B89-9ECE-C103EA1F3C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3168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4EE6D-25EF-1B37-7585-50395080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CBC1EB-1698-4ECB-C796-D6456785D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056646-04EE-AB4E-BBD1-E9BE9BDCD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C5C5C9-73BC-C905-0251-1BF1001D0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740517-BE5B-4B89-9ECE-C103EA1F3C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71450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EBBFE-C010-E043-358A-21B1179D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Marcador de imagen de diapositiva 1">
            <a:extLst>
              <a:ext uri="{FF2B5EF4-FFF2-40B4-BE49-F238E27FC236}">
                <a16:creationId xmlns:a16="http://schemas.microsoft.com/office/drawing/2014/main" id="{E2EFFA5E-AFC8-2BE5-8848-75546E37B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Marcador de notas 2">
            <a:extLst>
              <a:ext uri="{FF2B5EF4-FFF2-40B4-BE49-F238E27FC236}">
                <a16:creationId xmlns:a16="http://schemas.microsoft.com/office/drawing/2014/main" id="{16DF4AFC-9036-82BD-2073-D8E9F1460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Marcador de número de diapositiva 3">
            <a:extLst>
              <a:ext uri="{FF2B5EF4-FFF2-40B4-BE49-F238E27FC236}">
                <a16:creationId xmlns:a16="http://schemas.microsoft.com/office/drawing/2014/main" id="{81F104AD-73EB-BCB3-FF8E-8FFEC0D7DF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50E437-E673-4D15-A640-1C86239C42DB}" type="slidenum">
              <a:rPr kumimoji="0" lang="es-E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E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527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FAA8-13F9-93D0-5D6E-029E5633F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CF570-0697-959D-A988-801B433E7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273D3-6552-4AE4-27B4-95663BC3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4D5C-FDD9-475C-3ECD-A16AF8C4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39EB4-52A2-1351-222E-BD7F5011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044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B94C-90F5-34F2-966F-99FB8BD5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FE66-41C0-8B73-0AAA-51ACE1C4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9413-CFAB-9B55-805B-8C7298FA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4A3BB-5816-B489-A249-24301B1E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63345-1AEE-5BA7-BFF5-89BAD828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52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F2E2-6770-2362-D0F3-FEAA3221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46FFB-0852-DFDC-7B39-230EE6C96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751A2-72B7-A140-CF7E-40CA2ED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F2282-4CAF-6EE5-C067-2C1FD9F6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B3EC-459B-79C4-4DA5-607AD881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36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A788-843E-9801-7D59-A8A0F631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69E1-3E37-4560-357A-636C26C5D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99C9B-977A-79CB-A89B-623789937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0D88C-9F6E-DD97-62A3-CEE25947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38CA1-86AC-0867-FBF7-F6C753AC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FCCCF-066C-7E82-12F1-C5A7B3AC8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84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52E17-AA1F-D9D5-97DB-A81A2E59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5C480-5963-DBBB-E018-21758CBAD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37B52-1B9C-8150-191C-AD66FE8A7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38BD0-EF2C-EB6C-F941-E952E18A4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2CA6E3-4667-58E9-831D-E83666D8A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7156E-4934-CE6B-9DD4-8F7EDA82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7D930-A952-910A-1079-E9974CD7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8CCA52-9666-514F-4509-2A16DF59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36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44FA4-50A1-ADA7-F1CA-992CDEE1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E69DA-B3F2-FEF1-52CC-214E7EA1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8B2A1-ECED-C113-201A-1D7C7F452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E1B45-2243-9145-9359-DC3056870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7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ACC40-A114-9863-FD6B-8149A3E8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20644-DF18-3B3B-299B-4FF59570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13870-5F6C-25AE-F31A-E6048F26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96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56B7-27FA-A173-3151-C77FA8841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8BD48-240E-E4A3-81EA-3A2694A9F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68C3B-DE75-A80A-DDA5-116FC1B22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FE0F6-1436-079F-1411-8A9CA15F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59218-70FD-4D3C-E64B-D58933CEB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164C9-39EC-3A35-E378-3F2C552FE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22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C14D-2344-E419-30A3-F3909838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B76E63-9E4C-3A84-8B55-8C75E022E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DE6AD-D120-B788-B32C-3397D75AB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4F1DE-00CE-97F3-D91B-B3D84AF9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E2066-820E-95D9-787F-FEFC79AF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4F2C7-C7F1-5711-74BD-8DAD9F51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40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843A-EAC8-6E84-84EB-746BCCD0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61CC6-4D85-479C-034A-831DE3863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568E2-69E9-9978-34EB-379788F75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7EA44-B876-B653-3F81-FBF3B5883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2EFA-5CE5-D9B7-B189-66306505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77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229811-9FE3-8EF7-47A8-6009CFF37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F0579-15F3-61FC-1955-1A457DBC3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0E301-1874-0A61-9214-FA4EF00FF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62F4B-A959-5BE8-5971-FA76B83A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6F19E-1E00-1F2B-D0A4-3E9546B7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258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7895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B94C-90F5-34F2-966F-99FB8BD5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FE66-41C0-8B73-0AAA-51ACE1C4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19413-CFAB-9B55-805B-8C7298FA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4A3BB-5816-B489-A249-24301B1E7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63345-1AEE-5BA7-BFF5-89BAD828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841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ACC40-A114-9863-FD6B-8149A3E81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20644-DF18-3B3B-299B-4FF59570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13870-5F6C-25AE-F31A-E6048F26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920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A560B-ADBA-D73C-DD89-9586AA223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FE077-654B-1C89-444B-21BDCBE57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7D8D3-98F6-67BF-2459-AC05F0376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856C7-002B-4212-8DF8-A33B71E5E005}" type="datetimeFigureOut">
              <a:rPr lang="en-GB" smtClean="0"/>
              <a:t>22/10/2026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D0FD4-810B-5FFD-5260-ACC1AA522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088B4-678C-601D-9EE4-21F9BF0D9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E277E-1DE4-46D4-AA32-4AA251FAB7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24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16914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k-Team/trainings/tree/main/CAVAtraining/R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e.tl/t-SguJFbJOtDFwfi6G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bin/windows/base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oracle.com/java/technologies/downloads/#jdk27-windows" TargetMode="External"/><Relationship Id="rId5" Type="http://schemas.openxmlformats.org/officeDocument/2006/relationships/hyperlink" Target="https://cran.r-project.org/bin/windows/Rtools/" TargetMode="External"/><Relationship Id="rId4" Type="http://schemas.openxmlformats.org/officeDocument/2006/relationships/hyperlink" Target="https://posit.co/download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ml.noaa.gov/ccgg/trends/" TargetMode="Externa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un-fao.github.io/CAVAanalytics/articles/Introduction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7767" y="0"/>
              <a:ext cx="5674233" cy="50754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" y="0"/>
              <a:ext cx="6517766" cy="190815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4479" y="2224194"/>
            <a:ext cx="5674233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GB" sz="2800" dirty="0">
                <a:solidFill>
                  <a:schemeClr val="bg1"/>
                </a:solidFill>
              </a:rPr>
              <a:t>CAVA Analytics training for Mauritius Meteorological Service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9200" y="4009898"/>
            <a:ext cx="3808729" cy="746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i="1" dirty="0">
                <a:solidFill>
                  <a:srgbClr val="FFFFFF"/>
                </a:solidFill>
                <a:latin typeface="Trebuchet MS"/>
                <a:cs typeface="Trebuchet MS"/>
              </a:rPr>
              <a:t>22</a:t>
            </a:r>
            <a:r>
              <a:rPr lang="en-US" b="1" i="1" baseline="30000" dirty="0">
                <a:solidFill>
                  <a:srgbClr val="FFFFFF"/>
                </a:solidFill>
                <a:latin typeface="Trebuchet MS"/>
                <a:cs typeface="Trebuchet MS"/>
              </a:rPr>
              <a:t>nd</a:t>
            </a:r>
            <a:r>
              <a:rPr lang="en-US" b="1" i="1" dirty="0">
                <a:solidFill>
                  <a:srgbClr val="FFFFFF"/>
                </a:solidFill>
                <a:latin typeface="Trebuchet MS"/>
                <a:cs typeface="Trebuchet MS"/>
              </a:rPr>
              <a:t> O</a:t>
            </a:r>
            <a:r>
              <a:rPr lang="en-US" sz="1800" b="1" i="1" dirty="0">
                <a:solidFill>
                  <a:srgbClr val="FFFFFF"/>
                </a:solidFill>
                <a:latin typeface="Trebuchet MS"/>
                <a:cs typeface="Trebuchet MS"/>
              </a:rPr>
              <a:t>ctober 2026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EDD2A26-CE60-2397-13B7-75D7E94E7541}"/>
              </a:ext>
            </a:extLst>
          </p:cNvPr>
          <p:cNvSpPr txBox="1"/>
          <p:nvPr/>
        </p:nvSpPr>
        <p:spPr>
          <a:xfrm>
            <a:off x="7411623" y="5282032"/>
            <a:ext cx="5007610" cy="144911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 marR="742315">
              <a:spcBef>
                <a:spcPts val="100"/>
              </a:spcBef>
            </a:pPr>
            <a:r>
              <a:rPr lang="en-US" sz="1500" b="1">
                <a:solidFill>
                  <a:srgbClr val="FFFFFF"/>
                </a:solidFill>
                <a:latin typeface="Trebuchet MS"/>
                <a:cs typeface="Trebuchet MS"/>
              </a:rPr>
              <a:t>Samuel Greenrod</a:t>
            </a:r>
          </a:p>
          <a:p>
            <a:pPr algn="l"/>
            <a:r>
              <a:rPr lang="en-US" sz="1500" spc="-10">
                <a:solidFill>
                  <a:schemeClr val="bg1"/>
                </a:solidFill>
                <a:latin typeface="Trebuchet MS"/>
                <a:cs typeface="Trebuchet MS"/>
              </a:rPr>
              <a:t>Climate Risk Specialist – samuel.greenrod@fao.org</a:t>
            </a:r>
          </a:p>
          <a:p>
            <a:pPr marL="12700" marR="742315">
              <a:lnSpc>
                <a:spcPct val="100000"/>
              </a:lnSpc>
              <a:spcBef>
                <a:spcPts val="100"/>
              </a:spcBef>
            </a:pPr>
            <a:endParaRPr sz="1500" spc="-10">
              <a:solidFill>
                <a:srgbClr val="FFFFFF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1500">
              <a:latin typeface="Trebuchet MS"/>
              <a:cs typeface="Trebuchet MS"/>
            </a:endParaRPr>
          </a:p>
          <a:p>
            <a:pPr>
              <a:spcBef>
                <a:spcPts val="55"/>
              </a:spcBef>
            </a:pPr>
            <a:r>
              <a:rPr lang="en-US" sz="1500" b="1">
                <a:solidFill>
                  <a:schemeClr val="bg1"/>
                </a:solidFill>
                <a:latin typeface="Trebuchet MS"/>
              </a:rPr>
              <a:t>Andrea Setti</a:t>
            </a:r>
            <a:endParaRPr lang="en-US"/>
          </a:p>
          <a:p>
            <a:pPr marL="228600" indent="-228600">
              <a:spcBef>
                <a:spcPts val="55"/>
              </a:spcBef>
            </a:pPr>
            <a:r>
              <a:rPr lang="en-US" sz="1500">
                <a:solidFill>
                  <a:schemeClr val="bg1"/>
                </a:solidFill>
                <a:latin typeface="Trebuchet MS"/>
                <a:cs typeface="Trebuchet MS"/>
              </a:rPr>
              <a:t>Climate Risk Specialist – andrea.setti@fao.org</a:t>
            </a:r>
            <a:endParaRPr sz="150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E68576-45C4-A6FD-BE8B-4997C3BB22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741" t="5357" r="15108" b="44048"/>
          <a:stretch>
            <a:fillRect/>
          </a:stretch>
        </p:blipFill>
        <p:spPr>
          <a:xfrm>
            <a:off x="6556445" y="6097678"/>
            <a:ext cx="756112" cy="755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C5E403-DF2F-E8BE-33E7-7217F47F5C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1538" b="-1563"/>
          <a:stretch>
            <a:fillRect/>
          </a:stretch>
        </p:blipFill>
        <p:spPr>
          <a:xfrm>
            <a:off x="6569729" y="5207374"/>
            <a:ext cx="744708" cy="7352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DA5CD-9B8D-DFEB-27AF-4AA4F3AE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F8C624E6-6FAF-306C-C339-F25CAF982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E2687F43-D375-7136-66B7-6F91C5C5E43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557DBD-9ABB-F3E2-8FE5-A85D5425F441}"/>
              </a:ext>
            </a:extLst>
          </p:cNvPr>
          <p:cNvSpPr txBox="1">
            <a:spLocks/>
          </p:cNvSpPr>
          <p:nvPr/>
        </p:nvSpPr>
        <p:spPr>
          <a:xfrm>
            <a:off x="838200" y="1491329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GB" dirty="0"/>
              <a:t>Accessing climate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CAVA Analytics installation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Understanding climate data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CAVA Analytics tutorial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CAVA Analytics demonstration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Hands-on exercise</a:t>
            </a:r>
          </a:p>
        </p:txBody>
      </p:sp>
    </p:spTree>
    <p:extLst>
      <p:ext uri="{BB962C8B-B14F-4D97-AF65-F5344CB8AC3E}">
        <p14:creationId xmlns:p14="http://schemas.microsoft.com/office/powerpoint/2010/main" val="110512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>
            <a:extLst>
              <a:ext uri="{FF2B5EF4-FFF2-40B4-BE49-F238E27FC236}">
                <a16:creationId xmlns:a16="http://schemas.microsoft.com/office/drawing/2014/main" id="{CE3F2C62-C7BB-2F9D-FEDE-D770A2626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74C6D-57A7-A563-D4E6-7CAD5244B470}"/>
              </a:ext>
            </a:extLst>
          </p:cNvPr>
          <p:cNvSpPr txBox="1">
            <a:spLocks noChangeArrowheads="1"/>
          </p:cNvSpPr>
          <p:nvPr/>
        </p:nvSpPr>
        <p:spPr>
          <a:xfrm>
            <a:off x="411163" y="217273"/>
            <a:ext cx="11156950" cy="546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Use of MMS data in climate risk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832695-09B7-3826-92F8-48C8CA8DE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3301" y="1205856"/>
            <a:ext cx="2321280" cy="290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CFE93C-AEF0-E870-7C6F-31AE914E9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4525" y="1206762"/>
            <a:ext cx="2320555" cy="29006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76F125-8C43-F260-0264-8B393A56F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6"/>
          <a:stretch>
            <a:fillRect/>
          </a:stretch>
        </p:blipFill>
        <p:spPr>
          <a:xfrm>
            <a:off x="6951409" y="4432249"/>
            <a:ext cx="2453427" cy="21600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234D38-4C0B-8389-6045-51F50F0D90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627" y="4259036"/>
            <a:ext cx="1985976" cy="2482470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84E5146-6FB9-F9CD-EA5F-D6A162CA4687}"/>
              </a:ext>
            </a:extLst>
          </p:cNvPr>
          <p:cNvSpPr txBox="1">
            <a:spLocks/>
          </p:cNvSpPr>
          <p:nvPr/>
        </p:nvSpPr>
        <p:spPr>
          <a:xfrm>
            <a:off x="758180" y="1428486"/>
            <a:ext cx="589812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MMS station data was used in two ways:</a:t>
            </a:r>
          </a:p>
          <a:p>
            <a:pPr marL="514350" indent="-514350">
              <a:buAutoNum type="arabicParenR"/>
            </a:pPr>
            <a:r>
              <a:rPr lang="en-GB" sz="2400" dirty="0"/>
              <a:t>Direct analysis of station data</a:t>
            </a:r>
          </a:p>
          <a:p>
            <a:pPr marL="514350" indent="-514350">
              <a:buAutoNum type="arabicParenR"/>
            </a:pPr>
            <a:r>
              <a:rPr lang="en-GB" sz="2400" dirty="0"/>
              <a:t>Bias-correction of CHELSA v2.1 1km</a:t>
            </a:r>
            <a:r>
              <a:rPr lang="en-GB" sz="2400" baseline="30000" dirty="0"/>
              <a:t>2</a:t>
            </a:r>
            <a:r>
              <a:rPr lang="en-GB" sz="2400" dirty="0"/>
              <a:t> daily historical dataset (1981-2020)</a:t>
            </a:r>
          </a:p>
          <a:p>
            <a:pPr marL="514350" indent="-514350">
              <a:buAutoNum type="arabicParenR"/>
            </a:pPr>
            <a:r>
              <a:rPr lang="en-GB" sz="2400" dirty="0"/>
              <a:t>Benchmarking of bias-corrected dataset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E55DF3-F6FF-8B59-F4F6-0F68BE7E5B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5" b="55157"/>
          <a:stretch>
            <a:fillRect/>
          </a:stretch>
        </p:blipFill>
        <p:spPr>
          <a:xfrm>
            <a:off x="1093109" y="4432249"/>
            <a:ext cx="2455200" cy="15941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84837E-8DBC-6BCF-D626-9BF204D306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8" t="45154"/>
          <a:stretch>
            <a:fillRect/>
          </a:stretch>
        </p:blipFill>
        <p:spPr>
          <a:xfrm>
            <a:off x="3790543" y="4432249"/>
            <a:ext cx="2453427" cy="19467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56AD49-5CA0-1DBA-A885-29DE721D3E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8" t="86495"/>
          <a:stretch>
            <a:fillRect/>
          </a:stretch>
        </p:blipFill>
        <p:spPr>
          <a:xfrm>
            <a:off x="1093109" y="5919346"/>
            <a:ext cx="2453427" cy="47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5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1E2DF-0779-90CA-CF29-A912AFC6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BFD64D-D4E1-C21D-259C-2FE0C73773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CBBD9BB2-193A-87E8-94AE-705D5DDB733F}"/>
              </a:ext>
            </a:extLst>
          </p:cNvPr>
          <p:cNvSpPr txBox="1">
            <a:spLocks/>
          </p:cNvSpPr>
          <p:nvPr/>
        </p:nvSpPr>
        <p:spPr>
          <a:xfrm>
            <a:off x="1108668" y="1532374"/>
            <a:ext cx="10363200" cy="2254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SECTION 1: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b="1" dirty="0"/>
          </a:p>
          <a:p>
            <a:pPr marL="12700" lvl="0">
              <a:spcBef>
                <a:spcPts val="100"/>
              </a:spcBef>
              <a:defRPr/>
            </a:pPr>
            <a:r>
              <a:rPr lang="en-GB" sz="4800" dirty="0"/>
              <a:t>Accessing climate data</a:t>
            </a:r>
            <a:endParaRPr kumimoji="0" lang="en-US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8707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9A65A-6E2D-B341-B608-16AE42A4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A5BFE9DC-04E7-C8F6-722A-EF2B8C310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E4B7A80F-90A0-F040-E444-8B29552BE0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Where climate information is found today</a:t>
            </a:r>
          </a:p>
        </p:txBody>
      </p:sp>
      <p:sp>
        <p:nvSpPr>
          <p:cNvPr id="3" name="Google Shape;669;p23">
            <a:extLst>
              <a:ext uri="{FF2B5EF4-FFF2-40B4-BE49-F238E27FC236}">
                <a16:creationId xmlns:a16="http://schemas.microsoft.com/office/drawing/2014/main" id="{E03EBF3A-440C-925B-0E4D-764EE819D485}"/>
              </a:ext>
            </a:extLst>
          </p:cNvPr>
          <p:cNvSpPr/>
          <p:nvPr/>
        </p:nvSpPr>
        <p:spPr>
          <a:xfrm>
            <a:off x="1944059" y="1809750"/>
            <a:ext cx="666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550"/>
              <a:buFont typeface="Lato"/>
              <a:buNone/>
            </a:pPr>
            <a:r>
              <a:rPr lang="it-IT" sz="2550" b="1" i="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9" name="Google Shape;670;p23">
            <a:extLst>
              <a:ext uri="{FF2B5EF4-FFF2-40B4-BE49-F238E27FC236}">
                <a16:creationId xmlns:a16="http://schemas.microsoft.com/office/drawing/2014/main" id="{EDB00CC3-F5BD-2621-CA86-AD4A607C3942}"/>
              </a:ext>
            </a:extLst>
          </p:cNvPr>
          <p:cNvSpPr/>
          <p:nvPr/>
        </p:nvSpPr>
        <p:spPr>
          <a:xfrm>
            <a:off x="2667959" y="1905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900"/>
              <a:buFont typeface="Lato"/>
              <a:buNone/>
            </a:pPr>
            <a:r>
              <a:rPr lang="it-IT" sz="1600" b="1" i="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WEB PORTALS</a:t>
            </a:r>
            <a:endParaRPr sz="2100"/>
          </a:p>
        </p:txBody>
      </p:sp>
      <p:sp>
        <p:nvSpPr>
          <p:cNvPr id="12" name="Google Shape;671;p23">
            <a:extLst>
              <a:ext uri="{FF2B5EF4-FFF2-40B4-BE49-F238E27FC236}">
                <a16:creationId xmlns:a16="http://schemas.microsoft.com/office/drawing/2014/main" id="{7E454E27-67D5-6D39-CFDC-CA0388155759}"/>
              </a:ext>
            </a:extLst>
          </p:cNvPr>
          <p:cNvSpPr/>
          <p:nvPr/>
        </p:nvSpPr>
        <p:spPr>
          <a:xfrm>
            <a:off x="1944059" y="4076813"/>
            <a:ext cx="2857500" cy="28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672;p23">
            <a:extLst>
              <a:ext uri="{FF2B5EF4-FFF2-40B4-BE49-F238E27FC236}">
                <a16:creationId xmlns:a16="http://schemas.microsoft.com/office/drawing/2014/main" id="{E750B16C-EC2C-24C1-FF80-402F9E0C6FEC}"/>
              </a:ext>
            </a:extLst>
          </p:cNvPr>
          <p:cNvSpPr/>
          <p:nvPr/>
        </p:nvSpPr>
        <p:spPr>
          <a:xfrm>
            <a:off x="1944059" y="4362563"/>
            <a:ext cx="2857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lang="it-IT" sz="1350" b="0" i="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Copernicus Climate Data Store</a:t>
            </a:r>
            <a:endParaRPr/>
          </a:p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endParaRPr/>
          </a:p>
        </p:txBody>
      </p:sp>
      <p:sp>
        <p:nvSpPr>
          <p:cNvPr id="16" name="Google Shape;673;p23">
            <a:extLst>
              <a:ext uri="{FF2B5EF4-FFF2-40B4-BE49-F238E27FC236}">
                <a16:creationId xmlns:a16="http://schemas.microsoft.com/office/drawing/2014/main" id="{B7A70F3B-7307-BD18-534B-7E74DE94554C}"/>
              </a:ext>
            </a:extLst>
          </p:cNvPr>
          <p:cNvSpPr/>
          <p:nvPr/>
        </p:nvSpPr>
        <p:spPr>
          <a:xfrm>
            <a:off x="6337757" y="1809750"/>
            <a:ext cx="9600" cy="27243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74;p23">
            <a:extLst>
              <a:ext uri="{FF2B5EF4-FFF2-40B4-BE49-F238E27FC236}">
                <a16:creationId xmlns:a16="http://schemas.microsoft.com/office/drawing/2014/main" id="{A19E1257-7591-71B3-839E-B913AD2FED22}"/>
              </a:ext>
            </a:extLst>
          </p:cNvPr>
          <p:cNvSpPr/>
          <p:nvPr/>
        </p:nvSpPr>
        <p:spPr>
          <a:xfrm>
            <a:off x="6775907" y="1809750"/>
            <a:ext cx="666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2550"/>
              <a:buFont typeface="Lato"/>
              <a:buNone/>
            </a:pPr>
            <a:r>
              <a:rPr lang="it-IT" sz="2550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20" name="Google Shape;675;p23">
            <a:extLst>
              <a:ext uri="{FF2B5EF4-FFF2-40B4-BE49-F238E27FC236}">
                <a16:creationId xmlns:a16="http://schemas.microsoft.com/office/drawing/2014/main" id="{0B2CDEFC-E66A-F52F-FD69-EDC001D74E4E}"/>
              </a:ext>
            </a:extLst>
          </p:cNvPr>
          <p:cNvSpPr/>
          <p:nvPr/>
        </p:nvSpPr>
        <p:spPr>
          <a:xfrm>
            <a:off x="7499807" y="1905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00"/>
              <a:buFont typeface="Lato"/>
              <a:buNone/>
            </a:pPr>
            <a:r>
              <a:rPr lang="it-IT" sz="1500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DISTRIBUTED ARCHIVES</a:t>
            </a:r>
            <a:endParaRPr sz="1500"/>
          </a:p>
        </p:txBody>
      </p:sp>
      <p:sp>
        <p:nvSpPr>
          <p:cNvPr id="22" name="Google Shape;676;p23">
            <a:extLst>
              <a:ext uri="{FF2B5EF4-FFF2-40B4-BE49-F238E27FC236}">
                <a16:creationId xmlns:a16="http://schemas.microsoft.com/office/drawing/2014/main" id="{885B10CF-3617-2BC5-C885-27FFEAB1895D}"/>
              </a:ext>
            </a:extLst>
          </p:cNvPr>
          <p:cNvSpPr/>
          <p:nvPr/>
        </p:nvSpPr>
        <p:spPr>
          <a:xfrm>
            <a:off x="6775907" y="4091025"/>
            <a:ext cx="2857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677;p23">
            <a:extLst>
              <a:ext uri="{FF2B5EF4-FFF2-40B4-BE49-F238E27FC236}">
                <a16:creationId xmlns:a16="http://schemas.microsoft.com/office/drawing/2014/main" id="{402D7EB1-421B-8CDC-D5BC-0372B5210D88}"/>
              </a:ext>
            </a:extLst>
          </p:cNvPr>
          <p:cNvSpPr/>
          <p:nvPr/>
        </p:nvSpPr>
        <p:spPr>
          <a:xfrm>
            <a:off x="6775907" y="4376775"/>
            <a:ext cx="2857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lang="it-IT" sz="1350" b="0" i="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ESGF data nodes</a:t>
            </a:r>
            <a:endParaRPr/>
          </a:p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lang="it-IT" sz="1350" b="0" i="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Institutional repositories</a:t>
            </a:r>
            <a:endParaRPr/>
          </a:p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lang="it-IT" sz="1350" b="0" i="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Files organised by experiment</a:t>
            </a:r>
            <a:endParaRPr/>
          </a:p>
        </p:txBody>
      </p:sp>
      <p:sp>
        <p:nvSpPr>
          <p:cNvPr id="26" name="Google Shape;678;p23">
            <a:extLst>
              <a:ext uri="{FF2B5EF4-FFF2-40B4-BE49-F238E27FC236}">
                <a16:creationId xmlns:a16="http://schemas.microsoft.com/office/drawing/2014/main" id="{EDB36DD7-D1DB-4F7E-95B0-5828FFCA407A}"/>
              </a:ext>
            </a:extLst>
          </p:cNvPr>
          <p:cNvSpPr/>
          <p:nvPr/>
        </p:nvSpPr>
        <p:spPr>
          <a:xfrm>
            <a:off x="858479" y="5500988"/>
            <a:ext cx="10287000" cy="66690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679;p23">
            <a:extLst>
              <a:ext uri="{FF2B5EF4-FFF2-40B4-BE49-F238E27FC236}">
                <a16:creationId xmlns:a16="http://schemas.microsoft.com/office/drawing/2014/main" id="{1DED94E2-27E8-2297-3888-4C732AE5B702}"/>
              </a:ext>
            </a:extLst>
          </p:cNvPr>
          <p:cNvSpPr/>
          <p:nvPr/>
        </p:nvSpPr>
        <p:spPr>
          <a:xfrm>
            <a:off x="1144229" y="5681963"/>
            <a:ext cx="2428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lang="it-IT" sz="1725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data exist</a:t>
            </a:r>
            <a:endParaRPr/>
          </a:p>
        </p:txBody>
      </p:sp>
      <p:sp>
        <p:nvSpPr>
          <p:cNvPr id="30" name="Google Shape;680;p23">
            <a:extLst>
              <a:ext uri="{FF2B5EF4-FFF2-40B4-BE49-F238E27FC236}">
                <a16:creationId xmlns:a16="http://schemas.microsoft.com/office/drawing/2014/main" id="{24B5F439-EDD1-24C3-7EB6-98FF24F24C31}"/>
              </a:ext>
            </a:extLst>
          </p:cNvPr>
          <p:cNvSpPr/>
          <p:nvPr/>
        </p:nvSpPr>
        <p:spPr>
          <a:xfrm>
            <a:off x="3801704" y="5672438"/>
            <a:ext cx="704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lang="it-IT" sz="1350" b="0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Access patterns, accounts and request methods vary by source.</a:t>
            </a:r>
            <a:endParaRPr/>
          </a:p>
        </p:txBody>
      </p:sp>
      <p:pic>
        <p:nvPicPr>
          <p:cNvPr id="32" name="Picture 31" descr="Copernicus Climate Data Store (CDS) – Online Training Courses - Met Éireann - The Irish Meteorological Service">
            <a:extLst>
              <a:ext uri="{FF2B5EF4-FFF2-40B4-BE49-F238E27FC236}">
                <a16:creationId xmlns:a16="http://schemas.microsoft.com/office/drawing/2014/main" id="{BB540736-D79A-3EFF-182E-3A65A5DD3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059" y="2514901"/>
            <a:ext cx="2857500" cy="14859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5BB6C0E-9BBB-CFE0-F8FA-E5F248099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755" y="2457173"/>
            <a:ext cx="2359804" cy="16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3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9F77-1172-E035-7427-B7C4C12EF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C7F6395E-1601-6893-8A24-7FD97171C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C1280D68-E991-34AF-03E6-407C1D394E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 climate-data request becomes a workflow</a:t>
            </a:r>
          </a:p>
        </p:txBody>
      </p:sp>
      <p:sp>
        <p:nvSpPr>
          <p:cNvPr id="4" name="Google Shape;694;p24">
            <a:extLst>
              <a:ext uri="{FF2B5EF4-FFF2-40B4-BE49-F238E27FC236}">
                <a16:creationId xmlns:a16="http://schemas.microsoft.com/office/drawing/2014/main" id="{11E0599B-E942-4672-73C4-DAF55E00A702}"/>
              </a:ext>
            </a:extLst>
          </p:cNvPr>
          <p:cNvSpPr/>
          <p:nvPr/>
        </p:nvSpPr>
        <p:spPr>
          <a:xfrm>
            <a:off x="1666395" y="1809750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lang="it-IT" sz="1050" b="1" i="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DISCOVER</a:t>
            </a:r>
            <a:endParaRPr/>
          </a:p>
        </p:txBody>
      </p:sp>
      <p:sp>
        <p:nvSpPr>
          <p:cNvPr id="6" name="Google Shape;695;p24">
            <a:extLst>
              <a:ext uri="{FF2B5EF4-FFF2-40B4-BE49-F238E27FC236}">
                <a16:creationId xmlns:a16="http://schemas.microsoft.com/office/drawing/2014/main" id="{6E4D9DA0-62D1-6D63-B447-D10F36A27C15}"/>
              </a:ext>
            </a:extLst>
          </p:cNvPr>
          <p:cNvSpPr/>
          <p:nvPr/>
        </p:nvSpPr>
        <p:spPr>
          <a:xfrm>
            <a:off x="1666395" y="2152650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lang="it-IT" sz="1275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Find the relevant catalogue or service</a:t>
            </a:r>
            <a:endParaRPr/>
          </a:p>
        </p:txBody>
      </p:sp>
      <p:sp>
        <p:nvSpPr>
          <p:cNvPr id="8" name="Google Shape;696;p24">
            <a:extLst>
              <a:ext uri="{FF2B5EF4-FFF2-40B4-BE49-F238E27FC236}">
                <a16:creationId xmlns:a16="http://schemas.microsoft.com/office/drawing/2014/main" id="{9BBC53A4-8D3A-10A5-5736-CCB610555FA6}"/>
              </a:ext>
            </a:extLst>
          </p:cNvPr>
          <p:cNvSpPr/>
          <p:nvPr/>
        </p:nvSpPr>
        <p:spPr>
          <a:xfrm>
            <a:off x="3399945" y="4143375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lang="it-IT" sz="1275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Choose dataset, model, scenario, variable and period</a:t>
            </a:r>
            <a:endParaRPr/>
          </a:p>
        </p:txBody>
      </p:sp>
      <p:sp>
        <p:nvSpPr>
          <p:cNvPr id="11" name="Google Shape;697;p24">
            <a:extLst>
              <a:ext uri="{FF2B5EF4-FFF2-40B4-BE49-F238E27FC236}">
                <a16:creationId xmlns:a16="http://schemas.microsoft.com/office/drawing/2014/main" id="{B4BB5D51-3889-8F93-0558-B664AEA07FC9}"/>
              </a:ext>
            </a:extLst>
          </p:cNvPr>
          <p:cNvSpPr/>
          <p:nvPr/>
        </p:nvSpPr>
        <p:spPr>
          <a:xfrm>
            <a:off x="5133495" y="1809750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lang="it-IT" sz="1050" b="1" i="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REQUEST</a:t>
            </a:r>
            <a:endParaRPr/>
          </a:p>
        </p:txBody>
      </p:sp>
      <p:sp>
        <p:nvSpPr>
          <p:cNvPr id="15" name="Google Shape;698;p24">
            <a:extLst>
              <a:ext uri="{FF2B5EF4-FFF2-40B4-BE49-F238E27FC236}">
                <a16:creationId xmlns:a16="http://schemas.microsoft.com/office/drawing/2014/main" id="{3C7BCB41-C5C0-2BB9-1EF5-BB3E93961AA2}"/>
              </a:ext>
            </a:extLst>
          </p:cNvPr>
          <p:cNvSpPr/>
          <p:nvPr/>
        </p:nvSpPr>
        <p:spPr>
          <a:xfrm>
            <a:off x="5133495" y="2152650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lang="it-IT" sz="1275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Configure access, </a:t>
            </a:r>
            <a:r>
              <a:rPr lang="it-IT" sz="1275" b="1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r>
              <a:rPr lang="it-IT" sz="1275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 and API calls</a:t>
            </a:r>
            <a:endParaRPr/>
          </a:p>
        </p:txBody>
      </p:sp>
      <p:sp>
        <p:nvSpPr>
          <p:cNvPr id="19" name="Google Shape;699;p24">
            <a:extLst>
              <a:ext uri="{FF2B5EF4-FFF2-40B4-BE49-F238E27FC236}">
                <a16:creationId xmlns:a16="http://schemas.microsoft.com/office/drawing/2014/main" id="{85FBA5AC-04BE-F996-55A9-432D06DE4CE8}"/>
              </a:ext>
            </a:extLst>
          </p:cNvPr>
          <p:cNvSpPr/>
          <p:nvPr/>
        </p:nvSpPr>
        <p:spPr>
          <a:xfrm>
            <a:off x="6867045" y="3800475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lang="it-IT" sz="1050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SUBSET</a:t>
            </a:r>
            <a:endParaRPr/>
          </a:p>
        </p:txBody>
      </p:sp>
      <p:sp>
        <p:nvSpPr>
          <p:cNvPr id="23" name="Google Shape;700;p24">
            <a:extLst>
              <a:ext uri="{FF2B5EF4-FFF2-40B4-BE49-F238E27FC236}">
                <a16:creationId xmlns:a16="http://schemas.microsoft.com/office/drawing/2014/main" id="{5E6D1CB2-0062-C1FD-7898-CCFB179B3BE7}"/>
              </a:ext>
            </a:extLst>
          </p:cNvPr>
          <p:cNvSpPr/>
          <p:nvPr/>
        </p:nvSpPr>
        <p:spPr>
          <a:xfrm>
            <a:off x="6867045" y="4143375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lang="it-IT" sz="1275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Limit the data to the project area and dates</a:t>
            </a:r>
            <a:endParaRPr/>
          </a:p>
        </p:txBody>
      </p:sp>
      <p:sp>
        <p:nvSpPr>
          <p:cNvPr id="27" name="Google Shape;701;p24">
            <a:extLst>
              <a:ext uri="{FF2B5EF4-FFF2-40B4-BE49-F238E27FC236}">
                <a16:creationId xmlns:a16="http://schemas.microsoft.com/office/drawing/2014/main" id="{4BCBD173-CC48-1AB2-61B6-0A13A8672288}"/>
              </a:ext>
            </a:extLst>
          </p:cNvPr>
          <p:cNvSpPr/>
          <p:nvPr/>
        </p:nvSpPr>
        <p:spPr>
          <a:xfrm>
            <a:off x="8600595" y="1809750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lang="it-IT" sz="1050" b="1" i="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HARMONIZE</a:t>
            </a:r>
            <a:endParaRPr/>
          </a:p>
        </p:txBody>
      </p:sp>
      <p:sp>
        <p:nvSpPr>
          <p:cNvPr id="31" name="Google Shape;702;p24">
            <a:extLst>
              <a:ext uri="{FF2B5EF4-FFF2-40B4-BE49-F238E27FC236}">
                <a16:creationId xmlns:a16="http://schemas.microsoft.com/office/drawing/2014/main" id="{B4437F57-8172-AC25-E26E-2423580D1D27}"/>
              </a:ext>
            </a:extLst>
          </p:cNvPr>
          <p:cNvSpPr/>
          <p:nvPr/>
        </p:nvSpPr>
        <p:spPr>
          <a:xfrm>
            <a:off x="8600595" y="2152650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lang="it-IT" sz="1275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Align units, calendars and spatial grids</a:t>
            </a:r>
            <a:endParaRPr/>
          </a:p>
        </p:txBody>
      </p:sp>
      <p:sp>
        <p:nvSpPr>
          <p:cNvPr id="33" name="Google Shape;703;p24">
            <a:extLst>
              <a:ext uri="{FF2B5EF4-FFF2-40B4-BE49-F238E27FC236}">
                <a16:creationId xmlns:a16="http://schemas.microsoft.com/office/drawing/2014/main" id="{4BA8A257-064F-9760-75E1-EDA2C1A8D99F}"/>
              </a:ext>
            </a:extLst>
          </p:cNvPr>
          <p:cNvSpPr/>
          <p:nvPr/>
        </p:nvSpPr>
        <p:spPr>
          <a:xfrm>
            <a:off x="876300" y="5200650"/>
            <a:ext cx="10420500" cy="5526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704;p24">
            <a:extLst>
              <a:ext uri="{FF2B5EF4-FFF2-40B4-BE49-F238E27FC236}">
                <a16:creationId xmlns:a16="http://schemas.microsoft.com/office/drawing/2014/main" id="{82126D49-CC32-F3A2-56EC-C819852AA044}"/>
              </a:ext>
            </a:extLst>
          </p:cNvPr>
          <p:cNvSpPr/>
          <p:nvPr/>
        </p:nvSpPr>
        <p:spPr>
          <a:xfrm>
            <a:off x="1114425" y="5353050"/>
            <a:ext cx="10479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125"/>
              <a:buFont typeface="Lato"/>
              <a:buNone/>
            </a:pPr>
            <a:r>
              <a:rPr lang="it-IT" sz="1125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endParaRPr/>
          </a:p>
        </p:txBody>
      </p:sp>
      <p:sp>
        <p:nvSpPr>
          <p:cNvPr id="37" name="Google Shape;705;p24">
            <a:extLst>
              <a:ext uri="{FF2B5EF4-FFF2-40B4-BE49-F238E27FC236}">
                <a16:creationId xmlns:a16="http://schemas.microsoft.com/office/drawing/2014/main" id="{A8B8901B-21F7-416D-340A-180A65B4C7BB}"/>
              </a:ext>
            </a:extLst>
          </p:cNvPr>
          <p:cNvSpPr/>
          <p:nvPr/>
        </p:nvSpPr>
        <p:spPr>
          <a:xfrm>
            <a:off x="2266950" y="5314950"/>
            <a:ext cx="8572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Lato"/>
              <a:buNone/>
            </a:pPr>
            <a:r>
              <a:rPr lang="it-IT" sz="1425" b="1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defensible workflow, but one that users must assemble and repeat</a:t>
            </a:r>
            <a:endParaRPr/>
          </a:p>
        </p:txBody>
      </p:sp>
      <p:sp>
        <p:nvSpPr>
          <p:cNvPr id="39" name="Google Shape;706;p24">
            <a:extLst>
              <a:ext uri="{FF2B5EF4-FFF2-40B4-BE49-F238E27FC236}">
                <a16:creationId xmlns:a16="http://schemas.microsoft.com/office/drawing/2014/main" id="{A2CBEC82-A58E-3A3E-F0E4-EAC75C45FF86}"/>
              </a:ext>
            </a:extLst>
          </p:cNvPr>
          <p:cNvSpPr/>
          <p:nvPr/>
        </p:nvSpPr>
        <p:spPr>
          <a:xfrm>
            <a:off x="1837845" y="3457575"/>
            <a:ext cx="7836900" cy="969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707;p24">
            <a:extLst>
              <a:ext uri="{FF2B5EF4-FFF2-40B4-BE49-F238E27FC236}">
                <a16:creationId xmlns:a16="http://schemas.microsoft.com/office/drawing/2014/main" id="{ED70AD34-4075-696C-A880-EA7D76C4FDDE}"/>
              </a:ext>
            </a:extLst>
          </p:cNvPr>
          <p:cNvSpPr/>
          <p:nvPr/>
        </p:nvSpPr>
        <p:spPr>
          <a:xfrm>
            <a:off x="1837845" y="3209925"/>
            <a:ext cx="533400" cy="5334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lang="it-IT" sz="1350" b="1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43" name="Google Shape;708;p24">
            <a:extLst>
              <a:ext uri="{FF2B5EF4-FFF2-40B4-BE49-F238E27FC236}">
                <a16:creationId xmlns:a16="http://schemas.microsoft.com/office/drawing/2014/main" id="{6F40D342-76CA-E5CA-7ACC-A19D09067690}"/>
              </a:ext>
            </a:extLst>
          </p:cNvPr>
          <p:cNvSpPr/>
          <p:nvPr/>
        </p:nvSpPr>
        <p:spPr>
          <a:xfrm>
            <a:off x="3571395" y="3209925"/>
            <a:ext cx="533400" cy="533400"/>
          </a:xfrm>
          <a:prstGeom prst="ellipse">
            <a:avLst/>
          </a:prstGeom>
          <a:solidFill>
            <a:srgbClr val="F2B6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lang="it-IT" sz="1350" b="1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45" name="Google Shape;709;p24">
            <a:extLst>
              <a:ext uri="{FF2B5EF4-FFF2-40B4-BE49-F238E27FC236}">
                <a16:creationId xmlns:a16="http://schemas.microsoft.com/office/drawing/2014/main" id="{00F0A818-D437-92BE-5196-5C99960151F9}"/>
              </a:ext>
            </a:extLst>
          </p:cNvPr>
          <p:cNvSpPr/>
          <p:nvPr/>
        </p:nvSpPr>
        <p:spPr>
          <a:xfrm>
            <a:off x="3552345" y="3952875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lang="it-IT" sz="1050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SPECIFY</a:t>
            </a:r>
            <a:endParaRPr/>
          </a:p>
        </p:txBody>
      </p:sp>
      <p:sp>
        <p:nvSpPr>
          <p:cNvPr id="47" name="Google Shape;710;p24">
            <a:extLst>
              <a:ext uri="{FF2B5EF4-FFF2-40B4-BE49-F238E27FC236}">
                <a16:creationId xmlns:a16="http://schemas.microsoft.com/office/drawing/2014/main" id="{6B661B48-3658-8963-A9FC-B00CA25CB6BE}"/>
              </a:ext>
            </a:extLst>
          </p:cNvPr>
          <p:cNvSpPr/>
          <p:nvPr/>
        </p:nvSpPr>
        <p:spPr>
          <a:xfrm>
            <a:off x="5304945" y="3209925"/>
            <a:ext cx="533400" cy="5334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lang="it-IT" sz="1350" b="1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49" name="Google Shape;711;p24">
            <a:extLst>
              <a:ext uri="{FF2B5EF4-FFF2-40B4-BE49-F238E27FC236}">
                <a16:creationId xmlns:a16="http://schemas.microsoft.com/office/drawing/2014/main" id="{55201B7E-67A1-8B44-22A4-D6269E2F384A}"/>
              </a:ext>
            </a:extLst>
          </p:cNvPr>
          <p:cNvSpPr/>
          <p:nvPr/>
        </p:nvSpPr>
        <p:spPr>
          <a:xfrm>
            <a:off x="7038495" y="3209925"/>
            <a:ext cx="533400" cy="533400"/>
          </a:xfrm>
          <a:prstGeom prst="ellipse">
            <a:avLst/>
          </a:prstGeom>
          <a:solidFill>
            <a:srgbClr val="F2B63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lang="it-IT" sz="1350" b="1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51" name="Google Shape;712;p24">
            <a:extLst>
              <a:ext uri="{FF2B5EF4-FFF2-40B4-BE49-F238E27FC236}">
                <a16:creationId xmlns:a16="http://schemas.microsoft.com/office/drawing/2014/main" id="{E67A24D6-0106-C9D7-7E64-14EB3AE272C8}"/>
              </a:ext>
            </a:extLst>
          </p:cNvPr>
          <p:cNvSpPr/>
          <p:nvPr/>
        </p:nvSpPr>
        <p:spPr>
          <a:xfrm>
            <a:off x="8772045" y="3209925"/>
            <a:ext cx="533400" cy="5334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lang="it-IT" sz="1350" b="1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9962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25078-397E-CA0E-4A9F-6093EE14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E96AB89D-9CA5-FBF4-E7D1-EA35FBA4D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BA3ACD00-6C4D-566A-76D3-052961AF88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What problem does CAVA solve?</a:t>
            </a:r>
          </a:p>
        </p:txBody>
      </p:sp>
      <p:sp>
        <p:nvSpPr>
          <p:cNvPr id="3" name="Google Shape;722;p25">
            <a:extLst>
              <a:ext uri="{FF2B5EF4-FFF2-40B4-BE49-F238E27FC236}">
                <a16:creationId xmlns:a16="http://schemas.microsoft.com/office/drawing/2014/main" id="{542E707D-9408-EDC0-98F9-530EADC3DF98}"/>
              </a:ext>
            </a:extLst>
          </p:cNvPr>
          <p:cNvSpPr/>
          <p:nvPr/>
        </p:nvSpPr>
        <p:spPr>
          <a:xfrm>
            <a:off x="647700" y="1695450"/>
            <a:ext cx="3524400" cy="3476700"/>
          </a:xfrm>
          <a:prstGeom prst="rect">
            <a:avLst/>
          </a:prstGeom>
          <a:solidFill>
            <a:srgbClr val="FFF3D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23;p25">
            <a:extLst>
              <a:ext uri="{FF2B5EF4-FFF2-40B4-BE49-F238E27FC236}">
                <a16:creationId xmlns:a16="http://schemas.microsoft.com/office/drawing/2014/main" id="{42EBA647-E46A-6391-C067-267963653136}"/>
              </a:ext>
            </a:extLst>
          </p:cNvPr>
          <p:cNvSpPr/>
          <p:nvPr/>
        </p:nvSpPr>
        <p:spPr>
          <a:xfrm>
            <a:off x="876300" y="1905000"/>
            <a:ext cx="28575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86F00"/>
              </a:buClr>
              <a:buSzPts val="900"/>
              <a:buFont typeface="Lato"/>
              <a:buNone/>
            </a:pPr>
            <a:r>
              <a:rPr lang="it-IT" sz="900" b="1" i="0">
                <a:solidFill>
                  <a:srgbClr val="A86F00"/>
                </a:solidFill>
                <a:latin typeface="Lato"/>
                <a:ea typeface="Lato"/>
                <a:cs typeface="Lato"/>
                <a:sym typeface="Lato"/>
              </a:rPr>
              <a:t>THE BOTTLENECK</a:t>
            </a:r>
            <a:endParaRPr/>
          </a:p>
        </p:txBody>
      </p:sp>
      <p:sp>
        <p:nvSpPr>
          <p:cNvPr id="10" name="Google Shape;724;p25">
            <a:extLst>
              <a:ext uri="{FF2B5EF4-FFF2-40B4-BE49-F238E27FC236}">
                <a16:creationId xmlns:a16="http://schemas.microsoft.com/office/drawing/2014/main" id="{E1529170-36B4-27CE-3001-6EEDE5430BE3}"/>
              </a:ext>
            </a:extLst>
          </p:cNvPr>
          <p:cNvSpPr/>
          <p:nvPr/>
        </p:nvSpPr>
        <p:spPr>
          <a:xfrm>
            <a:off x="876300" y="2209800"/>
            <a:ext cx="2876700" cy="19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None/>
            </a:pPr>
            <a:r>
              <a:rPr lang="it-IT" sz="1339" b="1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Accessing and interpreting climate information is challenging:</a:t>
            </a:r>
            <a:endParaRPr sz="1339" b="1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3627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lang="it-IT" sz="1339" b="1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Choice of climate information</a:t>
            </a:r>
            <a:endParaRPr sz="1339" b="1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3627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lang="it-IT" sz="1339" b="1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Access</a:t>
            </a:r>
            <a:endParaRPr sz="1339" b="1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3627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lang="it-IT" sz="1339" b="1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Processing </a:t>
            </a:r>
            <a:endParaRPr sz="1339" b="1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3627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lang="it-IT" sz="1339" b="1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Interpretation</a:t>
            </a:r>
            <a:endParaRPr sz="1339" b="1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None/>
            </a:pPr>
            <a:endParaRPr sz="1339" b="1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39" b="1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725;p25">
            <a:extLst>
              <a:ext uri="{FF2B5EF4-FFF2-40B4-BE49-F238E27FC236}">
                <a16:creationId xmlns:a16="http://schemas.microsoft.com/office/drawing/2014/main" id="{858A0446-D484-3F16-DCBE-8CB2CB2FD88C}"/>
              </a:ext>
            </a:extLst>
          </p:cNvPr>
          <p:cNvSpPr/>
          <p:nvPr/>
        </p:nvSpPr>
        <p:spPr>
          <a:xfrm>
            <a:off x="4438650" y="1695450"/>
            <a:ext cx="3276600" cy="34767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726;p25">
            <a:extLst>
              <a:ext uri="{FF2B5EF4-FFF2-40B4-BE49-F238E27FC236}">
                <a16:creationId xmlns:a16="http://schemas.microsoft.com/office/drawing/2014/main" id="{B5D88BB9-7E9E-F237-D5D1-2DDD772CE9D7}"/>
              </a:ext>
            </a:extLst>
          </p:cNvPr>
          <p:cNvSpPr/>
          <p:nvPr/>
        </p:nvSpPr>
        <p:spPr>
          <a:xfrm>
            <a:off x="4810125" y="1990725"/>
            <a:ext cx="25338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ato"/>
              <a:buNone/>
            </a:pPr>
            <a:r>
              <a:rPr lang="it-IT" sz="2550" b="1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</a:t>
            </a:r>
            <a:endParaRPr/>
          </a:p>
        </p:txBody>
      </p:sp>
      <p:sp>
        <p:nvSpPr>
          <p:cNvPr id="18" name="Google Shape;727;p25">
            <a:extLst>
              <a:ext uri="{FF2B5EF4-FFF2-40B4-BE49-F238E27FC236}">
                <a16:creationId xmlns:a16="http://schemas.microsoft.com/office/drawing/2014/main" id="{E11A490F-7003-7E5E-72C3-2EE3A518C824}"/>
              </a:ext>
            </a:extLst>
          </p:cNvPr>
          <p:cNvSpPr/>
          <p:nvPr/>
        </p:nvSpPr>
        <p:spPr>
          <a:xfrm>
            <a:off x="4876800" y="2571750"/>
            <a:ext cx="2400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DE8EF"/>
              </a:buClr>
              <a:buSzPts val="1274"/>
              <a:buFont typeface="Lato"/>
              <a:buNone/>
            </a:pPr>
            <a:r>
              <a:rPr lang="it-IT" sz="1274" b="0" i="0">
                <a:solidFill>
                  <a:srgbClr val="DDE8EF"/>
                </a:solidFill>
                <a:latin typeface="Lato"/>
                <a:ea typeface="Lato"/>
                <a:cs typeface="Lato"/>
                <a:sym typeface="Lato"/>
              </a:rPr>
              <a:t>A shared access and processing layer</a:t>
            </a:r>
            <a:endParaRPr/>
          </a:p>
        </p:txBody>
      </p:sp>
      <p:sp>
        <p:nvSpPr>
          <p:cNvPr id="21" name="Google Shape;728;p25">
            <a:extLst>
              <a:ext uri="{FF2B5EF4-FFF2-40B4-BE49-F238E27FC236}">
                <a16:creationId xmlns:a16="http://schemas.microsoft.com/office/drawing/2014/main" id="{6A2525D1-BA70-CBE3-1EE4-8F766108AECC}"/>
              </a:ext>
            </a:extLst>
          </p:cNvPr>
          <p:cNvSpPr/>
          <p:nvPr/>
        </p:nvSpPr>
        <p:spPr>
          <a:xfrm>
            <a:off x="4991100" y="3133725"/>
            <a:ext cx="2171700" cy="9600"/>
          </a:xfrm>
          <a:prstGeom prst="rect">
            <a:avLst/>
          </a:prstGeom>
          <a:solidFill>
            <a:srgbClr val="5C748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729;p25">
            <a:extLst>
              <a:ext uri="{FF2B5EF4-FFF2-40B4-BE49-F238E27FC236}">
                <a16:creationId xmlns:a16="http://schemas.microsoft.com/office/drawing/2014/main" id="{AE14DB21-190A-0696-3CE4-A16536037320}"/>
              </a:ext>
            </a:extLst>
          </p:cNvPr>
          <p:cNvSpPr/>
          <p:nvPr/>
        </p:nvSpPr>
        <p:spPr>
          <a:xfrm>
            <a:off x="4762500" y="3371850"/>
            <a:ext cx="857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lang="it-IT" sz="825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ACCESS</a:t>
            </a:r>
            <a:endParaRPr/>
          </a:p>
        </p:txBody>
      </p:sp>
      <p:sp>
        <p:nvSpPr>
          <p:cNvPr id="26" name="Google Shape;730;p25">
            <a:extLst>
              <a:ext uri="{FF2B5EF4-FFF2-40B4-BE49-F238E27FC236}">
                <a16:creationId xmlns:a16="http://schemas.microsoft.com/office/drawing/2014/main" id="{9E8BA542-A61E-44D9-116C-56A3A41B7AD6}"/>
              </a:ext>
            </a:extLst>
          </p:cNvPr>
          <p:cNvSpPr/>
          <p:nvPr/>
        </p:nvSpPr>
        <p:spPr>
          <a:xfrm>
            <a:off x="5676900" y="3352800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None/>
            </a:pPr>
            <a:r>
              <a:rPr lang="it-IT" sz="1050" b="0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Retrieve only the place, period and variables needed</a:t>
            </a:r>
            <a:endParaRPr/>
          </a:p>
        </p:txBody>
      </p:sp>
      <p:sp>
        <p:nvSpPr>
          <p:cNvPr id="29" name="Google Shape;731;p25">
            <a:extLst>
              <a:ext uri="{FF2B5EF4-FFF2-40B4-BE49-F238E27FC236}">
                <a16:creationId xmlns:a16="http://schemas.microsoft.com/office/drawing/2014/main" id="{62817D61-8C18-4181-D3FB-D5A4A73DDD0F}"/>
              </a:ext>
            </a:extLst>
          </p:cNvPr>
          <p:cNvSpPr/>
          <p:nvPr/>
        </p:nvSpPr>
        <p:spPr>
          <a:xfrm>
            <a:off x="4762500" y="3914775"/>
            <a:ext cx="857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lang="it-IT" sz="825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HARMONIZE</a:t>
            </a:r>
            <a:endParaRPr/>
          </a:p>
        </p:txBody>
      </p:sp>
      <p:sp>
        <p:nvSpPr>
          <p:cNvPr id="32" name="Google Shape;732;p25">
            <a:extLst>
              <a:ext uri="{FF2B5EF4-FFF2-40B4-BE49-F238E27FC236}">
                <a16:creationId xmlns:a16="http://schemas.microsoft.com/office/drawing/2014/main" id="{D73AF535-DD90-7E3F-AE22-F30C8B830B9B}"/>
              </a:ext>
            </a:extLst>
          </p:cNvPr>
          <p:cNvSpPr/>
          <p:nvPr/>
        </p:nvSpPr>
        <p:spPr>
          <a:xfrm>
            <a:off x="5676900" y="3895725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None/>
            </a:pPr>
            <a:r>
              <a:rPr lang="it-IT" sz="1050" b="0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Apply consistent handling of formats and conventions</a:t>
            </a:r>
            <a:endParaRPr/>
          </a:p>
        </p:txBody>
      </p:sp>
      <p:sp>
        <p:nvSpPr>
          <p:cNvPr id="36" name="Google Shape;733;p25">
            <a:extLst>
              <a:ext uri="{FF2B5EF4-FFF2-40B4-BE49-F238E27FC236}">
                <a16:creationId xmlns:a16="http://schemas.microsoft.com/office/drawing/2014/main" id="{639B06AB-9C28-2662-531A-BAC2F5AE25E9}"/>
              </a:ext>
            </a:extLst>
          </p:cNvPr>
          <p:cNvSpPr/>
          <p:nvPr/>
        </p:nvSpPr>
        <p:spPr>
          <a:xfrm>
            <a:off x="4762500" y="4457700"/>
            <a:ext cx="8574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lang="it-IT" sz="825" b="1" i="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REUSE</a:t>
            </a:r>
            <a:endParaRPr/>
          </a:p>
        </p:txBody>
      </p:sp>
      <p:sp>
        <p:nvSpPr>
          <p:cNvPr id="40" name="Google Shape;734;p25">
            <a:extLst>
              <a:ext uri="{FF2B5EF4-FFF2-40B4-BE49-F238E27FC236}">
                <a16:creationId xmlns:a16="http://schemas.microsoft.com/office/drawing/2014/main" id="{1B01C748-F3BA-DC1A-23E5-E6AD1D0253BB}"/>
              </a:ext>
            </a:extLst>
          </p:cNvPr>
          <p:cNvSpPr/>
          <p:nvPr/>
        </p:nvSpPr>
        <p:spPr>
          <a:xfrm>
            <a:off x="5676900" y="4438650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Lato"/>
              <a:buNone/>
            </a:pPr>
            <a:r>
              <a:rPr lang="it-IT" sz="888" b="0" i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Expose the same workflow through web tools, code and APIs</a:t>
            </a:r>
            <a:endParaRPr/>
          </a:p>
        </p:txBody>
      </p:sp>
      <p:sp>
        <p:nvSpPr>
          <p:cNvPr id="44" name="Google Shape;735;p25">
            <a:extLst>
              <a:ext uri="{FF2B5EF4-FFF2-40B4-BE49-F238E27FC236}">
                <a16:creationId xmlns:a16="http://schemas.microsoft.com/office/drawing/2014/main" id="{531B5AF7-B473-63C8-25D4-D65DE72D4787}"/>
              </a:ext>
            </a:extLst>
          </p:cNvPr>
          <p:cNvSpPr/>
          <p:nvPr/>
        </p:nvSpPr>
        <p:spPr>
          <a:xfrm>
            <a:off x="7981950" y="1695450"/>
            <a:ext cx="3562200" cy="3476700"/>
          </a:xfrm>
          <a:prstGeom prst="rect">
            <a:avLst/>
          </a:prstGeom>
          <a:solidFill>
            <a:srgbClr val="E7F4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736;p25">
            <a:extLst>
              <a:ext uri="{FF2B5EF4-FFF2-40B4-BE49-F238E27FC236}">
                <a16:creationId xmlns:a16="http://schemas.microsoft.com/office/drawing/2014/main" id="{CD9CB5C4-57C4-8AD0-282F-3A1B84F0B1B2}"/>
              </a:ext>
            </a:extLst>
          </p:cNvPr>
          <p:cNvSpPr/>
          <p:nvPr/>
        </p:nvSpPr>
        <p:spPr>
          <a:xfrm>
            <a:off x="8210550" y="1905000"/>
            <a:ext cx="28575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lang="it-IT" sz="900" b="1" i="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WHAT CHANGES</a:t>
            </a:r>
            <a:endParaRPr/>
          </a:p>
        </p:txBody>
      </p:sp>
      <p:sp>
        <p:nvSpPr>
          <p:cNvPr id="52" name="Google Shape;737;p25">
            <a:extLst>
              <a:ext uri="{FF2B5EF4-FFF2-40B4-BE49-F238E27FC236}">
                <a16:creationId xmlns:a16="http://schemas.microsoft.com/office/drawing/2014/main" id="{604ECBEC-DB1A-1C0C-B40B-ED5A261C7E30}"/>
              </a:ext>
            </a:extLst>
          </p:cNvPr>
          <p:cNvSpPr/>
          <p:nvPr/>
        </p:nvSpPr>
        <p:spPr>
          <a:xfrm>
            <a:off x="8210550" y="2209800"/>
            <a:ext cx="29529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8"/>
              <a:buFont typeface="Lato"/>
              <a:buNone/>
            </a:pPr>
            <a:r>
              <a:rPr lang="it-IT" sz="1359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data become easier to use without hiding the scientific choices</a:t>
            </a:r>
            <a:endParaRPr/>
          </a:p>
        </p:txBody>
      </p:sp>
      <p:sp>
        <p:nvSpPr>
          <p:cNvPr id="54" name="Google Shape;738;p25">
            <a:extLst>
              <a:ext uri="{FF2B5EF4-FFF2-40B4-BE49-F238E27FC236}">
                <a16:creationId xmlns:a16="http://schemas.microsoft.com/office/drawing/2014/main" id="{3D8CA72F-BAFC-FDB9-C6EC-BCDC96830FAC}"/>
              </a:ext>
            </a:extLst>
          </p:cNvPr>
          <p:cNvSpPr/>
          <p:nvPr/>
        </p:nvSpPr>
        <p:spPr>
          <a:xfrm>
            <a:off x="8210550" y="3300789"/>
            <a:ext cx="8382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825"/>
              <a:buFont typeface="Lato"/>
              <a:buNone/>
            </a:pPr>
            <a:r>
              <a:rPr lang="it-IT" sz="825" b="1" i="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endParaRPr/>
          </a:p>
        </p:txBody>
      </p:sp>
      <p:sp>
        <p:nvSpPr>
          <p:cNvPr id="56" name="Google Shape;739;p25">
            <a:extLst>
              <a:ext uri="{FF2B5EF4-FFF2-40B4-BE49-F238E27FC236}">
                <a16:creationId xmlns:a16="http://schemas.microsoft.com/office/drawing/2014/main" id="{ECA6E787-07C4-8D70-D85F-65A27A634D21}"/>
              </a:ext>
            </a:extLst>
          </p:cNvPr>
          <p:cNvSpPr/>
          <p:nvPr/>
        </p:nvSpPr>
        <p:spPr>
          <a:xfrm>
            <a:off x="9163050" y="3272214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00"/>
              <a:buFont typeface="Lato"/>
              <a:buNone/>
            </a:pPr>
            <a:r>
              <a:rPr lang="it-IT" sz="1200" b="1" i="0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Analysis-ready historical and future data</a:t>
            </a:r>
            <a:endParaRPr/>
          </a:p>
        </p:txBody>
      </p:sp>
      <p:sp>
        <p:nvSpPr>
          <p:cNvPr id="58" name="Google Shape;740;p25">
            <a:extLst>
              <a:ext uri="{FF2B5EF4-FFF2-40B4-BE49-F238E27FC236}">
                <a16:creationId xmlns:a16="http://schemas.microsoft.com/office/drawing/2014/main" id="{A058B397-79BE-20D5-D673-2F4EA2A2787E}"/>
              </a:ext>
            </a:extLst>
          </p:cNvPr>
          <p:cNvSpPr/>
          <p:nvPr/>
        </p:nvSpPr>
        <p:spPr>
          <a:xfrm>
            <a:off x="9163050" y="3708651"/>
            <a:ext cx="2000100" cy="9600"/>
          </a:xfrm>
          <a:prstGeom prst="rect">
            <a:avLst/>
          </a:prstGeom>
          <a:solidFill>
            <a:srgbClr val="C9E3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741;p25">
            <a:extLst>
              <a:ext uri="{FF2B5EF4-FFF2-40B4-BE49-F238E27FC236}">
                <a16:creationId xmlns:a16="http://schemas.microsoft.com/office/drawing/2014/main" id="{7281BD0C-0A68-E15A-23DA-AE8931862DE9}"/>
              </a:ext>
            </a:extLst>
          </p:cNvPr>
          <p:cNvSpPr/>
          <p:nvPr/>
        </p:nvSpPr>
        <p:spPr>
          <a:xfrm>
            <a:off x="8210550" y="3948489"/>
            <a:ext cx="8382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825"/>
              <a:buFont typeface="Lato"/>
              <a:buNone/>
            </a:pPr>
            <a:r>
              <a:rPr lang="it-IT" sz="825" b="1" i="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CONSISTENT</a:t>
            </a:r>
            <a:endParaRPr/>
          </a:p>
        </p:txBody>
      </p:sp>
      <p:sp>
        <p:nvSpPr>
          <p:cNvPr id="62" name="Google Shape;742;p25">
            <a:extLst>
              <a:ext uri="{FF2B5EF4-FFF2-40B4-BE49-F238E27FC236}">
                <a16:creationId xmlns:a16="http://schemas.microsoft.com/office/drawing/2014/main" id="{5504A907-0228-2FA6-C14B-BCAC8BA11AAD}"/>
              </a:ext>
            </a:extLst>
          </p:cNvPr>
          <p:cNvSpPr/>
          <p:nvPr/>
        </p:nvSpPr>
        <p:spPr>
          <a:xfrm>
            <a:off x="9163050" y="3919914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00"/>
              <a:buFont typeface="Lato"/>
              <a:buNone/>
            </a:pPr>
            <a:r>
              <a:rPr lang="it-IT" sz="1200" b="1" i="0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Comparable indicators, maps and outputs</a:t>
            </a:r>
            <a:endParaRPr/>
          </a:p>
        </p:txBody>
      </p:sp>
      <p:sp>
        <p:nvSpPr>
          <p:cNvPr id="10240" name="Google Shape;743;p25">
            <a:extLst>
              <a:ext uri="{FF2B5EF4-FFF2-40B4-BE49-F238E27FC236}">
                <a16:creationId xmlns:a16="http://schemas.microsoft.com/office/drawing/2014/main" id="{DEC60DCB-6B04-E924-A0AE-17F7EBF2AAFF}"/>
              </a:ext>
            </a:extLst>
          </p:cNvPr>
          <p:cNvSpPr/>
          <p:nvPr/>
        </p:nvSpPr>
        <p:spPr>
          <a:xfrm>
            <a:off x="9163050" y="4356351"/>
            <a:ext cx="2000100" cy="9600"/>
          </a:xfrm>
          <a:prstGeom prst="rect">
            <a:avLst/>
          </a:prstGeom>
          <a:solidFill>
            <a:srgbClr val="C9E3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2" name="Google Shape;744;p25">
            <a:extLst>
              <a:ext uri="{FF2B5EF4-FFF2-40B4-BE49-F238E27FC236}">
                <a16:creationId xmlns:a16="http://schemas.microsoft.com/office/drawing/2014/main" id="{6069F214-DA80-A9DC-7660-E2A6B48503E9}"/>
              </a:ext>
            </a:extLst>
          </p:cNvPr>
          <p:cNvSpPr/>
          <p:nvPr/>
        </p:nvSpPr>
        <p:spPr>
          <a:xfrm>
            <a:off x="4057650" y="3124200"/>
            <a:ext cx="495300" cy="60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2B6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6" name="Google Shape;745;p25">
            <a:extLst>
              <a:ext uri="{FF2B5EF4-FFF2-40B4-BE49-F238E27FC236}">
                <a16:creationId xmlns:a16="http://schemas.microsoft.com/office/drawing/2014/main" id="{1CB6411F-0067-2FC3-F90A-8F73D355CFC6}"/>
              </a:ext>
            </a:extLst>
          </p:cNvPr>
          <p:cNvSpPr/>
          <p:nvPr/>
        </p:nvSpPr>
        <p:spPr>
          <a:xfrm>
            <a:off x="7600950" y="3124200"/>
            <a:ext cx="495300" cy="60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A8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8" name="Google Shape;746;p25">
            <a:extLst>
              <a:ext uri="{FF2B5EF4-FFF2-40B4-BE49-F238E27FC236}">
                <a16:creationId xmlns:a16="http://schemas.microsoft.com/office/drawing/2014/main" id="{2606C5BC-8CBC-7DF1-118B-FFCAAFB87760}"/>
              </a:ext>
            </a:extLst>
          </p:cNvPr>
          <p:cNvSpPr/>
          <p:nvPr/>
        </p:nvSpPr>
        <p:spPr>
          <a:xfrm>
            <a:off x="647700" y="5438775"/>
            <a:ext cx="10896600" cy="561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5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0" name="Google Shape;747;p25">
            <a:extLst>
              <a:ext uri="{FF2B5EF4-FFF2-40B4-BE49-F238E27FC236}">
                <a16:creationId xmlns:a16="http://schemas.microsoft.com/office/drawing/2014/main" id="{5E2C676C-D3EA-E3D4-EC99-4B30FD47B3C7}"/>
              </a:ext>
            </a:extLst>
          </p:cNvPr>
          <p:cNvSpPr/>
          <p:nvPr/>
        </p:nvSpPr>
        <p:spPr>
          <a:xfrm>
            <a:off x="647700" y="5438775"/>
            <a:ext cx="76200" cy="5619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2" name="Google Shape;748;p25">
            <a:extLst>
              <a:ext uri="{FF2B5EF4-FFF2-40B4-BE49-F238E27FC236}">
                <a16:creationId xmlns:a16="http://schemas.microsoft.com/office/drawing/2014/main" id="{059CB732-8EC6-5B6C-3FE5-E325FDB5E10B}"/>
              </a:ext>
            </a:extLst>
          </p:cNvPr>
          <p:cNvSpPr/>
          <p:nvPr/>
        </p:nvSpPr>
        <p:spPr>
          <a:xfrm>
            <a:off x="933450" y="5591175"/>
            <a:ext cx="10325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lang="it-IT" sz="1350" b="1" i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</a:t>
            </a:r>
            <a:r>
              <a:rPr lang="it-IT" sz="1350" b="1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democratises access and interpretation of climate information while retaining scientific approach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6126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863F-4478-AB33-E9A9-851AB39B0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EA855D5F-A7EA-6D4F-9498-6DAE33A06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C320A1DB-DD8F-5E7F-6E17-FAB3C61CE0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One CAVA framework, several entry points</a:t>
            </a:r>
          </a:p>
        </p:txBody>
      </p:sp>
      <p:pic>
        <p:nvPicPr>
          <p:cNvPr id="4" name="Google Shape;764;p26" title="ChatGPT Image Sep 23, 2026, 11_30_34 AM.png">
            <a:extLst>
              <a:ext uri="{FF2B5EF4-FFF2-40B4-BE49-F238E27FC236}">
                <a16:creationId xmlns:a16="http://schemas.microsoft.com/office/drawing/2014/main" id="{9F537F76-D2DA-C01B-8EC3-65D300C3C0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396" y="1275614"/>
            <a:ext cx="8411789" cy="50398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044C1B-86DB-086B-7F06-F9D355F534D3}"/>
              </a:ext>
            </a:extLst>
          </p:cNvPr>
          <p:cNvSpPr/>
          <p:nvPr/>
        </p:nvSpPr>
        <p:spPr>
          <a:xfrm>
            <a:off x="6823588" y="5102942"/>
            <a:ext cx="1101213" cy="87507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FA09C-8FD3-45FF-5203-5465EBD1B2FF}"/>
              </a:ext>
            </a:extLst>
          </p:cNvPr>
          <p:cNvSpPr txBox="1"/>
          <p:nvPr/>
        </p:nvSpPr>
        <p:spPr>
          <a:xfrm>
            <a:off x="9171185" y="3323303"/>
            <a:ext cx="264487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CAVA Analytics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 package intended for intermediate technical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Allows flexible climate data loading, processing, and visualisation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6E990D-B98D-16EE-533F-922475483DB5}"/>
              </a:ext>
            </a:extLst>
          </p:cNvPr>
          <p:cNvCxnSpPr>
            <a:stCxn id="6" idx="1"/>
          </p:cNvCxnSpPr>
          <p:nvPr/>
        </p:nvCxnSpPr>
        <p:spPr>
          <a:xfrm flipH="1">
            <a:off x="7924801" y="4754464"/>
            <a:ext cx="1246384" cy="584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829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57871-EAA4-2D00-D927-7A14DBBE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DAB33FD6-272C-E153-C571-C89E5166C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4E736472-1ED5-2283-97DB-A1F459F779A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One CAVA framework, several entry points</a:t>
            </a:r>
          </a:p>
        </p:txBody>
      </p:sp>
      <p:sp>
        <p:nvSpPr>
          <p:cNvPr id="38" name="Google Shape;898;p31">
            <a:extLst>
              <a:ext uri="{FF2B5EF4-FFF2-40B4-BE49-F238E27FC236}">
                <a16:creationId xmlns:a16="http://schemas.microsoft.com/office/drawing/2014/main" id="{47EF60FE-EBF1-18CC-AF5D-F18082CA06CF}"/>
              </a:ext>
            </a:extLst>
          </p:cNvPr>
          <p:cNvSpPr/>
          <p:nvPr/>
        </p:nvSpPr>
        <p:spPr>
          <a:xfrm>
            <a:off x="971550" y="1847850"/>
            <a:ext cx="10248900" cy="628800"/>
          </a:xfrm>
          <a:prstGeom prst="rect">
            <a:avLst/>
          </a:prstGeom>
          <a:solidFill>
            <a:schemeClr val="tx2">
              <a:lumMod val="50000"/>
              <a:lumOff val="50000"/>
              <a:alpha val="14120"/>
            </a:schemeClr>
          </a:solidFill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899;p31">
            <a:extLst>
              <a:ext uri="{FF2B5EF4-FFF2-40B4-BE49-F238E27FC236}">
                <a16:creationId xmlns:a16="http://schemas.microsoft.com/office/drawing/2014/main" id="{C0D2AA9A-A990-5B6E-D2F7-5A313ED4347F}"/>
              </a:ext>
            </a:extLst>
          </p:cNvPr>
          <p:cNvSpPr/>
          <p:nvPr/>
        </p:nvSpPr>
        <p:spPr>
          <a:xfrm>
            <a:off x="1200150" y="20097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125"/>
              <a:buFont typeface="Lato"/>
              <a:buNone/>
            </a:pPr>
            <a:r>
              <a:rPr lang="it-IT" sz="1600" b="1" kern="0">
                <a:latin typeface="Lato"/>
                <a:ea typeface="Lato"/>
                <a:cs typeface="Lato"/>
                <a:sym typeface="Lato"/>
              </a:rPr>
              <a:t>01</a:t>
            </a:r>
            <a:endParaRPr sz="2000" kern="0"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900;p31">
            <a:extLst>
              <a:ext uri="{FF2B5EF4-FFF2-40B4-BE49-F238E27FC236}">
                <a16:creationId xmlns:a16="http://schemas.microsoft.com/office/drawing/2014/main" id="{9FF0681C-16A0-290D-6BBC-A94839BD37E6}"/>
              </a:ext>
            </a:extLst>
          </p:cNvPr>
          <p:cNvSpPr/>
          <p:nvPr/>
        </p:nvSpPr>
        <p:spPr>
          <a:xfrm>
            <a:off x="1809750" y="2009775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050"/>
              <a:buFont typeface="Lato"/>
              <a:buNone/>
            </a:pPr>
            <a:r>
              <a:rPr lang="it-IT" sz="1400" b="1" kern="0">
                <a:latin typeface="Lato"/>
                <a:ea typeface="Lato"/>
                <a:cs typeface="Lato"/>
                <a:sym typeface="Lato"/>
              </a:rPr>
              <a:t>SOURCE DATA</a:t>
            </a:r>
            <a:endParaRPr sz="2000" kern="0"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901;p31">
            <a:extLst>
              <a:ext uri="{FF2B5EF4-FFF2-40B4-BE49-F238E27FC236}">
                <a16:creationId xmlns:a16="http://schemas.microsoft.com/office/drawing/2014/main" id="{DAA66E57-8B4D-B2E0-8670-418528E9B5EC}"/>
              </a:ext>
            </a:extLst>
          </p:cNvPr>
          <p:cNvSpPr/>
          <p:nvPr/>
        </p:nvSpPr>
        <p:spPr>
          <a:xfrm>
            <a:off x="4095750" y="1962150"/>
            <a:ext cx="6477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350"/>
              <a:buFont typeface="Lato"/>
              <a:buNone/>
            </a:pPr>
            <a:r>
              <a:rPr lang="it-IT" kern="0">
                <a:latin typeface="Lato"/>
                <a:ea typeface="Lato"/>
                <a:cs typeface="Lato"/>
                <a:sym typeface="Lato"/>
              </a:rPr>
              <a:t>ERA5 and CORDEX-CORE climate datasets (NetCDF, ~20 TB)</a:t>
            </a:r>
            <a:endParaRPr sz="2000" kern="0"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902;p31">
            <a:extLst>
              <a:ext uri="{FF2B5EF4-FFF2-40B4-BE49-F238E27FC236}">
                <a16:creationId xmlns:a16="http://schemas.microsoft.com/office/drawing/2014/main" id="{B7505FE4-FF90-ADD9-A402-CCCE820ED4DB}"/>
              </a:ext>
            </a:extLst>
          </p:cNvPr>
          <p:cNvSpPr/>
          <p:nvPr/>
        </p:nvSpPr>
        <p:spPr>
          <a:xfrm>
            <a:off x="1333500" y="2694654"/>
            <a:ext cx="9525000" cy="704850"/>
          </a:xfrm>
          <a:prstGeom prst="rect">
            <a:avLst/>
          </a:prstGeom>
          <a:solidFill>
            <a:srgbClr val="00A88F">
              <a:alpha val="21960"/>
            </a:srgbClr>
          </a:solidFill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903;p31">
            <a:extLst>
              <a:ext uri="{FF2B5EF4-FFF2-40B4-BE49-F238E27FC236}">
                <a16:creationId xmlns:a16="http://schemas.microsoft.com/office/drawing/2014/main" id="{AA90305F-9D49-9773-E7A2-26D9C0FA331B}"/>
              </a:ext>
            </a:extLst>
          </p:cNvPr>
          <p:cNvSpPr/>
          <p:nvPr/>
        </p:nvSpPr>
        <p:spPr>
          <a:xfrm>
            <a:off x="1562100" y="28860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8BE0D2"/>
              </a:buClr>
              <a:buSzPts val="1125"/>
              <a:buFont typeface="Lato"/>
              <a:buNone/>
            </a:pPr>
            <a:r>
              <a:rPr lang="it-IT" sz="1600" b="1" kern="0" dirty="0">
                <a:latin typeface="Lato"/>
                <a:ea typeface="Lato"/>
                <a:cs typeface="Lato"/>
                <a:sym typeface="Lato"/>
              </a:rPr>
              <a:t>02</a:t>
            </a:r>
            <a:endParaRPr sz="2000" kern="0" dirty="0">
              <a:latin typeface="Arial"/>
              <a:cs typeface="Arial"/>
              <a:sym typeface="Arial"/>
            </a:endParaRPr>
          </a:p>
        </p:txBody>
      </p:sp>
      <p:sp>
        <p:nvSpPr>
          <p:cNvPr id="44" name="Google Shape;904;p31">
            <a:extLst>
              <a:ext uri="{FF2B5EF4-FFF2-40B4-BE49-F238E27FC236}">
                <a16:creationId xmlns:a16="http://schemas.microsoft.com/office/drawing/2014/main" id="{BCCF824A-804C-FE6F-4002-8260E18ED901}"/>
              </a:ext>
            </a:extLst>
          </p:cNvPr>
          <p:cNvSpPr/>
          <p:nvPr/>
        </p:nvSpPr>
        <p:spPr>
          <a:xfrm>
            <a:off x="2171700" y="2787753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8BE0D2"/>
              </a:buClr>
              <a:buSzPts val="1050"/>
              <a:buFont typeface="Lato"/>
              <a:buNone/>
            </a:pPr>
            <a:r>
              <a:rPr lang="it-IT" sz="1400" b="1" kern="0" dirty="0">
                <a:latin typeface="Lato"/>
                <a:ea typeface="Lato"/>
                <a:cs typeface="Lato"/>
                <a:sym typeface="Lato"/>
              </a:rPr>
              <a:t>REMOTE SERVICES AND COMPUTE</a:t>
            </a:r>
            <a:endParaRPr sz="2000" kern="0" dirty="0">
              <a:latin typeface="Arial"/>
              <a:cs typeface="Arial"/>
              <a:sym typeface="Arial"/>
            </a:endParaRPr>
          </a:p>
        </p:txBody>
      </p:sp>
      <p:sp>
        <p:nvSpPr>
          <p:cNvPr id="45" name="Google Shape;905;p31">
            <a:extLst>
              <a:ext uri="{FF2B5EF4-FFF2-40B4-BE49-F238E27FC236}">
                <a16:creationId xmlns:a16="http://schemas.microsoft.com/office/drawing/2014/main" id="{A87E53AC-86CB-81D2-05C4-42A4CB5177C7}"/>
              </a:ext>
            </a:extLst>
          </p:cNvPr>
          <p:cNvSpPr/>
          <p:nvPr/>
        </p:nvSpPr>
        <p:spPr>
          <a:xfrm>
            <a:off x="4457700" y="2838450"/>
            <a:ext cx="57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350"/>
              <a:buFont typeface="Lato"/>
              <a:buNone/>
            </a:pPr>
            <a:r>
              <a:rPr lang="it-IT" kern="0">
                <a:latin typeface="Lato"/>
                <a:ea typeface="Lato"/>
                <a:cs typeface="Lato"/>
                <a:sym typeface="Lato"/>
              </a:rPr>
              <a:t>THREDDS and OPeNDAP deliver only the requested subset</a:t>
            </a:r>
            <a:endParaRPr sz="2000" kern="0">
              <a:latin typeface="Arial"/>
              <a:cs typeface="Arial"/>
              <a:sym typeface="Arial"/>
            </a:endParaRPr>
          </a:p>
        </p:txBody>
      </p:sp>
      <p:sp>
        <p:nvSpPr>
          <p:cNvPr id="46" name="Google Shape;906;p31">
            <a:extLst>
              <a:ext uri="{FF2B5EF4-FFF2-40B4-BE49-F238E27FC236}">
                <a16:creationId xmlns:a16="http://schemas.microsoft.com/office/drawing/2014/main" id="{4B8A2A47-4123-3D70-A1E2-E4EEB3F732E0}"/>
              </a:ext>
            </a:extLst>
          </p:cNvPr>
          <p:cNvSpPr/>
          <p:nvPr/>
        </p:nvSpPr>
        <p:spPr>
          <a:xfrm>
            <a:off x="1695450" y="3600450"/>
            <a:ext cx="8801100" cy="6288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907;p31">
            <a:extLst>
              <a:ext uri="{FF2B5EF4-FFF2-40B4-BE49-F238E27FC236}">
                <a16:creationId xmlns:a16="http://schemas.microsoft.com/office/drawing/2014/main" id="{A13B2955-D61C-8577-3F62-21C4FF83D175}"/>
              </a:ext>
            </a:extLst>
          </p:cNvPr>
          <p:cNvSpPr/>
          <p:nvPr/>
        </p:nvSpPr>
        <p:spPr>
          <a:xfrm>
            <a:off x="1924050" y="37623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125"/>
              <a:buFont typeface="Lato"/>
              <a:buNone/>
            </a:pPr>
            <a:r>
              <a:rPr lang="it-IT" sz="1600" b="1" kern="0">
                <a:latin typeface="Lato"/>
                <a:ea typeface="Lato"/>
                <a:cs typeface="Lato"/>
                <a:sym typeface="Lato"/>
              </a:rPr>
              <a:t>03</a:t>
            </a:r>
            <a:endParaRPr sz="2000" kern="0">
              <a:latin typeface="Arial"/>
              <a:cs typeface="Arial"/>
              <a:sym typeface="Arial"/>
            </a:endParaRPr>
          </a:p>
        </p:txBody>
      </p:sp>
      <p:sp>
        <p:nvSpPr>
          <p:cNvPr id="48" name="Google Shape;908;p31">
            <a:extLst>
              <a:ext uri="{FF2B5EF4-FFF2-40B4-BE49-F238E27FC236}">
                <a16:creationId xmlns:a16="http://schemas.microsoft.com/office/drawing/2014/main" id="{69EFF8E7-86A5-190B-DBBB-849109E33437}"/>
              </a:ext>
            </a:extLst>
          </p:cNvPr>
          <p:cNvSpPr/>
          <p:nvPr/>
        </p:nvSpPr>
        <p:spPr>
          <a:xfrm>
            <a:off x="2533650" y="3673884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050"/>
              <a:buFont typeface="Lato"/>
              <a:buNone/>
            </a:pPr>
            <a:r>
              <a:rPr lang="it-IT" sz="1400" b="1" kern="0" dirty="0">
                <a:latin typeface="Lato"/>
                <a:ea typeface="Lato"/>
                <a:cs typeface="Lato"/>
                <a:sym typeface="Lato"/>
              </a:rPr>
              <a:t>HARMONIZATION</a:t>
            </a:r>
            <a:endParaRPr sz="2000" kern="0" dirty="0">
              <a:latin typeface="Arial"/>
              <a:cs typeface="Arial"/>
              <a:sym typeface="Arial"/>
            </a:endParaRPr>
          </a:p>
        </p:txBody>
      </p:sp>
      <p:sp>
        <p:nvSpPr>
          <p:cNvPr id="49" name="Google Shape;909;p31">
            <a:extLst>
              <a:ext uri="{FF2B5EF4-FFF2-40B4-BE49-F238E27FC236}">
                <a16:creationId xmlns:a16="http://schemas.microsoft.com/office/drawing/2014/main" id="{B288D326-41BB-0769-ED77-0F40ABE32021}"/>
              </a:ext>
            </a:extLst>
          </p:cNvPr>
          <p:cNvSpPr/>
          <p:nvPr/>
        </p:nvSpPr>
        <p:spPr>
          <a:xfrm>
            <a:off x="4819650" y="3714750"/>
            <a:ext cx="502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350"/>
              <a:buFont typeface="Lato"/>
              <a:buNone/>
            </a:pPr>
            <a:r>
              <a:rPr lang="it-IT" kern="0">
                <a:latin typeface="Lato"/>
                <a:ea typeface="Lato"/>
                <a:cs typeface="Lato"/>
                <a:sym typeface="Lato"/>
              </a:rPr>
              <a:t>Spatial selection, calendars, units and analysis-ready structures</a:t>
            </a:r>
            <a:endParaRPr sz="2000" kern="0">
              <a:latin typeface="Arial"/>
              <a:cs typeface="Arial"/>
              <a:sym typeface="Arial"/>
            </a:endParaRPr>
          </a:p>
        </p:txBody>
      </p:sp>
      <p:sp>
        <p:nvSpPr>
          <p:cNvPr id="50" name="Google Shape;910;p31">
            <a:extLst>
              <a:ext uri="{FF2B5EF4-FFF2-40B4-BE49-F238E27FC236}">
                <a16:creationId xmlns:a16="http://schemas.microsoft.com/office/drawing/2014/main" id="{FF2DC941-621F-60B1-8E40-74AE8F1A6A17}"/>
              </a:ext>
            </a:extLst>
          </p:cNvPr>
          <p:cNvSpPr/>
          <p:nvPr/>
        </p:nvSpPr>
        <p:spPr>
          <a:xfrm>
            <a:off x="2057400" y="4476750"/>
            <a:ext cx="8077200" cy="628800"/>
          </a:xfrm>
          <a:prstGeom prst="rect">
            <a:avLst/>
          </a:prstGeom>
          <a:solidFill>
            <a:srgbClr val="F2B632">
              <a:alpha val="20000"/>
            </a:srgbClr>
          </a:solidFill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911;p31">
            <a:extLst>
              <a:ext uri="{FF2B5EF4-FFF2-40B4-BE49-F238E27FC236}">
                <a16:creationId xmlns:a16="http://schemas.microsoft.com/office/drawing/2014/main" id="{F4945406-149F-C588-C083-B7D4F21F32F2}"/>
              </a:ext>
            </a:extLst>
          </p:cNvPr>
          <p:cNvSpPr/>
          <p:nvPr/>
        </p:nvSpPr>
        <p:spPr>
          <a:xfrm>
            <a:off x="2286000" y="46386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FFD879"/>
              </a:buClr>
              <a:buSzPts val="1125"/>
              <a:buFont typeface="Lato"/>
              <a:buNone/>
            </a:pPr>
            <a:r>
              <a:rPr lang="it-IT" sz="1600" b="1" kern="0">
                <a:latin typeface="Lato"/>
                <a:ea typeface="Lato"/>
                <a:cs typeface="Lato"/>
                <a:sym typeface="Lato"/>
              </a:rPr>
              <a:t>04</a:t>
            </a:r>
            <a:endParaRPr sz="2000" kern="0">
              <a:latin typeface="Arial"/>
              <a:cs typeface="Arial"/>
              <a:sym typeface="Arial"/>
            </a:endParaRPr>
          </a:p>
        </p:txBody>
      </p:sp>
      <p:sp>
        <p:nvSpPr>
          <p:cNvPr id="52" name="Google Shape;912;p31">
            <a:extLst>
              <a:ext uri="{FF2B5EF4-FFF2-40B4-BE49-F238E27FC236}">
                <a16:creationId xmlns:a16="http://schemas.microsoft.com/office/drawing/2014/main" id="{D4C3E2EF-286A-9783-DECE-FBF3FB4D0468}"/>
              </a:ext>
            </a:extLst>
          </p:cNvPr>
          <p:cNvSpPr/>
          <p:nvPr/>
        </p:nvSpPr>
        <p:spPr>
          <a:xfrm>
            <a:off x="2895600" y="4550184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05000"/>
              </a:lnSpc>
              <a:buClr>
                <a:srgbClr val="FFD879"/>
              </a:buClr>
              <a:buSzPts val="1050"/>
              <a:buFont typeface="Lato"/>
              <a:buNone/>
            </a:pPr>
            <a:r>
              <a:rPr lang="it-IT" sz="1400" b="1" kern="0" dirty="0">
                <a:latin typeface="Lato"/>
                <a:ea typeface="Lato"/>
                <a:cs typeface="Lato"/>
                <a:sym typeface="Lato"/>
              </a:rPr>
              <a:t>ANALYTICAL OUTPUTS</a:t>
            </a:r>
            <a:endParaRPr sz="2000" kern="0" dirty="0">
              <a:latin typeface="Arial"/>
              <a:cs typeface="Arial"/>
              <a:sym typeface="Arial"/>
            </a:endParaRPr>
          </a:p>
        </p:txBody>
      </p:sp>
      <p:sp>
        <p:nvSpPr>
          <p:cNvPr id="53" name="Google Shape;913;p31">
            <a:extLst>
              <a:ext uri="{FF2B5EF4-FFF2-40B4-BE49-F238E27FC236}">
                <a16:creationId xmlns:a16="http://schemas.microsoft.com/office/drawing/2014/main" id="{32EF49F1-F3AE-31A7-2483-1FD79E345A6E}"/>
              </a:ext>
            </a:extLst>
          </p:cNvPr>
          <p:cNvSpPr/>
          <p:nvPr/>
        </p:nvSpPr>
        <p:spPr>
          <a:xfrm>
            <a:off x="5181600" y="4591050"/>
            <a:ext cx="4305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105000"/>
              </a:lnSpc>
              <a:buClr>
                <a:srgbClr val="FFFFFF"/>
              </a:buClr>
              <a:buSzPts val="1250"/>
              <a:buFont typeface="Lato"/>
              <a:buNone/>
            </a:pPr>
            <a:r>
              <a:rPr lang="it-IT" kern="0">
                <a:latin typeface="Lato"/>
                <a:ea typeface="Lato"/>
                <a:cs typeface="Lato"/>
                <a:sym typeface="Lato"/>
              </a:rPr>
              <a:t>Indicators, maps, time series and data for downstream workflows</a:t>
            </a:r>
            <a:endParaRPr sz="2000" kern="0"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5728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1B10C-FBAA-6BAD-4106-11B387BDB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717DB1-BDA1-E36F-3CA4-319D9607D4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8102A739-7D9A-65CF-FA71-7D4D7AC739CB}"/>
              </a:ext>
            </a:extLst>
          </p:cNvPr>
          <p:cNvSpPr txBox="1">
            <a:spLocks/>
          </p:cNvSpPr>
          <p:nvPr/>
        </p:nvSpPr>
        <p:spPr>
          <a:xfrm>
            <a:off x="1108668" y="1532374"/>
            <a:ext cx="10363200" cy="4496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SECTION </a:t>
            </a:r>
            <a:r>
              <a:rPr lang="en-US" sz="4800" b="1" kern="0" dirty="0"/>
              <a:t>2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: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b="1" dirty="0"/>
          </a:p>
          <a:p>
            <a:pPr marL="12700" lvl="0">
              <a:spcBef>
                <a:spcPts val="100"/>
              </a:spcBef>
              <a:defRPr/>
            </a:pPr>
            <a:r>
              <a:rPr lang="en-GB" sz="4800" kern="0" dirty="0"/>
              <a:t>CAVA Analytics Installation</a:t>
            </a:r>
          </a:p>
          <a:p>
            <a:pPr marL="12700" lvl="0">
              <a:spcBef>
                <a:spcPts val="100"/>
              </a:spcBef>
              <a:defRPr/>
            </a:pPr>
            <a:endParaRPr kumimoji="0" lang="en-GB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  <a:p>
            <a:pPr marL="12700" lvl="0">
              <a:spcBef>
                <a:spcPts val="100"/>
              </a:spcBef>
              <a:defRPr/>
            </a:pPr>
            <a:br>
              <a:rPr lang="en-GB" sz="4800" dirty="0"/>
            </a:br>
            <a:endParaRPr kumimoji="0" lang="en-US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8250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5C483-6989-A7A3-3174-400F6CB63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A74F7325-D90A-6B2A-110B-E8BD661C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35EC2056-7290-E754-0CB4-B60EBA3280E9}"/>
              </a:ext>
            </a:extLst>
          </p:cNvPr>
          <p:cNvSpPr txBox="1">
            <a:spLocks noChangeArrowheads="1"/>
          </p:cNvSpPr>
          <p:nvPr/>
        </p:nvSpPr>
        <p:spPr>
          <a:xfrm>
            <a:off x="411163" y="217273"/>
            <a:ext cx="11156950" cy="5461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kern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Installation pre-requisites</a:t>
            </a:r>
            <a:endParaRPr lang="en-GB" kern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8A3377-A71D-68C5-622F-5FDCA8A8E7EC}"/>
              </a:ext>
            </a:extLst>
          </p:cNvPr>
          <p:cNvSpPr/>
          <p:nvPr/>
        </p:nvSpPr>
        <p:spPr>
          <a:xfrm>
            <a:off x="865239" y="1504335"/>
            <a:ext cx="4768645" cy="277269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5D15F1-425A-4091-707A-0895040C880E}"/>
              </a:ext>
            </a:extLst>
          </p:cNvPr>
          <p:cNvSpPr/>
          <p:nvPr/>
        </p:nvSpPr>
        <p:spPr>
          <a:xfrm>
            <a:off x="6405718" y="1391264"/>
            <a:ext cx="4768645" cy="2885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C04C1-7571-E96C-FFF2-20355998DC8D}"/>
              </a:ext>
            </a:extLst>
          </p:cNvPr>
          <p:cNvSpPr txBox="1"/>
          <p:nvPr/>
        </p:nvSpPr>
        <p:spPr>
          <a:xfrm>
            <a:off x="1238865" y="2828835"/>
            <a:ext cx="3667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Miniforge</a:t>
            </a:r>
            <a:r>
              <a:rPr lang="en-GB" sz="2400" dirty="0"/>
              <a:t> (Python and Conda)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Visual Studio Code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4AC5E-D2FC-7D9E-FD17-FBF81B99551E}"/>
              </a:ext>
            </a:extLst>
          </p:cNvPr>
          <p:cNvSpPr txBox="1"/>
          <p:nvPr/>
        </p:nvSpPr>
        <p:spPr>
          <a:xfrm>
            <a:off x="6818671" y="2828834"/>
            <a:ext cx="3667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R and </a:t>
            </a:r>
            <a:r>
              <a:rPr lang="en-GB" sz="2400" dirty="0" err="1"/>
              <a:t>Rstudio</a:t>
            </a: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Rtools</a:t>
            </a: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Java JDK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AB4F0E-151D-7678-3AEA-8DFBFD42DB7D}"/>
              </a:ext>
            </a:extLst>
          </p:cNvPr>
          <p:cNvSpPr txBox="1"/>
          <p:nvPr/>
        </p:nvSpPr>
        <p:spPr>
          <a:xfrm>
            <a:off x="1966451" y="1756582"/>
            <a:ext cx="3667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Mac/Linux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963106-C84C-94AF-B179-377BF17FBB18}"/>
              </a:ext>
            </a:extLst>
          </p:cNvPr>
          <p:cNvSpPr txBox="1"/>
          <p:nvPr/>
        </p:nvSpPr>
        <p:spPr>
          <a:xfrm>
            <a:off x="7659328" y="1756581"/>
            <a:ext cx="3667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Windows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4312269-867D-A00F-CF50-6689621AEE17}"/>
              </a:ext>
            </a:extLst>
          </p:cNvPr>
          <p:cNvSpPr/>
          <p:nvPr/>
        </p:nvSpPr>
        <p:spPr>
          <a:xfrm>
            <a:off x="865238" y="4702954"/>
            <a:ext cx="10309125" cy="124556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24C2D5-D5B7-D29A-31A4-5B3956F949B4}"/>
              </a:ext>
            </a:extLst>
          </p:cNvPr>
          <p:cNvSpPr txBox="1"/>
          <p:nvPr/>
        </p:nvSpPr>
        <p:spPr>
          <a:xfrm>
            <a:off x="983225" y="4900304"/>
            <a:ext cx="10073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Installation scripts: </a:t>
            </a:r>
            <a:r>
              <a:rPr lang="en-GB" dirty="0">
                <a:hlinkClick r:id="rId3"/>
              </a:rPr>
              <a:t>https://github.com/Risk-Team/trainings/tree/main/CAVAtraining/ROM</a:t>
            </a:r>
            <a:endParaRPr lang="en-GB" dirty="0"/>
          </a:p>
          <a:p>
            <a:endParaRPr lang="en-GB" dirty="0"/>
          </a:p>
          <a:p>
            <a:r>
              <a:rPr lang="en-GB" b="1" dirty="0"/>
              <a:t>Pre-downloaded data</a:t>
            </a:r>
            <a:r>
              <a:rPr lang="en-GB" dirty="0"/>
              <a:t>: </a:t>
            </a:r>
            <a:r>
              <a:rPr lang="en-GB" dirty="0">
                <a:hlinkClick r:id="rId4"/>
              </a:rPr>
              <a:t>https://we.tl/t-SguJFbJOtDFwfi6G</a:t>
            </a:r>
            <a:r>
              <a:rPr lang="en-GB" dirty="0"/>
              <a:t> (no longer valid)</a:t>
            </a:r>
          </a:p>
        </p:txBody>
      </p:sp>
    </p:spTree>
    <p:extLst>
      <p:ext uri="{BB962C8B-B14F-4D97-AF65-F5344CB8AC3E}">
        <p14:creationId xmlns:p14="http://schemas.microsoft.com/office/powerpoint/2010/main" val="1204947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A8CE9-6E6D-E2B8-E9A2-C1D62F809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98AFF2CC-EA48-4659-C9D7-5F9473354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99865EAA-FE0E-0B23-FB18-FB9138EF031F}"/>
              </a:ext>
            </a:extLst>
          </p:cNvPr>
          <p:cNvSpPr txBox="1">
            <a:spLocks noChangeArrowheads="1"/>
          </p:cNvSpPr>
          <p:nvPr/>
        </p:nvSpPr>
        <p:spPr>
          <a:xfrm>
            <a:off x="411163" y="217273"/>
            <a:ext cx="11156950" cy="5461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kern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Installation pre-requisites</a:t>
            </a:r>
            <a:endParaRPr lang="en-GB" kern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EE2F08-3A99-4FD1-66A8-0AE76B7692E5}"/>
              </a:ext>
            </a:extLst>
          </p:cNvPr>
          <p:cNvSpPr/>
          <p:nvPr/>
        </p:nvSpPr>
        <p:spPr>
          <a:xfrm>
            <a:off x="411163" y="1616733"/>
            <a:ext cx="11476037" cy="44012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1F958-D709-A640-4A9F-5F024357D13A}"/>
              </a:ext>
            </a:extLst>
          </p:cNvPr>
          <p:cNvSpPr txBox="1"/>
          <p:nvPr/>
        </p:nvSpPr>
        <p:spPr>
          <a:xfrm>
            <a:off x="762168" y="2567664"/>
            <a:ext cx="106676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Download the latest version of each package in the following order: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R (</a:t>
            </a:r>
            <a:r>
              <a:rPr lang="en-GB" sz="2000" dirty="0">
                <a:hlinkClick r:id="rId3"/>
              </a:rPr>
              <a:t>https://cran.r-project.org/bin/windows/base/</a:t>
            </a:r>
            <a:r>
              <a:rPr lang="en-GB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RStudio (</a:t>
            </a:r>
            <a:r>
              <a:rPr lang="en-GB" sz="2000" dirty="0">
                <a:hlinkClick r:id="rId4"/>
              </a:rPr>
              <a:t>https://posit.co/downloads</a:t>
            </a:r>
            <a:r>
              <a:rPr lang="en-GB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 err="1"/>
              <a:t>Rtools</a:t>
            </a:r>
            <a:r>
              <a:rPr lang="en-GB" sz="2000" dirty="0"/>
              <a:t> (</a:t>
            </a:r>
            <a:r>
              <a:rPr lang="en-GB" sz="2000" dirty="0">
                <a:hlinkClick r:id="rId5"/>
              </a:rPr>
              <a:t>https://cran.r-project.org/bin/windows/Rtools/</a:t>
            </a:r>
            <a:r>
              <a:rPr lang="en-GB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Java JDK (</a:t>
            </a:r>
            <a:r>
              <a:rPr lang="en-GB" sz="2000" dirty="0">
                <a:hlinkClick r:id="rId6"/>
              </a:rPr>
              <a:t>https://www.oracle.com/java/technologies/downloads/#jdk27-windows</a:t>
            </a:r>
            <a:r>
              <a:rPr lang="en-GB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endParaRPr lang="en-GB" sz="2000" dirty="0"/>
          </a:p>
          <a:p>
            <a:r>
              <a:rPr lang="en-GB" sz="2000" b="1" dirty="0"/>
              <a:t>You need to open all downloads and click through installation instructions</a:t>
            </a:r>
          </a:p>
          <a:p>
            <a:endParaRPr lang="en-GB" sz="2000" b="1" dirty="0"/>
          </a:p>
          <a:p>
            <a:r>
              <a:rPr lang="en-GB" sz="2000" b="1" dirty="0"/>
              <a:t>When installing CAVA Analytics you may receive error about download being blocked by Smart App Control. You must deactivate live Windows Security activity to proceed.</a:t>
            </a:r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b="1" dirty="0"/>
          </a:p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03805-A437-C5D2-5A4B-8449011F75B0}"/>
              </a:ext>
            </a:extLst>
          </p:cNvPr>
          <p:cNvSpPr txBox="1"/>
          <p:nvPr/>
        </p:nvSpPr>
        <p:spPr>
          <a:xfrm>
            <a:off x="3255664" y="1689186"/>
            <a:ext cx="5467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Note for Windows users</a:t>
            </a:r>
          </a:p>
        </p:txBody>
      </p:sp>
    </p:spTree>
    <p:extLst>
      <p:ext uri="{BB962C8B-B14F-4D97-AF65-F5344CB8AC3E}">
        <p14:creationId xmlns:p14="http://schemas.microsoft.com/office/powerpoint/2010/main" val="1572876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37F73-9982-82E2-351E-D6EA00B7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7FC1E5-F88A-6551-E4C8-A6C8023129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A44C20C-2BCC-803E-D94E-CC00825D4FEE}"/>
              </a:ext>
            </a:extLst>
          </p:cNvPr>
          <p:cNvSpPr txBox="1">
            <a:spLocks/>
          </p:cNvSpPr>
          <p:nvPr/>
        </p:nvSpPr>
        <p:spPr>
          <a:xfrm>
            <a:off x="1108668" y="1532374"/>
            <a:ext cx="10363200" cy="4496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SECTION 3: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b="1" dirty="0"/>
          </a:p>
          <a:p>
            <a:pPr marL="12700" lvl="0">
              <a:spcBef>
                <a:spcPts val="100"/>
              </a:spcBef>
              <a:defRPr/>
            </a:pPr>
            <a:r>
              <a:rPr lang="en-GB" sz="4800" dirty="0"/>
              <a:t>Understanding climate data</a:t>
            </a:r>
            <a:endParaRPr lang="en-GB" sz="4800" kern="0" dirty="0"/>
          </a:p>
          <a:p>
            <a:pPr marL="12700" lvl="0">
              <a:spcBef>
                <a:spcPts val="100"/>
              </a:spcBef>
              <a:defRPr/>
            </a:pPr>
            <a:endParaRPr kumimoji="0" lang="en-GB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  <a:p>
            <a:pPr marL="12700" lvl="0">
              <a:spcBef>
                <a:spcPts val="100"/>
              </a:spcBef>
              <a:defRPr/>
            </a:pPr>
            <a:br>
              <a:rPr lang="en-GB" sz="4800" dirty="0"/>
            </a:br>
            <a:endParaRPr kumimoji="0" lang="en-US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3660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420A-F9BA-C139-FAC9-79CB994F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B96FEE4C-3AA6-7512-0FC2-BFA673A56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BBF9F852-FBBE-7B8C-B5D6-DE1073E2A8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Measuring historical climate - observations</a:t>
            </a:r>
            <a:endParaRPr lang="en-GB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26" name="Picture 2" descr="Automatic Weather Station | Springer Nature Link">
            <a:extLst>
              <a:ext uri="{FF2B5EF4-FFF2-40B4-BE49-F238E27FC236}">
                <a16:creationId xmlns:a16="http://schemas.microsoft.com/office/drawing/2014/main" id="{D58BD1BA-30D9-525E-A621-6C9E7ECCB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263" y="2080385"/>
            <a:ext cx="2228469" cy="335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1B584B-DE3C-BA28-E4A4-96077059A176}"/>
              </a:ext>
            </a:extLst>
          </p:cNvPr>
          <p:cNvSpPr txBox="1"/>
          <p:nvPr/>
        </p:nvSpPr>
        <p:spPr>
          <a:xfrm>
            <a:off x="1346805" y="1741831"/>
            <a:ext cx="2935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Weather stations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A8516-17A9-1466-9CAF-DB26C5F25036}"/>
              </a:ext>
            </a:extLst>
          </p:cNvPr>
          <p:cNvSpPr txBox="1"/>
          <p:nvPr/>
        </p:nvSpPr>
        <p:spPr>
          <a:xfrm>
            <a:off x="843885" y="5490543"/>
            <a:ext cx="2935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Ahmad et al., 2017 Experimental Agrometeorology: A Practical Manual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419F9BF-6E14-E578-4F7E-12BDD884A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628" y="1349058"/>
            <a:ext cx="1750443" cy="21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577118-B366-C29F-02D8-8D8091B81BC1}"/>
              </a:ext>
            </a:extLst>
          </p:cNvPr>
          <p:cNvSpPr txBox="1"/>
          <p:nvPr/>
        </p:nvSpPr>
        <p:spPr>
          <a:xfrm>
            <a:off x="6899971" y="1555741"/>
            <a:ext cx="2935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MODIS Terra</a:t>
            </a:r>
          </a:p>
          <a:p>
            <a:endParaRPr lang="en-GB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Water vapour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Aerosols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Surface albedo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 dirty="0"/>
          </a:p>
        </p:txBody>
      </p:sp>
      <p:pic>
        <p:nvPicPr>
          <p:cNvPr id="1030" name="Picture 6" descr="Earth system diagram">
            <a:extLst>
              <a:ext uri="{FF2B5EF4-FFF2-40B4-BE49-F238E27FC236}">
                <a16:creationId xmlns:a16="http://schemas.microsoft.com/office/drawing/2014/main" id="{2864627F-42AC-B54C-F476-BF73936E5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4" y="4046302"/>
            <a:ext cx="3819968" cy="215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78FA6A-2388-8BF0-8986-B6035D552934}"/>
              </a:ext>
            </a:extLst>
          </p:cNvPr>
          <p:cNvSpPr txBox="1"/>
          <p:nvPr/>
        </p:nvSpPr>
        <p:spPr>
          <a:xfrm>
            <a:off x="7553577" y="3699427"/>
            <a:ext cx="2935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Weather forecast models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 dirty="0"/>
          </a:p>
        </p:txBody>
      </p:sp>
      <p:pic>
        <p:nvPicPr>
          <p:cNvPr id="2" name="Picture 1" descr="Climate Info for Agriculture">
            <a:extLst>
              <a:ext uri="{FF2B5EF4-FFF2-40B4-BE49-F238E27FC236}">
                <a16:creationId xmlns:a16="http://schemas.microsoft.com/office/drawing/2014/main" id="{FC293A3D-A389-789E-8E0F-44CB77E43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488" y="2660931"/>
            <a:ext cx="2186848" cy="277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85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8C72-9FE6-85F4-5E52-E98D63F1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88D7F0-5605-E2D7-2574-E28912824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167" y="3919928"/>
            <a:ext cx="2653200" cy="265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D2CA42-44EF-4548-4E61-8898F2C8A4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702" y="1149986"/>
            <a:ext cx="2652252" cy="2652252"/>
          </a:xfrm>
          <a:prstGeom prst="rect">
            <a:avLst/>
          </a:prstGeom>
        </p:spPr>
      </p:pic>
      <p:sp>
        <p:nvSpPr>
          <p:cNvPr id="10244" name="CustomShape 1">
            <a:extLst>
              <a:ext uri="{FF2B5EF4-FFF2-40B4-BE49-F238E27FC236}">
                <a16:creationId xmlns:a16="http://schemas.microsoft.com/office/drawing/2014/main" id="{368C4C73-85C7-BDDF-905F-AF8960D72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35E37D6B-EBA5-88A8-FC44-C28DE2E31AA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/>
          <a:lstStyle/>
          <a:p>
            <a:r>
              <a:rPr lang="en-GB" sz="3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Measuring historical climate – gridded datasets</a:t>
            </a:r>
            <a:endParaRPr lang="en-GB" noProof="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D94642-F165-AC36-8B53-453CA3C133FC}"/>
              </a:ext>
            </a:extLst>
          </p:cNvPr>
          <p:cNvSpPr txBox="1"/>
          <p:nvPr/>
        </p:nvSpPr>
        <p:spPr>
          <a:xfrm>
            <a:off x="694944" y="1098336"/>
            <a:ext cx="62727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ERA5 - ECMWF Reanalysis v5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1940-present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~31km spatial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Hourly temporal resolution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Weather forecasting model – 12h intervals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Observational data (satellite, station etc.) –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Outputs: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Temperature (</a:t>
            </a:r>
            <a:r>
              <a:rPr lang="en-GB" dirty="0" err="1"/>
              <a:t>tas</a:t>
            </a:r>
            <a:r>
              <a:rPr lang="en-GB" dirty="0"/>
              <a:t>, </a:t>
            </a:r>
            <a:r>
              <a:rPr lang="en-GB" dirty="0" err="1"/>
              <a:t>tasmin</a:t>
            </a:r>
            <a:r>
              <a:rPr lang="en-GB" dirty="0"/>
              <a:t>, </a:t>
            </a:r>
            <a:r>
              <a:rPr lang="en-GB" dirty="0" err="1"/>
              <a:t>tasmax</a:t>
            </a:r>
            <a:r>
              <a:rPr lang="en-GB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Precipitation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Other (wind speed, humidity, solar radiation etc.)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FBCF7-EA69-6A60-880B-7A1E9B14FC01}"/>
              </a:ext>
            </a:extLst>
          </p:cNvPr>
          <p:cNvSpPr txBox="1"/>
          <p:nvPr/>
        </p:nvSpPr>
        <p:spPr>
          <a:xfrm>
            <a:off x="694944" y="4711161"/>
            <a:ext cx="6080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W5E5 (bias-corrected ERA5)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Uses more recent, better observational data for model correction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Has low spatial resolution (~60km)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Shorter time period (1979-2019)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FEE60-7DF6-4304-8FD4-2759F503BFE9}"/>
              </a:ext>
            </a:extLst>
          </p:cNvPr>
          <p:cNvSpPr txBox="1"/>
          <p:nvPr/>
        </p:nvSpPr>
        <p:spPr>
          <a:xfrm>
            <a:off x="8740732" y="1134788"/>
            <a:ext cx="155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ERA5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73B756-58EE-4429-EFE9-CBD0667A4F59}"/>
              </a:ext>
            </a:extLst>
          </p:cNvPr>
          <p:cNvCxnSpPr/>
          <p:nvPr/>
        </p:nvCxnSpPr>
        <p:spPr>
          <a:xfrm>
            <a:off x="8403041" y="2139696"/>
            <a:ext cx="0" cy="2560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E3586C-BB50-3B9A-3D93-0EFFF2061EA2}"/>
              </a:ext>
            </a:extLst>
          </p:cNvPr>
          <p:cNvCxnSpPr>
            <a:cxnSpLocks/>
          </p:cNvCxnSpPr>
          <p:nvPr/>
        </p:nvCxnSpPr>
        <p:spPr>
          <a:xfrm rot="16200000">
            <a:off x="8224833" y="1938528"/>
            <a:ext cx="0" cy="2560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F26789-5A19-939E-3514-FCF15FC26C97}"/>
              </a:ext>
            </a:extLst>
          </p:cNvPr>
          <p:cNvCxnSpPr>
            <a:cxnSpLocks/>
          </p:cNvCxnSpPr>
          <p:nvPr/>
        </p:nvCxnSpPr>
        <p:spPr>
          <a:xfrm>
            <a:off x="11180965" y="4787031"/>
            <a:ext cx="0" cy="5303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0C7F60-DAD0-6BB8-7D75-42782E53E863}"/>
              </a:ext>
            </a:extLst>
          </p:cNvPr>
          <p:cNvCxnSpPr>
            <a:cxnSpLocks/>
          </p:cNvCxnSpPr>
          <p:nvPr/>
        </p:nvCxnSpPr>
        <p:spPr>
          <a:xfrm rot="16200000">
            <a:off x="10770370" y="4369124"/>
            <a:ext cx="0" cy="5303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EB1B12-7B4B-637F-9C9E-43386B14AEFB}"/>
              </a:ext>
            </a:extLst>
          </p:cNvPr>
          <p:cNvSpPr txBox="1"/>
          <p:nvPr/>
        </p:nvSpPr>
        <p:spPr>
          <a:xfrm>
            <a:off x="8933051" y="3919928"/>
            <a:ext cx="155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W5E5</a:t>
            </a:r>
          </a:p>
        </p:txBody>
      </p:sp>
    </p:spTree>
    <p:extLst>
      <p:ext uri="{BB962C8B-B14F-4D97-AF65-F5344CB8AC3E}">
        <p14:creationId xmlns:p14="http://schemas.microsoft.com/office/powerpoint/2010/main" val="175009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4A284-8E1A-EAA8-4DD5-0B5137174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>
            <a:extLst>
              <a:ext uri="{FF2B5EF4-FFF2-40B4-BE49-F238E27FC236}">
                <a16:creationId xmlns:a16="http://schemas.microsoft.com/office/drawing/2014/main" id="{AB6F15C3-F889-47FD-6ADA-22A59C182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8908C8D9-E416-15DA-E602-396B5EDB6387}"/>
              </a:ext>
            </a:extLst>
          </p:cNvPr>
          <p:cNvSpPr/>
          <p:nvPr/>
        </p:nvSpPr>
        <p:spPr>
          <a:xfrm>
            <a:off x="267973" y="103462"/>
            <a:ext cx="11924027" cy="6771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91440" rIns="91440" bIns="9144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812760">
              <a:defRPr/>
            </a:pPr>
            <a:r>
              <a:rPr lang="en-GB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Measuring future climate – GCMs vs RCMs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1026" name="Picture 2" descr="Downscaling from Global Climate Models (GCMs) to Regional Climate... |  Download Scientific Diagram">
            <a:extLst>
              <a:ext uri="{FF2B5EF4-FFF2-40B4-BE49-F238E27FC236}">
                <a16:creationId xmlns:a16="http://schemas.microsoft.com/office/drawing/2014/main" id="{6DC31997-B5E0-B098-4FAC-4226A2B41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332" y="4023112"/>
            <a:ext cx="4493426" cy="226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9B721164-02A8-105E-4F5E-02F283684229}"/>
              </a:ext>
            </a:extLst>
          </p:cNvPr>
          <p:cNvGraphicFramePr>
            <a:graphicFrameLocks noGrp="1"/>
          </p:cNvGraphicFramePr>
          <p:nvPr/>
        </p:nvGraphicFramePr>
        <p:xfrm>
          <a:off x="555835" y="1085348"/>
          <a:ext cx="1108033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955">
                  <a:extLst>
                    <a:ext uri="{9D8B030D-6E8A-4147-A177-3AD203B41FA5}">
                      <a16:colId xmlns:a16="http://schemas.microsoft.com/office/drawing/2014/main" val="3869094609"/>
                    </a:ext>
                  </a:extLst>
                </a:gridCol>
                <a:gridCol w="4399335">
                  <a:extLst>
                    <a:ext uri="{9D8B030D-6E8A-4147-A177-3AD203B41FA5}">
                      <a16:colId xmlns:a16="http://schemas.microsoft.com/office/drawing/2014/main" val="3908018062"/>
                    </a:ext>
                  </a:extLst>
                </a:gridCol>
                <a:gridCol w="4540040">
                  <a:extLst>
                    <a:ext uri="{9D8B030D-6E8A-4147-A177-3AD203B41FA5}">
                      <a16:colId xmlns:a16="http://schemas.microsoft.com/office/drawing/2014/main" val="63459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Aspect</a:t>
                      </a:r>
                      <a:endParaRPr lang="en-US" sz="1800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rebuchet MS" panose="020B0603020202020204" pitchFamily="34" charset="0"/>
                        </a:rPr>
                        <a:t>Global Climate Models (GCMs)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rebuchet MS" panose="020B0603020202020204" pitchFamily="34" charset="0"/>
                        </a:rPr>
                        <a:t>Regional Climate Models (RCMs)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516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Scale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Global (entire 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Regional (specific regions)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21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Grid size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±100 to 500km or more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±1 to 50 km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95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Implications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Captures global climate trends, but not the local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Provides detailed simulations of local climatic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47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Use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Long-term climate projections and global climate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Regional climate and impact-based studies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81981"/>
                  </a:ext>
                </a:extLst>
              </a:tr>
            </a:tbl>
          </a:graphicData>
        </a:graphic>
      </p:graphicFrame>
      <p:pic>
        <p:nvPicPr>
          <p:cNvPr id="3" name="Picture 2" descr="Module 4: Introduction to General Circulation Models | EARTH 103: Earth in  the Future">
            <a:extLst>
              <a:ext uri="{FF2B5EF4-FFF2-40B4-BE49-F238E27FC236}">
                <a16:creationId xmlns:a16="http://schemas.microsoft.com/office/drawing/2014/main" id="{19AF521F-2C0F-4C93-6A16-84B60601D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51" y="3785687"/>
            <a:ext cx="4016520" cy="274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45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1314E-E381-A9D8-7471-86AB0D5C0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C038C267-782A-C5A9-01E0-697DCF15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A5BC37E3-5C96-34BE-ABC5-467AA5CDAB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>
            <a:normAutofit fontScale="90000"/>
          </a:bodyPr>
          <a:lstStyle/>
          <a:p>
            <a:r>
              <a:rPr lang="en-GB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Future climate modelling – downscaling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9EF9C-F08D-4A86-2B3E-90B1CF9C6A2C}"/>
              </a:ext>
            </a:extLst>
          </p:cNvPr>
          <p:cNvSpPr txBox="1"/>
          <p:nvPr/>
        </p:nvSpPr>
        <p:spPr>
          <a:xfrm>
            <a:off x="786383" y="1277868"/>
            <a:ext cx="49011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Dynamical downscaling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 resolution RCMs run with GCM boundary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Climatic conditions determined through atmospheric modelling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Computationally expensive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24357-D56D-B5DA-A0B9-E5436192D4B9}"/>
              </a:ext>
            </a:extLst>
          </p:cNvPr>
          <p:cNvSpPr txBox="1"/>
          <p:nvPr/>
        </p:nvSpPr>
        <p:spPr>
          <a:xfrm>
            <a:off x="6522872" y="1274563"/>
            <a:ext cx="50452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Statistical downscaling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Determines statistical relationship between GCM/RCM conditions and local climate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Climatic conditions determined by applying statistical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Relatively low computational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pic>
        <p:nvPicPr>
          <p:cNvPr id="3" name="Picture 4" descr="Description of the CORDEX domains and their coverage">
            <a:extLst>
              <a:ext uri="{FF2B5EF4-FFF2-40B4-BE49-F238E27FC236}">
                <a16:creationId xmlns:a16="http://schemas.microsoft.com/office/drawing/2014/main" id="{695BA496-8F11-AE5F-D697-136C5CAE3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66" y="4067454"/>
            <a:ext cx="5001787" cy="2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34D177-9D26-8076-3F73-DCFCA7F177A0}"/>
              </a:ext>
            </a:extLst>
          </p:cNvPr>
          <p:cNvSpPr txBox="1"/>
          <p:nvPr/>
        </p:nvSpPr>
        <p:spPr>
          <a:xfrm>
            <a:off x="1552006" y="3705998"/>
            <a:ext cx="3145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CORDEX-CORE RCM domains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D57B89B-8FE4-47D1-C474-3BA52CA6F4F8}"/>
              </a:ext>
            </a:extLst>
          </p:cNvPr>
          <p:cNvSpPr/>
          <p:nvPr/>
        </p:nvSpPr>
        <p:spPr>
          <a:xfrm>
            <a:off x="8577072" y="4736592"/>
            <a:ext cx="274320" cy="146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32ED4A-BBB8-5BC8-7973-05142127A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837" y="3612963"/>
            <a:ext cx="2254596" cy="2818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6864AB-FB54-8147-1352-E43445A082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47"/>
          <a:stretch>
            <a:fillRect/>
          </a:stretch>
        </p:blipFill>
        <p:spPr>
          <a:xfrm>
            <a:off x="5997894" y="3695463"/>
            <a:ext cx="2397278" cy="265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5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DE17-1241-FDEE-1695-6CAB91BB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B2B242-02E4-F223-BFBC-50570ABA5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98336"/>
            <a:ext cx="5542391" cy="5542391"/>
          </a:xfrm>
          <a:prstGeom prst="rect">
            <a:avLst/>
          </a:prstGeom>
        </p:spPr>
      </p:pic>
      <p:sp>
        <p:nvSpPr>
          <p:cNvPr id="10244" name="CustomShape 1">
            <a:extLst>
              <a:ext uri="{FF2B5EF4-FFF2-40B4-BE49-F238E27FC236}">
                <a16:creationId xmlns:a16="http://schemas.microsoft.com/office/drawing/2014/main" id="{AC7E461A-AA16-DEC8-F122-0E1930600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A4F517F1-AE6C-BAF2-A96A-E5F8642E2B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>
            <a:normAutofit fontScale="90000"/>
          </a:bodyPr>
          <a:lstStyle/>
          <a:p>
            <a:r>
              <a:rPr lang="en-GB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Future climate modelling – bias correction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C464A-BE3D-4828-940C-EF301A94433B}"/>
              </a:ext>
            </a:extLst>
          </p:cNvPr>
          <p:cNvSpPr txBox="1"/>
          <p:nvPr/>
        </p:nvSpPr>
        <p:spPr>
          <a:xfrm>
            <a:off x="950318" y="1847434"/>
            <a:ext cx="490184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Climate model accuracy: </a:t>
            </a:r>
            <a:r>
              <a:rPr lang="en-GB" sz="2000" b="1" dirty="0"/>
              <a:t>historical simulation </a:t>
            </a:r>
            <a:r>
              <a:rPr lang="en-GB" sz="2000" dirty="0"/>
              <a:t>vs </a:t>
            </a:r>
            <a:r>
              <a:rPr lang="en-GB" sz="2000" b="1" dirty="0"/>
              <a:t>historical observations</a:t>
            </a:r>
          </a:p>
          <a:p>
            <a:endParaRPr lang="en-GB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Often historical simulations systematically over or underestimate temperature and precipitation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Simulation biases feed into future projections too!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solution: </a:t>
            </a:r>
            <a:r>
              <a:rPr lang="en-GB" sz="2000" b="1" dirty="0"/>
              <a:t>bias correction</a:t>
            </a:r>
          </a:p>
          <a:p>
            <a:endParaRPr lang="en-GB" sz="2000" b="1" dirty="0"/>
          </a:p>
          <a:p>
            <a:endParaRPr lang="en-GB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F9B9D-0DA8-4D53-435D-79404AA41975}"/>
              </a:ext>
            </a:extLst>
          </p:cNvPr>
          <p:cNvSpPr txBox="1"/>
          <p:nvPr/>
        </p:nvSpPr>
        <p:spPr>
          <a:xfrm>
            <a:off x="9556433" y="1147571"/>
            <a:ext cx="201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CORDEX-CORE models</a:t>
            </a:r>
          </a:p>
        </p:txBody>
      </p:sp>
    </p:spTree>
    <p:extLst>
      <p:ext uri="{BB962C8B-B14F-4D97-AF65-F5344CB8AC3E}">
        <p14:creationId xmlns:p14="http://schemas.microsoft.com/office/powerpoint/2010/main" val="3191298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AF9E5-E448-B0B7-064F-AF87A653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9741275A-5F6C-3875-28BE-594EF7581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5A8F5E7F-AA80-8A93-9B99-AFF2CDE493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>
            <a:normAutofit fontScale="90000"/>
          </a:bodyPr>
          <a:lstStyle/>
          <a:p>
            <a:r>
              <a:rPr lang="en-GB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Future climate modelling – bias correction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E98C22-ADBC-6815-DB1B-C8A395A7213E}"/>
              </a:ext>
            </a:extLst>
          </p:cNvPr>
          <p:cNvSpPr txBox="1"/>
          <p:nvPr/>
        </p:nvSpPr>
        <p:spPr>
          <a:xfrm>
            <a:off x="942149" y="1346169"/>
            <a:ext cx="47731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Scaling (simple)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Calculate the </a:t>
            </a:r>
            <a:r>
              <a:rPr lang="en-GB" b="1" dirty="0"/>
              <a:t>difference or ratio</a:t>
            </a:r>
            <a:r>
              <a:rPr lang="en-GB" dirty="0"/>
              <a:t> between model and observed: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Model = 32°C, </a:t>
            </a:r>
            <a:r>
              <a:rPr lang="en-GB" dirty="0" err="1"/>
              <a:t>Obs</a:t>
            </a:r>
            <a:r>
              <a:rPr lang="en-GB" dirty="0"/>
              <a:t> = 30°C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32°C – 30°C = 2°C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Calculate for all pixels, average, then subtract from all future projection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Corrects the mean but not variance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FFE53-D096-6DDB-6892-D027644AE6A1}"/>
              </a:ext>
            </a:extLst>
          </p:cNvPr>
          <p:cNvSpPr txBox="1"/>
          <p:nvPr/>
        </p:nvSpPr>
        <p:spPr>
          <a:xfrm>
            <a:off x="6476685" y="1342119"/>
            <a:ext cx="48920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Empirical quantile mapping (advanced)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a </a:t>
            </a:r>
            <a:r>
              <a:rPr lang="en-GB" b="1" dirty="0"/>
              <a:t>cumulative distribution function </a:t>
            </a:r>
            <a:r>
              <a:rPr lang="en-GB" dirty="0"/>
              <a:t>of historical simulation &amp;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Calculate the difference between simulation + observed at each quantile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Apply the difference to the historical and future simulations </a:t>
            </a:r>
            <a:r>
              <a:rPr lang="en-GB" b="1" dirty="0"/>
              <a:t>at the same quantile</a:t>
            </a:r>
            <a:r>
              <a:rPr lang="en-GB" dirty="0"/>
              <a:t>. </a:t>
            </a:r>
          </a:p>
        </p:txBody>
      </p:sp>
      <p:pic>
        <p:nvPicPr>
          <p:cNvPr id="21508" name="Picture 4" descr="Illustration of the bias correction process using linear scaling: (a) identifying distribution, (b) shifting the prediction data using equation (2).">
            <a:extLst>
              <a:ext uri="{FF2B5EF4-FFF2-40B4-BE49-F238E27FC236}">
                <a16:creationId xmlns:a16="http://schemas.microsoft.com/office/drawing/2014/main" id="{AF120039-254D-BE16-51E7-B34849F52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31" y="3851290"/>
            <a:ext cx="4755809" cy="258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Fig. 2">
            <a:extLst>
              <a:ext uri="{FF2B5EF4-FFF2-40B4-BE49-F238E27FC236}">
                <a16:creationId xmlns:a16="http://schemas.microsoft.com/office/drawing/2014/main" id="{B40E1983-84C1-4B86-34F7-5C2B5B5A0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796" y="3851290"/>
            <a:ext cx="2878928" cy="203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08ED2A-53BB-B6BE-F964-879209C3385B}"/>
              </a:ext>
            </a:extLst>
          </p:cNvPr>
          <p:cNvSpPr txBox="1"/>
          <p:nvPr/>
        </p:nvSpPr>
        <p:spPr>
          <a:xfrm>
            <a:off x="10409873" y="5882615"/>
            <a:ext cx="2316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 err="1"/>
              <a:t>Maraun</a:t>
            </a:r>
            <a:r>
              <a:rPr lang="en-GB" sz="1100" b="1" dirty="0"/>
              <a:t>, 2016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8A87F-7CCD-97FA-5960-BFB80657C1A3}"/>
              </a:ext>
            </a:extLst>
          </p:cNvPr>
          <p:cNvSpPr txBox="1"/>
          <p:nvPr/>
        </p:nvSpPr>
        <p:spPr>
          <a:xfrm>
            <a:off x="3966326" y="6419823"/>
            <a:ext cx="2316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 err="1"/>
              <a:t>Nurdiati</a:t>
            </a:r>
            <a:r>
              <a:rPr lang="en-GB" sz="1100" b="1" dirty="0"/>
              <a:t> et al., 2021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5D6E10-FD98-101A-4575-958D228753E9}"/>
              </a:ext>
            </a:extLst>
          </p:cNvPr>
          <p:cNvSpPr txBox="1"/>
          <p:nvPr/>
        </p:nvSpPr>
        <p:spPr>
          <a:xfrm>
            <a:off x="6692862" y="3851289"/>
            <a:ext cx="1655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Obs90th = </a:t>
            </a:r>
            <a:r>
              <a:rPr lang="en-GB" sz="1400" b="1" dirty="0"/>
              <a:t>30</a:t>
            </a:r>
            <a:r>
              <a:rPr lang="en-GB" sz="1400" dirty="0"/>
              <a:t>°</a:t>
            </a:r>
            <a:r>
              <a:rPr lang="en-GB" sz="1400" b="1" dirty="0"/>
              <a:t>C</a:t>
            </a:r>
          </a:p>
          <a:p>
            <a:r>
              <a:rPr lang="en-GB" sz="1400" dirty="0"/>
              <a:t>Hist90th = </a:t>
            </a:r>
            <a:r>
              <a:rPr lang="en-GB" sz="1400" b="1" dirty="0"/>
              <a:t>28</a:t>
            </a:r>
            <a:r>
              <a:rPr lang="en-GB" sz="1400" dirty="0"/>
              <a:t>°</a:t>
            </a:r>
            <a:r>
              <a:rPr lang="en-GB" sz="1400" b="1" dirty="0"/>
              <a:t>C</a:t>
            </a:r>
          </a:p>
          <a:p>
            <a:r>
              <a:rPr lang="en-GB" sz="1400" dirty="0"/>
              <a:t>Difference = </a:t>
            </a:r>
            <a:r>
              <a:rPr lang="en-GB" sz="1400" b="1" dirty="0"/>
              <a:t>+2</a:t>
            </a:r>
            <a:r>
              <a:rPr lang="en-GB" sz="1400" dirty="0"/>
              <a:t>°</a:t>
            </a:r>
            <a:r>
              <a:rPr lang="en-GB" sz="1400" b="1" dirty="0"/>
              <a:t>C</a:t>
            </a:r>
          </a:p>
          <a:p>
            <a:r>
              <a:rPr lang="en-GB" sz="1400" dirty="0"/>
              <a:t>Fut90th = </a:t>
            </a:r>
            <a:r>
              <a:rPr lang="en-GB" sz="1400" b="1" dirty="0"/>
              <a:t>33</a:t>
            </a:r>
            <a:r>
              <a:rPr lang="en-GB" sz="1400" dirty="0"/>
              <a:t>°</a:t>
            </a:r>
            <a:r>
              <a:rPr lang="en-GB" sz="1400" b="1" dirty="0"/>
              <a:t>C</a:t>
            </a:r>
          </a:p>
          <a:p>
            <a:endParaRPr lang="en-GB" sz="1400" b="1" dirty="0"/>
          </a:p>
          <a:p>
            <a:r>
              <a:rPr lang="en-GB" sz="1400" dirty="0"/>
              <a:t>Corrected Hist90th = </a:t>
            </a:r>
            <a:r>
              <a:rPr lang="en-GB" sz="1400" b="1" dirty="0"/>
              <a:t>30</a:t>
            </a:r>
            <a:r>
              <a:rPr lang="en-GB" sz="1400" dirty="0"/>
              <a:t>°</a:t>
            </a:r>
            <a:r>
              <a:rPr lang="en-GB" sz="1400" b="1" dirty="0"/>
              <a:t>C</a:t>
            </a:r>
          </a:p>
          <a:p>
            <a:r>
              <a:rPr lang="en-GB" sz="1400" dirty="0"/>
              <a:t>Corrected Fut90th = </a:t>
            </a:r>
            <a:r>
              <a:rPr lang="en-GB" sz="1400" b="1" dirty="0"/>
              <a:t>35</a:t>
            </a:r>
            <a:r>
              <a:rPr lang="en-GB" sz="1400" dirty="0"/>
              <a:t>°</a:t>
            </a:r>
            <a:r>
              <a:rPr lang="en-GB" sz="1400" b="1" dirty="0"/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5E7F24-DAF0-9FF3-6578-F870EA66ADC4}"/>
              </a:ext>
            </a:extLst>
          </p:cNvPr>
          <p:cNvCxnSpPr/>
          <p:nvPr/>
        </p:nvCxnSpPr>
        <p:spPr>
          <a:xfrm flipH="1">
            <a:off x="10835640" y="4114800"/>
            <a:ext cx="2377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75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C07B2-FF4C-63E2-C306-785FE74C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6054CB-1A1E-27D4-2566-D9827223E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415" y="1229452"/>
            <a:ext cx="5349600" cy="5349600"/>
          </a:xfrm>
          <a:prstGeom prst="rect">
            <a:avLst/>
          </a:prstGeom>
        </p:spPr>
      </p:pic>
      <p:sp>
        <p:nvSpPr>
          <p:cNvPr id="10244" name="CustomShape 1">
            <a:extLst>
              <a:ext uri="{FF2B5EF4-FFF2-40B4-BE49-F238E27FC236}">
                <a16:creationId xmlns:a16="http://schemas.microsoft.com/office/drawing/2014/main" id="{7C95568C-2F1E-CE32-3C57-898ADF11C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767F990D-109F-65B6-9A97-CE1D6EC46E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>
            <a:normAutofit fontScale="90000"/>
          </a:bodyPr>
          <a:lstStyle/>
          <a:p>
            <a:r>
              <a:rPr lang="en-GB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Future climate modelling – bias correction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684E1-BF8B-8B6E-1B87-4504BFA81880}"/>
              </a:ext>
            </a:extLst>
          </p:cNvPr>
          <p:cNvSpPr txBox="1"/>
          <p:nvPr/>
        </p:nvSpPr>
        <p:spPr>
          <a:xfrm>
            <a:off x="9556433" y="1229452"/>
            <a:ext cx="201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CORDEX-CORE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2AF0F2-BA8C-20AB-3400-B2A3B9B90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7" y="1270680"/>
            <a:ext cx="5347700" cy="53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1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81F2E-177E-C246-19EB-F58A7011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>
            <a:extLst>
              <a:ext uri="{FF2B5EF4-FFF2-40B4-BE49-F238E27FC236}">
                <a16:creationId xmlns:a16="http://schemas.microsoft.com/office/drawing/2014/main" id="{53123725-9E82-9FD1-CC06-70AA95287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0BBC6DBD-FB24-D037-0FA6-C97A73542754}"/>
              </a:ext>
            </a:extLst>
          </p:cNvPr>
          <p:cNvSpPr/>
          <p:nvPr/>
        </p:nvSpPr>
        <p:spPr>
          <a:xfrm>
            <a:off x="267973" y="103462"/>
            <a:ext cx="11924027" cy="6771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91440" rIns="91440" bIns="9144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812760">
              <a:defRPr/>
            </a:pPr>
            <a:r>
              <a:rPr lang="en-GB" sz="32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Measuring future climate – GCMs vs RCMs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1026" name="Picture 2" descr="Downscaling from Global Climate Models (GCMs) to Regional Climate... |  Download Scientific Diagram">
            <a:extLst>
              <a:ext uri="{FF2B5EF4-FFF2-40B4-BE49-F238E27FC236}">
                <a16:creationId xmlns:a16="http://schemas.microsoft.com/office/drawing/2014/main" id="{0170EEF2-4A4E-EBCD-1B5D-E3047CEA3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332" y="4023112"/>
            <a:ext cx="4493426" cy="226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2A40AC1B-92DD-CCE6-0352-DFBB2E2FFE2B}"/>
              </a:ext>
            </a:extLst>
          </p:cNvPr>
          <p:cNvGraphicFramePr>
            <a:graphicFrameLocks noGrp="1"/>
          </p:cNvGraphicFramePr>
          <p:nvPr/>
        </p:nvGraphicFramePr>
        <p:xfrm>
          <a:off x="555835" y="1085348"/>
          <a:ext cx="1108033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955">
                  <a:extLst>
                    <a:ext uri="{9D8B030D-6E8A-4147-A177-3AD203B41FA5}">
                      <a16:colId xmlns:a16="http://schemas.microsoft.com/office/drawing/2014/main" val="3869094609"/>
                    </a:ext>
                  </a:extLst>
                </a:gridCol>
                <a:gridCol w="4399335">
                  <a:extLst>
                    <a:ext uri="{9D8B030D-6E8A-4147-A177-3AD203B41FA5}">
                      <a16:colId xmlns:a16="http://schemas.microsoft.com/office/drawing/2014/main" val="3908018062"/>
                    </a:ext>
                  </a:extLst>
                </a:gridCol>
                <a:gridCol w="4540040">
                  <a:extLst>
                    <a:ext uri="{9D8B030D-6E8A-4147-A177-3AD203B41FA5}">
                      <a16:colId xmlns:a16="http://schemas.microsoft.com/office/drawing/2014/main" val="634593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  <a:latin typeface="Trebuchet MS" panose="020B0603020202020204" pitchFamily="34" charset="0"/>
                        </a:rPr>
                        <a:t>Aspect</a:t>
                      </a:r>
                      <a:endParaRPr lang="en-US" sz="1800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rebuchet MS" panose="020B0603020202020204" pitchFamily="34" charset="0"/>
                        </a:rPr>
                        <a:t>Global Climate Models (GCMs)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Trebuchet MS" panose="020B0603020202020204" pitchFamily="34" charset="0"/>
                        </a:rPr>
                        <a:t>Regional Climate Models (RCMs)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516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Scale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Global (entire 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Regional (specific regions)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21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Grid size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±100 to 500km or more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±1 to 50 km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95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Implications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Captures global climate trends, but not the local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Provides detailed simulations of local climatic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47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Trebuchet MS" panose="020B0603020202020204" pitchFamily="34" charset="0"/>
                        </a:rPr>
                        <a:t>Use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Long-term climate projections and global climate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800" noProof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Trebuchet MS" panose="020B0603020202020204" pitchFamily="34" charset="0"/>
                        </a:rPr>
                        <a:t>Regional climate and impact-based studies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9281981"/>
                  </a:ext>
                </a:extLst>
              </a:tr>
            </a:tbl>
          </a:graphicData>
        </a:graphic>
      </p:graphicFrame>
      <p:pic>
        <p:nvPicPr>
          <p:cNvPr id="3" name="Picture 2" descr="Module 4: Introduction to General Circulation Models | EARTH 103: Earth in  the Future">
            <a:extLst>
              <a:ext uri="{FF2B5EF4-FFF2-40B4-BE49-F238E27FC236}">
                <a16:creationId xmlns:a16="http://schemas.microsoft.com/office/drawing/2014/main" id="{1CC812AC-4DF7-4B44-D2CA-50C67EAF9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751" y="3785687"/>
            <a:ext cx="4016520" cy="274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07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F705-C056-394D-46EE-5A7AAB4B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B865B66A-D48C-057A-4EBC-7D0C33917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C87EA4CD-DD14-513B-AC49-EBC1C2689E2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>
            <a:normAutofit fontScale="90000"/>
          </a:bodyPr>
          <a:lstStyle/>
          <a:p>
            <a:r>
              <a:rPr lang="en-GB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Future climate modelling – climate forcings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B94380-2E3E-AD75-0236-0C08BD738C58}"/>
              </a:ext>
            </a:extLst>
          </p:cNvPr>
          <p:cNvSpPr txBox="1"/>
          <p:nvPr/>
        </p:nvSpPr>
        <p:spPr>
          <a:xfrm>
            <a:off x="723016" y="1597271"/>
            <a:ext cx="579665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Climate models run in an equilibrium state</a:t>
            </a:r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Climate forcings push the models out of equilibrium: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Changes in solar radiation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Changes in greenhouse gas concentrations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/>
              <a:t>Volcanic eruptions</a:t>
            </a:r>
          </a:p>
          <a:p>
            <a:pPr lvl="1"/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Applying different climate forcings allows you to simulate different future climate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Climate change projections are determined by extracting variable outputs from the climate simulations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733A7-F060-909B-EC09-261F52C0ED08}"/>
              </a:ext>
            </a:extLst>
          </p:cNvPr>
          <p:cNvSpPr txBox="1"/>
          <p:nvPr/>
        </p:nvSpPr>
        <p:spPr>
          <a:xfrm>
            <a:off x="7026329" y="4754880"/>
            <a:ext cx="454178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Note: Climate feedbacks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Climate changes are affected by </a:t>
            </a:r>
            <a:r>
              <a:rPr lang="en-GB" b="1" dirty="0"/>
              <a:t>feedbacks</a:t>
            </a:r>
            <a:r>
              <a:rPr lang="en-GB" dirty="0"/>
              <a:t> as well as forcings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E.g</a:t>
            </a:r>
            <a:r>
              <a:rPr lang="en-GB" dirty="0"/>
              <a:t> ice and snow melt can reduce albedo effect – accelerated surface warming</a:t>
            </a: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69D82A67-E75E-C746-8665-E3C361EF8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329" y="1647825"/>
            <a:ext cx="4201173" cy="259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0769B-0878-FEDF-66EB-C4FD81611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8EFE39DF-11D5-5366-C920-E6811375C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245" name="Title 2">
            <a:extLst>
              <a:ext uri="{FF2B5EF4-FFF2-40B4-BE49-F238E27FC236}">
                <a16:creationId xmlns:a16="http://schemas.microsoft.com/office/drawing/2014/main" id="{AF57AB9C-D4A1-0854-6AE1-30D40A57EA8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1163" y="217273"/>
            <a:ext cx="11156950" cy="546100"/>
          </a:xfrm>
        </p:spPr>
        <p:txBody>
          <a:bodyPr>
            <a:normAutofit fontScale="90000"/>
          </a:bodyPr>
          <a:lstStyle/>
          <a:p>
            <a:r>
              <a:rPr lang="en-GB" noProof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Future climate modelling – climate forcings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E9DD8-52D8-7BBF-949D-C9B33168241F}"/>
              </a:ext>
            </a:extLst>
          </p:cNvPr>
          <p:cNvSpPr txBox="1"/>
          <p:nvPr/>
        </p:nvSpPr>
        <p:spPr>
          <a:xfrm>
            <a:off x="798107" y="1280160"/>
            <a:ext cx="53844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CMIP5 (Coupled Model Intercomparison Project)</a:t>
            </a:r>
          </a:p>
          <a:p>
            <a:r>
              <a:rPr lang="en-GB" dirty="0"/>
              <a:t>(2008, outputs released by 2013)</a:t>
            </a:r>
          </a:p>
          <a:p>
            <a:endParaRPr lang="en-GB" dirty="0"/>
          </a:p>
          <a:p>
            <a:r>
              <a:rPr lang="en-GB" i="1" dirty="0"/>
              <a:t>Representative Concentration Pathways (RCPs)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RCP 2.6      &lt;- watts/m² added by 2100 relative to 	               pre-industrial baseline (~1750)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RCP 4.5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RCP 6.0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RCP 8.5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b="1" dirty="0"/>
              <a:t>CMIP6</a:t>
            </a:r>
          </a:p>
          <a:p>
            <a:r>
              <a:rPr lang="en-GB" dirty="0"/>
              <a:t>(2016, outputs released by 2022)</a:t>
            </a:r>
          </a:p>
          <a:p>
            <a:endParaRPr lang="en-GB" dirty="0"/>
          </a:p>
          <a:p>
            <a:r>
              <a:rPr lang="en-GB" i="1" dirty="0"/>
              <a:t>Shared Socioeconomic Pathways (SSPs)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SSP1 2.6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SSP2 4.5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SSP3 7.0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SSP5 8.6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DDB730BD-7A84-EF5F-42DD-3EAE15102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004" y="1280160"/>
            <a:ext cx="2875156" cy="177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Figure 2">
            <a:extLst>
              <a:ext uri="{FF2B5EF4-FFF2-40B4-BE49-F238E27FC236}">
                <a16:creationId xmlns:a16="http://schemas.microsoft.com/office/drawing/2014/main" id="{281F5C68-7BDD-2ED0-66F0-16FC91932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275" y="3456103"/>
            <a:ext cx="5155932" cy="29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3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B9A1-D73A-56E2-55D5-CEC3C53C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E17C512C-E07A-2DA4-5494-ED5D7BD866F9}"/>
              </a:ext>
            </a:extLst>
          </p:cNvPr>
          <p:cNvSpPr/>
          <p:nvPr/>
        </p:nvSpPr>
        <p:spPr>
          <a:xfrm>
            <a:off x="240" y="0"/>
            <a:ext cx="12191760" cy="880560"/>
          </a:xfrm>
          <a:prstGeom prst="rect">
            <a:avLst/>
          </a:prstGeom>
          <a:solidFill>
            <a:schemeClr val="tx2">
              <a:lumMod val="75000"/>
            </a:schemeClr>
          </a:solidFill>
          <a:ln w="9360">
            <a:solidFill>
              <a:schemeClr val="dk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H" sz="2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DED750BD-5B34-AA49-F945-5202AFAF65CF}"/>
              </a:ext>
            </a:extLst>
          </p:cNvPr>
          <p:cNvSpPr/>
          <p:nvPr/>
        </p:nvSpPr>
        <p:spPr>
          <a:xfrm>
            <a:off x="285842" y="90431"/>
            <a:ext cx="11924027" cy="6771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91440" rIns="91440" bIns="9144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Scientific approach: global warming potential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99E222-1CAA-54F7-4B67-014FC81B0396}"/>
              </a:ext>
            </a:extLst>
          </p:cNvPr>
          <p:cNvSpPr txBox="1"/>
          <p:nvPr/>
        </p:nvSpPr>
        <p:spPr>
          <a:xfrm>
            <a:off x="631767" y="1263535"/>
            <a:ext cx="11260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595959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595959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D613FFD-6852-1A8D-50EF-8A13743B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83" y="1822647"/>
            <a:ext cx="8256874" cy="2034459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18E7EE4-E1AA-EB0E-7E8E-9FC72E9F248E}"/>
              </a:ext>
            </a:extLst>
          </p:cNvPr>
          <p:cNvSpPr/>
          <p:nvPr/>
        </p:nvSpPr>
        <p:spPr>
          <a:xfrm>
            <a:off x="510282" y="2405533"/>
            <a:ext cx="8176518" cy="67187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1DA891-CC6A-0AE3-2786-D3AEC15CE7CF}"/>
              </a:ext>
            </a:extLst>
          </p:cNvPr>
          <p:cNvSpPr txBox="1"/>
          <p:nvPr/>
        </p:nvSpPr>
        <p:spPr>
          <a:xfrm>
            <a:off x="403465" y="1000334"/>
            <a:ext cx="115534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3411" marR="0" lvl="0" indent="-243411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Models consider different radiative forces (due to changes in CO2, methane and aerosols) ranging from 1.9 to 8.5 W/m².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832486C-C7BB-68E9-405C-BFCE7B884949}"/>
              </a:ext>
            </a:extLst>
          </p:cNvPr>
          <p:cNvSpPr txBox="1"/>
          <p:nvPr/>
        </p:nvSpPr>
        <p:spPr>
          <a:xfrm>
            <a:off x="403465" y="3995448"/>
            <a:ext cx="11688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3411" marR="0" lvl="0" indent="-243411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Global warming levels (at the end of the century relative to 1800-1850) for different RCPs/SSPs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CD931572-03D9-CF8D-B3E9-5B11D2599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81" y="4554418"/>
            <a:ext cx="5346231" cy="2074981"/>
          </a:xfrm>
          <a:prstGeom prst="rect">
            <a:avLst/>
          </a:prstGeom>
        </p:spPr>
      </p:pic>
      <p:sp>
        <p:nvSpPr>
          <p:cNvPr id="2" name="Rectángulo 8">
            <a:extLst>
              <a:ext uri="{FF2B5EF4-FFF2-40B4-BE49-F238E27FC236}">
                <a16:creationId xmlns:a16="http://schemas.microsoft.com/office/drawing/2014/main" id="{3E133D85-2F4B-95DF-AF5B-4248AC4854B8}"/>
              </a:ext>
            </a:extLst>
          </p:cNvPr>
          <p:cNvSpPr/>
          <p:nvPr/>
        </p:nvSpPr>
        <p:spPr>
          <a:xfrm>
            <a:off x="541086" y="5278137"/>
            <a:ext cx="2583114" cy="32314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387DB3-4054-7321-AFE2-B33B04577715}"/>
              </a:ext>
            </a:extLst>
          </p:cNvPr>
          <p:cNvCxnSpPr/>
          <p:nvPr/>
        </p:nvCxnSpPr>
        <p:spPr>
          <a:xfrm>
            <a:off x="8686800" y="2743200"/>
            <a:ext cx="30480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6E3C07-C031-AF2F-BD7B-1349D40E34B6}"/>
              </a:ext>
            </a:extLst>
          </p:cNvPr>
          <p:cNvSpPr txBox="1"/>
          <p:nvPr/>
        </p:nvSpPr>
        <p:spPr>
          <a:xfrm>
            <a:off x="8991600" y="2584962"/>
            <a:ext cx="290114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rebuchet MS" panose="020B0603020202020204" pitchFamily="34" charset="0"/>
              </a:rPr>
              <a:t>Paris Agreement. You can check the CO</a:t>
            </a:r>
            <a:r>
              <a:rPr lang="en-US" sz="1500" baseline="-25000" dirty="0">
                <a:latin typeface="Trebuchet MS" panose="020B0603020202020204" pitchFamily="34" charset="0"/>
              </a:rPr>
              <a:t>2</a:t>
            </a:r>
            <a:r>
              <a:rPr lang="en-US" sz="1500" dirty="0">
                <a:latin typeface="Trebuchet MS" panose="020B0603020202020204" pitchFamily="34" charset="0"/>
              </a:rPr>
              <a:t> concentration in the atmosphere here: </a:t>
            </a:r>
            <a:r>
              <a:rPr lang="en-US" sz="1500" dirty="0">
                <a:latin typeface="Trebuchet MS" panose="020B0603020202020204" pitchFamily="34" charset="0"/>
                <a:hlinkClick r:id="rId5"/>
              </a:rPr>
              <a:t>link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BEB780-401D-201E-3329-8F303D235530}"/>
              </a:ext>
            </a:extLst>
          </p:cNvPr>
          <p:cNvSpPr txBox="1"/>
          <p:nvPr/>
        </p:nvSpPr>
        <p:spPr>
          <a:xfrm>
            <a:off x="2460070" y="5279090"/>
            <a:ext cx="8927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rebuchet MS" panose="020B0603020202020204" pitchFamily="34" charset="0"/>
              </a:rPr>
              <a:t>CAVA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DD3D8B97-0767-10F7-105E-0F465087A368}"/>
              </a:ext>
            </a:extLst>
          </p:cNvPr>
          <p:cNvSpPr/>
          <p:nvPr/>
        </p:nvSpPr>
        <p:spPr>
          <a:xfrm>
            <a:off x="5867400" y="5643083"/>
            <a:ext cx="228599" cy="5196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E5D243-D52C-4C9A-C310-4A3E4EE3D427}"/>
              </a:ext>
            </a:extLst>
          </p:cNvPr>
          <p:cNvSpPr txBox="1"/>
          <p:nvPr/>
        </p:nvSpPr>
        <p:spPr>
          <a:xfrm>
            <a:off x="6106888" y="5428441"/>
            <a:ext cx="5574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kern="0" dirty="0">
                <a:effectLst/>
                <a:latin typeface="Trebuchet MS" panose="020B0603020202020204" pitchFamily="34" charset="0"/>
                <a:ea typeface="Play"/>
                <a:cs typeface="Calibri Light" panose="020F0302020204030204" pitchFamily="34" charset="0"/>
              </a:rPr>
              <a:t>The projected changes under RCP 4.5, an intermediate scenario stabilizing the global temperature increase between 2 to 3 °C, are considered to fall within the range provided by future simulations using RCPs 2.6 and 8.5. 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22" name="Rectángulo 8">
            <a:extLst>
              <a:ext uri="{FF2B5EF4-FFF2-40B4-BE49-F238E27FC236}">
                <a16:creationId xmlns:a16="http://schemas.microsoft.com/office/drawing/2014/main" id="{1AED0730-EAD0-FF3B-0835-82F35429A900}"/>
              </a:ext>
            </a:extLst>
          </p:cNvPr>
          <p:cNvSpPr/>
          <p:nvPr/>
        </p:nvSpPr>
        <p:spPr>
          <a:xfrm>
            <a:off x="541086" y="6220973"/>
            <a:ext cx="2583114" cy="323149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ECC29-4657-AFE6-EBD0-11BE938B3954}"/>
              </a:ext>
            </a:extLst>
          </p:cNvPr>
          <p:cNvSpPr txBox="1"/>
          <p:nvPr/>
        </p:nvSpPr>
        <p:spPr>
          <a:xfrm>
            <a:off x="2460070" y="6221926"/>
            <a:ext cx="7893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rebuchet MS" panose="020B0603020202020204" pitchFamily="34" charset="0"/>
              </a:rPr>
              <a:t>CAVA</a:t>
            </a:r>
          </a:p>
        </p:txBody>
      </p:sp>
    </p:spTree>
    <p:extLst>
      <p:ext uri="{BB962C8B-B14F-4D97-AF65-F5344CB8AC3E}">
        <p14:creationId xmlns:p14="http://schemas.microsoft.com/office/powerpoint/2010/main" val="323579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" grpId="0" animBg="1"/>
      <p:bldP spid="15" grpId="0"/>
      <p:bldP spid="17" grpId="0" animBg="1"/>
      <p:bldP spid="20" grpId="0"/>
      <p:bldP spid="22" grpId="0" animBg="1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3315-F442-2D98-60F5-DD597EC2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76848A3D-122F-8566-3532-238D7637327F}"/>
              </a:ext>
            </a:extLst>
          </p:cNvPr>
          <p:cNvSpPr/>
          <p:nvPr/>
        </p:nvSpPr>
        <p:spPr>
          <a:xfrm>
            <a:off x="240" y="0"/>
            <a:ext cx="12191760" cy="880560"/>
          </a:xfrm>
          <a:prstGeom prst="rect">
            <a:avLst/>
          </a:prstGeom>
          <a:solidFill>
            <a:schemeClr val="tx2">
              <a:lumMod val="75000"/>
            </a:schemeClr>
          </a:solidFill>
          <a:ln w="9360">
            <a:solidFill>
              <a:schemeClr val="dk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H" sz="2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5CCFC90B-DE77-5CD3-A365-C36E74AAFCAD}"/>
              </a:ext>
            </a:extLst>
          </p:cNvPr>
          <p:cNvSpPr/>
          <p:nvPr/>
        </p:nvSpPr>
        <p:spPr>
          <a:xfrm>
            <a:off x="267973" y="103462"/>
            <a:ext cx="11924027" cy="6771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91440" rIns="91440" bIns="9144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CORDEX-CORE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DA573A-3116-9010-3980-20CED24A2B88}"/>
              </a:ext>
            </a:extLst>
          </p:cNvPr>
          <p:cNvSpPr txBox="1"/>
          <p:nvPr/>
        </p:nvSpPr>
        <p:spPr>
          <a:xfrm>
            <a:off x="631767" y="1263535"/>
            <a:ext cx="11260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595959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595959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F2BC06-4A3E-1BDD-2A9E-FCB54862D1DF}"/>
              </a:ext>
            </a:extLst>
          </p:cNvPr>
          <p:cNvSpPr txBox="1"/>
          <p:nvPr/>
        </p:nvSpPr>
        <p:spPr>
          <a:xfrm>
            <a:off x="407703" y="1327395"/>
            <a:ext cx="666198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r>
              <a:rPr lang="en-GB" dirty="0"/>
              <a:t>Coordinated Regional Climate Downscaling Experiment - Coordinated Output for Regional Evaluations</a:t>
            </a:r>
          </a:p>
          <a:p>
            <a:pPr marL="700088" lvl="1" indent="-157163" defTabSz="609585">
              <a:buFont typeface="Arial" panose="020B0604020202020204" pitchFamily="34" charset="0"/>
              <a:buChar char="•"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Two regional climate models (RCMs) –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REMO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&amp;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RegC4</a:t>
            </a:r>
          </a:p>
          <a:p>
            <a:pPr marL="700088" lvl="1" indent="-157163" defTabSz="609585">
              <a:buFont typeface="Arial" panose="020B0604020202020204" pitchFamily="34" charset="0"/>
              <a:buChar char="•"/>
              <a:defRPr/>
            </a:pPr>
            <a:r>
              <a:rPr lang="en-GB" dirty="0">
                <a:solidFill>
                  <a:srgbClr val="000000"/>
                </a:solidFill>
                <a:latin typeface="Trebuchet MS" panose="020B0603020202020204" pitchFamily="34" charset="0"/>
              </a:rPr>
              <a:t>Three general circulation models (GCMs)</a:t>
            </a:r>
          </a:p>
          <a:p>
            <a:pPr marL="1157288" lvl="2" indent="-157163" defTabSz="609585">
              <a:buFont typeface="Arial" panose="020B0604020202020204" pitchFamily="34" charset="0"/>
              <a:buChar char="•"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HadGEM2-ES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(high equilibrium climate sensitivity)</a:t>
            </a:r>
          </a:p>
          <a:p>
            <a:pPr marL="1157288" lvl="2" indent="-157163" defTabSz="609585">
              <a:buFont typeface="Arial" panose="020B0604020202020204" pitchFamily="34" charset="0"/>
              <a:buChar char="•"/>
              <a:defRPr/>
            </a:pPr>
            <a:r>
              <a:rPr lang="en-GB" b="1" dirty="0">
                <a:solidFill>
                  <a:srgbClr val="000000"/>
                </a:solidFill>
                <a:latin typeface="Trebuchet MS" panose="020B0603020202020204" pitchFamily="34" charset="0"/>
              </a:rPr>
              <a:t>MPI-ESM-MR</a:t>
            </a:r>
            <a:r>
              <a:rPr lang="en-GB" dirty="0">
                <a:solidFill>
                  <a:srgbClr val="000000"/>
                </a:solidFill>
                <a:latin typeface="Trebuchet MS" panose="020B0603020202020204" pitchFamily="34" charset="0"/>
              </a:rPr>
              <a:t> (medium)</a:t>
            </a:r>
          </a:p>
          <a:p>
            <a:pPr marL="1157288" lvl="2" indent="-157163" defTabSz="609585">
              <a:buFont typeface="Arial" panose="020B0604020202020204" pitchFamily="34" charset="0"/>
              <a:buChar char="•"/>
              <a:defRPr/>
            </a:pP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NorESM1-M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 (low)</a:t>
            </a:r>
          </a:p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Gridded regional climate projections for most inhabited land areas at a resolution of ±25 km for the period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1970</a:t>
            </a:r>
            <a:r>
              <a:rPr lang="en-US" b="1" dirty="0">
                <a:solidFill>
                  <a:srgbClr val="000000"/>
                </a:solidFill>
                <a:latin typeface="Trebuchet MS" panose="020B0603020202020204" pitchFamily="34" charset="0"/>
              </a:rPr>
              <a:t>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2100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. </a:t>
            </a:r>
          </a:p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Bias-corrected using historical data (ERA5) for period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1976-2005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.</a:t>
            </a:r>
          </a:p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42888" indent="-157163" defTabSz="609585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Trebuchet MS" panose="020B0603020202020204" pitchFamily="34" charset="0"/>
              </a:rPr>
              <a:t>Two future climate scenarios: RCPs 2.6 </a:t>
            </a:r>
            <a:r>
              <a:rPr lang="en-US" b="1" dirty="0">
                <a:solidFill>
                  <a:srgbClr val="000000"/>
                </a:solidFill>
                <a:latin typeface="Trebuchet MS" panose="020B0603020202020204" pitchFamily="34" charset="0"/>
              </a:rPr>
              <a:t>(low</a:t>
            </a:r>
            <a:r>
              <a:rPr lang="en-US" dirty="0">
                <a:solidFill>
                  <a:srgbClr val="000000"/>
                </a:solidFill>
                <a:latin typeface="Trebuchet MS" panose="020B0603020202020204" pitchFamily="34" charset="0"/>
              </a:rPr>
              <a:t>) and 8.5 (</a:t>
            </a:r>
            <a:r>
              <a:rPr lang="en-US" b="1" dirty="0">
                <a:solidFill>
                  <a:srgbClr val="000000"/>
                </a:solidFill>
                <a:latin typeface="Trebuchet MS" panose="020B0603020202020204" pitchFamily="34" charset="0"/>
              </a:rPr>
              <a:t>high emissions</a:t>
            </a:r>
            <a:r>
              <a:rPr lang="en-US" dirty="0">
                <a:solidFill>
                  <a:srgbClr val="000000"/>
                </a:solidFill>
                <a:latin typeface="Trebuchet MS" panose="020B0603020202020204" pitchFamily="34" charset="0"/>
              </a:rPr>
              <a:t>).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pPr marL="242888" lvl="0" indent="-157163" defTabSz="609585">
              <a:buFont typeface="Arial" panose="020B0604020202020204" pitchFamily="34" charset="0"/>
              <a:buChar char="•"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242888" marR="0" lvl="0" indent="-157163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242888" marR="0" lvl="0" indent="-157163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C0758BB-FEE4-F14B-8D20-EDEFB3AD7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607" y="1383222"/>
            <a:ext cx="4730380" cy="2299810"/>
          </a:xfrm>
          <a:prstGeom prst="rect">
            <a:avLst/>
          </a:prstGeom>
        </p:spPr>
      </p:pic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05511EBA-7ACC-70AB-7A79-A7B82BAEE85D}"/>
              </a:ext>
            </a:extLst>
          </p:cNvPr>
          <p:cNvSpPr/>
          <p:nvPr/>
        </p:nvSpPr>
        <p:spPr>
          <a:xfrm>
            <a:off x="7870670" y="4671190"/>
            <a:ext cx="3620926" cy="62753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77B8649A-2262-2954-DBAA-6CB924DC654D}"/>
              </a:ext>
            </a:extLst>
          </p:cNvPr>
          <p:cNvSpPr/>
          <p:nvPr/>
        </p:nvSpPr>
        <p:spPr>
          <a:xfrm rot="16200000">
            <a:off x="8389302" y="4846510"/>
            <a:ext cx="216164" cy="1120584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562632-5E49-EC1A-0DF3-759BD843695E}"/>
              </a:ext>
            </a:extLst>
          </p:cNvPr>
          <p:cNvSpPr txBox="1"/>
          <p:nvPr/>
        </p:nvSpPr>
        <p:spPr>
          <a:xfrm>
            <a:off x="7869855" y="5545755"/>
            <a:ext cx="118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Simulated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CORDEX CORE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(1976-2005)</a:t>
            </a:r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4A7CA63F-960D-ACBA-8991-B8CE53537F58}"/>
              </a:ext>
            </a:extLst>
          </p:cNvPr>
          <p:cNvSpPr/>
          <p:nvPr/>
        </p:nvSpPr>
        <p:spPr>
          <a:xfrm rot="16200000">
            <a:off x="10036162" y="4453894"/>
            <a:ext cx="216164" cy="1905811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Abrir llave 11">
            <a:extLst>
              <a:ext uri="{FF2B5EF4-FFF2-40B4-BE49-F238E27FC236}">
                <a16:creationId xmlns:a16="http://schemas.microsoft.com/office/drawing/2014/main" id="{B13CD296-3CCC-3120-991A-856FA5F2E5C8}"/>
              </a:ext>
            </a:extLst>
          </p:cNvPr>
          <p:cNvSpPr/>
          <p:nvPr/>
        </p:nvSpPr>
        <p:spPr>
          <a:xfrm rot="5400000">
            <a:off x="8360671" y="4073376"/>
            <a:ext cx="206188" cy="1053353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FCA656B-1AA5-FF70-5484-B12A5FBE9E2F}"/>
              </a:ext>
            </a:extLst>
          </p:cNvPr>
          <p:cNvSpPr txBox="1"/>
          <p:nvPr/>
        </p:nvSpPr>
        <p:spPr>
          <a:xfrm>
            <a:off x="7869853" y="3895228"/>
            <a:ext cx="118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Observed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ERA5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(1976-2005)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9DE757-02EE-BE57-66D1-2B785A3BE5BD}"/>
              </a:ext>
            </a:extLst>
          </p:cNvPr>
          <p:cNvSpPr txBox="1"/>
          <p:nvPr/>
        </p:nvSpPr>
        <p:spPr>
          <a:xfrm>
            <a:off x="9554303" y="5545755"/>
            <a:ext cx="118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Simulated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CORDEX CORE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(2010-2100)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E4406C2-E5F8-568C-6F2F-AE0A4D73DCC8}"/>
              </a:ext>
            </a:extLst>
          </p:cNvPr>
          <p:cNvSpPr txBox="1"/>
          <p:nvPr/>
        </p:nvSpPr>
        <p:spPr>
          <a:xfrm>
            <a:off x="7869853" y="4867785"/>
            <a:ext cx="1187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Bias-correction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910B7BA-6664-B77E-9134-F6C3629ED7BD}"/>
              </a:ext>
            </a:extLst>
          </p:cNvPr>
          <p:cNvSpPr txBox="1"/>
          <p:nvPr/>
        </p:nvSpPr>
        <p:spPr>
          <a:xfrm>
            <a:off x="8649064" y="1105301"/>
            <a:ext cx="222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CORDEX-CORE DOMAINS</a:t>
            </a:r>
          </a:p>
        </p:txBody>
      </p:sp>
    </p:spTree>
    <p:extLst>
      <p:ext uri="{BB962C8B-B14F-4D97-AF65-F5344CB8AC3E}">
        <p14:creationId xmlns:p14="http://schemas.microsoft.com/office/powerpoint/2010/main" val="1652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0" grpId="0"/>
      <p:bldP spid="11" grpId="0" animBg="1"/>
      <p:bldP spid="12" grpId="0" animBg="1"/>
      <p:bldP spid="13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2597-7D3C-022D-4403-D5278757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>
            <a:extLst>
              <a:ext uri="{FF2B5EF4-FFF2-40B4-BE49-F238E27FC236}">
                <a16:creationId xmlns:a16="http://schemas.microsoft.com/office/drawing/2014/main" id="{DF4D963D-ADD7-E599-6572-CCD748D98B76}"/>
              </a:ext>
            </a:extLst>
          </p:cNvPr>
          <p:cNvSpPr/>
          <p:nvPr/>
        </p:nvSpPr>
        <p:spPr>
          <a:xfrm>
            <a:off x="240" y="0"/>
            <a:ext cx="12191760" cy="880560"/>
          </a:xfrm>
          <a:prstGeom prst="rect">
            <a:avLst/>
          </a:prstGeom>
          <a:solidFill>
            <a:schemeClr val="tx2">
              <a:lumMod val="75000"/>
            </a:schemeClr>
          </a:solidFill>
          <a:ln w="9360">
            <a:solidFill>
              <a:schemeClr val="dk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H" sz="2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stomShape 3">
            <a:extLst>
              <a:ext uri="{FF2B5EF4-FFF2-40B4-BE49-F238E27FC236}">
                <a16:creationId xmlns:a16="http://schemas.microsoft.com/office/drawing/2014/main" id="{2932DA25-20DE-022D-377F-646C381F3AFC}"/>
              </a:ext>
            </a:extLst>
          </p:cNvPr>
          <p:cNvSpPr/>
          <p:nvPr/>
        </p:nvSpPr>
        <p:spPr>
          <a:xfrm>
            <a:off x="267973" y="103462"/>
            <a:ext cx="11924027" cy="6771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1440" tIns="91440" rIns="91440" bIns="9144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127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rPr>
              <a:t>CORDEX-CORE</a:t>
            </a:r>
            <a:endParaRPr kumimoji="0" lang="en-US" sz="3200" b="0" i="0" u="none" strike="noStrike" kern="1200" cap="none" spc="-1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17" name="object 7" descr="CORDEX CORE Simulations – Cordex">
            <a:extLst>
              <a:ext uri="{FF2B5EF4-FFF2-40B4-BE49-F238E27FC236}">
                <a16:creationId xmlns:a16="http://schemas.microsoft.com/office/drawing/2014/main" id="{EC418BCE-C339-2C56-6952-7450F66A1A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612" y="1550715"/>
            <a:ext cx="10634775" cy="432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19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4CC4-55EC-4EE7-6F52-DF60167F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CustomShape 1">
            <a:extLst>
              <a:ext uri="{FF2B5EF4-FFF2-40B4-BE49-F238E27FC236}">
                <a16:creationId xmlns:a16="http://schemas.microsoft.com/office/drawing/2014/main" id="{54D709DE-A3FC-3F8E-541B-7442AE26F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881063"/>
          </a:xfrm>
          <a:prstGeom prst="rect">
            <a:avLst/>
          </a:prstGeom>
          <a:solidFill>
            <a:srgbClr val="333F50"/>
          </a:solidFill>
          <a:ln w="9360">
            <a:solidFill>
              <a:srgbClr val="44546A"/>
            </a:solidFill>
            <a:round/>
            <a:headEnd/>
            <a:tailEnd/>
          </a:ln>
        </p:spPr>
        <p:txBody>
          <a:bodyPr/>
          <a:lstStyle>
            <a:lvl1pPr defTabSz="6080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080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176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8272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436813" indent="-228600" defTabSz="6080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8940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3512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8084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265613" indent="-228600" defTabSz="6080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6080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77020135-58F2-E25D-7046-425743D4E739}"/>
              </a:ext>
            </a:extLst>
          </p:cNvPr>
          <p:cNvSpPr txBox="1">
            <a:spLocks noChangeArrowheads="1"/>
          </p:cNvSpPr>
          <p:nvPr/>
        </p:nvSpPr>
        <p:spPr>
          <a:xfrm>
            <a:off x="411163" y="217273"/>
            <a:ext cx="11156950" cy="5461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000" kern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Interpreting a climate signal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B6438EC-BAD3-ED94-961A-ADA08B16E694}"/>
              </a:ext>
            </a:extLst>
          </p:cNvPr>
          <p:cNvSpPr/>
          <p:nvPr/>
        </p:nvSpPr>
        <p:spPr>
          <a:xfrm>
            <a:off x="727588" y="1327380"/>
            <a:ext cx="2349910" cy="12192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FF25A-C357-A197-30F9-2DCAE79EA4AF}"/>
              </a:ext>
            </a:extLst>
          </p:cNvPr>
          <p:cNvSpPr txBox="1"/>
          <p:nvPr/>
        </p:nvSpPr>
        <p:spPr>
          <a:xfrm>
            <a:off x="727587" y="1339640"/>
            <a:ext cx="22761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Magnitude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How large is the change relative to the baseline?</a:t>
            </a:r>
          </a:p>
          <a:p>
            <a:pPr algn="ctr"/>
            <a:endParaRPr lang="en-GB" sz="16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33161E-3E19-5DB9-F92D-0644B4EAD618}"/>
              </a:ext>
            </a:extLst>
          </p:cNvPr>
          <p:cNvSpPr/>
          <p:nvPr/>
        </p:nvSpPr>
        <p:spPr>
          <a:xfrm>
            <a:off x="727588" y="2747239"/>
            <a:ext cx="2349910" cy="12192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C1C5C-9DBC-04C6-EA41-1B83BBDE609D}"/>
              </a:ext>
            </a:extLst>
          </p:cNvPr>
          <p:cNvSpPr txBox="1"/>
          <p:nvPr/>
        </p:nvSpPr>
        <p:spPr>
          <a:xfrm>
            <a:off x="727587" y="2759499"/>
            <a:ext cx="22761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Pattern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Where and when does the change occur?</a:t>
            </a:r>
          </a:p>
          <a:p>
            <a:pPr algn="ctr"/>
            <a:endParaRPr lang="en-GB" sz="16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B322E0-7A44-DEBB-5156-3291B6C6BA99}"/>
              </a:ext>
            </a:extLst>
          </p:cNvPr>
          <p:cNvSpPr/>
          <p:nvPr/>
        </p:nvSpPr>
        <p:spPr>
          <a:xfrm>
            <a:off x="712838" y="4218491"/>
            <a:ext cx="2349910" cy="141985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0028D0-0CFE-F6E0-0439-B02E3DDC23F8}"/>
              </a:ext>
            </a:extLst>
          </p:cNvPr>
          <p:cNvSpPr txBox="1"/>
          <p:nvPr/>
        </p:nvSpPr>
        <p:spPr>
          <a:xfrm>
            <a:off x="690051" y="4265604"/>
            <a:ext cx="23499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Agreement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Do most models show the same direction of change?</a:t>
            </a:r>
          </a:p>
          <a:p>
            <a:pPr algn="ctr"/>
            <a:endParaRPr lang="en-GB" sz="16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8F357C-3AA7-F2A0-48A1-81D67F9A9BC2}"/>
              </a:ext>
            </a:extLst>
          </p:cNvPr>
          <p:cNvSpPr/>
          <p:nvPr/>
        </p:nvSpPr>
        <p:spPr>
          <a:xfrm>
            <a:off x="8952271" y="1180102"/>
            <a:ext cx="2349910" cy="136647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A02944-DEE1-C6A4-EB74-48206BF3999A}"/>
              </a:ext>
            </a:extLst>
          </p:cNvPr>
          <p:cNvSpPr txBox="1"/>
          <p:nvPr/>
        </p:nvSpPr>
        <p:spPr>
          <a:xfrm>
            <a:off x="8952270" y="1192363"/>
            <a:ext cx="2276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Spread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How wide is the range across models and scenarios?</a:t>
            </a:r>
          </a:p>
          <a:p>
            <a:pPr algn="ctr"/>
            <a:endParaRPr lang="en-GB" sz="16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2D599D1-FC86-21AC-9CE3-F354685ABBD1}"/>
              </a:ext>
            </a:extLst>
          </p:cNvPr>
          <p:cNvSpPr/>
          <p:nvPr/>
        </p:nvSpPr>
        <p:spPr>
          <a:xfrm>
            <a:off x="8952270" y="2747239"/>
            <a:ext cx="2349910" cy="136647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77CE5E-EE09-266A-1E68-AEBED69FEBDD}"/>
              </a:ext>
            </a:extLst>
          </p:cNvPr>
          <p:cNvSpPr txBox="1"/>
          <p:nvPr/>
        </p:nvSpPr>
        <p:spPr>
          <a:xfrm>
            <a:off x="8952270" y="2790591"/>
            <a:ext cx="2276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Relevance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Does the indicator reflect the decision and exposed system?</a:t>
            </a:r>
          </a:p>
          <a:p>
            <a:pPr algn="ctr"/>
            <a:endParaRPr lang="en-GB" sz="16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CEA162-2622-4177-E091-65D1505CFAB7}"/>
              </a:ext>
            </a:extLst>
          </p:cNvPr>
          <p:cNvSpPr/>
          <p:nvPr/>
        </p:nvSpPr>
        <p:spPr>
          <a:xfrm>
            <a:off x="8952271" y="4330770"/>
            <a:ext cx="2349910" cy="136647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751F97-F3DC-5AAE-869F-5506B64D28CF}"/>
              </a:ext>
            </a:extLst>
          </p:cNvPr>
          <p:cNvSpPr txBox="1"/>
          <p:nvPr/>
        </p:nvSpPr>
        <p:spPr>
          <a:xfrm>
            <a:off x="8952270" y="4343031"/>
            <a:ext cx="22761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Limitations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Which assumptions could change the interpretation?</a:t>
            </a:r>
          </a:p>
          <a:p>
            <a:pPr algn="ctr"/>
            <a:endParaRPr lang="en-GB" sz="1600" dirty="0"/>
          </a:p>
        </p:txBody>
      </p:sp>
      <p:sp>
        <p:nvSpPr>
          <p:cNvPr id="36" name="Google Shape;643;p21">
            <a:extLst>
              <a:ext uri="{FF2B5EF4-FFF2-40B4-BE49-F238E27FC236}">
                <a16:creationId xmlns:a16="http://schemas.microsoft.com/office/drawing/2014/main" id="{1F82BA12-F463-2CD3-509A-607E3458F5CA}"/>
              </a:ext>
            </a:extLst>
          </p:cNvPr>
          <p:cNvSpPr/>
          <p:nvPr/>
        </p:nvSpPr>
        <p:spPr>
          <a:xfrm>
            <a:off x="781050" y="5975007"/>
            <a:ext cx="10629900" cy="438150"/>
          </a:xfrm>
          <a:prstGeom prst="rect">
            <a:avLst/>
          </a:prstGeom>
          <a:solidFill>
            <a:srgbClr val="E7F4E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644;p21">
            <a:extLst>
              <a:ext uri="{FF2B5EF4-FFF2-40B4-BE49-F238E27FC236}">
                <a16:creationId xmlns:a16="http://schemas.microsoft.com/office/drawing/2014/main" id="{E4748620-0365-CEB1-E37D-6F0EDFE68600}"/>
              </a:ext>
            </a:extLst>
          </p:cNvPr>
          <p:cNvSpPr/>
          <p:nvPr/>
        </p:nvSpPr>
        <p:spPr>
          <a:xfrm>
            <a:off x="1028700" y="6079782"/>
            <a:ext cx="101346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lang="it-IT" sz="1350" b="1" i="0" dirty="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information informs judgement alongside sector expertise, local knowledge and risk preferences</a:t>
            </a:r>
            <a:endParaRPr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1986783-4214-365A-5D14-926529486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1" t="1290" r="35028" b="65878"/>
          <a:stretch>
            <a:fillRect/>
          </a:stretch>
        </p:blipFill>
        <p:spPr>
          <a:xfrm>
            <a:off x="4037472" y="936522"/>
            <a:ext cx="3940074" cy="498495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4C00C20-3046-8B1F-6485-5C87D2F17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09" t="34588" r="34980" b="34270"/>
          <a:stretch>
            <a:fillRect/>
          </a:stretch>
        </p:blipFill>
        <p:spPr>
          <a:xfrm>
            <a:off x="4125963" y="1064739"/>
            <a:ext cx="3940074" cy="4728519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6794391-B738-F339-E5E4-E6C22716F4C4}"/>
              </a:ext>
            </a:extLst>
          </p:cNvPr>
          <p:cNvCxnSpPr>
            <a:cxnSpLocks/>
          </p:cNvCxnSpPr>
          <p:nvPr/>
        </p:nvCxnSpPr>
        <p:spPr>
          <a:xfrm flipV="1">
            <a:off x="3085535" y="4360251"/>
            <a:ext cx="1801097" cy="477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EA1664-DF20-48C5-0241-B37A01D12DAA}"/>
              </a:ext>
            </a:extLst>
          </p:cNvPr>
          <p:cNvCxnSpPr>
            <a:cxnSpLocks/>
          </p:cNvCxnSpPr>
          <p:nvPr/>
        </p:nvCxnSpPr>
        <p:spPr>
          <a:xfrm flipV="1">
            <a:off x="3092246" y="3017651"/>
            <a:ext cx="1794386" cy="316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846F4A7-59D5-FBDF-05E3-31119AB2CE35}"/>
              </a:ext>
            </a:extLst>
          </p:cNvPr>
          <p:cNvCxnSpPr>
            <a:cxnSpLocks/>
          </p:cNvCxnSpPr>
          <p:nvPr/>
        </p:nvCxnSpPr>
        <p:spPr>
          <a:xfrm>
            <a:off x="3077498" y="1910680"/>
            <a:ext cx="2015612" cy="731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AE384F2-687F-EE87-75F5-EBDBDE2E54C8}"/>
              </a:ext>
            </a:extLst>
          </p:cNvPr>
          <p:cNvCxnSpPr>
            <a:cxnSpLocks/>
          </p:cNvCxnSpPr>
          <p:nvPr/>
        </p:nvCxnSpPr>
        <p:spPr>
          <a:xfrm flipV="1">
            <a:off x="3088890" y="3175944"/>
            <a:ext cx="2171368" cy="3826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8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0" grpId="0" animBg="1"/>
      <p:bldP spid="14" grpId="0"/>
      <p:bldP spid="18" grpId="0" animBg="1"/>
      <p:bldP spid="20" grpId="0"/>
      <p:bldP spid="22" grpId="0" animBg="1"/>
      <p:bldP spid="24" grpId="0"/>
      <p:bldP spid="26" grpId="0" animBg="1"/>
      <p:bldP spid="28" grpId="0"/>
      <p:bldP spid="30" grpId="0" animBg="1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3CBF-E2B7-2F9B-2A6A-91465AFB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98DB6C-4394-8F77-25A8-17C769ADD0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2D9D7426-452C-B005-0B51-4C3BB3ADD487}"/>
              </a:ext>
            </a:extLst>
          </p:cNvPr>
          <p:cNvSpPr txBox="1">
            <a:spLocks/>
          </p:cNvSpPr>
          <p:nvPr/>
        </p:nvSpPr>
        <p:spPr>
          <a:xfrm>
            <a:off x="667405" y="1482313"/>
            <a:ext cx="10857190" cy="38933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SECTION </a:t>
            </a:r>
            <a:r>
              <a:rPr lang="en-US" sz="4800" b="1" kern="0" dirty="0"/>
              <a:t>4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: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b="1" dirty="0"/>
          </a:p>
          <a:p>
            <a:pPr marL="12700" lvl="0">
              <a:spcBef>
                <a:spcPts val="100"/>
              </a:spcBef>
              <a:defRPr/>
            </a:pPr>
            <a:r>
              <a:rPr lang="en-GB" sz="4800" dirty="0"/>
              <a:t>CAVA Analytics tutorial</a:t>
            </a:r>
          </a:p>
          <a:p>
            <a:pPr marL="12700" lvl="0">
              <a:spcBef>
                <a:spcPts val="100"/>
              </a:spcBef>
              <a:defRPr/>
            </a:pPr>
            <a:endParaRPr lang="en-GB" sz="4800" kern="0" dirty="0"/>
          </a:p>
          <a:p>
            <a:pPr marL="12700">
              <a:spcBef>
                <a:spcPts val="100"/>
              </a:spcBef>
              <a:defRPr/>
            </a:pPr>
            <a:r>
              <a:rPr lang="en-GB" sz="2800" kern="0" dirty="0"/>
              <a:t>Tutorial resources: </a:t>
            </a:r>
          </a:p>
          <a:p>
            <a:pPr marL="12700">
              <a:spcBef>
                <a:spcPts val="100"/>
              </a:spcBef>
              <a:defRPr/>
            </a:pPr>
            <a:r>
              <a:rPr lang="en-GB" sz="2800" kern="0" dirty="0">
                <a:hlinkClick r:id="rId2"/>
              </a:rPr>
              <a:t>https://un-fao.github.io/CAVAanalytics/articles/Introduction.html</a:t>
            </a:r>
            <a:r>
              <a:rPr lang="en-GB" sz="2800" kern="0" dirty="0"/>
              <a:t> </a:t>
            </a:r>
            <a:endParaRPr kumimoji="0" lang="en-GB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9423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DFD81-FB05-3075-7EF3-F75EACFB5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1199A9-26BA-CDB3-5FC9-5F10878227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CFA1B3A4-F039-F06A-37EF-D26AFCDAAEF3}"/>
              </a:ext>
            </a:extLst>
          </p:cNvPr>
          <p:cNvSpPr txBox="1">
            <a:spLocks/>
          </p:cNvSpPr>
          <p:nvPr/>
        </p:nvSpPr>
        <p:spPr>
          <a:xfrm>
            <a:off x="1108668" y="1532374"/>
            <a:ext cx="10363200" cy="44961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SECTION 5: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b="1" dirty="0"/>
          </a:p>
          <a:p>
            <a:pPr marL="12700" lvl="0">
              <a:spcBef>
                <a:spcPts val="100"/>
              </a:spcBef>
              <a:defRPr/>
            </a:pPr>
            <a:r>
              <a:rPr lang="en-GB" sz="4800" dirty="0"/>
              <a:t>CAVA Analytics demonstration</a:t>
            </a:r>
            <a:endParaRPr lang="en-GB" sz="4800" kern="0" dirty="0"/>
          </a:p>
          <a:p>
            <a:pPr marL="12700" lvl="0">
              <a:spcBef>
                <a:spcPts val="100"/>
              </a:spcBef>
              <a:defRPr/>
            </a:pPr>
            <a:endParaRPr kumimoji="0" lang="en-GB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  <a:p>
            <a:pPr marL="12700" lvl="0">
              <a:spcBef>
                <a:spcPts val="100"/>
              </a:spcBef>
              <a:defRPr/>
            </a:pPr>
            <a:br>
              <a:rPr lang="en-GB" sz="4800" dirty="0"/>
            </a:br>
            <a:endParaRPr kumimoji="0" lang="en-US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05500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C26D-7C7A-E54F-DC91-45CEAB312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F65CBF-6D59-8626-640B-AE19368FCB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37C57BE4-8BFF-FBAA-236A-B920D33945DF}"/>
              </a:ext>
            </a:extLst>
          </p:cNvPr>
          <p:cNvSpPr txBox="1">
            <a:spLocks/>
          </p:cNvSpPr>
          <p:nvPr/>
        </p:nvSpPr>
        <p:spPr>
          <a:xfrm>
            <a:off x="1108668" y="1532374"/>
            <a:ext cx="10363200" cy="374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SECTION </a:t>
            </a:r>
            <a:r>
              <a:rPr lang="en-US" sz="4800" b="1" kern="0" dirty="0"/>
              <a:t>6</a:t>
            </a: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rebuchet MS"/>
                <a:ea typeface="+mj-ea"/>
              </a:rPr>
              <a:t>: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800" b="1" dirty="0"/>
          </a:p>
          <a:p>
            <a:pPr marL="12700" lvl="0">
              <a:spcBef>
                <a:spcPts val="100"/>
              </a:spcBef>
              <a:defRPr/>
            </a:pPr>
            <a:r>
              <a:rPr lang="en-GB" sz="4800" dirty="0"/>
              <a:t>Hands-on exercise</a:t>
            </a:r>
            <a:endParaRPr kumimoji="0" lang="en-GB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  <a:p>
            <a:pPr marL="12700" lvl="0">
              <a:spcBef>
                <a:spcPts val="100"/>
              </a:spcBef>
              <a:defRPr/>
            </a:pPr>
            <a:br>
              <a:rPr lang="en-GB" sz="4800" dirty="0"/>
            </a:br>
            <a:endParaRPr kumimoji="0" lang="en-US" sz="4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rebuchet MS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06781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1650</Words>
  <Application>Microsoft Office PowerPoint</Application>
  <PresentationFormat>Widescreen</PresentationFormat>
  <Paragraphs>365</Paragraphs>
  <Slides>30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Lato</vt:lpstr>
      <vt:lpstr>Trebuchet MS</vt:lpstr>
      <vt:lpstr>Office Theme</vt:lpstr>
      <vt:lpstr>ChatGPT</vt:lpstr>
      <vt:lpstr>CAVA Analytics training for Mauritius Meteorological Service</vt:lpstr>
      <vt:lpstr>Agenda</vt:lpstr>
      <vt:lpstr>PowerPoint Presentation</vt:lpstr>
      <vt:lpstr>PowerPoint Presentation</vt:lpstr>
      <vt:lpstr>Where climate information is found today</vt:lpstr>
      <vt:lpstr>A climate-data request becomes a workflow</vt:lpstr>
      <vt:lpstr>What problem does CAVA solve?</vt:lpstr>
      <vt:lpstr>One CAVA framework, several entry points</vt:lpstr>
      <vt:lpstr>One CAVA framework, several entry points</vt:lpstr>
      <vt:lpstr>PowerPoint Presentation</vt:lpstr>
      <vt:lpstr>PowerPoint Presentation</vt:lpstr>
      <vt:lpstr>PowerPoint Presentation</vt:lpstr>
      <vt:lpstr>PowerPoint Presentation</vt:lpstr>
      <vt:lpstr>Measuring historical climate - observations</vt:lpstr>
      <vt:lpstr>Measuring historical climate – gridded datasets</vt:lpstr>
      <vt:lpstr>PowerPoint Presentation</vt:lpstr>
      <vt:lpstr>Future climate modelling – downscaling</vt:lpstr>
      <vt:lpstr>Future climate modelling – bias correction</vt:lpstr>
      <vt:lpstr>Future climate modelling – bias correction</vt:lpstr>
      <vt:lpstr>Future climate modelling – bias correction</vt:lpstr>
      <vt:lpstr>PowerPoint Presentation</vt:lpstr>
      <vt:lpstr>Future climate modelling – climate forcings</vt:lpstr>
      <vt:lpstr>Future climate modelling – climate forcings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Greenrod, Samuel (OCBD)</cp:lastModifiedBy>
  <cp:revision>10</cp:revision>
  <dcterms:created xsi:type="dcterms:W3CDTF">2026-10-21T06:37:34Z</dcterms:created>
  <dcterms:modified xsi:type="dcterms:W3CDTF">2026-10-22T14:32:20Z</dcterms:modified>
</cp:coreProperties>
</file>