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9144000"/>
  <p:defaultTextStyle>
    <a:defPPr>
      <a:defRPr lang="en-US"/>
    </a:defPPr>
    <a:lvl1pPr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68"/>
  </p:normalViewPr>
  <p:slideViewPr>
    <p:cSldViewPr snapToGrid="0">
      <p:cViewPr varScale="1">
        <p:scale>
          <a:sx n="119" d="100"/>
          <a:sy n="119" d="100"/>
        </p:scale>
        <p:origin x="856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cover-accent">
            <a:extLst>
              <a:ext uri="{FF2B5EF4-FFF2-40B4-BE49-F238E27FC236}">
                <a16:creationId xmlns:a16="http://schemas.microsoft.com/office/drawing/2014/main" id="{F826A6B4-E1B4-4D32-9851-4E30F86CFBE1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90500" cy="6858000"/>
          </a:xfrm>
          <a:prstGeom prst="rect">
            <a:avLst/>
          </a:prstGeom>
          <a:solidFill>
            <a:srgbClr val="00A6A6"/>
          </a:solidFill>
          <a:ln w="0">
            <a:noFill/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2" name="cover-kicker">
            <a:extLst>
              <a:ext uri="{FF2B5EF4-FFF2-40B4-BE49-F238E27FC236}">
                <a16:creationId xmlns:a16="http://schemas.microsoft.com/office/drawing/2014/main" id="{6D0FE135-818C-4750-B2BC-CAC0A3AA9548}"/>
              </a:ext>
            </a:extLst>
          </p:cNvPr>
          <p:cNvSpPr>
            <a:spLocks noGrp="1"/>
          </p:cNvSpPr>
          <p:nvPr/>
        </p:nvSpPr>
        <p:spPr>
          <a:xfrm>
            <a:off x="685800" y="685800"/>
            <a:ext cx="80962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125" b="1">
                <a:solidFill>
                  <a:srgbClr val="007A7A"/>
                </a:solidFill>
              </a:defRPr>
            </a:pPr>
            <a:r>
              <a:rPr sz="1125" b="1">
                <a:solidFill>
                  <a:srgbClr val="007A7A"/>
                </a:solidFill>
              </a:rPr>
              <a:t>CLIMATE AND AGRICULTURE RISK VISUALIZATION AND ASSESSMENT</a:t>
            </a:r>
          </a:p>
        </p:txBody>
      </p:sp>
      <p:sp>
        <p:nvSpPr>
          <p:cNvPr id="3" name="cover-title">
            <a:extLst>
              <a:ext uri="{FF2B5EF4-FFF2-40B4-BE49-F238E27FC236}">
                <a16:creationId xmlns:a16="http://schemas.microsoft.com/office/drawing/2014/main" id="{AC63EE52-D1BD-49B9-A765-46300A04D6A9}"/>
              </a:ext>
            </a:extLst>
          </p:cNvPr>
          <p:cNvSpPr>
            <a:spLocks noGrp="1"/>
          </p:cNvSpPr>
          <p:nvPr/>
        </p:nvSpPr>
        <p:spPr>
          <a:xfrm>
            <a:off x="685800" y="1257300"/>
            <a:ext cx="8572500" cy="1428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3750" b="1">
                <a:solidFill>
                  <a:srgbClr val="092238"/>
                </a:solidFill>
              </a:defRPr>
            </a:pPr>
            <a:r>
              <a:rPr sz="3750" b="1">
                <a:solidFill>
                  <a:srgbClr val="092238"/>
                </a:solidFill>
              </a:rPr>
              <a:t>CAVA: explore, analyze and integrate climate information</a:t>
            </a:r>
          </a:p>
        </p:txBody>
      </p:sp>
      <p:sp>
        <p:nvSpPr>
          <p:cNvPr id="4" name="cover-subtitle">
            <a:extLst>
              <a:ext uri="{FF2B5EF4-FFF2-40B4-BE49-F238E27FC236}">
                <a16:creationId xmlns:a16="http://schemas.microsoft.com/office/drawing/2014/main" id="{C92BCE0B-3DB7-4E2A-B5F1-796EB8DA8BD5}"/>
              </a:ext>
            </a:extLst>
          </p:cNvPr>
          <p:cNvSpPr>
            <a:spLocks noGrp="1"/>
          </p:cNvSpPr>
          <p:nvPr/>
        </p:nvSpPr>
        <p:spPr>
          <a:xfrm>
            <a:off x="685800" y="3124200"/>
            <a:ext cx="76200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025" b="0">
                <a:solidFill>
                  <a:srgbClr val="526574"/>
                </a:solidFill>
              </a:defRPr>
            </a:pPr>
            <a:r>
              <a:rPr sz="2025" b="0">
                <a:solidFill>
                  <a:srgbClr val="526574"/>
                </a:solidFill>
              </a:rPr>
              <a:t>CAVA Platform  •  CAVAanalytics  •  cavapy</a:t>
            </a:r>
          </a:p>
        </p:txBody>
      </p:sp>
      <p:sp>
        <p:nvSpPr>
          <p:cNvPr id="5" name="cover-platform-box">
            <a:extLst>
              <a:ext uri="{FF2B5EF4-FFF2-40B4-BE49-F238E27FC236}">
                <a16:creationId xmlns:a16="http://schemas.microsoft.com/office/drawing/2014/main" id="{8DC64FDB-83B0-4CCB-88C9-7293CA78883A}"/>
              </a:ext>
            </a:extLst>
          </p:cNvPr>
          <p:cNvSpPr>
            <a:spLocks noGrp="1"/>
          </p:cNvSpPr>
          <p:nvPr/>
        </p:nvSpPr>
        <p:spPr>
          <a:xfrm>
            <a:off x="685800" y="4095750"/>
            <a:ext cx="2381250" cy="762000"/>
          </a:xfrm>
          <a:prstGeom prst="roundRect">
            <a:avLst>
              <a:gd name="adj" fmla="val 15000"/>
            </a:avLst>
          </a:prstGeom>
          <a:solidFill>
            <a:srgbClr val="EEF2F4"/>
          </a:solidFill>
          <a:ln w="0">
            <a:noFill/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6" name="cover-r-box">
            <a:extLst>
              <a:ext uri="{FF2B5EF4-FFF2-40B4-BE49-F238E27FC236}">
                <a16:creationId xmlns:a16="http://schemas.microsoft.com/office/drawing/2014/main" id="{99A31063-97CA-4C47-9C89-D1BB64389658}"/>
              </a:ext>
            </a:extLst>
          </p:cNvPr>
          <p:cNvSpPr>
            <a:spLocks noGrp="1"/>
          </p:cNvSpPr>
          <p:nvPr/>
        </p:nvSpPr>
        <p:spPr>
          <a:xfrm>
            <a:off x="3219450" y="4095750"/>
            <a:ext cx="2381250" cy="762000"/>
          </a:xfrm>
          <a:prstGeom prst="roundRect">
            <a:avLst>
              <a:gd name="adj" fmla="val 15000"/>
            </a:avLst>
          </a:prstGeom>
          <a:solidFill>
            <a:srgbClr val="EAF1FA"/>
          </a:solidFill>
          <a:ln w="0">
            <a:noFill/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7" name="cover-py-box">
            <a:extLst>
              <a:ext uri="{FF2B5EF4-FFF2-40B4-BE49-F238E27FC236}">
                <a16:creationId xmlns:a16="http://schemas.microsoft.com/office/drawing/2014/main" id="{A977F851-22E5-4097-BDA1-A5070693FD80}"/>
              </a:ext>
            </a:extLst>
          </p:cNvPr>
          <p:cNvSpPr>
            <a:spLocks noGrp="1"/>
          </p:cNvSpPr>
          <p:nvPr/>
        </p:nvSpPr>
        <p:spPr>
          <a:xfrm>
            <a:off x="5753100" y="4095750"/>
            <a:ext cx="2381250" cy="762000"/>
          </a:xfrm>
          <a:prstGeom prst="roundRect">
            <a:avLst>
              <a:gd name="adj" fmla="val 15000"/>
            </a:avLst>
          </a:prstGeom>
          <a:solidFill>
            <a:srgbClr val="EAF5F7"/>
          </a:solidFill>
          <a:ln w="0">
            <a:noFill/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8" name="cover-platform">
            <a:extLst>
              <a:ext uri="{FF2B5EF4-FFF2-40B4-BE49-F238E27FC236}">
                <a16:creationId xmlns:a16="http://schemas.microsoft.com/office/drawing/2014/main" id="{5F90300A-AD0E-489B-8EED-C6C183124CF1}"/>
              </a:ext>
            </a:extLst>
          </p:cNvPr>
          <p:cNvSpPr>
            <a:spLocks noGrp="1"/>
          </p:cNvSpPr>
          <p:nvPr/>
        </p:nvSpPr>
        <p:spPr>
          <a:xfrm>
            <a:off x="914400" y="4295775"/>
            <a:ext cx="19050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800" b="1">
                <a:solidFill>
                  <a:srgbClr val="092238"/>
                </a:solidFill>
              </a:defRPr>
            </a:pPr>
            <a:r>
              <a:rPr sz="1800" b="1">
                <a:solidFill>
                  <a:srgbClr val="092238"/>
                </a:solidFill>
              </a:rPr>
              <a:t>Explore</a:t>
            </a:r>
          </a:p>
        </p:txBody>
      </p:sp>
      <p:sp>
        <p:nvSpPr>
          <p:cNvPr id="9" name="cover-r">
            <a:extLst>
              <a:ext uri="{FF2B5EF4-FFF2-40B4-BE49-F238E27FC236}">
                <a16:creationId xmlns:a16="http://schemas.microsoft.com/office/drawing/2014/main" id="{44A5CF4B-0CFF-42CB-9014-B0EF8AEDE7A4}"/>
              </a:ext>
            </a:extLst>
          </p:cNvPr>
          <p:cNvSpPr>
            <a:spLocks noGrp="1"/>
          </p:cNvSpPr>
          <p:nvPr/>
        </p:nvSpPr>
        <p:spPr>
          <a:xfrm>
            <a:off x="3467100" y="4295775"/>
            <a:ext cx="19050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800" b="1">
                <a:solidFill>
                  <a:srgbClr val="2F74C0"/>
                </a:solidFill>
              </a:defRPr>
            </a:pPr>
            <a:r>
              <a:rPr sz="1800" b="1">
                <a:solidFill>
                  <a:srgbClr val="2F74C0"/>
                </a:solidFill>
              </a:rPr>
              <a:t>Analyze</a:t>
            </a:r>
          </a:p>
        </p:txBody>
      </p:sp>
      <p:sp>
        <p:nvSpPr>
          <p:cNvPr id="10" name="cover-py">
            <a:extLst>
              <a:ext uri="{FF2B5EF4-FFF2-40B4-BE49-F238E27FC236}">
                <a16:creationId xmlns:a16="http://schemas.microsoft.com/office/drawing/2014/main" id="{D46A3DC9-E9B3-4C6E-824A-AFBC43B0A868}"/>
              </a:ext>
            </a:extLst>
          </p:cNvPr>
          <p:cNvSpPr>
            <a:spLocks noGrp="1"/>
          </p:cNvSpPr>
          <p:nvPr/>
        </p:nvSpPr>
        <p:spPr>
          <a:xfrm>
            <a:off x="6000750" y="4295775"/>
            <a:ext cx="19050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800" b="1">
                <a:solidFill>
                  <a:srgbClr val="007A7A"/>
                </a:solidFill>
              </a:defRPr>
            </a:pPr>
            <a:r>
              <a:rPr sz="1800" b="1">
                <a:solidFill>
                  <a:srgbClr val="007A7A"/>
                </a:solidFill>
              </a:rPr>
              <a:t>Integrate</a:t>
            </a:r>
          </a:p>
        </p:txBody>
      </p:sp>
      <p:sp>
        <p:nvSpPr>
          <p:cNvPr id="11" name="cover-training">
            <a:extLst>
              <a:ext uri="{FF2B5EF4-FFF2-40B4-BE49-F238E27FC236}">
                <a16:creationId xmlns:a16="http://schemas.microsoft.com/office/drawing/2014/main" id="{A22C9A76-858A-4AF4-8AB2-15BEA98CAA35}"/>
              </a:ext>
            </a:extLst>
          </p:cNvPr>
          <p:cNvSpPr>
            <a:spLocks noGrp="1"/>
          </p:cNvSpPr>
          <p:nvPr/>
        </p:nvSpPr>
        <p:spPr>
          <a:xfrm>
            <a:off x="685800" y="5657850"/>
            <a:ext cx="61912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425" b="1">
                <a:solidFill>
                  <a:srgbClr val="526574"/>
                </a:solidFill>
              </a:defRPr>
            </a:pPr>
            <a:r>
              <a:rPr sz="1425" b="1" dirty="0">
                <a:solidFill>
                  <a:srgbClr val="526574"/>
                </a:solidFill>
              </a:rPr>
              <a:t>Pakistan practical   •  30 minutes</a:t>
            </a:r>
          </a:p>
        </p:txBody>
      </p:sp>
      <p:sp>
        <p:nvSpPr>
          <p:cNvPr id="12" name="cover-partners">
            <a:extLst>
              <a:ext uri="{FF2B5EF4-FFF2-40B4-BE49-F238E27FC236}">
                <a16:creationId xmlns:a16="http://schemas.microsoft.com/office/drawing/2014/main" id="{57AB7FFE-8CBD-4B42-BE19-790F8C8E7B66}"/>
              </a:ext>
            </a:extLst>
          </p:cNvPr>
          <p:cNvSpPr>
            <a:spLocks noGrp="1"/>
          </p:cNvSpPr>
          <p:nvPr/>
        </p:nvSpPr>
        <p:spPr>
          <a:xfrm>
            <a:off x="685800" y="6115050"/>
            <a:ext cx="85725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75" b="0">
                <a:solidFill>
                  <a:srgbClr val="526574"/>
                </a:solidFill>
              </a:defRPr>
            </a:pPr>
            <a:r>
              <a:rPr sz="975" b="0" dirty="0">
                <a:solidFill>
                  <a:srgbClr val="526574"/>
                </a:solidFill>
              </a:rPr>
              <a:t>FAO • University of Cantabria </a:t>
            </a:r>
          </a:p>
        </p:txBody>
      </p:sp>
    </p:spTree>
    <p:extLst>
      <p:ext uri="{BB962C8B-B14F-4D97-AF65-F5344CB8AC3E}">
        <p14:creationId xmlns:p14="http://schemas.microsoft.com/office/powerpoint/2010/main" val="27054139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kicker-2">
            <a:extLst>
              <a:ext uri="{FF2B5EF4-FFF2-40B4-BE49-F238E27FC236}">
                <a16:creationId xmlns:a16="http://schemas.microsoft.com/office/drawing/2014/main" id="{86911AA0-E691-493E-8B1F-2CA946CB5179}"/>
              </a:ext>
            </a:extLst>
          </p:cNvPr>
          <p:cNvSpPr>
            <a:spLocks noGrp="1"/>
          </p:cNvSpPr>
          <p:nvPr/>
        </p:nvSpPr>
        <p:spPr>
          <a:xfrm>
            <a:off x="609600" y="361950"/>
            <a:ext cx="6858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050" b="1">
                <a:solidFill>
                  <a:srgbClr val="007A7A"/>
                </a:solidFill>
              </a:defRPr>
            </a:pPr>
            <a:r>
              <a:rPr sz="1050" b="1">
                <a:solidFill>
                  <a:srgbClr val="007A7A"/>
                </a:solidFill>
              </a:rPr>
              <a:t>WHAT CAVA DOES</a:t>
            </a:r>
          </a:p>
        </p:txBody>
      </p:sp>
      <p:sp>
        <p:nvSpPr>
          <p:cNvPr id="2" name="title-2">
            <a:extLst>
              <a:ext uri="{FF2B5EF4-FFF2-40B4-BE49-F238E27FC236}">
                <a16:creationId xmlns:a16="http://schemas.microsoft.com/office/drawing/2014/main" id="{13278FD4-C71C-421E-9683-2F9E5F31B661}"/>
              </a:ext>
            </a:extLst>
          </p:cNvPr>
          <p:cNvSpPr>
            <a:spLocks noGrp="1"/>
          </p:cNvSpPr>
          <p:nvPr/>
        </p:nvSpPr>
        <p:spPr>
          <a:xfrm>
            <a:off x="609600" y="666750"/>
            <a:ext cx="1083945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850" b="1">
                <a:solidFill>
                  <a:srgbClr val="092238"/>
                </a:solidFill>
              </a:defRPr>
            </a:pPr>
            <a:r>
              <a:rPr sz="2850" b="1">
                <a:solidFill>
                  <a:srgbClr val="092238"/>
                </a:solidFill>
              </a:rPr>
              <a:t>CAVA makes climate information usable for agriculture</a:t>
            </a:r>
          </a:p>
        </p:txBody>
      </p:sp>
      <p:sp>
        <p:nvSpPr>
          <p:cNvPr id="3" name="title-rule-2">
            <a:extLst>
              <a:ext uri="{FF2B5EF4-FFF2-40B4-BE49-F238E27FC236}">
                <a16:creationId xmlns:a16="http://schemas.microsoft.com/office/drawing/2014/main" id="{E20D0A00-5216-4C30-92DF-CB5C72B19DD4}"/>
              </a:ext>
            </a:extLst>
          </p:cNvPr>
          <p:cNvSpPr>
            <a:spLocks noGrp="1"/>
          </p:cNvSpPr>
          <p:nvPr/>
        </p:nvSpPr>
        <p:spPr>
          <a:xfrm>
            <a:off x="609600" y="1333500"/>
            <a:ext cx="10972800" cy="19050"/>
          </a:xfrm>
          <a:prstGeom prst="rect">
            <a:avLst/>
          </a:prstGeom>
          <a:solidFill>
            <a:srgbClr val="CBD6DC"/>
          </a:solidFill>
          <a:ln w="0">
            <a:noFill/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4" name="cava-purpose">
            <a:extLst>
              <a:ext uri="{FF2B5EF4-FFF2-40B4-BE49-F238E27FC236}">
                <a16:creationId xmlns:a16="http://schemas.microsoft.com/office/drawing/2014/main" id="{444764F5-D3E3-4032-B016-A863B7479EB2}"/>
              </a:ext>
            </a:extLst>
          </p:cNvPr>
          <p:cNvSpPr>
            <a:spLocks noGrp="1"/>
          </p:cNvSpPr>
          <p:nvPr/>
        </p:nvSpPr>
        <p:spPr>
          <a:xfrm>
            <a:off x="609600" y="1657350"/>
            <a:ext cx="1057275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800" b="0">
                <a:solidFill>
                  <a:srgbClr val="526574"/>
                </a:solidFill>
              </a:defRPr>
            </a:pPr>
            <a:r>
              <a:rPr sz="1800" b="0">
                <a:solidFill>
                  <a:srgbClr val="526574"/>
                </a:solidFill>
              </a:rPr>
              <a:t>CAVA is an agriculture-focused climate service that simplifies access to past and future climate information for country, regional and subnational analysis.</a:t>
            </a:r>
          </a:p>
        </p:txBody>
      </p:sp>
      <p:sp>
        <p:nvSpPr>
          <p:cNvPr id="5" name="backbone-label">
            <a:extLst>
              <a:ext uri="{FF2B5EF4-FFF2-40B4-BE49-F238E27FC236}">
                <a16:creationId xmlns:a16="http://schemas.microsoft.com/office/drawing/2014/main" id="{1D24C69C-7745-4C98-95D6-03321D5F5294}"/>
              </a:ext>
            </a:extLst>
          </p:cNvPr>
          <p:cNvSpPr>
            <a:spLocks noGrp="1"/>
          </p:cNvSpPr>
          <p:nvPr/>
        </p:nvSpPr>
        <p:spPr>
          <a:xfrm>
            <a:off x="781050" y="2800350"/>
            <a:ext cx="2476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1">
                <a:solidFill>
                  <a:srgbClr val="007A7A"/>
                </a:solidFill>
              </a:defRPr>
            </a:pPr>
            <a:r>
              <a:rPr sz="1200" b="1">
                <a:solidFill>
                  <a:srgbClr val="007A7A"/>
                </a:solidFill>
              </a:rPr>
              <a:t>ONE DATA BACKBONE</a:t>
            </a:r>
          </a:p>
        </p:txBody>
      </p:sp>
      <p:sp>
        <p:nvSpPr>
          <p:cNvPr id="6" name="backbone-data">
            <a:extLst>
              <a:ext uri="{FF2B5EF4-FFF2-40B4-BE49-F238E27FC236}">
                <a16:creationId xmlns:a16="http://schemas.microsoft.com/office/drawing/2014/main" id="{BCD097A0-8C78-4B77-9F36-57193EEB0E36}"/>
              </a:ext>
            </a:extLst>
          </p:cNvPr>
          <p:cNvSpPr>
            <a:spLocks noGrp="1"/>
          </p:cNvSpPr>
          <p:nvPr/>
        </p:nvSpPr>
        <p:spPr>
          <a:xfrm>
            <a:off x="781050" y="3219450"/>
            <a:ext cx="4762500" cy="952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250" b="1">
                <a:solidFill>
                  <a:srgbClr val="092238"/>
                </a:solidFill>
              </a:defRPr>
            </a:pPr>
            <a:r>
              <a:rPr sz="2250" b="1" dirty="0">
                <a:solidFill>
                  <a:srgbClr val="092238"/>
                </a:solidFill>
              </a:rPr>
              <a:t>ERA5  •  CORDEX-CORE</a:t>
            </a:r>
          </a:p>
          <a:p>
            <a:pPr algn="l">
              <a:defRPr sz="2250" b="1">
                <a:solidFill>
                  <a:srgbClr val="092238"/>
                </a:solidFill>
              </a:defRPr>
            </a:pPr>
            <a:r>
              <a:rPr sz="2250" b="1" dirty="0">
                <a:solidFill>
                  <a:srgbClr val="092238"/>
                </a:solidFill>
              </a:rPr>
              <a:t>W5E5  •  ISIMIP3</a:t>
            </a:r>
          </a:p>
        </p:txBody>
      </p:sp>
      <p:sp>
        <p:nvSpPr>
          <p:cNvPr id="7" name="outcome-rule">
            <a:extLst>
              <a:ext uri="{FF2B5EF4-FFF2-40B4-BE49-F238E27FC236}">
                <a16:creationId xmlns:a16="http://schemas.microsoft.com/office/drawing/2014/main" id="{CD635881-8A51-4D8D-BB76-B0D4908133C7}"/>
              </a:ext>
            </a:extLst>
          </p:cNvPr>
          <p:cNvSpPr>
            <a:spLocks noGrp="1"/>
          </p:cNvSpPr>
          <p:nvPr/>
        </p:nvSpPr>
        <p:spPr>
          <a:xfrm>
            <a:off x="6153150" y="2705100"/>
            <a:ext cx="38100" cy="2476500"/>
          </a:xfrm>
          <a:prstGeom prst="rect">
            <a:avLst/>
          </a:prstGeom>
          <a:solidFill>
            <a:srgbClr val="62C8E5"/>
          </a:solidFill>
          <a:ln w="0">
            <a:noFill/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8" name="outcome-label">
            <a:extLst>
              <a:ext uri="{FF2B5EF4-FFF2-40B4-BE49-F238E27FC236}">
                <a16:creationId xmlns:a16="http://schemas.microsoft.com/office/drawing/2014/main" id="{D107159A-3434-44C2-BFC7-7C3FD7B258E2}"/>
              </a:ext>
            </a:extLst>
          </p:cNvPr>
          <p:cNvSpPr>
            <a:spLocks noGrp="1"/>
          </p:cNvSpPr>
          <p:nvPr/>
        </p:nvSpPr>
        <p:spPr>
          <a:xfrm>
            <a:off x="6572250" y="2800350"/>
            <a:ext cx="31432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1">
                <a:solidFill>
                  <a:srgbClr val="007A7A"/>
                </a:solidFill>
              </a:defRPr>
            </a:pPr>
            <a:r>
              <a:rPr sz="1200" b="1">
                <a:solidFill>
                  <a:srgbClr val="007A7A"/>
                </a:solidFill>
              </a:rPr>
              <a:t>WHAT USERS CAN DO</a:t>
            </a:r>
          </a:p>
        </p:txBody>
      </p:sp>
      <p:sp>
        <p:nvSpPr>
          <p:cNvPr id="9" name="outcome-body">
            <a:extLst>
              <a:ext uri="{FF2B5EF4-FFF2-40B4-BE49-F238E27FC236}">
                <a16:creationId xmlns:a16="http://schemas.microsoft.com/office/drawing/2014/main" id="{CD1331B0-1825-49A3-B868-ED1B32FCB1F8}"/>
              </a:ext>
            </a:extLst>
          </p:cNvPr>
          <p:cNvSpPr>
            <a:spLocks noGrp="1"/>
          </p:cNvSpPr>
          <p:nvPr/>
        </p:nvSpPr>
        <p:spPr>
          <a:xfrm>
            <a:off x="6572250" y="3257550"/>
            <a:ext cx="4286250" cy="1638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800" b="1">
                <a:solidFill>
                  <a:srgbClr val="12212E"/>
                </a:solidFill>
              </a:defRPr>
            </a:pPr>
            <a:r>
              <a:rPr sz="1800" b="1">
                <a:solidFill>
                  <a:srgbClr val="12212E"/>
                </a:solidFill>
              </a:rPr>
              <a:t>Explore harmonized indicators</a:t>
            </a:r>
          </a:p>
          <a:p>
            <a:pPr algn="l">
              <a:defRPr sz="1800" b="1">
                <a:solidFill>
                  <a:srgbClr val="12212E"/>
                </a:solidFill>
              </a:defRPr>
            </a:pPr>
            <a:r>
              <a:rPr sz="1800" b="1">
                <a:solidFill>
                  <a:srgbClr val="12212E"/>
                </a:solidFill>
              </a:rPr>
              <a:t>Compare historical and future periods</a:t>
            </a:r>
          </a:p>
          <a:p>
            <a:pPr algn="l">
              <a:defRPr sz="1800" b="1">
                <a:solidFill>
                  <a:srgbClr val="12212E"/>
                </a:solidFill>
              </a:defRPr>
            </a:pPr>
            <a:r>
              <a:rPr sz="1800" b="1">
                <a:solidFill>
                  <a:srgbClr val="12212E"/>
                </a:solidFill>
              </a:rPr>
              <a:t>Calculate custom climate indicators</a:t>
            </a:r>
          </a:p>
          <a:p>
            <a:pPr algn="l">
              <a:defRPr sz="1800" b="1">
                <a:solidFill>
                  <a:srgbClr val="12212E"/>
                </a:solidFill>
              </a:defRPr>
            </a:pPr>
            <a:r>
              <a:rPr sz="1800" b="1">
                <a:solidFill>
                  <a:srgbClr val="12212E"/>
                </a:solidFill>
              </a:rPr>
              <a:t>Create reports, maps and model inputs</a:t>
            </a:r>
          </a:p>
        </p:txBody>
      </p:sp>
      <p:sp>
        <p:nvSpPr>
          <p:cNvPr id="10" name="cava-meaning">
            <a:extLst>
              <a:ext uri="{FF2B5EF4-FFF2-40B4-BE49-F238E27FC236}">
                <a16:creationId xmlns:a16="http://schemas.microsoft.com/office/drawing/2014/main" id="{29F117A3-B1D5-4DC1-9C51-30C86ACD77A3}"/>
              </a:ext>
            </a:extLst>
          </p:cNvPr>
          <p:cNvSpPr>
            <a:spLocks noGrp="1"/>
          </p:cNvSpPr>
          <p:nvPr/>
        </p:nvSpPr>
        <p:spPr>
          <a:xfrm>
            <a:off x="781050" y="5572125"/>
            <a:ext cx="102870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650" b="1">
                <a:solidFill>
                  <a:srgbClr val="092238"/>
                </a:solidFill>
              </a:defRPr>
            </a:pPr>
            <a:r>
              <a:rPr sz="1650" b="1" dirty="0">
                <a:solidFill>
                  <a:srgbClr val="092238"/>
                </a:solidFill>
              </a:rPr>
              <a:t>The common backbone lets users move between interfaces without changing the climate-data foundation</a:t>
            </a:r>
          </a:p>
        </p:txBody>
      </p:sp>
      <p:sp>
        <p:nvSpPr>
          <p:cNvPr id="12" name="footer-label-2">
            <a:extLst>
              <a:ext uri="{FF2B5EF4-FFF2-40B4-BE49-F238E27FC236}">
                <a16:creationId xmlns:a16="http://schemas.microsoft.com/office/drawing/2014/main" id="{6B52C078-CDE9-4B7D-B4F1-0D4CFCB6ED47}"/>
              </a:ext>
            </a:extLst>
          </p:cNvPr>
          <p:cNvSpPr>
            <a:spLocks noGrp="1"/>
          </p:cNvSpPr>
          <p:nvPr/>
        </p:nvSpPr>
        <p:spPr>
          <a:xfrm>
            <a:off x="609600" y="6477000"/>
            <a:ext cx="66675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825" b="0">
                <a:solidFill>
                  <a:srgbClr val="526574"/>
                </a:solidFill>
              </a:defRPr>
            </a:pPr>
            <a:r>
              <a:rPr sz="825" b="0">
                <a:solidFill>
                  <a:srgbClr val="526574"/>
                </a:solidFill>
              </a:rPr>
              <a:t>CAVA training • Pakistan</a:t>
            </a:r>
          </a:p>
        </p:txBody>
      </p:sp>
      <p:sp>
        <p:nvSpPr>
          <p:cNvPr id="13" name="footer-page-2">
            <a:extLst>
              <a:ext uri="{FF2B5EF4-FFF2-40B4-BE49-F238E27FC236}">
                <a16:creationId xmlns:a16="http://schemas.microsoft.com/office/drawing/2014/main" id="{5A3A9F85-7E7E-4E83-9C0D-507E33B863FC}"/>
              </a:ext>
            </a:extLst>
          </p:cNvPr>
          <p:cNvSpPr>
            <a:spLocks noGrp="1"/>
          </p:cNvSpPr>
          <p:nvPr/>
        </p:nvSpPr>
        <p:spPr>
          <a:xfrm>
            <a:off x="11239500" y="6477000"/>
            <a:ext cx="3429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825" b="1">
                <a:solidFill>
                  <a:srgbClr val="526574"/>
                </a:solidFill>
              </a:defRPr>
            </a:pPr>
            <a:r>
              <a:rPr sz="825" b="1">
                <a:solidFill>
                  <a:srgbClr val="526574"/>
                </a:solidFill>
              </a:rPr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124056812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kicker-3">
            <a:extLst>
              <a:ext uri="{FF2B5EF4-FFF2-40B4-BE49-F238E27FC236}">
                <a16:creationId xmlns:a16="http://schemas.microsoft.com/office/drawing/2014/main" id="{C007BAEE-95D2-47A8-B2F3-4B5ED27888D3}"/>
              </a:ext>
            </a:extLst>
          </p:cNvPr>
          <p:cNvSpPr>
            <a:spLocks noGrp="1"/>
          </p:cNvSpPr>
          <p:nvPr/>
        </p:nvSpPr>
        <p:spPr>
          <a:xfrm>
            <a:off x="609600" y="361950"/>
            <a:ext cx="6858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050" b="1">
                <a:solidFill>
                  <a:srgbClr val="007A7A"/>
                </a:solidFill>
              </a:defRPr>
            </a:pPr>
            <a:r>
              <a:rPr sz="1050" b="1">
                <a:solidFill>
                  <a:srgbClr val="007A7A"/>
                </a:solidFill>
              </a:rPr>
              <a:t>THE CAVA ECOSYSTEM</a:t>
            </a:r>
          </a:p>
        </p:txBody>
      </p:sp>
      <p:sp>
        <p:nvSpPr>
          <p:cNvPr id="2" name="title-3">
            <a:extLst>
              <a:ext uri="{FF2B5EF4-FFF2-40B4-BE49-F238E27FC236}">
                <a16:creationId xmlns:a16="http://schemas.microsoft.com/office/drawing/2014/main" id="{8E66135F-D527-4E8C-B744-AC1C0469A9BC}"/>
              </a:ext>
            </a:extLst>
          </p:cNvPr>
          <p:cNvSpPr>
            <a:spLocks noGrp="1"/>
          </p:cNvSpPr>
          <p:nvPr/>
        </p:nvSpPr>
        <p:spPr>
          <a:xfrm>
            <a:off x="609600" y="666750"/>
            <a:ext cx="1083945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850" b="1">
                <a:solidFill>
                  <a:srgbClr val="092238"/>
                </a:solidFill>
              </a:defRPr>
            </a:pPr>
            <a:r>
              <a:rPr sz="2850" b="1">
                <a:solidFill>
                  <a:srgbClr val="092238"/>
                </a:solidFill>
              </a:rPr>
              <a:t>Three entry points serve different users</a:t>
            </a:r>
          </a:p>
        </p:txBody>
      </p:sp>
      <p:sp>
        <p:nvSpPr>
          <p:cNvPr id="3" name="title-rule-3">
            <a:extLst>
              <a:ext uri="{FF2B5EF4-FFF2-40B4-BE49-F238E27FC236}">
                <a16:creationId xmlns:a16="http://schemas.microsoft.com/office/drawing/2014/main" id="{1EA4E307-8BEE-4174-A7DC-5C457E2EFD6C}"/>
              </a:ext>
            </a:extLst>
          </p:cNvPr>
          <p:cNvSpPr>
            <a:spLocks noGrp="1"/>
          </p:cNvSpPr>
          <p:nvPr/>
        </p:nvSpPr>
        <p:spPr>
          <a:xfrm>
            <a:off x="609600" y="1333500"/>
            <a:ext cx="10972800" cy="19050"/>
          </a:xfrm>
          <a:prstGeom prst="rect">
            <a:avLst/>
          </a:prstGeom>
          <a:solidFill>
            <a:srgbClr val="CBD6DC"/>
          </a:solidFill>
          <a:ln w="0">
            <a:noFill/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4" name="path-arrow-1">
            <a:extLst>
              <a:ext uri="{FF2B5EF4-FFF2-40B4-BE49-F238E27FC236}">
                <a16:creationId xmlns:a16="http://schemas.microsoft.com/office/drawing/2014/main" id="{390B6A0C-83E4-4FA1-B152-51A2652ED351}"/>
              </a:ext>
            </a:extLst>
          </p:cNvPr>
          <p:cNvSpPr>
            <a:spLocks noGrp="1"/>
          </p:cNvSpPr>
          <p:nvPr/>
        </p:nvSpPr>
        <p:spPr>
          <a:xfrm>
            <a:off x="3476625" y="3171825"/>
            <a:ext cx="723900" cy="171450"/>
          </a:xfrm>
          <a:prstGeom prst="roundRect">
            <a:avLst>
              <a:gd name="adj" fmla="val 22222"/>
            </a:avLst>
          </a:prstGeom>
          <a:solidFill>
            <a:srgbClr val="62C8E5"/>
          </a:solidFill>
          <a:ln w="0">
            <a:noFill/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5" name="path-arrow-2">
            <a:extLst>
              <a:ext uri="{FF2B5EF4-FFF2-40B4-BE49-F238E27FC236}">
                <a16:creationId xmlns:a16="http://schemas.microsoft.com/office/drawing/2014/main" id="{C4DD9507-0A58-4204-95C5-ADCB653873B3}"/>
              </a:ext>
            </a:extLst>
          </p:cNvPr>
          <p:cNvSpPr>
            <a:spLocks noGrp="1"/>
          </p:cNvSpPr>
          <p:nvPr/>
        </p:nvSpPr>
        <p:spPr>
          <a:xfrm>
            <a:off x="7724775" y="3171825"/>
            <a:ext cx="723900" cy="171450"/>
          </a:xfrm>
          <a:prstGeom prst="roundRect">
            <a:avLst>
              <a:gd name="adj" fmla="val 22222"/>
            </a:avLst>
          </a:prstGeom>
          <a:solidFill>
            <a:srgbClr val="62C8E5"/>
          </a:solidFill>
          <a:ln w="0">
            <a:noFill/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6" name="entry-0">
            <a:extLst>
              <a:ext uri="{FF2B5EF4-FFF2-40B4-BE49-F238E27FC236}">
                <a16:creationId xmlns:a16="http://schemas.microsoft.com/office/drawing/2014/main" id="{78D016DE-7306-4EEE-B65E-77F7F4824021}"/>
              </a:ext>
            </a:extLst>
          </p:cNvPr>
          <p:cNvSpPr>
            <a:spLocks noGrp="1"/>
          </p:cNvSpPr>
          <p:nvPr/>
        </p:nvSpPr>
        <p:spPr>
          <a:xfrm>
            <a:off x="685800" y="2000250"/>
            <a:ext cx="2790825" cy="2857500"/>
          </a:xfrm>
          <a:prstGeom prst="roundRect">
            <a:avLst>
              <a:gd name="adj" fmla="val 5461"/>
            </a:avLst>
          </a:prstGeom>
          <a:solidFill>
            <a:srgbClr val="EEF2F4"/>
          </a:solidFill>
          <a:ln w="0">
            <a:noFill/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7" name="entry-k-0">
            <a:extLst>
              <a:ext uri="{FF2B5EF4-FFF2-40B4-BE49-F238E27FC236}">
                <a16:creationId xmlns:a16="http://schemas.microsoft.com/office/drawing/2014/main" id="{F0E50D37-AD72-4506-84E4-E1BDF5BDAF41}"/>
              </a:ext>
            </a:extLst>
          </p:cNvPr>
          <p:cNvSpPr>
            <a:spLocks noGrp="1"/>
          </p:cNvSpPr>
          <p:nvPr/>
        </p:nvSpPr>
        <p:spPr>
          <a:xfrm>
            <a:off x="914400" y="2266950"/>
            <a:ext cx="23812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125" b="1">
                <a:solidFill>
                  <a:srgbClr val="007A7A"/>
                </a:solidFill>
              </a:defRPr>
            </a:pPr>
            <a:r>
              <a:rPr sz="1125" b="1">
                <a:solidFill>
                  <a:srgbClr val="007A7A"/>
                </a:solidFill>
              </a:rPr>
              <a:t>01  EXPLORE</a:t>
            </a:r>
          </a:p>
        </p:txBody>
      </p:sp>
      <p:sp>
        <p:nvSpPr>
          <p:cNvPr id="8" name="entry-h-0">
            <a:extLst>
              <a:ext uri="{FF2B5EF4-FFF2-40B4-BE49-F238E27FC236}">
                <a16:creationId xmlns:a16="http://schemas.microsoft.com/office/drawing/2014/main" id="{62D3CA89-C8A7-42C6-82CC-4AEC45569D7E}"/>
              </a:ext>
            </a:extLst>
          </p:cNvPr>
          <p:cNvSpPr>
            <a:spLocks noGrp="1"/>
          </p:cNvSpPr>
          <p:nvPr/>
        </p:nvSpPr>
        <p:spPr>
          <a:xfrm>
            <a:off x="914400" y="2781300"/>
            <a:ext cx="257175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950" b="1">
                <a:solidFill>
                  <a:srgbClr val="092238"/>
                </a:solidFill>
              </a:defRPr>
            </a:pPr>
            <a:r>
              <a:rPr sz="1950" b="1">
                <a:solidFill>
                  <a:srgbClr val="092238"/>
                </a:solidFill>
              </a:rPr>
              <a:t>CAVA Platform</a:t>
            </a:r>
          </a:p>
        </p:txBody>
      </p:sp>
      <p:sp>
        <p:nvSpPr>
          <p:cNvPr id="9" name="entry-b-0">
            <a:extLst>
              <a:ext uri="{FF2B5EF4-FFF2-40B4-BE49-F238E27FC236}">
                <a16:creationId xmlns:a16="http://schemas.microsoft.com/office/drawing/2014/main" id="{C79443C1-088E-4B73-87E0-73127123E4D9}"/>
              </a:ext>
            </a:extLst>
          </p:cNvPr>
          <p:cNvSpPr>
            <a:spLocks noGrp="1"/>
          </p:cNvSpPr>
          <p:nvPr/>
        </p:nvSpPr>
        <p:spPr>
          <a:xfrm>
            <a:off x="914400" y="3390900"/>
            <a:ext cx="2476500" cy="1123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425" b="0">
                <a:solidFill>
                  <a:srgbClr val="12212E"/>
                </a:solidFill>
              </a:defRPr>
            </a:pPr>
            <a:r>
              <a:rPr sz="1425" b="0">
                <a:solidFill>
                  <a:srgbClr val="12212E"/>
                </a:solidFill>
              </a:rPr>
              <a:t>Processed indicators, scenario comparison and downloadable reports—no coding required.</a:t>
            </a:r>
          </a:p>
        </p:txBody>
      </p:sp>
      <p:sp>
        <p:nvSpPr>
          <p:cNvPr id="10" name="entry-1">
            <a:extLst>
              <a:ext uri="{FF2B5EF4-FFF2-40B4-BE49-F238E27FC236}">
                <a16:creationId xmlns:a16="http://schemas.microsoft.com/office/drawing/2014/main" id="{0ABE28D7-0C89-4A32-9C24-5E7EBFF18C27}"/>
              </a:ext>
            </a:extLst>
          </p:cNvPr>
          <p:cNvSpPr>
            <a:spLocks noGrp="1"/>
          </p:cNvSpPr>
          <p:nvPr/>
        </p:nvSpPr>
        <p:spPr>
          <a:xfrm>
            <a:off x="4200525" y="2000250"/>
            <a:ext cx="3057525" cy="2857500"/>
          </a:xfrm>
          <a:prstGeom prst="roundRect">
            <a:avLst>
              <a:gd name="adj" fmla="val 5333"/>
            </a:avLst>
          </a:prstGeom>
          <a:solidFill>
            <a:srgbClr val="EAF1FA"/>
          </a:solidFill>
          <a:ln w="0">
            <a:noFill/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11" name="entry-k-1">
            <a:extLst>
              <a:ext uri="{FF2B5EF4-FFF2-40B4-BE49-F238E27FC236}">
                <a16:creationId xmlns:a16="http://schemas.microsoft.com/office/drawing/2014/main" id="{185286A5-36DC-432D-95DB-3B0851441481}"/>
              </a:ext>
            </a:extLst>
          </p:cNvPr>
          <p:cNvSpPr>
            <a:spLocks noGrp="1"/>
          </p:cNvSpPr>
          <p:nvPr/>
        </p:nvSpPr>
        <p:spPr>
          <a:xfrm>
            <a:off x="4429125" y="2266950"/>
            <a:ext cx="23812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125" b="1">
                <a:solidFill>
                  <a:srgbClr val="2F74C0"/>
                </a:solidFill>
              </a:defRPr>
            </a:pPr>
            <a:r>
              <a:rPr sz="1125" b="1">
                <a:solidFill>
                  <a:srgbClr val="2F74C0"/>
                </a:solidFill>
              </a:rPr>
              <a:t>02  ANALYZE</a:t>
            </a:r>
          </a:p>
        </p:txBody>
      </p:sp>
      <p:sp>
        <p:nvSpPr>
          <p:cNvPr id="12" name="entry-h-1">
            <a:extLst>
              <a:ext uri="{FF2B5EF4-FFF2-40B4-BE49-F238E27FC236}">
                <a16:creationId xmlns:a16="http://schemas.microsoft.com/office/drawing/2014/main" id="{53E579A6-961E-4EAA-A21D-1CB1C2478253}"/>
              </a:ext>
            </a:extLst>
          </p:cNvPr>
          <p:cNvSpPr>
            <a:spLocks noGrp="1"/>
          </p:cNvSpPr>
          <p:nvPr/>
        </p:nvSpPr>
        <p:spPr>
          <a:xfrm>
            <a:off x="4429125" y="2781300"/>
            <a:ext cx="257175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950" b="1">
                <a:solidFill>
                  <a:srgbClr val="092238"/>
                </a:solidFill>
              </a:defRPr>
            </a:pPr>
            <a:r>
              <a:rPr sz="1950" b="1">
                <a:solidFill>
                  <a:srgbClr val="092238"/>
                </a:solidFill>
              </a:rPr>
              <a:t>CAVAanalytics / R</a:t>
            </a:r>
          </a:p>
        </p:txBody>
      </p:sp>
      <p:sp>
        <p:nvSpPr>
          <p:cNvPr id="13" name="entry-b-1">
            <a:extLst>
              <a:ext uri="{FF2B5EF4-FFF2-40B4-BE49-F238E27FC236}">
                <a16:creationId xmlns:a16="http://schemas.microsoft.com/office/drawing/2014/main" id="{1A768BEB-AD41-468E-B7AE-F90938D65C68}"/>
              </a:ext>
            </a:extLst>
          </p:cNvPr>
          <p:cNvSpPr>
            <a:spLocks noGrp="1"/>
          </p:cNvSpPr>
          <p:nvPr/>
        </p:nvSpPr>
        <p:spPr>
          <a:xfrm>
            <a:off x="4429125" y="3390900"/>
            <a:ext cx="2476500" cy="1123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425" b="0">
                <a:solidFill>
                  <a:srgbClr val="12212E"/>
                </a:solidFill>
              </a:defRPr>
            </a:pPr>
            <a:r>
              <a:rPr sz="1425" b="0">
                <a:solidFill>
                  <a:srgbClr val="12212E"/>
                </a:solidFill>
              </a:rPr>
              <a:t>Retrieve harmonized data, calculate indicators and produce technical visualizations.</a:t>
            </a:r>
          </a:p>
        </p:txBody>
      </p:sp>
      <p:sp>
        <p:nvSpPr>
          <p:cNvPr id="14" name="entry-2">
            <a:extLst>
              <a:ext uri="{FF2B5EF4-FFF2-40B4-BE49-F238E27FC236}">
                <a16:creationId xmlns:a16="http://schemas.microsoft.com/office/drawing/2014/main" id="{DFF205D3-B312-4C6B-ADB5-B063B151A8E3}"/>
              </a:ext>
            </a:extLst>
          </p:cNvPr>
          <p:cNvSpPr>
            <a:spLocks noGrp="1"/>
          </p:cNvSpPr>
          <p:nvPr/>
        </p:nvSpPr>
        <p:spPr>
          <a:xfrm>
            <a:off x="8448675" y="2000250"/>
            <a:ext cx="3057525" cy="2857500"/>
          </a:xfrm>
          <a:prstGeom prst="roundRect">
            <a:avLst>
              <a:gd name="adj" fmla="val 5333"/>
            </a:avLst>
          </a:prstGeom>
          <a:solidFill>
            <a:srgbClr val="EAF5F7"/>
          </a:solidFill>
          <a:ln w="0">
            <a:noFill/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15" name="entry-k-2">
            <a:extLst>
              <a:ext uri="{FF2B5EF4-FFF2-40B4-BE49-F238E27FC236}">
                <a16:creationId xmlns:a16="http://schemas.microsoft.com/office/drawing/2014/main" id="{51D1BB1D-FF2C-4E16-9DCF-C4215C381825}"/>
              </a:ext>
            </a:extLst>
          </p:cNvPr>
          <p:cNvSpPr>
            <a:spLocks noGrp="1"/>
          </p:cNvSpPr>
          <p:nvPr/>
        </p:nvSpPr>
        <p:spPr>
          <a:xfrm>
            <a:off x="8677275" y="2266950"/>
            <a:ext cx="23812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125" b="1">
                <a:solidFill>
                  <a:srgbClr val="007A7A"/>
                </a:solidFill>
              </a:defRPr>
            </a:pPr>
            <a:r>
              <a:rPr sz="1125" b="1">
                <a:solidFill>
                  <a:srgbClr val="007A7A"/>
                </a:solidFill>
              </a:rPr>
              <a:t>03  INTEGRATE</a:t>
            </a:r>
          </a:p>
        </p:txBody>
      </p:sp>
      <p:sp>
        <p:nvSpPr>
          <p:cNvPr id="16" name="entry-h-2">
            <a:extLst>
              <a:ext uri="{FF2B5EF4-FFF2-40B4-BE49-F238E27FC236}">
                <a16:creationId xmlns:a16="http://schemas.microsoft.com/office/drawing/2014/main" id="{EC3789E4-81FD-44B9-B696-6E4F72281182}"/>
              </a:ext>
            </a:extLst>
          </p:cNvPr>
          <p:cNvSpPr>
            <a:spLocks noGrp="1"/>
          </p:cNvSpPr>
          <p:nvPr/>
        </p:nvSpPr>
        <p:spPr>
          <a:xfrm>
            <a:off x="8677275" y="2781300"/>
            <a:ext cx="257175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950" b="1">
                <a:solidFill>
                  <a:srgbClr val="092238"/>
                </a:solidFill>
              </a:defRPr>
            </a:pPr>
            <a:r>
              <a:rPr sz="1950" b="1">
                <a:solidFill>
                  <a:srgbClr val="092238"/>
                </a:solidFill>
              </a:rPr>
              <a:t>cavapy / Python</a:t>
            </a:r>
          </a:p>
        </p:txBody>
      </p:sp>
      <p:sp>
        <p:nvSpPr>
          <p:cNvPr id="17" name="entry-b-2">
            <a:extLst>
              <a:ext uri="{FF2B5EF4-FFF2-40B4-BE49-F238E27FC236}">
                <a16:creationId xmlns:a16="http://schemas.microsoft.com/office/drawing/2014/main" id="{6515146E-6712-40FA-9E12-8967C735A02B}"/>
              </a:ext>
            </a:extLst>
          </p:cNvPr>
          <p:cNvSpPr>
            <a:spLocks noGrp="1"/>
          </p:cNvSpPr>
          <p:nvPr/>
        </p:nvSpPr>
        <p:spPr>
          <a:xfrm>
            <a:off x="8677275" y="3390900"/>
            <a:ext cx="2476500" cy="1123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425" b="0">
                <a:solidFill>
                  <a:srgbClr val="12212E"/>
                </a:solidFill>
              </a:defRPr>
            </a:pPr>
            <a:r>
              <a:rPr sz="1425" b="0">
                <a:solidFill>
                  <a:srgbClr val="12212E"/>
                </a:solidFill>
              </a:rPr>
              <a:t>Retrieve analysis-ready data as inputs for downstream models and applications.</a:t>
            </a:r>
          </a:p>
        </p:txBody>
      </p:sp>
      <p:sp>
        <p:nvSpPr>
          <p:cNvPr id="18" name="entry-takeaway">
            <a:extLst>
              <a:ext uri="{FF2B5EF4-FFF2-40B4-BE49-F238E27FC236}">
                <a16:creationId xmlns:a16="http://schemas.microsoft.com/office/drawing/2014/main" id="{0E882C17-3B52-4B3F-B25F-EF12CFE589DF}"/>
              </a:ext>
            </a:extLst>
          </p:cNvPr>
          <p:cNvSpPr>
            <a:spLocks noGrp="1"/>
          </p:cNvSpPr>
          <p:nvPr/>
        </p:nvSpPr>
        <p:spPr>
          <a:xfrm>
            <a:off x="1143000" y="5429250"/>
            <a:ext cx="99060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800" b="1">
                <a:solidFill>
                  <a:srgbClr val="092238"/>
                </a:solidFill>
              </a:defRPr>
            </a:pPr>
            <a:r>
              <a:rPr sz="1800" b="1">
                <a:solidFill>
                  <a:srgbClr val="092238"/>
                </a:solidFill>
              </a:rPr>
              <a:t>The rest of this training focuses on the two programmatic entry points.</a:t>
            </a:r>
          </a:p>
        </p:txBody>
      </p:sp>
      <p:sp>
        <p:nvSpPr>
          <p:cNvPr id="20" name="footer-label-3">
            <a:extLst>
              <a:ext uri="{FF2B5EF4-FFF2-40B4-BE49-F238E27FC236}">
                <a16:creationId xmlns:a16="http://schemas.microsoft.com/office/drawing/2014/main" id="{BF084C9B-010C-4B1F-868A-461997E44D88}"/>
              </a:ext>
            </a:extLst>
          </p:cNvPr>
          <p:cNvSpPr>
            <a:spLocks noGrp="1"/>
          </p:cNvSpPr>
          <p:nvPr/>
        </p:nvSpPr>
        <p:spPr>
          <a:xfrm>
            <a:off x="609600" y="6477000"/>
            <a:ext cx="66675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825" b="0">
                <a:solidFill>
                  <a:srgbClr val="526574"/>
                </a:solidFill>
              </a:defRPr>
            </a:pPr>
            <a:r>
              <a:rPr sz="825" b="0">
                <a:solidFill>
                  <a:srgbClr val="526574"/>
                </a:solidFill>
              </a:rPr>
              <a:t>CAVA training • Pakistan</a:t>
            </a:r>
          </a:p>
        </p:txBody>
      </p:sp>
      <p:sp>
        <p:nvSpPr>
          <p:cNvPr id="21" name="footer-page-3">
            <a:extLst>
              <a:ext uri="{FF2B5EF4-FFF2-40B4-BE49-F238E27FC236}">
                <a16:creationId xmlns:a16="http://schemas.microsoft.com/office/drawing/2014/main" id="{D8A81082-F87C-4768-85F8-CBC3806BA0E9}"/>
              </a:ext>
            </a:extLst>
          </p:cNvPr>
          <p:cNvSpPr>
            <a:spLocks noGrp="1"/>
          </p:cNvSpPr>
          <p:nvPr/>
        </p:nvSpPr>
        <p:spPr>
          <a:xfrm>
            <a:off x="11239500" y="6477000"/>
            <a:ext cx="3429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825" b="1">
                <a:solidFill>
                  <a:srgbClr val="526574"/>
                </a:solidFill>
              </a:defRPr>
            </a:pPr>
            <a:r>
              <a:rPr sz="825" b="1">
                <a:solidFill>
                  <a:srgbClr val="526574"/>
                </a:solidFill>
              </a:rPr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210756589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kicker-4">
            <a:extLst>
              <a:ext uri="{FF2B5EF4-FFF2-40B4-BE49-F238E27FC236}">
                <a16:creationId xmlns:a16="http://schemas.microsoft.com/office/drawing/2014/main" id="{4277B1F2-69F3-4904-932D-81B85A0E40BC}"/>
              </a:ext>
            </a:extLst>
          </p:cNvPr>
          <p:cNvSpPr>
            <a:spLocks noGrp="1"/>
          </p:cNvSpPr>
          <p:nvPr/>
        </p:nvSpPr>
        <p:spPr>
          <a:xfrm>
            <a:off x="609600" y="361950"/>
            <a:ext cx="6858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050" b="1">
                <a:solidFill>
                  <a:srgbClr val="007A7A"/>
                </a:solidFill>
              </a:defRPr>
            </a:pPr>
            <a:r>
              <a:rPr sz="1050" b="1">
                <a:solidFill>
                  <a:srgbClr val="007A7A"/>
                </a:solidFill>
              </a:rPr>
              <a:t>CAVAANALYTICS • R</a:t>
            </a:r>
          </a:p>
        </p:txBody>
      </p:sp>
      <p:sp>
        <p:nvSpPr>
          <p:cNvPr id="2" name="title-4">
            <a:extLst>
              <a:ext uri="{FF2B5EF4-FFF2-40B4-BE49-F238E27FC236}">
                <a16:creationId xmlns:a16="http://schemas.microsoft.com/office/drawing/2014/main" id="{F9FD540F-9DA3-4EDD-BFDF-4F28455240CC}"/>
              </a:ext>
            </a:extLst>
          </p:cNvPr>
          <p:cNvSpPr>
            <a:spLocks noGrp="1"/>
          </p:cNvSpPr>
          <p:nvPr/>
        </p:nvSpPr>
        <p:spPr>
          <a:xfrm>
            <a:off x="609600" y="666750"/>
            <a:ext cx="1083945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850" b="1">
                <a:solidFill>
                  <a:srgbClr val="092238"/>
                </a:solidFill>
              </a:defRPr>
            </a:pPr>
            <a:r>
              <a:rPr sz="2850" b="1">
                <a:solidFill>
                  <a:srgbClr val="092238"/>
                </a:solidFill>
              </a:rPr>
              <a:t>CAVAanalytics turns climate data into indicators and maps</a:t>
            </a:r>
          </a:p>
        </p:txBody>
      </p:sp>
      <p:sp>
        <p:nvSpPr>
          <p:cNvPr id="3" name="title-rule-4">
            <a:extLst>
              <a:ext uri="{FF2B5EF4-FFF2-40B4-BE49-F238E27FC236}">
                <a16:creationId xmlns:a16="http://schemas.microsoft.com/office/drawing/2014/main" id="{8E22747F-8F2C-4ADA-8338-333710F01E5D}"/>
              </a:ext>
            </a:extLst>
          </p:cNvPr>
          <p:cNvSpPr>
            <a:spLocks noGrp="1"/>
          </p:cNvSpPr>
          <p:nvPr/>
        </p:nvSpPr>
        <p:spPr>
          <a:xfrm>
            <a:off x="609600" y="1333500"/>
            <a:ext cx="10972800" cy="19050"/>
          </a:xfrm>
          <a:prstGeom prst="rect">
            <a:avLst/>
          </a:prstGeom>
          <a:solidFill>
            <a:srgbClr val="CBD6DC"/>
          </a:solidFill>
          <a:ln w="0">
            <a:noFill/>
            <a:prstDash val="solid"/>
          </a:ln>
        </p:spPr>
        <p:txBody>
          <a:bodyPr/>
          <a:lstStyle/>
          <a:p>
            <a:endParaRPr lang="en-IT"/>
          </a:p>
        </p:txBody>
      </p:sp>
      <p:pic>
        <p:nvPicPr>
          <p:cNvPr id="21" name="Picture 20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685800" y="2047875"/>
            <a:ext cx="2857500" cy="2857500"/>
          </a:xfrm>
          <a:prstGeom prst="rect">
            <a:avLst/>
          </a:prstGeom>
        </p:spPr>
      </p:pic>
      <p:sp>
        <p:nvSpPr>
          <p:cNvPr id="5" name="r-position">
            <a:extLst>
              <a:ext uri="{FF2B5EF4-FFF2-40B4-BE49-F238E27FC236}">
                <a16:creationId xmlns:a16="http://schemas.microsoft.com/office/drawing/2014/main" id="{1B4701E2-3AFB-4919-921A-87F104AE03B6}"/>
              </a:ext>
            </a:extLst>
          </p:cNvPr>
          <p:cNvSpPr>
            <a:spLocks noGrp="1"/>
          </p:cNvSpPr>
          <p:nvPr/>
        </p:nvSpPr>
        <p:spPr>
          <a:xfrm>
            <a:off x="4000500" y="1771650"/>
            <a:ext cx="6858000" cy="762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175" b="1">
                <a:solidFill>
                  <a:srgbClr val="092238"/>
                </a:solidFill>
              </a:defRPr>
            </a:pPr>
            <a:r>
              <a:rPr sz="2175" b="1">
                <a:solidFill>
                  <a:srgbClr val="092238"/>
                </a:solidFill>
              </a:rPr>
              <a:t>Retrieval is the entry point.</a:t>
            </a:r>
          </a:p>
          <a:p>
            <a:pPr algn="l">
              <a:defRPr sz="2175" b="1">
                <a:solidFill>
                  <a:srgbClr val="092238"/>
                </a:solidFill>
              </a:defRPr>
            </a:pPr>
            <a:r>
              <a:rPr sz="2175" b="1">
                <a:solidFill>
                  <a:srgbClr val="092238"/>
                </a:solidFill>
              </a:rPr>
              <a:t>Analysis and visualization are the main value.</a:t>
            </a:r>
          </a:p>
        </p:txBody>
      </p:sp>
      <p:sp>
        <p:nvSpPr>
          <p:cNvPr id="6" name="r-stage-0">
            <a:extLst>
              <a:ext uri="{FF2B5EF4-FFF2-40B4-BE49-F238E27FC236}">
                <a16:creationId xmlns:a16="http://schemas.microsoft.com/office/drawing/2014/main" id="{B04E69A9-26AD-41AD-BC86-2ED7961FDDAC}"/>
              </a:ext>
            </a:extLst>
          </p:cNvPr>
          <p:cNvSpPr>
            <a:spLocks noGrp="1"/>
          </p:cNvSpPr>
          <p:nvPr/>
        </p:nvSpPr>
        <p:spPr>
          <a:xfrm>
            <a:off x="4000500" y="2876550"/>
            <a:ext cx="2000250" cy="2095500"/>
          </a:xfrm>
          <a:prstGeom prst="roundRect">
            <a:avLst>
              <a:gd name="adj" fmla="val 6667"/>
            </a:avLst>
          </a:prstGeom>
          <a:solidFill>
            <a:srgbClr val="EEF2F4"/>
          </a:solidFill>
          <a:ln w="0">
            <a:noFill/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7" name="r-stage-h-0">
            <a:extLst>
              <a:ext uri="{FF2B5EF4-FFF2-40B4-BE49-F238E27FC236}">
                <a16:creationId xmlns:a16="http://schemas.microsoft.com/office/drawing/2014/main" id="{251A1F86-6ED1-483C-ABD3-6A9555F87FF8}"/>
              </a:ext>
            </a:extLst>
          </p:cNvPr>
          <p:cNvSpPr>
            <a:spLocks noGrp="1"/>
          </p:cNvSpPr>
          <p:nvPr/>
        </p:nvSpPr>
        <p:spPr>
          <a:xfrm>
            <a:off x="4191000" y="3105150"/>
            <a:ext cx="16192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350" b="1">
                <a:solidFill>
                  <a:srgbClr val="007A7A"/>
                </a:solidFill>
              </a:defRPr>
            </a:pPr>
            <a:r>
              <a:rPr sz="1350" b="1">
                <a:solidFill>
                  <a:srgbClr val="007A7A"/>
                </a:solidFill>
              </a:rPr>
              <a:t>RETRIEVE</a:t>
            </a:r>
          </a:p>
        </p:txBody>
      </p:sp>
      <p:sp>
        <p:nvSpPr>
          <p:cNvPr id="8" name="r-stage-b-0">
            <a:extLst>
              <a:ext uri="{FF2B5EF4-FFF2-40B4-BE49-F238E27FC236}">
                <a16:creationId xmlns:a16="http://schemas.microsoft.com/office/drawing/2014/main" id="{A4C77AA2-4FB0-4875-8CFC-E69871072D7B}"/>
              </a:ext>
            </a:extLst>
          </p:cNvPr>
          <p:cNvSpPr>
            <a:spLocks noGrp="1"/>
          </p:cNvSpPr>
          <p:nvPr/>
        </p:nvSpPr>
        <p:spPr>
          <a:xfrm>
            <a:off x="4191000" y="3619500"/>
            <a:ext cx="1619250" cy="1047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350" b="0">
                <a:solidFill>
                  <a:srgbClr val="12212E"/>
                </a:solidFill>
              </a:defRPr>
            </a:pPr>
            <a:r>
              <a:rPr sz="1350" b="0">
                <a:solidFill>
                  <a:srgbClr val="12212E"/>
                </a:solidFill>
              </a:rPr>
              <a:t>Country subsets and harmonized ensembles</a:t>
            </a:r>
          </a:p>
        </p:txBody>
      </p:sp>
      <p:sp>
        <p:nvSpPr>
          <p:cNvPr id="9" name="r-stage-1">
            <a:extLst>
              <a:ext uri="{FF2B5EF4-FFF2-40B4-BE49-F238E27FC236}">
                <a16:creationId xmlns:a16="http://schemas.microsoft.com/office/drawing/2014/main" id="{ECF47C16-026D-4011-9F30-EE459DB62088}"/>
              </a:ext>
            </a:extLst>
          </p:cNvPr>
          <p:cNvSpPr>
            <a:spLocks noGrp="1"/>
          </p:cNvSpPr>
          <p:nvPr/>
        </p:nvSpPr>
        <p:spPr>
          <a:xfrm>
            <a:off x="6191250" y="2876550"/>
            <a:ext cx="2333625" cy="2095500"/>
          </a:xfrm>
          <a:prstGeom prst="roundRect">
            <a:avLst>
              <a:gd name="adj" fmla="val 6364"/>
            </a:avLst>
          </a:prstGeom>
          <a:solidFill>
            <a:srgbClr val="EAF1FA"/>
          </a:solidFill>
          <a:ln w="0">
            <a:noFill/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10" name="r-stage-h-1">
            <a:extLst>
              <a:ext uri="{FF2B5EF4-FFF2-40B4-BE49-F238E27FC236}">
                <a16:creationId xmlns:a16="http://schemas.microsoft.com/office/drawing/2014/main" id="{9C935553-1C43-4816-8E46-E160DA50A67D}"/>
              </a:ext>
            </a:extLst>
          </p:cNvPr>
          <p:cNvSpPr>
            <a:spLocks noGrp="1"/>
          </p:cNvSpPr>
          <p:nvPr/>
        </p:nvSpPr>
        <p:spPr>
          <a:xfrm>
            <a:off x="6381750" y="3105150"/>
            <a:ext cx="1952625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350" b="1">
                <a:solidFill>
                  <a:srgbClr val="2F74C0"/>
                </a:solidFill>
              </a:defRPr>
            </a:pPr>
            <a:r>
              <a:rPr sz="1350" b="1">
                <a:solidFill>
                  <a:srgbClr val="2F74C0"/>
                </a:solidFill>
              </a:rPr>
              <a:t>CALCULATE</a:t>
            </a:r>
          </a:p>
        </p:txBody>
      </p:sp>
      <p:sp>
        <p:nvSpPr>
          <p:cNvPr id="11" name="r-stage-b-1">
            <a:extLst>
              <a:ext uri="{FF2B5EF4-FFF2-40B4-BE49-F238E27FC236}">
                <a16:creationId xmlns:a16="http://schemas.microsoft.com/office/drawing/2014/main" id="{300253E6-EB04-4B48-9FEA-98DFB9707C25}"/>
              </a:ext>
            </a:extLst>
          </p:cNvPr>
          <p:cNvSpPr>
            <a:spLocks noGrp="1"/>
          </p:cNvSpPr>
          <p:nvPr/>
        </p:nvSpPr>
        <p:spPr>
          <a:xfrm>
            <a:off x="6381750" y="3619500"/>
            <a:ext cx="1952625" cy="1047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350" b="1">
                <a:solidFill>
                  <a:srgbClr val="12212E"/>
                </a:solidFill>
              </a:defRPr>
            </a:pPr>
            <a:r>
              <a:rPr sz="1350" b="1">
                <a:solidFill>
                  <a:srgbClr val="12212E"/>
                </a:solidFill>
              </a:rPr>
              <a:t>Thresholds, spells, trends, biases and climate-change signals</a:t>
            </a:r>
          </a:p>
        </p:txBody>
      </p:sp>
      <p:sp>
        <p:nvSpPr>
          <p:cNvPr id="12" name="r-stage-2">
            <a:extLst>
              <a:ext uri="{FF2B5EF4-FFF2-40B4-BE49-F238E27FC236}">
                <a16:creationId xmlns:a16="http://schemas.microsoft.com/office/drawing/2014/main" id="{154CCE03-703F-49FD-808C-2E413AB6DDAB}"/>
              </a:ext>
            </a:extLst>
          </p:cNvPr>
          <p:cNvSpPr>
            <a:spLocks noGrp="1"/>
          </p:cNvSpPr>
          <p:nvPr/>
        </p:nvSpPr>
        <p:spPr>
          <a:xfrm>
            <a:off x="8715375" y="2876550"/>
            <a:ext cx="2333625" cy="2095500"/>
          </a:xfrm>
          <a:prstGeom prst="roundRect">
            <a:avLst>
              <a:gd name="adj" fmla="val 6364"/>
            </a:avLst>
          </a:prstGeom>
          <a:solidFill>
            <a:srgbClr val="EAF5F7"/>
          </a:solidFill>
          <a:ln w="0">
            <a:noFill/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13" name="r-stage-h-2">
            <a:extLst>
              <a:ext uri="{FF2B5EF4-FFF2-40B4-BE49-F238E27FC236}">
                <a16:creationId xmlns:a16="http://schemas.microsoft.com/office/drawing/2014/main" id="{3D3B4B1D-4F94-46B5-A753-9276B8F2B858}"/>
              </a:ext>
            </a:extLst>
          </p:cNvPr>
          <p:cNvSpPr>
            <a:spLocks noGrp="1"/>
          </p:cNvSpPr>
          <p:nvPr/>
        </p:nvSpPr>
        <p:spPr>
          <a:xfrm>
            <a:off x="8905875" y="3105150"/>
            <a:ext cx="1952625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350" b="1">
                <a:solidFill>
                  <a:srgbClr val="007A7A"/>
                </a:solidFill>
              </a:defRPr>
            </a:pPr>
            <a:r>
              <a:rPr sz="1350" b="1">
                <a:solidFill>
                  <a:srgbClr val="007A7A"/>
                </a:solidFill>
              </a:rPr>
              <a:t>VISUALIZE</a:t>
            </a:r>
          </a:p>
        </p:txBody>
      </p:sp>
      <p:sp>
        <p:nvSpPr>
          <p:cNvPr id="14" name="r-stage-b-2">
            <a:extLst>
              <a:ext uri="{FF2B5EF4-FFF2-40B4-BE49-F238E27FC236}">
                <a16:creationId xmlns:a16="http://schemas.microsoft.com/office/drawing/2014/main" id="{64D8DB35-F97C-43C6-AF85-0E2F729569FB}"/>
              </a:ext>
            </a:extLst>
          </p:cNvPr>
          <p:cNvSpPr>
            <a:spLocks noGrp="1"/>
          </p:cNvSpPr>
          <p:nvPr/>
        </p:nvSpPr>
        <p:spPr>
          <a:xfrm>
            <a:off x="8905875" y="3619500"/>
            <a:ext cx="1952625" cy="1047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350" b="1">
                <a:solidFill>
                  <a:srgbClr val="12212E"/>
                </a:solidFill>
              </a:defRPr>
            </a:pPr>
            <a:r>
              <a:rPr sz="1350" b="1">
                <a:solidFill>
                  <a:srgbClr val="12212E"/>
                </a:solidFill>
              </a:rPr>
              <a:t>Ensemble maps, time series and model-agreement stippling</a:t>
            </a:r>
          </a:p>
        </p:txBody>
      </p:sp>
      <p:sp>
        <p:nvSpPr>
          <p:cNvPr id="15" name="r-functions">
            <a:extLst>
              <a:ext uri="{FF2B5EF4-FFF2-40B4-BE49-F238E27FC236}">
                <a16:creationId xmlns:a16="http://schemas.microsoft.com/office/drawing/2014/main" id="{37325F9A-568A-4DBE-9E6C-2611D15C0152}"/>
              </a:ext>
            </a:extLst>
          </p:cNvPr>
          <p:cNvSpPr>
            <a:spLocks noGrp="1"/>
          </p:cNvSpPr>
          <p:nvPr/>
        </p:nvSpPr>
        <p:spPr>
          <a:xfrm>
            <a:off x="3905250" y="5429250"/>
            <a:ext cx="72390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350" b="1">
                <a:solidFill>
                  <a:srgbClr val="526574"/>
                </a:solidFill>
              </a:defRPr>
            </a:pPr>
            <a:r>
              <a:rPr sz="1350" b="1">
                <a:solidFill>
                  <a:srgbClr val="526574"/>
                </a:solidFill>
              </a:rPr>
              <a:t>load_data()  →  observations() / projections() / climate_change_signal()  →  plotting()</a:t>
            </a:r>
          </a:p>
        </p:txBody>
      </p:sp>
      <p:sp>
        <p:nvSpPr>
          <p:cNvPr id="16" name="footer-label-4">
            <a:extLst>
              <a:ext uri="{FF2B5EF4-FFF2-40B4-BE49-F238E27FC236}">
                <a16:creationId xmlns:a16="http://schemas.microsoft.com/office/drawing/2014/main" id="{D43D602D-5B7E-4453-A1D6-597F5F5CCB28}"/>
              </a:ext>
            </a:extLst>
          </p:cNvPr>
          <p:cNvSpPr>
            <a:spLocks noGrp="1"/>
          </p:cNvSpPr>
          <p:nvPr/>
        </p:nvSpPr>
        <p:spPr>
          <a:xfrm>
            <a:off x="609600" y="6477000"/>
            <a:ext cx="66675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825" b="0">
                <a:solidFill>
                  <a:srgbClr val="526574"/>
                </a:solidFill>
              </a:defRPr>
            </a:pPr>
            <a:r>
              <a:rPr sz="825" b="0">
                <a:solidFill>
                  <a:srgbClr val="526574"/>
                </a:solidFill>
              </a:rPr>
              <a:t>CAVA training • Pakistan</a:t>
            </a:r>
          </a:p>
        </p:txBody>
      </p:sp>
      <p:sp>
        <p:nvSpPr>
          <p:cNvPr id="17" name="footer-page-4">
            <a:extLst>
              <a:ext uri="{FF2B5EF4-FFF2-40B4-BE49-F238E27FC236}">
                <a16:creationId xmlns:a16="http://schemas.microsoft.com/office/drawing/2014/main" id="{32A2D6BA-2264-4EA7-9F51-3BF15B31470E}"/>
              </a:ext>
            </a:extLst>
          </p:cNvPr>
          <p:cNvSpPr>
            <a:spLocks noGrp="1"/>
          </p:cNvSpPr>
          <p:nvPr/>
        </p:nvSpPr>
        <p:spPr>
          <a:xfrm>
            <a:off x="11239500" y="6477000"/>
            <a:ext cx="3429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825" b="1">
                <a:solidFill>
                  <a:srgbClr val="526574"/>
                </a:solidFill>
              </a:defRPr>
            </a:pPr>
            <a:r>
              <a:rPr sz="825" b="1">
                <a:solidFill>
                  <a:srgbClr val="526574"/>
                </a:solidFill>
              </a:rPr>
              <a:t>4</a:t>
            </a:r>
          </a:p>
        </p:txBody>
      </p:sp>
    </p:spTree>
    <p:extLst>
      <p:ext uri="{BB962C8B-B14F-4D97-AF65-F5344CB8AC3E}">
        <p14:creationId xmlns:p14="http://schemas.microsoft.com/office/powerpoint/2010/main" val="187563973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kicker-5">
            <a:extLst>
              <a:ext uri="{FF2B5EF4-FFF2-40B4-BE49-F238E27FC236}">
                <a16:creationId xmlns:a16="http://schemas.microsoft.com/office/drawing/2014/main" id="{5C2F2C72-4269-43FA-9D49-718DA004E832}"/>
              </a:ext>
            </a:extLst>
          </p:cNvPr>
          <p:cNvSpPr>
            <a:spLocks noGrp="1"/>
          </p:cNvSpPr>
          <p:nvPr/>
        </p:nvSpPr>
        <p:spPr>
          <a:xfrm>
            <a:off x="609600" y="361950"/>
            <a:ext cx="6858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050" b="1">
                <a:solidFill>
                  <a:srgbClr val="007A7A"/>
                </a:solidFill>
              </a:defRPr>
            </a:pPr>
            <a:r>
              <a:rPr sz="1050" b="1">
                <a:solidFill>
                  <a:srgbClr val="007A7A"/>
                </a:solidFill>
              </a:rPr>
              <a:t>PAKISTAN WITH CAVAANALYTICS</a:t>
            </a:r>
          </a:p>
        </p:txBody>
      </p:sp>
      <p:sp>
        <p:nvSpPr>
          <p:cNvPr id="2" name="title-5">
            <a:extLst>
              <a:ext uri="{FF2B5EF4-FFF2-40B4-BE49-F238E27FC236}">
                <a16:creationId xmlns:a16="http://schemas.microsoft.com/office/drawing/2014/main" id="{7038A919-404D-4762-B0B8-BB751E9EF10D}"/>
              </a:ext>
            </a:extLst>
          </p:cNvPr>
          <p:cNvSpPr>
            <a:spLocks noGrp="1"/>
          </p:cNvSpPr>
          <p:nvPr/>
        </p:nvSpPr>
        <p:spPr>
          <a:xfrm>
            <a:off x="609600" y="666750"/>
            <a:ext cx="1083945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850" b="1">
                <a:solidFill>
                  <a:srgbClr val="092238"/>
                </a:solidFill>
              </a:defRPr>
            </a:pPr>
            <a:r>
              <a:rPr sz="2850" b="1" dirty="0">
                <a:solidFill>
                  <a:srgbClr val="092238"/>
                </a:solidFill>
              </a:rPr>
              <a:t>In R, retrieval is the first step</a:t>
            </a:r>
            <a:r>
              <a:rPr lang="it-IT" sz="2850" b="1" dirty="0">
                <a:solidFill>
                  <a:srgbClr val="092238"/>
                </a:solidFill>
              </a:rPr>
              <a:t>, </a:t>
            </a:r>
            <a:r>
              <a:rPr sz="2850" b="1" dirty="0">
                <a:solidFill>
                  <a:srgbClr val="092238"/>
                </a:solidFill>
              </a:rPr>
              <a:t>not the final product</a:t>
            </a:r>
          </a:p>
        </p:txBody>
      </p:sp>
      <p:sp>
        <p:nvSpPr>
          <p:cNvPr id="3" name="title-rule-5">
            <a:extLst>
              <a:ext uri="{FF2B5EF4-FFF2-40B4-BE49-F238E27FC236}">
                <a16:creationId xmlns:a16="http://schemas.microsoft.com/office/drawing/2014/main" id="{2F7FCF6B-E526-4087-83A1-3302DBC6F3F9}"/>
              </a:ext>
            </a:extLst>
          </p:cNvPr>
          <p:cNvSpPr>
            <a:spLocks noGrp="1"/>
          </p:cNvSpPr>
          <p:nvPr/>
        </p:nvSpPr>
        <p:spPr>
          <a:xfrm>
            <a:off x="609600" y="1333500"/>
            <a:ext cx="10972800" cy="19050"/>
          </a:xfrm>
          <a:prstGeom prst="rect">
            <a:avLst/>
          </a:prstGeom>
          <a:solidFill>
            <a:srgbClr val="CBD6DC"/>
          </a:solidFill>
          <a:ln w="0">
            <a:noFill/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4" name="r-question">
            <a:extLst>
              <a:ext uri="{FF2B5EF4-FFF2-40B4-BE49-F238E27FC236}">
                <a16:creationId xmlns:a16="http://schemas.microsoft.com/office/drawing/2014/main" id="{2085BF77-15C3-4297-BEBA-8F0EBADA1A91}"/>
              </a:ext>
            </a:extLst>
          </p:cNvPr>
          <p:cNvSpPr>
            <a:spLocks noGrp="1"/>
          </p:cNvSpPr>
          <p:nvPr/>
        </p:nvSpPr>
        <p:spPr>
          <a:xfrm>
            <a:off x="685800" y="1657350"/>
            <a:ext cx="1057275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875" b="1">
                <a:solidFill>
                  <a:srgbClr val="092238"/>
                </a:solidFill>
              </a:defRPr>
            </a:pPr>
            <a:r>
              <a:rPr sz="1875" b="1">
                <a:solidFill>
                  <a:srgbClr val="092238"/>
                </a:solidFill>
              </a:rPr>
              <a:t>How could April–June days above 35 °C change in Pakistan?</a:t>
            </a:r>
          </a:p>
        </p:txBody>
      </p:sp>
      <p:sp>
        <p:nvSpPr>
          <p:cNvPr id="5" name="r-arrow-1">
            <a:extLst>
              <a:ext uri="{FF2B5EF4-FFF2-40B4-BE49-F238E27FC236}">
                <a16:creationId xmlns:a16="http://schemas.microsoft.com/office/drawing/2014/main" id="{2B07FFD8-E629-4872-87C3-F743C1B810E6}"/>
              </a:ext>
            </a:extLst>
          </p:cNvPr>
          <p:cNvSpPr>
            <a:spLocks noGrp="1"/>
          </p:cNvSpPr>
          <p:nvPr/>
        </p:nvSpPr>
        <p:spPr>
          <a:xfrm>
            <a:off x="3314700" y="3429000"/>
            <a:ext cx="704850" cy="171450"/>
          </a:xfrm>
          <a:prstGeom prst="roundRect">
            <a:avLst>
              <a:gd name="adj" fmla="val 22222"/>
            </a:avLst>
          </a:prstGeom>
          <a:solidFill>
            <a:srgbClr val="62C8E5"/>
          </a:solidFill>
          <a:ln w="0">
            <a:noFill/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6" name="r-arrow-2">
            <a:extLst>
              <a:ext uri="{FF2B5EF4-FFF2-40B4-BE49-F238E27FC236}">
                <a16:creationId xmlns:a16="http://schemas.microsoft.com/office/drawing/2014/main" id="{DB22BAB0-9FDD-4722-A67A-4BE50C86D48F}"/>
              </a:ext>
            </a:extLst>
          </p:cNvPr>
          <p:cNvSpPr>
            <a:spLocks noGrp="1"/>
          </p:cNvSpPr>
          <p:nvPr/>
        </p:nvSpPr>
        <p:spPr>
          <a:xfrm>
            <a:off x="7600950" y="3429000"/>
            <a:ext cx="704850" cy="171450"/>
          </a:xfrm>
          <a:prstGeom prst="roundRect">
            <a:avLst>
              <a:gd name="adj" fmla="val 22222"/>
            </a:avLst>
          </a:prstGeom>
          <a:solidFill>
            <a:srgbClr val="62C8E5"/>
          </a:solidFill>
          <a:ln w="0">
            <a:noFill/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7" name="r-flow-0">
            <a:extLst>
              <a:ext uri="{FF2B5EF4-FFF2-40B4-BE49-F238E27FC236}">
                <a16:creationId xmlns:a16="http://schemas.microsoft.com/office/drawing/2014/main" id="{6ADF6532-E274-4332-8A5E-F605003626F5}"/>
              </a:ext>
            </a:extLst>
          </p:cNvPr>
          <p:cNvSpPr>
            <a:spLocks noGrp="1"/>
          </p:cNvSpPr>
          <p:nvPr/>
        </p:nvSpPr>
        <p:spPr>
          <a:xfrm>
            <a:off x="685800" y="2381250"/>
            <a:ext cx="2628900" cy="2381250"/>
          </a:xfrm>
          <a:prstGeom prst="roundRect">
            <a:avLst>
              <a:gd name="adj" fmla="val 6400"/>
            </a:avLst>
          </a:prstGeom>
          <a:solidFill>
            <a:srgbClr val="EEF2F4"/>
          </a:solidFill>
          <a:ln w="0">
            <a:noFill/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8" name="r-flow-k-0">
            <a:extLst>
              <a:ext uri="{FF2B5EF4-FFF2-40B4-BE49-F238E27FC236}">
                <a16:creationId xmlns:a16="http://schemas.microsoft.com/office/drawing/2014/main" id="{F43D5F88-FC82-4F17-93E4-8E64785BDA50}"/>
              </a:ext>
            </a:extLst>
          </p:cNvPr>
          <p:cNvSpPr>
            <a:spLocks noGrp="1"/>
          </p:cNvSpPr>
          <p:nvPr/>
        </p:nvSpPr>
        <p:spPr>
          <a:xfrm>
            <a:off x="895350" y="2628900"/>
            <a:ext cx="22098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125" b="1">
                <a:solidFill>
                  <a:srgbClr val="007A7A"/>
                </a:solidFill>
              </a:defRPr>
            </a:pPr>
            <a:r>
              <a:rPr sz="1125" b="1">
                <a:solidFill>
                  <a:srgbClr val="007A7A"/>
                </a:solidFill>
              </a:rPr>
              <a:t>1  RETRIEVE</a:t>
            </a:r>
          </a:p>
        </p:txBody>
      </p:sp>
      <p:sp>
        <p:nvSpPr>
          <p:cNvPr id="9" name="r-flow-h-0">
            <a:extLst>
              <a:ext uri="{FF2B5EF4-FFF2-40B4-BE49-F238E27FC236}">
                <a16:creationId xmlns:a16="http://schemas.microsoft.com/office/drawing/2014/main" id="{BB4A20AA-D613-4351-9B6A-961A39210E1A}"/>
              </a:ext>
            </a:extLst>
          </p:cNvPr>
          <p:cNvSpPr>
            <a:spLocks noGrp="1"/>
          </p:cNvSpPr>
          <p:nvPr/>
        </p:nvSpPr>
        <p:spPr>
          <a:xfrm>
            <a:off x="895350" y="3105150"/>
            <a:ext cx="22098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650" b="1">
                <a:solidFill>
                  <a:srgbClr val="092238"/>
                </a:solidFill>
              </a:defRPr>
            </a:pPr>
            <a:r>
              <a:rPr sz="1650" b="1">
                <a:solidFill>
                  <a:srgbClr val="092238"/>
                </a:solidFill>
              </a:rPr>
              <a:t>load_data()</a:t>
            </a:r>
          </a:p>
        </p:txBody>
      </p:sp>
      <p:sp>
        <p:nvSpPr>
          <p:cNvPr id="10" name="r-flow-b-0">
            <a:extLst>
              <a:ext uri="{FF2B5EF4-FFF2-40B4-BE49-F238E27FC236}">
                <a16:creationId xmlns:a16="http://schemas.microsoft.com/office/drawing/2014/main" id="{06D8728C-9762-45B6-ADAD-491767E209F2}"/>
              </a:ext>
            </a:extLst>
          </p:cNvPr>
          <p:cNvSpPr>
            <a:spLocks noGrp="1"/>
          </p:cNvSpPr>
          <p:nvPr/>
        </p:nvSpPr>
        <p:spPr>
          <a:xfrm>
            <a:off x="895350" y="3752850"/>
            <a:ext cx="2209800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0">
                <a:solidFill>
                  <a:srgbClr val="12212E"/>
                </a:solidFill>
              </a:defRPr>
            </a:pPr>
            <a:r>
              <a:rPr sz="1350" b="0">
                <a:solidFill>
                  <a:srgbClr val="12212E"/>
                </a:solidFill>
              </a:rPr>
              <a:t>Pakistan • WAS-22</a:t>
            </a:r>
          </a:p>
          <a:p>
            <a:pPr algn="l">
              <a:defRPr sz="1350" b="0">
                <a:solidFill>
                  <a:srgbClr val="12212E"/>
                </a:solidFill>
              </a:defRPr>
            </a:pPr>
            <a:r>
              <a:rPr sz="1350" b="0">
                <a:solidFill>
                  <a:srgbClr val="12212E"/>
                </a:solidFill>
              </a:rPr>
              <a:t>tasmax • 1991–2030</a:t>
            </a:r>
          </a:p>
        </p:txBody>
      </p:sp>
      <p:sp>
        <p:nvSpPr>
          <p:cNvPr id="11" name="r-flow-1">
            <a:extLst>
              <a:ext uri="{FF2B5EF4-FFF2-40B4-BE49-F238E27FC236}">
                <a16:creationId xmlns:a16="http://schemas.microsoft.com/office/drawing/2014/main" id="{98AB3A36-7E67-4529-83CD-E0EF0EEBF23B}"/>
              </a:ext>
            </a:extLst>
          </p:cNvPr>
          <p:cNvSpPr>
            <a:spLocks noGrp="1"/>
          </p:cNvSpPr>
          <p:nvPr/>
        </p:nvSpPr>
        <p:spPr>
          <a:xfrm>
            <a:off x="4019550" y="2381250"/>
            <a:ext cx="3581400" cy="2381250"/>
          </a:xfrm>
          <a:prstGeom prst="roundRect">
            <a:avLst>
              <a:gd name="adj" fmla="val 6400"/>
            </a:avLst>
          </a:prstGeom>
          <a:solidFill>
            <a:srgbClr val="EAF1FA"/>
          </a:solidFill>
          <a:ln w="0">
            <a:noFill/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12" name="r-flow-k-1">
            <a:extLst>
              <a:ext uri="{FF2B5EF4-FFF2-40B4-BE49-F238E27FC236}">
                <a16:creationId xmlns:a16="http://schemas.microsoft.com/office/drawing/2014/main" id="{B267AA5E-0C5A-433A-BA95-1A22C5FE7FE9}"/>
              </a:ext>
            </a:extLst>
          </p:cNvPr>
          <p:cNvSpPr>
            <a:spLocks noGrp="1"/>
          </p:cNvSpPr>
          <p:nvPr/>
        </p:nvSpPr>
        <p:spPr>
          <a:xfrm>
            <a:off x="4229100" y="2628900"/>
            <a:ext cx="31623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125" b="1">
                <a:solidFill>
                  <a:srgbClr val="2F74C0"/>
                </a:solidFill>
              </a:defRPr>
            </a:pPr>
            <a:r>
              <a:rPr sz="1125" b="1">
                <a:solidFill>
                  <a:srgbClr val="2F74C0"/>
                </a:solidFill>
              </a:rPr>
              <a:t>2  CALCULATE</a:t>
            </a:r>
          </a:p>
        </p:txBody>
      </p:sp>
      <p:sp>
        <p:nvSpPr>
          <p:cNvPr id="13" name="r-flow-h-1">
            <a:extLst>
              <a:ext uri="{FF2B5EF4-FFF2-40B4-BE49-F238E27FC236}">
                <a16:creationId xmlns:a16="http://schemas.microsoft.com/office/drawing/2014/main" id="{0708100F-A47E-434D-9B11-9B60AD2278E5}"/>
              </a:ext>
            </a:extLst>
          </p:cNvPr>
          <p:cNvSpPr>
            <a:spLocks noGrp="1"/>
          </p:cNvSpPr>
          <p:nvPr/>
        </p:nvSpPr>
        <p:spPr>
          <a:xfrm>
            <a:off x="4229100" y="3105150"/>
            <a:ext cx="31623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650" b="1">
                <a:solidFill>
                  <a:srgbClr val="092238"/>
                </a:solidFill>
              </a:defRPr>
            </a:pPr>
            <a:r>
              <a:rPr sz="1650" b="1">
                <a:solidFill>
                  <a:srgbClr val="092238"/>
                </a:solidFill>
              </a:rPr>
              <a:t>climate_change_signal()</a:t>
            </a:r>
          </a:p>
        </p:txBody>
      </p:sp>
      <p:sp>
        <p:nvSpPr>
          <p:cNvPr id="14" name="r-flow-b-1">
            <a:extLst>
              <a:ext uri="{FF2B5EF4-FFF2-40B4-BE49-F238E27FC236}">
                <a16:creationId xmlns:a16="http://schemas.microsoft.com/office/drawing/2014/main" id="{294D824E-209B-4EB2-A3B1-0F151FD3B697}"/>
              </a:ext>
            </a:extLst>
          </p:cNvPr>
          <p:cNvSpPr>
            <a:spLocks noGrp="1"/>
          </p:cNvSpPr>
          <p:nvPr/>
        </p:nvSpPr>
        <p:spPr>
          <a:xfrm>
            <a:off x="4229100" y="3752850"/>
            <a:ext cx="3162300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0">
                <a:solidFill>
                  <a:srgbClr val="12212E"/>
                </a:solidFill>
              </a:defRPr>
            </a:pPr>
            <a:r>
              <a:rPr sz="1350" b="0">
                <a:solidFill>
                  <a:srgbClr val="12212E"/>
                </a:solidFill>
              </a:rPr>
              <a:t>Days above 35 °C</a:t>
            </a:r>
          </a:p>
          <a:p>
            <a:pPr algn="l">
              <a:defRPr sz="1350" b="0">
                <a:solidFill>
                  <a:srgbClr val="12212E"/>
                </a:solidFill>
              </a:defRPr>
            </a:pPr>
            <a:r>
              <a:rPr sz="1350" b="0">
                <a:solidFill>
                  <a:srgbClr val="12212E"/>
                </a:solidFill>
              </a:rPr>
              <a:t>April–June • model agreement</a:t>
            </a:r>
          </a:p>
        </p:txBody>
      </p:sp>
      <p:sp>
        <p:nvSpPr>
          <p:cNvPr id="15" name="r-flow-2">
            <a:extLst>
              <a:ext uri="{FF2B5EF4-FFF2-40B4-BE49-F238E27FC236}">
                <a16:creationId xmlns:a16="http://schemas.microsoft.com/office/drawing/2014/main" id="{62453C51-6C92-433D-AC95-9AC99D09B609}"/>
              </a:ext>
            </a:extLst>
          </p:cNvPr>
          <p:cNvSpPr>
            <a:spLocks noGrp="1"/>
          </p:cNvSpPr>
          <p:nvPr/>
        </p:nvSpPr>
        <p:spPr>
          <a:xfrm>
            <a:off x="8305800" y="2381250"/>
            <a:ext cx="3200400" cy="2381250"/>
          </a:xfrm>
          <a:prstGeom prst="roundRect">
            <a:avLst>
              <a:gd name="adj" fmla="val 6400"/>
            </a:avLst>
          </a:prstGeom>
          <a:solidFill>
            <a:srgbClr val="EAF5F7"/>
          </a:solidFill>
          <a:ln w="0">
            <a:noFill/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16" name="r-flow-k-2">
            <a:extLst>
              <a:ext uri="{FF2B5EF4-FFF2-40B4-BE49-F238E27FC236}">
                <a16:creationId xmlns:a16="http://schemas.microsoft.com/office/drawing/2014/main" id="{C0EC5B45-25D1-4999-AD4F-4CB33A7D60A0}"/>
              </a:ext>
            </a:extLst>
          </p:cNvPr>
          <p:cNvSpPr>
            <a:spLocks noGrp="1"/>
          </p:cNvSpPr>
          <p:nvPr/>
        </p:nvSpPr>
        <p:spPr>
          <a:xfrm>
            <a:off x="8515350" y="2628900"/>
            <a:ext cx="27813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125" b="1">
                <a:solidFill>
                  <a:srgbClr val="007A7A"/>
                </a:solidFill>
              </a:defRPr>
            </a:pPr>
            <a:r>
              <a:rPr sz="1125" b="1">
                <a:solidFill>
                  <a:srgbClr val="007A7A"/>
                </a:solidFill>
              </a:rPr>
              <a:t>3  VISUALIZE</a:t>
            </a:r>
          </a:p>
        </p:txBody>
      </p:sp>
      <p:sp>
        <p:nvSpPr>
          <p:cNvPr id="17" name="r-flow-h-2">
            <a:extLst>
              <a:ext uri="{FF2B5EF4-FFF2-40B4-BE49-F238E27FC236}">
                <a16:creationId xmlns:a16="http://schemas.microsoft.com/office/drawing/2014/main" id="{DA38239D-3305-468A-927A-6A9EE7A70236}"/>
              </a:ext>
            </a:extLst>
          </p:cNvPr>
          <p:cNvSpPr>
            <a:spLocks noGrp="1"/>
          </p:cNvSpPr>
          <p:nvPr/>
        </p:nvSpPr>
        <p:spPr>
          <a:xfrm>
            <a:off x="8515350" y="3105150"/>
            <a:ext cx="27813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650" b="1">
                <a:solidFill>
                  <a:srgbClr val="092238"/>
                </a:solidFill>
              </a:defRPr>
            </a:pPr>
            <a:r>
              <a:rPr sz="1650" b="1">
                <a:solidFill>
                  <a:srgbClr val="092238"/>
                </a:solidFill>
              </a:rPr>
              <a:t>plotting()</a:t>
            </a:r>
          </a:p>
        </p:txBody>
      </p:sp>
      <p:sp>
        <p:nvSpPr>
          <p:cNvPr id="18" name="r-flow-b-2">
            <a:extLst>
              <a:ext uri="{FF2B5EF4-FFF2-40B4-BE49-F238E27FC236}">
                <a16:creationId xmlns:a16="http://schemas.microsoft.com/office/drawing/2014/main" id="{C9BAB504-E9E1-4E10-9486-8E9BEE5DC8B5}"/>
              </a:ext>
            </a:extLst>
          </p:cNvPr>
          <p:cNvSpPr>
            <a:spLocks noGrp="1"/>
          </p:cNvSpPr>
          <p:nvPr/>
        </p:nvSpPr>
        <p:spPr>
          <a:xfrm>
            <a:off x="8515350" y="3752850"/>
            <a:ext cx="2781300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0">
                <a:solidFill>
                  <a:srgbClr val="12212E"/>
                </a:solidFill>
              </a:defRPr>
            </a:pPr>
            <a:r>
              <a:rPr sz="1350" b="0">
                <a:solidFill>
                  <a:srgbClr val="12212E"/>
                </a:solidFill>
              </a:rPr>
              <a:t>Ensemble change maps</a:t>
            </a:r>
          </a:p>
          <a:p>
            <a:pPr algn="l">
              <a:defRPr sz="1350" b="0">
                <a:solidFill>
                  <a:srgbClr val="12212E"/>
                </a:solidFill>
              </a:defRPr>
            </a:pPr>
            <a:r>
              <a:rPr sz="1350" b="0">
                <a:solidFill>
                  <a:srgbClr val="12212E"/>
                </a:solidFill>
              </a:rPr>
              <a:t>and agreement stippling</a:t>
            </a:r>
          </a:p>
        </p:txBody>
      </p:sp>
      <p:sp>
        <p:nvSpPr>
          <p:cNvPr id="19" name="r-demo">
            <a:extLst>
              <a:ext uri="{FF2B5EF4-FFF2-40B4-BE49-F238E27FC236}">
                <a16:creationId xmlns:a16="http://schemas.microsoft.com/office/drawing/2014/main" id="{D4904043-277E-4290-9089-8072C32FB4B7}"/>
              </a:ext>
            </a:extLst>
          </p:cNvPr>
          <p:cNvSpPr>
            <a:spLocks noGrp="1"/>
          </p:cNvSpPr>
          <p:nvPr/>
        </p:nvSpPr>
        <p:spPr>
          <a:xfrm>
            <a:off x="1066800" y="5429250"/>
            <a:ext cx="1000125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725" b="1">
                <a:solidFill>
                  <a:srgbClr val="092238"/>
                </a:solidFill>
              </a:defRPr>
            </a:pPr>
            <a:r>
              <a:rPr sz="1725" b="1">
                <a:solidFill>
                  <a:srgbClr val="092238"/>
                </a:solidFill>
              </a:rPr>
              <a:t>Notebook outcome: a climate indicator and a visual interpretation—not only a downloaded dataset.</a:t>
            </a:r>
          </a:p>
        </p:txBody>
      </p:sp>
      <p:sp>
        <p:nvSpPr>
          <p:cNvPr id="20" name="footer-label-5">
            <a:extLst>
              <a:ext uri="{FF2B5EF4-FFF2-40B4-BE49-F238E27FC236}">
                <a16:creationId xmlns:a16="http://schemas.microsoft.com/office/drawing/2014/main" id="{6BA36E41-0DEC-4BB0-893D-77F89EBE9B7F}"/>
              </a:ext>
            </a:extLst>
          </p:cNvPr>
          <p:cNvSpPr>
            <a:spLocks noGrp="1"/>
          </p:cNvSpPr>
          <p:nvPr/>
        </p:nvSpPr>
        <p:spPr>
          <a:xfrm>
            <a:off x="609600" y="6477000"/>
            <a:ext cx="66675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825" b="0">
                <a:solidFill>
                  <a:srgbClr val="526574"/>
                </a:solidFill>
              </a:defRPr>
            </a:pPr>
            <a:r>
              <a:rPr sz="825" b="0">
                <a:solidFill>
                  <a:srgbClr val="526574"/>
                </a:solidFill>
              </a:rPr>
              <a:t>CAVA training • Pakistan</a:t>
            </a:r>
          </a:p>
        </p:txBody>
      </p:sp>
      <p:sp>
        <p:nvSpPr>
          <p:cNvPr id="21" name="footer-page-5">
            <a:extLst>
              <a:ext uri="{FF2B5EF4-FFF2-40B4-BE49-F238E27FC236}">
                <a16:creationId xmlns:a16="http://schemas.microsoft.com/office/drawing/2014/main" id="{4A522D23-1812-4DF7-9291-18E680A56EF8}"/>
              </a:ext>
            </a:extLst>
          </p:cNvPr>
          <p:cNvSpPr>
            <a:spLocks noGrp="1"/>
          </p:cNvSpPr>
          <p:nvPr/>
        </p:nvSpPr>
        <p:spPr>
          <a:xfrm>
            <a:off x="11239500" y="6477000"/>
            <a:ext cx="3429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825" b="1">
                <a:solidFill>
                  <a:srgbClr val="526574"/>
                </a:solidFill>
              </a:defRPr>
            </a:pPr>
            <a:r>
              <a:rPr sz="825" b="1">
                <a:solidFill>
                  <a:srgbClr val="526574"/>
                </a:solidFill>
              </a:rPr>
              <a:t>5</a:t>
            </a:r>
          </a:p>
        </p:txBody>
      </p:sp>
    </p:spTree>
    <p:extLst>
      <p:ext uri="{BB962C8B-B14F-4D97-AF65-F5344CB8AC3E}">
        <p14:creationId xmlns:p14="http://schemas.microsoft.com/office/powerpoint/2010/main" val="161305981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kicker-6">
            <a:extLst>
              <a:ext uri="{FF2B5EF4-FFF2-40B4-BE49-F238E27FC236}">
                <a16:creationId xmlns:a16="http://schemas.microsoft.com/office/drawing/2014/main" id="{913B72C5-2F9B-4F04-8AD1-1B19BCF1D52F}"/>
              </a:ext>
            </a:extLst>
          </p:cNvPr>
          <p:cNvSpPr>
            <a:spLocks noGrp="1"/>
          </p:cNvSpPr>
          <p:nvPr/>
        </p:nvSpPr>
        <p:spPr>
          <a:xfrm>
            <a:off x="609600" y="361950"/>
            <a:ext cx="6858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050" b="1">
                <a:solidFill>
                  <a:srgbClr val="007A7A"/>
                </a:solidFill>
              </a:defRPr>
            </a:pPr>
            <a:r>
              <a:rPr sz="1050" b="1">
                <a:solidFill>
                  <a:srgbClr val="007A7A"/>
                </a:solidFill>
              </a:rPr>
              <a:t>CAVAPY • PYTHON</a:t>
            </a:r>
          </a:p>
        </p:txBody>
      </p:sp>
      <p:sp>
        <p:nvSpPr>
          <p:cNvPr id="2" name="title-6">
            <a:extLst>
              <a:ext uri="{FF2B5EF4-FFF2-40B4-BE49-F238E27FC236}">
                <a16:creationId xmlns:a16="http://schemas.microsoft.com/office/drawing/2014/main" id="{6ED76DD3-3E75-42A6-844E-2808F58E9F9B}"/>
              </a:ext>
            </a:extLst>
          </p:cNvPr>
          <p:cNvSpPr>
            <a:spLocks noGrp="1"/>
          </p:cNvSpPr>
          <p:nvPr/>
        </p:nvSpPr>
        <p:spPr>
          <a:xfrm>
            <a:off x="609600" y="666750"/>
            <a:ext cx="1083945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850" b="1">
                <a:solidFill>
                  <a:srgbClr val="092238"/>
                </a:solidFill>
              </a:defRPr>
            </a:pPr>
            <a:r>
              <a:rPr sz="2850" b="1">
                <a:solidFill>
                  <a:srgbClr val="092238"/>
                </a:solidFill>
              </a:rPr>
              <a:t>cavapy delivers data to downstream applications</a:t>
            </a:r>
          </a:p>
        </p:txBody>
      </p:sp>
      <p:sp>
        <p:nvSpPr>
          <p:cNvPr id="3" name="title-rule-6">
            <a:extLst>
              <a:ext uri="{FF2B5EF4-FFF2-40B4-BE49-F238E27FC236}">
                <a16:creationId xmlns:a16="http://schemas.microsoft.com/office/drawing/2014/main" id="{FC7B905C-CAB7-468C-B4C1-DC37036B335A}"/>
              </a:ext>
            </a:extLst>
          </p:cNvPr>
          <p:cNvSpPr>
            <a:spLocks noGrp="1"/>
          </p:cNvSpPr>
          <p:nvPr/>
        </p:nvSpPr>
        <p:spPr>
          <a:xfrm>
            <a:off x="609600" y="1333500"/>
            <a:ext cx="10972800" cy="19050"/>
          </a:xfrm>
          <a:prstGeom prst="rect">
            <a:avLst/>
          </a:prstGeom>
          <a:solidFill>
            <a:srgbClr val="CBD6DC"/>
          </a:solidFill>
          <a:ln w="0">
            <a:noFill/>
            <a:prstDash val="solid"/>
          </a:ln>
        </p:spPr>
        <p:txBody>
          <a:bodyPr/>
          <a:lstStyle/>
          <a:p>
            <a:endParaRPr lang="en-IT"/>
          </a:p>
        </p:txBody>
      </p:sp>
      <p:pic>
        <p:nvPicPr>
          <p:cNvPr id="19" name="Picture 18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965387" y="1695450"/>
            <a:ext cx="3917576" cy="876300"/>
          </a:xfrm>
          <a:prstGeom prst="rect">
            <a:avLst/>
          </a:prstGeom>
        </p:spPr>
      </p:pic>
      <p:sp>
        <p:nvSpPr>
          <p:cNvPr id="5" name="py-position">
            <a:extLst>
              <a:ext uri="{FF2B5EF4-FFF2-40B4-BE49-F238E27FC236}">
                <a16:creationId xmlns:a16="http://schemas.microsoft.com/office/drawing/2014/main" id="{CBF534CC-AD6C-4DF2-8C63-2B5D55FD7E09}"/>
              </a:ext>
            </a:extLst>
          </p:cNvPr>
          <p:cNvSpPr>
            <a:spLocks noGrp="1"/>
          </p:cNvSpPr>
          <p:nvPr/>
        </p:nvSpPr>
        <p:spPr>
          <a:xfrm>
            <a:off x="685800" y="2838450"/>
            <a:ext cx="4762500" cy="1123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800" b="1">
                <a:solidFill>
                  <a:srgbClr val="092238"/>
                </a:solidFill>
              </a:defRPr>
            </a:pPr>
            <a:r>
              <a:rPr sz="1800" b="1">
                <a:solidFill>
                  <a:srgbClr val="092238"/>
                </a:solidFill>
              </a:rPr>
              <a:t>Its main job is retrieval: find, subset and harmonize climate data, then return an xarray object that other Python workflows can use.</a:t>
            </a:r>
          </a:p>
        </p:txBody>
      </p:sp>
      <p:sp>
        <p:nvSpPr>
          <p:cNvPr id="6" name="py-call">
            <a:extLst>
              <a:ext uri="{FF2B5EF4-FFF2-40B4-BE49-F238E27FC236}">
                <a16:creationId xmlns:a16="http://schemas.microsoft.com/office/drawing/2014/main" id="{C8D6426A-4069-4A12-9C25-F6E2CA774670}"/>
              </a:ext>
            </a:extLst>
          </p:cNvPr>
          <p:cNvSpPr>
            <a:spLocks noGrp="1"/>
          </p:cNvSpPr>
          <p:nvPr/>
        </p:nvSpPr>
        <p:spPr>
          <a:xfrm>
            <a:off x="685800" y="4362450"/>
            <a:ext cx="4762500" cy="990600"/>
          </a:xfrm>
          <a:prstGeom prst="roundRect">
            <a:avLst>
              <a:gd name="adj" fmla="val 11538"/>
            </a:avLst>
          </a:prstGeom>
          <a:solidFill>
            <a:srgbClr val="092238"/>
          </a:solidFill>
          <a:ln w="0">
            <a:noFill/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7" name="py-call-text">
            <a:extLst>
              <a:ext uri="{FF2B5EF4-FFF2-40B4-BE49-F238E27FC236}">
                <a16:creationId xmlns:a16="http://schemas.microsoft.com/office/drawing/2014/main" id="{EC237D75-B753-43AA-BC79-48D9619C3A44}"/>
              </a:ext>
            </a:extLst>
          </p:cNvPr>
          <p:cNvSpPr>
            <a:spLocks noGrp="1"/>
          </p:cNvSpPr>
          <p:nvPr/>
        </p:nvSpPr>
        <p:spPr>
          <a:xfrm>
            <a:off x="952500" y="4562475"/>
            <a:ext cx="4286250" cy="628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00" b="0">
                <a:solidFill>
                  <a:srgbClr val="FFFFFF"/>
                </a:solidFill>
              </a:defRPr>
            </a:pPr>
            <a:r>
              <a:rPr sz="1500" b="0">
                <a:solidFill>
                  <a:srgbClr val="FFFFFF"/>
                </a:solidFill>
              </a:rPr>
              <a:t>get_climate_data(</a:t>
            </a:r>
          </a:p>
          <a:p>
            <a:pPr algn="l">
              <a:defRPr sz="1500" b="0">
                <a:solidFill>
                  <a:srgbClr val="FFFFFF"/>
                </a:solidFill>
              </a:defRPr>
            </a:pPr>
            <a:r>
              <a:rPr sz="1500" b="0">
                <a:solidFill>
                  <a:srgbClr val="FFFFFF"/>
                </a:solidFill>
              </a:rPr>
              <a:t>  country="Pakistan", variables=["tasmax"]</a:t>
            </a:r>
          </a:p>
          <a:p>
            <a:pPr algn="l">
              <a:defRPr sz="1500" b="0">
                <a:solidFill>
                  <a:srgbClr val="FFFFFF"/>
                </a:solidFill>
              </a:defRPr>
            </a:pPr>
            <a:r>
              <a:rPr sz="1500" b="0">
                <a:solidFill>
                  <a:srgbClr val="FFFFFF"/>
                </a:solidFill>
              </a:rPr>
              <a:t>)</a:t>
            </a:r>
          </a:p>
        </p:txBody>
      </p:sp>
      <p:sp>
        <p:nvSpPr>
          <p:cNvPr id="8" name="py-output">
            <a:extLst>
              <a:ext uri="{FF2B5EF4-FFF2-40B4-BE49-F238E27FC236}">
                <a16:creationId xmlns:a16="http://schemas.microsoft.com/office/drawing/2014/main" id="{AB36191B-CBA5-4457-A232-23BFBD0578C5}"/>
              </a:ext>
            </a:extLst>
          </p:cNvPr>
          <p:cNvSpPr>
            <a:spLocks noGrp="1"/>
          </p:cNvSpPr>
          <p:nvPr/>
        </p:nvSpPr>
        <p:spPr>
          <a:xfrm>
            <a:off x="6191250" y="1733550"/>
            <a:ext cx="4762500" cy="990600"/>
          </a:xfrm>
          <a:prstGeom prst="roundRect">
            <a:avLst>
              <a:gd name="adj" fmla="val 13462"/>
            </a:avLst>
          </a:prstGeom>
          <a:solidFill>
            <a:srgbClr val="EAF5F7"/>
          </a:solidFill>
          <a:ln w="0">
            <a:noFill/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9" name="py-output-label">
            <a:extLst>
              <a:ext uri="{FF2B5EF4-FFF2-40B4-BE49-F238E27FC236}">
                <a16:creationId xmlns:a16="http://schemas.microsoft.com/office/drawing/2014/main" id="{21477DFE-B961-423A-A97A-4EA38B17D9AA}"/>
              </a:ext>
            </a:extLst>
          </p:cNvPr>
          <p:cNvSpPr>
            <a:spLocks noGrp="1"/>
          </p:cNvSpPr>
          <p:nvPr/>
        </p:nvSpPr>
        <p:spPr>
          <a:xfrm>
            <a:off x="6457950" y="1943100"/>
            <a:ext cx="1143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050" b="1">
                <a:solidFill>
                  <a:srgbClr val="007A7A"/>
                </a:solidFill>
              </a:defRPr>
            </a:pPr>
            <a:r>
              <a:rPr sz="1050" b="1">
                <a:solidFill>
                  <a:srgbClr val="007A7A"/>
                </a:solidFill>
              </a:rPr>
              <a:t>RETURNS</a:t>
            </a:r>
          </a:p>
        </p:txBody>
      </p:sp>
      <p:sp>
        <p:nvSpPr>
          <p:cNvPr id="10" name="py-output-text">
            <a:extLst>
              <a:ext uri="{FF2B5EF4-FFF2-40B4-BE49-F238E27FC236}">
                <a16:creationId xmlns:a16="http://schemas.microsoft.com/office/drawing/2014/main" id="{B502BDE7-B6D0-49A2-B924-866F5184A322}"/>
              </a:ext>
            </a:extLst>
          </p:cNvPr>
          <p:cNvSpPr>
            <a:spLocks noGrp="1"/>
          </p:cNvSpPr>
          <p:nvPr/>
        </p:nvSpPr>
        <p:spPr>
          <a:xfrm>
            <a:off x="6457950" y="2266950"/>
            <a:ext cx="4000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100" b="1">
                <a:solidFill>
                  <a:srgbClr val="092238"/>
                </a:solidFill>
              </a:defRPr>
            </a:pPr>
            <a:r>
              <a:rPr sz="2100" b="1">
                <a:solidFill>
                  <a:srgbClr val="092238"/>
                </a:solidFill>
              </a:rPr>
              <a:t>xarray.DataArray</a:t>
            </a:r>
          </a:p>
        </p:txBody>
      </p:sp>
      <p:sp>
        <p:nvSpPr>
          <p:cNvPr id="11" name="py-downstream-label">
            <a:extLst>
              <a:ext uri="{FF2B5EF4-FFF2-40B4-BE49-F238E27FC236}">
                <a16:creationId xmlns:a16="http://schemas.microsoft.com/office/drawing/2014/main" id="{23FC844D-4917-42A4-84D6-B719EB98AAF2}"/>
              </a:ext>
            </a:extLst>
          </p:cNvPr>
          <p:cNvSpPr>
            <a:spLocks noGrp="1"/>
          </p:cNvSpPr>
          <p:nvPr/>
        </p:nvSpPr>
        <p:spPr>
          <a:xfrm>
            <a:off x="6191250" y="3143250"/>
            <a:ext cx="28575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050" b="1">
                <a:solidFill>
                  <a:srgbClr val="007A7A"/>
                </a:solidFill>
              </a:defRPr>
            </a:pPr>
            <a:r>
              <a:rPr sz="1050" b="1">
                <a:solidFill>
                  <a:srgbClr val="007A7A"/>
                </a:solidFill>
              </a:rPr>
              <a:t>USE DOWNSTREAM</a:t>
            </a:r>
          </a:p>
        </p:txBody>
      </p:sp>
      <p:sp>
        <p:nvSpPr>
          <p:cNvPr id="12" name="py-downstream">
            <a:extLst>
              <a:ext uri="{FF2B5EF4-FFF2-40B4-BE49-F238E27FC236}">
                <a16:creationId xmlns:a16="http://schemas.microsoft.com/office/drawing/2014/main" id="{1D95F945-9F94-48DC-808C-DD546023BCC4}"/>
              </a:ext>
            </a:extLst>
          </p:cNvPr>
          <p:cNvSpPr>
            <a:spLocks noGrp="1"/>
          </p:cNvSpPr>
          <p:nvPr/>
        </p:nvSpPr>
        <p:spPr>
          <a:xfrm>
            <a:off x="6191250" y="3562350"/>
            <a:ext cx="4762500" cy="1619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800" b="1">
                <a:solidFill>
                  <a:srgbClr val="12212E"/>
                </a:solidFill>
              </a:defRPr>
            </a:pPr>
            <a:r>
              <a:rPr sz="1800" b="1">
                <a:solidFill>
                  <a:srgbClr val="12212E"/>
                </a:solidFill>
              </a:rPr>
              <a:t>Crop and impact models</a:t>
            </a:r>
          </a:p>
          <a:p>
            <a:pPr algn="l">
              <a:defRPr sz="1800" b="1">
                <a:solidFill>
                  <a:srgbClr val="12212E"/>
                </a:solidFill>
              </a:defRPr>
            </a:pPr>
            <a:r>
              <a:rPr sz="1800" b="1">
                <a:solidFill>
                  <a:srgbClr val="12212E"/>
                </a:solidFill>
              </a:rPr>
              <a:t>Machine-learning pipelines</a:t>
            </a:r>
          </a:p>
          <a:p>
            <a:pPr algn="l">
              <a:defRPr sz="1800" b="1">
                <a:solidFill>
                  <a:srgbClr val="12212E"/>
                </a:solidFill>
              </a:defRPr>
            </a:pPr>
            <a:r>
              <a:rPr sz="1800" b="1">
                <a:solidFill>
                  <a:srgbClr val="12212E"/>
                </a:solidFill>
              </a:rPr>
              <a:t>Custom indicators and analytics</a:t>
            </a:r>
          </a:p>
          <a:p>
            <a:pPr algn="l">
              <a:defRPr sz="1800" b="1">
                <a:solidFill>
                  <a:srgbClr val="12212E"/>
                </a:solidFill>
              </a:defRPr>
            </a:pPr>
            <a:r>
              <a:rPr sz="1800" b="1">
                <a:solidFill>
                  <a:srgbClr val="12212E"/>
                </a:solidFill>
              </a:rPr>
              <a:t>Dashboards, APIs and other applications</a:t>
            </a:r>
          </a:p>
        </p:txBody>
      </p:sp>
      <p:sp>
        <p:nvSpPr>
          <p:cNvPr id="13" name="py-note">
            <a:extLst>
              <a:ext uri="{FF2B5EF4-FFF2-40B4-BE49-F238E27FC236}">
                <a16:creationId xmlns:a16="http://schemas.microsoft.com/office/drawing/2014/main" id="{25D301CD-402D-4938-9111-22C99A9EE383}"/>
              </a:ext>
            </a:extLst>
          </p:cNvPr>
          <p:cNvSpPr>
            <a:spLocks noGrp="1"/>
          </p:cNvSpPr>
          <p:nvPr/>
        </p:nvSpPr>
        <p:spPr>
          <a:xfrm>
            <a:off x="6191250" y="5524500"/>
            <a:ext cx="47625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75" b="0">
                <a:solidFill>
                  <a:srgbClr val="526574"/>
                </a:solidFill>
              </a:defRPr>
            </a:pPr>
            <a:r>
              <a:rPr sz="1275" b="0">
                <a:solidFill>
                  <a:srgbClr val="526574"/>
                </a:solidFill>
              </a:rPr>
              <a:t>Built-in plotting helpers support inspection; downstream integration remains the core role.</a:t>
            </a:r>
          </a:p>
        </p:txBody>
      </p:sp>
      <p:sp>
        <p:nvSpPr>
          <p:cNvPr id="14" name="footer-label-6">
            <a:extLst>
              <a:ext uri="{FF2B5EF4-FFF2-40B4-BE49-F238E27FC236}">
                <a16:creationId xmlns:a16="http://schemas.microsoft.com/office/drawing/2014/main" id="{D1E34F31-750F-4557-88FD-88F9D1C33C60}"/>
              </a:ext>
            </a:extLst>
          </p:cNvPr>
          <p:cNvSpPr>
            <a:spLocks noGrp="1"/>
          </p:cNvSpPr>
          <p:nvPr/>
        </p:nvSpPr>
        <p:spPr>
          <a:xfrm>
            <a:off x="609600" y="6477000"/>
            <a:ext cx="66675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825" b="0">
                <a:solidFill>
                  <a:srgbClr val="526574"/>
                </a:solidFill>
              </a:defRPr>
            </a:pPr>
            <a:r>
              <a:rPr sz="825" b="0">
                <a:solidFill>
                  <a:srgbClr val="526574"/>
                </a:solidFill>
              </a:rPr>
              <a:t>CAVA training • Pakistan</a:t>
            </a:r>
          </a:p>
        </p:txBody>
      </p:sp>
      <p:sp>
        <p:nvSpPr>
          <p:cNvPr id="15" name="footer-page-6">
            <a:extLst>
              <a:ext uri="{FF2B5EF4-FFF2-40B4-BE49-F238E27FC236}">
                <a16:creationId xmlns:a16="http://schemas.microsoft.com/office/drawing/2014/main" id="{5CAC6FD3-9ABB-415A-8A49-14E53FF8BD06}"/>
              </a:ext>
            </a:extLst>
          </p:cNvPr>
          <p:cNvSpPr>
            <a:spLocks noGrp="1"/>
          </p:cNvSpPr>
          <p:nvPr/>
        </p:nvSpPr>
        <p:spPr>
          <a:xfrm>
            <a:off x="11239500" y="6477000"/>
            <a:ext cx="3429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825" b="1">
                <a:solidFill>
                  <a:srgbClr val="526574"/>
                </a:solidFill>
              </a:defRPr>
            </a:pPr>
            <a:r>
              <a:rPr sz="825" b="1">
                <a:solidFill>
                  <a:srgbClr val="526574"/>
                </a:solidFill>
              </a:rPr>
              <a:t>6</a:t>
            </a:r>
          </a:p>
        </p:txBody>
      </p:sp>
    </p:spTree>
    <p:extLst>
      <p:ext uri="{BB962C8B-B14F-4D97-AF65-F5344CB8AC3E}">
        <p14:creationId xmlns:p14="http://schemas.microsoft.com/office/powerpoint/2010/main" val="111367721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9223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handoff-kicker">
            <a:extLst>
              <a:ext uri="{FF2B5EF4-FFF2-40B4-BE49-F238E27FC236}">
                <a16:creationId xmlns:a16="http://schemas.microsoft.com/office/drawing/2014/main" id="{8708C0A2-D034-4F3F-85BD-22199F545815}"/>
              </a:ext>
            </a:extLst>
          </p:cNvPr>
          <p:cNvSpPr>
            <a:spLocks noGrp="1"/>
          </p:cNvSpPr>
          <p:nvPr/>
        </p:nvSpPr>
        <p:spPr>
          <a:xfrm>
            <a:off x="685800" y="514350"/>
            <a:ext cx="5715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1">
                <a:solidFill>
                  <a:srgbClr val="62C8E5"/>
                </a:solidFill>
              </a:defRPr>
            </a:pPr>
            <a:r>
              <a:rPr sz="1200" b="1">
                <a:solidFill>
                  <a:srgbClr val="62C8E5"/>
                </a:solidFill>
              </a:rPr>
              <a:t>FROM ECOSYSTEM TO CODE</a:t>
            </a:r>
          </a:p>
        </p:txBody>
      </p:sp>
      <p:sp>
        <p:nvSpPr>
          <p:cNvPr id="2" name="handoff-title">
            <a:extLst>
              <a:ext uri="{FF2B5EF4-FFF2-40B4-BE49-F238E27FC236}">
                <a16:creationId xmlns:a16="http://schemas.microsoft.com/office/drawing/2014/main" id="{CA69B599-781C-45F1-B902-B14A3E25DA58}"/>
              </a:ext>
            </a:extLst>
          </p:cNvPr>
          <p:cNvSpPr>
            <a:spLocks noGrp="1"/>
          </p:cNvSpPr>
          <p:nvPr/>
        </p:nvSpPr>
        <p:spPr>
          <a:xfrm>
            <a:off x="685800" y="971550"/>
            <a:ext cx="1000125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3000" b="1">
                <a:solidFill>
                  <a:srgbClr val="FFFFFF"/>
                </a:solidFill>
              </a:defRPr>
            </a:pPr>
            <a:r>
              <a:rPr sz="3000" b="1">
                <a:solidFill>
                  <a:srgbClr val="FFFFFF"/>
                </a:solidFill>
              </a:rPr>
              <a:t>The notebooks follow two different endpoints</a:t>
            </a:r>
          </a:p>
        </p:txBody>
      </p:sp>
      <p:sp>
        <p:nvSpPr>
          <p:cNvPr id="3" name="handoff-r">
            <a:extLst>
              <a:ext uri="{FF2B5EF4-FFF2-40B4-BE49-F238E27FC236}">
                <a16:creationId xmlns:a16="http://schemas.microsoft.com/office/drawing/2014/main" id="{BFF2F481-3530-4F56-AF74-C7103E30E7A7}"/>
              </a:ext>
            </a:extLst>
          </p:cNvPr>
          <p:cNvSpPr>
            <a:spLocks noGrp="1"/>
          </p:cNvSpPr>
          <p:nvPr/>
        </p:nvSpPr>
        <p:spPr>
          <a:xfrm>
            <a:off x="685800" y="1981200"/>
            <a:ext cx="5143500" cy="2381250"/>
          </a:xfrm>
          <a:prstGeom prst="roundRect">
            <a:avLst>
              <a:gd name="adj" fmla="val 6400"/>
            </a:avLst>
          </a:prstGeom>
          <a:solidFill>
            <a:srgbClr val="143753"/>
          </a:solidFill>
          <a:ln w="0">
            <a:noFill/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4" name="handoff-r-k">
            <a:extLst>
              <a:ext uri="{FF2B5EF4-FFF2-40B4-BE49-F238E27FC236}">
                <a16:creationId xmlns:a16="http://schemas.microsoft.com/office/drawing/2014/main" id="{DC43C4F5-7AFC-4943-AC34-2278C46FF0A6}"/>
              </a:ext>
            </a:extLst>
          </p:cNvPr>
          <p:cNvSpPr>
            <a:spLocks noGrp="1"/>
          </p:cNvSpPr>
          <p:nvPr/>
        </p:nvSpPr>
        <p:spPr>
          <a:xfrm>
            <a:off x="990600" y="2266950"/>
            <a:ext cx="2857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1">
                <a:solidFill>
                  <a:srgbClr val="62C8E5"/>
                </a:solidFill>
              </a:defRPr>
            </a:pPr>
            <a:r>
              <a:rPr sz="1350" b="1">
                <a:solidFill>
                  <a:srgbClr val="62C8E5"/>
                </a:solidFill>
              </a:rPr>
              <a:t>CAVAanalytics / R</a:t>
            </a:r>
          </a:p>
        </p:txBody>
      </p:sp>
      <p:sp>
        <p:nvSpPr>
          <p:cNvPr id="5" name="handoff-r-h">
            <a:extLst>
              <a:ext uri="{FF2B5EF4-FFF2-40B4-BE49-F238E27FC236}">
                <a16:creationId xmlns:a16="http://schemas.microsoft.com/office/drawing/2014/main" id="{F744B7B7-F34C-4BE5-B8C2-5FEA680A8F97}"/>
              </a:ext>
            </a:extLst>
          </p:cNvPr>
          <p:cNvSpPr>
            <a:spLocks noGrp="1"/>
          </p:cNvSpPr>
          <p:nvPr/>
        </p:nvSpPr>
        <p:spPr>
          <a:xfrm>
            <a:off x="990600" y="2819400"/>
            <a:ext cx="43815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025" b="1">
                <a:solidFill>
                  <a:srgbClr val="FFFFFF"/>
                </a:solidFill>
              </a:defRPr>
            </a:pPr>
            <a:r>
              <a:rPr sz="2025" b="1">
                <a:solidFill>
                  <a:srgbClr val="FFFFFF"/>
                </a:solidFill>
              </a:rPr>
              <a:t>Retrieve → calculate → visualize</a:t>
            </a:r>
          </a:p>
        </p:txBody>
      </p:sp>
      <p:sp>
        <p:nvSpPr>
          <p:cNvPr id="6" name="handoff-r-b">
            <a:extLst>
              <a:ext uri="{FF2B5EF4-FFF2-40B4-BE49-F238E27FC236}">
                <a16:creationId xmlns:a16="http://schemas.microsoft.com/office/drawing/2014/main" id="{E2279F7D-3D72-42AA-BE39-8A96FD800E09}"/>
              </a:ext>
            </a:extLst>
          </p:cNvPr>
          <p:cNvSpPr>
            <a:spLocks noGrp="1"/>
          </p:cNvSpPr>
          <p:nvPr/>
        </p:nvSpPr>
        <p:spPr>
          <a:xfrm>
            <a:off x="990600" y="3448050"/>
            <a:ext cx="428625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75" b="0">
                <a:solidFill>
                  <a:srgbClr val="FFFFFF"/>
                </a:solidFill>
              </a:defRPr>
            </a:pPr>
            <a:r>
              <a:rPr sz="1575" b="0">
                <a:solidFill>
                  <a:srgbClr val="FFFFFF"/>
                </a:solidFill>
              </a:rPr>
              <a:t>End with a Pakistan heat indicator and ensemble map.</a:t>
            </a:r>
          </a:p>
        </p:txBody>
      </p:sp>
      <p:sp>
        <p:nvSpPr>
          <p:cNvPr id="7" name="handoff-py">
            <a:extLst>
              <a:ext uri="{FF2B5EF4-FFF2-40B4-BE49-F238E27FC236}">
                <a16:creationId xmlns:a16="http://schemas.microsoft.com/office/drawing/2014/main" id="{D874BD20-F003-4DCA-866C-01E8218D13E5}"/>
              </a:ext>
            </a:extLst>
          </p:cNvPr>
          <p:cNvSpPr>
            <a:spLocks noGrp="1"/>
          </p:cNvSpPr>
          <p:nvPr/>
        </p:nvSpPr>
        <p:spPr>
          <a:xfrm>
            <a:off x="6362700" y="1981200"/>
            <a:ext cx="5143500" cy="2381250"/>
          </a:xfrm>
          <a:prstGeom prst="roundRect">
            <a:avLst>
              <a:gd name="adj" fmla="val 6400"/>
            </a:avLst>
          </a:prstGeom>
          <a:solidFill>
            <a:srgbClr val="103B3B"/>
          </a:solidFill>
          <a:ln w="0">
            <a:noFill/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8" name="handoff-py-k">
            <a:extLst>
              <a:ext uri="{FF2B5EF4-FFF2-40B4-BE49-F238E27FC236}">
                <a16:creationId xmlns:a16="http://schemas.microsoft.com/office/drawing/2014/main" id="{8D5998E5-96F3-4B34-AB85-32806F5B650B}"/>
              </a:ext>
            </a:extLst>
          </p:cNvPr>
          <p:cNvSpPr>
            <a:spLocks noGrp="1"/>
          </p:cNvSpPr>
          <p:nvPr/>
        </p:nvSpPr>
        <p:spPr>
          <a:xfrm>
            <a:off x="6667500" y="2266950"/>
            <a:ext cx="2857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1">
                <a:solidFill>
                  <a:srgbClr val="62C8E5"/>
                </a:solidFill>
              </a:defRPr>
            </a:pPr>
            <a:r>
              <a:rPr sz="1350" b="1">
                <a:solidFill>
                  <a:srgbClr val="62C8E5"/>
                </a:solidFill>
              </a:rPr>
              <a:t>cavapy / Python</a:t>
            </a:r>
          </a:p>
        </p:txBody>
      </p:sp>
      <p:sp>
        <p:nvSpPr>
          <p:cNvPr id="9" name="handoff-py-h">
            <a:extLst>
              <a:ext uri="{FF2B5EF4-FFF2-40B4-BE49-F238E27FC236}">
                <a16:creationId xmlns:a16="http://schemas.microsoft.com/office/drawing/2014/main" id="{BD999A6A-AE55-4C23-B327-33C496BA7DF9}"/>
              </a:ext>
            </a:extLst>
          </p:cNvPr>
          <p:cNvSpPr>
            <a:spLocks noGrp="1"/>
          </p:cNvSpPr>
          <p:nvPr/>
        </p:nvSpPr>
        <p:spPr>
          <a:xfrm>
            <a:off x="6667500" y="2819400"/>
            <a:ext cx="43815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025" b="1">
                <a:solidFill>
                  <a:srgbClr val="FFFFFF"/>
                </a:solidFill>
              </a:defRPr>
            </a:pPr>
            <a:r>
              <a:rPr sz="2025" b="1">
                <a:solidFill>
                  <a:srgbClr val="FFFFFF"/>
                </a:solidFill>
              </a:rPr>
              <a:t>Retrieve → inspect → hand off</a:t>
            </a:r>
          </a:p>
        </p:txBody>
      </p:sp>
      <p:sp>
        <p:nvSpPr>
          <p:cNvPr id="10" name="handoff-py-b">
            <a:extLst>
              <a:ext uri="{FF2B5EF4-FFF2-40B4-BE49-F238E27FC236}">
                <a16:creationId xmlns:a16="http://schemas.microsoft.com/office/drawing/2014/main" id="{7DF02500-E99B-43F4-94F3-13D452CD9923}"/>
              </a:ext>
            </a:extLst>
          </p:cNvPr>
          <p:cNvSpPr>
            <a:spLocks noGrp="1"/>
          </p:cNvSpPr>
          <p:nvPr/>
        </p:nvSpPr>
        <p:spPr>
          <a:xfrm>
            <a:off x="6667500" y="3448050"/>
            <a:ext cx="428625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75" b="0">
                <a:solidFill>
                  <a:srgbClr val="FFFFFF"/>
                </a:solidFill>
              </a:defRPr>
            </a:pPr>
            <a:r>
              <a:rPr sz="1575" b="0">
                <a:solidFill>
                  <a:srgbClr val="FFFFFF"/>
                </a:solidFill>
              </a:rPr>
              <a:t>End with an xarray object ready for downstream use.</a:t>
            </a:r>
          </a:p>
        </p:txBody>
      </p:sp>
    </p:spTree>
    <p:extLst>
      <p:ext uri="{BB962C8B-B14F-4D97-AF65-F5344CB8AC3E}">
        <p14:creationId xmlns:p14="http://schemas.microsoft.com/office/powerpoint/2010/main" val="199343069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kicker-8">
            <a:extLst>
              <a:ext uri="{FF2B5EF4-FFF2-40B4-BE49-F238E27FC236}">
                <a16:creationId xmlns:a16="http://schemas.microsoft.com/office/drawing/2014/main" id="{7A1BEC74-1E5D-4B12-890F-DA538B42CAAD}"/>
              </a:ext>
            </a:extLst>
          </p:cNvPr>
          <p:cNvSpPr>
            <a:spLocks noGrp="1"/>
          </p:cNvSpPr>
          <p:nvPr/>
        </p:nvSpPr>
        <p:spPr>
          <a:xfrm>
            <a:off x="609600" y="361950"/>
            <a:ext cx="6858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050" b="1">
                <a:solidFill>
                  <a:srgbClr val="007A7A"/>
                </a:solidFill>
              </a:defRPr>
            </a:pPr>
            <a:r>
              <a:rPr sz="1050" b="1">
                <a:solidFill>
                  <a:srgbClr val="007A7A"/>
                </a:solidFill>
              </a:rPr>
              <a:t>APPENDIX • SETUP</a:t>
            </a:r>
          </a:p>
        </p:txBody>
      </p:sp>
      <p:sp>
        <p:nvSpPr>
          <p:cNvPr id="2" name="title-8">
            <a:extLst>
              <a:ext uri="{FF2B5EF4-FFF2-40B4-BE49-F238E27FC236}">
                <a16:creationId xmlns:a16="http://schemas.microsoft.com/office/drawing/2014/main" id="{973E7BDF-8CFD-4428-BDF2-AD493CD8804D}"/>
              </a:ext>
            </a:extLst>
          </p:cNvPr>
          <p:cNvSpPr>
            <a:spLocks noGrp="1"/>
          </p:cNvSpPr>
          <p:nvPr/>
        </p:nvSpPr>
        <p:spPr>
          <a:xfrm>
            <a:off x="609600" y="666750"/>
            <a:ext cx="1083945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850" b="1">
                <a:solidFill>
                  <a:srgbClr val="092238"/>
                </a:solidFill>
              </a:defRPr>
            </a:pPr>
            <a:r>
              <a:rPr sz="2850" b="1">
                <a:solidFill>
                  <a:srgbClr val="092238"/>
                </a:solidFill>
              </a:rPr>
              <a:t>Build one environment for both notebooks</a:t>
            </a:r>
          </a:p>
        </p:txBody>
      </p:sp>
      <p:sp>
        <p:nvSpPr>
          <p:cNvPr id="3" name="title-rule-8">
            <a:extLst>
              <a:ext uri="{FF2B5EF4-FFF2-40B4-BE49-F238E27FC236}">
                <a16:creationId xmlns:a16="http://schemas.microsoft.com/office/drawing/2014/main" id="{3EB8CAC2-7D74-4A83-91FE-8A8B62F2125F}"/>
              </a:ext>
            </a:extLst>
          </p:cNvPr>
          <p:cNvSpPr>
            <a:spLocks noGrp="1"/>
          </p:cNvSpPr>
          <p:nvPr/>
        </p:nvSpPr>
        <p:spPr>
          <a:xfrm>
            <a:off x="609600" y="1333500"/>
            <a:ext cx="10972800" cy="19050"/>
          </a:xfrm>
          <a:prstGeom prst="rect">
            <a:avLst/>
          </a:prstGeom>
          <a:solidFill>
            <a:srgbClr val="CBD6DC"/>
          </a:solidFill>
          <a:ln w="0">
            <a:noFill/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4" name="env-code">
            <a:extLst>
              <a:ext uri="{FF2B5EF4-FFF2-40B4-BE49-F238E27FC236}">
                <a16:creationId xmlns:a16="http://schemas.microsoft.com/office/drawing/2014/main" id="{54490376-30BB-4EC7-9BB6-66228C08B1B2}"/>
              </a:ext>
            </a:extLst>
          </p:cNvPr>
          <p:cNvSpPr>
            <a:spLocks noGrp="1"/>
          </p:cNvSpPr>
          <p:nvPr/>
        </p:nvSpPr>
        <p:spPr>
          <a:xfrm>
            <a:off x="609600" y="1619250"/>
            <a:ext cx="10972800" cy="3181350"/>
          </a:xfrm>
          <a:prstGeom prst="roundRect">
            <a:avLst>
              <a:gd name="adj" fmla="val 4192"/>
            </a:avLst>
          </a:prstGeom>
          <a:solidFill>
            <a:srgbClr val="092238"/>
          </a:solidFill>
          <a:ln w="0">
            <a:noFill/>
            <a:prstDash val="solid"/>
          </a:ln>
        </p:spPr>
        <p:txBody>
          <a:bodyPr/>
          <a:lstStyle/>
          <a:p>
            <a:endParaRPr lang="en-IT"/>
          </a:p>
        </p:txBody>
      </p:sp>
      <p:sp>
        <p:nvSpPr>
          <p:cNvPr id="5" name="env-code-text">
            <a:extLst>
              <a:ext uri="{FF2B5EF4-FFF2-40B4-BE49-F238E27FC236}">
                <a16:creationId xmlns:a16="http://schemas.microsoft.com/office/drawing/2014/main" id="{04D88733-24EA-4487-9EC1-652F3AB489E2}"/>
              </a:ext>
            </a:extLst>
          </p:cNvPr>
          <p:cNvSpPr>
            <a:spLocks noGrp="1"/>
          </p:cNvSpPr>
          <p:nvPr/>
        </p:nvSpPr>
        <p:spPr>
          <a:xfrm>
            <a:off x="876300" y="1876425"/>
            <a:ext cx="10439400" cy="2609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00" b="0">
                <a:solidFill>
                  <a:srgbClr val="FFFFFF"/>
                </a:solidFill>
              </a:defRPr>
            </a:pPr>
            <a:r>
              <a:rPr sz="1500" b="0" dirty="0">
                <a:solidFill>
                  <a:srgbClr val="FFFFFF"/>
                </a:solidFill>
              </a:rPr>
              <a:t>mamba create -n </a:t>
            </a:r>
            <a:r>
              <a:rPr sz="1500" b="0" dirty="0" err="1">
                <a:solidFill>
                  <a:srgbClr val="FFFFFF"/>
                </a:solidFill>
              </a:rPr>
              <a:t>cavapk</a:t>
            </a:r>
            <a:r>
              <a:rPr sz="1500" b="0" dirty="0">
                <a:solidFill>
                  <a:srgbClr val="FFFFFF"/>
                </a:solidFill>
              </a:rPr>
              <a:t>  \</a:t>
            </a:r>
          </a:p>
          <a:p>
            <a:pPr algn="l">
              <a:defRPr sz="1500" b="0">
                <a:solidFill>
                  <a:srgbClr val="FFFFFF"/>
                </a:solidFill>
              </a:defRPr>
            </a:pPr>
            <a:r>
              <a:rPr sz="1500" b="0" dirty="0">
                <a:solidFill>
                  <a:srgbClr val="FFFFFF"/>
                </a:solidFill>
              </a:rPr>
              <a:t>  python=3.12 r-base=4.</a:t>
            </a:r>
            <a:r>
              <a:rPr lang="it-IT" sz="1500" b="0">
                <a:solidFill>
                  <a:srgbClr val="FFFFFF"/>
                </a:solidFill>
              </a:rPr>
              <a:t>4</a:t>
            </a:r>
            <a:r>
              <a:rPr sz="1500" b="0">
                <a:solidFill>
                  <a:srgbClr val="FFFFFF"/>
                </a:solidFill>
              </a:rPr>
              <a:t> </a:t>
            </a:r>
            <a:r>
              <a:rPr sz="1500" b="0" dirty="0">
                <a:solidFill>
                  <a:srgbClr val="FFFFFF"/>
                </a:solidFill>
              </a:rPr>
              <a:t>\</a:t>
            </a:r>
          </a:p>
          <a:p>
            <a:pPr algn="l">
              <a:defRPr sz="1500" b="0">
                <a:solidFill>
                  <a:srgbClr val="FFFFFF"/>
                </a:solidFill>
              </a:defRPr>
            </a:pPr>
            <a:r>
              <a:rPr sz="1500" b="0" dirty="0">
                <a:solidFill>
                  <a:srgbClr val="FFFFFF"/>
                </a:solidFill>
              </a:rPr>
              <a:t>  r-</a:t>
            </a:r>
            <a:r>
              <a:rPr sz="1500" b="0" dirty="0" err="1">
                <a:solidFill>
                  <a:srgbClr val="FFFFFF"/>
                </a:solidFill>
              </a:rPr>
              <a:t>rjava</a:t>
            </a:r>
            <a:r>
              <a:rPr sz="1500" b="0" dirty="0">
                <a:solidFill>
                  <a:srgbClr val="FFFFFF"/>
                </a:solidFill>
              </a:rPr>
              <a:t> r-</a:t>
            </a:r>
            <a:r>
              <a:rPr sz="1500" b="0" dirty="0" err="1">
                <a:solidFill>
                  <a:srgbClr val="FFFFFF"/>
                </a:solidFill>
              </a:rPr>
              <a:t>pak</a:t>
            </a:r>
            <a:r>
              <a:rPr sz="1500" b="0" dirty="0">
                <a:solidFill>
                  <a:srgbClr val="FFFFFF"/>
                </a:solidFill>
              </a:rPr>
              <a:t> r-terra r-units r-remotes \</a:t>
            </a:r>
          </a:p>
          <a:p>
            <a:pPr algn="l">
              <a:defRPr sz="1500" b="0">
                <a:solidFill>
                  <a:srgbClr val="FFFFFF"/>
                </a:solidFill>
              </a:defRPr>
            </a:pPr>
            <a:r>
              <a:rPr sz="1500" b="0" dirty="0">
                <a:solidFill>
                  <a:srgbClr val="FFFFFF"/>
                </a:solidFill>
              </a:rPr>
              <a:t>  </a:t>
            </a:r>
            <a:r>
              <a:rPr sz="1500" b="0" dirty="0" err="1">
                <a:solidFill>
                  <a:srgbClr val="FFFFFF"/>
                </a:solidFill>
              </a:rPr>
              <a:t>jupyterlab</a:t>
            </a:r>
            <a:r>
              <a:rPr sz="1500" b="0" dirty="0">
                <a:solidFill>
                  <a:srgbClr val="FFFFFF"/>
                </a:solidFill>
              </a:rPr>
              <a:t> </a:t>
            </a:r>
            <a:r>
              <a:rPr sz="1500" b="0" dirty="0" err="1">
                <a:solidFill>
                  <a:srgbClr val="FFFFFF"/>
                </a:solidFill>
              </a:rPr>
              <a:t>ipykernel</a:t>
            </a:r>
            <a:r>
              <a:rPr sz="1500" b="0" dirty="0">
                <a:solidFill>
                  <a:srgbClr val="FFFFFF"/>
                </a:solidFill>
              </a:rPr>
              <a:t> r-</a:t>
            </a:r>
            <a:r>
              <a:rPr sz="1500" b="0" dirty="0" err="1">
                <a:solidFill>
                  <a:srgbClr val="FFFFFF"/>
                </a:solidFill>
              </a:rPr>
              <a:t>irkernel</a:t>
            </a:r>
            <a:endParaRPr sz="1500" b="0" dirty="0">
              <a:solidFill>
                <a:srgbClr val="FFFFFF"/>
              </a:solidFill>
            </a:endParaRPr>
          </a:p>
          <a:p>
            <a:endParaRPr sz="1500" b="0" dirty="0">
              <a:solidFill>
                <a:srgbClr val="FFFFFF"/>
              </a:solidFill>
            </a:endParaRPr>
          </a:p>
          <a:p>
            <a:pPr algn="l">
              <a:defRPr sz="1500" b="0">
                <a:solidFill>
                  <a:srgbClr val="FFFFFF"/>
                </a:solidFill>
              </a:defRPr>
            </a:pPr>
            <a:r>
              <a:rPr sz="1500" b="0" dirty="0">
                <a:solidFill>
                  <a:srgbClr val="FFFFFF"/>
                </a:solidFill>
              </a:rPr>
              <a:t>mamba activate </a:t>
            </a:r>
            <a:r>
              <a:rPr sz="1500" b="0" dirty="0" err="1">
                <a:solidFill>
                  <a:srgbClr val="FFFFFF"/>
                </a:solidFill>
              </a:rPr>
              <a:t>cavapk</a:t>
            </a:r>
            <a:endParaRPr sz="1500" b="0" dirty="0">
              <a:solidFill>
                <a:srgbClr val="FFFFFF"/>
              </a:solidFill>
            </a:endParaRPr>
          </a:p>
          <a:p>
            <a:pPr algn="l">
              <a:defRPr sz="1500" b="0">
                <a:solidFill>
                  <a:srgbClr val="FFFFFF"/>
                </a:solidFill>
              </a:defRPr>
            </a:pPr>
            <a:r>
              <a:rPr sz="1500" b="0" dirty="0">
                <a:solidFill>
                  <a:srgbClr val="FFFFFF"/>
                </a:solidFill>
              </a:rPr>
              <a:t>R -q -e 'remotes::</a:t>
            </a:r>
            <a:r>
              <a:rPr sz="1500" b="0" dirty="0" err="1">
                <a:solidFill>
                  <a:srgbClr val="FFFFFF"/>
                </a:solidFill>
              </a:rPr>
              <a:t>install_github</a:t>
            </a:r>
            <a:r>
              <a:rPr sz="1500" b="0" dirty="0">
                <a:solidFill>
                  <a:srgbClr val="FFFFFF"/>
                </a:solidFill>
              </a:rPr>
              <a:t>("un-</a:t>
            </a:r>
            <a:r>
              <a:rPr sz="1500" b="0" dirty="0" err="1">
                <a:solidFill>
                  <a:srgbClr val="FFFFFF"/>
                </a:solidFill>
              </a:rPr>
              <a:t>fao</a:t>
            </a:r>
            <a:r>
              <a:rPr sz="1500" b="0" dirty="0">
                <a:solidFill>
                  <a:srgbClr val="FFFFFF"/>
                </a:solidFill>
              </a:rPr>
              <a:t>/</a:t>
            </a:r>
            <a:r>
              <a:rPr sz="1500" b="0" dirty="0" err="1">
                <a:solidFill>
                  <a:srgbClr val="FFFFFF"/>
                </a:solidFill>
              </a:rPr>
              <a:t>CAVAanalytics</a:t>
            </a:r>
            <a:r>
              <a:rPr sz="1500" b="0" dirty="0">
                <a:solidFill>
                  <a:srgbClr val="FFFFFF"/>
                </a:solidFill>
              </a:rPr>
              <a:t>")'</a:t>
            </a:r>
          </a:p>
          <a:p>
            <a:pPr algn="l">
              <a:defRPr sz="1500" b="0">
                <a:solidFill>
                  <a:srgbClr val="FFFFFF"/>
                </a:solidFill>
              </a:defRPr>
            </a:pPr>
            <a:r>
              <a:rPr sz="1500" b="0" dirty="0">
                <a:solidFill>
                  <a:srgbClr val="FFFFFF"/>
                </a:solidFill>
              </a:rPr>
              <a:t>python -m pip install </a:t>
            </a:r>
            <a:r>
              <a:rPr sz="1500" b="0" dirty="0" err="1">
                <a:solidFill>
                  <a:srgbClr val="FFFFFF"/>
                </a:solidFill>
              </a:rPr>
              <a:t>cavapy</a:t>
            </a:r>
            <a:endParaRPr sz="1500" b="0" dirty="0">
              <a:solidFill>
                <a:srgbClr val="FFFFFF"/>
              </a:solidFill>
            </a:endParaRPr>
          </a:p>
        </p:txBody>
      </p:sp>
      <p:sp>
        <p:nvSpPr>
          <p:cNvPr id="10" name="footer-label-8">
            <a:extLst>
              <a:ext uri="{FF2B5EF4-FFF2-40B4-BE49-F238E27FC236}">
                <a16:creationId xmlns:a16="http://schemas.microsoft.com/office/drawing/2014/main" id="{D5BC4E08-72DC-4595-95A6-0DDAAC905087}"/>
              </a:ext>
            </a:extLst>
          </p:cNvPr>
          <p:cNvSpPr>
            <a:spLocks noGrp="1"/>
          </p:cNvSpPr>
          <p:nvPr/>
        </p:nvSpPr>
        <p:spPr>
          <a:xfrm>
            <a:off x="609600" y="6477000"/>
            <a:ext cx="66675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825" b="0">
                <a:solidFill>
                  <a:srgbClr val="526574"/>
                </a:solidFill>
              </a:defRPr>
            </a:pPr>
            <a:r>
              <a:rPr sz="825" b="0">
                <a:solidFill>
                  <a:srgbClr val="526574"/>
                </a:solidFill>
              </a:rPr>
              <a:t>Appendix • reproducible setup</a:t>
            </a:r>
          </a:p>
        </p:txBody>
      </p:sp>
      <p:sp>
        <p:nvSpPr>
          <p:cNvPr id="11" name="footer-page-8">
            <a:extLst>
              <a:ext uri="{FF2B5EF4-FFF2-40B4-BE49-F238E27FC236}">
                <a16:creationId xmlns:a16="http://schemas.microsoft.com/office/drawing/2014/main" id="{6581CE5B-A9E7-4688-8F45-913C28AC85D0}"/>
              </a:ext>
            </a:extLst>
          </p:cNvPr>
          <p:cNvSpPr>
            <a:spLocks noGrp="1"/>
          </p:cNvSpPr>
          <p:nvPr/>
        </p:nvSpPr>
        <p:spPr>
          <a:xfrm>
            <a:off x="11239500" y="6477000"/>
            <a:ext cx="3429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825" b="1">
                <a:solidFill>
                  <a:srgbClr val="526574"/>
                </a:solidFill>
              </a:defRPr>
            </a:pPr>
            <a:r>
              <a:rPr sz="825" b="1">
                <a:solidFill>
                  <a:srgbClr val="526574"/>
                </a:solidFill>
              </a:rPr>
              <a:t>8</a:t>
            </a:r>
          </a:p>
        </p:txBody>
      </p:sp>
    </p:spTree>
    <p:extLst>
      <p:ext uri="{BB962C8B-B14F-4D97-AF65-F5344CB8AC3E}">
        <p14:creationId xmlns:p14="http://schemas.microsoft.com/office/powerpoint/2010/main" val="1962949506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565</Words>
  <Application>Microsoft Macintosh PowerPoint</Application>
  <DocSecurity>0</DocSecurity>
  <PresentationFormat>Widescreen</PresentationFormat>
  <Paragraphs>103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0" baseType="lpstr">
      <vt:lpstr>Calibri</vt:lpstr>
      <vt:lpstr>ChatGPT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Soldan, Riccardo (OCBD)</cp:lastModifiedBy>
  <cp:revision>13</cp:revision>
  <dcterms:created xsi:type="dcterms:W3CDTF">2026-07-22T09:30:58Z</dcterms:created>
  <dcterms:modified xsi:type="dcterms:W3CDTF">2026-07-23T06:01:37Z</dcterms:modified>
</cp:coreProperties>
</file>