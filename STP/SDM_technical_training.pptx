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16_D65996FA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61" r:id="rId3"/>
    <p:sldId id="262" r:id="rId4"/>
    <p:sldId id="271" r:id="rId5"/>
    <p:sldId id="280" r:id="rId6"/>
    <p:sldId id="264" r:id="rId7"/>
    <p:sldId id="265" r:id="rId8"/>
    <p:sldId id="272" r:id="rId9"/>
    <p:sldId id="274" r:id="rId10"/>
    <p:sldId id="275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E3E79E2D-8612-4160-B288-21B9B925C666}"/>
    <pc:docChg chg="modSld">
      <pc:chgData name="Greenrod, Samuel (OCBD)" userId="2206092a-8a12-487a-a963-cafe9a401430" providerId="ADAL" clId="{E3E79E2D-8612-4160-B288-21B9B925C666}" dt="2025-11-12T16:13:17.956" v="69" actId="20577"/>
      <pc:docMkLst>
        <pc:docMk/>
      </pc:docMkLst>
      <pc:sldChg chg="modSp mod">
        <pc:chgData name="Greenrod, Samuel (OCBD)" userId="2206092a-8a12-487a-a963-cafe9a401430" providerId="ADAL" clId="{E3E79E2D-8612-4160-B288-21B9B925C666}" dt="2025-11-12T16:13:17.956" v="69" actId="20577"/>
        <pc:sldMkLst>
          <pc:docMk/>
          <pc:sldMk cId="3596195578" sldId="278"/>
        </pc:sldMkLst>
        <pc:spChg chg="mod">
          <ac:chgData name="Greenrod, Samuel (OCBD)" userId="2206092a-8a12-487a-a963-cafe9a401430" providerId="ADAL" clId="{E3E79E2D-8612-4160-B288-21B9B925C666}" dt="2025-11-12T16:13:17.956" v="69" actId="20577"/>
          <ac:spMkLst>
            <pc:docMk/>
            <pc:sldMk cId="3596195578" sldId="278"/>
            <ac:spMk id="3" creationId="{B65361E7-4E15-CD6C-8E77-8F89B5B7D557}"/>
          </ac:spMkLst>
        </pc:spChg>
      </pc:sldChg>
    </pc:docChg>
  </pc:docChgLst>
</pc:chgInfo>
</file>

<file path=ppt/comments/modernComment_116_D65996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35EFF7-6E11-4ED5-8DD2-5683A3180CDF}" authorId="{058D5D99-21CF-B08C-94E1-10539A96C80D}" created="2025-09-25T07:35:28.2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96195578" sldId="278"/>
      <ac:picMk id="3074" creationId="{D18EC2C8-8D2B-E43F-E1FF-B94334997B32}"/>
    </ac:deMkLst>
    <p188:txBody>
      <a:bodyPr/>
      <a:lstStyle/>
      <a:p>
        <a:r>
          <a:rPr lang="en-GB"/>
          <a:t>I put the STP flag as a logo - maybe a different logo would be more appropriate here?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6_D65996FA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en-GB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Species distribution modelling </a:t>
            </a:r>
            <a:r>
              <a:rPr lang="en-GB" b="1" cap="all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using maxent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Samuel Greenrod, Marco Fusi, Riccardo Soldan,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B30C-2D87-C74C-405A-670FB3C3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8B82-CF15-26F3-A6FC-DCE25512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in Sao Tome and Principe: the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9C69-A220-021D-6DCA-DB13628BC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636" y="2005012"/>
            <a:ext cx="52578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Climate models project significant future oceanographic change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Climate change is expected to affect fisheries by altering: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Fish reproduction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Fish densities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Fish migration patterns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8826921F-4FE7-00C9-8D7F-C8B9E6F28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3F7CB-4C8D-580D-EEBA-A44271C2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5BC09-408A-A028-15E5-244AD70E24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C4ED02-B311-5215-DA5F-A9BBBC88F0C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C1761-CCEE-58BE-9A61-751EE1C6112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08523A1-7290-2AF3-16D5-A52FAFE12B6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89A456A-796D-10A1-C739-557F614426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5" t="46200" r="26896" b="12861"/>
          <a:stretch>
            <a:fillRect/>
          </a:stretch>
        </p:blipFill>
        <p:spPr>
          <a:xfrm>
            <a:off x="6993275" y="1618001"/>
            <a:ext cx="1871881" cy="3503940"/>
          </a:xfrm>
          <a:prstGeom prst="rect">
            <a:avLst/>
          </a:prstGeom>
        </p:spPr>
      </p:pic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CCD75D8-9B9B-5201-1034-EBDCCA0B66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81" t="91911" r="15732" b="1719"/>
          <a:stretch>
            <a:fillRect/>
          </a:stretch>
        </p:blipFill>
        <p:spPr>
          <a:xfrm>
            <a:off x="6839633" y="5533812"/>
            <a:ext cx="2119941" cy="365125"/>
          </a:xfrm>
          <a:prstGeom prst="rect">
            <a:avLst/>
          </a:prstGeom>
        </p:spPr>
      </p:pic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D0BE1E2-BF92-39E5-E2DC-230AE5E428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3" t="91911" r="52703" b="3088"/>
          <a:stretch>
            <a:fillRect/>
          </a:stretch>
        </p:blipFill>
        <p:spPr>
          <a:xfrm>
            <a:off x="6972984" y="5201251"/>
            <a:ext cx="1853241" cy="286664"/>
          </a:xfrm>
          <a:prstGeom prst="rect">
            <a:avLst/>
          </a:prstGeom>
        </p:spPr>
      </p:pic>
      <p:pic>
        <p:nvPicPr>
          <p:cNvPr id="15" name="Picture 1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501C99F-2D21-42B1-9892-D214A7BF8F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38" t="46307" r="27825" b="12394"/>
          <a:stretch>
            <a:fillRect/>
          </a:stretch>
        </p:blipFill>
        <p:spPr>
          <a:xfrm>
            <a:off x="9162645" y="1634295"/>
            <a:ext cx="1715635" cy="3531105"/>
          </a:xfrm>
          <a:prstGeom prst="rect">
            <a:avLst/>
          </a:prstGeom>
        </p:spPr>
      </p:pic>
      <p:pic>
        <p:nvPicPr>
          <p:cNvPr id="16" name="Picture 1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ABE6C2B-CBC4-7234-9256-AD8D688E10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00" t="92291" r="25515" b="2817"/>
          <a:stretch>
            <a:fillRect/>
          </a:stretch>
        </p:blipFill>
        <p:spPr>
          <a:xfrm>
            <a:off x="9162645" y="5537727"/>
            <a:ext cx="2268746" cy="279964"/>
          </a:xfrm>
          <a:prstGeom prst="rect">
            <a:avLst/>
          </a:prstGeom>
        </p:spPr>
      </p:pic>
      <p:pic>
        <p:nvPicPr>
          <p:cNvPr id="17" name="Picture 1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3F6475B-95E1-757F-F23C-6B9FDDF51D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2" t="91372" r="65050" b="2849"/>
          <a:stretch>
            <a:fillRect/>
          </a:stretch>
        </p:blipFill>
        <p:spPr>
          <a:xfrm>
            <a:off x="9780466" y="5152284"/>
            <a:ext cx="477328" cy="330709"/>
          </a:xfrm>
          <a:prstGeom prst="rect">
            <a:avLst/>
          </a:prstGeom>
        </p:spPr>
      </p:pic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F1BCAAF-8DBF-CFDE-BB54-55BF3DCA51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49" t="46200" r="2489" b="12861"/>
          <a:stretch>
            <a:fillRect/>
          </a:stretch>
        </p:blipFill>
        <p:spPr>
          <a:xfrm>
            <a:off x="10847977" y="1609375"/>
            <a:ext cx="322053" cy="3503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DD1E8D-D74A-D627-3898-BCA131942FC5}"/>
              </a:ext>
            </a:extLst>
          </p:cNvPr>
          <p:cNvSpPr txBox="1"/>
          <p:nvPr/>
        </p:nvSpPr>
        <p:spPr>
          <a:xfrm>
            <a:off x="7875187" y="5969655"/>
            <a:ext cx="2501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Values are relative to historical run</a:t>
            </a:r>
          </a:p>
        </p:txBody>
      </p:sp>
    </p:spTree>
    <p:extLst>
      <p:ext uri="{BB962C8B-B14F-4D97-AF65-F5344CB8AC3E}">
        <p14:creationId xmlns:p14="http://schemas.microsoft.com/office/powerpoint/2010/main" val="276616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43415-383E-9F3A-6063-F6DE6429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9597-57ED-0A4B-54BB-C49E2BC6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11070"/>
            <a:ext cx="870961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Species distribution modelling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7D0B-3588-08B0-0049-708DBA68F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6" y="1952658"/>
            <a:ext cx="5515379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Species distribution modelling can be used to assess climate impact on fish distributions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Most models are “empirical”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find statistical associations between species occurrence and environmental parameters</a:t>
            </a:r>
          </a:p>
          <a:p>
            <a:pPr lvl="1"/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MaxEnt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R-INLA</a:t>
            </a:r>
          </a:p>
          <a:p>
            <a:pPr lvl="1"/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SdmTMB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 small number are “mechanistic”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use equations that model how fish systems function and interact with climate</a:t>
            </a: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E3CC1D01-A494-499B-497F-CBF312F00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09670-A785-821A-65D0-C1B5F9BC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45AF79-8BA1-55EA-8D7F-D4A9CF3452A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618566-26EA-20E2-DF6F-8387115801F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15BD8F-18AE-843A-8247-21312ABE4564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A176A92-1BE8-9390-CAD4-C04837C21BC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Mechanistic Modelling of Biomass Growth, Glucose Consumption and Ethanol  Production by Kluyveromyces marxianus in Batch Fermentation">
            <a:extLst>
              <a:ext uri="{FF2B5EF4-FFF2-40B4-BE49-F238E27FC236}">
                <a16:creationId xmlns:a16="http://schemas.microsoft.com/office/drawing/2014/main" id="{D61BADDF-C5BC-0447-82E4-24C81F870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792" y="4479299"/>
            <a:ext cx="4028266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person walking with a computer&#10;&#10;AI-generated content may be incorrect.">
            <a:extLst>
              <a:ext uri="{FF2B5EF4-FFF2-40B4-BE49-F238E27FC236}">
                <a16:creationId xmlns:a16="http://schemas.microsoft.com/office/drawing/2014/main" id="{B6005A82-7AD1-F777-1367-86D6CFA8F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658" y="1677984"/>
            <a:ext cx="3898534" cy="219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7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8EE32-FB31-AAF4-A276-51B4DAB8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0A41-F933-5C82-61A3-1B3C6F20B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Empirical modelling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MaxEnt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species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CA1D0-D97E-0CD4-9A3F-D588798CF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6" y="1926210"/>
            <a:ext cx="4843124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the STP report, we used an empirical modelling approach called “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MaxEnt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 or Maximum Entropy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Species presence records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Climatic values across a region</a:t>
            </a: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Compares probability distribution of associated climatic values against background data.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Once model is trained, you can apply new climate projection data.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11486565-DD02-60CC-CB0C-56CE71528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6915B-9538-32C3-8D68-15810C8D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780896-89DE-E1D7-9579-DB087B8098B2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5E9DE0-24D8-AD17-3ECD-785281BC8371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960D878-696C-C148-885E-EAAF3935A4C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1A03E919-A3B9-8DCF-200C-0CA378DC033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Main graphic">
            <a:extLst>
              <a:ext uri="{FF2B5EF4-FFF2-40B4-BE49-F238E27FC236}">
                <a16:creationId xmlns:a16="http://schemas.microsoft.com/office/drawing/2014/main" id="{07E27C95-A1EF-0355-68D7-8BBEAA153E5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295934" y="1926210"/>
            <a:ext cx="5020970" cy="2929619"/>
          </a:xfrm>
          <a:prstGeom prst="rect">
            <a:avLst/>
          </a:prstGeom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A4FC95-A8B4-C5CE-CED1-9CAA73D34D41}"/>
              </a:ext>
            </a:extLst>
          </p:cNvPr>
          <p:cNvSpPr txBox="1"/>
          <p:nvPr/>
        </p:nvSpPr>
        <p:spPr>
          <a:xfrm>
            <a:off x="6162456" y="5248354"/>
            <a:ext cx="563987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Occurrence probabilities calculated for:</a:t>
            </a:r>
          </a:p>
          <a:p>
            <a:r>
              <a:rPr lang="en-GB" sz="1600" u="sng" dirty="0">
                <a:latin typeface="Arial" panose="020B0604020202020204" pitchFamily="34" charset="0"/>
                <a:cs typeface="Arial" panose="020B0604020202020204" pitchFamily="34" charset="0"/>
              </a:rPr>
              <a:t>Time periods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: historical run, 2020-2049, 2050-2079 </a:t>
            </a:r>
          </a:p>
          <a:p>
            <a:r>
              <a:rPr lang="en-GB" sz="1600" u="sng" dirty="0">
                <a:latin typeface="Arial" panose="020B0604020202020204" pitchFamily="34" charset="0"/>
                <a:cs typeface="Arial" panose="020B0604020202020204" pitchFamily="34" charset="0"/>
              </a:rPr>
              <a:t>Climate scenarios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: SSP1 2.6 &amp; SSP5 8.5</a:t>
            </a:r>
          </a:p>
          <a:p>
            <a:r>
              <a:rPr lang="en-GB" sz="1600" u="sng" dirty="0">
                <a:latin typeface="Arial" panose="020B0604020202020204" pitchFamily="34" charset="0"/>
                <a:cs typeface="Arial" panose="020B0604020202020204" pitchFamily="34" charset="0"/>
              </a:rPr>
              <a:t>Climate model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: CMIP6 ensemble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57893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606C3-EC55-8A62-AE4B-9F0EB51E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2DCE6-B3FD-A9EF-579E-BF2877673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EA04-8416-0CB5-FA22-1E6E216D3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492" y="1720607"/>
            <a:ext cx="9845428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2000" b="1" u="sng" dirty="0">
                <a:effectLst/>
              </a:rPr>
              <a:t>Advantages of </a:t>
            </a:r>
            <a:r>
              <a:rPr lang="en-GB" sz="2000" b="1" u="sng" dirty="0" err="1">
                <a:effectLst/>
              </a:rPr>
              <a:t>MaxEnt</a:t>
            </a:r>
            <a:r>
              <a:rPr lang="en-GB" sz="2000" b="1" u="sng" dirty="0">
                <a:effectLst/>
              </a:rPr>
              <a:t>:</a:t>
            </a:r>
          </a:p>
          <a:p>
            <a:pPr fontAlgn="ctr">
              <a:lnSpc>
                <a:spcPct val="120000"/>
              </a:lnSpc>
              <a:spcBef>
                <a:spcPts val="0"/>
              </a:spcBef>
            </a:pPr>
            <a:r>
              <a:rPr lang="en-GB" sz="1600" b="1" dirty="0"/>
              <a:t>Handles presence-only data:</a:t>
            </a:r>
            <a:r>
              <a:rPr lang="en-GB" sz="1600" dirty="0"/>
              <a:t> </a:t>
            </a:r>
            <a:r>
              <a:rPr lang="en-GB" sz="1600" dirty="0" err="1"/>
              <a:t>MaxEnt</a:t>
            </a:r>
            <a:r>
              <a:rPr lang="en-GB" sz="1600" dirty="0"/>
              <a:t> is well-suited for situations where only presence data is available, which is common in ecological research. </a:t>
            </a:r>
          </a:p>
          <a:p>
            <a:pPr fontAlgn="ctr">
              <a:lnSpc>
                <a:spcPct val="120000"/>
              </a:lnSpc>
              <a:spcBef>
                <a:spcPts val="0"/>
              </a:spcBef>
            </a:pPr>
            <a:r>
              <a:rPr lang="en-GB" sz="1600" b="1" dirty="0"/>
              <a:t>Handles complex relationships:</a:t>
            </a:r>
            <a:r>
              <a:rPr lang="en-GB" sz="1600" dirty="0"/>
              <a:t> It can model complex interactions between environmental variables and species distributions. </a:t>
            </a:r>
          </a:p>
          <a:p>
            <a:pPr fontAlgn="ctr">
              <a:lnSpc>
                <a:spcPct val="120000"/>
              </a:lnSpc>
              <a:spcBef>
                <a:spcPts val="0"/>
              </a:spcBef>
            </a:pPr>
            <a:r>
              <a:rPr lang="en-GB" sz="1600" b="1" dirty="0"/>
              <a:t>Open-source software:</a:t>
            </a:r>
            <a:r>
              <a:rPr lang="en-GB" sz="1600" dirty="0"/>
              <a:t> </a:t>
            </a:r>
            <a:r>
              <a:rPr lang="en-GB" sz="1600" dirty="0" err="1"/>
              <a:t>MaxEnt</a:t>
            </a:r>
            <a:r>
              <a:rPr lang="en-GB" sz="1600" dirty="0"/>
              <a:t> is freely available and open-source. </a:t>
            </a:r>
          </a:p>
          <a:p>
            <a:pPr fontAlgn="ctr">
              <a:lnSpc>
                <a:spcPct val="120000"/>
              </a:lnSpc>
              <a:spcBef>
                <a:spcPts val="0"/>
              </a:spcBef>
            </a:pPr>
            <a:r>
              <a:rPr lang="en-GB" sz="1600" b="1" dirty="0"/>
              <a:t>Widely used:</a:t>
            </a:r>
            <a:r>
              <a:rPr lang="en-GB" sz="1600" dirty="0"/>
              <a:t> It's one of the most widely used SDM methods in ecology. 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GB" sz="16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GB" sz="16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2000" b="1" u="sng" dirty="0">
                <a:effectLst/>
              </a:rPr>
              <a:t>Potential Limitations: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1" dirty="0"/>
              <a:t>Bias in background data:</a:t>
            </a:r>
            <a:endParaRPr lang="en-GB" sz="1600" dirty="0"/>
          </a:p>
          <a:p>
            <a:pPr marL="0" indent="0" font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600" dirty="0"/>
              <a:t>The choice of background data can influence the model results.</a:t>
            </a:r>
          </a:p>
          <a:p>
            <a:pPr fontAlgn="ctr">
              <a:lnSpc>
                <a:spcPct val="120000"/>
              </a:lnSpc>
              <a:spcBef>
                <a:spcPts val="0"/>
              </a:spcBef>
            </a:pPr>
            <a:r>
              <a:rPr lang="en-GB" sz="1600" b="1" dirty="0"/>
              <a:t>Assumptions about environmental relationships:</a:t>
            </a:r>
            <a:endParaRPr lang="en-GB" sz="1600" dirty="0"/>
          </a:p>
          <a:p>
            <a:pPr marL="0" indent="0" font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600" dirty="0" err="1"/>
              <a:t>MaxEnt</a:t>
            </a:r>
            <a:r>
              <a:rPr lang="en-GB" sz="1600" dirty="0"/>
              <a:t> assumes that environmental variables are the primary drivers of species distributions, which may not always be true. 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1" dirty="0"/>
              <a:t>Overfitting: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600" dirty="0"/>
              <a:t>Overfitting can occur if the model is too complex for the available data, leading to poor predictive performance in new areas. </a:t>
            </a:r>
          </a:p>
          <a:p>
            <a:pPr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5FA364-0DE9-12F2-BE92-3A5F5E4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DB44-A55A-E3E4-D2ED-72E424C8877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5365740-189F-B06A-D280-D6033D60C11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A9ABA6-4B86-8651-CA9E-F0F67605E1FF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03A4739-C4AA-BB75-0CCD-6DE230D0539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669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0022-9D60-59B1-74D1-A2E6C946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118BC-F43E-CA57-7819-0E9D54B25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5" y="521846"/>
            <a:ext cx="847235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collection – Species presence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E293-4BF5-ED6D-06B9-3727DDB21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5" y="1862520"/>
            <a:ext cx="447601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MaxEnt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only requires presence data, not presence/absence data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was acquired from the Ocean Biodiversity Information System (OBIS)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Required information: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Species name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Historical Lon/Lat positions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8EF5A01E-ADED-4189-9CE3-B2C3FB690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151A6-600D-C1C9-ACEC-648FD9837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36F795-7E9B-681C-8FFF-BA75A7918A70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C82302-BDCA-5534-55A3-DFE32869398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7EF4AF-23C7-8AEA-AFD6-709CF6DD47C1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F951CDAC-3A31-BC2E-8902-B1E9B96520F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1E5F9D1-3718-4669-F789-717DAFB92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193" y="1862520"/>
            <a:ext cx="5683414" cy="2523884"/>
          </a:xfrm>
          <a:prstGeom prst="rect">
            <a:avLst/>
          </a:prstGeom>
        </p:spPr>
      </p:pic>
      <p:pic>
        <p:nvPicPr>
          <p:cNvPr id="7" name="Picture 2" descr="Blue runner • Caranx crysos • Fish sheet">
            <a:extLst>
              <a:ext uri="{FF2B5EF4-FFF2-40B4-BE49-F238E27FC236}">
                <a16:creationId xmlns:a16="http://schemas.microsoft.com/office/drawing/2014/main" id="{8F7BCF94-0A75-DD34-FADA-DE64CE3FD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0" b="8614"/>
          <a:stretch/>
        </p:blipFill>
        <p:spPr bwMode="auto">
          <a:xfrm>
            <a:off x="5883193" y="4680000"/>
            <a:ext cx="2080768" cy="117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Yellowfin tuna • Thunnus albacares • Fish sheet">
            <a:extLst>
              <a:ext uri="{FF2B5EF4-FFF2-40B4-BE49-F238E27FC236}">
                <a16:creationId xmlns:a16="http://schemas.microsoft.com/office/drawing/2014/main" id="{5453F8CB-A2A2-0F9F-32CF-D36E2F0E5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936" y="4680000"/>
            <a:ext cx="1752264" cy="116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652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F2814-F045-C08A-F442-A216B1490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2F34E-503B-E33F-CE5E-66E1086FE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5" y="521846"/>
            <a:ext cx="7525865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collection – marine climatic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6DF8-572E-0733-6835-697137F38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400" y="2005012"/>
            <a:ext cx="354647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Historical and future climate data was acquired from Bio-Oracle: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Ocean temperature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Salinity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Dissolved molecular oxygen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Mean and range* values selected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4CAEC30A-213F-B388-4095-AE216C401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FAA766-B1AB-75A3-8B73-0AEB1972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95E010-711D-B03F-7B71-43F074FB4AC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CB60F7-DA53-7489-5B90-A3629E0D4C05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523606-D155-ECDA-1E99-E77162BCA50D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844C51F-9F31-A70F-B577-8009C48BEE2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9DFE930-35AA-5C4E-3080-A7C0FF6F4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087" y="2408903"/>
            <a:ext cx="2913423" cy="17881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0D25ED7-1B01-8021-631C-B85886108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328" y="1648890"/>
            <a:ext cx="3987053" cy="327422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5DF6F82-F558-1276-D264-D02B13F0C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2126" y="5209110"/>
            <a:ext cx="5236768" cy="118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80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lue runner • Caranx crysos • Fish sheet">
            <a:extLst>
              <a:ext uri="{FF2B5EF4-FFF2-40B4-BE49-F238E27FC236}">
                <a16:creationId xmlns:a16="http://schemas.microsoft.com/office/drawing/2014/main" id="{29AFD802-5E6C-0F12-14EE-67DEBF31B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0" b="861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19D566-1356-47BF-B621-68EA7C03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Example: </a:t>
            </a:r>
            <a:r>
              <a:rPr lang="en-US" sz="3600" i="1">
                <a:solidFill>
                  <a:schemeClr val="tx1">
                    <a:lumMod val="85000"/>
                    <a:lumOff val="15000"/>
                  </a:schemeClr>
                </a:solidFill>
              </a:rPr>
              <a:t>Caranx crysos</a:t>
            </a:r>
          </a:p>
        </p:txBody>
      </p:sp>
    </p:spTree>
    <p:extLst>
      <p:ext uri="{BB962C8B-B14F-4D97-AF65-F5344CB8AC3E}">
        <p14:creationId xmlns:p14="http://schemas.microsoft.com/office/powerpoint/2010/main" val="3626862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64AA-FA9F-9C5A-1FED-E9212DB01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F933C-72C2-722F-3094-02CA9390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Empirical modelling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MaxEnt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species distributions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7949C502-27DE-358D-E7E1-7067E2936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F51A13-C2B1-98E1-B972-A60F6DEE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5400E7-0698-3632-6EE4-D8810E494CF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1CFB1E-9C35-C2A7-B72E-E98540C489C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4AC04A-0560-8CE9-194E-8553C36ADD9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5CC94DDB-CFCD-C6A2-BB40-C97F2B4DF351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011947FF-083A-2512-2354-6B3ADC7AF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321" y="2492154"/>
            <a:ext cx="6449156" cy="3219451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32B33A1-CDA9-4258-BE6D-D7A22C869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0138"/>
            <a:ext cx="4221191" cy="4351338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Caranx </a:t>
            </a:r>
            <a:r>
              <a:rPr lang="en-GB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crysos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Most important indicators: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Dissolved molecular oxygen range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Average ocean temperature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0165A-DC6E-7C3E-357A-6B3EB04AC728}"/>
              </a:ext>
            </a:extLst>
          </p:cNvPr>
          <p:cNvSpPr txBox="1"/>
          <p:nvPr/>
        </p:nvSpPr>
        <p:spPr>
          <a:xfrm>
            <a:off x="10289445" y="1886017"/>
            <a:ext cx="2659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.2 = Range</a:t>
            </a:r>
          </a:p>
          <a:p>
            <a:r>
              <a:rPr lang="en-GB" dirty="0"/>
              <a:t>.1 = Mean</a:t>
            </a:r>
          </a:p>
        </p:txBody>
      </p:sp>
    </p:spTree>
    <p:extLst>
      <p:ext uri="{BB962C8B-B14F-4D97-AF65-F5344CB8AC3E}">
        <p14:creationId xmlns:p14="http://schemas.microsoft.com/office/powerpoint/2010/main" val="1594676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4E313-CE94-9B9E-46BB-7171D5D4A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9A4F-1A54-94A0-24BF-F8B53F860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Empirical modelling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MaxEnt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species distributions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0AF35C6E-E2EF-F8E7-8802-E1D31568D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EAB8F-9831-D4AE-A4F1-A5D9D7903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3A79ACE-7E84-EC4D-298B-45043A165DE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C387FA-2DFA-CF75-CA27-C8341B9B3B7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56910F-0E29-97B3-57F1-27680BCF778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D2193D01-69F2-EEB8-B33C-64A49626C12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FB24792-9353-AF55-058F-C04542493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318" y="1718549"/>
            <a:ext cx="4718021" cy="4766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A242E0-EBD9-77DD-CD63-CB0EE6EA2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715" y="1761876"/>
            <a:ext cx="4657752" cy="47010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490B4F-A04B-BCBA-81BA-3E58EC2E0513}"/>
              </a:ext>
            </a:extLst>
          </p:cNvPr>
          <p:cNvSpPr txBox="1"/>
          <p:nvPr/>
        </p:nvSpPr>
        <p:spPr>
          <a:xfrm>
            <a:off x="10221482" y="2262194"/>
            <a:ext cx="1400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Probability of species occurrence</a:t>
            </a:r>
          </a:p>
        </p:txBody>
      </p:sp>
    </p:spTree>
    <p:extLst>
      <p:ext uri="{BB962C8B-B14F-4D97-AF65-F5344CB8AC3E}">
        <p14:creationId xmlns:p14="http://schemas.microsoft.com/office/powerpoint/2010/main" val="1794463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73B47-55C2-D469-44E3-79BC06A37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E38DC8E-7970-BC19-5CAC-F6E21BBF0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02" y="1686121"/>
            <a:ext cx="4953779" cy="27597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958692-DA36-4062-2067-5FD918780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827" y="4204604"/>
            <a:ext cx="4953781" cy="2759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1B2C40-0E43-5CD6-E7E6-B8FC05F03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Empirical modelling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MaxEnt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species distributions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4A2A0A6E-3307-DBA0-3316-E011B614B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5515A-E4ED-BD90-34A9-3A42B23AE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C613EC-F33A-FAB9-B7ED-834A8EB4BAD3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602A39-891C-C9EC-5643-AF295D411C5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7E874C-02F2-35AE-5AFD-01992E69F2C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6E4DF0D9-6AB6-CB86-E3F4-F05A3C44597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5393A94-7724-23BF-C86B-93ACB3A8B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642" y="1974210"/>
            <a:ext cx="4450487" cy="446078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8BF820F-8F30-6529-8802-963EF3E71C48}"/>
              </a:ext>
            </a:extLst>
          </p:cNvPr>
          <p:cNvSpPr/>
          <p:nvPr/>
        </p:nvSpPr>
        <p:spPr>
          <a:xfrm>
            <a:off x="2949959" y="3985977"/>
            <a:ext cx="395416" cy="4077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7EA709-AD56-5B25-ED80-7C7EE20EF424}"/>
              </a:ext>
            </a:extLst>
          </p:cNvPr>
          <p:cNvSpPr txBox="1"/>
          <p:nvPr/>
        </p:nvSpPr>
        <p:spPr>
          <a:xfrm>
            <a:off x="4406419" y="2377188"/>
            <a:ext cx="12096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Shift in probability of species occurrence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E6603B-9313-70C3-F08C-B0778868A150}"/>
              </a:ext>
            </a:extLst>
          </p:cNvPr>
          <p:cNvSpPr txBox="1"/>
          <p:nvPr/>
        </p:nvSpPr>
        <p:spPr>
          <a:xfrm>
            <a:off x="10612678" y="1683284"/>
            <a:ext cx="12096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Shift in probability of species occurrence</a:t>
            </a:r>
          </a:p>
        </p:txBody>
      </p:sp>
    </p:spTree>
    <p:extLst>
      <p:ext uri="{BB962C8B-B14F-4D97-AF65-F5344CB8AC3E}">
        <p14:creationId xmlns:p14="http://schemas.microsoft.com/office/powerpoint/2010/main" val="3191509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517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Georgia</vt:lpstr>
      <vt:lpstr>Office Theme</vt:lpstr>
      <vt:lpstr>Technical workshop for GCF project: Climate change and climate change impacts on São Tomé and Príncipe with a focus on fishery and tourism sectors in a Blue Economy context Sao Tome and Principe, November/December 2025</vt:lpstr>
      <vt:lpstr>Fisheries in Sao Tome and Principe: the challenge</vt:lpstr>
      <vt:lpstr>Species distribution modelling approaches</vt:lpstr>
      <vt:lpstr>Empirical modelling – MaxEnt for species distributions</vt:lpstr>
      <vt:lpstr>Important considerations</vt:lpstr>
      <vt:lpstr>Data collection – Species presence data</vt:lpstr>
      <vt:lpstr>Data collection – marine climatic data</vt:lpstr>
      <vt:lpstr>Example: Caranx crysos</vt:lpstr>
      <vt:lpstr>Empirical modelling – MaxEnt for species distributions</vt:lpstr>
      <vt:lpstr>Empirical modelling – MaxEnt for species distributions</vt:lpstr>
      <vt:lpstr>Empirical modelling – MaxEnt for species distributions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Greenrod, Samuel (OCBD)</cp:lastModifiedBy>
  <cp:revision>1</cp:revision>
  <dcterms:created xsi:type="dcterms:W3CDTF">2025-11-12T15:08:01Z</dcterms:created>
  <dcterms:modified xsi:type="dcterms:W3CDTF">2025-11-12T16:13:19Z</dcterms:modified>
</cp:coreProperties>
</file>