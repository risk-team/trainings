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8" r:id="rId5"/>
    <p:sldId id="261" r:id="rId6"/>
    <p:sldId id="279" r:id="rId7"/>
    <p:sldId id="280" r:id="rId8"/>
    <p:sldId id="281" r:id="rId9"/>
    <p:sldId id="31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  <p188:author id="{B92A83A0-5420-7D65-113B-0531AF5D4A77}" name="Katharpi, Jirlyne (OCBD)" initials="JK" userId="S::Jirlyne.Katharpi@fao.org::c4442e1d-5bb9-41de-8209-ba4679697c4a" providerId="AD"/>
  <p188:author id="{4E006FF0-B7A9-ACA9-7106-93C4C12DE256}" name="Valat, Nadine (OCB)" initials="NV" userId="S::Nadine.Valat@fao.org::0a159672-55d1-4730-a53a-772adc969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1DDD-8229-2C4E-8910-A0E8F8BF9E17}" type="datetimeFigureOut">
              <a:rPr lang="en-IT" smtClean="0"/>
              <a:t>28/11/25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B3D3-B3A3-294A-AD01-6523D7C99E7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104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Riscos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Ambientais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Sociais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atividades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adversos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intencionais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CA5A076-44CE-A721-782C-0EB8A19BF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67768"/>
              </p:ext>
            </p:extLst>
          </p:nvPr>
        </p:nvGraphicFramePr>
        <p:xfrm>
          <a:off x="490848" y="1778226"/>
          <a:ext cx="1121030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768">
                  <a:extLst>
                    <a:ext uri="{9D8B030D-6E8A-4147-A177-3AD203B41FA5}">
                      <a16:colId xmlns:a16="http://schemas.microsoft.com/office/drawing/2014/main" val="2553605599"/>
                    </a:ext>
                  </a:extLst>
                </a:gridCol>
                <a:gridCol w="3736768">
                  <a:extLst>
                    <a:ext uri="{9D8B030D-6E8A-4147-A177-3AD203B41FA5}">
                      <a16:colId xmlns:a16="http://schemas.microsoft.com/office/drawing/2014/main" val="1070062796"/>
                    </a:ext>
                  </a:extLst>
                </a:gridCol>
                <a:gridCol w="3736768">
                  <a:extLst>
                    <a:ext uri="{9D8B030D-6E8A-4147-A177-3AD203B41FA5}">
                      <a16:colId xmlns:a16="http://schemas.microsoft.com/office/drawing/2014/main" val="1557882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Atividade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Principais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riscos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ambientais</a:t>
                      </a:r>
                      <a:r>
                        <a:rPr lang="en-GB" sz="1600" dirty="0"/>
                        <a:t> e </a:t>
                      </a:r>
                      <a:r>
                        <a:rPr lang="en-GB" sz="1600" dirty="0" err="1"/>
                        <a:t>sociais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potenciais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Exemplos de outros países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85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Construção / melhoria de portos de pesca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Perda de manguezais e habitats costeiros; poluição crónica por combustíveis e resíduos; possível exclusão de pescadores artesanais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Gana – expansão de portos de pesca associada à perda de habitats e preocupações de pescadores artesanais.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6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Áreas Marinhas Protegidas / zonas de não-pesca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Perda temporária de acesso a zonas de pesca; deslocação do esforço pesqueiro; conflitos se não forem co-geridas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Madagáscar e Quénia – primeiras AMP impostas de forma centralizada causaram tensões; LMMAs co-geridas reduziram conflitos.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10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Obras de proteção costeira (diques, gabiões, quebra-mares) e dragagem de areia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Erosão a jusante; danos a recifes e pradarias marinhas devido à dragagem e turvação; perda de praias de nidificação de tartarugas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Gana/Benim &amp; Caribe – estruturas rígidas e “reenchimento” de praias agravaram erosão e afetaram recifes.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07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Ecoturismo e regulamentação de mergulho em recifes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Danos localizados aos corais se o uso não for controlado; exclusão de pequenos operadores locais; captura dos benefícios por poucos atores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Tailândia</a:t>
                      </a:r>
                      <a:r>
                        <a:rPr lang="en-GB" sz="1600" dirty="0"/>
                        <a:t> (Maya Bay), Filipinas, Caribe – turismo de </a:t>
                      </a:r>
                      <a:r>
                        <a:rPr lang="en-GB" sz="1600" dirty="0" err="1"/>
                        <a:t>recifes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exigiu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limites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estritos</a:t>
                      </a:r>
                      <a:r>
                        <a:rPr lang="en-GB" sz="1600" dirty="0"/>
                        <a:t> e </a:t>
                      </a:r>
                      <a:r>
                        <a:rPr lang="en-GB" sz="1600" dirty="0" err="1"/>
                        <a:t>licenciamento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justo</a:t>
                      </a:r>
                      <a:r>
                        <a:rPr lang="en-GB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82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E040-30CB-6EAF-EED5-AD3EF8512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3559-DAA6-3E09-218E-2CA5A64D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afetar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AD6E54-FE8C-96A9-483B-14F66E91B13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F4F1FF-CF52-C6FA-F0BF-1DB7863449B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64AEC3-20E8-83AE-3714-9C453D65221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7C0043C-703F-BAC7-4D86-1D0E117BF2E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8C9570D-C831-4ACC-3C4D-A432B5318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07" y="3078163"/>
            <a:ext cx="10097386" cy="277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8DDD3-567E-42C7-1855-9EB668112438}"/>
              </a:ext>
            </a:extLst>
          </p:cNvPr>
          <p:cNvSpPr txBox="1"/>
          <p:nvPr/>
        </p:nvSpPr>
        <p:spPr>
          <a:xfrm>
            <a:off x="4426900" y="2135780"/>
            <a:ext cx="332187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Suspension of project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EBD4-434F-6B04-8FEF-4A950022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9DA1-53A6-8B79-C039-10F0C1FB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afetar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B980D9-DAD7-3870-3EEC-8C8DC6DCB24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55E48F-586D-FCDC-1C70-A0D8C513F7A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6C07FA-825E-0B5F-9D1E-E371705BCCA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27BB9D1-FDD4-0E99-705D-6F2AC2382F5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91616-FB13-A0F3-D351-B46307D3EC8D}"/>
              </a:ext>
            </a:extLst>
          </p:cNvPr>
          <p:cNvGrpSpPr/>
          <p:nvPr/>
        </p:nvGrpSpPr>
        <p:grpSpPr>
          <a:xfrm>
            <a:off x="5740024" y="1480263"/>
            <a:ext cx="6096000" cy="3603806"/>
            <a:chOff x="5500351" y="1873820"/>
            <a:chExt cx="6455682" cy="3921959"/>
          </a:xfrm>
        </p:grpSpPr>
        <p:pic>
          <p:nvPicPr>
            <p:cNvPr id="14" name="Picture 13" descr="A screenshot of a newspaper&#10;&#10;AI-generated content may be incorrect.">
              <a:extLst>
                <a:ext uri="{FF2B5EF4-FFF2-40B4-BE49-F238E27FC236}">
                  <a16:creationId xmlns:a16="http://schemas.microsoft.com/office/drawing/2014/main" id="{4BBDB809-556D-856E-4D66-ED5B6F989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5794" y="1873820"/>
              <a:ext cx="4940239" cy="392195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>
                  <a:shade val="15000"/>
                </a:schemeClr>
              </a:solidFill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4FB1B8-4230-68C4-18A6-41B2AECC6F5E}"/>
                </a:ext>
              </a:extLst>
            </p:cNvPr>
            <p:cNvSpPr txBox="1"/>
            <p:nvPr/>
          </p:nvSpPr>
          <p:spPr>
            <a:xfrm>
              <a:off x="5500351" y="3285358"/>
              <a:ext cx="1588546" cy="4019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AEFF43-46E7-6A78-EA43-EC989F56AAC1}"/>
              </a:ext>
            </a:extLst>
          </p:cNvPr>
          <p:cNvGrpSpPr/>
          <p:nvPr/>
        </p:nvGrpSpPr>
        <p:grpSpPr>
          <a:xfrm>
            <a:off x="6369325" y="3995730"/>
            <a:ext cx="6268406" cy="2743316"/>
            <a:chOff x="5645410" y="3629722"/>
            <a:chExt cx="6813538" cy="28901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E3C468-5836-8793-443F-9FC5064A6CDB}"/>
                </a:ext>
              </a:extLst>
            </p:cNvPr>
            <p:cNvSpPr txBox="1"/>
            <p:nvPr/>
          </p:nvSpPr>
          <p:spPr>
            <a:xfrm>
              <a:off x="10495333" y="6140143"/>
              <a:ext cx="196361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Aug 2019</a:t>
              </a:r>
            </a:p>
          </p:txBody>
        </p:sp>
        <p:pic>
          <p:nvPicPr>
            <p:cNvPr id="18" name="Picture 17" descr="A screenshot of a newspaper&#10;&#10;AI-generated content may be incorrect.">
              <a:extLst>
                <a:ext uri="{FF2B5EF4-FFF2-40B4-BE49-F238E27FC236}">
                  <a16:creationId xmlns:a16="http://schemas.microsoft.com/office/drawing/2014/main" id="{CC0CAE1B-D370-8CAC-2111-0DA8A1DFD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6755" b="-251"/>
            <a:stretch>
              <a:fillRect/>
            </a:stretch>
          </p:blipFill>
          <p:spPr>
            <a:xfrm>
              <a:off x="5645410" y="3629722"/>
              <a:ext cx="5218281" cy="2890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634573-40AC-12EE-000D-2D73765DBF65}"/>
              </a:ext>
            </a:extLst>
          </p:cNvPr>
          <p:cNvSpPr txBox="1"/>
          <p:nvPr/>
        </p:nvSpPr>
        <p:spPr>
          <a:xfrm>
            <a:off x="520790" y="2069410"/>
            <a:ext cx="5567045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Complaints led to public campaigns that paused project and revised project activities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752DC30-FDAB-6417-1EE0-E147F708B167}"/>
              </a:ext>
            </a:extLst>
          </p:cNvPr>
          <p:cNvSpPr txBox="1">
            <a:spLocks/>
          </p:cNvSpPr>
          <p:nvPr/>
        </p:nvSpPr>
        <p:spPr>
          <a:xfrm>
            <a:off x="323184" y="3146628"/>
            <a:ext cx="5947327" cy="37965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1219167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6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0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3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28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2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95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79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62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Ridge to Reef, Myanmar (GEF funded)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Focused on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onservation  and sustainable use of the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marine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, coastal and  terrestrial resources.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It will demonstrate community  based natural resource management, participatory conservation area management and integrated  land use planning and management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in line with a ridge to reef approach that connects terrestrial, coastal and marine resource management.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21M USD; signed in Dec 2017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Complaint received in Sept 2018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5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06A4-8D71-3CC7-FA69-7964C841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2A25-DE2A-9088-1A6C-F2458001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Reclamações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(GRM)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3B98EE-730E-3CA2-1C82-4CA5F3D17A1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3DDA68-3BE1-EEF7-047F-FDA22D9F2D0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9A1BA-5305-CE9C-96F7-5C4CED154A0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8941FF3-7025-2872-0BAB-ACEEEF2A197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5">
            <a:extLst>
              <a:ext uri="{FF2B5EF4-FFF2-40B4-BE49-F238E27FC236}">
                <a16:creationId xmlns:a16="http://schemas.microsoft.com/office/drawing/2014/main" id="{1BBDC46E-C453-B437-EF70-E034F3280B2C}"/>
              </a:ext>
            </a:extLst>
          </p:cNvPr>
          <p:cNvSpPr txBox="1"/>
          <p:nvPr/>
        </p:nvSpPr>
        <p:spPr>
          <a:xfrm>
            <a:off x="493767" y="2187341"/>
            <a:ext cx="10475908" cy="161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/>
              <a:t>Um </a:t>
            </a:r>
            <a:r>
              <a:rPr lang="en-GB" b="1" dirty="0" err="1"/>
              <a:t>Mecanismo</a:t>
            </a:r>
            <a:r>
              <a:rPr lang="en-GB" b="1" dirty="0"/>
              <a:t> de </a:t>
            </a:r>
            <a:r>
              <a:rPr lang="en-GB" b="1" dirty="0" err="1"/>
              <a:t>Reclamações</a:t>
            </a:r>
            <a:r>
              <a:rPr lang="en-GB" b="1" dirty="0"/>
              <a:t> (GRM)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as partes </a:t>
            </a:r>
            <a:r>
              <a:rPr lang="en-GB" dirty="0" err="1"/>
              <a:t>interessadas</a:t>
            </a:r>
            <a:r>
              <a:rPr lang="en-GB" dirty="0"/>
              <a:t> do </a:t>
            </a:r>
            <a:r>
              <a:rPr lang="en-GB" dirty="0" err="1"/>
              <a:t>projeto</a:t>
            </a:r>
            <a:r>
              <a:rPr lang="en-GB" dirty="0"/>
              <a:t> </a:t>
            </a:r>
            <a:r>
              <a:rPr lang="en-GB" dirty="0" err="1"/>
              <a:t>expressem</a:t>
            </a:r>
            <a:r>
              <a:rPr lang="en-GB" dirty="0"/>
              <a:t> </a:t>
            </a:r>
            <a:r>
              <a:rPr lang="en-GB" dirty="0" err="1"/>
              <a:t>preocupações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queixas</a:t>
            </a:r>
            <a:r>
              <a:rPr lang="en-GB" dirty="0"/>
              <a:t> e </a:t>
            </a:r>
            <a:r>
              <a:rPr lang="en-GB" dirty="0" err="1"/>
              <a:t>identifiquem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solução</a:t>
            </a:r>
            <a:r>
              <a:rPr lang="en-GB" dirty="0"/>
              <a:t> </a:t>
            </a:r>
            <a:r>
              <a:rPr lang="en-GB" dirty="0" err="1"/>
              <a:t>aceitável</a:t>
            </a:r>
            <a:r>
              <a:rPr lang="en-GB" dirty="0"/>
              <a:t> para </a:t>
            </a:r>
            <a:r>
              <a:rPr lang="en-GB" dirty="0" err="1"/>
              <a:t>todas</a:t>
            </a:r>
            <a:r>
              <a:rPr lang="en-GB" dirty="0"/>
              <a:t> as partes </a:t>
            </a:r>
            <a:r>
              <a:rPr lang="en-GB" dirty="0" err="1"/>
              <a:t>dentro</a:t>
            </a:r>
            <a:r>
              <a:rPr lang="en-GB" dirty="0"/>
              <a:t> de um </a:t>
            </a:r>
            <a:r>
              <a:rPr lang="en-GB" dirty="0" err="1"/>
              <a:t>prazo</a:t>
            </a:r>
            <a:r>
              <a:rPr lang="en-GB" dirty="0"/>
              <a:t> </a:t>
            </a:r>
            <a:r>
              <a:rPr lang="en-GB" dirty="0" err="1"/>
              <a:t>razoável</a:t>
            </a:r>
            <a:r>
              <a:rPr lang="en-GB" dirty="0"/>
              <a:t>. O </a:t>
            </a:r>
            <a:r>
              <a:rPr lang="en-GB" dirty="0" err="1"/>
              <a:t>processo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incluir</a:t>
            </a:r>
            <a:r>
              <a:rPr lang="en-GB" dirty="0"/>
              <a:t> </a:t>
            </a:r>
            <a:r>
              <a:rPr lang="en-GB" dirty="0" err="1"/>
              <a:t>diálogo</a:t>
            </a:r>
            <a:r>
              <a:rPr lang="en-GB" dirty="0"/>
              <a:t>, </a:t>
            </a:r>
            <a:r>
              <a:rPr lang="en-GB" dirty="0" err="1"/>
              <a:t>verificação</a:t>
            </a:r>
            <a:r>
              <a:rPr lang="en-GB" dirty="0"/>
              <a:t> </a:t>
            </a:r>
            <a:r>
              <a:rPr lang="en-GB" dirty="0" err="1"/>
              <a:t>conjunta</a:t>
            </a:r>
            <a:r>
              <a:rPr lang="en-GB" dirty="0"/>
              <a:t> de </a:t>
            </a:r>
            <a:r>
              <a:rPr lang="en-GB" dirty="0" err="1"/>
              <a:t>fatos</a:t>
            </a:r>
            <a:r>
              <a:rPr lang="en-GB" dirty="0"/>
              <a:t>, </a:t>
            </a:r>
            <a:r>
              <a:rPr lang="en-GB" dirty="0" err="1"/>
              <a:t>negociação</a:t>
            </a:r>
            <a:r>
              <a:rPr lang="en-GB" dirty="0"/>
              <a:t> e </a:t>
            </a:r>
            <a:r>
              <a:rPr lang="en-GB" dirty="0" err="1"/>
              <a:t>resolução</a:t>
            </a:r>
            <a:r>
              <a:rPr lang="en-GB" dirty="0"/>
              <a:t> de </a:t>
            </a:r>
            <a:r>
              <a:rPr lang="en-GB" dirty="0" err="1"/>
              <a:t>problemas</a:t>
            </a:r>
            <a:r>
              <a:rPr lang="en-GB" dirty="0"/>
              <a:t>.</a:t>
            </a:r>
            <a:endParaRPr sz="1800"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328BA013-34DB-A120-86E5-FA15305B5183}"/>
              </a:ext>
            </a:extLst>
          </p:cNvPr>
          <p:cNvSpPr txBox="1"/>
          <p:nvPr/>
        </p:nvSpPr>
        <p:spPr>
          <a:xfrm>
            <a:off x="493767" y="4159460"/>
            <a:ext cx="8875864" cy="788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003A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spc="1260" dirty="0">
                <a:solidFill>
                  <a:srgbClr val="003A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/>
              <a:t>O GRM </a:t>
            </a:r>
            <a:r>
              <a:rPr lang="en-GB" dirty="0" err="1"/>
              <a:t>garante</a:t>
            </a:r>
            <a:r>
              <a:rPr lang="en-GB" dirty="0"/>
              <a:t> </a:t>
            </a:r>
            <a:r>
              <a:rPr lang="en-GB" dirty="0" err="1"/>
              <a:t>transparência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o </a:t>
            </a:r>
            <a:r>
              <a:rPr lang="en-GB" dirty="0" err="1"/>
              <a:t>procedimento</a:t>
            </a:r>
            <a:r>
              <a:rPr lang="en-GB" dirty="0"/>
              <a:t> de </a:t>
            </a:r>
            <a:r>
              <a:rPr lang="en-GB" dirty="0" err="1"/>
              <a:t>reclamações</a:t>
            </a:r>
            <a:r>
              <a:rPr lang="en-GB" dirty="0"/>
              <a:t>, a </a:t>
            </a:r>
            <a:r>
              <a:rPr lang="en-GB" dirty="0" err="1"/>
              <a:t>estrutura</a:t>
            </a:r>
            <a:r>
              <a:rPr lang="en-GB" dirty="0"/>
              <a:t> de </a:t>
            </a:r>
            <a:r>
              <a:rPr lang="en-GB" dirty="0" err="1"/>
              <a:t>governação</a:t>
            </a:r>
            <a:r>
              <a:rPr lang="en-GB" dirty="0"/>
              <a:t> e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responsáveis</a:t>
            </a:r>
            <a:r>
              <a:rPr lang="en-GB" dirty="0"/>
              <a:t> pela </a:t>
            </a:r>
            <a:r>
              <a:rPr lang="en-GB" dirty="0" err="1"/>
              <a:t>tomada</a:t>
            </a:r>
            <a:r>
              <a:rPr lang="en-GB" dirty="0"/>
              <a:t> de </a:t>
            </a:r>
            <a:r>
              <a:rPr lang="en-GB" dirty="0" err="1"/>
              <a:t>decisões</a:t>
            </a:r>
            <a:r>
              <a:rPr lang="en-GB" dirty="0"/>
              <a:t>.</a:t>
            </a:r>
            <a:endParaRPr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B6546B52-B076-8F30-1DAB-C5677065D5EC}"/>
              </a:ext>
            </a:extLst>
          </p:cNvPr>
          <p:cNvSpPr txBox="1"/>
          <p:nvPr/>
        </p:nvSpPr>
        <p:spPr>
          <a:xfrm>
            <a:off x="540800" y="5300582"/>
            <a:ext cx="10381841" cy="788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spc="12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Todas</a:t>
            </a:r>
            <a:r>
              <a:rPr lang="en-GB" dirty="0">
                <a:solidFill>
                  <a:srgbClr val="FF0000"/>
                </a:solidFill>
              </a:rPr>
              <a:t> as </a:t>
            </a:r>
            <a:r>
              <a:rPr lang="en-GB" dirty="0" err="1">
                <a:solidFill>
                  <a:srgbClr val="FF0000"/>
                </a:solidFill>
              </a:rPr>
              <a:t>representações</a:t>
            </a:r>
            <a:r>
              <a:rPr lang="en-GB" dirty="0">
                <a:solidFill>
                  <a:srgbClr val="FF0000"/>
                </a:solidFill>
              </a:rPr>
              <a:t> da FAO </a:t>
            </a:r>
            <a:r>
              <a:rPr lang="en-GB" dirty="0" err="1"/>
              <a:t>devem</a:t>
            </a:r>
            <a:r>
              <a:rPr lang="en-GB" dirty="0"/>
              <a:t> </a:t>
            </a:r>
            <a:r>
              <a:rPr lang="en-GB" dirty="0" err="1"/>
              <a:t>estabelecer</a:t>
            </a:r>
            <a:r>
              <a:rPr lang="en-GB" dirty="0"/>
              <a:t> </a:t>
            </a:r>
            <a:r>
              <a:rPr lang="en-GB" dirty="0" err="1"/>
              <a:t>canais</a:t>
            </a:r>
            <a:r>
              <a:rPr lang="en-GB" dirty="0"/>
              <a:t> </a:t>
            </a:r>
            <a:r>
              <a:rPr lang="en-GB" dirty="0" err="1"/>
              <a:t>dedicados</a:t>
            </a:r>
            <a:r>
              <a:rPr lang="en-GB" dirty="0"/>
              <a:t> para </a:t>
            </a:r>
            <a:r>
              <a:rPr lang="en-GB" dirty="0" err="1"/>
              <a:t>receber</a:t>
            </a:r>
            <a:r>
              <a:rPr lang="en-GB" dirty="0"/>
              <a:t> </a:t>
            </a:r>
            <a:r>
              <a:rPr lang="en-GB" dirty="0" err="1"/>
              <a:t>reclamações</a:t>
            </a:r>
            <a:r>
              <a:rPr lang="en-GB" dirty="0"/>
              <a:t> (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telefone</a:t>
            </a:r>
            <a:r>
              <a:rPr lang="en-GB" dirty="0"/>
              <a:t>, </a:t>
            </a:r>
            <a:r>
              <a:rPr lang="en-GB" dirty="0" err="1"/>
              <a:t>linha</a:t>
            </a:r>
            <a:r>
              <a:rPr lang="en-GB" dirty="0"/>
              <a:t> </a:t>
            </a:r>
            <a:r>
              <a:rPr lang="en-GB" dirty="0" err="1"/>
              <a:t>direta</a:t>
            </a:r>
            <a:r>
              <a:rPr lang="en-GB" dirty="0"/>
              <a:t>, e-mail, </a:t>
            </a:r>
            <a:r>
              <a:rPr lang="en-GB" dirty="0" err="1"/>
              <a:t>endereço</a:t>
            </a:r>
            <a:r>
              <a:rPr lang="en-GB" dirty="0"/>
              <a:t> </a:t>
            </a:r>
            <a:r>
              <a:rPr lang="en-GB" dirty="0" err="1"/>
              <a:t>físico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caixa</a:t>
            </a:r>
            <a:r>
              <a:rPr lang="en-GB" dirty="0"/>
              <a:t> de </a:t>
            </a:r>
            <a:r>
              <a:rPr lang="en-GB" dirty="0" err="1"/>
              <a:t>sugestões</a:t>
            </a:r>
            <a:r>
              <a:rPr lang="en-GB" dirty="0"/>
              <a:t>, WhatsApp).</a:t>
            </a:r>
            <a:endParaRPr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2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529609" y="3626097"/>
            <a:ext cx="32764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>
                <a:ln/>
                <a:solidFill>
                  <a:schemeClr val="accent4"/>
                </a:solidFill>
                <a:effectLst/>
              </a:rPr>
              <a:t>Obrigado!</a:t>
            </a:r>
            <a:endParaRPr lang="en-GB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Props1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542</Words>
  <Application>Microsoft Macintosh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As atividades do projeto podem gerar impactos ambientais e sociais adversos não intencionais</vt:lpstr>
      <vt:lpstr>Como os riscos ambientais e sociais podem afetar a implementação?</vt:lpstr>
      <vt:lpstr>Como os riscos ambientais e sociais podem afetar a implementação?</vt:lpstr>
      <vt:lpstr>O que é um Mecanismo de Reclamações (GRM) e por que é importante?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37</cp:revision>
  <dcterms:created xsi:type="dcterms:W3CDTF">2025-11-12T15:08:01Z</dcterms:created>
  <dcterms:modified xsi:type="dcterms:W3CDTF">2025-11-28T07:41:08Z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