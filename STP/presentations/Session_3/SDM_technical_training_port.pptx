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8" r:id="rId2"/>
    <p:sldId id="261" r:id="rId3"/>
    <p:sldId id="262" r:id="rId4"/>
    <p:sldId id="271" r:id="rId5"/>
    <p:sldId id="280" r:id="rId6"/>
    <p:sldId id="264" r:id="rId7"/>
    <p:sldId id="265" r:id="rId8"/>
    <p:sldId id="272" r:id="rId9"/>
    <p:sldId id="274" r:id="rId10"/>
    <p:sldId id="275" r:id="rId11"/>
    <p:sldId id="276" r:id="rId12"/>
    <p:sldId id="28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58D5D99-21CF-B08C-94E1-10539A96C80D}" name="Samuel Greenrod" initials="SG" userId="f4bf26eb60ababa0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AC85C4-81FD-49AE-91FE-0C2AEA104107}" v="2" dt="2025-11-28T09:16:38.80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8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reenrod, Samuel (OCBD)" userId="2206092a-8a12-487a-a963-cafe9a401430" providerId="ADAL" clId="{20C3C022-8956-41D8-B9EF-F034660AD755}"/>
    <pc:docChg chg="undo custSel modSld">
      <pc:chgData name="Greenrod, Samuel (OCBD)" userId="2206092a-8a12-487a-a963-cafe9a401430" providerId="ADAL" clId="{20C3C022-8956-41D8-B9EF-F034660AD755}" dt="2025-11-28T09:16:35.489" v="15" actId="122"/>
      <pc:docMkLst>
        <pc:docMk/>
      </pc:docMkLst>
      <pc:sldChg chg="delSp modSp mod">
        <pc:chgData name="Greenrod, Samuel (OCBD)" userId="2206092a-8a12-487a-a963-cafe9a401430" providerId="ADAL" clId="{20C3C022-8956-41D8-B9EF-F034660AD755}" dt="2025-11-27T17:06:17.299" v="14" actId="1076"/>
        <pc:sldMkLst>
          <pc:docMk/>
          <pc:sldMk cId="147372020" sldId="262"/>
        </pc:sldMkLst>
        <pc:spChg chg="mod">
          <ac:chgData name="Greenrod, Samuel (OCBD)" userId="2206092a-8a12-487a-a963-cafe9a401430" providerId="ADAL" clId="{20C3C022-8956-41D8-B9EF-F034660AD755}" dt="2025-11-27T17:06:17.299" v="14" actId="1076"/>
          <ac:spMkLst>
            <pc:docMk/>
            <pc:sldMk cId="147372020" sldId="262"/>
            <ac:spMk id="5" creationId="{EAE09670-A785-821A-65D0-C1B5F9BCCF82}"/>
          </ac:spMkLst>
        </pc:spChg>
        <pc:picChg chg="del">
          <ac:chgData name="Greenrod, Samuel (OCBD)" userId="2206092a-8a12-487a-a963-cafe9a401430" providerId="ADAL" clId="{20C3C022-8956-41D8-B9EF-F034660AD755}" dt="2025-11-27T17:06:15.120" v="13" actId="478"/>
          <ac:picMkLst>
            <pc:docMk/>
            <pc:sldMk cId="147372020" sldId="262"/>
            <ac:picMk id="4" creationId="{E3CC1D01-A494-499B-497F-CBF312F00B7D}"/>
          </ac:picMkLst>
        </pc:picChg>
      </pc:sldChg>
      <pc:sldChg chg="delSp modSp mod">
        <pc:chgData name="Greenrod, Samuel (OCBD)" userId="2206092a-8a12-487a-a963-cafe9a401430" providerId="ADAL" clId="{20C3C022-8956-41D8-B9EF-F034660AD755}" dt="2025-11-27T17:06:09.109" v="11" actId="1076"/>
        <pc:sldMkLst>
          <pc:docMk/>
          <pc:sldMk cId="949652993" sldId="264"/>
        </pc:sldMkLst>
        <pc:spChg chg="mod">
          <ac:chgData name="Greenrod, Samuel (OCBD)" userId="2206092a-8a12-487a-a963-cafe9a401430" providerId="ADAL" clId="{20C3C022-8956-41D8-B9EF-F034660AD755}" dt="2025-11-27T17:06:09.109" v="11" actId="1076"/>
          <ac:spMkLst>
            <pc:docMk/>
            <pc:sldMk cId="949652993" sldId="264"/>
            <ac:spMk id="5" creationId="{148151A6-600D-C1C9-ACEC-648FD983776B}"/>
          </ac:spMkLst>
        </pc:spChg>
        <pc:picChg chg="del">
          <ac:chgData name="Greenrod, Samuel (OCBD)" userId="2206092a-8a12-487a-a963-cafe9a401430" providerId="ADAL" clId="{20C3C022-8956-41D8-B9EF-F034660AD755}" dt="2025-11-27T17:06:07.083" v="10" actId="478"/>
          <ac:picMkLst>
            <pc:docMk/>
            <pc:sldMk cId="949652993" sldId="264"/>
            <ac:picMk id="4" creationId="{8EF5A01E-ADED-4189-9CE3-B2C3FB690FC2}"/>
          </ac:picMkLst>
        </pc:picChg>
      </pc:sldChg>
      <pc:sldChg chg="delSp modSp mod">
        <pc:chgData name="Greenrod, Samuel (OCBD)" userId="2206092a-8a12-487a-a963-cafe9a401430" providerId="ADAL" clId="{20C3C022-8956-41D8-B9EF-F034660AD755}" dt="2025-11-27T17:06:05.326" v="9" actId="1076"/>
        <pc:sldMkLst>
          <pc:docMk/>
          <pc:sldMk cId="1624480387" sldId="265"/>
        </pc:sldMkLst>
        <pc:spChg chg="mod">
          <ac:chgData name="Greenrod, Samuel (OCBD)" userId="2206092a-8a12-487a-a963-cafe9a401430" providerId="ADAL" clId="{20C3C022-8956-41D8-B9EF-F034660AD755}" dt="2025-11-27T17:06:05.326" v="9" actId="1076"/>
          <ac:spMkLst>
            <pc:docMk/>
            <pc:sldMk cId="1624480387" sldId="265"/>
            <ac:spMk id="5" creationId="{E1FAA766-B1AB-75A3-8B73-0AEB19725AB2}"/>
          </ac:spMkLst>
        </pc:spChg>
        <pc:picChg chg="del">
          <ac:chgData name="Greenrod, Samuel (OCBD)" userId="2206092a-8a12-487a-a963-cafe9a401430" providerId="ADAL" clId="{20C3C022-8956-41D8-B9EF-F034660AD755}" dt="2025-11-27T17:06:04.026" v="8" actId="478"/>
          <ac:picMkLst>
            <pc:docMk/>
            <pc:sldMk cId="1624480387" sldId="265"/>
            <ac:picMk id="4" creationId="{4CAEC30A-213F-B388-4095-AE216C401208}"/>
          </ac:picMkLst>
        </pc:picChg>
      </pc:sldChg>
      <pc:sldChg chg="delSp modSp mod">
        <pc:chgData name="Greenrod, Samuel (OCBD)" userId="2206092a-8a12-487a-a963-cafe9a401430" providerId="ADAL" clId="{20C3C022-8956-41D8-B9EF-F034660AD755}" dt="2025-11-27T17:06:00.543" v="7" actId="1076"/>
        <pc:sldMkLst>
          <pc:docMk/>
          <pc:sldMk cId="1594676965" sldId="274"/>
        </pc:sldMkLst>
        <pc:spChg chg="mod">
          <ac:chgData name="Greenrod, Samuel (OCBD)" userId="2206092a-8a12-487a-a963-cafe9a401430" providerId="ADAL" clId="{20C3C022-8956-41D8-B9EF-F034660AD755}" dt="2025-11-27T17:06:00.543" v="7" actId="1076"/>
          <ac:spMkLst>
            <pc:docMk/>
            <pc:sldMk cId="1594676965" sldId="274"/>
            <ac:spMk id="5" creationId="{96F51A13-C2B1-98E1-B972-A60F6DEEBDAA}"/>
          </ac:spMkLst>
        </pc:spChg>
        <pc:picChg chg="del">
          <ac:chgData name="Greenrod, Samuel (OCBD)" userId="2206092a-8a12-487a-a963-cafe9a401430" providerId="ADAL" clId="{20C3C022-8956-41D8-B9EF-F034660AD755}" dt="2025-11-27T17:05:58.226" v="6" actId="478"/>
          <ac:picMkLst>
            <pc:docMk/>
            <pc:sldMk cId="1594676965" sldId="274"/>
            <ac:picMk id="4" creationId="{7949C502-27DE-358D-E7E1-7067E2936D0E}"/>
          </ac:picMkLst>
        </pc:picChg>
      </pc:sldChg>
      <pc:sldChg chg="delSp modSp mod">
        <pc:chgData name="Greenrod, Samuel (OCBD)" userId="2206092a-8a12-487a-a963-cafe9a401430" providerId="ADAL" clId="{20C3C022-8956-41D8-B9EF-F034660AD755}" dt="2025-11-27T17:05:56.574" v="5" actId="1076"/>
        <pc:sldMkLst>
          <pc:docMk/>
          <pc:sldMk cId="1794463847" sldId="275"/>
        </pc:sldMkLst>
        <pc:spChg chg="mod">
          <ac:chgData name="Greenrod, Samuel (OCBD)" userId="2206092a-8a12-487a-a963-cafe9a401430" providerId="ADAL" clId="{20C3C022-8956-41D8-B9EF-F034660AD755}" dt="2025-11-27T17:05:56.574" v="5" actId="1076"/>
          <ac:spMkLst>
            <pc:docMk/>
            <pc:sldMk cId="1794463847" sldId="275"/>
            <ac:spMk id="5" creationId="{BEBEAB8F-9831-D4AE-A4F1-A5D9D79033AD}"/>
          </ac:spMkLst>
        </pc:spChg>
        <pc:picChg chg="del">
          <ac:chgData name="Greenrod, Samuel (OCBD)" userId="2206092a-8a12-487a-a963-cafe9a401430" providerId="ADAL" clId="{20C3C022-8956-41D8-B9EF-F034660AD755}" dt="2025-11-27T17:05:55.076" v="4" actId="478"/>
          <ac:picMkLst>
            <pc:docMk/>
            <pc:sldMk cId="1794463847" sldId="275"/>
            <ac:picMk id="4" creationId="{0AF35C6E-E2EF-F8E7-8802-E1D31568D66C}"/>
          </ac:picMkLst>
        </pc:picChg>
      </pc:sldChg>
      <pc:sldChg chg="delSp modSp mod">
        <pc:chgData name="Greenrod, Samuel (OCBD)" userId="2206092a-8a12-487a-a963-cafe9a401430" providerId="ADAL" clId="{20C3C022-8956-41D8-B9EF-F034660AD755}" dt="2025-11-28T09:16:35.489" v="15" actId="122"/>
        <pc:sldMkLst>
          <pc:docMk/>
          <pc:sldMk cId="3191509225" sldId="276"/>
        </pc:sldMkLst>
        <pc:spChg chg="mod">
          <ac:chgData name="Greenrod, Samuel (OCBD)" userId="2206092a-8a12-487a-a963-cafe9a401430" providerId="ADAL" clId="{20C3C022-8956-41D8-B9EF-F034660AD755}" dt="2025-11-28T09:16:35.489" v="15" actId="122"/>
          <ac:spMkLst>
            <pc:docMk/>
            <pc:sldMk cId="3191509225" sldId="276"/>
            <ac:spMk id="2" creationId="{3A1B2C40-0E43-5CD6-E7E6-B8FC05F039D9}"/>
          </ac:spMkLst>
        </pc:spChg>
        <pc:spChg chg="mod">
          <ac:chgData name="Greenrod, Samuel (OCBD)" userId="2206092a-8a12-487a-a963-cafe9a401430" providerId="ADAL" clId="{20C3C022-8956-41D8-B9EF-F034660AD755}" dt="2025-11-27T17:05:52.992" v="3" actId="1076"/>
          <ac:spMkLst>
            <pc:docMk/>
            <pc:sldMk cId="3191509225" sldId="276"/>
            <ac:spMk id="5" creationId="{3BD5515A-E4ED-BD90-34A9-3A42B23AE256}"/>
          </ac:spMkLst>
        </pc:spChg>
        <pc:picChg chg="del">
          <ac:chgData name="Greenrod, Samuel (OCBD)" userId="2206092a-8a12-487a-a963-cafe9a401430" providerId="ADAL" clId="{20C3C022-8956-41D8-B9EF-F034660AD755}" dt="2025-11-27T17:05:48.192" v="0" actId="478"/>
          <ac:picMkLst>
            <pc:docMk/>
            <pc:sldMk cId="3191509225" sldId="276"/>
            <ac:picMk id="4" creationId="{4A2A0A6E-3307-DBA0-3316-E011B614BBA1}"/>
          </ac:picMkLst>
        </pc:picChg>
        <pc:picChg chg="mod">
          <ac:chgData name="Greenrod, Samuel (OCBD)" userId="2206092a-8a12-487a-a963-cafe9a401430" providerId="ADAL" clId="{20C3C022-8956-41D8-B9EF-F034660AD755}" dt="2025-11-27T17:05:50.480" v="2" actId="1076"/>
          <ac:picMkLst>
            <pc:docMk/>
            <pc:sldMk cId="3191509225" sldId="276"/>
            <ac:picMk id="15" creationId="{38958692-DA36-4062-2067-5FD9187802F6}"/>
          </ac:picMkLst>
        </pc:picChg>
      </pc:sldChg>
      <pc:sldChg chg="modSp mod">
        <pc:chgData name="Greenrod, Samuel (OCBD)" userId="2206092a-8a12-487a-a963-cafe9a401430" providerId="ADAL" clId="{20C3C022-8956-41D8-B9EF-F034660AD755}" dt="2025-11-27T17:06:12.213" v="12" actId="1076"/>
        <pc:sldMkLst>
          <pc:docMk/>
          <pc:sldMk cId="572669901" sldId="280"/>
        </pc:sldMkLst>
        <pc:spChg chg="mod">
          <ac:chgData name="Greenrod, Samuel (OCBD)" userId="2206092a-8a12-487a-a963-cafe9a401430" providerId="ADAL" clId="{20C3C022-8956-41D8-B9EF-F034660AD755}" dt="2025-11-27T17:06:12.213" v="12" actId="1076"/>
          <ac:spMkLst>
            <pc:docMk/>
            <pc:sldMk cId="572669901" sldId="280"/>
            <ac:spMk id="5" creationId="{7B5FA364-0DE9-12F2-BE92-3A5F5E4C8FA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902E7-A716-093E-1362-7E685B34D4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93B841-8EE8-DCBC-2BAE-B1BF7602C89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C693-220B-B7B6-F273-9E8D88B86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EFA331-FF6B-E678-85E6-FA98BFF103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291788-18EC-C0F1-421D-E58F375C3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3116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3D914C-2843-B9AD-AC46-8BE4D43569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207C89-5D55-D97F-1B0F-874F7957A3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8F25AA-4827-21EE-6457-0D8A1E2794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A3C8B3-BFB7-B7B7-401A-DDE6A010E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313345C-1881-0252-ED6F-932F016579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8168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0864E0-F887-C31C-EDEF-579D66A3B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424415-DF7E-52B8-145E-786748D81B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3C852-2345-F521-177D-4E5B893FCC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22B64E-F91B-6635-C807-E852F82D42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15CAA-E194-3CD1-B25D-967407BF2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41936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15E79-11E6-91DA-C1DF-43EE6E2C86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9403DD-2C16-8613-848C-729DFEAAF8E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A4534D-6506-01C1-835C-A2A80BA208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068A7E-5959-EF74-4AE3-4C6598E18F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49150A-5F84-8DA5-F9D7-271F272A5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4E8E90A-6E5D-37FA-5043-B6C8C6992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9909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84F9A9-40C4-1957-20AC-E2581FC5B4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21D9B0-C6B0-FF15-4F4A-1DF24A7341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E3EC60-5D65-13EB-9B87-BF64988D8E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5016FE-5560-05A2-0A09-557D143F328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64BD99A-6DAE-04A0-D8FE-6469EBAD3E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5B7807F-E675-8070-B291-0A7766639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B2935-82F4-5EC2-F131-22AF563662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06C4B4F-8FF7-6EF4-B3B3-97E030623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67565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A14752-E894-E28F-CC83-669C0C98E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EF1A0F-BAEE-193B-5104-D689D6001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72CC38-EE6B-3312-D9DE-2250B873E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3E9EBF-D944-C8F9-494F-0C0806F2E6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67717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4B7050D-7431-6E75-ABFE-4904280C9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2B6110-B850-CD4C-D9A2-04E486B74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404830-154D-725F-C08C-90848CBEE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9887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E49D0-2387-A63D-B1EB-1BBC9DD07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F2C4B2-AD0C-5FD7-E9D0-3BD735028A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2B124-0D1F-E6BB-FE9A-27008B0E19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0F39A0-D2C4-810D-5040-DB77176E1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C6447C-D477-B9DD-EE25-969620FCFF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89CDE6-DDB1-B3DF-3BCF-E1EC5D515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869245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EE8146-53AD-B0B0-25E0-D41028B56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E143BD9-A1EC-BBF8-5CA0-27C292981F1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63376DA-0DA9-DFA7-29A1-A419855517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8036A-EA62-8F43-229C-6ED5D9834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00B40C-1B62-4385-EE1A-160F6548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D04422-6B0A-10B8-3E85-A0802CE7B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448479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6711CF-0431-B737-6A3C-1BD952799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806C612-0010-B526-C894-8CE6494EE7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1E29F3-C586-D1F0-64FB-8140E0B67B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0C656-9408-1B7B-A7F2-88EF768D3D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895FBF-191E-7C84-1861-41F1AF54A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9632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69C1F22-C032-7740-E855-6710D61644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425B6A-B82A-FACB-1442-1AF6B13F0C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4CB769-4CFA-EC12-C2AF-7BD7D6E22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F7E55E-D6FC-DB93-3863-32D5DBC12F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B7CCFB-D6DD-C1F2-BFB1-84BECB7411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23627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4F7785-40BA-DF1C-3523-7CCE340EE5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092171-54C5-E92A-D2A9-070C218267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C93DE5-AB22-1D9D-2C5C-C2796AAEBF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A8B291-23C9-4CE5-96D0-E0118EB6230C}" type="datetimeFigureOut">
              <a:rPr lang="en-GB" smtClean="0"/>
              <a:t>28/11/2025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8E0D2-DD2A-9440-3AA2-BF0A61A9008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E916CE-CB18-558E-31A7-4004BD0D09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D8A2FC-6519-446D-B231-6C50CD6883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773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gi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A74D7-F4EA-CF5E-D552-74464B3C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3999" y="2060179"/>
            <a:ext cx="9144000" cy="1655762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pt-BR" sz="2200" dirty="0">
                <a:solidFill>
                  <a:srgbClr val="0070C0"/>
                </a:solidFill>
                <a:latin typeface="Arial"/>
                <a:cs typeface="Arial"/>
              </a:rPr>
              <a:t>Oficina de treinamento para projeto GCF: Mudanças climáticas e impactos das mudanças climáticas em São Tomé e Príncipe, com foco nos setores pesqueiro e turístico no contexto da Economia Azul</a:t>
            </a:r>
            <a:br>
              <a:rPr lang="pt-BR" sz="2200" dirty="0">
                <a:solidFill>
                  <a:srgbClr val="0070C0"/>
                </a:solidFill>
                <a:latin typeface="Arial"/>
                <a:cs typeface="Arial"/>
              </a:rPr>
            </a:br>
            <a:r>
              <a:rPr lang="pt-BR" sz="2200" dirty="0">
                <a:solidFill>
                  <a:srgbClr val="0070C0"/>
                </a:solidFill>
                <a:latin typeface="Arial"/>
                <a:cs typeface="Arial"/>
              </a:rPr>
              <a:t>São Tomé e Príncipe, novembro/dezembro de 2025</a:t>
            </a:r>
            <a:endParaRPr lang="en-US" sz="3600" dirty="0">
              <a:solidFill>
                <a:srgbClr val="0070C0"/>
              </a:solidFill>
              <a:latin typeface="Arial"/>
              <a:cs typeface="Arial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65361E7-4E15-CD6C-8E77-8F89B5B7D5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73677"/>
            <a:ext cx="9144000" cy="1655762"/>
          </a:xfrm>
        </p:spPr>
        <p:txBody>
          <a:bodyPr>
            <a:normAutofit/>
          </a:bodyPr>
          <a:lstStyle/>
          <a:p>
            <a:r>
              <a:rPr lang="pt-BR" b="1" cap="all" dirty="0">
                <a:solidFill>
                  <a:schemeClr val="accent5">
                    <a:lumMod val="75000"/>
                  </a:schemeClr>
                </a:solidFill>
                <a:latin typeface="Georgia" panose="02040502050405020303" pitchFamily="18" charset="0"/>
              </a:rPr>
              <a:t>Modelagem de distribuição de espécies usando maxent</a:t>
            </a:r>
            <a:endParaRPr lang="en-US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  <a:p>
            <a:r>
              <a:rPr lang="en-US" sz="1500" dirty="0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By: Samuel Greenrod, Marco Fusi, Riccardo Soldan, Lionel </a:t>
            </a:r>
            <a:r>
              <a:rPr lang="en-US" sz="1500" dirty="0" err="1">
                <a:solidFill>
                  <a:schemeClr val="accent1">
                    <a:lumMod val="50000"/>
                  </a:schemeClr>
                </a:solidFill>
                <a:latin typeface="Georgia" panose="02040502050405020303" pitchFamily="18" charset="0"/>
              </a:rPr>
              <a:t>Kinadjian</a:t>
            </a:r>
            <a:endParaRPr lang="en-US" sz="1500" dirty="0">
              <a:solidFill>
                <a:schemeClr val="accent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  <p:pic>
        <p:nvPicPr>
          <p:cNvPr id="7" name="Picture 6" descr="Graphical user interface, text&#10;&#10;Description automatically generated">
            <a:extLst>
              <a:ext uri="{FF2B5EF4-FFF2-40B4-BE49-F238E27FC236}">
                <a16:creationId xmlns:a16="http://schemas.microsoft.com/office/drawing/2014/main" id="{09888D26-7370-8509-4416-30924E0722A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31257"/>
          <a:stretch>
            <a:fillRect/>
          </a:stretch>
        </p:blipFill>
        <p:spPr>
          <a:xfrm>
            <a:off x="594821" y="257459"/>
            <a:ext cx="3014653" cy="1003438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6A18F0-129F-D4F1-D5BD-9C6826AB94BE}"/>
              </a:ext>
            </a:extLst>
          </p:cNvPr>
          <p:cNvCxnSpPr/>
          <p:nvPr/>
        </p:nvCxnSpPr>
        <p:spPr>
          <a:xfrm>
            <a:off x="968828" y="3935186"/>
            <a:ext cx="102543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465DBE5-7B38-D154-314F-B7ABE5C7A406}"/>
              </a:ext>
            </a:extLst>
          </p:cNvPr>
          <p:cNvGrpSpPr/>
          <p:nvPr/>
        </p:nvGrpSpPr>
        <p:grpSpPr>
          <a:xfrm>
            <a:off x="-16329" y="1390670"/>
            <a:ext cx="12208329" cy="262452"/>
            <a:chOff x="-16329" y="6677194"/>
            <a:chExt cx="12208329" cy="262452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4921F9B8-11EE-4197-BAF5-5A5EB6D664EE}"/>
                </a:ext>
              </a:extLst>
            </p:cNvPr>
            <p:cNvSpPr/>
            <p:nvPr/>
          </p:nvSpPr>
          <p:spPr>
            <a:xfrm>
              <a:off x="6384471" y="6678386"/>
              <a:ext cx="3804558" cy="26125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689C7B9-DBF0-4289-6D9A-D7CEC898F07B}"/>
                </a:ext>
              </a:extLst>
            </p:cNvPr>
            <p:cNvSpPr/>
            <p:nvPr/>
          </p:nvSpPr>
          <p:spPr>
            <a:xfrm>
              <a:off x="-16329" y="6678388"/>
              <a:ext cx="6400800" cy="261258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F2D5C065-F1C4-74F3-61B8-06241CFB5626}"/>
                </a:ext>
              </a:extLst>
            </p:cNvPr>
            <p:cNvSpPr/>
            <p:nvPr/>
          </p:nvSpPr>
          <p:spPr>
            <a:xfrm>
              <a:off x="10189029" y="6677194"/>
              <a:ext cx="2002971" cy="262451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3074" name="Picture 2">
            <a:extLst>
              <a:ext uri="{FF2B5EF4-FFF2-40B4-BE49-F238E27FC236}">
                <a16:creationId xmlns:a16="http://schemas.microsoft.com/office/drawing/2014/main" id="{D18EC2C8-8D2B-E43F-E1FF-B94334997B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02166" y="174034"/>
            <a:ext cx="2173726" cy="1086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61955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7AB30C-2D87-C74C-405A-670FB3C381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058B82-CF15-26F3-A6FC-DCE25512E8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Pescarias em São Tomé e Príncipe: o desafio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3F9C69-A220-021D-6DCA-DB13628BC2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53636" y="2005012"/>
            <a:ext cx="5257800" cy="4351338"/>
          </a:xfrm>
        </p:spPr>
        <p:txBody>
          <a:bodyPr>
            <a:normAutofit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Modelos climáticos projetam mudanças oceanográficas significativas no futuro
Espera-se que as mudanças climáticas afetem as pescas ao alterar: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Reprodução de peixes
Densidades de peixes
Padrões de migração de peixes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03F7CB-4C8D-580D-EEBA-A44271C21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6017" y="6352565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E95BC09-408A-A028-15E5-244AD70E246A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6C4ED02-B311-5215-DA5F-A9BBBC88F0C7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DCC1761-CCEE-58BE-9A61-751EE1C61125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E08523A1-7290-2AF3-16D5-A52FAFE12B6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289A456A-796D-10A1-C739-557F6144265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1235" t="46200" r="26896" b="12861"/>
          <a:stretch>
            <a:fillRect/>
          </a:stretch>
        </p:blipFill>
        <p:spPr>
          <a:xfrm>
            <a:off x="6993275" y="1618001"/>
            <a:ext cx="1871881" cy="3503940"/>
          </a:xfrm>
          <a:prstGeom prst="rect">
            <a:avLst/>
          </a:prstGeom>
        </p:spPr>
      </p:pic>
      <p:pic>
        <p:nvPicPr>
          <p:cNvPr id="13" name="Picture 12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CCD75D8-9B9B-5201-1034-EBDCCA0B66D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281" t="91911" r="15732" b="1719"/>
          <a:stretch>
            <a:fillRect/>
          </a:stretch>
        </p:blipFill>
        <p:spPr>
          <a:xfrm>
            <a:off x="6839633" y="5533812"/>
            <a:ext cx="2119941" cy="365125"/>
          </a:xfrm>
          <a:prstGeom prst="rect">
            <a:avLst/>
          </a:prstGeom>
        </p:spPr>
      </p:pic>
      <p:pic>
        <p:nvPicPr>
          <p:cNvPr id="14" name="Picture 13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D0BE1E2-BF92-39E5-E2DC-230AE5E428A8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283" t="91911" r="52703" b="3088"/>
          <a:stretch>
            <a:fillRect/>
          </a:stretch>
        </p:blipFill>
        <p:spPr>
          <a:xfrm>
            <a:off x="6972984" y="5201251"/>
            <a:ext cx="1853241" cy="286664"/>
          </a:xfrm>
          <a:prstGeom prst="rect">
            <a:avLst/>
          </a:prstGeom>
        </p:spPr>
      </p:pic>
      <p:pic>
        <p:nvPicPr>
          <p:cNvPr id="15" name="Picture 1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F501C99F-2D21-42B1-9892-D214A7BF8F41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138" t="46307" r="27825" b="12394"/>
          <a:stretch>
            <a:fillRect/>
          </a:stretch>
        </p:blipFill>
        <p:spPr>
          <a:xfrm>
            <a:off x="9162645" y="1634295"/>
            <a:ext cx="1715635" cy="3531105"/>
          </a:xfrm>
          <a:prstGeom prst="rect">
            <a:avLst/>
          </a:prstGeom>
        </p:spPr>
      </p:pic>
      <p:pic>
        <p:nvPicPr>
          <p:cNvPr id="16" name="Picture 1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DABE6C2B-CBC4-7234-9256-AD8D688E104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900" t="92291" r="25515" b="2817"/>
          <a:stretch>
            <a:fillRect/>
          </a:stretch>
        </p:blipFill>
        <p:spPr>
          <a:xfrm>
            <a:off x="9162645" y="5537727"/>
            <a:ext cx="2268746" cy="279964"/>
          </a:xfrm>
          <a:prstGeom prst="rect">
            <a:avLst/>
          </a:prstGeom>
        </p:spPr>
      </p:pic>
      <p:pic>
        <p:nvPicPr>
          <p:cNvPr id="17" name="Picture 1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B3F6475B-95E1-757F-F23C-6B9FDDF51DD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622" t="91372" r="65050" b="2849"/>
          <a:stretch>
            <a:fillRect/>
          </a:stretch>
        </p:blipFill>
        <p:spPr>
          <a:xfrm>
            <a:off x="9780466" y="5152284"/>
            <a:ext cx="477328" cy="330709"/>
          </a:xfrm>
          <a:prstGeom prst="rect">
            <a:avLst/>
          </a:prstGeom>
        </p:spPr>
      </p:pic>
      <p:pic>
        <p:nvPicPr>
          <p:cNvPr id="12" name="Picture 11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5F1BCAAF-8DBF-CFDE-BB54-55BF3DCA51F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749" t="46200" r="2489" b="12861"/>
          <a:stretch>
            <a:fillRect/>
          </a:stretch>
        </p:blipFill>
        <p:spPr>
          <a:xfrm>
            <a:off x="10847977" y="1609375"/>
            <a:ext cx="322053" cy="3503940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C6DD1E8D-D74A-D627-3898-BCA131942FC5}"/>
              </a:ext>
            </a:extLst>
          </p:cNvPr>
          <p:cNvSpPr txBox="1"/>
          <p:nvPr/>
        </p:nvSpPr>
        <p:spPr>
          <a:xfrm>
            <a:off x="7875187" y="5969655"/>
            <a:ext cx="25016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400" dirty="0">
                <a:latin typeface="Arial" panose="020B0604020202020204" pitchFamily="34" charset="0"/>
                <a:cs typeface="Arial" panose="020B0604020202020204" pitchFamily="34" charset="0"/>
              </a:rPr>
              <a:t>Os valores são relativos à corrida histórica</a:t>
            </a:r>
            <a:endParaRPr lang="en-GB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661636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43415-383E-9F3A-6063-F6DE642910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639597-57ED-0A4B-54BB-C49E2BC66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3317" y="509636"/>
            <a:ext cx="11031321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Abordagens de modelagem de distribuição de espécies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8F7D0B-3588-08B0-0049-708DBA68FA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56" y="1952658"/>
            <a:ext cx="5515379" cy="4351338"/>
          </a:xfrm>
        </p:spPr>
        <p:txBody>
          <a:bodyPr>
            <a:normAutofit fontScale="92500" lnSpcReduction="20000"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A modelagem de distribuição de espécies pode ser usada para avaliar o impacto climático na distribuição dos peixes
A maioria dos modelos é "empírica" – encontre associações estatísticas entre a ocorrência da espécie e parâmetros ambientais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MaxEnt
R-INLA
SdmTMB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Um pequeno número é "mecanicista" – usa equações que modelam como os sistemas de peixes funcionam e interagem com o clima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E09670-A785-821A-65D0-C1B5F9BCC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6438" y="6303996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3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545AF79-8BA1-55EA-8D7F-D4A9CF3452AE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618566-26EA-20E2-DF6F-8387115801FF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515BD8F-18AE-843A-8247-21312ABE4564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A176A92-1BE8-9390-CAD4-C04837C21BCC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Mechanistic Modelling of Biomass Growth, Glucose Consumption and Ethanol  Production by Kluyveromyces marxianus in Batch Fermentation">
            <a:extLst>
              <a:ext uri="{FF2B5EF4-FFF2-40B4-BE49-F238E27FC236}">
                <a16:creationId xmlns:a16="http://schemas.microsoft.com/office/drawing/2014/main" id="{D61BADDF-C5BC-0447-82E4-24C81F870A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792" y="4479299"/>
            <a:ext cx="4028266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person walking with a computer&#10;&#10;AI-generated content may be incorrect.">
            <a:extLst>
              <a:ext uri="{FF2B5EF4-FFF2-40B4-BE49-F238E27FC236}">
                <a16:creationId xmlns:a16="http://schemas.microsoft.com/office/drawing/2014/main" id="{B6005A82-7AD1-F777-1367-86D6CFA8F1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658" y="1677984"/>
            <a:ext cx="3898534" cy="219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3720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F8EE32-FB31-AAF4-A276-51B4DAB88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B30A41-F933-5C82-61A3-1B3C6F20B5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pPr algn="ctr"/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Modelagem empírica – MaxEnt para distribuições de espécies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ECA1D0-D97E-0CD4-9A3F-D588798CF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56" y="1926210"/>
            <a:ext cx="4843124" cy="4351338"/>
          </a:xfrm>
        </p:spPr>
        <p:txBody>
          <a:bodyPr>
            <a:normAutofit lnSpcReduction="10000"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Para o relatório STP, usamos uma abordagem de modelagem empírica chamada "MaxEnt" ou Entropia Máxima</a:t>
            </a:r>
          </a:p>
          <a:p>
            <a:pPr lvl="1"/>
            <a:r>
              <a:rPr lang="pt-BR" sz="2000" dirty="0">
                <a:latin typeface="Arial" panose="020B0604020202020204" pitchFamily="34" charset="0"/>
                <a:cs typeface="Arial" panose="020B0604020202020204" pitchFamily="34" charset="0"/>
              </a:rPr>
              <a:t>Registros de presença de espécies
Valores climáticos em uma região
Compara a distribuição de probabilidade dos valores climáticos associados com dados de fundo.</a:t>
            </a:r>
          </a:p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Depois que o modelo está treinado, você pode aplicar novos dados de projeção climática.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46915B-9538-32C3-8D68-15810C8DD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59133" y="632557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4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E0780896-89DE-E1D7-9579-DB087B8098B2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45E9DE0-24D8-AD17-3ECD-785281BC8371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960D878-696C-C148-885E-EAAF3935A4C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1A03E919-A3B9-8DCF-200C-0CA378DC033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Main graphic">
            <a:extLst>
              <a:ext uri="{FF2B5EF4-FFF2-40B4-BE49-F238E27FC236}">
                <a16:creationId xmlns:a16="http://schemas.microsoft.com/office/drawing/2014/main" id="{07E27C95-A1EF-0355-68D7-8BBEAA153E5A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6295934" y="1926210"/>
            <a:ext cx="5020970" cy="2929619"/>
          </a:xfrm>
          <a:prstGeom prst="rect">
            <a:avLst/>
          </a:prstGeom>
          <a:ln>
            <a:noFill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8BA4FC95-A8B4-C5CE-CED1-9CAA73D34D41}"/>
              </a:ext>
            </a:extLst>
          </p:cNvPr>
          <p:cNvSpPr txBox="1"/>
          <p:nvPr/>
        </p:nvSpPr>
        <p:spPr>
          <a:xfrm>
            <a:off x="5707280" y="5248354"/>
            <a:ext cx="609505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>
                <a:latin typeface="Arial" panose="020B0604020202020204" pitchFamily="34" charset="0"/>
                <a:cs typeface="Arial" panose="020B0604020202020204" pitchFamily="34" charset="0"/>
              </a:rPr>
              <a:t>Probabilidades de ocorrência calculadas para:
Períodos de tempo: temporada histórica, 2020-2049, 2050-2079 
Cenários climáticos: SSP1 2.6 &amp; SSP5 8.5
Modelo climático: conjunto CMIP6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578936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3606C3-EC55-8A62-AE4B-9F0EB51E7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2DCE6-B3FD-A9EF-579E-BF2877673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360052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Considerações</a:t>
            </a:r>
            <a:r>
              <a:rPr lang="en-US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importantes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26EA04-8416-0CB5-FA22-1E6E216D3F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4492" y="1720607"/>
            <a:ext cx="9845428" cy="435133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2000" b="1" u="sng" dirty="0" err="1"/>
              <a:t>Vantagens</a:t>
            </a:r>
            <a:r>
              <a:rPr lang="en-GB" sz="2000" b="1" u="sng" dirty="0"/>
              <a:t> do </a:t>
            </a:r>
            <a:r>
              <a:rPr lang="en-GB" sz="2000" b="1" u="sng" dirty="0" err="1"/>
              <a:t>MaxEnt</a:t>
            </a:r>
            <a:r>
              <a:rPr lang="en-GB" sz="2000" b="1" u="sng" dirty="0"/>
              <a:t>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1" dirty="0"/>
              <a:t>Handles presence-only data:</a:t>
            </a:r>
            <a:r>
              <a:rPr lang="en-GB" sz="1600" dirty="0"/>
              <a:t> </a:t>
            </a:r>
            <a:r>
              <a:rPr lang="pt-BR" sz="1600" dirty="0"/>
              <a:t>O MaxEnt é adequado para situações onde apenas dados de presença estão disponíveis, o que é comum em pesquisas ecológicas.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1" dirty="0"/>
              <a:t>Handles complex relationships:</a:t>
            </a:r>
            <a:r>
              <a:rPr lang="en-GB" sz="1600" dirty="0"/>
              <a:t> </a:t>
            </a:r>
            <a:r>
              <a:rPr lang="pt-BR" sz="1600" dirty="0"/>
              <a:t>Ele pode modelar interações complexas entre variáveis ambientais e distribuições de espécies.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1" dirty="0"/>
              <a:t>Open-source software:</a:t>
            </a:r>
            <a:r>
              <a:rPr lang="en-GB" sz="1600" dirty="0"/>
              <a:t> </a:t>
            </a:r>
            <a:r>
              <a:rPr lang="pt-BR" sz="1600" dirty="0"/>
              <a:t>O MaxEnt é gratuito e de código aberto.</a:t>
            </a:r>
            <a:endParaRPr lang="en-GB" sz="1600" dirty="0"/>
          </a:p>
          <a:p>
            <a:pPr fontAlgn="ctr">
              <a:lnSpc>
                <a:spcPct val="120000"/>
              </a:lnSpc>
              <a:spcBef>
                <a:spcPts val="0"/>
              </a:spcBef>
            </a:pPr>
            <a:r>
              <a:rPr lang="en-GB" sz="1600" b="1" dirty="0"/>
              <a:t>Widely used:</a:t>
            </a:r>
            <a:r>
              <a:rPr lang="en-GB" sz="1600" dirty="0"/>
              <a:t> </a:t>
            </a:r>
            <a:r>
              <a:rPr lang="pt-BR" sz="1600" dirty="0"/>
              <a:t>É um dos métodos de SDM mais amplamente utilizados na ecologia.</a:t>
            </a:r>
            <a:endParaRPr lang="en-GB" sz="16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endParaRPr lang="en-GB" sz="1600" dirty="0"/>
          </a:p>
          <a:p>
            <a:pPr>
              <a:lnSpc>
                <a:spcPct val="120000"/>
              </a:lnSpc>
              <a:spcBef>
                <a:spcPts val="0"/>
              </a:spcBef>
              <a:buNone/>
            </a:pPr>
            <a:r>
              <a:rPr lang="en-GB" sz="2000" b="1" u="sng" dirty="0" err="1"/>
              <a:t>Possíveis</a:t>
            </a:r>
            <a:r>
              <a:rPr lang="en-GB" sz="2000" b="1" u="sng" dirty="0"/>
              <a:t> </a:t>
            </a:r>
            <a:r>
              <a:rPr lang="en-GB" sz="2000" b="1" u="sng" dirty="0" err="1"/>
              <a:t>limitações</a:t>
            </a:r>
            <a:r>
              <a:rPr lang="en-GB" sz="2000" b="1" u="sng" dirty="0"/>
              <a:t>:</a:t>
            </a:r>
          </a:p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GB" sz="1600" b="1" dirty="0"/>
              <a:t>Bias in background data:</a:t>
            </a:r>
            <a:endParaRPr lang="en-GB" sz="1600" dirty="0"/>
          </a:p>
          <a:p>
            <a:pPr marL="0" indent="0" font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dirty="0"/>
              <a:t>A escolha dos dados de fundo pode influenciar os resultados do modelo.</a:t>
            </a:r>
          </a:p>
          <a:p>
            <a:pPr fontAlgn="ctr">
              <a:lnSpc>
                <a:spcPct val="120000"/>
              </a:lnSpc>
              <a:spcBef>
                <a:spcPts val="0"/>
              </a:spcBef>
            </a:pPr>
            <a:r>
              <a:rPr lang="en-GB" sz="1600" b="1" dirty="0"/>
              <a:t>Assumptions about environmental relationships:</a:t>
            </a:r>
            <a:endParaRPr lang="en-GB" sz="1600" dirty="0"/>
          </a:p>
          <a:p>
            <a:pPr marL="0" indent="0" fontAlgn="ctr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dirty="0"/>
              <a:t>O MaxEnt assume que variáveis ambientais são os principais impulsionadores da distribuição das espécies, o que pode nem sempre ser verdade.</a:t>
            </a:r>
          </a:p>
          <a:p>
            <a:pPr fontAlgn="ctr">
              <a:lnSpc>
                <a:spcPct val="120000"/>
              </a:lnSpc>
              <a:spcBef>
                <a:spcPts val="0"/>
              </a:spcBef>
            </a:pPr>
            <a:r>
              <a:rPr lang="en-GB" sz="1600" b="1" dirty="0"/>
              <a:t>Overfitting:</a:t>
            </a:r>
          </a:p>
          <a:p>
            <a:pPr marL="0" indent="0">
              <a:lnSpc>
                <a:spcPct val="120000"/>
              </a:lnSpc>
              <a:spcBef>
                <a:spcPts val="0"/>
              </a:spcBef>
              <a:buNone/>
            </a:pPr>
            <a:r>
              <a:rPr lang="pt-BR" sz="1600" dirty="0"/>
              <a:t>O superajuste pode ocorrer se o modelo for complexo demais para os dados disponíveis, levando a um desempenho preditivo ruim em novas áreas.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1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B5FA364-0DE9-12F2-BE92-3A5F5E4C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2124" y="6280393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5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A4FBDB44-A55A-E3E4-D2ED-72E424C8877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65365740-189F-B06A-D280-D6033D60C114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EA9ABA6-4B86-8651-CA9E-F0F67605E1FF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03A4739-C4AA-BB75-0CCD-6DE230D05393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6699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600022-9D60-59B1-74D1-A2E6C9468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4118BC-F43E-CA57-7819-0E9D54B255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5" y="521846"/>
            <a:ext cx="8472350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Coleta de dados – Dados de presença de espécies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78E293-4BF5-ED6D-06B9-3727DDB219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55" y="1862520"/>
            <a:ext cx="4753063" cy="4351338"/>
          </a:xfrm>
        </p:spPr>
        <p:txBody>
          <a:bodyPr>
            <a:normAutofit fontScale="925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O MaxEnt requer apenas dados de presença, não dados de presença/ausência
Os dados foram adquiridos do Sistema de Informação sobre a Biodiversidade Oceânica (OBIS)
Informações obrigatórias: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Nome da espécie
Posições históricas de Lon/Lat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8151A6-600D-C1C9-ACEC-648FD9837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06068" y="6336154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6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0936F795-7E9B-681C-8FFF-BA75A7918A70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BC82302-BDCA-5534-55A3-DFE328693989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77EF4AF-23C7-8AEA-AFD6-709CF6DD47C1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F951CDAC-3A31-BC2E-8902-B1E9B96520F8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91E5F9D1-3718-4669-F789-717DAFB92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3193" y="1862520"/>
            <a:ext cx="5683414" cy="2523884"/>
          </a:xfrm>
          <a:prstGeom prst="rect">
            <a:avLst/>
          </a:prstGeom>
        </p:spPr>
      </p:pic>
      <p:pic>
        <p:nvPicPr>
          <p:cNvPr id="7" name="Picture 2" descr="Blue runner • Caranx crysos • Fish sheet">
            <a:extLst>
              <a:ext uri="{FF2B5EF4-FFF2-40B4-BE49-F238E27FC236}">
                <a16:creationId xmlns:a16="http://schemas.microsoft.com/office/drawing/2014/main" id="{8F7BCF94-0A75-DD34-FADA-DE64CE3FD2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0" b="8614"/>
          <a:stretch/>
        </p:blipFill>
        <p:spPr bwMode="auto">
          <a:xfrm>
            <a:off x="5883193" y="4680000"/>
            <a:ext cx="2080768" cy="11704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Yellowfin tuna • Thunnus albacares • Fish sheet">
            <a:extLst>
              <a:ext uri="{FF2B5EF4-FFF2-40B4-BE49-F238E27FC236}">
                <a16:creationId xmlns:a16="http://schemas.microsoft.com/office/drawing/2014/main" id="{5453F8CB-A2A2-0F9F-32CF-D36E2F0E5D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29936" y="4680000"/>
            <a:ext cx="1752264" cy="1168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96529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6F2814-F045-C08A-F442-A216B1490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2F34E-503B-E33F-CE5E-66E1086FE7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5" y="521846"/>
            <a:ext cx="9388798" cy="1325563"/>
          </a:xfrm>
        </p:spPr>
        <p:txBody>
          <a:bodyPr>
            <a:normAutofit/>
          </a:bodyPr>
          <a:lstStyle/>
          <a:p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Coleta de dados – dados climáticos marinhos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8F6DF8-572E-0733-6835-697137F38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4400" y="2005012"/>
            <a:ext cx="3546470" cy="4351338"/>
          </a:xfrm>
        </p:spPr>
        <p:txBody>
          <a:bodyPr>
            <a:normAutofit fontScale="92500" lnSpcReduction="10000"/>
          </a:bodyPr>
          <a:lstStyle/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Dados históricos e climáticos futuros foram obtidos da Bio-Oracle:</a:t>
            </a:r>
          </a:p>
          <a:p>
            <a:pPr lvl="1"/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Temperatura do oceano
Salinidade
Oxigênio molecular dissolvido
ph</a:t>
            </a:r>
          </a:p>
          <a:p>
            <a:r>
              <a:rPr lang="pt-BR" dirty="0">
                <a:latin typeface="Arial" panose="020B0604020202020204" pitchFamily="34" charset="0"/>
                <a:cs typeface="Arial" panose="020B0604020202020204" pitchFamily="34" charset="0"/>
              </a:rPr>
              <a:t>Valores de média e alcance* selecionados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FAA766-B1AB-75A3-8B73-0AEB19725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14181" y="6350070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7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5E95E010-711D-B03F-7B71-43F074FB4AC4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EECB60F7-DA53-7489-5B90-A3629E0D4C05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8523606-D155-ECDA-1E99-E77162BCA50D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3844C51F-9F31-A70F-B577-8009C48BEE2A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D9DFE930-35AA-5C4E-3080-A7C0FF6F45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27087" y="2408903"/>
            <a:ext cx="2913423" cy="178819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60D25ED7-1B01-8021-631C-B85886108C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0328" y="1648890"/>
            <a:ext cx="3987053" cy="327422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5DF6F82-F558-1276-D264-D02B13F0C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2126" y="5209110"/>
            <a:ext cx="5236768" cy="1188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4803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Blue runner • Caranx crysos • Fish sheet">
            <a:extLst>
              <a:ext uri="{FF2B5EF4-FFF2-40B4-BE49-F238E27FC236}">
                <a16:creationId xmlns:a16="http://schemas.microsoft.com/office/drawing/2014/main" id="{29AFD802-5E6C-0F12-14EE-67DEBF31B17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800" b="8614"/>
          <a:stretch/>
        </p:blipFill>
        <p:spPr bwMode="auto">
          <a:xfrm>
            <a:off x="20" y="10"/>
            <a:ext cx="1219198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B19D566-1356-47BF-B621-68EA7C034D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>
                <a:solidFill>
                  <a:schemeClr val="tx1">
                    <a:lumMod val="85000"/>
                    <a:lumOff val="15000"/>
                  </a:schemeClr>
                </a:solidFill>
              </a:rPr>
              <a:t>Example: </a:t>
            </a:r>
            <a:r>
              <a:rPr lang="en-US" sz="3600" i="1">
                <a:solidFill>
                  <a:schemeClr val="tx1">
                    <a:lumMod val="85000"/>
                    <a:lumOff val="15000"/>
                  </a:schemeClr>
                </a:solidFill>
              </a:rPr>
              <a:t>Caranx crysos</a:t>
            </a:r>
          </a:p>
        </p:txBody>
      </p:sp>
    </p:spTree>
    <p:extLst>
      <p:ext uri="{BB962C8B-B14F-4D97-AF65-F5344CB8AC3E}">
        <p14:creationId xmlns:p14="http://schemas.microsoft.com/office/powerpoint/2010/main" val="3626862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6064AA-FA9F-9C5A-1FED-E9212DB01E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F933C-72C2-722F-3094-02CA93900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pPr algn="ctr"/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Modelagem empírica – MaxEnt para distribuições de espécies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F51A13-C2B1-98E1-B972-A60F6DEEB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52277" y="631774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9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8F5400E7-0698-3632-6EE4-D8810E494CF7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1CFB1E-9C35-C2A7-B72E-E98540C489C2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E4AC04A-0560-8CE9-194E-8553C36ADD97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5CC94DDB-CFCD-C6A2-BB40-C97F2B4DF351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011947FF-083A-2512-2354-6B3ADC7AFE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321" y="2492154"/>
            <a:ext cx="6449156" cy="3219451"/>
          </a:xfrm>
          <a:prstGeom prst="rect">
            <a:avLst/>
          </a:prstGeom>
        </p:spPr>
      </p:pic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F32B33A1-CDA9-4258-BE6D-D7A22C869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280138"/>
            <a:ext cx="4221191" cy="4351338"/>
          </a:xfrm>
        </p:spPr>
        <p:txBody>
          <a:bodyPr>
            <a:normAutofit/>
          </a:bodyPr>
          <a:lstStyle/>
          <a:p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For </a:t>
            </a:r>
            <a:r>
              <a:rPr lang="en-GB" sz="2400" i="1" dirty="0">
                <a:latin typeface="Arial" panose="020B0604020202020204" pitchFamily="34" charset="0"/>
                <a:cs typeface="Arial" panose="020B0604020202020204" pitchFamily="34" charset="0"/>
              </a:rPr>
              <a:t>Caranx </a:t>
            </a:r>
            <a:r>
              <a:rPr lang="en-GB" sz="2400" i="1" dirty="0" err="1">
                <a:latin typeface="Arial" panose="020B0604020202020204" pitchFamily="34" charset="0"/>
                <a:cs typeface="Arial" panose="020B0604020202020204" pitchFamily="34" charset="0"/>
              </a:rPr>
              <a:t>crysos</a:t>
            </a:r>
            <a:r>
              <a:rPr lang="en-GB" sz="2400" dirty="0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GB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Indicadores mais importantes:</a:t>
            </a:r>
          </a:p>
          <a:p>
            <a:pPr marL="457200" indent="-457200">
              <a:buFont typeface="+mj-lt"/>
              <a:buAutoNum type="arabicPeriod"/>
            </a:pPr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Faixa de oxigênio molecular dissolvido
Temperatura média do oceano</a:t>
            </a:r>
            <a:endParaRPr 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70165A-DC6E-7C3E-357A-6B3EB04AC728}"/>
              </a:ext>
            </a:extLst>
          </p:cNvPr>
          <p:cNvSpPr txBox="1"/>
          <p:nvPr/>
        </p:nvSpPr>
        <p:spPr>
          <a:xfrm>
            <a:off x="10289445" y="1886017"/>
            <a:ext cx="26599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.2 = Gama.</a:t>
            </a:r>
          </a:p>
          <a:p>
            <a:r>
              <a:rPr lang="en-GB" dirty="0"/>
              <a:t>1 = </a:t>
            </a:r>
            <a:r>
              <a:rPr lang="en-GB" dirty="0" err="1"/>
              <a:t>Significar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46769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4E313-CE94-9B9E-46BB-7171D5D4AD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A9A4F-1A54-94A0-24BF-F8B53F860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pPr algn="ctr"/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Modelagem empírica – MaxEnt para distribuições de espécies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BEAB8F-9831-D4AE-A4F1-A5D9D7903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87255" y="6336154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10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3A79ACE-7E84-EC4D-298B-45043A165DEF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0C387FA-2DFA-CF75-CA27-C8341B9B3B70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256910F-0E29-97B3-57F1-27680BCF778B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D2193D01-69F2-EEB8-B33C-64A49626C12F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9FB24792-9353-AF55-058F-C045424933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318" y="1718549"/>
            <a:ext cx="4718021" cy="47666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BA242E0-EBD9-77DD-CD63-CB0EE6EA2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715" y="1761876"/>
            <a:ext cx="4657752" cy="470108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0490B4F-A04B-BCBA-81BA-3E58EC2E0513}"/>
              </a:ext>
            </a:extLst>
          </p:cNvPr>
          <p:cNvSpPr txBox="1"/>
          <p:nvPr/>
        </p:nvSpPr>
        <p:spPr>
          <a:xfrm>
            <a:off x="10221482" y="2262194"/>
            <a:ext cx="14001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/>
              <a:t>Probabilidade de ocorrência de espécie</a:t>
            </a:r>
            <a:endParaRPr lang="en-GB" sz="1200" b="1" dirty="0"/>
          </a:p>
        </p:txBody>
      </p:sp>
    </p:spTree>
    <p:extLst>
      <p:ext uri="{BB962C8B-B14F-4D97-AF65-F5344CB8AC3E}">
        <p14:creationId xmlns:p14="http://schemas.microsoft.com/office/powerpoint/2010/main" val="17944638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673B47-55C2-D469-44E3-79BC06A37B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8E38DC8E-7970-BC19-5CAC-F6E21BBF04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4602" y="1686121"/>
            <a:ext cx="4953779" cy="275972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8958692-DA36-4062-2067-5FD9187802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4827" y="4204604"/>
            <a:ext cx="4953781" cy="275973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A1B2C40-0E43-5CD6-E7E6-B8FC05F03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21846"/>
            <a:ext cx="10863556" cy="1325563"/>
          </a:xfrm>
        </p:spPr>
        <p:txBody>
          <a:bodyPr>
            <a:normAutofit/>
          </a:bodyPr>
          <a:lstStyle/>
          <a:p>
            <a:pPr algn="ctr"/>
            <a:r>
              <a:rPr lang="pt-BR" sz="32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Modelagem empírica – MaxEnt para distribuições de espécies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D5515A-E4ED-BD90-34A9-3A42B23AE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079125" y="6336154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11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AC613EC-F33A-FAB9-B7ED-834A8EB4BAD3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0602A39-891C-C9EC-5643-AF295D411C5D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E7E874C-02F2-35AE-5AFD-01992E69F2CA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6E4DF0D9-6AB6-CB86-E3F4-F05A3C445977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85393A94-7724-23BF-C86B-93ACB3A8B9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642" y="1974210"/>
            <a:ext cx="4450487" cy="4460789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A8BF820F-8F30-6529-8802-963EF3E71C48}"/>
              </a:ext>
            </a:extLst>
          </p:cNvPr>
          <p:cNvSpPr/>
          <p:nvPr/>
        </p:nvSpPr>
        <p:spPr>
          <a:xfrm>
            <a:off x="2949959" y="3985977"/>
            <a:ext cx="395416" cy="40777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97EA709-AD56-5B25-ED80-7C7EE20EF424}"/>
              </a:ext>
            </a:extLst>
          </p:cNvPr>
          <p:cNvSpPr txBox="1"/>
          <p:nvPr/>
        </p:nvSpPr>
        <p:spPr>
          <a:xfrm>
            <a:off x="4406419" y="2377188"/>
            <a:ext cx="12096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00" b="1" dirty="0"/>
              <a:t>Shift in probability of species occurrence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E6603B-9313-70C3-F08C-B0778868A150}"/>
              </a:ext>
            </a:extLst>
          </p:cNvPr>
          <p:cNvSpPr txBox="1"/>
          <p:nvPr/>
        </p:nvSpPr>
        <p:spPr>
          <a:xfrm>
            <a:off x="10612678" y="1683284"/>
            <a:ext cx="120964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b="1" dirty="0"/>
              <a:t>Mudança na probabilidade de ocorrência de espécies</a:t>
            </a:r>
            <a:endParaRPr lang="en-GB" sz="1100" b="1" dirty="0"/>
          </a:p>
        </p:txBody>
      </p:sp>
    </p:spTree>
    <p:extLst>
      <p:ext uri="{BB962C8B-B14F-4D97-AF65-F5344CB8AC3E}">
        <p14:creationId xmlns:p14="http://schemas.microsoft.com/office/powerpoint/2010/main" val="31915092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23F7EC-B368-2DCE-E84A-D2BAF8F1E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5750DA-DE2E-5F7F-1600-7071CFFF3C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4156" y="511070"/>
            <a:ext cx="8709612" cy="1325563"/>
          </a:xfrm>
        </p:spPr>
        <p:txBody>
          <a:bodyPr>
            <a:normAutofit/>
          </a:bodyPr>
          <a:lstStyle/>
          <a:p>
            <a:r>
              <a:rPr lang="en-US" sz="3200" b="1" dirty="0" err="1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Conclusão</a:t>
            </a:r>
            <a:endParaRPr lang="en-US" sz="3200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62D6B5-E21A-CB19-05FD-182AAA0C57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4156" y="1952658"/>
            <a:ext cx="5515379" cy="4351338"/>
          </a:xfrm>
        </p:spPr>
        <p:txBody>
          <a:bodyPr>
            <a:normAutofit/>
          </a:bodyPr>
          <a:lstStyle/>
          <a:p>
            <a:r>
              <a:rPr lang="pt-BR" sz="2400" dirty="0">
                <a:latin typeface="Arial" panose="020B0604020202020204" pitchFamily="34" charset="0"/>
                <a:cs typeface="Arial" panose="020B0604020202020204" pitchFamily="34" charset="0"/>
              </a:rPr>
              <a:t>Espera-se que as mudanças climáticas alterem a distribuição das espécies de peixes
Mudanças projetadas nas distribuições podem ser avaliadas por modelagem empírica
O MaxEnt é uma forma simples de fazer isso usando dados mínimos</a:t>
            </a:r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en-US" sz="18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F22BD9-770C-F251-F809-C3D4B62F0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6165" y="6329332"/>
            <a:ext cx="2743200" cy="365125"/>
          </a:xfrm>
        </p:spPr>
        <p:txBody>
          <a:bodyPr/>
          <a:lstStyle/>
          <a:p>
            <a:fld id="{D51B4FB4-AA13-FE41-AF8A-525BA2FA973D}" type="slidenum">
              <a:rPr lang="en-US" smtClean="0"/>
              <a:t>12</a:t>
            </a:fld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B55CDD3D-41BA-2C3D-0B4A-779973D18EEB}"/>
              </a:ext>
            </a:extLst>
          </p:cNvPr>
          <p:cNvGrpSpPr/>
          <p:nvPr/>
        </p:nvGrpSpPr>
        <p:grpSpPr>
          <a:xfrm>
            <a:off x="-16329" y="-38779"/>
            <a:ext cx="12393386" cy="316366"/>
            <a:chOff x="-16329" y="5228994"/>
            <a:chExt cx="12208329" cy="575436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6ADD459-C462-CA47-D880-9A66B280355C}"/>
                </a:ext>
              </a:extLst>
            </p:cNvPr>
            <p:cNvSpPr/>
            <p:nvPr/>
          </p:nvSpPr>
          <p:spPr>
            <a:xfrm>
              <a:off x="-16329" y="5228994"/>
              <a:ext cx="10205358" cy="575436"/>
            </a:xfrm>
            <a:prstGeom prst="rect">
              <a:avLst/>
            </a:prstGeom>
            <a:solidFill>
              <a:schemeClr val="accent5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A824126C-5CBF-4B86-33BA-A033AF329240}"/>
                </a:ext>
              </a:extLst>
            </p:cNvPr>
            <p:cNvSpPr/>
            <p:nvPr/>
          </p:nvSpPr>
          <p:spPr>
            <a:xfrm>
              <a:off x="10189029" y="5228994"/>
              <a:ext cx="2002971" cy="57543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" name="Connecteur droit 6">
            <a:extLst>
              <a:ext uri="{FF2B5EF4-FFF2-40B4-BE49-F238E27FC236}">
                <a16:creationId xmlns:a16="http://schemas.microsoft.com/office/drawing/2014/main" id="{044FFED0-894E-DEDA-0A17-1BE14AF3B64D}"/>
              </a:ext>
            </a:extLst>
          </p:cNvPr>
          <p:cNvCxnSpPr>
            <a:cxnSpLocks/>
          </p:cNvCxnSpPr>
          <p:nvPr/>
        </p:nvCxnSpPr>
        <p:spPr>
          <a:xfrm>
            <a:off x="-16329" y="395044"/>
            <a:ext cx="12208329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4" descr="Mechanistic Modelling of Biomass Growth, Glucose Consumption and Ethanol  Production by Kluyveromyces marxianus in Batch Fermentation">
            <a:extLst>
              <a:ext uri="{FF2B5EF4-FFF2-40B4-BE49-F238E27FC236}">
                <a16:creationId xmlns:a16="http://schemas.microsoft.com/office/drawing/2014/main" id="{CB6ACCC8-A9E4-97E7-2357-F507821D7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3792" y="4479299"/>
            <a:ext cx="4028266" cy="196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0" descr="A person walking with a computer&#10;&#10;AI-generated content may be incorrect.">
            <a:extLst>
              <a:ext uri="{FF2B5EF4-FFF2-40B4-BE49-F238E27FC236}">
                <a16:creationId xmlns:a16="http://schemas.microsoft.com/office/drawing/2014/main" id="{6468704D-4C92-1464-93B3-FE3D5B089B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8658" y="1677984"/>
            <a:ext cx="3898534" cy="2191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22661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1036</TotalTime>
  <Words>645</Words>
  <Application>Microsoft Office PowerPoint</Application>
  <PresentationFormat>Widescreen</PresentationFormat>
  <Paragraphs>70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Aptos</vt:lpstr>
      <vt:lpstr>Aptos Display</vt:lpstr>
      <vt:lpstr>Arial</vt:lpstr>
      <vt:lpstr>Georgia</vt:lpstr>
      <vt:lpstr>Office Theme</vt:lpstr>
      <vt:lpstr>Oficina de treinamento para projeto GCF: Mudanças climáticas e impactos das mudanças climáticas em São Tomé e Príncipe, com foco nos setores pesqueiro e turístico no contexto da Economia Azul São Tomé e Príncipe, novembro/dezembro de 2025</vt:lpstr>
      <vt:lpstr>Pescarias em São Tomé e Príncipe: o desafio</vt:lpstr>
      <vt:lpstr>Abordagens de modelagem de distribuição de espécies</vt:lpstr>
      <vt:lpstr>Modelagem empírica – MaxEnt para distribuições de espécies</vt:lpstr>
      <vt:lpstr>Considerações importantes</vt:lpstr>
      <vt:lpstr>Coleta de dados – Dados de presença de espécies</vt:lpstr>
      <vt:lpstr>Coleta de dados – dados climáticos marinhos</vt:lpstr>
      <vt:lpstr>Example: Caranx crysos</vt:lpstr>
      <vt:lpstr>Modelagem empírica – MaxEnt para distribuições de espécies</vt:lpstr>
      <vt:lpstr>Modelagem empírica – MaxEnt para distribuições de espécies</vt:lpstr>
      <vt:lpstr>Modelagem empírica – MaxEnt para distribuições de espécies</vt:lpstr>
      <vt:lpstr>Conclusão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Greenrod, Samuel (OCBD)</dc:creator>
  <cp:lastModifiedBy>Greenrod, Samuel (OCBD)</cp:lastModifiedBy>
  <cp:revision>2</cp:revision>
  <dcterms:created xsi:type="dcterms:W3CDTF">2025-11-12T15:08:01Z</dcterms:created>
  <dcterms:modified xsi:type="dcterms:W3CDTF">2025-11-28T09:16:41Z</dcterms:modified>
</cp:coreProperties>
</file>