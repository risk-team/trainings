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61" r:id="rId3"/>
    <p:sldId id="262" r:id="rId4"/>
    <p:sldId id="271" r:id="rId5"/>
    <p:sldId id="280" r:id="rId6"/>
    <p:sldId id="264" r:id="rId7"/>
    <p:sldId id="265" r:id="rId8"/>
    <p:sldId id="272" r:id="rId9"/>
    <p:sldId id="274" r:id="rId10"/>
    <p:sldId id="275" r:id="rId11"/>
    <p:sldId id="276" r:id="rId12"/>
    <p:sldId id="28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AC85C4-81FD-49AE-91FE-0C2AEA104107}" v="2" dt="2025-11-28T09:16:38.8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20C3C022-8956-41D8-B9EF-F034660AD755}"/>
    <pc:docChg chg="undo custSel modSld">
      <pc:chgData name="Greenrod, Samuel (OCBD)" userId="2206092a-8a12-487a-a963-cafe9a401430" providerId="ADAL" clId="{20C3C022-8956-41D8-B9EF-F034660AD755}" dt="2025-11-28T09:16:35.489" v="15" actId="122"/>
      <pc:docMkLst>
        <pc:docMk/>
      </pc:docMkLst>
      <pc:sldChg chg="delSp modSp mod">
        <pc:chgData name="Greenrod, Samuel (OCBD)" userId="2206092a-8a12-487a-a963-cafe9a401430" providerId="ADAL" clId="{20C3C022-8956-41D8-B9EF-F034660AD755}" dt="2025-11-27T17:06:17.299" v="14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20C3C022-8956-41D8-B9EF-F034660AD755}" dt="2025-11-27T17:06:17.299" v="14" actId="1076"/>
          <ac:spMkLst>
            <pc:docMk/>
            <pc:sldMk cId="147372020" sldId="262"/>
            <ac:spMk id="5" creationId="{EAE09670-A785-821A-65D0-C1B5F9BCCF82}"/>
          </ac:spMkLst>
        </pc:spChg>
        <pc:picChg chg="del">
          <ac:chgData name="Greenrod, Samuel (OCBD)" userId="2206092a-8a12-487a-a963-cafe9a401430" providerId="ADAL" clId="{20C3C022-8956-41D8-B9EF-F034660AD755}" dt="2025-11-27T17:06:15.120" v="13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Sp modSp mod">
        <pc:chgData name="Greenrod, Samuel (OCBD)" userId="2206092a-8a12-487a-a963-cafe9a401430" providerId="ADAL" clId="{20C3C022-8956-41D8-B9EF-F034660AD755}" dt="2025-11-27T17:06:09.109" v="11" actId="1076"/>
        <pc:sldMkLst>
          <pc:docMk/>
          <pc:sldMk cId="949652993" sldId="264"/>
        </pc:sldMkLst>
        <pc:spChg chg="mod">
          <ac:chgData name="Greenrod, Samuel (OCBD)" userId="2206092a-8a12-487a-a963-cafe9a401430" providerId="ADAL" clId="{20C3C022-8956-41D8-B9EF-F034660AD755}" dt="2025-11-27T17:06:09.109" v="11" actId="1076"/>
          <ac:spMkLst>
            <pc:docMk/>
            <pc:sldMk cId="949652993" sldId="264"/>
            <ac:spMk id="5" creationId="{148151A6-600D-C1C9-ACEC-648FD983776B}"/>
          </ac:spMkLst>
        </pc:spChg>
        <pc:picChg chg="del">
          <ac:chgData name="Greenrod, Samuel (OCBD)" userId="2206092a-8a12-487a-a963-cafe9a401430" providerId="ADAL" clId="{20C3C022-8956-41D8-B9EF-F034660AD755}" dt="2025-11-27T17:06:07.083" v="10" actId="478"/>
          <ac:picMkLst>
            <pc:docMk/>
            <pc:sldMk cId="949652993" sldId="264"/>
            <ac:picMk id="4" creationId="{8EF5A01E-ADED-4189-9CE3-B2C3FB690FC2}"/>
          </ac:picMkLst>
        </pc:picChg>
      </pc:sldChg>
      <pc:sldChg chg="delSp modSp mod">
        <pc:chgData name="Greenrod, Samuel (OCBD)" userId="2206092a-8a12-487a-a963-cafe9a401430" providerId="ADAL" clId="{20C3C022-8956-41D8-B9EF-F034660AD755}" dt="2025-11-27T17:06:05.326" v="9" actId="1076"/>
        <pc:sldMkLst>
          <pc:docMk/>
          <pc:sldMk cId="1624480387" sldId="265"/>
        </pc:sldMkLst>
        <pc:spChg chg="mod">
          <ac:chgData name="Greenrod, Samuel (OCBD)" userId="2206092a-8a12-487a-a963-cafe9a401430" providerId="ADAL" clId="{20C3C022-8956-41D8-B9EF-F034660AD755}" dt="2025-11-27T17:06:05.326" v="9" actId="1076"/>
          <ac:spMkLst>
            <pc:docMk/>
            <pc:sldMk cId="1624480387" sldId="265"/>
            <ac:spMk id="5" creationId="{E1FAA766-B1AB-75A3-8B73-0AEB19725AB2}"/>
          </ac:spMkLst>
        </pc:spChg>
        <pc:picChg chg="del">
          <ac:chgData name="Greenrod, Samuel (OCBD)" userId="2206092a-8a12-487a-a963-cafe9a401430" providerId="ADAL" clId="{20C3C022-8956-41D8-B9EF-F034660AD755}" dt="2025-11-27T17:06:04.026" v="8" actId="478"/>
          <ac:picMkLst>
            <pc:docMk/>
            <pc:sldMk cId="1624480387" sldId="265"/>
            <ac:picMk id="4" creationId="{4CAEC30A-213F-B388-4095-AE216C401208}"/>
          </ac:picMkLst>
        </pc:picChg>
      </pc:sldChg>
      <pc:sldChg chg="delSp modSp mod">
        <pc:chgData name="Greenrod, Samuel (OCBD)" userId="2206092a-8a12-487a-a963-cafe9a401430" providerId="ADAL" clId="{20C3C022-8956-41D8-B9EF-F034660AD755}" dt="2025-11-27T17:06:00.543" v="7" actId="1076"/>
        <pc:sldMkLst>
          <pc:docMk/>
          <pc:sldMk cId="1594676965" sldId="274"/>
        </pc:sldMkLst>
        <pc:spChg chg="mod">
          <ac:chgData name="Greenrod, Samuel (OCBD)" userId="2206092a-8a12-487a-a963-cafe9a401430" providerId="ADAL" clId="{20C3C022-8956-41D8-B9EF-F034660AD755}" dt="2025-11-27T17:06:00.543" v="7" actId="1076"/>
          <ac:spMkLst>
            <pc:docMk/>
            <pc:sldMk cId="1594676965" sldId="274"/>
            <ac:spMk id="5" creationId="{96F51A13-C2B1-98E1-B972-A60F6DEEBDAA}"/>
          </ac:spMkLst>
        </pc:spChg>
        <pc:picChg chg="del">
          <ac:chgData name="Greenrod, Samuel (OCBD)" userId="2206092a-8a12-487a-a963-cafe9a401430" providerId="ADAL" clId="{20C3C022-8956-41D8-B9EF-F034660AD755}" dt="2025-11-27T17:05:58.226" v="6" actId="478"/>
          <ac:picMkLst>
            <pc:docMk/>
            <pc:sldMk cId="1594676965" sldId="274"/>
            <ac:picMk id="4" creationId="{7949C502-27DE-358D-E7E1-7067E2936D0E}"/>
          </ac:picMkLst>
        </pc:picChg>
      </pc:sldChg>
      <pc:sldChg chg="delSp modSp mod">
        <pc:chgData name="Greenrod, Samuel (OCBD)" userId="2206092a-8a12-487a-a963-cafe9a401430" providerId="ADAL" clId="{20C3C022-8956-41D8-B9EF-F034660AD755}" dt="2025-11-27T17:05:56.574" v="5" actId="1076"/>
        <pc:sldMkLst>
          <pc:docMk/>
          <pc:sldMk cId="1794463847" sldId="275"/>
        </pc:sldMkLst>
        <pc:spChg chg="mod">
          <ac:chgData name="Greenrod, Samuel (OCBD)" userId="2206092a-8a12-487a-a963-cafe9a401430" providerId="ADAL" clId="{20C3C022-8956-41D8-B9EF-F034660AD755}" dt="2025-11-27T17:05:56.574" v="5" actId="1076"/>
          <ac:spMkLst>
            <pc:docMk/>
            <pc:sldMk cId="1794463847" sldId="275"/>
            <ac:spMk id="5" creationId="{BEBEAB8F-9831-D4AE-A4F1-A5D9D79033AD}"/>
          </ac:spMkLst>
        </pc:spChg>
        <pc:picChg chg="del">
          <ac:chgData name="Greenrod, Samuel (OCBD)" userId="2206092a-8a12-487a-a963-cafe9a401430" providerId="ADAL" clId="{20C3C022-8956-41D8-B9EF-F034660AD755}" dt="2025-11-27T17:05:55.076" v="4" actId="478"/>
          <ac:picMkLst>
            <pc:docMk/>
            <pc:sldMk cId="1794463847" sldId="275"/>
            <ac:picMk id="4" creationId="{0AF35C6E-E2EF-F8E7-8802-E1D31568D66C}"/>
          </ac:picMkLst>
        </pc:picChg>
      </pc:sldChg>
      <pc:sldChg chg="delSp modSp mod">
        <pc:chgData name="Greenrod, Samuel (OCBD)" userId="2206092a-8a12-487a-a963-cafe9a401430" providerId="ADAL" clId="{20C3C022-8956-41D8-B9EF-F034660AD755}" dt="2025-11-28T09:16:35.489" v="15" actId="122"/>
        <pc:sldMkLst>
          <pc:docMk/>
          <pc:sldMk cId="3191509225" sldId="276"/>
        </pc:sldMkLst>
        <pc:spChg chg="mod">
          <ac:chgData name="Greenrod, Samuel (OCBD)" userId="2206092a-8a12-487a-a963-cafe9a401430" providerId="ADAL" clId="{20C3C022-8956-41D8-B9EF-F034660AD755}" dt="2025-11-28T09:16:35.489" v="15" actId="122"/>
          <ac:spMkLst>
            <pc:docMk/>
            <pc:sldMk cId="3191509225" sldId="276"/>
            <ac:spMk id="2" creationId="{3A1B2C40-0E43-5CD6-E7E6-B8FC05F039D9}"/>
          </ac:spMkLst>
        </pc:spChg>
        <pc:spChg chg="mod">
          <ac:chgData name="Greenrod, Samuel (OCBD)" userId="2206092a-8a12-487a-a963-cafe9a401430" providerId="ADAL" clId="{20C3C022-8956-41D8-B9EF-F034660AD755}" dt="2025-11-27T17:05:52.992" v="3" actId="1076"/>
          <ac:spMkLst>
            <pc:docMk/>
            <pc:sldMk cId="3191509225" sldId="276"/>
            <ac:spMk id="5" creationId="{3BD5515A-E4ED-BD90-34A9-3A42B23AE256}"/>
          </ac:spMkLst>
        </pc:spChg>
        <pc:picChg chg="del">
          <ac:chgData name="Greenrod, Samuel (OCBD)" userId="2206092a-8a12-487a-a963-cafe9a401430" providerId="ADAL" clId="{20C3C022-8956-41D8-B9EF-F034660AD755}" dt="2025-11-27T17:05:48.192" v="0" actId="478"/>
          <ac:picMkLst>
            <pc:docMk/>
            <pc:sldMk cId="3191509225" sldId="276"/>
            <ac:picMk id="4" creationId="{4A2A0A6E-3307-DBA0-3316-E011B614BBA1}"/>
          </ac:picMkLst>
        </pc:picChg>
        <pc:picChg chg="mod">
          <ac:chgData name="Greenrod, Samuel (OCBD)" userId="2206092a-8a12-487a-a963-cafe9a401430" providerId="ADAL" clId="{20C3C022-8956-41D8-B9EF-F034660AD755}" dt="2025-11-27T17:05:50.480" v="2" actId="1076"/>
          <ac:picMkLst>
            <pc:docMk/>
            <pc:sldMk cId="3191509225" sldId="276"/>
            <ac:picMk id="15" creationId="{38958692-DA36-4062-2067-5FD9187802F6}"/>
          </ac:picMkLst>
        </pc:picChg>
      </pc:sldChg>
      <pc:sldChg chg="modSp mod">
        <pc:chgData name="Greenrod, Samuel (OCBD)" userId="2206092a-8a12-487a-a963-cafe9a401430" providerId="ADAL" clId="{20C3C022-8956-41D8-B9EF-F034660AD755}" dt="2025-11-27T17:06:12.213" v="12" actId="1076"/>
        <pc:sldMkLst>
          <pc:docMk/>
          <pc:sldMk cId="572669901" sldId="280"/>
        </pc:sldMkLst>
        <pc:spChg chg="mod">
          <ac:chgData name="Greenrod, Samuel (OCBD)" userId="2206092a-8a12-487a-a963-cafe9a401430" providerId="ADAL" clId="{20C3C022-8956-41D8-B9EF-F034660AD755}" dt="2025-11-27T17:06:12.213" v="12" actId="1076"/>
          <ac:spMkLst>
            <pc:docMk/>
            <pc:sldMk cId="572669901" sldId="280"/>
            <ac:spMk id="5" creationId="{7B5FA364-0DE9-12F2-BE92-3A5F5E4C8FA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Oficina de treinamento para projeto GCF: Mudanças climáticas e impactos das mudanças climáticas em São Tomé e Príncipe, com foco nos setores pesqueiro e turístico no contexto da Economia Azul</a:t>
            </a:r>
            <a:b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São Tomé e Príncipe, novembro/dezembro de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pt-BR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Modelagem de distribuição de espécies usando maxent</a:t>
            </a:r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Samuel Greenrod, Marco Fusi, Riccardo Soldan,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AB30C-2D87-C74C-405A-670FB3C3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8B82-CF15-26F3-A6FC-DCE2551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Pescarias em São Tomé e Príncipe: o desafio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F9C69-A220-021D-6DCA-DB13628BC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3636" y="2005012"/>
            <a:ext cx="5257800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Modelos climáticos projetam mudanças oceanográficas significativas no futuro
Espera-se que as mudanças climáticas afetem as pescas ao alterar: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Reprodução de peixes
Densidades de peixes
Padrões de migração de peixes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03F7CB-4C8D-580D-EEBA-A44271C21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6017" y="6352565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95BC09-408A-A028-15E5-244AD70E24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C4ED02-B311-5215-DA5F-A9BBBC88F0C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C1761-CCEE-58BE-9A61-751EE1C6112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08523A1-7290-2AF3-16D5-A52FAFE12B6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89A456A-796D-10A1-C739-557F614426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35" t="46200" r="26896" b="12861"/>
          <a:stretch>
            <a:fillRect/>
          </a:stretch>
        </p:blipFill>
        <p:spPr>
          <a:xfrm>
            <a:off x="6993275" y="1618001"/>
            <a:ext cx="1871881" cy="3503940"/>
          </a:xfrm>
          <a:prstGeom prst="rect">
            <a:avLst/>
          </a:prstGeom>
        </p:spPr>
      </p:pic>
      <p:pic>
        <p:nvPicPr>
          <p:cNvPr id="13" name="Picture 1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CCD75D8-9B9B-5201-1034-EBDCCA0B66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81" t="91911" r="15732" b="1719"/>
          <a:stretch>
            <a:fillRect/>
          </a:stretch>
        </p:blipFill>
        <p:spPr>
          <a:xfrm>
            <a:off x="6839633" y="5533812"/>
            <a:ext cx="2119941" cy="365125"/>
          </a:xfrm>
          <a:prstGeom prst="rect">
            <a:avLst/>
          </a:prstGeom>
        </p:spPr>
      </p:pic>
      <p:pic>
        <p:nvPicPr>
          <p:cNvPr id="14" name="Picture 1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D0BE1E2-BF92-39E5-E2DC-230AE5E428A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83" t="91911" r="52703" b="3088"/>
          <a:stretch>
            <a:fillRect/>
          </a:stretch>
        </p:blipFill>
        <p:spPr>
          <a:xfrm>
            <a:off x="6972984" y="5201251"/>
            <a:ext cx="1853241" cy="286664"/>
          </a:xfrm>
          <a:prstGeom prst="rect">
            <a:avLst/>
          </a:prstGeom>
        </p:spPr>
      </p:pic>
      <p:pic>
        <p:nvPicPr>
          <p:cNvPr id="15" name="Picture 1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501C99F-2D21-42B1-9892-D214A7BF8F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38" t="46307" r="27825" b="12394"/>
          <a:stretch>
            <a:fillRect/>
          </a:stretch>
        </p:blipFill>
        <p:spPr>
          <a:xfrm>
            <a:off x="9162645" y="1634295"/>
            <a:ext cx="1715635" cy="3531105"/>
          </a:xfrm>
          <a:prstGeom prst="rect">
            <a:avLst/>
          </a:prstGeom>
        </p:spPr>
      </p:pic>
      <p:pic>
        <p:nvPicPr>
          <p:cNvPr id="16" name="Picture 1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DABE6C2B-CBC4-7234-9256-AD8D688E10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00" t="92291" r="25515" b="2817"/>
          <a:stretch>
            <a:fillRect/>
          </a:stretch>
        </p:blipFill>
        <p:spPr>
          <a:xfrm>
            <a:off x="9162645" y="5537727"/>
            <a:ext cx="2268746" cy="279964"/>
          </a:xfrm>
          <a:prstGeom prst="rect">
            <a:avLst/>
          </a:prstGeom>
        </p:spPr>
      </p:pic>
      <p:pic>
        <p:nvPicPr>
          <p:cNvPr id="17" name="Picture 1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3F6475B-95E1-757F-F23C-6B9FDDF51D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22" t="91372" r="65050" b="2849"/>
          <a:stretch>
            <a:fillRect/>
          </a:stretch>
        </p:blipFill>
        <p:spPr>
          <a:xfrm>
            <a:off x="9780466" y="5152284"/>
            <a:ext cx="477328" cy="330709"/>
          </a:xfrm>
          <a:prstGeom prst="rect">
            <a:avLst/>
          </a:prstGeom>
        </p:spPr>
      </p:pic>
      <p:pic>
        <p:nvPicPr>
          <p:cNvPr id="12" name="Picture 1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F1BCAAF-8DBF-CFDE-BB54-55BF3DCA51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749" t="46200" r="2489" b="12861"/>
          <a:stretch>
            <a:fillRect/>
          </a:stretch>
        </p:blipFill>
        <p:spPr>
          <a:xfrm>
            <a:off x="10847977" y="1609375"/>
            <a:ext cx="322053" cy="35039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6DD1E8D-D74A-D627-3898-BCA131942FC5}"/>
              </a:ext>
            </a:extLst>
          </p:cNvPr>
          <p:cNvSpPr txBox="1"/>
          <p:nvPr/>
        </p:nvSpPr>
        <p:spPr>
          <a:xfrm>
            <a:off x="7875187" y="5969655"/>
            <a:ext cx="25016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Os valores são relativos à corrida histórica</a:t>
            </a:r>
            <a:endParaRPr lang="en-GB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163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43415-383E-9F3A-6063-F6DE64291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39597-57ED-0A4B-54BB-C49E2BC66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317" y="509636"/>
            <a:ext cx="11031321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Abordagens de modelagem de distribuição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F7D0B-3588-08B0-0049-708DBA68F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6" y="1952658"/>
            <a:ext cx="5515379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 modelagem de distribuição de espécies pode ser usada para avaliar o impacto climático na distribuição dos peixes
A maioria dos modelos é "empírica" – encontre associações estatísticas entre a ocorrência da espécie e parâmetros ambientais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MaxEnt
R-INLA
SdmTMB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Um pequeno número é "mecanicista" – usa equações que modelam como os sistemas de peixes funcionam e interagem com o clima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E09670-A785-821A-65D0-C1B5F9BCC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6438" y="6303996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45AF79-8BA1-55EA-8D7F-D4A9CF3452A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18566-26EA-20E2-DF6F-8387115801F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15BD8F-18AE-843A-8247-21312ABE456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A176A92-1BE8-9390-CAD4-C04837C21BC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person walking with a computer&#10;&#10;AI-generated content may be incorrect.">
            <a:extLst>
              <a:ext uri="{FF2B5EF4-FFF2-40B4-BE49-F238E27FC236}">
                <a16:creationId xmlns:a16="http://schemas.microsoft.com/office/drawing/2014/main" id="{B6005A82-7AD1-F777-1367-86D6CFA8F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171" y="2831557"/>
            <a:ext cx="3898534" cy="219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72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8EE32-FB31-AAF4-A276-51B4DAB88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30A41-F933-5C82-61A3-1B3C6F20B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empírica – MaxEnt para distribuições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CA1D0-D97E-0CD4-9A3F-D588798CF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6" y="1926210"/>
            <a:ext cx="4843124" cy="4351338"/>
          </a:xfrm>
        </p:spPr>
        <p:txBody>
          <a:bodyPr>
            <a:normAutofit lnSpcReduction="1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Para o relatório STP, usamos uma abordagem de modelagem empírica chamada "MaxEnt" ou Entropia Máxima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Registros de presença de espécies
Valores climáticos em uma região
Compara a distribuição de probabilidade dos valores climáticos associados com dados de fundo.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Depois que o modelo está treinado, você pode aplicar novos dados de projeção climática.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46915B-9538-32C3-8D68-15810C8DD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59133" y="632557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780896-89DE-E1D7-9579-DB087B8098B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45E9DE0-24D8-AD17-3ECD-785281BC837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60D878-696C-C148-885E-EAAF3935A4C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A03E919-A3B9-8DCF-200C-0CA378DC033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Main graphic">
            <a:extLst>
              <a:ext uri="{FF2B5EF4-FFF2-40B4-BE49-F238E27FC236}">
                <a16:creationId xmlns:a16="http://schemas.microsoft.com/office/drawing/2014/main" id="{07E27C95-A1EF-0355-68D7-8BBEAA153E5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295934" y="1926210"/>
            <a:ext cx="5020970" cy="2929619"/>
          </a:xfrm>
          <a:prstGeom prst="rect">
            <a:avLst/>
          </a:prstGeom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BA4FC95-A8B4-C5CE-CED1-9CAA73D34D41}"/>
              </a:ext>
            </a:extLst>
          </p:cNvPr>
          <p:cNvSpPr txBox="1"/>
          <p:nvPr/>
        </p:nvSpPr>
        <p:spPr>
          <a:xfrm>
            <a:off x="5707280" y="5248354"/>
            <a:ext cx="609505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Probabilidades de ocorrência calculadas para:
Períodos de tempo: temporada histórica, 2020-2049, 2050-2079 
Cenários climáticos: SSP1 2.6 &amp; SSP5 8.5
Modelo climático: conjunto CMIP6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57893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606C3-EC55-8A62-AE4B-9F0EB51E7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2DCE6-B3FD-A9EF-579E-BF2877673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Considerações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EA04-8416-0CB5-FA22-1E6E216D3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4492" y="1720607"/>
            <a:ext cx="9845428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000" b="1" u="sng" dirty="0" err="1"/>
              <a:t>Vantagens</a:t>
            </a:r>
            <a:r>
              <a:rPr lang="en-GB" sz="2000" b="1" u="sng" dirty="0"/>
              <a:t> do </a:t>
            </a:r>
            <a:r>
              <a:rPr lang="en-GB" sz="2000" b="1" u="sng" dirty="0" err="1"/>
              <a:t>MaxEnt</a:t>
            </a:r>
            <a:r>
              <a:rPr lang="en-GB" sz="2000" b="1" u="sng" dirty="0"/>
              <a:t>: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Handles presence-only data:</a:t>
            </a:r>
            <a:r>
              <a:rPr lang="en-GB" sz="1600" dirty="0"/>
              <a:t> </a:t>
            </a:r>
            <a:r>
              <a:rPr lang="pt-BR" sz="1600" dirty="0"/>
              <a:t>O MaxEnt é adequado para situações onde apenas dados de presença estão disponíveis, o que é comum em pesquisas ecológicas.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Handles complex relationships:</a:t>
            </a:r>
            <a:r>
              <a:rPr lang="en-GB" sz="1600" dirty="0"/>
              <a:t> </a:t>
            </a:r>
            <a:r>
              <a:rPr lang="pt-BR" sz="1600" dirty="0"/>
              <a:t>Ele pode modelar interações complexas entre variáveis ambientais e distribuições de espécies.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Open-source software:</a:t>
            </a:r>
            <a:r>
              <a:rPr lang="en-GB" sz="1600" dirty="0"/>
              <a:t> </a:t>
            </a:r>
            <a:r>
              <a:rPr lang="pt-BR" sz="1600" dirty="0"/>
              <a:t>O MaxEnt é gratuito e de código aberto.</a:t>
            </a:r>
            <a:endParaRPr lang="en-GB" sz="1600" dirty="0"/>
          </a:p>
          <a:p>
            <a:pPr fontAlgn="ctr"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Widely used:</a:t>
            </a:r>
            <a:r>
              <a:rPr lang="en-GB" sz="1600" dirty="0"/>
              <a:t> </a:t>
            </a:r>
            <a:r>
              <a:rPr lang="pt-BR" sz="1600" dirty="0"/>
              <a:t>É um dos métodos de SDM mais amplamente utilizados na ecologia.</a:t>
            </a:r>
            <a:endParaRPr lang="en-GB" sz="1600" dirty="0"/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endParaRPr lang="en-GB" sz="1600" dirty="0"/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000" b="1" u="sng" dirty="0" err="1"/>
              <a:t>Possíveis</a:t>
            </a:r>
            <a:r>
              <a:rPr lang="en-GB" sz="2000" b="1" u="sng" dirty="0"/>
              <a:t> </a:t>
            </a:r>
            <a:r>
              <a:rPr lang="en-GB" sz="2000" b="1" u="sng" dirty="0" err="1"/>
              <a:t>limitações</a:t>
            </a:r>
            <a:r>
              <a:rPr lang="en-GB" sz="2000" b="1" u="sng" dirty="0"/>
              <a:t>: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Bias in background data:</a:t>
            </a:r>
            <a:endParaRPr lang="en-GB" sz="1600" dirty="0"/>
          </a:p>
          <a:p>
            <a:pPr marL="0" indent="0" font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z="1600" dirty="0"/>
              <a:t>A escolha dos dados de fundo pode influenciar os resultados do modelo.</a:t>
            </a:r>
          </a:p>
          <a:p>
            <a:pPr fontAlgn="ctr"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Assumptions about environmental relationships:</a:t>
            </a:r>
            <a:endParaRPr lang="en-GB" sz="1600" dirty="0"/>
          </a:p>
          <a:p>
            <a:pPr marL="0" indent="0" font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z="1600" dirty="0"/>
              <a:t>O MaxEnt assume que variáveis ambientais são os principais impulsionadores da distribuição das espécies, o que pode nem sempre ser verdade.</a:t>
            </a:r>
          </a:p>
          <a:p>
            <a:pPr fontAlgn="ctr"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Overfitting: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z="1600" dirty="0"/>
              <a:t>O superajuste pode ocorrer se o modelo for complexo demais para os dados disponíveis, levando a um desempenho preditivo ruim em novas áreas.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5FA364-0DE9-12F2-BE92-3A5F5E4C8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72124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FBDB44-A55A-E3E4-D2ED-72E424C887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5365740-189F-B06A-D280-D6033D60C11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EA9ABA6-4B86-8651-CA9E-F0F67605E1FF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03A4739-C4AA-BB75-0CCD-6DE230D0539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2669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0022-9D60-59B1-74D1-A2E6C9468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118BC-F43E-CA57-7819-0E9D54B25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5" y="521846"/>
            <a:ext cx="8472350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Coleta de dados – Dados de presença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8E293-4BF5-ED6D-06B9-3727DDB21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5" y="1862520"/>
            <a:ext cx="4753063" cy="4351338"/>
          </a:xfrm>
        </p:spPr>
        <p:txBody>
          <a:bodyPr>
            <a:normAutofit fontScale="925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MaxEnt requer apenas dados de presença, não dados de presença/ausência
Os dados foram adquiridos do Sistema de Informação sobre a Biodiversidade Oceânica (OBIS)
Informações obrigatórias: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Nome da espécie
Posições históricas de Lon/Lat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151A6-600D-C1C9-ACEC-648FD9837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6068" y="633615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36F795-7E9B-681C-8FFF-BA75A7918A7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C82302-BDCA-5534-55A3-DFE32869398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77EF4AF-23C7-8AEA-AFD6-709CF6DD47C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951CDAC-3A31-BC2E-8902-B1E9B96520F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1E5F9D1-3718-4669-F789-717DAFB92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193" y="1862520"/>
            <a:ext cx="5683414" cy="2523884"/>
          </a:xfrm>
          <a:prstGeom prst="rect">
            <a:avLst/>
          </a:prstGeom>
        </p:spPr>
      </p:pic>
      <p:pic>
        <p:nvPicPr>
          <p:cNvPr id="7" name="Picture 2" descr="Blue runner • Caranx crysos • Fish sheet">
            <a:extLst>
              <a:ext uri="{FF2B5EF4-FFF2-40B4-BE49-F238E27FC236}">
                <a16:creationId xmlns:a16="http://schemas.microsoft.com/office/drawing/2014/main" id="{8F7BCF94-0A75-DD34-FADA-DE64CE3FD2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00" b="8614"/>
          <a:stretch/>
        </p:blipFill>
        <p:spPr bwMode="auto">
          <a:xfrm>
            <a:off x="5883193" y="4680000"/>
            <a:ext cx="2080768" cy="1170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Yellowfin tuna • Thunnus albacares • Fish sheet">
            <a:extLst>
              <a:ext uri="{FF2B5EF4-FFF2-40B4-BE49-F238E27FC236}">
                <a16:creationId xmlns:a16="http://schemas.microsoft.com/office/drawing/2014/main" id="{5453F8CB-A2A2-0F9F-32CF-D36E2F0E5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936" y="4680000"/>
            <a:ext cx="1752264" cy="1168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9652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2814-F045-C08A-F442-A216B1490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2F34E-503B-E33F-CE5E-66E1086FE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5" y="521846"/>
            <a:ext cx="938879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Coleta de dados – dados climáticos marinhos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6DF8-572E-0733-6835-697137F38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400" y="2005012"/>
            <a:ext cx="3546470" cy="4351338"/>
          </a:xfrm>
        </p:spPr>
        <p:txBody>
          <a:bodyPr>
            <a:normAutofit fontScale="92500" lnSpcReduction="1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Dados históricos e climáticos futuros foram obtidos da Bio-Oracle: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Temperatura do oceano
Salinidade
Oxigênio molecular dissolvido
pH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Valores de média e alcance* selecionados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AA766-B1AB-75A3-8B73-0AEB1972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4181" y="635007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E95E010-711D-B03F-7B71-43F074FB4AC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ECB60F7-DA53-7489-5B90-A3629E0D4C0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523606-D155-ECDA-1E99-E77162BCA50D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844C51F-9F31-A70F-B577-8009C48BEE2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D9DFE930-35AA-5C4E-3080-A7C0FF6F4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7087" y="2408903"/>
            <a:ext cx="2913423" cy="178819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0D25ED7-1B01-8021-631C-B85886108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328" y="1648890"/>
            <a:ext cx="3987053" cy="327422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5DF6F82-F558-1276-D264-D02B13F0C4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2126" y="5209110"/>
            <a:ext cx="5236768" cy="1188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480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lue runner • Caranx crysos • Fish sheet">
            <a:extLst>
              <a:ext uri="{FF2B5EF4-FFF2-40B4-BE49-F238E27FC236}">
                <a16:creationId xmlns:a16="http://schemas.microsoft.com/office/drawing/2014/main" id="{29AFD802-5E6C-0F12-14EE-67DEBF31B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00" b="8614"/>
          <a:stretch/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19D566-1356-47BF-B621-68EA7C034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Example: </a:t>
            </a:r>
            <a:r>
              <a:rPr lang="en-US" sz="3600" i="1">
                <a:solidFill>
                  <a:schemeClr val="tx1">
                    <a:lumMod val="85000"/>
                    <a:lumOff val="15000"/>
                  </a:schemeClr>
                </a:solidFill>
              </a:rPr>
              <a:t>Caranx crysos</a:t>
            </a:r>
          </a:p>
        </p:txBody>
      </p:sp>
    </p:spTree>
    <p:extLst>
      <p:ext uri="{BB962C8B-B14F-4D97-AF65-F5344CB8AC3E}">
        <p14:creationId xmlns:p14="http://schemas.microsoft.com/office/powerpoint/2010/main" val="3626862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64AA-FA9F-9C5A-1FED-E9212DB0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F933C-72C2-722F-3094-02CA93900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empírica – MaxEnt para distribuições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F51A13-C2B1-98E1-B972-A60F6DEEB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1774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5400E7-0698-3632-6EE4-D8810E494CF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1CFB1E-9C35-C2A7-B72E-E98540C489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E4AC04A-0560-8CE9-194E-8553C36ADD9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CC94DDB-CFCD-C6A2-BB40-C97F2B4DF351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011947FF-083A-2512-2354-6B3ADC7AF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321" y="2492154"/>
            <a:ext cx="6449156" cy="3219451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32B33A1-CDA9-4258-BE6D-D7A22C869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0138"/>
            <a:ext cx="4221191" cy="4351338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Caranx </a:t>
            </a:r>
            <a:r>
              <a:rPr lang="en-GB" sz="2400" i="1" dirty="0" err="1">
                <a:latin typeface="Arial" panose="020B0604020202020204" pitchFamily="34" charset="0"/>
                <a:cs typeface="Arial" panose="020B0604020202020204" pitchFamily="34" charset="0"/>
              </a:rPr>
              <a:t>crysos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Indicadores mais importantes: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Faixa de oxigênio molecular dissolvido
Temperatura média do oceano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70165A-DC6E-7C3E-357A-6B3EB04AC728}"/>
              </a:ext>
            </a:extLst>
          </p:cNvPr>
          <p:cNvSpPr txBox="1"/>
          <p:nvPr/>
        </p:nvSpPr>
        <p:spPr>
          <a:xfrm>
            <a:off x="10289445" y="1886017"/>
            <a:ext cx="26599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.2 = Gama.</a:t>
            </a:r>
          </a:p>
          <a:p>
            <a:r>
              <a:rPr lang="en-GB" dirty="0"/>
              <a:t>1 = </a:t>
            </a:r>
            <a:r>
              <a:rPr lang="en-GB" dirty="0" err="1"/>
              <a:t>Significar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4676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4E313-CE94-9B9E-46BB-7171D5D4A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A9A4F-1A54-94A0-24BF-F8B53F860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empírica – MaxEnt para distribuições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EAB8F-9831-D4AE-A4F1-A5D9D7903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7255" y="633615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3A79ACE-7E84-EC4D-298B-45043A165DE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0C387FA-2DFA-CF75-CA27-C8341B9B3B7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56910F-0E29-97B3-57F1-27680BCF778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2193D01-69F2-EEB8-B33C-64A49626C12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9FB24792-9353-AF55-058F-C04542493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318" y="1718549"/>
            <a:ext cx="4718021" cy="47666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BA242E0-EBD9-77DD-CD63-CB0EE6EA2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715" y="1761876"/>
            <a:ext cx="4657752" cy="47010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0490B4F-A04B-BCBA-81BA-3E58EC2E0513}"/>
              </a:ext>
            </a:extLst>
          </p:cNvPr>
          <p:cNvSpPr txBox="1"/>
          <p:nvPr/>
        </p:nvSpPr>
        <p:spPr>
          <a:xfrm>
            <a:off x="10221482" y="2262194"/>
            <a:ext cx="1400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Probabilidade de ocorrência de espécie</a:t>
            </a:r>
            <a:endParaRPr lang="en-GB" sz="1200" b="1" dirty="0"/>
          </a:p>
        </p:txBody>
      </p:sp>
    </p:spTree>
    <p:extLst>
      <p:ext uri="{BB962C8B-B14F-4D97-AF65-F5344CB8AC3E}">
        <p14:creationId xmlns:p14="http://schemas.microsoft.com/office/powerpoint/2010/main" val="17944638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73B47-55C2-D469-44E3-79BC06A37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8E38DC8E-7970-BC19-5CAC-F6E21BBF0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602" y="1686121"/>
            <a:ext cx="4953779" cy="275972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8958692-DA36-4062-2067-5FD918780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827" y="4204604"/>
            <a:ext cx="4953781" cy="27597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1B2C40-0E43-5CD6-E7E6-B8FC05F03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empírica – MaxEnt para distribuições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D5515A-E4ED-BD90-34A9-3A42B23AE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9125" y="633615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11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AC613EC-F33A-FAB9-B7ED-834A8EB4BAD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02A39-891C-C9EC-5643-AF295D411C5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E7E874C-02F2-35AE-5AFD-01992E69F2C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E4DF0D9-6AB6-CB86-E3F4-F05A3C44597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85393A94-7724-23BF-C86B-93ACB3A8B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642" y="1974210"/>
            <a:ext cx="4450487" cy="446078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8BF820F-8F30-6529-8802-963EF3E71C48}"/>
              </a:ext>
            </a:extLst>
          </p:cNvPr>
          <p:cNvSpPr/>
          <p:nvPr/>
        </p:nvSpPr>
        <p:spPr>
          <a:xfrm>
            <a:off x="2949959" y="3985977"/>
            <a:ext cx="395416" cy="4077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7EA709-AD56-5B25-ED80-7C7EE20EF424}"/>
              </a:ext>
            </a:extLst>
          </p:cNvPr>
          <p:cNvSpPr txBox="1"/>
          <p:nvPr/>
        </p:nvSpPr>
        <p:spPr>
          <a:xfrm>
            <a:off x="4406419" y="2377188"/>
            <a:ext cx="120964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dirty="0"/>
              <a:t>Shift in probability of species occurrence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E6603B-9313-70C3-F08C-B0778868A150}"/>
              </a:ext>
            </a:extLst>
          </p:cNvPr>
          <p:cNvSpPr txBox="1"/>
          <p:nvPr/>
        </p:nvSpPr>
        <p:spPr>
          <a:xfrm>
            <a:off x="10612678" y="1683284"/>
            <a:ext cx="120964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/>
              <a:t>Mudança na probabilidade de ocorrência de espécies</a:t>
            </a:r>
            <a:endParaRPr lang="en-GB" sz="1100" b="1" dirty="0"/>
          </a:p>
        </p:txBody>
      </p:sp>
    </p:spTree>
    <p:extLst>
      <p:ext uri="{BB962C8B-B14F-4D97-AF65-F5344CB8AC3E}">
        <p14:creationId xmlns:p14="http://schemas.microsoft.com/office/powerpoint/2010/main" val="3191509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3F7EC-B368-2DCE-E84A-D2BAF8F1E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750DA-DE2E-5F7F-1600-7071CFFF3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11070"/>
            <a:ext cx="870961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2D6B5-E21A-CB19-05FD-182AAA0C57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9627" y="2160556"/>
            <a:ext cx="5515379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Espera-se que as mudanças climáticas alterem a distribuição das espécies de peixes
Mudanças projetadas nas distribuições podem ser avaliadas por modelagem empírica
O MaxEnt é uma forma simples de fazer isso usando dados mínimos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22BD9-770C-F251-F809-C3D4B62F0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6165" y="632933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55CDD3D-41BA-2C3D-0B4A-779973D18EE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6ADD459-C462-CA47-D880-9A66B280355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824126C-5CBF-4B86-33BA-A033AF32924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44FFED0-894E-DEDA-0A17-1BE14AF3B64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person walking with a computer&#10;&#10;AI-generated content may be incorrect.">
            <a:extLst>
              <a:ext uri="{FF2B5EF4-FFF2-40B4-BE49-F238E27FC236}">
                <a16:creationId xmlns:a16="http://schemas.microsoft.com/office/drawing/2014/main" id="{6468704D-4C92-1464-93B3-FE3D5B089B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310" y="2579040"/>
            <a:ext cx="3898534" cy="219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66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1038</TotalTime>
  <Words>645</Words>
  <Application>Microsoft Office PowerPoint</Application>
  <PresentationFormat>Widescreen</PresentationFormat>
  <Paragraphs>70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Georgia</vt:lpstr>
      <vt:lpstr>Office Theme</vt:lpstr>
      <vt:lpstr>Oficina de treinamento para projeto GCF: Mudanças climáticas e impactos das mudanças climáticas em São Tomé e Príncipe, com foco nos setores pesqueiro e turístico no contexto da Economia Azul São Tomé e Príncipe, novembro/dezembro de 2025</vt:lpstr>
      <vt:lpstr>Pescarias em São Tomé e Príncipe: o desafio</vt:lpstr>
      <vt:lpstr>Abordagens de modelagem de distribuição de espécies</vt:lpstr>
      <vt:lpstr>Modelagem empírica – MaxEnt para distribuições de espécies</vt:lpstr>
      <vt:lpstr>Considerações importantes</vt:lpstr>
      <vt:lpstr>Coleta de dados – Dados de presença de espécies</vt:lpstr>
      <vt:lpstr>Coleta de dados – dados climáticos marinhos</vt:lpstr>
      <vt:lpstr>Example: Caranx crysos</vt:lpstr>
      <vt:lpstr>Modelagem empírica – MaxEnt para distribuições de espécies</vt:lpstr>
      <vt:lpstr>Modelagem empírica – MaxEnt para distribuições de espécies</vt:lpstr>
      <vt:lpstr>Modelagem empírica – MaxEnt para distribuições de espécies</vt:lpstr>
      <vt:lpstr>Conclusão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Samuel Greenrod</cp:lastModifiedBy>
  <cp:revision>3</cp:revision>
  <dcterms:created xsi:type="dcterms:W3CDTF">2025-11-12T15:08:01Z</dcterms:created>
  <dcterms:modified xsi:type="dcterms:W3CDTF">2025-11-29T16:23:28Z</dcterms:modified>
</cp:coreProperties>
</file>