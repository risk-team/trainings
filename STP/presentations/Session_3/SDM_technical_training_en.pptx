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61" r:id="rId3"/>
    <p:sldId id="262" r:id="rId4"/>
    <p:sldId id="271" r:id="rId5"/>
    <p:sldId id="280" r:id="rId6"/>
    <p:sldId id="264" r:id="rId7"/>
    <p:sldId id="265" r:id="rId8"/>
    <p:sldId id="272" r:id="rId9"/>
    <p:sldId id="274" r:id="rId10"/>
    <p:sldId id="275" r:id="rId11"/>
    <p:sldId id="276" r:id="rId12"/>
    <p:sldId id="28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58D5D99-21CF-B08C-94E1-10539A96C80D}" name="Samuel Greenrod" initials="SG" userId="f4bf26eb60ababa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84FDDF-7D92-4821-8C8B-B543B351CC7D}" v="34" dt="2025-11-28T09:15:40.9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8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enrod, Samuel (OCBD)" userId="2206092a-8a12-487a-a963-cafe9a401430" providerId="ADAL" clId="{20C3C022-8956-41D8-B9EF-F034660AD755}"/>
    <pc:docChg chg="undo custSel modSld">
      <pc:chgData name="Greenrod, Samuel (OCBD)" userId="2206092a-8a12-487a-a963-cafe9a401430" providerId="ADAL" clId="{20C3C022-8956-41D8-B9EF-F034660AD755}" dt="2025-11-28T09:15:24.921" v="75" actId="12"/>
      <pc:docMkLst>
        <pc:docMk/>
      </pc:docMkLst>
      <pc:sldChg chg="modSp mod">
        <pc:chgData name="Greenrod, Samuel (OCBD)" userId="2206092a-8a12-487a-a963-cafe9a401430" providerId="ADAL" clId="{20C3C022-8956-41D8-B9EF-F034660AD755}" dt="2025-11-28T09:12:49.521" v="4" actId="15"/>
        <pc:sldMkLst>
          <pc:docMk/>
          <pc:sldMk cId="2766163668" sldId="261"/>
        </pc:sldMkLst>
        <pc:spChg chg="mod">
          <ac:chgData name="Greenrod, Samuel (OCBD)" userId="2206092a-8a12-487a-a963-cafe9a401430" providerId="ADAL" clId="{20C3C022-8956-41D8-B9EF-F034660AD755}" dt="2025-11-28T09:12:49.521" v="4" actId="15"/>
          <ac:spMkLst>
            <pc:docMk/>
            <pc:sldMk cId="2766163668" sldId="261"/>
            <ac:spMk id="3" creationId="{4E3F9C69-A220-021D-6DCA-DB13628BC29F}"/>
          </ac:spMkLst>
        </pc:spChg>
      </pc:sldChg>
      <pc:sldChg chg="modSp mod">
        <pc:chgData name="Greenrod, Samuel (OCBD)" userId="2206092a-8a12-487a-a963-cafe9a401430" providerId="ADAL" clId="{20C3C022-8956-41D8-B9EF-F034660AD755}" dt="2025-11-28T09:13:07.040" v="16" actId="27636"/>
        <pc:sldMkLst>
          <pc:docMk/>
          <pc:sldMk cId="147372020" sldId="262"/>
        </pc:sldMkLst>
        <pc:spChg chg="mod">
          <ac:chgData name="Greenrod, Samuel (OCBD)" userId="2206092a-8a12-487a-a963-cafe9a401430" providerId="ADAL" clId="{20C3C022-8956-41D8-B9EF-F034660AD755}" dt="2025-11-28T09:13:07.040" v="16" actId="27636"/>
          <ac:spMkLst>
            <pc:docMk/>
            <pc:sldMk cId="147372020" sldId="262"/>
            <ac:spMk id="3" creationId="{658F7D0B-3588-08B0-0049-708DBA68FA54}"/>
          </ac:spMkLst>
        </pc:spChg>
      </pc:sldChg>
      <pc:sldChg chg="modSp mod">
        <pc:chgData name="Greenrod, Samuel (OCBD)" userId="2206092a-8a12-487a-a963-cafe9a401430" providerId="ADAL" clId="{20C3C022-8956-41D8-B9EF-F034660AD755}" dt="2025-11-28T09:14:51.234" v="57" actId="27636"/>
        <pc:sldMkLst>
          <pc:docMk/>
          <pc:sldMk cId="949652993" sldId="264"/>
        </pc:sldMkLst>
        <pc:spChg chg="mod">
          <ac:chgData name="Greenrod, Samuel (OCBD)" userId="2206092a-8a12-487a-a963-cafe9a401430" providerId="ADAL" clId="{20C3C022-8956-41D8-B9EF-F034660AD755}" dt="2025-11-28T09:14:51.234" v="57" actId="27636"/>
          <ac:spMkLst>
            <pc:docMk/>
            <pc:sldMk cId="949652993" sldId="264"/>
            <ac:spMk id="3" creationId="{7378E293-4BF5-ED6D-06B9-3727DDB219FC}"/>
          </ac:spMkLst>
        </pc:spChg>
      </pc:sldChg>
      <pc:sldChg chg="modSp mod">
        <pc:chgData name="Greenrod, Samuel (OCBD)" userId="2206092a-8a12-487a-a963-cafe9a401430" providerId="ADAL" clId="{20C3C022-8956-41D8-B9EF-F034660AD755}" dt="2025-11-28T09:15:07.830" v="67" actId="27636"/>
        <pc:sldMkLst>
          <pc:docMk/>
          <pc:sldMk cId="1624480387" sldId="265"/>
        </pc:sldMkLst>
        <pc:spChg chg="mod">
          <ac:chgData name="Greenrod, Samuel (OCBD)" userId="2206092a-8a12-487a-a963-cafe9a401430" providerId="ADAL" clId="{20C3C022-8956-41D8-B9EF-F034660AD755}" dt="2025-11-28T09:15:07.830" v="67" actId="27636"/>
          <ac:spMkLst>
            <pc:docMk/>
            <pc:sldMk cId="1624480387" sldId="265"/>
            <ac:spMk id="3" creationId="{BF8F6DF8-572E-0733-6835-697137F3851B}"/>
          </ac:spMkLst>
        </pc:spChg>
      </pc:sldChg>
      <pc:sldChg chg="modSp mod">
        <pc:chgData name="Greenrod, Samuel (OCBD)" userId="2206092a-8a12-487a-a963-cafe9a401430" providerId="ADAL" clId="{20C3C022-8956-41D8-B9EF-F034660AD755}" dt="2025-11-28T09:13:36.565" v="29" actId="1076"/>
        <pc:sldMkLst>
          <pc:docMk/>
          <pc:sldMk cId="2578936741" sldId="271"/>
        </pc:sldMkLst>
        <pc:spChg chg="mod">
          <ac:chgData name="Greenrod, Samuel (OCBD)" userId="2206092a-8a12-487a-a963-cafe9a401430" providerId="ADAL" clId="{20C3C022-8956-41D8-B9EF-F034660AD755}" dt="2025-11-28T09:13:31.576" v="28" actId="27636"/>
          <ac:spMkLst>
            <pc:docMk/>
            <pc:sldMk cId="2578936741" sldId="271"/>
            <ac:spMk id="3" creationId="{00ECA1D0-D97E-0CD4-9A3F-D588798CFC2D}"/>
          </ac:spMkLst>
        </pc:spChg>
        <pc:spChg chg="mod">
          <ac:chgData name="Greenrod, Samuel (OCBD)" userId="2206092a-8a12-487a-a963-cafe9a401430" providerId="ADAL" clId="{20C3C022-8956-41D8-B9EF-F034660AD755}" dt="2025-11-28T09:13:36.565" v="29" actId="1076"/>
          <ac:spMkLst>
            <pc:docMk/>
            <pc:sldMk cId="2578936741" sldId="271"/>
            <ac:spMk id="14" creationId="{8BA4FC95-A8B4-C5CE-CED1-9CAA73D34D41}"/>
          </ac:spMkLst>
        </pc:spChg>
      </pc:sldChg>
      <pc:sldChg chg="modSp mod">
        <pc:chgData name="Greenrod, Samuel (OCBD)" userId="2206092a-8a12-487a-a963-cafe9a401430" providerId="ADAL" clId="{20C3C022-8956-41D8-B9EF-F034660AD755}" dt="2025-11-28T09:15:24.921" v="75" actId="12"/>
        <pc:sldMkLst>
          <pc:docMk/>
          <pc:sldMk cId="1594676965" sldId="274"/>
        </pc:sldMkLst>
        <pc:spChg chg="mod">
          <ac:chgData name="Greenrod, Samuel (OCBD)" userId="2206092a-8a12-487a-a963-cafe9a401430" providerId="ADAL" clId="{20C3C022-8956-41D8-B9EF-F034660AD755}" dt="2025-11-28T09:15:24.921" v="75" actId="12"/>
          <ac:spMkLst>
            <pc:docMk/>
            <pc:sldMk cId="1594676965" sldId="274"/>
            <ac:spMk id="15" creationId="{F32B33A1-CDA9-4258-BE6D-D7A22C8698EC}"/>
          </ac:spMkLst>
        </pc:spChg>
        <pc:spChg chg="mod">
          <ac:chgData name="Greenrod, Samuel (OCBD)" userId="2206092a-8a12-487a-a963-cafe9a401430" providerId="ADAL" clId="{20C3C022-8956-41D8-B9EF-F034660AD755}" dt="2025-11-28T09:15:18.595" v="72" actId="20577"/>
          <ac:spMkLst>
            <pc:docMk/>
            <pc:sldMk cId="1594676965" sldId="274"/>
            <ac:spMk id="16" creationId="{C870165A-DC6E-7C3E-357A-6B3EB04AC728}"/>
          </ac:spMkLst>
        </pc:spChg>
      </pc:sldChg>
      <pc:sldChg chg="modSp mod">
        <pc:chgData name="Greenrod, Samuel (OCBD)" userId="2206092a-8a12-487a-a963-cafe9a401430" providerId="ADAL" clId="{20C3C022-8956-41D8-B9EF-F034660AD755}" dt="2025-11-28T09:12:36.865" v="1" actId="20577"/>
        <pc:sldMkLst>
          <pc:docMk/>
          <pc:sldMk cId="3596195578" sldId="278"/>
        </pc:sldMkLst>
        <pc:spChg chg="mod">
          <ac:chgData name="Greenrod, Samuel (OCBD)" userId="2206092a-8a12-487a-a963-cafe9a401430" providerId="ADAL" clId="{20C3C022-8956-41D8-B9EF-F034660AD755}" dt="2025-11-28T09:12:36.865" v="1" actId="20577"/>
          <ac:spMkLst>
            <pc:docMk/>
            <pc:sldMk cId="3596195578" sldId="278"/>
            <ac:spMk id="3" creationId="{B65361E7-4E15-CD6C-8E77-8F89B5B7D557}"/>
          </ac:spMkLst>
        </pc:spChg>
      </pc:sldChg>
      <pc:sldChg chg="modSp mod">
        <pc:chgData name="Greenrod, Samuel (OCBD)" userId="2206092a-8a12-487a-a963-cafe9a401430" providerId="ADAL" clId="{20C3C022-8956-41D8-B9EF-F034660AD755}" dt="2025-11-28T09:14:32.933" v="51" actId="12"/>
        <pc:sldMkLst>
          <pc:docMk/>
          <pc:sldMk cId="572669901" sldId="280"/>
        </pc:sldMkLst>
        <pc:spChg chg="mod">
          <ac:chgData name="Greenrod, Samuel (OCBD)" userId="2206092a-8a12-487a-a963-cafe9a401430" providerId="ADAL" clId="{20C3C022-8956-41D8-B9EF-F034660AD755}" dt="2025-11-28T09:14:32.933" v="51" actId="12"/>
          <ac:spMkLst>
            <pc:docMk/>
            <pc:sldMk cId="572669901" sldId="280"/>
            <ac:spMk id="3" creationId="{A626EA04-8416-0CB5-FA22-1E6E216D3F3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902E7-A716-093E-1362-7E685B34D4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B93B841-8EE8-DCBC-2BAE-B1BF7602C8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7E8C693-220B-B7B6-F273-9E8D88B86E95}"/>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5" name="Footer Placeholder 4">
            <a:extLst>
              <a:ext uri="{FF2B5EF4-FFF2-40B4-BE49-F238E27FC236}">
                <a16:creationId xmlns:a16="http://schemas.microsoft.com/office/drawing/2014/main" id="{24EFA331-FF6B-E678-85E6-FA98BFF103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A291788-18EC-C0F1-421D-E58F375C33F3}"/>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2031169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D914C-2843-B9AD-AC46-8BE4D43569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6207C89-5D55-D97F-1B0F-874F7957A3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8F25AA-4827-21EE-6457-0D8A1E27940B}"/>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5" name="Footer Placeholder 4">
            <a:extLst>
              <a:ext uri="{FF2B5EF4-FFF2-40B4-BE49-F238E27FC236}">
                <a16:creationId xmlns:a16="http://schemas.microsoft.com/office/drawing/2014/main" id="{5CA3C8B3-BFB7-B7B7-401A-DDE6A010EE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13345C-1881-0252-ED6F-932F01657963}"/>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1958168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64E0-F887-C31C-EDEF-579D66A3B1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C424415-DF7E-52B8-145E-786748D81B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B3C852-2345-F521-177D-4E5B893FCC54}"/>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5" name="Footer Placeholder 4">
            <a:extLst>
              <a:ext uri="{FF2B5EF4-FFF2-40B4-BE49-F238E27FC236}">
                <a16:creationId xmlns:a16="http://schemas.microsoft.com/office/drawing/2014/main" id="{8722B64E-F91B-6635-C807-E852F82D42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915CAA-E194-3CD1-B25D-967407BF2A00}"/>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2841936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15E79-11E6-91DA-C1DF-43EE6E2C86D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59403DD-2C16-8613-848C-729DFEAAF8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9A4534D-6506-01C1-835C-A2A80BA208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D068A7E-5959-EF74-4AE3-4C6598E18FCB}"/>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6" name="Footer Placeholder 5">
            <a:extLst>
              <a:ext uri="{FF2B5EF4-FFF2-40B4-BE49-F238E27FC236}">
                <a16:creationId xmlns:a16="http://schemas.microsoft.com/office/drawing/2014/main" id="{B849150A-5F84-8DA5-F9D7-271F272A5D2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4E8E90A-6E5D-37FA-5043-B6C8C6992213}"/>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2189909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4F9A9-40C4-1957-20AC-E2581FC5B49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121D9B0-C6B0-FF15-4F4A-1DF24A7341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E3EC60-5D65-13EB-9B87-BF64988D8E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E5016FE-5560-05A2-0A09-557D143F32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4BD99A-6DAE-04A0-D8FE-6469EBAD3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5B7807F-E675-8070-B291-0A7766639B8D}"/>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8" name="Footer Placeholder 7">
            <a:extLst>
              <a:ext uri="{FF2B5EF4-FFF2-40B4-BE49-F238E27FC236}">
                <a16:creationId xmlns:a16="http://schemas.microsoft.com/office/drawing/2014/main" id="{599B2935-82F4-5EC2-F131-22AF5636629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06C4B4F-8FF7-6EF4-B3B3-97E03062336F}"/>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867565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4752-E894-E28F-CC83-669C0C98E7C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FEF1A0F-BAEE-193B-5104-D689D600157C}"/>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4" name="Footer Placeholder 3">
            <a:extLst>
              <a:ext uri="{FF2B5EF4-FFF2-40B4-BE49-F238E27FC236}">
                <a16:creationId xmlns:a16="http://schemas.microsoft.com/office/drawing/2014/main" id="{3B72CC38-EE6B-3312-D9DE-2250B873EDB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83E9EBF-D944-C8F9-494F-0C0806F2E6B0}"/>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3156771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B7050D-7431-6E75-ABFE-4904280C9DDF}"/>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3" name="Footer Placeholder 2">
            <a:extLst>
              <a:ext uri="{FF2B5EF4-FFF2-40B4-BE49-F238E27FC236}">
                <a16:creationId xmlns:a16="http://schemas.microsoft.com/office/drawing/2014/main" id="{6D2B6110-B850-CD4C-D9A2-04E486B7468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D404830-154D-725F-C08C-90848CBEEC2D}"/>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3049887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E49D0-2387-A63D-B1EB-1BBC9DD07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F2C4B2-AD0C-5FD7-E9D0-3BD735028A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512B124-0D1F-E6BB-FE9A-27008B0E19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F39A0-D2C4-810D-5040-DB77176E1FBC}"/>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6" name="Footer Placeholder 5">
            <a:extLst>
              <a:ext uri="{FF2B5EF4-FFF2-40B4-BE49-F238E27FC236}">
                <a16:creationId xmlns:a16="http://schemas.microsoft.com/office/drawing/2014/main" id="{6CC6447C-D477-B9DD-EE25-969620FCFFF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89CDE6-DDB1-B3DF-3BCF-E1EC5D5159C2}"/>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2186924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E8146-53AD-B0B0-25E0-D41028B568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E143BD9-A1EC-BBF8-5CA0-27C292981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63376DA-0DA9-DFA7-29A1-A419855517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F8036A-EA62-8F43-229C-6ED5D983400B}"/>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6" name="Footer Placeholder 5">
            <a:extLst>
              <a:ext uri="{FF2B5EF4-FFF2-40B4-BE49-F238E27FC236}">
                <a16:creationId xmlns:a16="http://schemas.microsoft.com/office/drawing/2014/main" id="{2A00B40C-1B62-4385-EE1A-160F6548F03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0D04422-6B0A-10B8-3E85-A0802CE7BAAE}"/>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544847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711CF-0431-B737-6A3C-1BD9527990E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806C612-0010-B526-C894-8CE6494EE7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1E29F3-C586-D1F0-64FB-8140E0B67B24}"/>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5" name="Footer Placeholder 4">
            <a:extLst>
              <a:ext uri="{FF2B5EF4-FFF2-40B4-BE49-F238E27FC236}">
                <a16:creationId xmlns:a16="http://schemas.microsoft.com/office/drawing/2014/main" id="{0B40C656-9408-1B7B-A7F2-88EF768D3D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895FBF-191E-7C84-1861-41F1AF54AFE8}"/>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3806963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9C1F22-C032-7740-E855-6710D61644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E425B6A-B82A-FACB-1442-1AF6B13F0C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E4CB769-4CFA-EC12-C2AF-7BD7D6E22B1E}"/>
              </a:ext>
            </a:extLst>
          </p:cNvPr>
          <p:cNvSpPr>
            <a:spLocks noGrp="1"/>
          </p:cNvSpPr>
          <p:nvPr>
            <p:ph type="dt" sz="half" idx="10"/>
          </p:nvPr>
        </p:nvSpPr>
        <p:spPr/>
        <p:txBody>
          <a:bodyPr/>
          <a:lstStyle/>
          <a:p>
            <a:fld id="{F8A8B291-23C9-4CE5-96D0-E0118EB6230C}" type="datetimeFigureOut">
              <a:rPr lang="en-GB" smtClean="0"/>
              <a:t>27/11/2025</a:t>
            </a:fld>
            <a:endParaRPr lang="en-GB"/>
          </a:p>
        </p:txBody>
      </p:sp>
      <p:sp>
        <p:nvSpPr>
          <p:cNvPr id="5" name="Footer Placeholder 4">
            <a:extLst>
              <a:ext uri="{FF2B5EF4-FFF2-40B4-BE49-F238E27FC236}">
                <a16:creationId xmlns:a16="http://schemas.microsoft.com/office/drawing/2014/main" id="{EBF7E55E-D6FC-DB93-3863-32D5DBC12F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B7CCFB-D6DD-C1F2-BFB1-84BECB741198}"/>
              </a:ext>
            </a:extLst>
          </p:cNvPr>
          <p:cNvSpPr>
            <a:spLocks noGrp="1"/>
          </p:cNvSpPr>
          <p:nvPr>
            <p:ph type="sldNum" sz="quarter" idx="12"/>
          </p:nvPr>
        </p:nvSpPr>
        <p:spPr/>
        <p:txBody>
          <a:bodyPr/>
          <a:lstStyle/>
          <a:p>
            <a:fld id="{77D8A2FC-6519-446D-B231-6C50CD6883EA}" type="slidenum">
              <a:rPr lang="en-GB" smtClean="0"/>
              <a:t>‹#›</a:t>
            </a:fld>
            <a:endParaRPr lang="en-GB"/>
          </a:p>
        </p:txBody>
      </p:sp>
    </p:spTree>
    <p:extLst>
      <p:ext uri="{BB962C8B-B14F-4D97-AF65-F5344CB8AC3E}">
        <p14:creationId xmlns:p14="http://schemas.microsoft.com/office/powerpoint/2010/main" val="62362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4F7785-40BA-DF1C-3523-7CCE340EE5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A092171-54C5-E92A-D2A9-070C218267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8C93DE5-AB22-1D9D-2C5C-C2796AAEBF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A8B291-23C9-4CE5-96D0-E0118EB6230C}" type="datetimeFigureOut">
              <a:rPr lang="en-GB" smtClean="0"/>
              <a:t>27/11/2025</a:t>
            </a:fld>
            <a:endParaRPr lang="en-GB"/>
          </a:p>
        </p:txBody>
      </p:sp>
      <p:sp>
        <p:nvSpPr>
          <p:cNvPr id="5" name="Footer Placeholder 4">
            <a:extLst>
              <a:ext uri="{FF2B5EF4-FFF2-40B4-BE49-F238E27FC236}">
                <a16:creationId xmlns:a16="http://schemas.microsoft.com/office/drawing/2014/main" id="{0448E0D2-DD2A-9440-3AA2-BF0A61A900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6E916CE-CB18-558E-31A7-4004BD0D09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D8A2FC-6519-446D-B231-6C50CD6883EA}" type="slidenum">
              <a:rPr lang="en-GB" smtClean="0"/>
              <a:t>‹#›</a:t>
            </a:fld>
            <a:endParaRPr lang="en-GB"/>
          </a:p>
        </p:txBody>
      </p:sp>
    </p:spTree>
    <p:extLst>
      <p:ext uri="{BB962C8B-B14F-4D97-AF65-F5344CB8AC3E}">
        <p14:creationId xmlns:p14="http://schemas.microsoft.com/office/powerpoint/2010/main" val="2651773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74D7-F4EA-CF5E-D552-74464B3CD55E}"/>
              </a:ext>
            </a:extLst>
          </p:cNvPr>
          <p:cNvSpPr>
            <a:spLocks noGrp="1"/>
          </p:cNvSpPr>
          <p:nvPr>
            <p:ph type="ctrTitle"/>
          </p:nvPr>
        </p:nvSpPr>
        <p:spPr>
          <a:xfrm>
            <a:off x="1523999" y="2060179"/>
            <a:ext cx="9144000" cy="1655762"/>
          </a:xfrm>
        </p:spPr>
        <p:txBody>
          <a:bodyPr>
            <a:normAutofit fontScale="90000"/>
          </a:bodyPr>
          <a:lstStyle/>
          <a:p>
            <a:pPr>
              <a:lnSpc>
                <a:spcPct val="150000"/>
              </a:lnSpc>
            </a:pPr>
            <a:r>
              <a:rPr lang="en-GB" sz="2200" dirty="0">
                <a:solidFill>
                  <a:srgbClr val="0070C0"/>
                </a:solidFill>
                <a:latin typeface="Arial"/>
                <a:cs typeface="Arial"/>
              </a:rPr>
              <a:t>Training workshop for the GCF project: Climate change and the impacts of climate change in Sao Tome and Principe, focusing on the fishing and tourism sectors in the context of the Blue Economy</a:t>
            </a:r>
            <a:br>
              <a:rPr lang="en-GB" sz="2200" dirty="0">
                <a:solidFill>
                  <a:srgbClr val="0070C0"/>
                </a:solidFill>
                <a:latin typeface="Arial"/>
                <a:cs typeface="Arial"/>
              </a:rPr>
            </a:br>
            <a:r>
              <a:rPr lang="en-GB" sz="2200" dirty="0">
                <a:solidFill>
                  <a:srgbClr val="0070C0"/>
                </a:solidFill>
                <a:latin typeface="Arial"/>
                <a:cs typeface="Arial"/>
              </a:rPr>
              <a:t>Sao Tome and Principe, November/December 2025</a:t>
            </a:r>
            <a:endParaRPr lang="en-US" sz="3600" dirty="0">
              <a:solidFill>
                <a:srgbClr val="0070C0"/>
              </a:solidFill>
              <a:latin typeface="Arial"/>
              <a:cs typeface="Arial"/>
            </a:endParaRPr>
          </a:p>
        </p:txBody>
      </p:sp>
      <p:sp>
        <p:nvSpPr>
          <p:cNvPr id="3" name="Subtitle 2">
            <a:extLst>
              <a:ext uri="{FF2B5EF4-FFF2-40B4-BE49-F238E27FC236}">
                <a16:creationId xmlns:a16="http://schemas.microsoft.com/office/drawing/2014/main" id="{B65361E7-4E15-CD6C-8E77-8F89B5B7D557}"/>
              </a:ext>
            </a:extLst>
          </p:cNvPr>
          <p:cNvSpPr>
            <a:spLocks noGrp="1"/>
          </p:cNvSpPr>
          <p:nvPr>
            <p:ph type="subTitle" idx="1"/>
          </p:nvPr>
        </p:nvSpPr>
        <p:spPr>
          <a:xfrm>
            <a:off x="1524000" y="4373677"/>
            <a:ext cx="9144000" cy="1655762"/>
          </a:xfrm>
        </p:spPr>
        <p:txBody>
          <a:bodyPr>
            <a:normAutofit/>
          </a:bodyPr>
          <a:lstStyle/>
          <a:p>
            <a:r>
              <a:rPr lang="en-GB" b="1" cap="all" dirty="0">
                <a:solidFill>
                  <a:schemeClr val="accent5">
                    <a:lumMod val="75000"/>
                  </a:schemeClr>
                </a:solidFill>
                <a:latin typeface="Georgia" panose="02040502050405020303" pitchFamily="18" charset="0"/>
              </a:rPr>
              <a:t>Species Distribution </a:t>
            </a:r>
            <a:r>
              <a:rPr lang="en-GB" b="1" cap="all" dirty="0" err="1">
                <a:solidFill>
                  <a:schemeClr val="accent5">
                    <a:lumMod val="75000"/>
                  </a:schemeClr>
                </a:solidFill>
                <a:latin typeface="Georgia" panose="02040502050405020303" pitchFamily="18" charset="0"/>
              </a:rPr>
              <a:t>Modeling</a:t>
            </a:r>
            <a:r>
              <a:rPr lang="en-GB" b="1" cap="all" dirty="0">
                <a:solidFill>
                  <a:schemeClr val="accent5">
                    <a:lumMod val="75000"/>
                  </a:schemeClr>
                </a:solidFill>
                <a:latin typeface="Georgia" panose="02040502050405020303" pitchFamily="18" charset="0"/>
              </a:rPr>
              <a:t> Using Maxent</a:t>
            </a:r>
          </a:p>
          <a:p>
            <a:endParaRPr lang="en-GB" sz="1500" b="1" cap="all" dirty="0">
              <a:solidFill>
                <a:schemeClr val="accent5">
                  <a:lumMod val="75000"/>
                </a:schemeClr>
              </a:solidFill>
              <a:latin typeface="Georgia" panose="02040502050405020303" pitchFamily="18" charset="0"/>
            </a:endParaRPr>
          </a:p>
          <a:p>
            <a:r>
              <a:rPr lang="en-US" sz="1500" dirty="0">
                <a:solidFill>
                  <a:schemeClr val="accent1">
                    <a:lumMod val="50000"/>
                  </a:schemeClr>
                </a:solidFill>
                <a:latin typeface="Georgia" panose="02040502050405020303" pitchFamily="18" charset="0"/>
              </a:rPr>
              <a:t>By: Samuel Greenrod, Marco Fusi, Riccardo Soldan, Lionel </a:t>
            </a:r>
            <a:r>
              <a:rPr lang="en-US" sz="1500" dirty="0" err="1">
                <a:solidFill>
                  <a:schemeClr val="accent1">
                    <a:lumMod val="50000"/>
                  </a:schemeClr>
                </a:solidFill>
                <a:latin typeface="Georgia" panose="02040502050405020303" pitchFamily="18" charset="0"/>
              </a:rPr>
              <a:t>Kinadjian</a:t>
            </a:r>
            <a:endParaRPr lang="en-US" sz="1500" dirty="0">
              <a:solidFill>
                <a:schemeClr val="accent1">
                  <a:lumMod val="50000"/>
                </a:schemeClr>
              </a:solidFill>
              <a:latin typeface="Georgia" panose="02040502050405020303" pitchFamily="18" charset="0"/>
            </a:endParaRPr>
          </a:p>
        </p:txBody>
      </p:sp>
      <p:pic>
        <p:nvPicPr>
          <p:cNvPr id="7" name="Picture 6" descr="Graphical user interface, text&#10;&#10;Description automatically generated">
            <a:extLst>
              <a:ext uri="{FF2B5EF4-FFF2-40B4-BE49-F238E27FC236}">
                <a16:creationId xmlns:a16="http://schemas.microsoft.com/office/drawing/2014/main" id="{09888D26-7370-8509-4416-30924E0722A5}"/>
              </a:ext>
            </a:extLst>
          </p:cNvPr>
          <p:cNvPicPr>
            <a:picLocks noChangeAspect="1"/>
          </p:cNvPicPr>
          <p:nvPr/>
        </p:nvPicPr>
        <p:blipFill>
          <a:blip r:embed="rId2"/>
          <a:srcRect r="31257"/>
          <a:stretch>
            <a:fillRect/>
          </a:stretch>
        </p:blipFill>
        <p:spPr>
          <a:xfrm>
            <a:off x="594821" y="257459"/>
            <a:ext cx="3014653" cy="1003438"/>
          </a:xfrm>
          <a:prstGeom prst="rect">
            <a:avLst/>
          </a:prstGeom>
        </p:spPr>
      </p:pic>
      <p:cxnSp>
        <p:nvCxnSpPr>
          <p:cNvPr id="10" name="Straight Connector 9">
            <a:extLst>
              <a:ext uri="{FF2B5EF4-FFF2-40B4-BE49-F238E27FC236}">
                <a16:creationId xmlns:a16="http://schemas.microsoft.com/office/drawing/2014/main" id="{976A18F0-129F-D4F1-D5BD-9C6826AB94BE}"/>
              </a:ext>
            </a:extLst>
          </p:cNvPr>
          <p:cNvCxnSpPr/>
          <p:nvPr/>
        </p:nvCxnSpPr>
        <p:spPr>
          <a:xfrm>
            <a:off x="968828" y="3935186"/>
            <a:ext cx="1025434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0465DBE5-7B38-D154-314F-B7ABE5C7A406}"/>
              </a:ext>
            </a:extLst>
          </p:cNvPr>
          <p:cNvGrpSpPr/>
          <p:nvPr/>
        </p:nvGrpSpPr>
        <p:grpSpPr>
          <a:xfrm>
            <a:off x="-16329" y="1390670"/>
            <a:ext cx="12208329" cy="262452"/>
            <a:chOff x="-16329" y="6677194"/>
            <a:chExt cx="12208329" cy="262452"/>
          </a:xfrm>
        </p:grpSpPr>
        <p:sp>
          <p:nvSpPr>
            <p:cNvPr id="12" name="Rectangle 11">
              <a:extLst>
                <a:ext uri="{FF2B5EF4-FFF2-40B4-BE49-F238E27FC236}">
                  <a16:creationId xmlns:a16="http://schemas.microsoft.com/office/drawing/2014/main" id="{4921F9B8-11EE-4197-BAF5-5A5EB6D664EE}"/>
                </a:ext>
              </a:extLst>
            </p:cNvPr>
            <p:cNvSpPr/>
            <p:nvPr/>
          </p:nvSpPr>
          <p:spPr>
            <a:xfrm>
              <a:off x="6384471" y="6678386"/>
              <a:ext cx="3804558" cy="2612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89C7B9-DBF0-4289-6D9A-D7CEC898F07B}"/>
                </a:ext>
              </a:extLst>
            </p:cNvPr>
            <p:cNvSpPr/>
            <p:nvPr/>
          </p:nvSpPr>
          <p:spPr>
            <a:xfrm>
              <a:off x="-16329" y="6678388"/>
              <a:ext cx="6400800" cy="26125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D5C065-F1C4-74F3-61B8-06241CFB5626}"/>
                </a:ext>
              </a:extLst>
            </p:cNvPr>
            <p:cNvSpPr/>
            <p:nvPr/>
          </p:nvSpPr>
          <p:spPr>
            <a:xfrm>
              <a:off x="10189029" y="6677194"/>
              <a:ext cx="2002971" cy="2624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74" name="Picture 2">
            <a:extLst>
              <a:ext uri="{FF2B5EF4-FFF2-40B4-BE49-F238E27FC236}">
                <a16:creationId xmlns:a16="http://schemas.microsoft.com/office/drawing/2014/main" id="{D18EC2C8-8D2B-E43F-E1FF-B94334997B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166" y="174034"/>
            <a:ext cx="2173726" cy="1086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619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AB30C-2D87-C74C-405A-670FB3C38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58B82-CF15-26F3-A6FC-DCE25512E8CF}"/>
              </a:ext>
            </a:extLst>
          </p:cNvPr>
          <p:cNvSpPr>
            <a:spLocks noGrp="1"/>
          </p:cNvSpPr>
          <p:nvPr>
            <p:ph type="title"/>
          </p:nvPr>
        </p:nvSpPr>
        <p:spPr>
          <a:xfrm>
            <a:off x="838200" y="365125"/>
            <a:ext cx="10360052" cy="1325563"/>
          </a:xfrm>
        </p:spPr>
        <p:txBody>
          <a:bodyPr>
            <a:normAutofit/>
          </a:bodyPr>
          <a:lstStyle/>
          <a:p>
            <a:r>
              <a:rPr lang="en-GB" sz="3200" b="1" dirty="0">
                <a:solidFill>
                  <a:srgbClr val="0070C0"/>
                </a:solidFill>
                <a:latin typeface="Arial" panose="020B0604020202020204" pitchFamily="34" charset="0"/>
                <a:cs typeface="Arial" panose="020B0604020202020204" pitchFamily="34" charset="0"/>
              </a:rPr>
              <a:t>Fisheries in Sao Tome and Principe: the challenge</a:t>
            </a:r>
            <a:endParaRPr lang="en-US" sz="3200" b="1"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E3F9C69-A220-021D-6DCA-DB13628BC29F}"/>
              </a:ext>
            </a:extLst>
          </p:cNvPr>
          <p:cNvSpPr>
            <a:spLocks noGrp="1"/>
          </p:cNvSpPr>
          <p:nvPr>
            <p:ph idx="1"/>
          </p:nvPr>
        </p:nvSpPr>
        <p:spPr>
          <a:xfrm>
            <a:off x="953636" y="2005012"/>
            <a:ext cx="5257800" cy="4351338"/>
          </a:xfrm>
        </p:spPr>
        <p:txBody>
          <a:bodyPr>
            <a:normAutofit/>
          </a:bodyPr>
          <a:lstStyle/>
          <a:p>
            <a:r>
              <a:rPr lang="en-GB" dirty="0">
                <a:latin typeface="Arial" panose="020B0604020202020204" pitchFamily="34" charset="0"/>
                <a:cs typeface="Arial" panose="020B0604020202020204" pitchFamily="34" charset="0"/>
              </a:rPr>
              <a:t>Climate models project significant oceanographic changes in the future
Climate change is expected to affect fisheries by altering:</a:t>
            </a:r>
          </a:p>
          <a:p>
            <a:pPr lvl="1"/>
            <a:r>
              <a:rPr lang="en-GB" dirty="0">
                <a:latin typeface="Arial" panose="020B0604020202020204" pitchFamily="34" charset="0"/>
                <a:cs typeface="Arial" panose="020B0604020202020204" pitchFamily="34" charset="0"/>
              </a:rPr>
              <a:t>Fish reproduction
Fish densities
Fish migration patterns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1303F7CB-4C8D-580D-EEBA-A44271C21962}"/>
              </a:ext>
            </a:extLst>
          </p:cNvPr>
          <p:cNvSpPr>
            <a:spLocks noGrp="1"/>
          </p:cNvSpPr>
          <p:nvPr>
            <p:ph type="sldNum" sz="quarter" idx="12"/>
          </p:nvPr>
        </p:nvSpPr>
        <p:spPr>
          <a:xfrm>
            <a:off x="9126017" y="6352565"/>
            <a:ext cx="2743200" cy="365125"/>
          </a:xfrm>
        </p:spPr>
        <p:txBody>
          <a:bodyPr/>
          <a:lstStyle/>
          <a:p>
            <a:fld id="{D51B4FB4-AA13-FE41-AF8A-525BA2FA973D}" type="slidenum">
              <a:rPr lang="en-US" smtClean="0"/>
              <a:t>2</a:t>
            </a:fld>
            <a:endParaRPr lang="en-US" dirty="0"/>
          </a:p>
        </p:txBody>
      </p:sp>
      <p:grpSp>
        <p:nvGrpSpPr>
          <p:cNvPr id="6" name="Group 5">
            <a:extLst>
              <a:ext uri="{FF2B5EF4-FFF2-40B4-BE49-F238E27FC236}">
                <a16:creationId xmlns:a16="http://schemas.microsoft.com/office/drawing/2014/main" id="{4E95BC09-408A-A028-15E5-244AD70E246A}"/>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76C4ED02-B311-5215-DA5F-A9BBBC88F0C7}"/>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DCC1761-CCEE-58BE-9A61-751EE1C61125}"/>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E08523A1-7290-2AF3-16D5-A52FAFE12B63}"/>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1" name="Picture 10" descr="A screenshot of a computer screen&#10;&#10;AI-generated content may be incorrect.">
            <a:extLst>
              <a:ext uri="{FF2B5EF4-FFF2-40B4-BE49-F238E27FC236}">
                <a16:creationId xmlns:a16="http://schemas.microsoft.com/office/drawing/2014/main" id="{289A456A-796D-10A1-C739-557F61442656}"/>
              </a:ext>
            </a:extLst>
          </p:cNvPr>
          <p:cNvPicPr>
            <a:picLocks noChangeAspect="1"/>
          </p:cNvPicPr>
          <p:nvPr/>
        </p:nvPicPr>
        <p:blipFill>
          <a:blip r:embed="rId2" cstate="print">
            <a:extLst>
              <a:ext uri="{28A0092B-C50C-407E-A947-70E740481C1C}">
                <a14:useLocalDpi xmlns:a14="http://schemas.microsoft.com/office/drawing/2010/main" val="0"/>
              </a:ext>
            </a:extLst>
          </a:blip>
          <a:srcRect l="51235" t="46200" r="26896" b="12861"/>
          <a:stretch>
            <a:fillRect/>
          </a:stretch>
        </p:blipFill>
        <p:spPr>
          <a:xfrm>
            <a:off x="6993275" y="1618001"/>
            <a:ext cx="1871881" cy="3503940"/>
          </a:xfrm>
          <a:prstGeom prst="rect">
            <a:avLst/>
          </a:prstGeom>
        </p:spPr>
      </p:pic>
      <p:pic>
        <p:nvPicPr>
          <p:cNvPr id="13" name="Picture 12" descr="A screenshot of a computer screen&#10;&#10;AI-generated content may be incorrect.">
            <a:extLst>
              <a:ext uri="{FF2B5EF4-FFF2-40B4-BE49-F238E27FC236}">
                <a16:creationId xmlns:a16="http://schemas.microsoft.com/office/drawing/2014/main" id="{FCCD75D8-9B9B-5201-1034-EBDCCA0B66D4}"/>
              </a:ext>
            </a:extLst>
          </p:cNvPr>
          <p:cNvPicPr>
            <a:picLocks noChangeAspect="1"/>
          </p:cNvPicPr>
          <p:nvPr/>
        </p:nvPicPr>
        <p:blipFill>
          <a:blip r:embed="rId2" cstate="print">
            <a:extLst>
              <a:ext uri="{28A0092B-C50C-407E-A947-70E740481C1C}">
                <a14:useLocalDpi xmlns:a14="http://schemas.microsoft.com/office/drawing/2010/main" val="0"/>
              </a:ext>
            </a:extLst>
          </a:blip>
          <a:srcRect l="47281" t="91911" r="15732" b="1719"/>
          <a:stretch>
            <a:fillRect/>
          </a:stretch>
        </p:blipFill>
        <p:spPr>
          <a:xfrm>
            <a:off x="6839633" y="5533812"/>
            <a:ext cx="2119941" cy="365125"/>
          </a:xfrm>
          <a:prstGeom prst="rect">
            <a:avLst/>
          </a:prstGeom>
        </p:spPr>
      </p:pic>
      <p:pic>
        <p:nvPicPr>
          <p:cNvPr id="14" name="Picture 13" descr="A screenshot of a computer screen&#10;&#10;AI-generated content may be incorrect.">
            <a:extLst>
              <a:ext uri="{FF2B5EF4-FFF2-40B4-BE49-F238E27FC236}">
                <a16:creationId xmlns:a16="http://schemas.microsoft.com/office/drawing/2014/main" id="{5D0BE1E2-BF92-39E5-E2DC-230AE5E428A8}"/>
              </a:ext>
            </a:extLst>
          </p:cNvPr>
          <p:cNvPicPr>
            <a:picLocks noChangeAspect="1"/>
          </p:cNvPicPr>
          <p:nvPr/>
        </p:nvPicPr>
        <p:blipFill>
          <a:blip r:embed="rId2" cstate="print">
            <a:extLst>
              <a:ext uri="{28A0092B-C50C-407E-A947-70E740481C1C}">
                <a14:useLocalDpi xmlns:a14="http://schemas.microsoft.com/office/drawing/2010/main" val="0"/>
              </a:ext>
            </a:extLst>
          </a:blip>
          <a:srcRect l="14283" t="91911" r="52703" b="3088"/>
          <a:stretch>
            <a:fillRect/>
          </a:stretch>
        </p:blipFill>
        <p:spPr>
          <a:xfrm>
            <a:off x="6972984" y="5201251"/>
            <a:ext cx="1853241" cy="286664"/>
          </a:xfrm>
          <a:prstGeom prst="rect">
            <a:avLst/>
          </a:prstGeom>
        </p:spPr>
      </p:pic>
      <p:pic>
        <p:nvPicPr>
          <p:cNvPr id="15" name="Picture 14" descr="A screenshot of a computer screen&#10;&#10;AI-generated content may be incorrect.">
            <a:extLst>
              <a:ext uri="{FF2B5EF4-FFF2-40B4-BE49-F238E27FC236}">
                <a16:creationId xmlns:a16="http://schemas.microsoft.com/office/drawing/2014/main" id="{F501C99F-2D21-42B1-9892-D214A7BF8F41}"/>
              </a:ext>
            </a:extLst>
          </p:cNvPr>
          <p:cNvPicPr>
            <a:picLocks noChangeAspect="1"/>
          </p:cNvPicPr>
          <p:nvPr/>
        </p:nvPicPr>
        <p:blipFill>
          <a:blip r:embed="rId3" cstate="print">
            <a:extLst>
              <a:ext uri="{28A0092B-C50C-407E-A947-70E740481C1C}">
                <a14:useLocalDpi xmlns:a14="http://schemas.microsoft.com/office/drawing/2010/main" val="0"/>
              </a:ext>
            </a:extLst>
          </a:blip>
          <a:srcRect l="52138" t="46307" r="27825" b="12394"/>
          <a:stretch>
            <a:fillRect/>
          </a:stretch>
        </p:blipFill>
        <p:spPr>
          <a:xfrm>
            <a:off x="9162645" y="1634295"/>
            <a:ext cx="1715635" cy="3531105"/>
          </a:xfrm>
          <a:prstGeom prst="rect">
            <a:avLst/>
          </a:prstGeom>
        </p:spPr>
      </p:pic>
      <p:pic>
        <p:nvPicPr>
          <p:cNvPr id="16" name="Picture 15" descr="A screenshot of a computer screen&#10;&#10;AI-generated content may be incorrect.">
            <a:extLst>
              <a:ext uri="{FF2B5EF4-FFF2-40B4-BE49-F238E27FC236}">
                <a16:creationId xmlns:a16="http://schemas.microsoft.com/office/drawing/2014/main" id="{DABE6C2B-CBC4-7234-9256-AD8D688E1047}"/>
              </a:ext>
            </a:extLst>
          </p:cNvPr>
          <p:cNvPicPr>
            <a:picLocks noChangeAspect="1"/>
          </p:cNvPicPr>
          <p:nvPr/>
        </p:nvPicPr>
        <p:blipFill>
          <a:blip r:embed="rId3" cstate="print">
            <a:extLst>
              <a:ext uri="{28A0092B-C50C-407E-A947-70E740481C1C}">
                <a14:useLocalDpi xmlns:a14="http://schemas.microsoft.com/office/drawing/2010/main" val="0"/>
              </a:ext>
            </a:extLst>
          </a:blip>
          <a:srcRect l="34900" t="92291" r="25515" b="2817"/>
          <a:stretch>
            <a:fillRect/>
          </a:stretch>
        </p:blipFill>
        <p:spPr>
          <a:xfrm>
            <a:off x="9162645" y="5537727"/>
            <a:ext cx="2268746" cy="279964"/>
          </a:xfrm>
          <a:prstGeom prst="rect">
            <a:avLst/>
          </a:prstGeom>
        </p:spPr>
      </p:pic>
      <p:pic>
        <p:nvPicPr>
          <p:cNvPr id="17" name="Picture 16" descr="A screenshot of a computer screen&#10;&#10;AI-generated content may be incorrect.">
            <a:extLst>
              <a:ext uri="{FF2B5EF4-FFF2-40B4-BE49-F238E27FC236}">
                <a16:creationId xmlns:a16="http://schemas.microsoft.com/office/drawing/2014/main" id="{B3F6475B-95E1-757F-F23C-6B9FDDF51DDC}"/>
              </a:ext>
            </a:extLst>
          </p:cNvPr>
          <p:cNvPicPr>
            <a:picLocks noChangeAspect="1"/>
          </p:cNvPicPr>
          <p:nvPr/>
        </p:nvPicPr>
        <p:blipFill>
          <a:blip r:embed="rId3" cstate="print">
            <a:extLst>
              <a:ext uri="{28A0092B-C50C-407E-A947-70E740481C1C}">
                <a14:useLocalDpi xmlns:a14="http://schemas.microsoft.com/office/drawing/2010/main" val="0"/>
              </a:ext>
            </a:extLst>
          </a:blip>
          <a:srcRect l="26622" t="91372" r="65050" b="2849"/>
          <a:stretch>
            <a:fillRect/>
          </a:stretch>
        </p:blipFill>
        <p:spPr>
          <a:xfrm>
            <a:off x="9780466" y="5152284"/>
            <a:ext cx="477328" cy="330709"/>
          </a:xfrm>
          <a:prstGeom prst="rect">
            <a:avLst/>
          </a:prstGeom>
        </p:spPr>
      </p:pic>
      <p:pic>
        <p:nvPicPr>
          <p:cNvPr id="12" name="Picture 11" descr="A screenshot of a computer screen&#10;&#10;AI-generated content may be incorrect.">
            <a:extLst>
              <a:ext uri="{FF2B5EF4-FFF2-40B4-BE49-F238E27FC236}">
                <a16:creationId xmlns:a16="http://schemas.microsoft.com/office/drawing/2014/main" id="{5F1BCAAF-8DBF-CFDE-BB54-55BF3DCA51F6}"/>
              </a:ext>
            </a:extLst>
          </p:cNvPr>
          <p:cNvPicPr>
            <a:picLocks noChangeAspect="1"/>
          </p:cNvPicPr>
          <p:nvPr/>
        </p:nvPicPr>
        <p:blipFill>
          <a:blip r:embed="rId2" cstate="print">
            <a:extLst>
              <a:ext uri="{28A0092B-C50C-407E-A947-70E740481C1C}">
                <a14:useLocalDpi xmlns:a14="http://schemas.microsoft.com/office/drawing/2010/main" val="0"/>
              </a:ext>
            </a:extLst>
          </a:blip>
          <a:srcRect l="93749" t="46200" r="2489" b="12861"/>
          <a:stretch>
            <a:fillRect/>
          </a:stretch>
        </p:blipFill>
        <p:spPr>
          <a:xfrm>
            <a:off x="10847977" y="1609375"/>
            <a:ext cx="322053" cy="3503940"/>
          </a:xfrm>
          <a:prstGeom prst="rect">
            <a:avLst/>
          </a:prstGeom>
        </p:spPr>
      </p:pic>
      <p:sp>
        <p:nvSpPr>
          <p:cNvPr id="18" name="TextBox 17">
            <a:extLst>
              <a:ext uri="{FF2B5EF4-FFF2-40B4-BE49-F238E27FC236}">
                <a16:creationId xmlns:a16="http://schemas.microsoft.com/office/drawing/2014/main" id="{C6DD1E8D-D74A-D627-3898-BCA131942FC5}"/>
              </a:ext>
            </a:extLst>
          </p:cNvPr>
          <p:cNvSpPr txBox="1"/>
          <p:nvPr/>
        </p:nvSpPr>
        <p:spPr>
          <a:xfrm>
            <a:off x="7875187" y="5969655"/>
            <a:ext cx="2501661" cy="523220"/>
          </a:xfrm>
          <a:prstGeom prst="rect">
            <a:avLst/>
          </a:prstGeom>
          <a:noFill/>
        </p:spPr>
        <p:txBody>
          <a:bodyPr wrap="square" rtlCol="0">
            <a:spAutoFit/>
          </a:bodyPr>
          <a:lstStyle/>
          <a:p>
            <a:pPr algn="ctr"/>
            <a:r>
              <a:rPr lang="en-GB" sz="1400" dirty="0">
                <a:latin typeface="Arial" panose="020B0604020202020204" pitchFamily="34" charset="0"/>
                <a:cs typeface="Arial" panose="020B0604020202020204" pitchFamily="34" charset="0"/>
              </a:rPr>
              <a:t>The values are related to the historic race</a:t>
            </a:r>
          </a:p>
        </p:txBody>
      </p:sp>
    </p:spTree>
    <p:extLst>
      <p:ext uri="{BB962C8B-B14F-4D97-AF65-F5344CB8AC3E}">
        <p14:creationId xmlns:p14="http://schemas.microsoft.com/office/powerpoint/2010/main" val="2766163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43415-383E-9F3A-6063-F6DE64291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39597-57ED-0A4B-54BB-C49E2BC6658E}"/>
              </a:ext>
            </a:extLst>
          </p:cNvPr>
          <p:cNvSpPr>
            <a:spLocks noGrp="1"/>
          </p:cNvSpPr>
          <p:nvPr>
            <p:ph type="title"/>
          </p:nvPr>
        </p:nvSpPr>
        <p:spPr>
          <a:xfrm>
            <a:off x="593317" y="509636"/>
            <a:ext cx="11031321" cy="1325563"/>
          </a:xfrm>
        </p:spPr>
        <p:txBody>
          <a:bodyPr>
            <a:normAutofit/>
          </a:bodyPr>
          <a:lstStyle/>
          <a:p>
            <a:r>
              <a:rPr lang="pt-BR" sz="3200" b="1" dirty="0">
                <a:solidFill>
                  <a:srgbClr val="0070C0"/>
                </a:solidFill>
                <a:latin typeface="Arial" panose="020B0604020202020204" pitchFamily="34" charset="0"/>
                <a:cs typeface="Arial" panose="020B0604020202020204" pitchFamily="34" charset="0"/>
              </a:rPr>
              <a:t>Species distribution modeling approaches</a:t>
            </a:r>
            <a:endParaRPr lang="en-US" sz="3200" b="1"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58F7D0B-3588-08B0-0049-708DBA68FA54}"/>
              </a:ext>
            </a:extLst>
          </p:cNvPr>
          <p:cNvSpPr>
            <a:spLocks noGrp="1"/>
          </p:cNvSpPr>
          <p:nvPr>
            <p:ph idx="1"/>
          </p:nvPr>
        </p:nvSpPr>
        <p:spPr>
          <a:xfrm>
            <a:off x="864156" y="1952658"/>
            <a:ext cx="5515379" cy="4351338"/>
          </a:xfrm>
        </p:spPr>
        <p:txBody>
          <a:bodyPr>
            <a:normAutofit fontScale="92500" lnSpcReduction="10000"/>
          </a:bodyPr>
          <a:lstStyle/>
          <a:p>
            <a:r>
              <a:rPr lang="en-GB" sz="2400" dirty="0">
                <a:latin typeface="Arial" panose="020B0604020202020204" pitchFamily="34" charset="0"/>
                <a:cs typeface="Arial" panose="020B0604020202020204" pitchFamily="34" charset="0"/>
              </a:rPr>
              <a:t>Species distribution </a:t>
            </a:r>
            <a:r>
              <a:rPr lang="en-GB" sz="2400" dirty="0" err="1">
                <a:latin typeface="Arial" panose="020B0604020202020204" pitchFamily="34" charset="0"/>
                <a:cs typeface="Arial" panose="020B0604020202020204" pitchFamily="34" charset="0"/>
              </a:rPr>
              <a:t>modeling</a:t>
            </a:r>
            <a:r>
              <a:rPr lang="en-GB" sz="2400" dirty="0">
                <a:latin typeface="Arial" panose="020B0604020202020204" pitchFamily="34" charset="0"/>
                <a:cs typeface="Arial" panose="020B0604020202020204" pitchFamily="34" charset="0"/>
              </a:rPr>
              <a:t> can be used to assess the climate impact on fish distribution
Most models are "empirical" – find statistical associations between species occurrence and environmental parameters</a:t>
            </a:r>
          </a:p>
          <a:p>
            <a:pPr lvl="1"/>
            <a:r>
              <a:rPr lang="en-GB" sz="2000" dirty="0" err="1">
                <a:latin typeface="Arial" panose="020B0604020202020204" pitchFamily="34" charset="0"/>
                <a:cs typeface="Arial" panose="020B0604020202020204" pitchFamily="34" charset="0"/>
              </a:rPr>
              <a:t>MaxEnt</a:t>
            </a:r>
            <a:r>
              <a:rPr lang="en-GB" sz="2000" dirty="0">
                <a:latin typeface="Arial" panose="020B0604020202020204" pitchFamily="34" charset="0"/>
                <a:cs typeface="Arial" panose="020B0604020202020204" pitchFamily="34" charset="0"/>
              </a:rPr>
              <a:t>
R-INLA
</a:t>
            </a:r>
            <a:r>
              <a:rPr lang="en-GB" sz="2000" dirty="0" err="1">
                <a:latin typeface="Arial" panose="020B0604020202020204" pitchFamily="34" charset="0"/>
                <a:cs typeface="Arial" panose="020B0604020202020204" pitchFamily="34" charset="0"/>
              </a:rPr>
              <a:t>SdmTMB</a:t>
            </a:r>
            <a:endParaRPr lang="en-GB" sz="20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A small number are "mechanistic" – they use equations that model how fish systems work and interact with the climate</a:t>
            </a:r>
            <a:endParaRPr lang="en-US" sz="18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AE09670-A785-821A-65D0-C1B5F9BCCF82}"/>
              </a:ext>
            </a:extLst>
          </p:cNvPr>
          <p:cNvSpPr>
            <a:spLocks noGrp="1"/>
          </p:cNvSpPr>
          <p:nvPr>
            <p:ph type="sldNum" sz="quarter" idx="12"/>
          </p:nvPr>
        </p:nvSpPr>
        <p:spPr>
          <a:xfrm>
            <a:off x="9116438" y="6303996"/>
            <a:ext cx="2743200" cy="365125"/>
          </a:xfrm>
        </p:spPr>
        <p:txBody>
          <a:bodyPr/>
          <a:lstStyle/>
          <a:p>
            <a:fld id="{D51B4FB4-AA13-FE41-AF8A-525BA2FA973D}" type="slidenum">
              <a:rPr lang="en-US" smtClean="0"/>
              <a:t>3</a:t>
            </a:fld>
            <a:endParaRPr lang="en-US" dirty="0"/>
          </a:p>
        </p:txBody>
      </p:sp>
      <p:grpSp>
        <p:nvGrpSpPr>
          <p:cNvPr id="6" name="Group 5">
            <a:extLst>
              <a:ext uri="{FF2B5EF4-FFF2-40B4-BE49-F238E27FC236}">
                <a16:creationId xmlns:a16="http://schemas.microsoft.com/office/drawing/2014/main" id="{3545AF79-8BA1-55EA-8D7F-D4A9CF3452AE}"/>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AE618566-26EA-20E2-DF6F-8387115801FF}"/>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515BD8F-18AE-843A-8247-21312ABE4564}"/>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3A176A92-1BE8-9390-CAD4-C04837C21BCC}"/>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Picture 4" descr="Mechanistic Modelling of Biomass Growth, Glucose Consumption and Ethanol  Production by Kluyveromyces marxianus in Batch Fermentation">
            <a:extLst>
              <a:ext uri="{FF2B5EF4-FFF2-40B4-BE49-F238E27FC236}">
                <a16:creationId xmlns:a16="http://schemas.microsoft.com/office/drawing/2014/main" id="{D61BADDF-C5BC-0447-82E4-24C81F870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3792" y="4479299"/>
            <a:ext cx="4028266" cy="19685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A person walking with a computer&#10;&#10;AI-generated content may be incorrect.">
            <a:extLst>
              <a:ext uri="{FF2B5EF4-FFF2-40B4-BE49-F238E27FC236}">
                <a16:creationId xmlns:a16="http://schemas.microsoft.com/office/drawing/2014/main" id="{B6005A82-7AD1-F777-1367-86D6CFA8F193}"/>
              </a:ext>
            </a:extLst>
          </p:cNvPr>
          <p:cNvPicPr>
            <a:picLocks noChangeAspect="1"/>
          </p:cNvPicPr>
          <p:nvPr/>
        </p:nvPicPr>
        <p:blipFill>
          <a:blip r:embed="rId3"/>
          <a:stretch>
            <a:fillRect/>
          </a:stretch>
        </p:blipFill>
        <p:spPr>
          <a:xfrm>
            <a:off x="7038658" y="1677984"/>
            <a:ext cx="3898534" cy="2191245"/>
          </a:xfrm>
          <a:prstGeom prst="rect">
            <a:avLst/>
          </a:prstGeom>
        </p:spPr>
      </p:pic>
    </p:spTree>
    <p:extLst>
      <p:ext uri="{BB962C8B-B14F-4D97-AF65-F5344CB8AC3E}">
        <p14:creationId xmlns:p14="http://schemas.microsoft.com/office/powerpoint/2010/main" val="147372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8EE32-FB31-AAF4-A276-51B4DAB88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30A41-F933-5C82-61A3-1B3C6F20B557}"/>
              </a:ext>
            </a:extLst>
          </p:cNvPr>
          <p:cNvSpPr>
            <a:spLocks noGrp="1"/>
          </p:cNvSpPr>
          <p:nvPr>
            <p:ph type="title"/>
          </p:nvPr>
        </p:nvSpPr>
        <p:spPr>
          <a:xfrm>
            <a:off x="864156" y="521846"/>
            <a:ext cx="10863556" cy="1325563"/>
          </a:xfrm>
        </p:spPr>
        <p:txBody>
          <a:bodyPr>
            <a:normAutofit/>
          </a:bodyPr>
          <a:lstStyle/>
          <a:p>
            <a:pPr algn="ctr"/>
            <a:r>
              <a:rPr lang="en-GB" sz="3200" b="1" dirty="0">
                <a:solidFill>
                  <a:srgbClr val="0070C0"/>
                </a:solidFill>
                <a:latin typeface="Arial" panose="020B0604020202020204" pitchFamily="34" charset="0"/>
                <a:cs typeface="Arial" panose="020B0604020202020204" pitchFamily="34" charset="0"/>
              </a:rPr>
              <a:t>Empirical </a:t>
            </a:r>
            <a:r>
              <a:rPr lang="en-GB" sz="3200" b="1" dirty="0" err="1">
                <a:solidFill>
                  <a:srgbClr val="0070C0"/>
                </a:solidFill>
                <a:latin typeface="Arial" panose="020B0604020202020204" pitchFamily="34" charset="0"/>
                <a:cs typeface="Arial" panose="020B0604020202020204" pitchFamily="34" charset="0"/>
              </a:rPr>
              <a:t>Modeling</a:t>
            </a:r>
            <a:r>
              <a:rPr lang="en-GB" sz="3200" b="1" dirty="0">
                <a:solidFill>
                  <a:srgbClr val="0070C0"/>
                </a:solidFill>
                <a:latin typeface="Arial" panose="020B0604020202020204" pitchFamily="34" charset="0"/>
                <a:cs typeface="Arial" panose="020B0604020202020204" pitchFamily="34" charset="0"/>
              </a:rPr>
              <a:t> – </a:t>
            </a:r>
            <a:r>
              <a:rPr lang="en-GB" sz="3200" b="1" dirty="0" err="1">
                <a:solidFill>
                  <a:srgbClr val="0070C0"/>
                </a:solidFill>
                <a:latin typeface="Arial" panose="020B0604020202020204" pitchFamily="34" charset="0"/>
                <a:cs typeface="Arial" panose="020B0604020202020204" pitchFamily="34" charset="0"/>
              </a:rPr>
              <a:t>MaxEnt</a:t>
            </a:r>
            <a:r>
              <a:rPr lang="en-GB" sz="3200" b="1" dirty="0">
                <a:solidFill>
                  <a:srgbClr val="0070C0"/>
                </a:solidFill>
                <a:latin typeface="Arial" panose="020B0604020202020204" pitchFamily="34" charset="0"/>
                <a:cs typeface="Arial" panose="020B0604020202020204" pitchFamily="34" charset="0"/>
              </a:rPr>
              <a:t> for Species Distributions</a:t>
            </a:r>
            <a:endParaRPr lang="en-US" sz="3200" b="1"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0ECA1D0-D97E-0CD4-9A3F-D588798CFC2D}"/>
              </a:ext>
            </a:extLst>
          </p:cNvPr>
          <p:cNvSpPr>
            <a:spLocks noGrp="1"/>
          </p:cNvSpPr>
          <p:nvPr>
            <p:ph idx="1"/>
          </p:nvPr>
        </p:nvSpPr>
        <p:spPr>
          <a:xfrm>
            <a:off x="864156" y="1926210"/>
            <a:ext cx="4843124" cy="4351338"/>
          </a:xfrm>
        </p:spPr>
        <p:txBody>
          <a:bodyPr>
            <a:normAutofit lnSpcReduction="10000"/>
          </a:bodyPr>
          <a:lstStyle/>
          <a:p>
            <a:r>
              <a:rPr lang="en-GB" sz="2400" dirty="0">
                <a:latin typeface="Arial" panose="020B0604020202020204" pitchFamily="34" charset="0"/>
                <a:cs typeface="Arial" panose="020B0604020202020204" pitchFamily="34" charset="0"/>
              </a:rPr>
              <a:t>For the STP report, we used an empirical </a:t>
            </a:r>
            <a:r>
              <a:rPr lang="en-GB" sz="2400" dirty="0" err="1">
                <a:latin typeface="Arial" panose="020B0604020202020204" pitchFamily="34" charset="0"/>
                <a:cs typeface="Arial" panose="020B0604020202020204" pitchFamily="34" charset="0"/>
              </a:rPr>
              <a:t>modeling</a:t>
            </a:r>
            <a:r>
              <a:rPr lang="en-GB" sz="2400" dirty="0">
                <a:latin typeface="Arial" panose="020B0604020202020204" pitchFamily="34" charset="0"/>
                <a:cs typeface="Arial" panose="020B0604020202020204" pitchFamily="34" charset="0"/>
              </a:rPr>
              <a:t> approach called "</a:t>
            </a:r>
            <a:r>
              <a:rPr lang="en-GB" sz="2400" dirty="0" err="1">
                <a:latin typeface="Arial" panose="020B0604020202020204" pitchFamily="34" charset="0"/>
                <a:cs typeface="Arial" panose="020B0604020202020204" pitchFamily="34" charset="0"/>
              </a:rPr>
              <a:t>MaxEnt</a:t>
            </a:r>
            <a:r>
              <a:rPr lang="en-GB" sz="2400" dirty="0">
                <a:latin typeface="Arial" panose="020B0604020202020204" pitchFamily="34" charset="0"/>
                <a:cs typeface="Arial" panose="020B0604020202020204" pitchFamily="34" charset="0"/>
              </a:rPr>
              <a:t>" or Maximum Entropy:</a:t>
            </a:r>
          </a:p>
          <a:p>
            <a:pPr lvl="1"/>
            <a:r>
              <a:rPr lang="en-GB" sz="2000" dirty="0">
                <a:latin typeface="Arial" panose="020B0604020202020204" pitchFamily="34" charset="0"/>
                <a:cs typeface="Arial" panose="020B0604020202020204" pitchFamily="34" charset="0"/>
              </a:rPr>
              <a:t>Records of species presence
Climate values in a region
Compares the probability distribution of the associated climate values with background data.</a:t>
            </a:r>
          </a:p>
          <a:p>
            <a:r>
              <a:rPr lang="en-GB" sz="2400" dirty="0">
                <a:latin typeface="Arial" panose="020B0604020202020204" pitchFamily="34" charset="0"/>
                <a:cs typeface="Arial" panose="020B0604020202020204" pitchFamily="34" charset="0"/>
              </a:rPr>
              <a:t>Once the model is trained, you can apply new climate projection data.</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E46915B-9538-32C3-8D68-15810C8DD7FC}"/>
              </a:ext>
            </a:extLst>
          </p:cNvPr>
          <p:cNvSpPr>
            <a:spLocks noGrp="1"/>
          </p:cNvSpPr>
          <p:nvPr>
            <p:ph type="sldNum" sz="quarter" idx="12"/>
          </p:nvPr>
        </p:nvSpPr>
        <p:spPr>
          <a:xfrm>
            <a:off x="9059133" y="6325572"/>
            <a:ext cx="2743200" cy="365125"/>
          </a:xfrm>
        </p:spPr>
        <p:txBody>
          <a:bodyPr/>
          <a:lstStyle/>
          <a:p>
            <a:fld id="{D51B4FB4-AA13-FE41-AF8A-525BA2FA973D}" type="slidenum">
              <a:rPr lang="en-US" smtClean="0"/>
              <a:t>4</a:t>
            </a:fld>
            <a:endParaRPr lang="en-US" dirty="0"/>
          </a:p>
        </p:txBody>
      </p:sp>
      <p:grpSp>
        <p:nvGrpSpPr>
          <p:cNvPr id="6" name="Group 5">
            <a:extLst>
              <a:ext uri="{FF2B5EF4-FFF2-40B4-BE49-F238E27FC236}">
                <a16:creationId xmlns:a16="http://schemas.microsoft.com/office/drawing/2014/main" id="{E0780896-89DE-E1D7-9579-DB087B8098B2}"/>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545E9DE0-24D8-AD17-3ECD-785281BC8371}"/>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960D878-696C-C148-885E-EAAF3935A4C7}"/>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1A03E919-A3B9-8DCF-200C-0CA378DC0338}"/>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3" name="Main graphic">
            <a:extLst>
              <a:ext uri="{FF2B5EF4-FFF2-40B4-BE49-F238E27FC236}">
                <a16:creationId xmlns:a16="http://schemas.microsoft.com/office/drawing/2014/main" id="{07E27C95-A1EF-0355-68D7-8BBEAA153E5A}"/>
              </a:ext>
            </a:extLst>
          </p:cNvPr>
          <p:cNvPicPr/>
          <p:nvPr/>
        </p:nvPicPr>
        <p:blipFill>
          <a:blip r:embed="rId2"/>
          <a:stretch/>
        </p:blipFill>
        <p:spPr>
          <a:xfrm>
            <a:off x="6295934" y="1926210"/>
            <a:ext cx="5020970" cy="2929619"/>
          </a:xfrm>
          <a:prstGeom prst="rect">
            <a:avLst/>
          </a:prstGeom>
          <a:ln>
            <a:noFill/>
          </a:ln>
        </p:spPr>
      </p:pic>
      <p:sp>
        <p:nvSpPr>
          <p:cNvPr id="14" name="TextBox 13">
            <a:extLst>
              <a:ext uri="{FF2B5EF4-FFF2-40B4-BE49-F238E27FC236}">
                <a16:creationId xmlns:a16="http://schemas.microsoft.com/office/drawing/2014/main" id="{8BA4FC95-A8B4-C5CE-CED1-9CAA73D34D41}"/>
              </a:ext>
            </a:extLst>
          </p:cNvPr>
          <p:cNvSpPr txBox="1"/>
          <p:nvPr/>
        </p:nvSpPr>
        <p:spPr>
          <a:xfrm>
            <a:off x="6282004" y="5200330"/>
            <a:ext cx="6095053" cy="1077218"/>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Probability of occurrence calculated for:
Time periods: Historic season, 2020-2049, 2050-2079 
Climate scenarios: SSP1 2.6 &amp; SSP5 8.5
Climate model: CMIP6 set</a:t>
            </a:r>
            <a:endParaRPr lang="en-GB" sz="1600" dirty="0"/>
          </a:p>
        </p:txBody>
      </p:sp>
    </p:spTree>
    <p:extLst>
      <p:ext uri="{BB962C8B-B14F-4D97-AF65-F5344CB8AC3E}">
        <p14:creationId xmlns:p14="http://schemas.microsoft.com/office/powerpoint/2010/main" val="2578936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606C3-EC55-8A62-AE4B-9F0EB51E7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2DCE6-B3FD-A9EF-579E-BF287767384E}"/>
              </a:ext>
            </a:extLst>
          </p:cNvPr>
          <p:cNvSpPr>
            <a:spLocks noGrp="1"/>
          </p:cNvSpPr>
          <p:nvPr>
            <p:ph type="title"/>
          </p:nvPr>
        </p:nvSpPr>
        <p:spPr>
          <a:xfrm>
            <a:off x="838200" y="365125"/>
            <a:ext cx="10360052"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Important considerations</a:t>
            </a:r>
          </a:p>
        </p:txBody>
      </p:sp>
      <p:sp>
        <p:nvSpPr>
          <p:cNvPr id="3" name="Content Placeholder 2">
            <a:extLst>
              <a:ext uri="{FF2B5EF4-FFF2-40B4-BE49-F238E27FC236}">
                <a16:creationId xmlns:a16="http://schemas.microsoft.com/office/drawing/2014/main" id="{A626EA04-8416-0CB5-FA22-1E6E216D3F33}"/>
              </a:ext>
            </a:extLst>
          </p:cNvPr>
          <p:cNvSpPr>
            <a:spLocks noGrp="1"/>
          </p:cNvSpPr>
          <p:nvPr>
            <p:ph idx="1"/>
          </p:nvPr>
        </p:nvSpPr>
        <p:spPr>
          <a:xfrm>
            <a:off x="944492" y="1720607"/>
            <a:ext cx="9845428" cy="4351338"/>
          </a:xfrm>
        </p:spPr>
        <p:txBody>
          <a:bodyPr>
            <a:normAutofit fontScale="92500" lnSpcReduction="20000"/>
          </a:bodyPr>
          <a:lstStyle/>
          <a:p>
            <a:pPr>
              <a:lnSpc>
                <a:spcPct val="120000"/>
              </a:lnSpc>
              <a:spcBef>
                <a:spcPts val="0"/>
              </a:spcBef>
              <a:buNone/>
            </a:pPr>
            <a:r>
              <a:rPr lang="en-GB" sz="2000" b="1" u="sng" dirty="0"/>
              <a:t>Advantages of </a:t>
            </a:r>
            <a:r>
              <a:rPr lang="en-GB" sz="2000" b="1" u="sng" dirty="0" err="1"/>
              <a:t>MaxEnt</a:t>
            </a:r>
            <a:r>
              <a:rPr lang="en-GB" sz="2000" b="1" u="sng" dirty="0"/>
              <a:t>:</a:t>
            </a:r>
          </a:p>
          <a:p>
            <a:pPr>
              <a:lnSpc>
                <a:spcPct val="120000"/>
              </a:lnSpc>
              <a:spcBef>
                <a:spcPts val="0"/>
              </a:spcBef>
            </a:pPr>
            <a:r>
              <a:rPr lang="en-GB" sz="1600" b="1" dirty="0"/>
              <a:t>Handles presence-only data:</a:t>
            </a:r>
            <a:r>
              <a:rPr lang="en-GB" sz="1600" dirty="0"/>
              <a:t> </a:t>
            </a:r>
            <a:r>
              <a:rPr lang="en-GB" sz="1600" dirty="0" err="1"/>
              <a:t>MaxEnt</a:t>
            </a:r>
            <a:r>
              <a:rPr lang="en-GB" sz="1600" dirty="0"/>
              <a:t> is suitable for situations where only presence data is available, which is common in ecological research.</a:t>
            </a:r>
          </a:p>
          <a:p>
            <a:pPr>
              <a:lnSpc>
                <a:spcPct val="120000"/>
              </a:lnSpc>
              <a:spcBef>
                <a:spcPts val="0"/>
              </a:spcBef>
            </a:pPr>
            <a:r>
              <a:rPr lang="en-GB" sz="1600" b="1" dirty="0"/>
              <a:t>Handles complex relationships:</a:t>
            </a:r>
            <a:r>
              <a:rPr lang="en-GB" sz="1600" dirty="0"/>
              <a:t> It can model complex interactions between environmental variables and species distributions.</a:t>
            </a:r>
          </a:p>
          <a:p>
            <a:pPr>
              <a:lnSpc>
                <a:spcPct val="120000"/>
              </a:lnSpc>
              <a:spcBef>
                <a:spcPts val="0"/>
              </a:spcBef>
            </a:pPr>
            <a:r>
              <a:rPr lang="en-GB" sz="1600" b="1" dirty="0"/>
              <a:t>Open-source software:</a:t>
            </a:r>
            <a:r>
              <a:rPr lang="en-GB" sz="1600" dirty="0"/>
              <a:t> </a:t>
            </a:r>
            <a:r>
              <a:rPr lang="en-GB" sz="1600" dirty="0" err="1"/>
              <a:t>MaxEnt</a:t>
            </a:r>
            <a:r>
              <a:rPr lang="en-GB" sz="1600" dirty="0"/>
              <a:t> is free and open source.</a:t>
            </a:r>
          </a:p>
          <a:p>
            <a:pPr>
              <a:lnSpc>
                <a:spcPct val="120000"/>
              </a:lnSpc>
              <a:spcBef>
                <a:spcPts val="0"/>
              </a:spcBef>
            </a:pPr>
            <a:r>
              <a:rPr lang="en-GB" sz="1600" b="1" dirty="0"/>
              <a:t>Widely used:</a:t>
            </a:r>
            <a:r>
              <a:rPr lang="en-GB" sz="1600" dirty="0"/>
              <a:t> It is one of the most widely used SDM methods in ecology</a:t>
            </a:r>
            <a:r>
              <a:rPr lang="pt-BR" sz="1600" dirty="0"/>
              <a:t>.</a:t>
            </a:r>
            <a:endParaRPr lang="en-GB" sz="1600" dirty="0"/>
          </a:p>
          <a:p>
            <a:pPr>
              <a:lnSpc>
                <a:spcPct val="120000"/>
              </a:lnSpc>
              <a:spcBef>
                <a:spcPts val="0"/>
              </a:spcBef>
              <a:buNone/>
            </a:pPr>
            <a:endParaRPr lang="en-GB" sz="1600" dirty="0"/>
          </a:p>
          <a:p>
            <a:pPr>
              <a:lnSpc>
                <a:spcPct val="120000"/>
              </a:lnSpc>
              <a:spcBef>
                <a:spcPts val="0"/>
              </a:spcBef>
              <a:buNone/>
            </a:pPr>
            <a:r>
              <a:rPr lang="en-GB" sz="2000" b="1" u="sng" dirty="0"/>
              <a:t>Possible limitations:</a:t>
            </a:r>
          </a:p>
          <a:p>
            <a:pPr>
              <a:lnSpc>
                <a:spcPct val="120000"/>
              </a:lnSpc>
              <a:spcBef>
                <a:spcPts val="0"/>
              </a:spcBef>
            </a:pPr>
            <a:r>
              <a:rPr lang="en-GB" sz="1600" b="1" dirty="0"/>
              <a:t>Bias in background data:</a:t>
            </a:r>
            <a:endParaRPr lang="en-GB" sz="1600" dirty="0"/>
          </a:p>
          <a:p>
            <a:pPr marL="0" indent="0" fontAlgn="ctr">
              <a:lnSpc>
                <a:spcPct val="120000"/>
              </a:lnSpc>
              <a:spcBef>
                <a:spcPts val="0"/>
              </a:spcBef>
              <a:buNone/>
            </a:pPr>
            <a:r>
              <a:rPr lang="en-GB" sz="1600" dirty="0"/>
              <a:t>The choice of background data can influence the results of the model</a:t>
            </a:r>
            <a:r>
              <a:rPr lang="pt-BR" sz="1600" dirty="0"/>
              <a:t>.</a:t>
            </a:r>
          </a:p>
          <a:p>
            <a:pPr fontAlgn="ctr">
              <a:lnSpc>
                <a:spcPct val="120000"/>
              </a:lnSpc>
              <a:spcBef>
                <a:spcPts val="0"/>
              </a:spcBef>
            </a:pPr>
            <a:r>
              <a:rPr lang="en-GB" sz="1600" b="1" dirty="0"/>
              <a:t>Assumptions about environmental relationships:</a:t>
            </a:r>
            <a:endParaRPr lang="en-GB" sz="1600" dirty="0"/>
          </a:p>
          <a:p>
            <a:pPr marL="0" indent="0" fontAlgn="ctr">
              <a:lnSpc>
                <a:spcPct val="120000"/>
              </a:lnSpc>
              <a:spcBef>
                <a:spcPts val="0"/>
              </a:spcBef>
              <a:buNone/>
            </a:pPr>
            <a:r>
              <a:rPr lang="en-GB" sz="1600" dirty="0" err="1"/>
              <a:t>MaxEnt</a:t>
            </a:r>
            <a:r>
              <a:rPr lang="en-GB" sz="1600" dirty="0"/>
              <a:t> assumes that environmental variables are the main drivers of species distribution, which may not always be true.</a:t>
            </a:r>
          </a:p>
          <a:p>
            <a:pPr fontAlgn="ctr">
              <a:lnSpc>
                <a:spcPct val="120000"/>
              </a:lnSpc>
              <a:spcBef>
                <a:spcPts val="0"/>
              </a:spcBef>
            </a:pPr>
            <a:r>
              <a:rPr lang="en-GB" sz="1600" b="1" dirty="0"/>
              <a:t>Overfitting:</a:t>
            </a:r>
          </a:p>
          <a:p>
            <a:pPr marL="0" indent="0">
              <a:lnSpc>
                <a:spcPct val="120000"/>
              </a:lnSpc>
              <a:spcBef>
                <a:spcPts val="0"/>
              </a:spcBef>
              <a:buNone/>
            </a:pPr>
            <a:r>
              <a:rPr lang="en-GB" sz="1600" dirty="0"/>
              <a:t>Overfitting can occur if the model is too complex for the available data, leading to poor predictive performance in new areas.</a:t>
            </a:r>
            <a:endParaRPr lang="en-US" sz="14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7B5FA364-0DE9-12F2-BE92-3A5F5E4C8FAA}"/>
              </a:ext>
            </a:extLst>
          </p:cNvPr>
          <p:cNvSpPr>
            <a:spLocks noGrp="1"/>
          </p:cNvSpPr>
          <p:nvPr>
            <p:ph type="sldNum" sz="quarter" idx="12"/>
          </p:nvPr>
        </p:nvSpPr>
        <p:spPr>
          <a:xfrm>
            <a:off x="8972124" y="6280393"/>
            <a:ext cx="2743200" cy="365125"/>
          </a:xfrm>
        </p:spPr>
        <p:txBody>
          <a:bodyPr/>
          <a:lstStyle/>
          <a:p>
            <a:fld id="{D51B4FB4-AA13-FE41-AF8A-525BA2FA973D}" type="slidenum">
              <a:rPr lang="en-US" smtClean="0"/>
              <a:t>5</a:t>
            </a:fld>
            <a:endParaRPr lang="en-US" dirty="0"/>
          </a:p>
        </p:txBody>
      </p:sp>
      <p:grpSp>
        <p:nvGrpSpPr>
          <p:cNvPr id="6" name="Group 5">
            <a:extLst>
              <a:ext uri="{FF2B5EF4-FFF2-40B4-BE49-F238E27FC236}">
                <a16:creationId xmlns:a16="http://schemas.microsoft.com/office/drawing/2014/main" id="{A4FBDB44-A55A-E3E4-D2ED-72E424C88777}"/>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65365740-189F-B06A-D280-D6033D60C114}"/>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EA9ABA6-4B86-8651-CA9E-F0F67605E1FF}"/>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303A4739-C4AA-BB75-0CCD-6DE230D05393}"/>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669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00022-9D60-59B1-74D1-A2E6C9468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118BC-F43E-CA57-7819-0E9D54B2550B}"/>
              </a:ext>
            </a:extLst>
          </p:cNvPr>
          <p:cNvSpPr>
            <a:spLocks noGrp="1"/>
          </p:cNvSpPr>
          <p:nvPr>
            <p:ph type="title"/>
          </p:nvPr>
        </p:nvSpPr>
        <p:spPr>
          <a:xfrm>
            <a:off x="864155" y="521846"/>
            <a:ext cx="8472350" cy="1325563"/>
          </a:xfrm>
        </p:spPr>
        <p:txBody>
          <a:bodyPr>
            <a:normAutofit/>
          </a:bodyPr>
          <a:lstStyle/>
          <a:p>
            <a:r>
              <a:rPr lang="pt-BR" sz="3200" b="1" dirty="0">
                <a:solidFill>
                  <a:srgbClr val="0070C0"/>
                </a:solidFill>
                <a:latin typeface="Arial" panose="020B0604020202020204" pitchFamily="34" charset="0"/>
                <a:cs typeface="Arial" panose="020B0604020202020204" pitchFamily="34" charset="0"/>
              </a:rPr>
              <a:t>Data collection – Species presence data</a:t>
            </a:r>
            <a:endParaRPr lang="en-US" sz="3200" b="1"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378E293-4BF5-ED6D-06B9-3727DDB219FC}"/>
              </a:ext>
            </a:extLst>
          </p:cNvPr>
          <p:cNvSpPr>
            <a:spLocks noGrp="1"/>
          </p:cNvSpPr>
          <p:nvPr>
            <p:ph idx="1"/>
          </p:nvPr>
        </p:nvSpPr>
        <p:spPr>
          <a:xfrm>
            <a:off x="864155" y="1862520"/>
            <a:ext cx="4753063" cy="4351338"/>
          </a:xfrm>
        </p:spPr>
        <p:txBody>
          <a:bodyPr>
            <a:normAutofit lnSpcReduction="10000"/>
          </a:bodyPr>
          <a:lstStyle/>
          <a:p>
            <a:r>
              <a:rPr lang="en-GB" dirty="0" err="1">
                <a:latin typeface="Arial" panose="020B0604020202020204" pitchFamily="34" charset="0"/>
                <a:cs typeface="Arial" panose="020B0604020202020204" pitchFamily="34" charset="0"/>
              </a:rPr>
              <a:t>MaxEnt</a:t>
            </a:r>
            <a:r>
              <a:rPr lang="en-GB" dirty="0">
                <a:latin typeface="Arial" panose="020B0604020202020204" pitchFamily="34" charset="0"/>
                <a:cs typeface="Arial" panose="020B0604020202020204" pitchFamily="34" charset="0"/>
              </a:rPr>
              <a:t> only requires presence data, not presence/absence data
The data was acquired from the Ocean Biodiversity Information System (OBIS)
Mandatory information:</a:t>
            </a:r>
          </a:p>
          <a:p>
            <a:pPr lvl="1"/>
            <a:r>
              <a:rPr lang="en-GB" dirty="0">
                <a:latin typeface="Arial" panose="020B0604020202020204" pitchFamily="34" charset="0"/>
                <a:cs typeface="Arial" panose="020B0604020202020204" pitchFamily="34" charset="0"/>
              </a:rPr>
              <a:t>Species Name
Historical positions of Lon/Lat</a:t>
            </a:r>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148151A6-600D-C1C9-ACEC-648FD983776B}"/>
              </a:ext>
            </a:extLst>
          </p:cNvPr>
          <p:cNvSpPr>
            <a:spLocks noGrp="1"/>
          </p:cNvSpPr>
          <p:nvPr>
            <p:ph type="sldNum" sz="quarter" idx="12"/>
          </p:nvPr>
        </p:nvSpPr>
        <p:spPr>
          <a:xfrm>
            <a:off x="9106068" y="6336154"/>
            <a:ext cx="2743200" cy="365125"/>
          </a:xfrm>
        </p:spPr>
        <p:txBody>
          <a:bodyPr/>
          <a:lstStyle/>
          <a:p>
            <a:fld id="{D51B4FB4-AA13-FE41-AF8A-525BA2FA973D}" type="slidenum">
              <a:rPr lang="en-US" smtClean="0"/>
              <a:t>6</a:t>
            </a:fld>
            <a:endParaRPr lang="en-US" dirty="0"/>
          </a:p>
        </p:txBody>
      </p:sp>
      <p:grpSp>
        <p:nvGrpSpPr>
          <p:cNvPr id="6" name="Group 5">
            <a:extLst>
              <a:ext uri="{FF2B5EF4-FFF2-40B4-BE49-F238E27FC236}">
                <a16:creationId xmlns:a16="http://schemas.microsoft.com/office/drawing/2014/main" id="{0936F795-7E9B-681C-8FFF-BA75A7918A70}"/>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5BC82302-BDCA-5534-55A3-DFE328693989}"/>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77EF4AF-23C7-8AEA-AFD6-709CF6DD47C1}"/>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F951CDAC-3A31-BC2E-8902-B1E9B96520F8}"/>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1E5F9D1-3718-4669-F789-717DAFB92BED}"/>
              </a:ext>
            </a:extLst>
          </p:cNvPr>
          <p:cNvPicPr>
            <a:picLocks noChangeAspect="1"/>
          </p:cNvPicPr>
          <p:nvPr/>
        </p:nvPicPr>
        <p:blipFill>
          <a:blip r:embed="rId2"/>
          <a:stretch>
            <a:fillRect/>
          </a:stretch>
        </p:blipFill>
        <p:spPr>
          <a:xfrm>
            <a:off x="5883193" y="1862520"/>
            <a:ext cx="5683414" cy="2523884"/>
          </a:xfrm>
          <a:prstGeom prst="rect">
            <a:avLst/>
          </a:prstGeom>
        </p:spPr>
      </p:pic>
      <p:pic>
        <p:nvPicPr>
          <p:cNvPr id="7" name="Picture 2" descr="Blue runner • Caranx crysos • Fish sheet">
            <a:extLst>
              <a:ext uri="{FF2B5EF4-FFF2-40B4-BE49-F238E27FC236}">
                <a16:creationId xmlns:a16="http://schemas.microsoft.com/office/drawing/2014/main" id="{8F7BCF94-0A75-DD34-FADA-DE64CE3FD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800" b="8614"/>
          <a:stretch/>
        </p:blipFill>
        <p:spPr bwMode="auto">
          <a:xfrm>
            <a:off x="5883193" y="4680000"/>
            <a:ext cx="2080768" cy="117043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Yellowfin tuna • Thunnus albacares • Fish sheet">
            <a:extLst>
              <a:ext uri="{FF2B5EF4-FFF2-40B4-BE49-F238E27FC236}">
                <a16:creationId xmlns:a16="http://schemas.microsoft.com/office/drawing/2014/main" id="{5453F8CB-A2A2-0F9F-32CF-D36E2F0E5D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936" y="4680000"/>
            <a:ext cx="1752264" cy="1168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652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F2814-F045-C08A-F442-A216B1490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2F34E-503B-E33F-CE5E-66E1086FE711}"/>
              </a:ext>
            </a:extLst>
          </p:cNvPr>
          <p:cNvSpPr>
            <a:spLocks noGrp="1"/>
          </p:cNvSpPr>
          <p:nvPr>
            <p:ph type="title"/>
          </p:nvPr>
        </p:nvSpPr>
        <p:spPr>
          <a:xfrm>
            <a:off x="864155" y="521846"/>
            <a:ext cx="9388798" cy="1325563"/>
          </a:xfrm>
        </p:spPr>
        <p:txBody>
          <a:bodyPr>
            <a:normAutofit/>
          </a:bodyPr>
          <a:lstStyle/>
          <a:p>
            <a:r>
              <a:rPr lang="pt-BR" sz="3200" b="1" dirty="0">
                <a:solidFill>
                  <a:srgbClr val="0070C0"/>
                </a:solidFill>
                <a:latin typeface="Arial" panose="020B0604020202020204" pitchFamily="34" charset="0"/>
                <a:cs typeface="Arial" panose="020B0604020202020204" pitchFamily="34" charset="0"/>
              </a:rPr>
              <a:t>Data collection – marine climate data</a:t>
            </a:r>
            <a:endParaRPr lang="en-US" sz="3200" b="1"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F8F6DF8-572E-0733-6835-697137F3851B}"/>
              </a:ext>
            </a:extLst>
          </p:cNvPr>
          <p:cNvSpPr>
            <a:spLocks noGrp="1"/>
          </p:cNvSpPr>
          <p:nvPr>
            <p:ph idx="1"/>
          </p:nvPr>
        </p:nvSpPr>
        <p:spPr>
          <a:xfrm>
            <a:off x="704400" y="2005012"/>
            <a:ext cx="3546470" cy="4351338"/>
          </a:xfrm>
        </p:spPr>
        <p:txBody>
          <a:bodyPr>
            <a:normAutofit lnSpcReduction="10000"/>
          </a:bodyPr>
          <a:lstStyle/>
          <a:p>
            <a:r>
              <a:rPr lang="en-GB" dirty="0">
                <a:latin typeface="Arial" panose="020B0604020202020204" pitchFamily="34" charset="0"/>
                <a:cs typeface="Arial" panose="020B0604020202020204" pitchFamily="34" charset="0"/>
              </a:rPr>
              <a:t>Future historical and climate data was obtained from Bio-Oracle:</a:t>
            </a:r>
          </a:p>
          <a:p>
            <a:pPr lvl="1"/>
            <a:r>
              <a:rPr lang="en-GB" dirty="0">
                <a:latin typeface="Arial" panose="020B0604020202020204" pitchFamily="34" charset="0"/>
                <a:cs typeface="Arial" panose="020B0604020202020204" pitchFamily="34" charset="0"/>
              </a:rPr>
              <a:t>Ocean temperature
Salinity
Dissolved molecular oxygen
pH</a:t>
            </a:r>
          </a:p>
          <a:p>
            <a:r>
              <a:rPr lang="en-GB" dirty="0">
                <a:latin typeface="Arial" panose="020B0604020202020204" pitchFamily="34" charset="0"/>
                <a:cs typeface="Arial" panose="020B0604020202020204" pitchFamily="34" charset="0"/>
              </a:rPr>
              <a:t>Selected average and range values*</a:t>
            </a:r>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1FAA766-B1AB-75A3-8B73-0AEB19725AB2}"/>
              </a:ext>
            </a:extLst>
          </p:cNvPr>
          <p:cNvSpPr>
            <a:spLocks noGrp="1"/>
          </p:cNvSpPr>
          <p:nvPr>
            <p:ph type="sldNum" sz="quarter" idx="12"/>
          </p:nvPr>
        </p:nvSpPr>
        <p:spPr>
          <a:xfrm>
            <a:off x="9114181" y="6350070"/>
            <a:ext cx="2743200" cy="365125"/>
          </a:xfrm>
        </p:spPr>
        <p:txBody>
          <a:bodyPr/>
          <a:lstStyle/>
          <a:p>
            <a:fld id="{D51B4FB4-AA13-FE41-AF8A-525BA2FA973D}" type="slidenum">
              <a:rPr lang="en-US" smtClean="0"/>
              <a:t>7</a:t>
            </a:fld>
            <a:endParaRPr lang="en-US" dirty="0"/>
          </a:p>
        </p:txBody>
      </p:sp>
      <p:grpSp>
        <p:nvGrpSpPr>
          <p:cNvPr id="6" name="Group 5">
            <a:extLst>
              <a:ext uri="{FF2B5EF4-FFF2-40B4-BE49-F238E27FC236}">
                <a16:creationId xmlns:a16="http://schemas.microsoft.com/office/drawing/2014/main" id="{5E95E010-711D-B03F-7B71-43F074FB4AC4}"/>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EECB60F7-DA53-7489-5B90-A3629E0D4C05}"/>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8523606-D155-ECDA-1E99-E77162BCA50D}"/>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3844C51F-9F31-A70F-B577-8009C48BEE2A}"/>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D9DFE930-35AA-5C4E-3080-A7C0FF6F45C2}"/>
              </a:ext>
            </a:extLst>
          </p:cNvPr>
          <p:cNvPicPr>
            <a:picLocks noChangeAspect="1"/>
          </p:cNvPicPr>
          <p:nvPr/>
        </p:nvPicPr>
        <p:blipFill>
          <a:blip r:embed="rId2"/>
          <a:stretch>
            <a:fillRect/>
          </a:stretch>
        </p:blipFill>
        <p:spPr>
          <a:xfrm>
            <a:off x="4627087" y="2408903"/>
            <a:ext cx="2913423" cy="1788197"/>
          </a:xfrm>
          <a:prstGeom prst="rect">
            <a:avLst/>
          </a:prstGeom>
        </p:spPr>
      </p:pic>
      <p:pic>
        <p:nvPicPr>
          <p:cNvPr id="20" name="Picture 19">
            <a:extLst>
              <a:ext uri="{FF2B5EF4-FFF2-40B4-BE49-F238E27FC236}">
                <a16:creationId xmlns:a16="http://schemas.microsoft.com/office/drawing/2014/main" id="{60D25ED7-1B01-8021-631C-B85886108CC3}"/>
              </a:ext>
            </a:extLst>
          </p:cNvPr>
          <p:cNvPicPr>
            <a:picLocks noChangeAspect="1"/>
          </p:cNvPicPr>
          <p:nvPr/>
        </p:nvPicPr>
        <p:blipFill>
          <a:blip r:embed="rId3"/>
          <a:stretch>
            <a:fillRect/>
          </a:stretch>
        </p:blipFill>
        <p:spPr>
          <a:xfrm>
            <a:off x="7870328" y="1648890"/>
            <a:ext cx="3987053" cy="3274226"/>
          </a:xfrm>
          <a:prstGeom prst="rect">
            <a:avLst/>
          </a:prstGeom>
        </p:spPr>
      </p:pic>
      <p:pic>
        <p:nvPicPr>
          <p:cNvPr id="23" name="Picture 22">
            <a:extLst>
              <a:ext uri="{FF2B5EF4-FFF2-40B4-BE49-F238E27FC236}">
                <a16:creationId xmlns:a16="http://schemas.microsoft.com/office/drawing/2014/main" id="{85DF6F82-F558-1276-D264-D02B13F0C4BD}"/>
              </a:ext>
            </a:extLst>
          </p:cNvPr>
          <p:cNvPicPr>
            <a:picLocks noChangeAspect="1"/>
          </p:cNvPicPr>
          <p:nvPr/>
        </p:nvPicPr>
        <p:blipFill>
          <a:blip r:embed="rId4"/>
          <a:stretch>
            <a:fillRect/>
          </a:stretch>
        </p:blipFill>
        <p:spPr>
          <a:xfrm>
            <a:off x="4922126" y="5209110"/>
            <a:ext cx="5236768" cy="1188519"/>
          </a:xfrm>
          <a:prstGeom prst="rect">
            <a:avLst/>
          </a:prstGeom>
        </p:spPr>
      </p:pic>
    </p:spTree>
    <p:extLst>
      <p:ext uri="{BB962C8B-B14F-4D97-AF65-F5344CB8AC3E}">
        <p14:creationId xmlns:p14="http://schemas.microsoft.com/office/powerpoint/2010/main" val="1624480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lue runner • Caranx crysos • Fish sheet">
            <a:extLst>
              <a:ext uri="{FF2B5EF4-FFF2-40B4-BE49-F238E27FC236}">
                <a16:creationId xmlns:a16="http://schemas.microsoft.com/office/drawing/2014/main" id="{29AFD802-5E6C-0F12-14EE-67DEBF31B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800" b="861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B19D566-1356-47BF-B621-68EA7C034D19}"/>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Example: </a:t>
            </a:r>
            <a:r>
              <a:rPr lang="en-US" sz="3600" i="1">
                <a:solidFill>
                  <a:schemeClr val="tx1">
                    <a:lumMod val="85000"/>
                    <a:lumOff val="15000"/>
                  </a:schemeClr>
                </a:solidFill>
              </a:rPr>
              <a:t>Caranx crysos</a:t>
            </a:r>
          </a:p>
        </p:txBody>
      </p:sp>
    </p:spTree>
    <p:extLst>
      <p:ext uri="{BB962C8B-B14F-4D97-AF65-F5344CB8AC3E}">
        <p14:creationId xmlns:p14="http://schemas.microsoft.com/office/powerpoint/2010/main" val="3626862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64AA-FA9F-9C5A-1FED-E9212DB01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F933C-72C2-722F-3094-02CA939001E4}"/>
              </a:ext>
            </a:extLst>
          </p:cNvPr>
          <p:cNvSpPr>
            <a:spLocks noGrp="1"/>
          </p:cNvSpPr>
          <p:nvPr>
            <p:ph type="title"/>
          </p:nvPr>
        </p:nvSpPr>
        <p:spPr>
          <a:xfrm>
            <a:off x="864156" y="521846"/>
            <a:ext cx="10863556" cy="1325563"/>
          </a:xfrm>
        </p:spPr>
        <p:txBody>
          <a:bodyPr>
            <a:normAutofit/>
          </a:bodyPr>
          <a:lstStyle/>
          <a:p>
            <a:pPr algn="ctr"/>
            <a:r>
              <a:rPr lang="en-GB" sz="3200" b="1" dirty="0">
                <a:solidFill>
                  <a:srgbClr val="0070C0"/>
                </a:solidFill>
                <a:latin typeface="Arial" panose="020B0604020202020204" pitchFamily="34" charset="0"/>
                <a:cs typeface="Arial" panose="020B0604020202020204" pitchFamily="34" charset="0"/>
              </a:rPr>
              <a:t>Empirical </a:t>
            </a:r>
            <a:r>
              <a:rPr lang="en-GB" sz="3200" b="1" dirty="0" err="1">
                <a:solidFill>
                  <a:srgbClr val="0070C0"/>
                </a:solidFill>
                <a:latin typeface="Arial" panose="020B0604020202020204" pitchFamily="34" charset="0"/>
                <a:cs typeface="Arial" panose="020B0604020202020204" pitchFamily="34" charset="0"/>
              </a:rPr>
              <a:t>Modeling</a:t>
            </a:r>
            <a:r>
              <a:rPr lang="en-GB" sz="3200" b="1" dirty="0">
                <a:solidFill>
                  <a:srgbClr val="0070C0"/>
                </a:solidFill>
                <a:latin typeface="Arial" panose="020B0604020202020204" pitchFamily="34" charset="0"/>
                <a:cs typeface="Arial" panose="020B0604020202020204" pitchFamily="34" charset="0"/>
              </a:rPr>
              <a:t> – </a:t>
            </a:r>
            <a:r>
              <a:rPr lang="en-GB" sz="3200" b="1" dirty="0" err="1">
                <a:solidFill>
                  <a:srgbClr val="0070C0"/>
                </a:solidFill>
                <a:latin typeface="Arial" panose="020B0604020202020204" pitchFamily="34" charset="0"/>
                <a:cs typeface="Arial" panose="020B0604020202020204" pitchFamily="34" charset="0"/>
              </a:rPr>
              <a:t>MaxEnt</a:t>
            </a:r>
            <a:r>
              <a:rPr lang="en-GB" sz="3200" b="1" dirty="0">
                <a:solidFill>
                  <a:srgbClr val="0070C0"/>
                </a:solidFill>
                <a:latin typeface="Arial" panose="020B0604020202020204" pitchFamily="34" charset="0"/>
                <a:cs typeface="Arial" panose="020B0604020202020204" pitchFamily="34" charset="0"/>
              </a:rPr>
              <a:t> for Species Distributions</a:t>
            </a:r>
            <a:endParaRPr lang="en-US" sz="3200" b="1" dirty="0">
              <a:solidFill>
                <a:srgbClr val="0070C0"/>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96F51A13-C2B1-98E1-B972-A60F6DEEBDAA}"/>
              </a:ext>
            </a:extLst>
          </p:cNvPr>
          <p:cNvSpPr>
            <a:spLocks noGrp="1"/>
          </p:cNvSpPr>
          <p:nvPr>
            <p:ph type="sldNum" sz="quarter" idx="12"/>
          </p:nvPr>
        </p:nvSpPr>
        <p:spPr>
          <a:xfrm>
            <a:off x="9152277" y="6317742"/>
            <a:ext cx="2743200" cy="365125"/>
          </a:xfrm>
        </p:spPr>
        <p:txBody>
          <a:bodyPr/>
          <a:lstStyle/>
          <a:p>
            <a:fld id="{D51B4FB4-AA13-FE41-AF8A-525BA2FA973D}" type="slidenum">
              <a:rPr lang="en-US" smtClean="0"/>
              <a:t>9</a:t>
            </a:fld>
            <a:endParaRPr lang="en-US" dirty="0"/>
          </a:p>
        </p:txBody>
      </p:sp>
      <p:grpSp>
        <p:nvGrpSpPr>
          <p:cNvPr id="6" name="Group 5">
            <a:extLst>
              <a:ext uri="{FF2B5EF4-FFF2-40B4-BE49-F238E27FC236}">
                <a16:creationId xmlns:a16="http://schemas.microsoft.com/office/drawing/2014/main" id="{8F5400E7-0698-3632-6EE4-D8810E494CF7}"/>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081CFB1E-9C35-C2A7-B72E-E98540C489C2}"/>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E4AC04A-0560-8CE9-194E-8553C36ADD97}"/>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5CC94DDB-CFCD-C6A2-BB40-C97F2B4DF351}"/>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011947FF-083A-2512-2354-6B3ADC7AFECF}"/>
              </a:ext>
            </a:extLst>
          </p:cNvPr>
          <p:cNvPicPr>
            <a:picLocks noChangeAspect="1"/>
          </p:cNvPicPr>
          <p:nvPr/>
        </p:nvPicPr>
        <p:blipFill>
          <a:blip r:embed="rId2"/>
          <a:stretch>
            <a:fillRect/>
          </a:stretch>
        </p:blipFill>
        <p:spPr>
          <a:xfrm>
            <a:off x="5446321" y="2492154"/>
            <a:ext cx="6449156" cy="3219451"/>
          </a:xfrm>
          <a:prstGeom prst="rect">
            <a:avLst/>
          </a:prstGeom>
        </p:spPr>
      </p:pic>
      <p:sp>
        <p:nvSpPr>
          <p:cNvPr id="15" name="Content Placeholder 2">
            <a:extLst>
              <a:ext uri="{FF2B5EF4-FFF2-40B4-BE49-F238E27FC236}">
                <a16:creationId xmlns:a16="http://schemas.microsoft.com/office/drawing/2014/main" id="{F32B33A1-CDA9-4258-BE6D-D7A22C8698EC}"/>
              </a:ext>
            </a:extLst>
          </p:cNvPr>
          <p:cNvSpPr>
            <a:spLocks noGrp="1"/>
          </p:cNvSpPr>
          <p:nvPr>
            <p:ph idx="1"/>
          </p:nvPr>
        </p:nvSpPr>
        <p:spPr>
          <a:xfrm>
            <a:off x="838200" y="2280138"/>
            <a:ext cx="4221191" cy="4351338"/>
          </a:xfrm>
        </p:spPr>
        <p:txBody>
          <a:bodyPr>
            <a:normAutofit/>
          </a:bodyPr>
          <a:lstStyle/>
          <a:p>
            <a:r>
              <a:rPr lang="en-GB" sz="2400" dirty="0">
                <a:latin typeface="Arial" panose="020B0604020202020204" pitchFamily="34" charset="0"/>
                <a:cs typeface="Arial" panose="020B0604020202020204" pitchFamily="34" charset="0"/>
              </a:rPr>
              <a:t>For </a:t>
            </a:r>
            <a:r>
              <a:rPr lang="en-GB" sz="2400" i="1" dirty="0">
                <a:latin typeface="Arial" panose="020B0604020202020204" pitchFamily="34" charset="0"/>
                <a:cs typeface="Arial" panose="020B0604020202020204" pitchFamily="34" charset="0"/>
              </a:rPr>
              <a:t>Caranx </a:t>
            </a:r>
            <a:r>
              <a:rPr lang="en-GB" sz="2400" i="1" dirty="0" err="1">
                <a:latin typeface="Arial" panose="020B0604020202020204" pitchFamily="34" charset="0"/>
                <a:cs typeface="Arial" panose="020B0604020202020204" pitchFamily="34" charset="0"/>
              </a:rPr>
              <a:t>crysos</a:t>
            </a:r>
            <a:r>
              <a:rPr lang="en-GB" sz="2400" dirty="0">
                <a:latin typeface="Arial" panose="020B0604020202020204" pitchFamily="34" charset="0"/>
                <a:cs typeface="Arial" panose="020B0604020202020204" pitchFamily="34" charset="0"/>
              </a:rPr>
              <a:t>:</a:t>
            </a:r>
          </a:p>
          <a:p>
            <a:endParaRPr lang="en-GB" sz="2400" dirty="0">
              <a:latin typeface="Arial" panose="020B0604020202020204" pitchFamily="34" charset="0"/>
              <a:cs typeface="Arial" panose="020B0604020202020204" pitchFamily="34" charset="0"/>
            </a:endParaRPr>
          </a:p>
          <a:p>
            <a:pPr marL="0" indent="0">
              <a:buNone/>
            </a:pPr>
            <a:r>
              <a:rPr lang="en-GB" sz="2400" dirty="0">
                <a:latin typeface="Arial" panose="020B0604020202020204" pitchFamily="34" charset="0"/>
                <a:cs typeface="Arial" panose="020B0604020202020204" pitchFamily="34" charset="0"/>
              </a:rPr>
              <a:t>Most important indicators:</a:t>
            </a:r>
          </a:p>
          <a:p>
            <a:r>
              <a:rPr lang="en-GB" sz="2400" dirty="0">
                <a:latin typeface="Arial" panose="020B0604020202020204" pitchFamily="34" charset="0"/>
                <a:cs typeface="Arial" panose="020B0604020202020204" pitchFamily="34" charset="0"/>
              </a:rPr>
              <a:t>Dissolved Molecular Oxygen Range
Average ocean temperature</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C870165A-DC6E-7C3E-357A-6B3EB04AC728}"/>
              </a:ext>
            </a:extLst>
          </p:cNvPr>
          <p:cNvSpPr txBox="1"/>
          <p:nvPr/>
        </p:nvSpPr>
        <p:spPr>
          <a:xfrm>
            <a:off x="10289445" y="1886017"/>
            <a:ext cx="2659965" cy="646331"/>
          </a:xfrm>
          <a:prstGeom prst="rect">
            <a:avLst/>
          </a:prstGeom>
          <a:noFill/>
        </p:spPr>
        <p:txBody>
          <a:bodyPr wrap="square" rtlCol="0">
            <a:spAutoFit/>
          </a:bodyPr>
          <a:lstStyle/>
          <a:p>
            <a:r>
              <a:rPr lang="en-GB" dirty="0"/>
              <a:t>.2 = Range.</a:t>
            </a:r>
          </a:p>
          <a:p>
            <a:r>
              <a:rPr lang="en-GB" dirty="0"/>
              <a:t>1 = Mean</a:t>
            </a:r>
          </a:p>
        </p:txBody>
      </p:sp>
    </p:spTree>
    <p:extLst>
      <p:ext uri="{BB962C8B-B14F-4D97-AF65-F5344CB8AC3E}">
        <p14:creationId xmlns:p14="http://schemas.microsoft.com/office/powerpoint/2010/main" val="1594676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4E313-CE94-9B9E-46BB-7171D5D4A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A9A4F-1A54-94A0-24BF-F8B53F86081E}"/>
              </a:ext>
            </a:extLst>
          </p:cNvPr>
          <p:cNvSpPr>
            <a:spLocks noGrp="1"/>
          </p:cNvSpPr>
          <p:nvPr>
            <p:ph type="title"/>
          </p:nvPr>
        </p:nvSpPr>
        <p:spPr>
          <a:xfrm>
            <a:off x="864156" y="521846"/>
            <a:ext cx="10863556" cy="1325563"/>
          </a:xfrm>
        </p:spPr>
        <p:txBody>
          <a:bodyPr>
            <a:normAutofit/>
          </a:bodyPr>
          <a:lstStyle/>
          <a:p>
            <a:pPr algn="ctr"/>
            <a:r>
              <a:rPr lang="en-GB" sz="3200" b="1" dirty="0">
                <a:solidFill>
                  <a:srgbClr val="0070C0"/>
                </a:solidFill>
                <a:latin typeface="Arial" panose="020B0604020202020204" pitchFamily="34" charset="0"/>
                <a:cs typeface="Arial" panose="020B0604020202020204" pitchFamily="34" charset="0"/>
              </a:rPr>
              <a:t>Empirical </a:t>
            </a:r>
            <a:r>
              <a:rPr lang="en-GB" sz="3200" b="1" dirty="0" err="1">
                <a:solidFill>
                  <a:srgbClr val="0070C0"/>
                </a:solidFill>
                <a:latin typeface="Arial" panose="020B0604020202020204" pitchFamily="34" charset="0"/>
                <a:cs typeface="Arial" panose="020B0604020202020204" pitchFamily="34" charset="0"/>
              </a:rPr>
              <a:t>Modeling</a:t>
            </a:r>
            <a:r>
              <a:rPr lang="en-GB" sz="3200" b="1" dirty="0">
                <a:solidFill>
                  <a:srgbClr val="0070C0"/>
                </a:solidFill>
                <a:latin typeface="Arial" panose="020B0604020202020204" pitchFamily="34" charset="0"/>
                <a:cs typeface="Arial" panose="020B0604020202020204" pitchFamily="34" charset="0"/>
              </a:rPr>
              <a:t> – </a:t>
            </a:r>
            <a:r>
              <a:rPr lang="en-GB" sz="3200" b="1" dirty="0" err="1">
                <a:solidFill>
                  <a:srgbClr val="0070C0"/>
                </a:solidFill>
                <a:latin typeface="Arial" panose="020B0604020202020204" pitchFamily="34" charset="0"/>
                <a:cs typeface="Arial" panose="020B0604020202020204" pitchFamily="34" charset="0"/>
              </a:rPr>
              <a:t>MaxEnt</a:t>
            </a:r>
            <a:r>
              <a:rPr lang="en-GB" sz="3200" b="1" dirty="0">
                <a:solidFill>
                  <a:srgbClr val="0070C0"/>
                </a:solidFill>
                <a:latin typeface="Arial" panose="020B0604020202020204" pitchFamily="34" charset="0"/>
                <a:cs typeface="Arial" panose="020B0604020202020204" pitchFamily="34" charset="0"/>
              </a:rPr>
              <a:t> for Species Distributions</a:t>
            </a:r>
            <a:endParaRPr lang="en-US" sz="3200" b="1" dirty="0">
              <a:solidFill>
                <a:srgbClr val="0070C0"/>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EBEAB8F-9831-D4AE-A4F1-A5D9D79033AD}"/>
              </a:ext>
            </a:extLst>
          </p:cNvPr>
          <p:cNvSpPr>
            <a:spLocks noGrp="1"/>
          </p:cNvSpPr>
          <p:nvPr>
            <p:ph type="sldNum" sz="quarter" idx="12"/>
          </p:nvPr>
        </p:nvSpPr>
        <p:spPr>
          <a:xfrm>
            <a:off x="9087255" y="6336154"/>
            <a:ext cx="2743200" cy="365125"/>
          </a:xfrm>
        </p:spPr>
        <p:txBody>
          <a:bodyPr/>
          <a:lstStyle/>
          <a:p>
            <a:fld id="{D51B4FB4-AA13-FE41-AF8A-525BA2FA973D}" type="slidenum">
              <a:rPr lang="en-US" smtClean="0"/>
              <a:t>10</a:t>
            </a:fld>
            <a:endParaRPr lang="en-US" dirty="0"/>
          </a:p>
        </p:txBody>
      </p:sp>
      <p:grpSp>
        <p:nvGrpSpPr>
          <p:cNvPr id="6" name="Group 5">
            <a:extLst>
              <a:ext uri="{FF2B5EF4-FFF2-40B4-BE49-F238E27FC236}">
                <a16:creationId xmlns:a16="http://schemas.microsoft.com/office/drawing/2014/main" id="{F3A79ACE-7E84-EC4D-298B-45043A165DEF}"/>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90C387FA-2DFA-CF75-CA27-C8341B9B3B70}"/>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256910F-0E29-97B3-57F1-27680BCF778B}"/>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D2193D01-69F2-EEB8-B33C-64A49626C12F}"/>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FB24792-9353-AF55-058F-C045424933C3}"/>
              </a:ext>
            </a:extLst>
          </p:cNvPr>
          <p:cNvPicPr>
            <a:picLocks noChangeAspect="1"/>
          </p:cNvPicPr>
          <p:nvPr/>
        </p:nvPicPr>
        <p:blipFill>
          <a:blip r:embed="rId2"/>
          <a:stretch>
            <a:fillRect/>
          </a:stretch>
        </p:blipFill>
        <p:spPr>
          <a:xfrm>
            <a:off x="1099318" y="1718549"/>
            <a:ext cx="4718021" cy="4766661"/>
          </a:xfrm>
          <a:prstGeom prst="rect">
            <a:avLst/>
          </a:prstGeom>
        </p:spPr>
      </p:pic>
      <p:pic>
        <p:nvPicPr>
          <p:cNvPr id="7" name="Picture 6">
            <a:extLst>
              <a:ext uri="{FF2B5EF4-FFF2-40B4-BE49-F238E27FC236}">
                <a16:creationId xmlns:a16="http://schemas.microsoft.com/office/drawing/2014/main" id="{EBA242E0-EBD9-77DD-CD63-CB0EE6EA2090}"/>
              </a:ext>
            </a:extLst>
          </p:cNvPr>
          <p:cNvPicPr>
            <a:picLocks noChangeAspect="1"/>
          </p:cNvPicPr>
          <p:nvPr/>
        </p:nvPicPr>
        <p:blipFill>
          <a:blip r:embed="rId3"/>
          <a:stretch>
            <a:fillRect/>
          </a:stretch>
        </p:blipFill>
        <p:spPr>
          <a:xfrm>
            <a:off x="6137715" y="1761876"/>
            <a:ext cx="4657752" cy="4701080"/>
          </a:xfrm>
          <a:prstGeom prst="rect">
            <a:avLst/>
          </a:prstGeom>
        </p:spPr>
      </p:pic>
      <p:sp>
        <p:nvSpPr>
          <p:cNvPr id="14" name="TextBox 13">
            <a:extLst>
              <a:ext uri="{FF2B5EF4-FFF2-40B4-BE49-F238E27FC236}">
                <a16:creationId xmlns:a16="http://schemas.microsoft.com/office/drawing/2014/main" id="{50490B4F-A04B-BCBA-81BA-3E58EC2E0513}"/>
              </a:ext>
            </a:extLst>
          </p:cNvPr>
          <p:cNvSpPr txBox="1"/>
          <p:nvPr/>
        </p:nvSpPr>
        <p:spPr>
          <a:xfrm>
            <a:off x="10221482" y="2262194"/>
            <a:ext cx="1400108" cy="646331"/>
          </a:xfrm>
          <a:prstGeom prst="rect">
            <a:avLst/>
          </a:prstGeom>
          <a:noFill/>
        </p:spPr>
        <p:txBody>
          <a:bodyPr wrap="square" rtlCol="0">
            <a:spAutoFit/>
          </a:bodyPr>
          <a:lstStyle/>
          <a:p>
            <a:r>
              <a:rPr lang="en-GB" sz="1200" b="1" dirty="0"/>
              <a:t>Probability of occurrence of species</a:t>
            </a:r>
          </a:p>
        </p:txBody>
      </p:sp>
    </p:spTree>
    <p:extLst>
      <p:ext uri="{BB962C8B-B14F-4D97-AF65-F5344CB8AC3E}">
        <p14:creationId xmlns:p14="http://schemas.microsoft.com/office/powerpoint/2010/main" val="1794463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73B47-55C2-D469-44E3-79BC06A37B1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8E38DC8E-7970-BC19-5CAC-F6E21BBF04EE}"/>
              </a:ext>
            </a:extLst>
          </p:cNvPr>
          <p:cNvPicPr>
            <a:picLocks noChangeAspect="1"/>
          </p:cNvPicPr>
          <p:nvPr/>
        </p:nvPicPr>
        <p:blipFill>
          <a:blip r:embed="rId2"/>
          <a:stretch>
            <a:fillRect/>
          </a:stretch>
        </p:blipFill>
        <p:spPr>
          <a:xfrm>
            <a:off x="6164602" y="1686121"/>
            <a:ext cx="4953779" cy="2759729"/>
          </a:xfrm>
          <a:prstGeom prst="rect">
            <a:avLst/>
          </a:prstGeom>
        </p:spPr>
      </p:pic>
      <p:pic>
        <p:nvPicPr>
          <p:cNvPr id="15" name="Picture 14">
            <a:extLst>
              <a:ext uri="{FF2B5EF4-FFF2-40B4-BE49-F238E27FC236}">
                <a16:creationId xmlns:a16="http://schemas.microsoft.com/office/drawing/2014/main" id="{38958692-DA36-4062-2067-5FD9187802F6}"/>
              </a:ext>
            </a:extLst>
          </p:cNvPr>
          <p:cNvPicPr>
            <a:picLocks noChangeAspect="1"/>
          </p:cNvPicPr>
          <p:nvPr/>
        </p:nvPicPr>
        <p:blipFill>
          <a:blip r:embed="rId3"/>
          <a:stretch>
            <a:fillRect/>
          </a:stretch>
        </p:blipFill>
        <p:spPr>
          <a:xfrm>
            <a:off x="6184827" y="4204604"/>
            <a:ext cx="4953781" cy="2759730"/>
          </a:xfrm>
          <a:prstGeom prst="rect">
            <a:avLst/>
          </a:prstGeom>
        </p:spPr>
      </p:pic>
      <p:sp>
        <p:nvSpPr>
          <p:cNvPr id="2" name="Title 1">
            <a:extLst>
              <a:ext uri="{FF2B5EF4-FFF2-40B4-BE49-F238E27FC236}">
                <a16:creationId xmlns:a16="http://schemas.microsoft.com/office/drawing/2014/main" id="{3A1B2C40-0E43-5CD6-E7E6-B8FC05F039D9}"/>
              </a:ext>
            </a:extLst>
          </p:cNvPr>
          <p:cNvSpPr>
            <a:spLocks noGrp="1"/>
          </p:cNvSpPr>
          <p:nvPr>
            <p:ph type="title"/>
          </p:nvPr>
        </p:nvSpPr>
        <p:spPr>
          <a:xfrm>
            <a:off x="864156" y="521846"/>
            <a:ext cx="1086355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Empirical modelling – </a:t>
            </a:r>
            <a:r>
              <a:rPr lang="en-US" sz="3200" b="1" dirty="0" err="1">
                <a:solidFill>
                  <a:srgbClr val="0070C0"/>
                </a:solidFill>
                <a:latin typeface="Arial" panose="020B0604020202020204" pitchFamily="34" charset="0"/>
                <a:cs typeface="Arial" panose="020B0604020202020204" pitchFamily="34" charset="0"/>
              </a:rPr>
              <a:t>MaxEnt</a:t>
            </a:r>
            <a:r>
              <a:rPr lang="en-US" sz="3200" b="1" dirty="0">
                <a:solidFill>
                  <a:srgbClr val="0070C0"/>
                </a:solidFill>
                <a:latin typeface="Arial" panose="020B0604020202020204" pitchFamily="34" charset="0"/>
                <a:cs typeface="Arial" panose="020B0604020202020204" pitchFamily="34" charset="0"/>
              </a:rPr>
              <a:t> for species distributions</a:t>
            </a:r>
          </a:p>
        </p:txBody>
      </p:sp>
      <p:sp>
        <p:nvSpPr>
          <p:cNvPr id="5" name="Slide Number Placeholder 4">
            <a:extLst>
              <a:ext uri="{FF2B5EF4-FFF2-40B4-BE49-F238E27FC236}">
                <a16:creationId xmlns:a16="http://schemas.microsoft.com/office/drawing/2014/main" id="{3BD5515A-E4ED-BD90-34A9-3A42B23AE256}"/>
              </a:ext>
            </a:extLst>
          </p:cNvPr>
          <p:cNvSpPr>
            <a:spLocks noGrp="1"/>
          </p:cNvSpPr>
          <p:nvPr>
            <p:ph type="sldNum" sz="quarter" idx="12"/>
          </p:nvPr>
        </p:nvSpPr>
        <p:spPr>
          <a:xfrm>
            <a:off x="9079125" y="6336154"/>
            <a:ext cx="2743200" cy="365125"/>
          </a:xfrm>
        </p:spPr>
        <p:txBody>
          <a:bodyPr/>
          <a:lstStyle/>
          <a:p>
            <a:fld id="{D51B4FB4-AA13-FE41-AF8A-525BA2FA973D}" type="slidenum">
              <a:rPr lang="en-US" smtClean="0"/>
              <a:t>11</a:t>
            </a:fld>
            <a:endParaRPr lang="en-US" dirty="0"/>
          </a:p>
        </p:txBody>
      </p:sp>
      <p:grpSp>
        <p:nvGrpSpPr>
          <p:cNvPr id="6" name="Group 5">
            <a:extLst>
              <a:ext uri="{FF2B5EF4-FFF2-40B4-BE49-F238E27FC236}">
                <a16:creationId xmlns:a16="http://schemas.microsoft.com/office/drawing/2014/main" id="{FAC613EC-F33A-FAB9-B7ED-834A8EB4BAD3}"/>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10602A39-891C-C9EC-5643-AF295D411C5D}"/>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E7E874C-02F2-35AE-5AFD-01992E69F2CA}"/>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6E4DF0D9-6AB6-CB86-E3F4-F05A3C445977}"/>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5393A94-7724-23BF-C86B-93ACB3A8B9ED}"/>
              </a:ext>
            </a:extLst>
          </p:cNvPr>
          <p:cNvPicPr>
            <a:picLocks noChangeAspect="1"/>
          </p:cNvPicPr>
          <p:nvPr/>
        </p:nvPicPr>
        <p:blipFill>
          <a:blip r:embed="rId4"/>
          <a:stretch>
            <a:fillRect/>
          </a:stretch>
        </p:blipFill>
        <p:spPr>
          <a:xfrm>
            <a:off x="550642" y="1974210"/>
            <a:ext cx="4450487" cy="4460789"/>
          </a:xfrm>
          <a:prstGeom prst="rect">
            <a:avLst/>
          </a:prstGeom>
        </p:spPr>
      </p:pic>
      <p:sp>
        <p:nvSpPr>
          <p:cNvPr id="12" name="Rectangle 11">
            <a:extLst>
              <a:ext uri="{FF2B5EF4-FFF2-40B4-BE49-F238E27FC236}">
                <a16:creationId xmlns:a16="http://schemas.microsoft.com/office/drawing/2014/main" id="{A8BF820F-8F30-6529-8802-963EF3E71C48}"/>
              </a:ext>
            </a:extLst>
          </p:cNvPr>
          <p:cNvSpPr/>
          <p:nvPr/>
        </p:nvSpPr>
        <p:spPr>
          <a:xfrm>
            <a:off x="2949959" y="3985977"/>
            <a:ext cx="395416" cy="4077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097EA709-AD56-5B25-ED80-7C7EE20EF424}"/>
              </a:ext>
            </a:extLst>
          </p:cNvPr>
          <p:cNvSpPr txBox="1"/>
          <p:nvPr/>
        </p:nvSpPr>
        <p:spPr>
          <a:xfrm>
            <a:off x="4406419" y="2377188"/>
            <a:ext cx="1209647" cy="769441"/>
          </a:xfrm>
          <a:prstGeom prst="rect">
            <a:avLst/>
          </a:prstGeom>
          <a:noFill/>
        </p:spPr>
        <p:txBody>
          <a:bodyPr wrap="square" rtlCol="0">
            <a:spAutoFit/>
          </a:bodyPr>
          <a:lstStyle/>
          <a:p>
            <a:r>
              <a:rPr lang="en-GB" sz="1100" b="1" dirty="0"/>
              <a:t>Shift in probability of species occurrence</a:t>
            </a:r>
          </a:p>
        </p:txBody>
      </p:sp>
      <p:sp>
        <p:nvSpPr>
          <p:cNvPr id="16" name="TextBox 15">
            <a:extLst>
              <a:ext uri="{FF2B5EF4-FFF2-40B4-BE49-F238E27FC236}">
                <a16:creationId xmlns:a16="http://schemas.microsoft.com/office/drawing/2014/main" id="{62E6603B-9313-70C3-F08C-B0778868A150}"/>
              </a:ext>
            </a:extLst>
          </p:cNvPr>
          <p:cNvSpPr txBox="1"/>
          <p:nvPr/>
        </p:nvSpPr>
        <p:spPr>
          <a:xfrm>
            <a:off x="10612678" y="1683284"/>
            <a:ext cx="1209647" cy="769441"/>
          </a:xfrm>
          <a:prstGeom prst="rect">
            <a:avLst/>
          </a:prstGeom>
          <a:noFill/>
        </p:spPr>
        <p:txBody>
          <a:bodyPr wrap="square" rtlCol="0">
            <a:spAutoFit/>
          </a:bodyPr>
          <a:lstStyle/>
          <a:p>
            <a:r>
              <a:rPr lang="en-GB" sz="1100" b="1" dirty="0"/>
              <a:t>Change in the probability of species occurrence</a:t>
            </a:r>
          </a:p>
        </p:txBody>
      </p:sp>
    </p:spTree>
    <p:extLst>
      <p:ext uri="{BB962C8B-B14F-4D97-AF65-F5344CB8AC3E}">
        <p14:creationId xmlns:p14="http://schemas.microsoft.com/office/powerpoint/2010/main" val="3191509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3F7EC-B368-2DCE-E84A-D2BAF8F1E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750DA-DE2E-5F7F-1600-7071CFFF3CA6}"/>
              </a:ext>
            </a:extLst>
          </p:cNvPr>
          <p:cNvSpPr>
            <a:spLocks noGrp="1"/>
          </p:cNvSpPr>
          <p:nvPr>
            <p:ph type="title"/>
          </p:nvPr>
        </p:nvSpPr>
        <p:spPr>
          <a:xfrm>
            <a:off x="864156" y="511070"/>
            <a:ext cx="8709612"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8762D6B5-E21A-CB19-05FD-182AAA0C5770}"/>
              </a:ext>
            </a:extLst>
          </p:cNvPr>
          <p:cNvSpPr>
            <a:spLocks noGrp="1"/>
          </p:cNvSpPr>
          <p:nvPr>
            <p:ph idx="1"/>
          </p:nvPr>
        </p:nvSpPr>
        <p:spPr>
          <a:xfrm>
            <a:off x="864156" y="1952658"/>
            <a:ext cx="5515379" cy="4351338"/>
          </a:xfrm>
        </p:spPr>
        <p:txBody>
          <a:bodyPr>
            <a:normAutofit/>
          </a:bodyPr>
          <a:lstStyle/>
          <a:p>
            <a:r>
              <a:rPr lang="en-GB" sz="2400" dirty="0">
                <a:latin typeface="Arial" panose="020B0604020202020204" pitchFamily="34" charset="0"/>
                <a:cs typeface="Arial" panose="020B0604020202020204" pitchFamily="34" charset="0"/>
              </a:rPr>
              <a:t>Climate change is expected to alter the distribution of fish species
Projected changes in distributions can be evaluated by empirical </a:t>
            </a:r>
            <a:r>
              <a:rPr lang="en-GB" sz="2400" dirty="0" err="1">
                <a:latin typeface="Arial" panose="020B0604020202020204" pitchFamily="34" charset="0"/>
                <a:cs typeface="Arial" panose="020B0604020202020204" pitchFamily="34" charset="0"/>
              </a:rPr>
              <a:t>modeling</a:t>
            </a:r>
            <a:r>
              <a:rPr lang="en-GB" sz="2400" dirty="0">
                <a:latin typeface="Arial" panose="020B0604020202020204" pitchFamily="34" charset="0"/>
                <a:cs typeface="Arial" panose="020B0604020202020204" pitchFamily="34" charset="0"/>
              </a:rPr>
              <a:t>
</a:t>
            </a:r>
            <a:r>
              <a:rPr lang="en-GB" sz="2400" dirty="0" err="1">
                <a:latin typeface="Arial" panose="020B0604020202020204" pitchFamily="34" charset="0"/>
                <a:cs typeface="Arial" panose="020B0604020202020204" pitchFamily="34" charset="0"/>
              </a:rPr>
              <a:t>MaxEnt</a:t>
            </a:r>
            <a:r>
              <a:rPr lang="en-GB" sz="2400" dirty="0">
                <a:latin typeface="Arial" panose="020B0604020202020204" pitchFamily="34" charset="0"/>
                <a:cs typeface="Arial" panose="020B0604020202020204" pitchFamily="34" charset="0"/>
              </a:rPr>
              <a:t> is a simple way to do this using minimal data</a:t>
            </a:r>
            <a:endParaRPr lang="en-US" sz="18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4FF22BD9-770C-F251-F809-C3D4B62F0037}"/>
              </a:ext>
            </a:extLst>
          </p:cNvPr>
          <p:cNvSpPr>
            <a:spLocks noGrp="1"/>
          </p:cNvSpPr>
          <p:nvPr>
            <p:ph type="sldNum" sz="quarter" idx="12"/>
          </p:nvPr>
        </p:nvSpPr>
        <p:spPr>
          <a:xfrm>
            <a:off x="9126165" y="6329332"/>
            <a:ext cx="2743200" cy="365125"/>
          </a:xfrm>
        </p:spPr>
        <p:txBody>
          <a:bodyPr/>
          <a:lstStyle/>
          <a:p>
            <a:fld id="{D51B4FB4-AA13-FE41-AF8A-525BA2FA973D}" type="slidenum">
              <a:rPr lang="en-US" smtClean="0"/>
              <a:t>12</a:t>
            </a:fld>
            <a:endParaRPr lang="en-US" dirty="0"/>
          </a:p>
        </p:txBody>
      </p:sp>
      <p:grpSp>
        <p:nvGrpSpPr>
          <p:cNvPr id="6" name="Group 5">
            <a:extLst>
              <a:ext uri="{FF2B5EF4-FFF2-40B4-BE49-F238E27FC236}">
                <a16:creationId xmlns:a16="http://schemas.microsoft.com/office/drawing/2014/main" id="{B55CDD3D-41BA-2C3D-0B4A-779973D18EEB}"/>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36ADD459-C462-CA47-D880-9A66B280355C}"/>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824126C-5CBF-4B86-33BA-A033AF329240}"/>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044FFED0-894E-DEDA-0A17-1BE14AF3B64D}"/>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Picture 4" descr="Mechanistic Modelling of Biomass Growth, Glucose Consumption and Ethanol  Production by Kluyveromyces marxianus in Batch Fermentation">
            <a:extLst>
              <a:ext uri="{FF2B5EF4-FFF2-40B4-BE49-F238E27FC236}">
                <a16:creationId xmlns:a16="http://schemas.microsoft.com/office/drawing/2014/main" id="{CB6ACCC8-A9E4-97E7-2357-F507821D78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3792" y="4479299"/>
            <a:ext cx="4028266" cy="19685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A person walking with a computer&#10;&#10;AI-generated content may be incorrect.">
            <a:extLst>
              <a:ext uri="{FF2B5EF4-FFF2-40B4-BE49-F238E27FC236}">
                <a16:creationId xmlns:a16="http://schemas.microsoft.com/office/drawing/2014/main" id="{6468704D-4C92-1464-93B3-FE3D5B089BAF}"/>
              </a:ext>
            </a:extLst>
          </p:cNvPr>
          <p:cNvPicPr>
            <a:picLocks noChangeAspect="1"/>
          </p:cNvPicPr>
          <p:nvPr/>
        </p:nvPicPr>
        <p:blipFill>
          <a:blip r:embed="rId3"/>
          <a:stretch>
            <a:fillRect/>
          </a:stretch>
        </p:blipFill>
        <p:spPr>
          <a:xfrm>
            <a:off x="7038658" y="1677984"/>
            <a:ext cx="3898534" cy="2191245"/>
          </a:xfrm>
          <a:prstGeom prst="rect">
            <a:avLst/>
          </a:prstGeom>
        </p:spPr>
      </p:pic>
    </p:spTree>
    <p:extLst>
      <p:ext uri="{BB962C8B-B14F-4D97-AF65-F5344CB8AC3E}">
        <p14:creationId xmlns:p14="http://schemas.microsoft.com/office/powerpoint/2010/main" val="3592266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1043</TotalTime>
  <Words>596</Words>
  <Application>Microsoft Office PowerPoint</Application>
  <PresentationFormat>Widescreen</PresentationFormat>
  <Paragraphs>65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Georgia</vt:lpstr>
      <vt:lpstr>Office Theme</vt:lpstr>
      <vt:lpstr>Training workshop for the GCF project: Climate change and the impacts of climate change in Sao Tome and Principe, focusing on the fishing and tourism sectors in the context of the Blue Economy Sao Tome and Principe, November/December 2025</vt:lpstr>
      <vt:lpstr>Fisheries in Sao Tome and Principe: the challenge</vt:lpstr>
      <vt:lpstr>Species distribution modeling approaches</vt:lpstr>
      <vt:lpstr>Empirical Modeling – MaxEnt for Species Distributions</vt:lpstr>
      <vt:lpstr>Important considerations</vt:lpstr>
      <vt:lpstr>Data collection – Species presence data</vt:lpstr>
      <vt:lpstr>Data collection – marine climate data</vt:lpstr>
      <vt:lpstr>Example: Caranx crysos</vt:lpstr>
      <vt:lpstr>Empirical Modeling – MaxEnt for Species Distributions</vt:lpstr>
      <vt:lpstr>Empirical Modeling – MaxEnt for Species Distributions</vt:lpstr>
      <vt:lpstr>Empirical modelling – MaxEnt for species distributions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Greenrod, Samuel (OCBD)</dc:creator>
  <cp:lastModifiedBy>Greenrod, Samuel (OCBD)</cp:lastModifiedBy>
  <cp:revision>3</cp:revision>
  <dcterms:created xsi:type="dcterms:W3CDTF">2025-11-12T15:08:01Z</dcterms:created>
  <dcterms:modified xsi:type="dcterms:W3CDTF">2025-11-28T09:15:42Z</dcterms:modified>
</cp:coreProperties>
</file>