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16_D65996F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61" r:id="rId3"/>
    <p:sldId id="262" r:id="rId4"/>
    <p:sldId id="271" r:id="rId5"/>
    <p:sldId id="281" r:id="rId6"/>
    <p:sldId id="282" r:id="rId7"/>
    <p:sldId id="283" r:id="rId8"/>
    <p:sldId id="28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6300C0-A6D4-4D42-B5CB-ED83DFC7EDB3}" v="3" dt="2025-11-28T09:39:21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comments/modernComment_116_D65996F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35EFF7-6E11-4ED5-8DD2-5683A3180CDF}" authorId="{058D5D99-21CF-B08C-94E1-10539A96C80D}" created="2025-09-25T07:35:28.26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596195578" sldId="278"/>
      <ac:picMk id="3074" creationId="{D18EC2C8-8D2B-E43F-E1FF-B94334997B32}"/>
    </ac:deMkLst>
    <p188:txBody>
      <a:bodyPr/>
      <a:lstStyle/>
      <a:p>
        <a:r>
          <a:rPr lang="en-GB"/>
          <a:t>I put the STP flag as a logo - maybe a different logo would be more appropriate here?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02E7-A716-093E-1362-7E685B34D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3B841-8EE8-DCBC-2BAE-B1BF7602C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8C693-220B-B7B6-F273-9E8D88B86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FA331-FF6B-E678-85E6-FA98BFF1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91788-18EC-C0F1-421D-E58F375C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16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914C-2843-B9AD-AC46-8BE4D435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07C89-5D55-D97F-1B0F-874F7957A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F25AA-4827-21EE-6457-0D8A1E27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3C8B3-BFB7-B7B7-401A-DDE6A010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3345C-1881-0252-ED6F-932F0165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16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64E0-F887-C31C-EDEF-579D66A3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24415-DF7E-52B8-145E-786748D8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3C852-2345-F521-177D-4E5B893F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B64E-F91B-6635-C807-E852F82D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5CAA-E194-3CD1-B25D-967407BF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93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5E79-11E6-91DA-C1DF-43EE6E2C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03DD-2C16-8613-848C-729DFEAAF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4534D-6506-01C1-835C-A2A80BA20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68A7E-5959-EF74-4AE3-4C6598E1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9150A-5F84-8DA5-F9D7-271F272A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E90A-6E5D-37FA-5043-B6C8C699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90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F9A9-40C4-1957-20AC-E2581FC5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1D9B0-C6B0-FF15-4F4A-1DF24A734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3EC60-5D65-13EB-9B87-BF64988D8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016FE-5560-05A2-0A09-557D143F3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BD99A-6DAE-04A0-D8FE-6469EBAD3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B7807F-E675-8070-B291-0A776663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B2935-82F4-5EC2-F131-22AF5636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C4B4F-8FF7-6EF4-B3B3-97E03062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56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14752-E894-E28F-CC83-669C0C98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F1A0F-BAEE-193B-5104-D689D600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2CC38-EE6B-3312-D9DE-2250B873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E9EBF-D944-C8F9-494F-0C0806F2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77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7050D-7431-6E75-ABFE-4904280C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B6110-B850-CD4C-D9A2-04E486B7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04830-154D-725F-C08C-90848CBE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88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49D0-2387-A63D-B1EB-1BBC9DD0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C4B2-AD0C-5FD7-E9D0-3BD735028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2B124-0D1F-E6BB-FE9A-27008B0E1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F39A0-D2C4-810D-5040-DB77176E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6447C-D477-B9DD-EE25-969620FC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CDE6-DDB1-B3DF-3BCF-E1EC5D51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92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8146-53AD-B0B0-25E0-D41028B5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43BD9-A1EC-BBF8-5CA0-27C292981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76DA-0DA9-DFA7-29A1-A41985551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8036A-EA62-8F43-229C-6ED5D9834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0B40C-1B62-4385-EE1A-160F6548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04422-6B0A-10B8-3E85-A0802CE7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84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11CF-0431-B737-6A3C-1BD95279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6C612-0010-B526-C894-8CE6494EE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E29F3-C586-D1F0-64FB-8140E0B6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0C656-9408-1B7B-A7F2-88EF768D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95FBF-191E-7C84-1861-41F1AF54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96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C1F22-C032-7740-E855-6710D6164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25B6A-B82A-FACB-1442-1AF6B13F0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CB769-4CFA-EC12-C2AF-7BD7D6E2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7E55E-D6FC-DB93-3863-32D5DBC1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7CCFB-D6DD-C1F2-BFB1-84BECB74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62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F7785-40BA-DF1C-3523-7CCE340E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92171-54C5-E92A-D2A9-070C21826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3DE5-AB22-1D9D-2C5C-C2796AAEB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8E0D2-DD2A-9440-3AA2-BF0A61A90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916CE-CB18-558E-31A7-4004BD0D0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7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16_D65996FA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Arial"/>
                <a:cs typeface="Arial"/>
              </a:rPr>
              <a:t>Technical workshop for GCF project: </a:t>
            </a: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677"/>
            <a:ext cx="9144000" cy="1655762"/>
          </a:xfrm>
        </p:spPr>
        <p:txBody>
          <a:bodyPr>
            <a:normAutofit/>
          </a:bodyPr>
          <a:lstStyle/>
          <a:p>
            <a:r>
              <a:rPr lang="en-GB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Impact modelling for fish biomass projections</a:t>
            </a:r>
            <a:endParaRPr lang="en-US" sz="18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Samuel Greenrod, Marco Fusi, Riccardo Soldan, Lionel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Kinadjian</a:t>
            </a:r>
            <a:endParaRPr lang="en-US" sz="15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61955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AB30C-2D87-C74C-405A-670FB3C3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8B82-CF15-26F3-A6FC-DCE25512E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Fisheries in Sao Tome and Principe: the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F9C69-A220-021D-6DCA-DB13628BC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636" y="2005012"/>
            <a:ext cx="52578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Climate models project significant future oceanographic change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Climate change is expected to affect fisheries by altering: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Fish reproduction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Fish densities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Fish migration patterns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03F7CB-4C8D-580D-EEBA-A44271C2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95BC09-408A-A028-15E5-244AD70E246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C4ED02-B311-5215-DA5F-A9BBBC88F0C7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CC1761-CCEE-58BE-9A61-751EE1C6112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08523A1-7290-2AF3-16D5-A52FAFE12B6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89A456A-796D-10A1-C739-557F61442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35" t="46200" r="26896" b="12861"/>
          <a:stretch>
            <a:fillRect/>
          </a:stretch>
        </p:blipFill>
        <p:spPr>
          <a:xfrm>
            <a:off x="6993275" y="1618001"/>
            <a:ext cx="1871881" cy="3503940"/>
          </a:xfrm>
          <a:prstGeom prst="rect">
            <a:avLst/>
          </a:prstGeom>
        </p:spPr>
      </p:pic>
      <p:pic>
        <p:nvPicPr>
          <p:cNvPr id="13" name="Picture 1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CCD75D8-9B9B-5201-1034-EBDCCA0B66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81" t="91911" r="15732" b="1719"/>
          <a:stretch>
            <a:fillRect/>
          </a:stretch>
        </p:blipFill>
        <p:spPr>
          <a:xfrm>
            <a:off x="6839633" y="5533812"/>
            <a:ext cx="2119941" cy="365125"/>
          </a:xfrm>
          <a:prstGeom prst="rect">
            <a:avLst/>
          </a:prstGeom>
        </p:spPr>
      </p:pic>
      <p:pic>
        <p:nvPicPr>
          <p:cNvPr id="14" name="Picture 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D0BE1E2-BF92-39E5-E2DC-230AE5E428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3" t="91911" r="52703" b="3088"/>
          <a:stretch>
            <a:fillRect/>
          </a:stretch>
        </p:blipFill>
        <p:spPr>
          <a:xfrm>
            <a:off x="6972984" y="5201251"/>
            <a:ext cx="1853241" cy="286664"/>
          </a:xfrm>
          <a:prstGeom prst="rect">
            <a:avLst/>
          </a:prstGeom>
        </p:spPr>
      </p:pic>
      <p:pic>
        <p:nvPicPr>
          <p:cNvPr id="15" name="Picture 1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501C99F-2D21-42B1-9892-D214A7BF8F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38" t="46307" r="27825" b="12394"/>
          <a:stretch>
            <a:fillRect/>
          </a:stretch>
        </p:blipFill>
        <p:spPr>
          <a:xfrm>
            <a:off x="9162645" y="1634295"/>
            <a:ext cx="1715635" cy="3531105"/>
          </a:xfrm>
          <a:prstGeom prst="rect">
            <a:avLst/>
          </a:prstGeom>
        </p:spPr>
      </p:pic>
      <p:pic>
        <p:nvPicPr>
          <p:cNvPr id="16" name="Picture 1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ABE6C2B-CBC4-7234-9256-AD8D688E10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00" t="92291" r="25515" b="2817"/>
          <a:stretch>
            <a:fillRect/>
          </a:stretch>
        </p:blipFill>
        <p:spPr>
          <a:xfrm>
            <a:off x="9162645" y="5537727"/>
            <a:ext cx="2268746" cy="279964"/>
          </a:xfrm>
          <a:prstGeom prst="rect">
            <a:avLst/>
          </a:prstGeom>
        </p:spPr>
      </p:pic>
      <p:pic>
        <p:nvPicPr>
          <p:cNvPr id="17" name="Picture 1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3F6475B-95E1-757F-F23C-6B9FDDF51D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2" t="91372" r="65050" b="2849"/>
          <a:stretch>
            <a:fillRect/>
          </a:stretch>
        </p:blipFill>
        <p:spPr>
          <a:xfrm>
            <a:off x="9780466" y="5152284"/>
            <a:ext cx="477328" cy="330709"/>
          </a:xfrm>
          <a:prstGeom prst="rect">
            <a:avLst/>
          </a:prstGeom>
        </p:spPr>
      </p:pic>
      <p:pic>
        <p:nvPicPr>
          <p:cNvPr id="12" name="Picture 1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F1BCAAF-8DBF-CFDE-BB54-55BF3DCA51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49" t="46200" r="2489" b="12861"/>
          <a:stretch>
            <a:fillRect/>
          </a:stretch>
        </p:blipFill>
        <p:spPr>
          <a:xfrm>
            <a:off x="10847977" y="1609375"/>
            <a:ext cx="322053" cy="3503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6DD1E8D-D74A-D627-3898-BCA131942FC5}"/>
              </a:ext>
            </a:extLst>
          </p:cNvPr>
          <p:cNvSpPr txBox="1"/>
          <p:nvPr/>
        </p:nvSpPr>
        <p:spPr>
          <a:xfrm>
            <a:off x="7875187" y="5969655"/>
            <a:ext cx="2501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Values are relative to historical run</a:t>
            </a:r>
          </a:p>
        </p:txBody>
      </p:sp>
    </p:spTree>
    <p:extLst>
      <p:ext uri="{BB962C8B-B14F-4D97-AF65-F5344CB8AC3E}">
        <p14:creationId xmlns:p14="http://schemas.microsoft.com/office/powerpoint/2010/main" val="276616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43415-383E-9F3A-6063-F6DE6429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39597-57ED-0A4B-54BB-C49E2BC6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11070"/>
            <a:ext cx="870961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Impact-based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F7D0B-3588-08B0-0049-708DBA68F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156" y="1952658"/>
            <a:ext cx="5515379" cy="4351338"/>
          </a:xfrm>
        </p:spPr>
        <p:txBody>
          <a:bodyPr>
            <a:normAutofit fontScale="85000" lnSpcReduction="10000"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Impact models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referred to as “mechanistic” as they use complex equations to model how fish systems function and interact with their environment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example, impact models often consider: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Predator-prey interactions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Resource availability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Energy transfer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Migration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Impact models give projections of fish biomass based on future projected climate inputs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09670-A785-821A-65D0-C1B5F9BCC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545AF79-8BA1-55EA-8D7F-D4A9CF3452AE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618566-26EA-20E2-DF6F-8387115801FF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15BD8F-18AE-843A-8247-21312ABE4564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A176A92-1BE8-9390-CAD4-C04837C21BCC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Mechanistic Modelling of Biomass Growth, Glucose Consumption and Ethanol  Production by Kluyveromyces marxianus in Batch Fermentation">
            <a:extLst>
              <a:ext uri="{FF2B5EF4-FFF2-40B4-BE49-F238E27FC236}">
                <a16:creationId xmlns:a16="http://schemas.microsoft.com/office/drawing/2014/main" id="{D61BADDF-C5BC-0447-82E4-24C81F870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710" y="1553194"/>
            <a:ext cx="4028266" cy="19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2" descr="Big Fish Eat Little Fish&quot; Images – Browse 139 Stock Photos, Vectors, and  Video | Adobe Stock">
            <a:extLst>
              <a:ext uri="{FF2B5EF4-FFF2-40B4-BE49-F238E27FC236}">
                <a16:creationId xmlns:a16="http://schemas.microsoft.com/office/drawing/2014/main" id="{59CF9D43-43CA-D8E6-83D4-27A48D4A24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2" name="Picture 4" descr="What Do Fish Eat? Understanding Fish Diets - A-Z Animals">
            <a:extLst>
              <a:ext uri="{FF2B5EF4-FFF2-40B4-BE49-F238E27FC236}">
                <a16:creationId xmlns:a16="http://schemas.microsoft.com/office/drawing/2014/main" id="{80CE6463-F610-8DAE-67CE-A3632DC44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377" y="3959353"/>
            <a:ext cx="3264932" cy="170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72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8EE32-FB31-AAF4-A276-51B4DAB8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0A41-F933-5C82-61A3-1B3C6F20B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21846"/>
            <a:ext cx="10863556" cy="1325563"/>
          </a:xfrm>
        </p:spPr>
        <p:txBody>
          <a:bodyPr>
            <a:normAutofit/>
          </a:bodyPr>
          <a:lstStyle/>
          <a:p>
            <a:r>
              <a:rPr lang="en-GB" sz="3200" dirty="0"/>
              <a:t>The Inter-Sectoral Impact Model Intercomparison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CA1D0-D97E-0CD4-9A3F-D588798CF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156" y="1926210"/>
            <a:ext cx="6057852" cy="4351338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ISIMIP is a project aimed at providing a consistent framework for climate impact modelling</a:t>
            </a:r>
          </a:p>
          <a:p>
            <a:r>
              <a:rPr lang="en-GB" dirty="0"/>
              <a:t>Specific focus topics:</a:t>
            </a:r>
          </a:p>
          <a:p>
            <a:pPr lvl="1"/>
            <a:r>
              <a:rPr lang="en-GB" dirty="0"/>
              <a:t>Agriculture</a:t>
            </a:r>
          </a:p>
          <a:p>
            <a:pPr lvl="1"/>
            <a:r>
              <a:rPr lang="en-GB" dirty="0"/>
              <a:t>Water</a:t>
            </a:r>
          </a:p>
          <a:p>
            <a:pPr lvl="1"/>
            <a:r>
              <a:rPr lang="en-GB" dirty="0"/>
              <a:t>Forests</a:t>
            </a:r>
          </a:p>
          <a:p>
            <a:pPr lvl="1"/>
            <a:r>
              <a:rPr lang="en-GB" dirty="0"/>
              <a:t>Fisheries</a:t>
            </a:r>
          </a:p>
          <a:p>
            <a:pPr lvl="1"/>
            <a:r>
              <a:rPr lang="en-GB" dirty="0"/>
              <a:t>Energy</a:t>
            </a:r>
          </a:p>
          <a:p>
            <a:r>
              <a:rPr lang="en-GB" dirty="0"/>
              <a:t>Input:</a:t>
            </a:r>
          </a:p>
          <a:p>
            <a:pPr lvl="1"/>
            <a:r>
              <a:rPr lang="en-GB" dirty="0"/>
              <a:t>Specific climate model ensemble (CMIP) and Earth System Model projections</a:t>
            </a:r>
          </a:p>
          <a:p>
            <a:pPr lvl="1"/>
            <a:r>
              <a:rPr lang="en-GB" dirty="0"/>
              <a:t>Specific climate forcings (SSPs)</a:t>
            </a:r>
          </a:p>
          <a:p>
            <a:pPr lvl="1"/>
            <a:r>
              <a:rPr lang="en-GB" dirty="0"/>
              <a:t>Consistent impact models</a:t>
            </a:r>
          </a:p>
          <a:p>
            <a:pPr lvl="1"/>
            <a:endParaRPr lang="en-GB" dirty="0"/>
          </a:p>
          <a:p>
            <a:r>
              <a:rPr lang="en-GB" dirty="0"/>
              <a:t>Output:</a:t>
            </a:r>
          </a:p>
          <a:p>
            <a:pPr lvl="1"/>
            <a:r>
              <a:rPr lang="en-GB" dirty="0"/>
              <a:t>Global impact model simulations</a:t>
            </a:r>
          </a:p>
          <a:p>
            <a:pPr lvl="1"/>
            <a:r>
              <a:rPr lang="en-GB" dirty="0"/>
              <a:t>Climate/ocean forcing inputs can also be extracted</a:t>
            </a:r>
          </a:p>
          <a:p>
            <a:endParaRPr lang="en-GB" dirty="0"/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6915B-9538-32C3-8D68-15810C8DD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0780896-89DE-E1D7-9579-DB087B8098B2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5E9DE0-24D8-AD17-3ECD-785281BC8371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960D878-696C-C148-885E-EAAF3935A4C7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1A03E919-A3B9-8DCF-200C-0CA378DC0338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28766C-0F4A-1C6A-5A7D-A27BAB303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492" y="1915807"/>
            <a:ext cx="4114823" cy="1513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893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87870-9350-9641-4B1C-C4A264A9A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18A85-4BA1-8306-551E-E13EE8097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21846"/>
            <a:ext cx="10863556" cy="1325563"/>
          </a:xfrm>
        </p:spPr>
        <p:txBody>
          <a:bodyPr>
            <a:normAutofit/>
          </a:bodyPr>
          <a:lstStyle/>
          <a:p>
            <a:r>
              <a:rPr lang="en-GB" sz="3200" dirty="0"/>
              <a:t>Fish biomass impact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AF49-CC44-25D9-3735-EF8C3DBD2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685" y="1572249"/>
            <a:ext cx="6057852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Available fish biomass impact models: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APECOSM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BOATS (fishing intensity)</a:t>
            </a:r>
          </a:p>
          <a:p>
            <a:pPr marL="285750" indent="-285750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EcoOcean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(fishing intensity)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DBPM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FEISTY</a:t>
            </a:r>
          </a:p>
          <a:p>
            <a:pPr marL="285750" indent="-285750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ZooMSS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Climate models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IPSL-CMIP6-LR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GFDL-ESM4</a:t>
            </a:r>
          </a:p>
          <a:p>
            <a:endParaRPr lang="en-GB" dirty="0"/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F30EE1-11E0-EDE4-317A-DA1A285EF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B5EBB30-DF12-1308-58B7-DE21C523BE6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1743B47-D899-7AC4-AB77-E44362AB675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DE5561F-A315-7CDC-238D-7380A2BB4A2F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448B4EA2-C3F5-892D-0276-173712F660CA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415DF548-4296-243F-F7AD-D7BBD1895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934" y="2040491"/>
            <a:ext cx="4816257" cy="41227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83A28C2-A26F-6AEF-A405-EFD1071BBBC3}"/>
              </a:ext>
            </a:extLst>
          </p:cNvPr>
          <p:cNvSpPr txBox="1"/>
          <p:nvPr/>
        </p:nvSpPr>
        <p:spPr>
          <a:xfrm>
            <a:off x="7187066" y="1327879"/>
            <a:ext cx="3460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BiOeconomic</a:t>
            </a:r>
            <a:r>
              <a:rPr lang="en-GB" b="1" dirty="0"/>
              <a:t> </a:t>
            </a:r>
            <a:r>
              <a:rPr lang="en-GB" b="1" dirty="0" err="1"/>
              <a:t>mArine</a:t>
            </a:r>
            <a:r>
              <a:rPr lang="en-GB" b="1" dirty="0"/>
              <a:t> Trophic Size-spectrum (BOATS) </a:t>
            </a:r>
          </a:p>
        </p:txBody>
      </p:sp>
    </p:spTree>
    <p:extLst>
      <p:ext uri="{BB962C8B-B14F-4D97-AF65-F5344CB8AC3E}">
        <p14:creationId xmlns:p14="http://schemas.microsoft.com/office/powerpoint/2010/main" val="2011615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169E3-F4D6-1120-5833-8562F9ACD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BEEC-2188-F867-43DB-F47FFD013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21846"/>
            <a:ext cx="10863556" cy="1325563"/>
          </a:xfrm>
        </p:spPr>
        <p:txBody>
          <a:bodyPr>
            <a:normAutofit/>
          </a:bodyPr>
          <a:lstStyle/>
          <a:p>
            <a:r>
              <a:rPr lang="en-GB" sz="3200" dirty="0"/>
              <a:t>Simulating climate impact on fish biomass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5A786-0644-0AD8-AB0E-D83E27103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685" y="1572249"/>
            <a:ext cx="6057852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Available fish biomass impact models: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APECOSM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BOATS (fishing intensity)</a:t>
            </a:r>
          </a:p>
          <a:p>
            <a:pPr marL="285750" indent="-285750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EcoOcean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(fishing intensity)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DBPM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FEISTY</a:t>
            </a:r>
          </a:p>
          <a:p>
            <a:pPr marL="285750" indent="-285750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ZooMSS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Climate models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IPSL-CMIP6-LR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GFDL-ESM4</a:t>
            </a:r>
          </a:p>
          <a:p>
            <a:endParaRPr lang="en-GB" dirty="0"/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0DDF7D-3BA2-E954-4F71-F323313F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F185819-E6A2-BD1C-D0E4-C23B203C9C7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9E7E99E-8B70-708A-CDBA-24CAD8CCA36F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3E97DB-B8D9-7874-6EFF-BE5C135C44DA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707D55CD-752B-3F89-14F6-AC14B5B6029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5250F6-DF62-FCE2-81E4-949F51A4F186}"/>
              </a:ext>
            </a:extLst>
          </p:cNvPr>
          <p:cNvGrpSpPr/>
          <p:nvPr/>
        </p:nvGrpSpPr>
        <p:grpSpPr>
          <a:xfrm>
            <a:off x="5788771" y="2428568"/>
            <a:ext cx="5326687" cy="3032005"/>
            <a:chOff x="6096000" y="2656539"/>
            <a:chExt cx="4523390" cy="2676215"/>
          </a:xfrm>
        </p:grpSpPr>
        <p:pic>
          <p:nvPicPr>
            <p:cNvPr id="7" name="Picture 6" descr="A graph of different numbers&#10;&#10;AI-generated content may be incorrect.">
              <a:extLst>
                <a:ext uri="{FF2B5EF4-FFF2-40B4-BE49-F238E27FC236}">
                  <a16:creationId xmlns:a16="http://schemas.microsoft.com/office/drawing/2014/main" id="{7B7152C8-A687-4CE0-4C06-E0CE31385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0886" t="49748" b="5110"/>
            <a:stretch>
              <a:fillRect/>
            </a:stretch>
          </p:blipFill>
          <p:spPr>
            <a:xfrm>
              <a:off x="7688826" y="2901956"/>
              <a:ext cx="2930564" cy="2113936"/>
            </a:xfrm>
            <a:prstGeom prst="rect">
              <a:avLst/>
            </a:prstGeom>
          </p:spPr>
        </p:pic>
        <p:pic>
          <p:nvPicPr>
            <p:cNvPr id="14" name="Picture 13" descr="A graph of different numbers&#10;&#10;AI-generated content may be incorrect.">
              <a:extLst>
                <a:ext uri="{FF2B5EF4-FFF2-40B4-BE49-F238E27FC236}">
                  <a16:creationId xmlns:a16="http://schemas.microsoft.com/office/drawing/2014/main" id="{2F0057FA-0263-8823-C51F-89921A350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953" t="49748" r="75263" b="5110"/>
            <a:stretch>
              <a:fillRect/>
            </a:stretch>
          </p:blipFill>
          <p:spPr>
            <a:xfrm>
              <a:off x="6096000" y="2901956"/>
              <a:ext cx="1632154" cy="2113936"/>
            </a:xfrm>
            <a:prstGeom prst="rect">
              <a:avLst/>
            </a:prstGeom>
          </p:spPr>
        </p:pic>
        <p:pic>
          <p:nvPicPr>
            <p:cNvPr id="11" name="Picture 10" descr="A graph of different numbers&#10;&#10;AI-generated content may be incorrect.">
              <a:extLst>
                <a:ext uri="{FF2B5EF4-FFF2-40B4-BE49-F238E27FC236}">
                  <a16:creationId xmlns:a16="http://schemas.microsoft.com/office/drawing/2014/main" id="{4AC6E5C5-6BB9-E6C7-69CD-8AB8E84F5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0886" t="-216" b="93565"/>
            <a:stretch>
              <a:fillRect/>
            </a:stretch>
          </p:blipFill>
          <p:spPr>
            <a:xfrm>
              <a:off x="7688826" y="2656539"/>
              <a:ext cx="2930564" cy="311446"/>
            </a:xfrm>
            <a:prstGeom prst="rect">
              <a:avLst/>
            </a:prstGeom>
          </p:spPr>
        </p:pic>
        <p:pic>
          <p:nvPicPr>
            <p:cNvPr id="15" name="Picture 14" descr="A graph of different numbers&#10;&#10;AI-generated content may be incorrect.">
              <a:extLst>
                <a:ext uri="{FF2B5EF4-FFF2-40B4-BE49-F238E27FC236}">
                  <a16:creationId xmlns:a16="http://schemas.microsoft.com/office/drawing/2014/main" id="{12C60F36-1F90-86EB-B026-56D4C926D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8515" t="94889" r="20114" b="970"/>
            <a:stretch>
              <a:fillRect/>
            </a:stretch>
          </p:blipFill>
          <p:spPr>
            <a:xfrm>
              <a:off x="7437415" y="5138793"/>
              <a:ext cx="3099642" cy="1939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8195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DFDF5-A73F-075C-1201-039C52693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C10F8-8770-8344-0577-1F11F2499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21846"/>
            <a:ext cx="10863556" cy="1325563"/>
          </a:xfrm>
        </p:spPr>
        <p:txBody>
          <a:bodyPr>
            <a:normAutofit/>
          </a:bodyPr>
          <a:lstStyle/>
          <a:p>
            <a:r>
              <a:rPr lang="en-GB" sz="3200" dirty="0"/>
              <a:t>Incorporation of fishing intensity into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9E260-AD0F-9C4C-53DD-39538E4F8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685" y="1572249"/>
            <a:ext cx="400825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Available fish biomass impact models: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APECOSM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BOATS (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fishing intensity – total only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EcoOcean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fishing intensity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DBPM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FEISTY</a:t>
            </a:r>
          </a:p>
          <a:p>
            <a:pPr marL="285750" indent="-285750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ZooMSS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Climate models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IPSL-CMIP6-LR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GFDL-ESM4</a:t>
            </a:r>
          </a:p>
          <a:p>
            <a:endParaRPr lang="en-GB" dirty="0"/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E6A441-F45A-8AA4-D732-26841D11C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AA36177-112C-A244-6FAC-CA0A84FD6EB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94C1081-7C2C-2610-736F-E9746A82A9CF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E774EF-8D30-5A1C-15E6-C8CBA82D0F2A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B8EC5EA3-7BB1-0422-7BFB-4337FC2428D5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graph of a fishing scale&#10;&#10;AI-generated content may be incorrect.">
            <a:extLst>
              <a:ext uri="{FF2B5EF4-FFF2-40B4-BE49-F238E27FC236}">
                <a16:creationId xmlns:a16="http://schemas.microsoft.com/office/drawing/2014/main" id="{9AE2574A-E692-CF26-80FC-C0A15C10A4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75" t="43510" b="16414"/>
          <a:stretch>
            <a:fillRect/>
          </a:stretch>
        </p:blipFill>
        <p:spPr>
          <a:xfrm>
            <a:off x="7285201" y="2256699"/>
            <a:ext cx="3805273" cy="2442195"/>
          </a:xfrm>
          <a:prstGeom prst="rect">
            <a:avLst/>
          </a:prstGeom>
        </p:spPr>
      </p:pic>
      <p:pic>
        <p:nvPicPr>
          <p:cNvPr id="17" name="Picture 16" descr="A graph of a fishing scale&#10;&#10;AI-generated content may be incorrect.">
            <a:extLst>
              <a:ext uri="{FF2B5EF4-FFF2-40B4-BE49-F238E27FC236}">
                <a16:creationId xmlns:a16="http://schemas.microsoft.com/office/drawing/2014/main" id="{3934C56D-634D-6515-306C-F842E14C19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8" t="43510" r="75300" b="20570"/>
          <a:stretch>
            <a:fillRect/>
          </a:stretch>
        </p:blipFill>
        <p:spPr>
          <a:xfrm>
            <a:off x="5237727" y="2266531"/>
            <a:ext cx="2096634" cy="2188950"/>
          </a:xfrm>
          <a:prstGeom prst="rect">
            <a:avLst/>
          </a:prstGeom>
        </p:spPr>
      </p:pic>
      <p:pic>
        <p:nvPicPr>
          <p:cNvPr id="13" name="Picture 12" descr="A graph of a fishing scale&#10;&#10;AI-generated content may be incorrect.">
            <a:extLst>
              <a:ext uri="{FF2B5EF4-FFF2-40B4-BE49-F238E27FC236}">
                <a16:creationId xmlns:a16="http://schemas.microsoft.com/office/drawing/2014/main" id="{D0F08044-FE35-3897-954F-E756FFA425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75" t="888" b="93035"/>
          <a:stretch>
            <a:fillRect/>
          </a:stretch>
        </p:blipFill>
        <p:spPr>
          <a:xfrm>
            <a:off x="7285201" y="2011337"/>
            <a:ext cx="3805273" cy="370327"/>
          </a:xfrm>
          <a:prstGeom prst="rect">
            <a:avLst/>
          </a:prstGeom>
        </p:spPr>
      </p:pic>
      <p:pic>
        <p:nvPicPr>
          <p:cNvPr id="18" name="Picture 17" descr="A graph of a fishing scale&#10;&#10;AI-generated content may be incorrect.">
            <a:extLst>
              <a:ext uri="{FF2B5EF4-FFF2-40B4-BE49-F238E27FC236}">
                <a16:creationId xmlns:a16="http://schemas.microsoft.com/office/drawing/2014/main" id="{4B4037E7-EFB5-E407-FE1A-CDCE04E288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0" t="83839" b="2124"/>
          <a:stretch>
            <a:fillRect/>
          </a:stretch>
        </p:blipFill>
        <p:spPr>
          <a:xfrm>
            <a:off x="4797953" y="4978239"/>
            <a:ext cx="7394047" cy="85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05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D1278-5E7F-CBFA-57EC-BFCFCFBC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5C272-2827-84C2-358A-8D5EAAC70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11070"/>
            <a:ext cx="870961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76089-448A-F5E4-D126-9C15D6930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156" y="1952658"/>
            <a:ext cx="5515379" cy="4351338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Mechanistic models can allow the estimation of the climate impact on total fish biomass
The ISIMIP database allows for consistent, multi-model comparisons of climate impact.
These factors allow for a robust assessment based on prior knowledge and research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A3189A-4864-32BC-66EA-40EC2BAF3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D9BF08-868E-DE70-FD03-E5725EEC6C7B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0431CB7-271D-5668-E1E3-9396BF53FB12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2C6213-3887-7658-DD89-4D9EE3CF071C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C813E320-E9B7-DEC9-017D-D20CDE30BBCA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Mechanistic Modelling of Biomass Growth, Glucose Consumption and Ethanol  Production by Kluyveromyces marxianus in Batch Fermentation">
            <a:extLst>
              <a:ext uri="{FF2B5EF4-FFF2-40B4-BE49-F238E27FC236}">
                <a16:creationId xmlns:a16="http://schemas.microsoft.com/office/drawing/2014/main" id="{03DCF7F0-B46F-4F06-D7C8-00261E18A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710" y="1553194"/>
            <a:ext cx="4028266" cy="19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2" descr="Big Fish Eat Little Fish&quot; Images – Browse 139 Stock Photos, Vectors, and  Video | Adobe Stock">
            <a:extLst>
              <a:ext uri="{FF2B5EF4-FFF2-40B4-BE49-F238E27FC236}">
                <a16:creationId xmlns:a16="http://schemas.microsoft.com/office/drawing/2014/main" id="{0EF2DA82-4395-B327-3976-2BFBD05AEE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2" name="Picture 4" descr="What Do Fish Eat? Understanding Fish Diets - A-Z Animals">
            <a:extLst>
              <a:ext uri="{FF2B5EF4-FFF2-40B4-BE49-F238E27FC236}">
                <a16:creationId xmlns:a16="http://schemas.microsoft.com/office/drawing/2014/main" id="{507A5EDB-6F6F-150B-6C5A-9AEA28A33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377" y="3959353"/>
            <a:ext cx="3264932" cy="170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6230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368</Words>
  <Application>Microsoft Office PowerPoint</Application>
  <PresentationFormat>Widescreen</PresentationFormat>
  <Paragraphs>102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Georgia</vt:lpstr>
      <vt:lpstr>Office Theme</vt:lpstr>
      <vt:lpstr>Technical workshop for GCF project: Climate change and climate change impacts on São Tomé and Príncipe with a focus on fishery and tourism sectors in a Blue Economy context Sao Tome and Principe, November/December 2025</vt:lpstr>
      <vt:lpstr>Fisheries in Sao Tome and Principe: the challenge</vt:lpstr>
      <vt:lpstr>Impact-based modelling</vt:lpstr>
      <vt:lpstr>The Inter-Sectoral Impact Model Intercomparison Project</vt:lpstr>
      <vt:lpstr>Fish biomass impact models</vt:lpstr>
      <vt:lpstr>Simulating climate impact on fish biomass</vt:lpstr>
      <vt:lpstr>Incorporation of fishing intensity into models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Greenrod, Samuel (OCBD)</dc:creator>
  <cp:lastModifiedBy>Greenrod, Samuel (OCBD)</cp:lastModifiedBy>
  <cp:revision>3</cp:revision>
  <dcterms:created xsi:type="dcterms:W3CDTF">2025-11-12T15:08:01Z</dcterms:created>
  <dcterms:modified xsi:type="dcterms:W3CDTF">2025-11-28T09:39:26Z</dcterms:modified>
</cp:coreProperties>
</file>