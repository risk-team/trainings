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332" r:id="rId2"/>
    <p:sldId id="333" r:id="rId3"/>
    <p:sldId id="316" r:id="rId4"/>
    <p:sldId id="317" r:id="rId5"/>
    <p:sldId id="318" r:id="rId6"/>
    <p:sldId id="31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30" autoAdjust="0"/>
    <p:restoredTop sz="94726"/>
  </p:normalViewPr>
  <p:slideViewPr>
    <p:cSldViewPr snapToGrid="0">
      <p:cViewPr varScale="1">
        <p:scale>
          <a:sx n="106" d="100"/>
          <a:sy n="106" d="100"/>
        </p:scale>
        <p:origin x="20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41C4AA-CB70-1F4D-A4D0-DAC2814679D2}" type="datetimeFigureOut">
              <a:rPr lang="en-IT" smtClean="0"/>
              <a:t>02/12/25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D5C409-330A-754D-AD23-7502FE1ED433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119554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D6885-8B1E-3EFD-2AB9-6661B5988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E223EA-D980-7236-99EF-F5CEAA2F05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8FF44-A1BD-099C-72F9-28DACDE49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F16112-0EA1-4526-F645-C78C349A80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D5C409-330A-754D-AD23-7502FE1ED433}" type="slidenum">
              <a:rPr lang="en-IT" smtClean="0"/>
              <a:t>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4673415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D5C409-330A-754D-AD23-7502FE1ED433}" type="slidenum">
              <a:rPr lang="en-IT" smtClean="0"/>
              <a:t>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0580988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D5C409-330A-754D-AD23-7502FE1ED433}" type="slidenum">
              <a:rPr lang="en-IT" smtClean="0"/>
              <a:t>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370390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D5C409-330A-754D-AD23-7502FE1ED433}" type="slidenum">
              <a:rPr lang="en-IT" smtClean="0"/>
              <a:t>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263653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Lionel.kinadjian@fao.org" TargetMode="External"/><Relationship Id="rId5" Type="http://schemas.openxmlformats.org/officeDocument/2006/relationships/hyperlink" Target="mailto:Samuel.greenrod@fao.org" TargetMode="External"/><Relationship Id="rId4" Type="http://schemas.openxmlformats.org/officeDocument/2006/relationships/hyperlink" Target="mailto:Riccardo.soldan@fao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7FBA6-9FC0-DC55-D0E2-A4268E93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F8BA1-8B8C-55B3-39A1-348BFBBE5B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5BC489-433F-5D74-C7C2-587E5E73BB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Vinculando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mudanças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climáticas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impactos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opções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adaptação</a:t>
            </a:r>
            <a:endParaRPr lang="it-IT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48907C37-9FEC-A4DD-F978-ADC8DC7C46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0B9881E-3F21-7D29-DFB8-3B66E7E804AB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C40E913-ACEB-B5ED-27CF-A21533C4C669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B238DCC-45E9-71CA-2A22-4CB972E804B0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F683B9F-09CC-0825-E2D4-6391A1F7F4B0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601E7F2-BF12-0F81-41B1-0FE44A15A58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4939AEDB-2709-E81D-3FFC-A97EF5A53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2BAA5B-9559-5375-130A-A88D2FF1B24F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9941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3B25D-9724-B083-F972-5303199ED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4D3DF86C-7F1A-7ADB-CC90-CE36DB90E5DB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22001A8-DBE9-C39B-7B44-003C79F6418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AD5252F-8A13-224A-AB4C-C8FF7CECB6B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0175970-AB3C-4855-7ACC-D6C6DAF8758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0054A6F-9C84-40FD-99E6-9FF86BCB1D59}"/>
              </a:ext>
            </a:extLst>
          </p:cNvPr>
          <p:cNvSpPr txBox="1"/>
          <p:nvPr/>
        </p:nvSpPr>
        <p:spPr>
          <a:xfrm>
            <a:off x="393405" y="1323474"/>
            <a:ext cx="1128114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 err="1"/>
              <a:t>Discussão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grupo</a:t>
            </a:r>
            <a:r>
              <a:rPr lang="en-GB" dirty="0"/>
              <a:t> para </a:t>
            </a:r>
            <a:r>
              <a:rPr lang="en-GB" dirty="0" err="1"/>
              <a:t>vincular</a:t>
            </a:r>
            <a:r>
              <a:rPr lang="en-GB" dirty="0"/>
              <a:t> o </a:t>
            </a:r>
            <a:r>
              <a:rPr lang="en-GB" dirty="0" err="1"/>
              <a:t>resultado</a:t>
            </a:r>
            <a:r>
              <a:rPr lang="en-GB" dirty="0"/>
              <a:t> do </a:t>
            </a:r>
            <a:r>
              <a:rPr lang="en-GB" dirty="0" err="1"/>
              <a:t>estudo</a:t>
            </a:r>
            <a:r>
              <a:rPr lang="en-GB" dirty="0"/>
              <a:t> </a:t>
            </a:r>
            <a:r>
              <a:rPr lang="en-GB" dirty="0" err="1"/>
              <a:t>aos</a:t>
            </a:r>
            <a:r>
              <a:rPr lang="en-GB" dirty="0"/>
              <a:t> </a:t>
            </a:r>
            <a:r>
              <a:rPr lang="en-GB" dirty="0" err="1"/>
              <a:t>impactos</a:t>
            </a:r>
            <a:r>
              <a:rPr lang="en-GB" dirty="0"/>
              <a:t> </a:t>
            </a:r>
            <a:r>
              <a:rPr lang="en-GB" dirty="0" err="1"/>
              <a:t>socioeconômicos</a:t>
            </a:r>
            <a:r>
              <a:rPr lang="en-GB" dirty="0"/>
              <a:t> </a:t>
            </a:r>
            <a:r>
              <a:rPr lang="en-GB" dirty="0" err="1"/>
              <a:t>nas</a:t>
            </a:r>
            <a:r>
              <a:rPr lang="en-GB" dirty="0"/>
              <a:t> comunidades e </a:t>
            </a:r>
            <a:r>
              <a:rPr lang="en-GB" dirty="0" err="1"/>
              <a:t>propor</a:t>
            </a:r>
            <a:r>
              <a:rPr lang="en-GB" dirty="0"/>
              <a:t> </a:t>
            </a:r>
            <a:r>
              <a:rPr lang="en-GB" dirty="0" err="1"/>
              <a:t>opções</a:t>
            </a:r>
            <a:r>
              <a:rPr lang="en-GB" dirty="0"/>
              <a:t> de </a:t>
            </a:r>
            <a:r>
              <a:rPr lang="en-GB" dirty="0" err="1"/>
              <a:t>adaptação</a:t>
            </a:r>
            <a:r>
              <a:rPr lang="en-GB" dirty="0"/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25 </a:t>
            </a:r>
            <a:r>
              <a:rPr lang="en-GB" dirty="0" err="1"/>
              <a:t>minutos</a:t>
            </a:r>
            <a:r>
              <a:rPr lang="en-GB" dirty="0"/>
              <a:t> no </a:t>
            </a:r>
            <a:r>
              <a:rPr lang="en-GB" dirty="0" err="1"/>
              <a:t>setor</a:t>
            </a:r>
            <a:r>
              <a:rPr lang="en-GB" dirty="0"/>
              <a:t> </a:t>
            </a:r>
            <a:r>
              <a:rPr lang="en-GB" dirty="0" err="1"/>
              <a:t>pesqueiro</a:t>
            </a:r>
            <a:r>
              <a:rPr lang="en-GB" dirty="0"/>
              <a:t>
25 </a:t>
            </a:r>
            <a:r>
              <a:rPr lang="en-GB" dirty="0" err="1"/>
              <a:t>minutos</a:t>
            </a:r>
            <a:r>
              <a:rPr lang="en-GB" dirty="0"/>
              <a:t> no </a:t>
            </a:r>
            <a:r>
              <a:rPr lang="en-GB" dirty="0" err="1"/>
              <a:t>setor</a:t>
            </a:r>
            <a:r>
              <a:rPr lang="en-GB" dirty="0"/>
              <a:t> de turismo</a:t>
            </a:r>
            <a:endParaRPr lang="en-IT" dirty="0"/>
          </a:p>
          <a:p>
            <a:pPr lvl="1"/>
            <a:endParaRPr lang="en-IT" dirty="0"/>
          </a:p>
          <a:p>
            <a:endParaRPr lang="en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25A76-66ED-339A-6D75-61203C47BCDB}"/>
              </a:ext>
            </a:extLst>
          </p:cNvPr>
          <p:cNvSpPr txBox="1"/>
          <p:nvPr/>
        </p:nvSpPr>
        <p:spPr>
          <a:xfrm>
            <a:off x="393405" y="4127090"/>
            <a:ext cx="11281144" cy="467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it-IT"/>
              <a:t>Apresentação dos achados (10 minutos por grupo)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3330822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4C62C-CE87-8D73-2F77-B62E3575F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E291C235-FF80-9966-BB33-B374184FF87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051C2BE-7494-81BA-C1F7-4F27125DF21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1D55D56-D698-4CE1-D27B-24D84998E9E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77B0199-C02F-7351-1FD7-888416D437B9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2131A0C-F8DF-0ED7-C40E-8596D5E771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8880142"/>
              </p:ext>
            </p:extLst>
          </p:nvPr>
        </p:nvGraphicFramePr>
        <p:xfrm>
          <a:off x="-16329" y="-38780"/>
          <a:ext cx="12208329" cy="6896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95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4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92706">
                  <a:extLst>
                    <a:ext uri="{9D8B030D-6E8A-4147-A177-3AD203B41FA5}">
                      <a16:colId xmlns:a16="http://schemas.microsoft.com/office/drawing/2014/main" val="921910806"/>
                    </a:ext>
                  </a:extLst>
                </a:gridCol>
                <a:gridCol w="2951747">
                  <a:extLst>
                    <a:ext uri="{9D8B030D-6E8A-4147-A177-3AD203B41FA5}">
                      <a16:colId xmlns:a16="http://schemas.microsoft.com/office/drawing/2014/main" val="3351736959"/>
                    </a:ext>
                  </a:extLst>
                </a:gridCol>
              </a:tblGrid>
              <a:tr h="709954">
                <a:tc>
                  <a:txBody>
                    <a:bodyPr/>
                    <a:lstStyle/>
                    <a:p>
                      <a:r>
                        <a:rPr lang="it-IT" sz="1800" dirty="0"/>
                        <a:t>Risco </a:t>
                      </a:r>
                      <a:r>
                        <a:rPr lang="it-IT" sz="1800" dirty="0" err="1"/>
                        <a:t>Climático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r>
                        <a:rPr lang="pt-BR" sz="1800" dirty="0"/>
                        <a:t>Impactos na pesca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r>
                        <a:rPr lang="it-IT" sz="1800" dirty="0" err="1"/>
                        <a:t>Impacto</a:t>
                      </a:r>
                      <a:r>
                        <a:rPr lang="it-IT" sz="1800" dirty="0"/>
                        <a:t> </a:t>
                      </a:r>
                      <a:r>
                        <a:rPr lang="it-IT" sz="1800" dirty="0" err="1"/>
                        <a:t>na</a:t>
                      </a:r>
                      <a:r>
                        <a:rPr lang="it-IT" sz="1800" dirty="0"/>
                        <a:t> </a:t>
                      </a:r>
                      <a:r>
                        <a:rPr lang="it-IT" sz="1800" dirty="0" err="1"/>
                        <a:t>comunidade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r>
                        <a:rPr lang="it-IT" sz="1800" dirty="0" err="1"/>
                        <a:t>Opção</a:t>
                      </a:r>
                      <a:r>
                        <a:rPr lang="it-IT" sz="1800" dirty="0"/>
                        <a:t> de </a:t>
                      </a:r>
                      <a:r>
                        <a:rPr lang="it-IT" sz="1800" dirty="0" err="1"/>
                        <a:t>adaptação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868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Alterações dos parâmetros físico-químicos essenciais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fr-FR" sz="1800" b="0" dirty="0" err="1"/>
                        <a:t>Reduziu</a:t>
                      </a:r>
                      <a:r>
                        <a:rPr lang="fr-FR" sz="1800" b="0" dirty="0"/>
                        <a:t> a </a:t>
                      </a:r>
                      <a:r>
                        <a:rPr lang="fr-FR" sz="1800" b="0" dirty="0" err="1"/>
                        <a:t>biomassa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pelágica</a:t>
                      </a:r>
                      <a:r>
                        <a:rPr lang="fr-FR" sz="1800" b="0" dirty="0"/>
                        <a:t> e </a:t>
                      </a:r>
                      <a:r>
                        <a:rPr lang="fr-FR" sz="1800" b="0" dirty="0" err="1"/>
                        <a:t>demersal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em</a:t>
                      </a:r>
                      <a:r>
                        <a:rPr lang="fr-FR" sz="1800" b="0" dirty="0"/>
                        <a:t> 10-20%
</a:t>
                      </a:r>
                      <a:r>
                        <a:rPr lang="fr-FR" sz="1800" b="0" dirty="0" err="1"/>
                        <a:t>Efeitos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primários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em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pelágicos</a:t>
                      </a:r>
                      <a:r>
                        <a:rPr lang="fr-FR" sz="1800" b="0" dirty="0"/>
                        <a:t> grandes e </a:t>
                      </a:r>
                      <a:r>
                        <a:rPr lang="fr-FR" sz="1800" b="0" dirty="0" err="1"/>
                        <a:t>pequenos</a:t>
                      </a:r>
                      <a:r>
                        <a:rPr lang="fr-FR" sz="1800" b="0" dirty="0"/>
                        <a:t>
</a:t>
                      </a:r>
                      <a:r>
                        <a:rPr lang="fr-FR" sz="1800" b="0" dirty="0" err="1"/>
                        <a:t>Certo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nível</a:t>
                      </a:r>
                      <a:r>
                        <a:rPr lang="fr-FR" sz="1800" b="0" dirty="0"/>
                        <a:t> de </a:t>
                      </a:r>
                      <a:r>
                        <a:rPr lang="fr-FR" sz="1800" b="0" dirty="0" err="1"/>
                        <a:t>proteção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costeira</a:t>
                      </a:r>
                      <a:r>
                        <a:rPr lang="fr-FR" sz="1800" b="0" dirty="0"/>
                        <a:t> (</a:t>
                      </a:r>
                      <a:r>
                        <a:rPr lang="fr-FR" sz="1800" b="0" dirty="0" err="1"/>
                        <a:t>redução</a:t>
                      </a:r>
                      <a:r>
                        <a:rPr lang="fr-FR" sz="1800" b="0" dirty="0"/>
                        <a:t> dos </a:t>
                      </a:r>
                      <a:r>
                        <a:rPr lang="fr-FR" sz="1800" b="0" dirty="0" err="1"/>
                        <a:t>impactos</a:t>
                      </a:r>
                      <a:r>
                        <a:rPr lang="fr-FR" sz="1800" b="0" dirty="0"/>
                        <a:t> ao </a:t>
                      </a:r>
                      <a:r>
                        <a:rPr lang="fr-FR" sz="1800" b="0" dirty="0" err="1"/>
                        <a:t>longo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das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águas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costeiras</a:t>
                      </a:r>
                      <a:r>
                        <a:rPr lang="fr-FR" sz="1800" b="0" dirty="0"/>
                        <a:t>)
</a:t>
                      </a: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para </a:t>
                      </a:r>
                      <a:r>
                        <a:rPr lang="fr-FR" sz="1800" b="0" dirty="0" err="1"/>
                        <a:t>pesca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esportiva</a:t>
                      </a:r>
                      <a:r>
                        <a:rPr lang="fr-FR" sz="1800" b="0" dirty="0"/>
                        <a:t> que se projeta </a:t>
                      </a:r>
                      <a:r>
                        <a:rPr lang="fr-FR" sz="1800" b="1" dirty="0" err="1"/>
                        <a:t>aumentem</a:t>
                      </a:r>
                      <a:r>
                        <a:rPr lang="fr-FR" sz="1800" b="0" dirty="0"/>
                        <a:t> ou </a:t>
                      </a:r>
                      <a:r>
                        <a:rPr lang="fr-FR" sz="1800" b="0" dirty="0" err="1"/>
                        <a:t>não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sejam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impactadas</a:t>
                      </a:r>
                      <a:r>
                        <a:rPr lang="fr-FR" sz="1800" b="0" dirty="0"/>
                        <a:t> pelas </a:t>
                      </a:r>
                      <a:r>
                        <a:rPr lang="fr-FR" sz="1800" b="0" dirty="0" err="1"/>
                        <a:t>mudanças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climáticas</a:t>
                      </a:r>
                      <a:r>
                        <a:rPr lang="fr-FR" sz="1800" b="0" dirty="0"/>
                        <a:t>: </a:t>
                      </a:r>
                      <a:r>
                        <a:rPr lang="fr-FR" sz="1800" b="0" u="sng" dirty="0" err="1"/>
                        <a:t>atum</a:t>
                      </a:r>
                      <a:r>
                        <a:rPr lang="fr-FR" sz="1800" b="0" u="sng" dirty="0"/>
                        <a:t> de </a:t>
                      </a:r>
                      <a:r>
                        <a:rPr lang="fr-FR" sz="1800" b="0" u="sng" dirty="0" err="1"/>
                        <a:t>barbatana</a:t>
                      </a:r>
                      <a:r>
                        <a:rPr lang="fr-FR" sz="1800" b="0" u="sng" dirty="0"/>
                        <a:t> </a:t>
                      </a:r>
                      <a:r>
                        <a:rPr lang="fr-FR" sz="1800" b="0" u="sng" dirty="0" err="1"/>
                        <a:t>amarela</a:t>
                      </a:r>
                      <a:r>
                        <a:rPr lang="fr-FR" sz="1800" b="0" u="sng" dirty="0"/>
                        <a:t>, cavala e </a:t>
                      </a:r>
                      <a:r>
                        <a:rPr lang="fr-FR" sz="1800" b="0" u="sng" dirty="0" err="1"/>
                        <a:t>carapau</a:t>
                      </a:r>
                      <a:r>
                        <a:rPr lang="fr-FR" sz="1800" b="0" dirty="0"/>
                        <a:t>
</a:t>
                      </a: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para </a:t>
                      </a:r>
                      <a:r>
                        <a:rPr lang="fr-FR" sz="1800" b="0" dirty="0" err="1"/>
                        <a:t>pesca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esportiva</a:t>
                      </a:r>
                      <a:r>
                        <a:rPr lang="fr-FR" sz="1800" b="0" dirty="0"/>
                        <a:t> que se projeta </a:t>
                      </a:r>
                      <a:r>
                        <a:rPr lang="fr-FR" sz="1800" b="1" dirty="0" err="1"/>
                        <a:t>diminuir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são</a:t>
                      </a:r>
                      <a:r>
                        <a:rPr lang="fr-FR" sz="1800" b="0" dirty="0"/>
                        <a:t>: </a:t>
                      </a:r>
                      <a:r>
                        <a:rPr lang="fr-FR" sz="1800" b="0" u="sng" dirty="0" err="1"/>
                        <a:t>garoupas</a:t>
                      </a:r>
                      <a:r>
                        <a:rPr lang="fr-FR" sz="1800" b="0" u="sng" dirty="0"/>
                        <a:t>, </a:t>
                      </a:r>
                      <a:r>
                        <a:rPr lang="fr-FR" sz="1800" b="0" u="sng" dirty="0" err="1"/>
                        <a:t>pargo</a:t>
                      </a:r>
                      <a:r>
                        <a:rPr lang="fr-FR" sz="1800" b="0" u="sng" dirty="0"/>
                        <a:t> </a:t>
                      </a:r>
                      <a:r>
                        <a:rPr lang="fr-FR" sz="1800" b="0" dirty="0"/>
                        <a:t>
</a:t>
                      </a: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de </a:t>
                      </a:r>
                      <a:r>
                        <a:rPr lang="fr-FR" sz="1800" b="0" dirty="0" err="1"/>
                        <a:t>importância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econômica</a:t>
                      </a:r>
                      <a:r>
                        <a:rPr lang="fr-FR" sz="1800" b="0" dirty="0"/>
                        <a:t> que se projeta </a:t>
                      </a:r>
                      <a:r>
                        <a:rPr lang="fr-FR" sz="1800" b="1" dirty="0" err="1"/>
                        <a:t>diminuir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são</a:t>
                      </a:r>
                      <a:r>
                        <a:rPr lang="fr-FR" sz="1800" b="0" dirty="0"/>
                        <a:t>: </a:t>
                      </a:r>
                      <a:r>
                        <a:rPr lang="en-GB" sz="1800" b="0" i="0" u="sng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Epiabo</a:t>
                      </a:r>
                      <a:r>
                        <a:rPr lang="en-GB" sz="1800" b="0" i="0" u="sng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Vermelho terra</a:t>
                      </a:r>
                      <a:r>
                        <a:rPr lang="fr-FR" sz="1800" b="0" dirty="0"/>
                        <a:t>
</a:t>
                      </a: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de </a:t>
                      </a:r>
                      <a:r>
                        <a:rPr lang="fr-FR" sz="1800" b="0" dirty="0" err="1"/>
                        <a:t>importância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econômica</a:t>
                      </a:r>
                      <a:r>
                        <a:rPr lang="fr-FR" sz="1800" b="0" dirty="0"/>
                        <a:t> que se projeta para </a:t>
                      </a:r>
                      <a:r>
                        <a:rPr lang="fr-FR" sz="1800" b="1" dirty="0" err="1"/>
                        <a:t>aumentar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são</a:t>
                      </a:r>
                      <a:r>
                        <a:rPr lang="fr-FR" sz="1800" b="0" dirty="0"/>
                        <a:t>: </a:t>
                      </a:r>
                      <a:r>
                        <a:rPr lang="fr-FR" sz="1800" b="0" u="sng" dirty="0" err="1"/>
                        <a:t>carapau</a:t>
                      </a:r>
                      <a:r>
                        <a:rPr lang="fr-FR" sz="1800" b="0" dirty="0"/>
                        <a:t>, </a:t>
                      </a:r>
                      <a:r>
                        <a:rPr lang="en-GB" sz="1800" b="0" i="0" u="sng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Creole-fish</a:t>
                      </a:r>
                      <a:endParaRPr lang="it-IT" sz="1800" b="0" u="sng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endParaRPr lang="it-IT" sz="1800" b="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endParaRPr lang="it-IT" sz="1800" b="0" dirty="0"/>
                    </a:p>
                  </a:txBody>
                  <a:tcPr marL="91435" marR="91435" marT="45715" marB="4571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04237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83EF0-9666-E3AB-4BD2-CF4BF713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67F5C5CF-F458-EE0F-663F-0303B9D70E6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F89BBFA-AF53-C243-9761-87FD12CDF30C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23118D8-6AB8-14AB-B403-9CD4D6C06E6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A3F7C7C0-5743-4A85-8A2C-EBFE111073F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E48199-30FF-1E9A-B771-3AD396A96A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231173"/>
              </p:ext>
            </p:extLst>
          </p:nvPr>
        </p:nvGraphicFramePr>
        <p:xfrm>
          <a:off x="596105" y="1521163"/>
          <a:ext cx="10616332" cy="34782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067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51029">
                <a:tc>
                  <a:txBody>
                    <a:bodyPr/>
                    <a:lstStyle/>
                    <a:p>
                      <a:r>
                        <a:rPr lang="it-IT" sz="1800" dirty="0"/>
                        <a:t>Risco </a:t>
                      </a:r>
                      <a:r>
                        <a:rPr lang="it-IT" sz="1800" dirty="0" err="1"/>
                        <a:t>Climático</a:t>
                      </a:r>
                      <a:endParaRPr lang="fr-GA" sz="180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r>
                        <a:rPr lang="pt-BR" sz="1800" dirty="0"/>
                        <a:t>Impactos na pesca</a:t>
                      </a:r>
                      <a:endParaRPr lang="fr-GA" sz="1800" dirty="0"/>
                    </a:p>
                  </a:txBody>
                  <a:tcPr marT="45721" marB="45721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7183">
                <a:tc>
                  <a:txBody>
                    <a:bodyPr/>
                    <a:lstStyle/>
                    <a:p>
                      <a:r>
                        <a:rPr lang="fr-FR" sz="1800" b="1" dirty="0"/>
                        <a:t>2. </a:t>
                      </a:r>
                      <a:r>
                        <a:rPr lang="fr-FR" sz="1800" dirty="0">
                          <a:hlinkClick r:id="" action="ppaction://noaction"/>
                        </a:rPr>
                        <a:t>Aumento de </a:t>
                      </a:r>
                      <a:r>
                        <a:rPr lang="fr-FR" sz="1800" dirty="0" err="1">
                          <a:hlinkClick r:id="" action="ppaction://noaction"/>
                        </a:rPr>
                        <a:t>eventos</a:t>
                      </a:r>
                      <a:r>
                        <a:rPr lang="fr-FR" sz="1800" dirty="0">
                          <a:hlinkClick r:id="" action="ppaction://noaction"/>
                        </a:rPr>
                        <a:t> </a:t>
                      </a:r>
                      <a:r>
                        <a:rPr lang="fr-FR" sz="1800" dirty="0" err="1">
                          <a:hlinkClick r:id="" action="ppaction://noaction"/>
                        </a:rPr>
                        <a:t>climáticos</a:t>
                      </a:r>
                      <a:r>
                        <a:rPr lang="fr-FR" sz="1800" dirty="0">
                          <a:hlinkClick r:id="" action="ppaction://noaction"/>
                        </a:rPr>
                        <a:t> </a:t>
                      </a:r>
                      <a:r>
                        <a:rPr lang="fr-FR" sz="1800" dirty="0" err="1">
                          <a:hlinkClick r:id="" action="ppaction://noaction"/>
                        </a:rPr>
                        <a:t>extremos</a:t>
                      </a:r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GA" sz="180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fr-FR" sz="1800" b="1" dirty="0"/>
                        <a:t>2.1</a:t>
                      </a:r>
                      <a:r>
                        <a:rPr lang="fr-FR" sz="1800" dirty="0"/>
                        <a:t> </a:t>
                      </a:r>
                      <a:r>
                        <a:rPr lang="pt-BR" sz="1800" dirty="0"/>
                        <a:t>Acidentes no mar e perda de vidas humanas,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endParaRPr lang="fr-FR" sz="1800" dirty="0"/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fr-FR" sz="1800" b="1" dirty="0"/>
                        <a:t>2.2</a:t>
                      </a:r>
                      <a:r>
                        <a:rPr lang="fr-FR" sz="1800" dirty="0"/>
                        <a:t> </a:t>
                      </a:r>
                      <a:r>
                        <a:rPr lang="pt-BR" sz="1800" dirty="0"/>
                        <a:t>Destruição de embarcações e de material de pesca.</a:t>
                      </a:r>
                      <a:endParaRPr lang="fr-FR" sz="1800" dirty="0"/>
                    </a:p>
                    <a:p>
                      <a:pPr marL="0" indent="0">
                        <a:buFont typeface="+mj-lt"/>
                        <a:buNone/>
                      </a:pPr>
                      <a:endParaRPr lang="fr-FR" sz="1800" b="1" dirty="0"/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fr-FR" sz="1800" b="1" dirty="0"/>
                        <a:t>2.3 </a:t>
                      </a:r>
                      <a:r>
                        <a:rPr lang="fr-FR" sz="1800" dirty="0" err="1"/>
                        <a:t>Inundações</a:t>
                      </a:r>
                      <a:r>
                        <a:rPr lang="fr-FR" sz="1800" dirty="0"/>
                        <a:t> </a:t>
                      </a:r>
                      <a:r>
                        <a:rPr lang="fr-FR" sz="1800" dirty="0" err="1"/>
                        <a:t>em</a:t>
                      </a:r>
                      <a:r>
                        <a:rPr lang="fr-FR" sz="1800" dirty="0"/>
                        <a:t> zonas </a:t>
                      </a:r>
                      <a:r>
                        <a:rPr lang="fr-FR" sz="1800" dirty="0" err="1"/>
                        <a:t>costeiras</a:t>
                      </a:r>
                      <a:endParaRPr lang="fr-FR" sz="1800" dirty="0"/>
                    </a:p>
                    <a:p>
                      <a:pPr marL="0" indent="0">
                        <a:buFont typeface="+mj-lt"/>
                        <a:buNone/>
                      </a:pPr>
                      <a:endParaRPr lang="fr-FR" sz="1800" dirty="0"/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fr-FR" sz="1800" b="1" dirty="0"/>
                        <a:t>2.4 </a:t>
                      </a:r>
                      <a:r>
                        <a:rPr lang="fr-FR" sz="1800" dirty="0" err="1"/>
                        <a:t>Declínio</a:t>
                      </a:r>
                      <a:r>
                        <a:rPr lang="fr-FR" sz="1800" dirty="0"/>
                        <a:t> da </a:t>
                      </a:r>
                      <a:r>
                        <a:rPr lang="fr-FR" sz="1800" dirty="0" err="1"/>
                        <a:t>biodiversidade</a:t>
                      </a:r>
                      <a:endParaRPr lang="fr-GA" sz="1800" dirty="0"/>
                    </a:p>
                  </a:txBody>
                  <a:tcPr marT="45721" marB="45721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4496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03488-6436-B0A7-8F1D-480BEC984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B22C8BD-C4D4-BFEF-69FC-FFBE476EF46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44D3D33-3CA6-06F9-0307-27E20D214E5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5D421DD-AA78-CF62-18DC-F945315169A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2BB99A8E-07A2-B99A-66DE-9050E129B4C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E1EE157-7D2B-C417-89A7-2DEF461626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8619871"/>
              </p:ext>
            </p:extLst>
          </p:nvPr>
        </p:nvGraphicFramePr>
        <p:xfrm>
          <a:off x="709611" y="1828800"/>
          <a:ext cx="1077277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9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3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94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1199">
                <a:tc>
                  <a:txBody>
                    <a:bodyPr/>
                    <a:lstStyle/>
                    <a:p>
                      <a:r>
                        <a:rPr lang="pt-BR" dirty="0"/>
                        <a:t>Impactos das mudanças climáticas nos ecossistemas marinhos e costeiros tropicais</a:t>
                      </a:r>
                      <a:endParaRPr lang="fr-GA" dirty="0"/>
                    </a:p>
                  </a:txBody>
                  <a:tcPr marL="91437" marR="91437"/>
                </a:tc>
                <a:tc>
                  <a:txBody>
                    <a:bodyPr/>
                    <a:lstStyle/>
                    <a:p>
                      <a:endParaRPr lang="fr-GA"/>
                    </a:p>
                  </a:txBody>
                  <a:tcPr marL="91437" marR="91437"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Impactos na pesca e nas comunidades costeiras</a:t>
                      </a:r>
                      <a:endParaRPr lang="fr-GA" dirty="0"/>
                    </a:p>
                  </a:txBody>
                  <a:tcPr marL="91437" marR="9143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b="1" dirty="0"/>
                        <a:t>3. </a:t>
                      </a:r>
                      <a:r>
                        <a:rPr lang="pt-BR" b="0" dirty="0">
                          <a:hlinkClick r:id="" action="ppaction://noaction"/>
                        </a:rPr>
                        <a:t>Aumento do nível do mar</a:t>
                      </a:r>
                      <a:endParaRPr lang="fr-FR" b="0" dirty="0"/>
                    </a:p>
                    <a:p>
                      <a:endParaRPr lang="fr-FR" dirty="0"/>
                    </a:p>
                    <a:p>
                      <a:endParaRPr lang="fr-FR" dirty="0"/>
                    </a:p>
                    <a:p>
                      <a:endParaRPr lang="fr-FR" dirty="0"/>
                    </a:p>
                    <a:p>
                      <a:endParaRPr lang="fr-GA" dirty="0"/>
                    </a:p>
                  </a:txBody>
                  <a:tcPr marL="91437" marR="91437"/>
                </a:tc>
                <a:tc>
                  <a:txBody>
                    <a:bodyPr/>
                    <a:lstStyle/>
                    <a:p>
                      <a:endParaRPr lang="fr-GA"/>
                    </a:p>
                  </a:txBody>
                  <a:tcPr marL="91437" marR="91437"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fr-FR" b="1" dirty="0"/>
                        <a:t>3.1</a:t>
                      </a:r>
                      <a:r>
                        <a:rPr lang="fr-FR" dirty="0"/>
                        <a:t> </a:t>
                      </a:r>
                      <a:r>
                        <a:rPr lang="pt-BR" dirty="0"/>
                        <a:t>A erosão costeira aumenta a vulnerabilidade das comunidades costeiras (PEID)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endParaRPr lang="fr-FR" dirty="0"/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fr-FR" b="1" dirty="0"/>
                        <a:t>3.2</a:t>
                      </a:r>
                      <a:r>
                        <a:rPr lang="fr-FR" dirty="0"/>
                        <a:t> </a:t>
                      </a:r>
                      <a:r>
                        <a:rPr lang="pt-BR" dirty="0"/>
                        <a:t>Perda de biodiversidade, salinização de zonas húmidas, declínio de alguns mangais continentais e perda de habitats para espécies dependentes da transição entre água doce e salgad</a:t>
                      </a:r>
                      <a:endParaRPr lang="fr-FR" dirty="0"/>
                    </a:p>
                  </a:txBody>
                  <a:tcPr marL="91437" marR="91437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72174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9CBB6-6A2A-CB83-839C-9473E87C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61ABA3C-C515-0ADF-1608-E11F5899F1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02C31CB-87B5-448A-2B3C-435DDBA456FD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A088E30-3C1B-6FF7-A029-92CAB5F6CCFA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AFDBC5-6BC8-8F86-8B82-1253232F3A4D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7C11CF-0AA0-E1D8-DA1A-2D4A5729280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3D38FBFE-8B80-483D-95FD-17D3D31CC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50C397A-2313-EACE-260D-1658C32F79DD}"/>
              </a:ext>
            </a:extLst>
          </p:cNvPr>
          <p:cNvSpPr/>
          <p:nvPr/>
        </p:nvSpPr>
        <p:spPr>
          <a:xfrm>
            <a:off x="-16329" y="1653121"/>
            <a:ext cx="4814471" cy="52048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Riccardo Soldan</a:t>
            </a:r>
          </a:p>
          <a:p>
            <a:pPr algn="ctr"/>
            <a:r>
              <a:rPr lang="en-GB" dirty="0">
                <a:hlinkClick r:id="rId4"/>
              </a:rPr>
              <a:t>R</a:t>
            </a:r>
            <a:r>
              <a:rPr lang="en-IT" dirty="0">
                <a:hlinkClick r:id="rId4"/>
              </a:rPr>
              <a:t>iccardo.soldan@fao.org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Samuel Greenrod</a:t>
            </a:r>
          </a:p>
          <a:p>
            <a:pPr algn="ctr"/>
            <a:r>
              <a:rPr lang="en-IT" dirty="0">
                <a:hlinkClick r:id="rId5"/>
              </a:rPr>
              <a:t>Samuel.greenrod@fao.org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Lionel Kinadjian</a:t>
            </a:r>
          </a:p>
          <a:p>
            <a:pPr algn="ctr"/>
            <a:r>
              <a:rPr lang="en-GB" dirty="0">
                <a:hlinkClick r:id="rId6"/>
              </a:rPr>
              <a:t>L</a:t>
            </a:r>
            <a:r>
              <a:rPr lang="en-IT" dirty="0">
                <a:hlinkClick r:id="rId6"/>
              </a:rPr>
              <a:t>ionel.kinadjian@fao.org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085E60-58CD-F158-8415-7C637F5B5DCA}"/>
              </a:ext>
            </a:extLst>
          </p:cNvPr>
          <p:cNvSpPr/>
          <p:nvPr/>
        </p:nvSpPr>
        <p:spPr>
          <a:xfrm>
            <a:off x="6529609" y="3626097"/>
            <a:ext cx="327641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b="1" cap="none" spc="0">
                <a:ln/>
                <a:solidFill>
                  <a:schemeClr val="accent4"/>
                </a:solidFill>
                <a:effectLst/>
              </a:rPr>
              <a:t>Obrigado!</a:t>
            </a:r>
            <a:endParaRPr lang="en-GB" sz="5400" b="1" cap="none" spc="0" dirty="0">
              <a:ln/>
              <a:solidFill>
                <a:schemeClr val="accent4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68669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4254</TotalTime>
  <Words>371</Words>
  <Application>Microsoft Macintosh PowerPoint</Application>
  <PresentationFormat>Widescreen</PresentationFormat>
  <Paragraphs>47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Georgia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Soldan, Riccardo (OCBD)</cp:lastModifiedBy>
  <cp:revision>238</cp:revision>
  <dcterms:created xsi:type="dcterms:W3CDTF">2025-11-12T15:08:01Z</dcterms:created>
  <dcterms:modified xsi:type="dcterms:W3CDTF">2025-12-02T08:52:12Z</dcterms:modified>
</cp:coreProperties>
</file>