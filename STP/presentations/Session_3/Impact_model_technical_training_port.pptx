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6_D65996FA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61" r:id="rId3"/>
    <p:sldId id="262" r:id="rId4"/>
    <p:sldId id="271" r:id="rId5"/>
    <p:sldId id="281" r:id="rId6"/>
    <p:sldId id="282" r:id="rId7"/>
    <p:sldId id="283" r:id="rId8"/>
    <p:sldId id="28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ED645-BD99-41AA-9A28-3F5E2FA7F526}" v="31" dt="2025-11-28T09:38:34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20C3C022-8956-41D8-B9EF-F034660AD755}"/>
    <pc:docChg chg="undo custSel addSld modSld">
      <pc:chgData name="Greenrod, Samuel (OCBD)" userId="2206092a-8a12-487a-a963-cafe9a401430" providerId="ADAL" clId="{20C3C022-8956-41D8-B9EF-F034660AD755}" dt="2025-11-28T09:38:17.305" v="543" actId="403"/>
      <pc:docMkLst>
        <pc:docMk/>
      </pc:docMkLst>
      <pc:sldChg chg="modSp mod">
        <pc:chgData name="Greenrod, Samuel (OCBD)" userId="2206092a-8a12-487a-a963-cafe9a401430" providerId="ADAL" clId="{20C3C022-8956-41D8-B9EF-F034660AD755}" dt="2025-11-27T17:10:49.525" v="13" actId="27636"/>
        <pc:sldMkLst>
          <pc:docMk/>
          <pc:sldMk cId="2766163668" sldId="261"/>
        </pc:sldMkLst>
        <pc:spChg chg="mod">
          <ac:chgData name="Greenrod, Samuel (OCBD)" userId="2206092a-8a12-487a-a963-cafe9a401430" providerId="ADAL" clId="{20C3C022-8956-41D8-B9EF-F034660AD755}" dt="2025-11-27T17:10:49.525" v="13" actId="27636"/>
          <ac:spMkLst>
            <pc:docMk/>
            <pc:sldMk cId="2766163668" sldId="261"/>
            <ac:spMk id="3" creationId="{4E3F9C69-A220-021D-6DCA-DB13628BC29F}"/>
          </ac:spMkLst>
        </pc:spChg>
      </pc:sldChg>
      <pc:sldChg chg="modSp mod">
        <pc:chgData name="Greenrod, Samuel (OCBD)" userId="2206092a-8a12-487a-a963-cafe9a401430" providerId="ADAL" clId="{20C3C022-8956-41D8-B9EF-F034660AD755}" dt="2025-11-28T09:17:56.128" v="24" actId="14"/>
        <pc:sldMkLst>
          <pc:docMk/>
          <pc:sldMk cId="147372020" sldId="262"/>
        </pc:sldMkLst>
        <pc:spChg chg="mod">
          <ac:chgData name="Greenrod, Samuel (OCBD)" userId="2206092a-8a12-487a-a963-cafe9a401430" providerId="ADAL" clId="{20C3C022-8956-41D8-B9EF-F034660AD755}" dt="2025-11-28T09:17:56.128" v="24" actId="14"/>
          <ac:spMkLst>
            <pc:docMk/>
            <pc:sldMk cId="147372020" sldId="262"/>
            <ac:spMk id="3" creationId="{658F7D0B-3588-08B0-0049-708DBA68FA54}"/>
          </ac:spMkLst>
        </pc:spChg>
      </pc:sldChg>
      <pc:sldChg chg="addSp modSp mod">
        <pc:chgData name="Greenrod, Samuel (OCBD)" userId="2206092a-8a12-487a-a963-cafe9a401430" providerId="ADAL" clId="{20C3C022-8956-41D8-B9EF-F034660AD755}" dt="2025-11-28T09:18:43.739" v="52" actId="27636"/>
        <pc:sldMkLst>
          <pc:docMk/>
          <pc:sldMk cId="2578936741" sldId="271"/>
        </pc:sldMkLst>
        <pc:spChg chg="mod">
          <ac:chgData name="Greenrod, Samuel (OCBD)" userId="2206092a-8a12-487a-a963-cafe9a401430" providerId="ADAL" clId="{20C3C022-8956-41D8-B9EF-F034660AD755}" dt="2025-11-28T09:18:05.630" v="28" actId="20577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20C3C022-8956-41D8-B9EF-F034660AD755}" dt="2025-11-28T09:18:43.739" v="52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20C3C022-8956-41D8-B9EF-F034660AD755}" dt="2025-11-27T17:09:11.277" v="5" actId="1076"/>
          <ac:picMkLst>
            <pc:docMk/>
            <pc:sldMk cId="2578936741" sldId="271"/>
            <ac:picMk id="7" creationId="{6CEB13D8-FB45-A51F-2B20-2718498FB1A5}"/>
          </ac:picMkLst>
        </pc:picChg>
        <pc:picChg chg="mod">
          <ac:chgData name="Greenrod, Samuel (OCBD)" userId="2206092a-8a12-487a-a963-cafe9a401430" providerId="ADAL" clId="{20C3C022-8956-41D8-B9EF-F034660AD755}" dt="2025-11-27T17:07:38.851" v="0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20C3C022-8956-41D8-B9EF-F034660AD755}" dt="2025-11-27T17:10:36.410" v="6" actId="404"/>
        <pc:sldMkLst>
          <pc:docMk/>
          <pc:sldMk cId="3596195578" sldId="278"/>
        </pc:sldMkLst>
        <pc:spChg chg="mod">
          <ac:chgData name="Greenrod, Samuel (OCBD)" userId="2206092a-8a12-487a-a963-cafe9a401430" providerId="ADAL" clId="{20C3C022-8956-41D8-B9EF-F034660AD755}" dt="2025-11-27T17:10:36.410" v="6" actId="404"/>
          <ac:spMkLst>
            <pc:docMk/>
            <pc:sldMk cId="3596195578" sldId="278"/>
            <ac:spMk id="2" creationId="{CA7A74D7-F4EA-CF5E-D552-74464B3CD55E}"/>
          </ac:spMkLst>
        </pc:spChg>
      </pc:sldChg>
      <pc:sldChg chg="modSp mod">
        <pc:chgData name="Greenrod, Samuel (OCBD)" userId="2206092a-8a12-487a-a963-cafe9a401430" providerId="ADAL" clId="{20C3C022-8956-41D8-B9EF-F034660AD755}" dt="2025-11-28T09:19:32.720" v="70" actId="14100"/>
        <pc:sldMkLst>
          <pc:docMk/>
          <pc:sldMk cId="2011615651" sldId="281"/>
        </pc:sldMkLst>
        <pc:spChg chg="mod">
          <ac:chgData name="Greenrod, Samuel (OCBD)" userId="2206092a-8a12-487a-a963-cafe9a401430" providerId="ADAL" clId="{20C3C022-8956-41D8-B9EF-F034660AD755}" dt="2025-11-28T09:19:32.720" v="70" actId="14100"/>
          <ac:spMkLst>
            <pc:docMk/>
            <pc:sldMk cId="2011615651" sldId="281"/>
            <ac:spMk id="3" creationId="{CA00AF49-CC44-25D9-3735-EF8C3DBD2D0F}"/>
          </ac:spMkLst>
        </pc:spChg>
        <pc:spChg chg="mod">
          <ac:chgData name="Greenrod, Samuel (OCBD)" userId="2206092a-8a12-487a-a963-cafe9a401430" providerId="ADAL" clId="{20C3C022-8956-41D8-B9EF-F034660AD755}" dt="2025-11-28T09:18:57.033" v="55" actId="1076"/>
          <ac:spMkLst>
            <pc:docMk/>
            <pc:sldMk cId="2011615651" sldId="281"/>
            <ac:spMk id="13" creationId="{583A28C2-A26F-6AEF-A405-EFD1071BBBC3}"/>
          </ac:spMkLst>
        </pc:spChg>
        <pc:picChg chg="mod">
          <ac:chgData name="Greenrod, Samuel (OCBD)" userId="2206092a-8a12-487a-a963-cafe9a401430" providerId="ADAL" clId="{20C3C022-8956-41D8-B9EF-F034660AD755}" dt="2025-11-28T09:18:54.979" v="54" actId="1076"/>
          <ac:picMkLst>
            <pc:docMk/>
            <pc:sldMk cId="2011615651" sldId="281"/>
            <ac:picMk id="12" creationId="{415DF548-4296-243F-F7AD-D7BBD189587B}"/>
          </ac:picMkLst>
        </pc:picChg>
      </pc:sldChg>
      <pc:sldChg chg="modSp mod">
        <pc:chgData name="Greenrod, Samuel (OCBD)" userId="2206092a-8a12-487a-a963-cafe9a401430" providerId="ADAL" clId="{20C3C022-8956-41D8-B9EF-F034660AD755}" dt="2025-11-28T09:20:18.862" v="79" actId="20577"/>
        <pc:sldMkLst>
          <pc:docMk/>
          <pc:sldMk cId="678195566" sldId="282"/>
        </pc:sldMkLst>
        <pc:spChg chg="mod">
          <ac:chgData name="Greenrod, Samuel (OCBD)" userId="2206092a-8a12-487a-a963-cafe9a401430" providerId="ADAL" clId="{20C3C022-8956-41D8-B9EF-F034660AD755}" dt="2025-11-28T09:20:18.862" v="79" actId="20577"/>
          <ac:spMkLst>
            <pc:docMk/>
            <pc:sldMk cId="678195566" sldId="282"/>
            <ac:spMk id="3" creationId="{6995A786-0644-0AD8-AB0E-D83E27103B5A}"/>
          </ac:spMkLst>
        </pc:spChg>
      </pc:sldChg>
      <pc:sldChg chg="modSp mod">
        <pc:chgData name="Greenrod, Samuel (OCBD)" userId="2206092a-8a12-487a-a963-cafe9a401430" providerId="ADAL" clId="{20C3C022-8956-41D8-B9EF-F034660AD755}" dt="2025-11-28T09:20:52.314" v="87" actId="403"/>
        <pc:sldMkLst>
          <pc:docMk/>
          <pc:sldMk cId="1216405978" sldId="283"/>
        </pc:sldMkLst>
        <pc:spChg chg="mod">
          <ac:chgData name="Greenrod, Samuel (OCBD)" userId="2206092a-8a12-487a-a963-cafe9a401430" providerId="ADAL" clId="{20C3C022-8956-41D8-B9EF-F034660AD755}" dt="2025-11-28T09:20:52.314" v="87" actId="403"/>
          <ac:spMkLst>
            <pc:docMk/>
            <pc:sldMk cId="1216405978" sldId="283"/>
            <ac:spMk id="3" creationId="{47B9E260-AD0F-9C4C-53DD-39538E4F83DE}"/>
          </ac:spMkLst>
        </pc:spChg>
      </pc:sldChg>
      <pc:sldChg chg="modSp add mod">
        <pc:chgData name="Greenrod, Samuel (OCBD)" userId="2206092a-8a12-487a-a963-cafe9a401430" providerId="ADAL" clId="{20C3C022-8956-41D8-B9EF-F034660AD755}" dt="2025-11-28T09:38:17.305" v="543" actId="403"/>
        <pc:sldMkLst>
          <pc:docMk/>
          <pc:sldMk cId="2956230690" sldId="284"/>
        </pc:sldMkLst>
        <pc:spChg chg="mod">
          <ac:chgData name="Greenrod, Samuel (OCBD)" userId="2206092a-8a12-487a-a963-cafe9a401430" providerId="ADAL" clId="{20C3C022-8956-41D8-B9EF-F034660AD755}" dt="2025-11-28T09:21:30.332" v="99" actId="20577"/>
          <ac:spMkLst>
            <pc:docMk/>
            <pc:sldMk cId="2956230690" sldId="284"/>
            <ac:spMk id="2" creationId="{F895C272-2827-84C2-358A-8D5EAAC70E68}"/>
          </ac:spMkLst>
        </pc:spChg>
        <pc:spChg chg="mod">
          <ac:chgData name="Greenrod, Samuel (OCBD)" userId="2206092a-8a12-487a-a963-cafe9a401430" providerId="ADAL" clId="{20C3C022-8956-41D8-B9EF-F034660AD755}" dt="2025-11-28T09:38:17.305" v="543" actId="403"/>
          <ac:spMkLst>
            <pc:docMk/>
            <pc:sldMk cId="2956230690" sldId="284"/>
            <ac:spMk id="3" creationId="{23476089-448A-F5E4-D126-9C15D6930918}"/>
          </ac:spMkLst>
        </pc:spChg>
      </pc:sldChg>
    </pc:docChg>
  </pc:docChgLst>
</pc:chgInfo>
</file>

<file path=ppt/comments/modernComment_116_D65996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9619557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D65996FA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Workshop técnico para projeto GCF: Mudanças climáticas e impactos das mudanças climáticas em São Tomé e Príncipe, com foco nos setores pesqueiro e turístico em contexto de Economia Azul</a:t>
            </a:r>
            <a:b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pt-BR" sz="2000" dirty="0">
                <a:solidFill>
                  <a:srgbClr val="0070C0"/>
                </a:solidFill>
                <a:latin typeface="Arial"/>
                <a:cs typeface="Arial"/>
              </a:rPr>
              <a:t>São Tomé e Príncipe, novembro/dezembro de 2025</a:t>
            </a:r>
            <a:endParaRPr lang="en-US" sz="28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pt-BR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Modelagem de impacto para projeções de biomassa de peixes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Pescarias em São Tomé e Príncipe: o desafio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9C69-A220-021D-6DCA-DB13628BC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636" y="2005012"/>
            <a:ext cx="5257800" cy="4351338"/>
          </a:xfrm>
        </p:spPr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Modelos climáticos projetam mudanças oceanográficas significativas no futuro
Espera-se que as mudanças climáticas afetem as pescas ao alterar: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Reprodução de peixes
Densidades de peixes
Padrões de migração de peixes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3F7CB-4C8D-580D-EEBA-A44271C2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89A456A-796D-10A1-C739-557F61442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5" t="46200" r="26896" b="12861"/>
          <a:stretch>
            <a:fillRect/>
          </a:stretch>
        </p:blipFill>
        <p:spPr>
          <a:xfrm>
            <a:off x="6993275" y="1618001"/>
            <a:ext cx="1871881" cy="3503940"/>
          </a:xfrm>
          <a:prstGeom prst="rect">
            <a:avLst/>
          </a:prstGeom>
        </p:spPr>
      </p:pic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CCD75D8-9B9B-5201-1034-EBDCCA0B66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81" t="91911" r="15732" b="1719"/>
          <a:stretch>
            <a:fillRect/>
          </a:stretch>
        </p:blipFill>
        <p:spPr>
          <a:xfrm>
            <a:off x="6839633" y="5533812"/>
            <a:ext cx="2119941" cy="365125"/>
          </a:xfrm>
          <a:prstGeom prst="rect">
            <a:avLst/>
          </a:prstGeom>
        </p:spPr>
      </p:pic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D0BE1E2-BF92-39E5-E2DC-230AE5E428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3" t="91911" r="52703" b="3088"/>
          <a:stretch>
            <a:fillRect/>
          </a:stretch>
        </p:blipFill>
        <p:spPr>
          <a:xfrm>
            <a:off x="6972984" y="5201251"/>
            <a:ext cx="1853241" cy="286664"/>
          </a:xfrm>
          <a:prstGeom prst="rect">
            <a:avLst/>
          </a:prstGeom>
        </p:spPr>
      </p:pic>
      <p:pic>
        <p:nvPicPr>
          <p:cNvPr id="15" name="Picture 1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501C99F-2D21-42B1-9892-D214A7BF8F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38" t="46307" r="27825" b="12394"/>
          <a:stretch>
            <a:fillRect/>
          </a:stretch>
        </p:blipFill>
        <p:spPr>
          <a:xfrm>
            <a:off x="9162645" y="1634295"/>
            <a:ext cx="1715635" cy="3531105"/>
          </a:xfrm>
          <a:prstGeom prst="rect">
            <a:avLst/>
          </a:prstGeom>
        </p:spPr>
      </p:pic>
      <p:pic>
        <p:nvPicPr>
          <p:cNvPr id="16" name="Picture 1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ABE6C2B-CBC4-7234-9256-AD8D688E10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0" t="92291" r="25515" b="2817"/>
          <a:stretch>
            <a:fillRect/>
          </a:stretch>
        </p:blipFill>
        <p:spPr>
          <a:xfrm>
            <a:off x="9162645" y="5537727"/>
            <a:ext cx="2268746" cy="279964"/>
          </a:xfrm>
          <a:prstGeom prst="rect">
            <a:avLst/>
          </a:prstGeom>
        </p:spPr>
      </p:pic>
      <p:pic>
        <p:nvPicPr>
          <p:cNvPr id="17" name="Picture 1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3F6475B-95E1-757F-F23C-6B9FDDF51D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2" t="91372" r="65050" b="2849"/>
          <a:stretch>
            <a:fillRect/>
          </a:stretch>
        </p:blipFill>
        <p:spPr>
          <a:xfrm>
            <a:off x="9780466" y="5152284"/>
            <a:ext cx="477328" cy="330709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F1BCAAF-8DBF-CFDE-BB54-55BF3DCA51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49" t="46200" r="2489" b="12861"/>
          <a:stretch>
            <a:fillRect/>
          </a:stretch>
        </p:blipFill>
        <p:spPr>
          <a:xfrm>
            <a:off x="10847977" y="1609375"/>
            <a:ext cx="322053" cy="3503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DD1E8D-D74A-D627-3898-BCA131942FC5}"/>
              </a:ext>
            </a:extLst>
          </p:cNvPr>
          <p:cNvSpPr txBox="1"/>
          <p:nvPr/>
        </p:nvSpPr>
        <p:spPr>
          <a:xfrm>
            <a:off x="7875187" y="5969655"/>
            <a:ext cx="2501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Os valores são relativos à corrida histórica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3415-383E-9F3A-6063-F6DE642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9597-57ED-0A4B-54BB-C49E2BC6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11070"/>
            <a:ext cx="8709612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Modelagem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baseada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7D0B-3588-08B0-0049-708DBA68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52658"/>
            <a:ext cx="5515379" cy="4351338"/>
          </a:xfrm>
        </p:spPr>
        <p:txBody>
          <a:bodyPr>
            <a:normAutofit fontScale="92500" lnSpcReduction="10000"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Modelos de impacto são chamados de "mecanicistas", pois utilizam equações complexas para modelar como os sistemas de peixes funcionam e interagem com seu ambiente
Por exemplo, modelos de impacto frequentemente consideram: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Interações predador-presa
Disponibilidade de recursos
Transferência de energia
Migração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Modelos de impacto fornecem projeções da biomassa de peixes com base nos insumos climáticos futuros projetados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09670-A785-821A-65D0-C1B5F9BC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45AF79-8BA1-55EA-8D7F-D4A9CF3452A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618566-26EA-20E2-DF6F-8387115801F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15BD8F-18AE-843A-8247-21312ABE456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A176A92-1BE8-9390-CAD4-C04837C21BC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Mechanistic Modelling of Biomass Growth, Glucose Consumption and Ethanol  Production by Kluyveromyces marxianus in Batch Fermentation">
            <a:extLst>
              <a:ext uri="{FF2B5EF4-FFF2-40B4-BE49-F238E27FC236}">
                <a16:creationId xmlns:a16="http://schemas.microsoft.com/office/drawing/2014/main" id="{D61BADDF-C5BC-0447-82E4-24C81F87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710" y="1553194"/>
            <a:ext cx="4028266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2" descr="Big Fish Eat Little Fish&quot; Images – Browse 139 Stock Photos, Vectors, and  Video | Adobe Stock">
            <a:extLst>
              <a:ext uri="{FF2B5EF4-FFF2-40B4-BE49-F238E27FC236}">
                <a16:creationId xmlns:a16="http://schemas.microsoft.com/office/drawing/2014/main" id="{59CF9D43-43CA-D8E6-83D4-27A48D4A24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2" name="Picture 4" descr="What Do Fish Eat? Understanding Fish Diets - A-Z Animals">
            <a:extLst>
              <a:ext uri="{FF2B5EF4-FFF2-40B4-BE49-F238E27FC236}">
                <a16:creationId xmlns:a16="http://schemas.microsoft.com/office/drawing/2014/main" id="{80CE6463-F610-8DAE-67CE-A3632DC44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377" y="3959353"/>
            <a:ext cx="3264932" cy="170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7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8EE32-FB31-AAF4-A276-51B4DAB8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0A41-F933-5C82-61A3-1B3C6F20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GB" sz="3200" dirty="0"/>
              <a:t>Inter-Sectoral Impact Model Intercomparison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A1D0-D97E-0CD4-9A3F-D588798C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26210"/>
            <a:ext cx="6057852" cy="4351338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O ISIMIP é um projeto voltado para fornecer uma estrutura consistente para modelagem de impacto climático</a:t>
            </a:r>
          </a:p>
          <a:p>
            <a:r>
              <a:rPr lang="pt-BR" dirty="0"/>
              <a:t>Tópicos específicos de foco:</a:t>
            </a:r>
          </a:p>
          <a:p>
            <a:pPr lvl="1"/>
            <a:r>
              <a:rPr lang="pt-BR" dirty="0"/>
              <a:t>Agricultura
Água
Florestas
Pesca
Energia</a:t>
            </a:r>
          </a:p>
          <a:p>
            <a:r>
              <a:rPr lang="pt-BR" dirty="0"/>
              <a:t>Entrada:</a:t>
            </a:r>
          </a:p>
          <a:p>
            <a:pPr lvl="1"/>
            <a:r>
              <a:rPr lang="pt-BR" dirty="0"/>
              <a:t>Conjunto específico de modelos climáticos (CMIP) e projeções do Modelo do Sistema Terrestre
Forçamentos climáticos específicos (SSPs)
Modelos de impacto consistentes</a:t>
            </a:r>
            <a:endParaRPr lang="en-GB" dirty="0"/>
          </a:p>
          <a:p>
            <a:r>
              <a:rPr lang="pt-BR" dirty="0"/>
              <a:t>Saída:</a:t>
            </a:r>
          </a:p>
          <a:p>
            <a:pPr lvl="1"/>
            <a:r>
              <a:rPr lang="pt-BR" dirty="0"/>
              <a:t>Simulações de modelos globais de impacto
Insumos de forçamento climático/oceânico também podem ser extraídos</a:t>
            </a:r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6915B-9538-32C3-8D68-15810C8D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780896-89DE-E1D7-9579-DB087B8098B2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5E9DE0-24D8-AD17-3ECD-785281BC837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60D878-696C-C148-885E-EAAF3935A4C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1A03E919-A3B9-8DCF-200C-0CA378DC033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28766C-0F4A-1C6A-5A7D-A27BAB303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924" y="1915807"/>
            <a:ext cx="4114823" cy="151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EB13D8-FB45-A51F-2B20-2718498FB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270" y="3867818"/>
            <a:ext cx="4274753" cy="181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93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7870-9350-9641-4B1C-C4A264A9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8A85-4BA1-8306-551E-E13EE8097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pt-BR" sz="3200" dirty="0"/>
              <a:t>Modelos de impacto da biomassa de peixes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AF49-CC44-25D9-3735-EF8C3DBD2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85" y="1710729"/>
            <a:ext cx="4835079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Modelos disponíveis de impacto da biomassa de peixes: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APECOSM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Intensidade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Intensidade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climáticos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IPSL-CMIP6-LR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30EE1-11E0-EDE4-317A-DA1A285E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B5EBB30-DF12-1308-58B7-DE21C523BE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743B47-D899-7AC4-AB77-E44362AB675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E5561F-A315-7CDC-238D-7380A2BB4A2F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48B4EA2-C3F5-892D-0276-173712F660C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15DF548-4296-243F-F7AD-D7BBD1895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471" y="2213377"/>
            <a:ext cx="4816257" cy="41227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3A28C2-A26F-6AEF-A405-EFD1071BBBC3}"/>
              </a:ext>
            </a:extLst>
          </p:cNvPr>
          <p:cNvSpPr txBox="1"/>
          <p:nvPr/>
        </p:nvSpPr>
        <p:spPr>
          <a:xfrm>
            <a:off x="7187066" y="1650702"/>
            <a:ext cx="3460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BiOeconomic</a:t>
            </a:r>
            <a:r>
              <a:rPr lang="en-GB" b="1" dirty="0"/>
              <a:t> </a:t>
            </a:r>
            <a:r>
              <a:rPr lang="en-GB" b="1" dirty="0" err="1"/>
              <a:t>mArine</a:t>
            </a:r>
            <a:r>
              <a:rPr lang="en-GB" b="1" dirty="0"/>
              <a:t> Trophic Size-spectrum (BOATS) </a:t>
            </a:r>
          </a:p>
        </p:txBody>
      </p:sp>
    </p:spTree>
    <p:extLst>
      <p:ext uri="{BB962C8B-B14F-4D97-AF65-F5344CB8AC3E}">
        <p14:creationId xmlns:p14="http://schemas.microsoft.com/office/powerpoint/2010/main" val="201161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169E3-F4D6-1120-5833-8562F9AC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BEEC-2188-F867-43DB-F47FFD01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pt-BR" sz="3200" dirty="0"/>
              <a:t>Simulação do impacto climático na biomassa de peixes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A786-0644-0AD8-AB0E-D83E27103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85" y="1572249"/>
            <a:ext cx="467069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Modelos disponíveis de impacto da biomassa de peixes: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APECOSM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Intensidade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Intensidade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climáticos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IPSL-CMIP6-LR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DDF7D-3BA2-E954-4F71-F323313F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185819-E6A2-BD1C-D0E4-C23B203C9C7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E7E99E-8B70-708A-CDBA-24CAD8CCA36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3E97DB-B8D9-7874-6EFF-BE5C135C44D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707D55CD-752B-3F89-14F6-AC14B5B6029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5250F6-DF62-FCE2-81E4-949F51A4F186}"/>
              </a:ext>
            </a:extLst>
          </p:cNvPr>
          <p:cNvGrpSpPr/>
          <p:nvPr/>
        </p:nvGrpSpPr>
        <p:grpSpPr>
          <a:xfrm>
            <a:off x="5788771" y="2428568"/>
            <a:ext cx="5326687" cy="3032005"/>
            <a:chOff x="6096000" y="2656539"/>
            <a:chExt cx="4523390" cy="2676215"/>
          </a:xfrm>
        </p:grpSpPr>
        <p:pic>
          <p:nvPicPr>
            <p:cNvPr id="7" name="Picture 6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7B7152C8-A687-4CE0-4C06-E0CE31385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0886" t="49748" b="5110"/>
            <a:stretch>
              <a:fillRect/>
            </a:stretch>
          </p:blipFill>
          <p:spPr>
            <a:xfrm>
              <a:off x="7688826" y="2901956"/>
              <a:ext cx="2930564" cy="2113936"/>
            </a:xfrm>
            <a:prstGeom prst="rect">
              <a:avLst/>
            </a:prstGeom>
          </p:spPr>
        </p:pic>
        <p:pic>
          <p:nvPicPr>
            <p:cNvPr id="14" name="Picture 13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2F0057FA-0263-8823-C51F-89921A350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953" t="49748" r="75263" b="5110"/>
            <a:stretch>
              <a:fillRect/>
            </a:stretch>
          </p:blipFill>
          <p:spPr>
            <a:xfrm>
              <a:off x="6096000" y="2901956"/>
              <a:ext cx="1632154" cy="2113936"/>
            </a:xfrm>
            <a:prstGeom prst="rect">
              <a:avLst/>
            </a:prstGeom>
          </p:spPr>
        </p:pic>
        <p:pic>
          <p:nvPicPr>
            <p:cNvPr id="11" name="Picture 10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4AC6E5C5-6BB9-E6C7-69CD-8AB8E84F5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0886" t="-216" b="93565"/>
            <a:stretch>
              <a:fillRect/>
            </a:stretch>
          </p:blipFill>
          <p:spPr>
            <a:xfrm>
              <a:off x="7688826" y="2656539"/>
              <a:ext cx="2930564" cy="311446"/>
            </a:xfrm>
            <a:prstGeom prst="rect">
              <a:avLst/>
            </a:prstGeom>
          </p:spPr>
        </p:pic>
        <p:pic>
          <p:nvPicPr>
            <p:cNvPr id="15" name="Picture 14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12C60F36-1F90-86EB-B026-56D4C926D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8515" t="94889" r="20114" b="970"/>
            <a:stretch>
              <a:fillRect/>
            </a:stretch>
          </p:blipFill>
          <p:spPr>
            <a:xfrm>
              <a:off x="7437415" y="5138793"/>
              <a:ext cx="3099642" cy="1939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819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DFDF5-A73F-075C-1201-039C52693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10F8-8770-8344-0577-1F11F249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pt-BR" sz="3200" dirty="0"/>
              <a:t>Incorporação da intensidade da pesca nos modelos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9E260-AD0F-9C4C-53DD-39538E4F8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85" y="1572249"/>
            <a:ext cx="400825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3300" dirty="0">
                <a:latin typeface="Arial" panose="020B0604020202020204" pitchFamily="34" charset="0"/>
                <a:cs typeface="Arial" panose="020B0604020202020204" pitchFamily="34" charset="0"/>
              </a:rPr>
              <a:t>Modelos de impacto da biomassa de peixes disponíveis</a:t>
            </a:r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/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APECOSM</a:t>
            </a:r>
          </a:p>
          <a:p>
            <a:pPr marL="285750" indent="-285750"/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BOATS (</a:t>
            </a:r>
            <a:r>
              <a:rPr lang="pt-BR" sz="3300" b="1" dirty="0">
                <a:latin typeface="Arial" panose="020B0604020202020204" pitchFamily="34" charset="0"/>
                <a:cs typeface="Arial" panose="020B0604020202020204" pitchFamily="34" charset="0"/>
              </a:rPr>
              <a:t>Intensidade da pesca – apenas total</a:t>
            </a:r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/>
            <a:r>
              <a:rPr lang="en-GB" sz="3300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sz="3300" b="1" dirty="0" err="1">
                <a:latin typeface="Arial" panose="020B0604020202020204" pitchFamily="34" charset="0"/>
                <a:cs typeface="Arial" panose="020B0604020202020204" pitchFamily="34" charset="0"/>
              </a:rPr>
              <a:t>Intensidade</a:t>
            </a:r>
            <a:r>
              <a:rPr lang="en-GB" sz="3300" b="1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GB" sz="3300" b="1" dirty="0" err="1"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/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/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/>
            <a:r>
              <a:rPr lang="en-GB" sz="3300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GB" sz="3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3300" dirty="0" err="1"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3300" dirty="0" err="1">
                <a:latin typeface="Arial" panose="020B0604020202020204" pitchFamily="34" charset="0"/>
                <a:cs typeface="Arial" panose="020B0604020202020204" pitchFamily="34" charset="0"/>
              </a:rPr>
              <a:t>climáticos</a:t>
            </a:r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 IPSL-CMIP6-LR</a:t>
            </a:r>
          </a:p>
          <a:p>
            <a:pPr marL="285750" indent="-285750"/>
            <a:r>
              <a:rPr lang="en-GB" sz="3300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6A441-F45A-8AA4-D732-26841D11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A36177-112C-A244-6FAC-CA0A84FD6EB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4C1081-7C2C-2610-736F-E9746A82A9C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E774EF-8D30-5A1C-15E6-C8CBA82D0F2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8EC5EA3-7BB1-0422-7BFB-4337FC2428D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of a fishing scale&#10;&#10;AI-generated content may be incorrect.">
            <a:extLst>
              <a:ext uri="{FF2B5EF4-FFF2-40B4-BE49-F238E27FC236}">
                <a16:creationId xmlns:a16="http://schemas.microsoft.com/office/drawing/2014/main" id="{9AE2574A-E692-CF26-80FC-C0A15C10A4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75" t="43510" b="16414"/>
          <a:stretch>
            <a:fillRect/>
          </a:stretch>
        </p:blipFill>
        <p:spPr>
          <a:xfrm>
            <a:off x="7285201" y="2256699"/>
            <a:ext cx="3805273" cy="2442195"/>
          </a:xfrm>
          <a:prstGeom prst="rect">
            <a:avLst/>
          </a:prstGeom>
        </p:spPr>
      </p:pic>
      <p:pic>
        <p:nvPicPr>
          <p:cNvPr id="17" name="Picture 16" descr="A graph of a fishing scale&#10;&#10;AI-generated content may be incorrect.">
            <a:extLst>
              <a:ext uri="{FF2B5EF4-FFF2-40B4-BE49-F238E27FC236}">
                <a16:creationId xmlns:a16="http://schemas.microsoft.com/office/drawing/2014/main" id="{3934C56D-634D-6515-306C-F842E14C19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8" t="43510" r="75300" b="20570"/>
          <a:stretch>
            <a:fillRect/>
          </a:stretch>
        </p:blipFill>
        <p:spPr>
          <a:xfrm>
            <a:off x="5237727" y="2266531"/>
            <a:ext cx="2096634" cy="2188950"/>
          </a:xfrm>
          <a:prstGeom prst="rect">
            <a:avLst/>
          </a:prstGeom>
        </p:spPr>
      </p:pic>
      <p:pic>
        <p:nvPicPr>
          <p:cNvPr id="13" name="Picture 12" descr="A graph of a fishing scale&#10;&#10;AI-generated content may be incorrect.">
            <a:extLst>
              <a:ext uri="{FF2B5EF4-FFF2-40B4-BE49-F238E27FC236}">
                <a16:creationId xmlns:a16="http://schemas.microsoft.com/office/drawing/2014/main" id="{D0F08044-FE35-3897-954F-E756FFA42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75" t="888" b="93035"/>
          <a:stretch>
            <a:fillRect/>
          </a:stretch>
        </p:blipFill>
        <p:spPr>
          <a:xfrm>
            <a:off x="7285201" y="2011337"/>
            <a:ext cx="3805273" cy="370327"/>
          </a:xfrm>
          <a:prstGeom prst="rect">
            <a:avLst/>
          </a:prstGeom>
        </p:spPr>
      </p:pic>
      <p:pic>
        <p:nvPicPr>
          <p:cNvPr id="18" name="Picture 17" descr="A graph of a fishing scale&#10;&#10;AI-generated content may be incorrect.">
            <a:extLst>
              <a:ext uri="{FF2B5EF4-FFF2-40B4-BE49-F238E27FC236}">
                <a16:creationId xmlns:a16="http://schemas.microsoft.com/office/drawing/2014/main" id="{4B4037E7-EFB5-E407-FE1A-CDCE04E288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0" t="83839" b="2124"/>
          <a:stretch>
            <a:fillRect/>
          </a:stretch>
        </p:blipFill>
        <p:spPr>
          <a:xfrm>
            <a:off x="4797953" y="4978239"/>
            <a:ext cx="7394047" cy="8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5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D1278-5E7F-CBFA-57EC-BFCFCFBC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5C272-2827-84C2-358A-8D5EAAC70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11070"/>
            <a:ext cx="8709612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6089-448A-F5E4-D126-9C15D6930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52658"/>
            <a:ext cx="5515379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Modelos mecanicistas podem permitir a estimativa do impacto climático na biomassa total de peixes
O banco de dados ISIMIP permite comparações consistentes e multimodelo do impacto climático.
Esses fatores permitem uma avaliação robusta baseada em conhecimento e pesquisa prévios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3189A-4864-32BC-66EA-40EC2BAF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D9BF08-868E-DE70-FD03-E5725EEC6C7B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431CB7-271D-5668-E1E3-9396BF53FB1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2C6213-3887-7658-DD89-4D9EE3CF071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813E320-E9B7-DEC9-017D-D20CDE30BBC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Mechanistic Modelling of Biomass Growth, Glucose Consumption and Ethanol  Production by Kluyveromyces marxianus in Batch Fermentation">
            <a:extLst>
              <a:ext uri="{FF2B5EF4-FFF2-40B4-BE49-F238E27FC236}">
                <a16:creationId xmlns:a16="http://schemas.microsoft.com/office/drawing/2014/main" id="{03DCF7F0-B46F-4F06-D7C8-00261E18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710" y="1553194"/>
            <a:ext cx="4028266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2" descr="Big Fish Eat Little Fish&quot; Images – Browse 139 Stock Photos, Vectors, and  Video | Adobe Stock">
            <a:extLst>
              <a:ext uri="{FF2B5EF4-FFF2-40B4-BE49-F238E27FC236}">
                <a16:creationId xmlns:a16="http://schemas.microsoft.com/office/drawing/2014/main" id="{0EF2DA82-4395-B327-3976-2BFBD05AEE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2" name="Picture 4" descr="What Do Fish Eat? Understanding Fish Diets - A-Z Animals">
            <a:extLst>
              <a:ext uri="{FF2B5EF4-FFF2-40B4-BE49-F238E27FC236}">
                <a16:creationId xmlns:a16="http://schemas.microsoft.com/office/drawing/2014/main" id="{507A5EDB-6F6F-150B-6C5A-9AEA28A33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377" y="3959353"/>
            <a:ext cx="3264932" cy="170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230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441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Georgia</vt:lpstr>
      <vt:lpstr>Office Theme</vt:lpstr>
      <vt:lpstr>Workshop técnico para projeto GCF: Mudanças climáticas e impactos das mudanças climáticas em São Tomé e Príncipe, com foco nos setores pesqueiro e turístico em contexto de Economia Azul São Tomé e Príncipe, novembro/dezembro de 2025</vt:lpstr>
      <vt:lpstr>Pescarias em São Tomé e Príncipe: o desafio</vt:lpstr>
      <vt:lpstr>Modelagem baseada em impacto</vt:lpstr>
      <vt:lpstr>Inter-Sectoral Impact Model Intercomparison Project</vt:lpstr>
      <vt:lpstr>Modelos de impacto da biomassa de peixes</vt:lpstr>
      <vt:lpstr>Simulação do impacto climático na biomassa de peixes</vt:lpstr>
      <vt:lpstr>Incorporação da intensidade da pesca nos modelos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Greenrod, Samuel (OCBD)</cp:lastModifiedBy>
  <cp:revision>3</cp:revision>
  <dcterms:created xsi:type="dcterms:W3CDTF">2025-11-12T15:08:01Z</dcterms:created>
  <dcterms:modified xsi:type="dcterms:W3CDTF">2025-11-28T09:38:40Z</dcterms:modified>
</cp:coreProperties>
</file>