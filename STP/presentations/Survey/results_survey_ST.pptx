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"/>
    <p:sldId id="256" r:id="rId3"/>
    <p:sldId id="280" r:id="rId4"/>
    <p:sldId id="279" r:id="rId5"/>
  </p:sldIdLst>
  <p:sldSz cx="12192000" cy="6858000"/>
  <p:notesSz cx="6858000" cy="9144000"/>
  <p:defaultTextStyle>
    <a:defPPr>
      <a:defRPr lang="en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831"/>
    <p:restoredTop sz="94658"/>
  </p:normalViewPr>
  <p:slideViewPr>
    <p:cSldViewPr snapToGrid="0">
      <p:cViewPr varScale="1">
        <p:scale>
          <a:sx n="120" d="100"/>
          <a:sy n="120" d="100"/>
        </p:scale>
        <p:origin x="78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12490-5F93-5087-1947-577CC1E739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9F2E93-1B9A-82FB-570B-2EB4EDEAC7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95C199-83F8-04EB-3236-2C7B8D2AA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1D719-0215-B1DC-2135-73AFE239B9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6F661B-ABB0-BC2B-A53F-C7EDDA1BF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9614482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8E1F14-6A94-9608-BDE2-6CA27A927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E5042-9BF0-7FDD-1952-5DC5B08848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CDEF8F-82C2-314E-19DC-14E127ED0A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4D9BA3-6023-6499-982D-78DEC77F1D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A4BC65-13A8-ABAE-B30F-81EFF6C211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95665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E833-AC08-F184-3C34-F784C9780F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6F66B-F0F9-4970-82B7-631836BAA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39513E-C942-5B4A-3AB3-2855C0D63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C29AA-AF09-BF5C-D597-6615A14CE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B97F11-0440-1396-495F-4B336E5365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6408679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C606A-C9A2-8EA9-AA5B-057AF9FA4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B7912-6B8B-B7F7-94BE-34644BCA49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FE1CA9-DBF3-D895-A911-29CC521953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29E3F3-20C9-83E7-BECA-89AA4564B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5DEF30-0082-19C0-2A09-2324E7628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055C5-89F5-87C3-0F30-A2AEFA73D1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533931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662A9-4ED6-BE61-B566-F445794618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69C9C6-F880-9497-E4D3-843D70EAB9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04E837-FCB5-AF1B-D3DF-7BED451B3E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8F2429-3F52-1792-F4FD-DDA3170293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3D3FDA-8111-277D-B27F-5B82628FB19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235F807-A32A-2BFF-AD08-2EBC7B9FD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D3CA996-65FC-C776-6395-F509A0D9D3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24F8FF-2EBD-6849-0F44-6DC72FD26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8195288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B53DB-9EAB-883C-9570-3E6EE9F54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819E5E-75D2-EA82-E369-B9FF0A5A6E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C81128F-32EF-D62F-4713-C4A260B2EF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B52FD7-AAA4-A2AC-C380-C9E8E1638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6616827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190AD46-55E4-52C5-7D56-21781101E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1BF9D6-31D1-DD24-E2F2-A50E74C06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28D2F2-DE5D-5B17-9738-43E106C5E3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260225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932423-0E54-4577-3A1B-418791116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176E96-DBDE-ACFF-A997-A9B535E57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9B733B-36DC-A870-FD9A-DC47DB188B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6002-A65E-0858-7D15-B081FE6C1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DFA195-68F1-6FB4-1C53-22A5F9E339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C9A1BA-F3CB-E0A0-CC39-B8CAD460E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088894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9A3380-2316-7E49-29BE-1B4B581BF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771F58-E558-4F75-E5B9-D5C3BD4CD8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ADD59F-30C8-9746-B8C3-D8AE0630CD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538C06-B1FA-586A-31B2-CBA0239C3F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8594832-E8F0-E6CE-C432-15F0373851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5FF9A0-4FD5-CF2B-3FC8-75BBD9925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5172109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061751-8FF7-3C75-CF9A-8A814D74A5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8BE9AC-9340-4123-CB6B-A6837C3D6A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13712F-D3D8-5A7C-59D6-8A4A4F89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15E24F-3930-2A6B-1124-8ED1AAB29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7CBE0A-6B3A-BE7D-92D5-A96B131980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25233850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04F9EB-2435-A5D8-7EBB-59796BC0F3E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29012B-35C0-5B8F-A8DE-27532DA6DE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576104-A1F6-F8CD-ED71-65ADAB292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1A8E06-3BF1-8647-D8D1-3BA2D30C8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DB58F1-7F3D-DCB6-973C-30F719073F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36416810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91103E-5CB6-62B6-E105-ADE6A2D0E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6E1033-B870-E0F5-6B4A-68E2DA61AA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42CFC-463C-AB36-19E2-96097D0396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E01112-262A-2648-A829-0A10B0E34E16}" type="datetimeFigureOut">
              <a:rPr lang="en-IT" smtClean="0"/>
              <a:t>04/12/25</a:t>
            </a:fld>
            <a:endParaRPr lang="en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EDD340-8115-4825-682C-0E0955A53E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716857-2DD4-4FEC-A1F9-758B31FC0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E099ECF-CD62-0947-8171-D70ADC6E70EC}" type="slidenum">
              <a:rPr lang="en-IT" smtClean="0"/>
              <a:t>‹#›</a:t>
            </a:fld>
            <a:endParaRPr lang="en-IT"/>
          </a:p>
        </p:txBody>
      </p:sp>
    </p:spTree>
    <p:extLst>
      <p:ext uri="{BB962C8B-B14F-4D97-AF65-F5344CB8AC3E}">
        <p14:creationId xmlns:p14="http://schemas.microsoft.com/office/powerpoint/2010/main" val="17052811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4D7-F4EA-CF5E-D552-74464B3CD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5361E7-4E15-CD6C-8E77-8F89B5B7D5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Resultados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preliminares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da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pesquisa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en Sao Tome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09888D26-7370-8509-4416-30924E0722A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76A18F0-129F-D4F1-D5BD-9C6826AB94BE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465DBE5-7B38-D154-314F-B7ABE5C7A406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921F9B8-11EE-4197-BAF5-5A5EB6D664EE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689C7B9-DBF0-4289-6D9A-D7CEC898F07B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F2D5C065-F1C4-74F3-61B8-06241CFB5626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D18EC2C8-8D2B-E43F-E1FF-B94334997B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1955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graph of activity&#10;&#10;AI-generated content may be incorrect.">
            <a:extLst>
              <a:ext uri="{FF2B5EF4-FFF2-40B4-BE49-F238E27FC236}">
                <a16:creationId xmlns:a16="http://schemas.microsoft.com/office/drawing/2014/main" id="{75053E95-F0F5-6A7F-A940-B1BF647DDF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1" y="0"/>
            <a:ext cx="5704318" cy="6858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AFF9606-8124-ECBC-461A-02DDD0789D6D}"/>
              </a:ext>
            </a:extLst>
          </p:cNvPr>
          <p:cNvSpPr txBox="1"/>
          <p:nvPr/>
        </p:nvSpPr>
        <p:spPr>
          <a:xfrm>
            <a:off x="6836735" y="818707"/>
            <a:ext cx="4380614" cy="64633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ctivity_14=</a:t>
            </a:r>
            <a:r>
              <a:rPr lang="en-GB" dirty="0" err="1"/>
              <a:t>construção</a:t>
            </a:r>
            <a:r>
              <a:rPr lang="en-GB" dirty="0"/>
              <a:t> de </a:t>
            </a:r>
            <a:r>
              <a:rPr lang="en-GB" dirty="0" err="1"/>
              <a:t>valas</a:t>
            </a:r>
            <a:r>
              <a:rPr lang="en-GB" dirty="0"/>
              <a:t> de </a:t>
            </a:r>
            <a:r>
              <a:rPr lang="en-GB" dirty="0" err="1"/>
              <a:t>drenagem</a:t>
            </a:r>
            <a:r>
              <a:rPr lang="en-GB" dirty="0"/>
              <a:t> e </a:t>
            </a:r>
            <a:r>
              <a:rPr lang="en-GB" dirty="0" err="1"/>
              <a:t>reservatórios</a:t>
            </a:r>
            <a:r>
              <a:rPr lang="en-GB" dirty="0"/>
              <a:t> de </a:t>
            </a:r>
            <a:r>
              <a:rPr lang="en-GB" dirty="0" err="1"/>
              <a:t>água</a:t>
            </a:r>
            <a:endParaRPr lang="en-IT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0E026B-3537-673E-F061-E6B26389F7AD}"/>
              </a:ext>
            </a:extLst>
          </p:cNvPr>
          <p:cNvSpPr txBox="1"/>
          <p:nvPr/>
        </p:nvSpPr>
        <p:spPr>
          <a:xfrm>
            <a:off x="6836735" y="1633716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ctivity_11=</a:t>
            </a:r>
            <a:r>
              <a:rPr lang="en-GB" dirty="0" err="1"/>
              <a:t>Estabelecimento</a:t>
            </a:r>
            <a:r>
              <a:rPr lang="en-GB" dirty="0"/>
              <a:t> de um Sistema de </a:t>
            </a:r>
            <a:r>
              <a:rPr lang="en-GB" dirty="0" err="1"/>
              <a:t>Alerta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69A639-F2B0-DB0F-367A-43E418182B2B}"/>
              </a:ext>
            </a:extLst>
          </p:cNvPr>
          <p:cNvSpPr txBox="1"/>
          <p:nvPr/>
        </p:nvSpPr>
        <p:spPr>
          <a:xfrm>
            <a:off x="6836735" y="278266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ctivity_6=</a:t>
            </a:r>
            <a:r>
              <a:rPr lang="en-GB" dirty="0" err="1"/>
              <a:t>Estabelecimento</a:t>
            </a:r>
            <a:r>
              <a:rPr lang="en-GB" dirty="0"/>
              <a:t> e </a:t>
            </a:r>
            <a:r>
              <a:rPr lang="en-GB" dirty="0" err="1"/>
              <a:t>Fiscalização</a:t>
            </a:r>
            <a:r>
              <a:rPr lang="en-GB" dirty="0"/>
              <a:t> de </a:t>
            </a:r>
            <a:r>
              <a:rPr lang="en-GB" dirty="0" err="1"/>
              <a:t>Áreas</a:t>
            </a:r>
            <a:r>
              <a:rPr lang="en-GB" dirty="0"/>
              <a:t> </a:t>
            </a:r>
            <a:r>
              <a:rPr lang="en-GB" dirty="0" err="1"/>
              <a:t>Marinhas</a:t>
            </a:r>
            <a:r>
              <a:rPr lang="en-GB" dirty="0"/>
              <a:t> </a:t>
            </a:r>
            <a:r>
              <a:rPr lang="en-GB" dirty="0" err="1"/>
              <a:t>Protegidas</a:t>
            </a:r>
            <a:endParaRPr lang="en-IT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CBC91C-6340-C728-8FBC-27DE4C8ED113}"/>
              </a:ext>
            </a:extLst>
          </p:cNvPr>
          <p:cNvSpPr txBox="1"/>
          <p:nvPr/>
        </p:nvSpPr>
        <p:spPr>
          <a:xfrm>
            <a:off x="6836735" y="373019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ctivity_8=</a:t>
            </a:r>
            <a:r>
              <a:rPr lang="en-GB" dirty="0" err="1"/>
              <a:t>Estrutura</a:t>
            </a:r>
            <a:r>
              <a:rPr lang="en-GB" dirty="0"/>
              <a:t> </a:t>
            </a:r>
            <a:r>
              <a:rPr lang="en-GB" dirty="0" err="1"/>
              <a:t>regulatória</a:t>
            </a:r>
            <a:r>
              <a:rPr lang="en-GB" dirty="0"/>
              <a:t> para </a:t>
            </a:r>
            <a:r>
              <a:rPr lang="en-GB" dirty="0" err="1"/>
              <a:t>evitar</a:t>
            </a:r>
            <a:r>
              <a:rPr lang="en-GB" dirty="0"/>
              <a:t> a </a:t>
            </a:r>
            <a:r>
              <a:rPr lang="en-GB" dirty="0" err="1"/>
              <a:t>sobrepesca</a:t>
            </a:r>
            <a:endParaRPr lang="en-IT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1FF4275-C236-65AE-4195-D05110126B03}"/>
              </a:ext>
            </a:extLst>
          </p:cNvPr>
          <p:cNvSpPr txBox="1"/>
          <p:nvPr/>
        </p:nvSpPr>
        <p:spPr>
          <a:xfrm>
            <a:off x="6836735" y="467772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ctivity_3=</a:t>
            </a:r>
            <a:r>
              <a:rPr lang="en-GB" dirty="0" err="1"/>
              <a:t>Construção</a:t>
            </a:r>
            <a:r>
              <a:rPr lang="en-GB" dirty="0"/>
              <a:t> de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oficina</a:t>
            </a:r>
            <a:r>
              <a:rPr lang="en-GB" dirty="0"/>
              <a:t> para </a:t>
            </a:r>
            <a:r>
              <a:rPr lang="en-GB" dirty="0" err="1"/>
              <a:t>barcos</a:t>
            </a:r>
            <a:r>
              <a:rPr lang="en-GB" dirty="0"/>
              <a:t> de </a:t>
            </a:r>
            <a:r>
              <a:rPr lang="en-GB" dirty="0" err="1"/>
              <a:t>pesca</a:t>
            </a:r>
            <a:endParaRPr lang="en-IT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1D2A94-7E2D-0460-FD4D-F50168418155}"/>
              </a:ext>
            </a:extLst>
          </p:cNvPr>
          <p:cNvSpPr txBox="1"/>
          <p:nvPr/>
        </p:nvSpPr>
        <p:spPr>
          <a:xfrm>
            <a:off x="6836735" y="5625259"/>
            <a:ext cx="4380614" cy="92333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ctivity_2=</a:t>
            </a:r>
            <a:r>
              <a:rPr lang="en-GB" dirty="0" err="1"/>
              <a:t>Construção</a:t>
            </a:r>
            <a:r>
              <a:rPr lang="en-GB" dirty="0"/>
              <a:t> de mercados </a:t>
            </a:r>
            <a:r>
              <a:rPr lang="en-GB" dirty="0" err="1"/>
              <a:t>varejistas</a:t>
            </a:r>
            <a:r>
              <a:rPr lang="en-GB" dirty="0"/>
              <a:t> com </a:t>
            </a:r>
            <a:r>
              <a:rPr lang="en-GB" dirty="0" err="1"/>
              <a:t>armazenamento</a:t>
            </a:r>
            <a:r>
              <a:rPr lang="en-GB" dirty="0"/>
              <a:t> </a:t>
            </a:r>
            <a:r>
              <a:rPr lang="en-GB" dirty="0" err="1"/>
              <a:t>refrigerado</a:t>
            </a:r>
            <a:r>
              <a:rPr lang="en-GB" dirty="0"/>
              <a:t> e </a:t>
            </a:r>
            <a:r>
              <a:rPr lang="en-GB" dirty="0" err="1"/>
              <a:t>higiene</a:t>
            </a:r>
            <a:r>
              <a:rPr lang="en-GB" dirty="0"/>
              <a:t> de </a:t>
            </a:r>
            <a:r>
              <a:rPr lang="en-GB" dirty="0" err="1"/>
              <a:t>preparação</a:t>
            </a:r>
            <a:endParaRPr lang="en-IT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F12CFC-CF51-E138-282D-902011D9068F}"/>
              </a:ext>
            </a:extLst>
          </p:cNvPr>
          <p:cNvSpPr txBox="1"/>
          <p:nvPr/>
        </p:nvSpPr>
        <p:spPr>
          <a:xfrm>
            <a:off x="5791200" y="1034150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465866-5D18-2D95-D817-7F579435038B}"/>
              </a:ext>
            </a:extLst>
          </p:cNvPr>
          <p:cNvSpPr txBox="1"/>
          <p:nvPr/>
        </p:nvSpPr>
        <p:spPr>
          <a:xfrm>
            <a:off x="4982819" y="4979214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57036C4-101E-D4E5-5250-3D8E42AE24DC}"/>
              </a:ext>
            </a:extLst>
          </p:cNvPr>
          <p:cNvSpPr txBox="1"/>
          <p:nvPr/>
        </p:nvSpPr>
        <p:spPr>
          <a:xfrm>
            <a:off x="5657986" y="1987659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87CB221-7072-8A4A-C930-A9586B0E7776}"/>
              </a:ext>
            </a:extLst>
          </p:cNvPr>
          <p:cNvSpPr txBox="1"/>
          <p:nvPr/>
        </p:nvSpPr>
        <p:spPr>
          <a:xfrm>
            <a:off x="5657985" y="2421503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988017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E017E-DF66-3D4F-C161-8DE474010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9A057C-77CF-80BF-5A32-77009A25C1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060179"/>
            <a:ext cx="9144000" cy="1655762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rgbClr val="0070C0"/>
                </a:solidFill>
                <a:latin typeface="Arial"/>
                <a:cs typeface="Arial"/>
              </a:rPr>
              <a:t>Technical workshop for GCF project: </a:t>
            </a:r>
            <a:r>
              <a:rPr lang="en-GB" sz="2400" dirty="0">
                <a:solidFill>
                  <a:srgbClr val="0070C0"/>
                </a:solidFill>
                <a:latin typeface="Arial"/>
                <a:cs typeface="Arial"/>
              </a:rPr>
              <a:t>Climate change and climate change impacts on São Tomé and Príncipe with a focus on fishery and tourism sectors in a Blue Economy context</a:t>
            </a:r>
            <a:b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>
                <a:solidFill>
                  <a:srgbClr val="0070C0"/>
                </a:solidFill>
                <a:latin typeface="Arial"/>
                <a:cs typeface="Arial"/>
              </a:rPr>
              <a:t>Sao Tome and Principe, November/December 2025</a:t>
            </a:r>
            <a:endParaRPr lang="en-US" sz="3600" dirty="0">
              <a:solidFill>
                <a:srgbClr val="0070C0"/>
              </a:solidFill>
              <a:latin typeface="Arial"/>
              <a:cs typeface="Arial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D3D261-DF07-5B94-E9A1-8968C82534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2502" y="4373677"/>
            <a:ext cx="10621925" cy="1655762"/>
          </a:xfrm>
        </p:spPr>
        <p:txBody>
          <a:bodyPr>
            <a:normAutofit/>
          </a:bodyPr>
          <a:lstStyle/>
          <a:p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Resultados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preliminares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da </a:t>
            </a:r>
            <a:r>
              <a:rPr lang="it-IT" b="1" cap="all" dirty="0" err="1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pesquisa</a:t>
            </a:r>
            <a:r>
              <a:rPr lang="it-IT" b="1" cap="all" dirty="0">
                <a:solidFill>
                  <a:schemeClr val="accent5">
                    <a:lumMod val="75000"/>
                  </a:schemeClr>
                </a:solidFill>
                <a:latin typeface="Georgia" panose="02040502050405020303" pitchFamily="18" charset="0"/>
              </a:rPr>
              <a:t> en principe</a:t>
            </a:r>
          </a:p>
        </p:txBody>
      </p:sp>
      <p:pic>
        <p:nvPicPr>
          <p:cNvPr id="7" name="Picture 6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C372E88D-1B46-D082-6AED-F68C600107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31257"/>
          <a:stretch>
            <a:fillRect/>
          </a:stretch>
        </p:blipFill>
        <p:spPr>
          <a:xfrm>
            <a:off x="594821" y="257459"/>
            <a:ext cx="3014653" cy="1003438"/>
          </a:xfrm>
          <a:prstGeom prst="rect">
            <a:avLst/>
          </a:prstGeom>
        </p:spPr>
      </p:pic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77B9592-4CED-5E33-8CCB-DC536A2D637B}"/>
              </a:ext>
            </a:extLst>
          </p:cNvPr>
          <p:cNvCxnSpPr/>
          <p:nvPr/>
        </p:nvCxnSpPr>
        <p:spPr>
          <a:xfrm>
            <a:off x="968828" y="3935186"/>
            <a:ext cx="1025434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BC31CBB-3EEB-93F2-E9FB-6FC1D0280434}"/>
              </a:ext>
            </a:extLst>
          </p:cNvPr>
          <p:cNvGrpSpPr/>
          <p:nvPr/>
        </p:nvGrpSpPr>
        <p:grpSpPr>
          <a:xfrm>
            <a:off x="-16329" y="1390670"/>
            <a:ext cx="12208329" cy="262452"/>
            <a:chOff x="-16329" y="6677194"/>
            <a:chExt cx="12208329" cy="2624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257BF19-37E9-680C-AF50-5344BFD10A39}"/>
                </a:ext>
              </a:extLst>
            </p:cNvPr>
            <p:cNvSpPr/>
            <p:nvPr/>
          </p:nvSpPr>
          <p:spPr>
            <a:xfrm>
              <a:off x="6384471" y="6678386"/>
              <a:ext cx="3804558" cy="26125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C61345D-9161-5261-7884-FA5F5737A2FF}"/>
                </a:ext>
              </a:extLst>
            </p:cNvPr>
            <p:cNvSpPr/>
            <p:nvPr/>
          </p:nvSpPr>
          <p:spPr>
            <a:xfrm>
              <a:off x="-16329" y="6678388"/>
              <a:ext cx="6400800" cy="261258"/>
            </a:xfrm>
            <a:prstGeom prst="rect">
              <a:avLst/>
            </a:prstGeom>
            <a:solidFill>
              <a:schemeClr val="accent5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C0675AB8-12D1-57B6-AFE9-C1521B09BC42}"/>
                </a:ext>
              </a:extLst>
            </p:cNvPr>
            <p:cNvSpPr/>
            <p:nvPr/>
          </p:nvSpPr>
          <p:spPr>
            <a:xfrm>
              <a:off x="10189029" y="6677194"/>
              <a:ext cx="2002971" cy="26245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648BA912-805A-5A7A-FE9C-85EF808BDE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2166" y="174034"/>
            <a:ext cx="2173726" cy="10868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64205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69D29-F733-D925-7D34-0B1826AFB7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31685BD-97E2-AD3A-08C7-07C5132783E4}"/>
              </a:ext>
            </a:extLst>
          </p:cNvPr>
          <p:cNvSpPr txBox="1"/>
          <p:nvPr/>
        </p:nvSpPr>
        <p:spPr>
          <a:xfrm>
            <a:off x="6836735" y="818707"/>
            <a:ext cx="4380614" cy="646331"/>
          </a:xfrm>
          <a:prstGeom prst="rect">
            <a:avLst/>
          </a:prstGeom>
          <a:noFill/>
          <a:ln w="254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ctivity_14=</a:t>
            </a:r>
            <a:r>
              <a:rPr lang="en-GB" dirty="0" err="1"/>
              <a:t>construção</a:t>
            </a:r>
            <a:r>
              <a:rPr lang="en-GB" dirty="0"/>
              <a:t> de </a:t>
            </a:r>
            <a:r>
              <a:rPr lang="en-GB" dirty="0" err="1"/>
              <a:t>valas</a:t>
            </a:r>
            <a:r>
              <a:rPr lang="en-GB" dirty="0"/>
              <a:t> de </a:t>
            </a:r>
            <a:r>
              <a:rPr lang="en-GB" dirty="0" err="1"/>
              <a:t>drenagem</a:t>
            </a:r>
            <a:r>
              <a:rPr lang="en-GB" dirty="0"/>
              <a:t> e </a:t>
            </a:r>
            <a:r>
              <a:rPr lang="en-GB" dirty="0" err="1"/>
              <a:t>reservatórios</a:t>
            </a:r>
            <a:r>
              <a:rPr lang="en-GB" dirty="0"/>
              <a:t> de </a:t>
            </a:r>
            <a:r>
              <a:rPr lang="en-GB" dirty="0" err="1"/>
              <a:t>água</a:t>
            </a:r>
            <a:endParaRPr lang="en-IT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5EFAAF-10E6-EB29-AA88-CD653BBB0DF4}"/>
              </a:ext>
            </a:extLst>
          </p:cNvPr>
          <p:cNvSpPr txBox="1"/>
          <p:nvPr/>
        </p:nvSpPr>
        <p:spPr>
          <a:xfrm>
            <a:off x="6836735" y="1633716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ctivity_11=</a:t>
            </a:r>
            <a:r>
              <a:rPr lang="en-GB" dirty="0" err="1"/>
              <a:t>Estabelecimento</a:t>
            </a:r>
            <a:r>
              <a:rPr lang="en-GB" dirty="0"/>
              <a:t> de um Sistema de </a:t>
            </a:r>
            <a:r>
              <a:rPr lang="en-GB" dirty="0" err="1"/>
              <a:t>Alerta</a:t>
            </a:r>
            <a:r>
              <a:rPr lang="en-GB" dirty="0"/>
              <a:t> </a:t>
            </a:r>
            <a:r>
              <a:rPr lang="en-GB" dirty="0" err="1"/>
              <a:t>Climático</a:t>
            </a:r>
            <a:endParaRPr lang="en-IT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C87ADB-6D38-DD3F-F0AC-2FFFC7BF6642}"/>
              </a:ext>
            </a:extLst>
          </p:cNvPr>
          <p:cNvSpPr txBox="1"/>
          <p:nvPr/>
        </p:nvSpPr>
        <p:spPr>
          <a:xfrm>
            <a:off x="6836735" y="278266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ctivity_6=</a:t>
            </a:r>
            <a:r>
              <a:rPr lang="en-GB" dirty="0" err="1"/>
              <a:t>Estabelecimento</a:t>
            </a:r>
            <a:r>
              <a:rPr lang="en-GB" dirty="0"/>
              <a:t> e </a:t>
            </a:r>
            <a:r>
              <a:rPr lang="en-GB" dirty="0" err="1"/>
              <a:t>Fiscalização</a:t>
            </a:r>
            <a:r>
              <a:rPr lang="en-GB" dirty="0"/>
              <a:t> de </a:t>
            </a:r>
            <a:r>
              <a:rPr lang="en-GB" dirty="0" err="1"/>
              <a:t>Áreas</a:t>
            </a:r>
            <a:r>
              <a:rPr lang="en-GB" dirty="0"/>
              <a:t> </a:t>
            </a:r>
            <a:r>
              <a:rPr lang="en-GB" dirty="0" err="1"/>
              <a:t>Marinhas</a:t>
            </a:r>
            <a:r>
              <a:rPr lang="en-GB" dirty="0"/>
              <a:t> </a:t>
            </a:r>
            <a:r>
              <a:rPr lang="en-GB" dirty="0" err="1"/>
              <a:t>Protegidas</a:t>
            </a:r>
            <a:endParaRPr lang="en-IT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547B72-4548-C34E-50F9-88A51308173A}"/>
              </a:ext>
            </a:extLst>
          </p:cNvPr>
          <p:cNvSpPr txBox="1"/>
          <p:nvPr/>
        </p:nvSpPr>
        <p:spPr>
          <a:xfrm>
            <a:off x="6836735" y="373019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accent5">
                <a:lumMod val="60000"/>
                <a:lumOff val="4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ctivity_8=</a:t>
            </a:r>
            <a:r>
              <a:rPr lang="en-GB" dirty="0" err="1"/>
              <a:t>Estrutura</a:t>
            </a:r>
            <a:r>
              <a:rPr lang="en-GB" dirty="0"/>
              <a:t> </a:t>
            </a:r>
            <a:r>
              <a:rPr lang="en-GB" dirty="0" err="1"/>
              <a:t>regulatória</a:t>
            </a:r>
            <a:r>
              <a:rPr lang="en-GB" dirty="0"/>
              <a:t> para </a:t>
            </a:r>
            <a:r>
              <a:rPr lang="en-GB" dirty="0" err="1"/>
              <a:t>evitar</a:t>
            </a:r>
            <a:r>
              <a:rPr lang="en-GB" dirty="0"/>
              <a:t> a </a:t>
            </a:r>
            <a:r>
              <a:rPr lang="en-GB" dirty="0" err="1"/>
              <a:t>sobrepesca</a:t>
            </a:r>
            <a:endParaRPr lang="en-IT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DC8E486-B8C1-B042-A81D-4F8C98B48559}"/>
              </a:ext>
            </a:extLst>
          </p:cNvPr>
          <p:cNvSpPr txBox="1"/>
          <p:nvPr/>
        </p:nvSpPr>
        <p:spPr>
          <a:xfrm>
            <a:off x="6836735" y="4677729"/>
            <a:ext cx="4380614" cy="646331"/>
          </a:xfrm>
          <a:prstGeom prst="rect">
            <a:avLst/>
          </a:prstGeom>
          <a:solidFill>
            <a:schemeClr val="bg1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ctivity_3=</a:t>
            </a:r>
            <a:r>
              <a:rPr lang="en-GB" dirty="0" err="1"/>
              <a:t>Construção</a:t>
            </a:r>
            <a:r>
              <a:rPr lang="en-GB" dirty="0"/>
              <a:t> de </a:t>
            </a:r>
            <a:r>
              <a:rPr lang="en-GB" dirty="0" err="1"/>
              <a:t>uma</a:t>
            </a:r>
            <a:r>
              <a:rPr lang="en-GB" dirty="0"/>
              <a:t> </a:t>
            </a:r>
            <a:r>
              <a:rPr lang="en-GB" dirty="0" err="1"/>
              <a:t>oficina</a:t>
            </a:r>
            <a:r>
              <a:rPr lang="en-GB" dirty="0"/>
              <a:t> para </a:t>
            </a:r>
            <a:r>
              <a:rPr lang="en-GB" dirty="0" err="1"/>
              <a:t>barcos</a:t>
            </a:r>
            <a:r>
              <a:rPr lang="en-GB" dirty="0"/>
              <a:t> de </a:t>
            </a:r>
            <a:r>
              <a:rPr lang="en-GB" dirty="0" err="1"/>
              <a:t>pesca</a:t>
            </a:r>
            <a:endParaRPr lang="en-IT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EE0DB2E-6897-0E46-9C51-57A7AE1D310F}"/>
              </a:ext>
            </a:extLst>
          </p:cNvPr>
          <p:cNvSpPr txBox="1"/>
          <p:nvPr/>
        </p:nvSpPr>
        <p:spPr>
          <a:xfrm>
            <a:off x="6836735" y="5625259"/>
            <a:ext cx="4380614" cy="923330"/>
          </a:xfrm>
          <a:prstGeom prst="rect">
            <a:avLst/>
          </a:prstGeom>
          <a:solidFill>
            <a:schemeClr val="bg1"/>
          </a:solidFill>
          <a:ln w="25400">
            <a:solidFill>
              <a:schemeClr val="tx2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/>
              <a:t>A</a:t>
            </a:r>
            <a:r>
              <a:rPr lang="en-IT" dirty="0"/>
              <a:t>ctivity_2=</a:t>
            </a:r>
            <a:r>
              <a:rPr lang="en-GB" dirty="0" err="1"/>
              <a:t>Construção</a:t>
            </a:r>
            <a:r>
              <a:rPr lang="en-GB" dirty="0"/>
              <a:t> de mercados </a:t>
            </a:r>
            <a:r>
              <a:rPr lang="en-GB" dirty="0" err="1"/>
              <a:t>varejistas</a:t>
            </a:r>
            <a:r>
              <a:rPr lang="en-GB" dirty="0"/>
              <a:t> com </a:t>
            </a:r>
            <a:r>
              <a:rPr lang="en-GB" dirty="0" err="1"/>
              <a:t>armazenamento</a:t>
            </a:r>
            <a:r>
              <a:rPr lang="en-GB" dirty="0"/>
              <a:t> </a:t>
            </a:r>
            <a:r>
              <a:rPr lang="en-GB" dirty="0" err="1"/>
              <a:t>refrigerado</a:t>
            </a:r>
            <a:r>
              <a:rPr lang="en-GB" dirty="0"/>
              <a:t> e </a:t>
            </a:r>
            <a:r>
              <a:rPr lang="en-GB" dirty="0" err="1"/>
              <a:t>higiene</a:t>
            </a:r>
            <a:r>
              <a:rPr lang="en-GB" dirty="0"/>
              <a:t> de </a:t>
            </a:r>
            <a:r>
              <a:rPr lang="en-GB" dirty="0" err="1"/>
              <a:t>preparação</a:t>
            </a:r>
            <a:endParaRPr lang="en-IT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04D80A-A3EE-018E-CE70-8BF2931DA6E9}"/>
              </a:ext>
            </a:extLst>
          </p:cNvPr>
          <p:cNvSpPr txBox="1"/>
          <p:nvPr/>
        </p:nvSpPr>
        <p:spPr>
          <a:xfrm>
            <a:off x="5791200" y="1034150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E9C13ED-C276-2315-A87F-187BCFA6D2B7}"/>
              </a:ext>
            </a:extLst>
          </p:cNvPr>
          <p:cNvSpPr txBox="1"/>
          <p:nvPr/>
        </p:nvSpPr>
        <p:spPr>
          <a:xfrm>
            <a:off x="4982819" y="4979214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DF04FA-A9DF-FD3B-BD11-387270063E10}"/>
              </a:ext>
            </a:extLst>
          </p:cNvPr>
          <p:cNvSpPr txBox="1"/>
          <p:nvPr/>
        </p:nvSpPr>
        <p:spPr>
          <a:xfrm>
            <a:off x="5657986" y="1987659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D81F71-33AB-2884-8A28-49FD4A505AA6}"/>
              </a:ext>
            </a:extLst>
          </p:cNvPr>
          <p:cNvSpPr txBox="1"/>
          <p:nvPr/>
        </p:nvSpPr>
        <p:spPr>
          <a:xfrm>
            <a:off x="5657985" y="2421503"/>
            <a:ext cx="8083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T" sz="3200" dirty="0"/>
              <a:t>*</a:t>
            </a:r>
          </a:p>
        </p:txBody>
      </p:sp>
      <p:pic>
        <p:nvPicPr>
          <p:cNvPr id="3" name="Picture 2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49DE576E-4CDE-4378-F7AB-11EB32713B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82" y="0"/>
            <a:ext cx="570431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80959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257</Words>
  <Application>Microsoft Macintosh PowerPoint</Application>
  <PresentationFormat>Widescreen</PresentationFormat>
  <Paragraphs>24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Georgia</vt:lpstr>
      <vt:lpstr>Office Theme</vt:lpstr>
      <vt:lpstr>Technical workshop for GCF project: Climate change and climate change impacts on São Tomé and Príncipe with a focus on fishery and tourism sectors in a Blue Economy context Sao Tome and Principe, November/December 2025</vt:lpstr>
      <vt:lpstr>PowerPoint Presentation</vt:lpstr>
      <vt:lpstr>Technical workshop for GCF project: Climate change and climate change impacts on São Tomé and Príncipe with a focus on fishery and tourism sectors in a Blue Economy context Sao Tome and Principe, November/December 2025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Soldan, Riccardo (OCBD)</dc:creator>
  <cp:lastModifiedBy>Soldan, Riccardo (OCBD)</cp:lastModifiedBy>
  <cp:revision>3</cp:revision>
  <dcterms:created xsi:type="dcterms:W3CDTF">2025-12-01T15:58:53Z</dcterms:created>
  <dcterms:modified xsi:type="dcterms:W3CDTF">2025-12-04T15:52:36Z</dcterms:modified>
</cp:coreProperties>
</file>