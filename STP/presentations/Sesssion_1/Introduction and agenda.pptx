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8" r:id="rId5"/>
    <p:sldId id="261" r:id="rId6"/>
    <p:sldId id="287" r:id="rId7"/>
    <p:sldId id="279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2" autoAdjust="0"/>
    <p:restoredTop sz="94638"/>
  </p:normalViewPr>
  <p:slideViewPr>
    <p:cSldViewPr snapToGrid="0">
      <p:cViewPr varScale="1">
        <p:scale>
          <a:sx n="133" d="100"/>
          <a:sy n="133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Agenda do workshop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Soldan,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and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do workshop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01DA58-E1B3-2C38-03E2-7AA911F9CEC4}"/>
              </a:ext>
            </a:extLst>
          </p:cNvPr>
          <p:cNvSpPr txBox="1"/>
          <p:nvPr/>
        </p:nvSpPr>
        <p:spPr>
          <a:xfrm>
            <a:off x="558800" y="1778226"/>
            <a:ext cx="10795000" cy="2670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T" sz="1700" b="1" dirty="0"/>
              <a:t>Estrutura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Fortalecimento de </a:t>
            </a:r>
            <a:r>
              <a:rPr lang="en-GB" sz="1700" dirty="0" err="1"/>
              <a:t>capacidades</a:t>
            </a:r>
            <a:r>
              <a:rPr lang="en-GB" sz="1700" dirty="0"/>
              <a:t> </a:t>
            </a:r>
            <a:r>
              <a:rPr lang="en-GB" sz="1700" dirty="0" err="1"/>
              <a:t>sobre</a:t>
            </a:r>
            <a:r>
              <a:rPr lang="en-GB" sz="1700" dirty="0"/>
              <a:t> </a:t>
            </a:r>
            <a:r>
              <a:rPr lang="en-GB" sz="1700" dirty="0" err="1"/>
              <a:t>temas-chave</a:t>
            </a:r>
            <a:r>
              <a:rPr lang="en-GB" sz="1700" dirty="0"/>
              <a:t> </a:t>
            </a:r>
            <a:r>
              <a:rPr lang="en-GB" sz="1700" dirty="0" err="1"/>
              <a:t>relacionados</a:t>
            </a:r>
            <a:r>
              <a:rPr lang="en-GB" sz="1700" dirty="0"/>
              <a:t> </a:t>
            </a:r>
            <a:r>
              <a:rPr lang="en-GB" sz="1700" dirty="0" err="1"/>
              <a:t>às</a:t>
            </a:r>
            <a:r>
              <a:rPr lang="en-GB" sz="1700" dirty="0"/>
              <a:t>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r>
              <a:rPr lang="en-GB" sz="1700" dirty="0"/>
              <a:t> e </a:t>
            </a:r>
            <a:r>
              <a:rPr lang="en-GB" sz="1700" dirty="0" err="1"/>
              <a:t>adaptação</a:t>
            </a:r>
            <a:r>
              <a:rPr lang="en-GB" sz="1700" dirty="0"/>
              <a:t> </a:t>
            </a:r>
            <a:r>
              <a:rPr lang="en-GB" sz="1700" dirty="0" err="1"/>
              <a:t>às</a:t>
            </a:r>
            <a:r>
              <a:rPr lang="en-GB" sz="1700" dirty="0"/>
              <a:t>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Fortalecimento de </a:t>
            </a:r>
            <a:r>
              <a:rPr lang="en-GB" sz="1700" dirty="0" err="1"/>
              <a:t>capacidades</a:t>
            </a:r>
            <a:r>
              <a:rPr lang="en-GB" sz="1700" dirty="0"/>
              <a:t> </a:t>
            </a:r>
            <a:r>
              <a:rPr lang="en-GB" sz="1700" dirty="0" err="1"/>
              <a:t>em</a:t>
            </a:r>
            <a:r>
              <a:rPr lang="en-GB" sz="1700" dirty="0"/>
              <a:t> </a:t>
            </a:r>
            <a:r>
              <a:rPr lang="en-GB" sz="1700" dirty="0" err="1"/>
              <a:t>elaboração</a:t>
            </a:r>
            <a:r>
              <a:rPr lang="en-GB" sz="1700" dirty="0"/>
              <a:t> de </a:t>
            </a:r>
            <a:r>
              <a:rPr lang="en-GB" sz="1700" dirty="0" err="1"/>
              <a:t>projetos</a:t>
            </a:r>
            <a:r>
              <a:rPr lang="en-GB" sz="1700" dirty="0"/>
              <a:t> para o Fundo Verde para o </a:t>
            </a:r>
            <a:r>
              <a:rPr lang="en-GB" sz="1700" dirty="0" err="1"/>
              <a:t>Clima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 err="1"/>
              <a:t>Compartilhamento</a:t>
            </a:r>
            <a:r>
              <a:rPr lang="en-GB" sz="1700" dirty="0"/>
              <a:t> dos </a:t>
            </a:r>
            <a:r>
              <a:rPr lang="en-GB" sz="1700" dirty="0" err="1"/>
              <a:t>principais</a:t>
            </a:r>
            <a:r>
              <a:rPr lang="en-GB" sz="1700" dirty="0"/>
              <a:t> </a:t>
            </a:r>
            <a:r>
              <a:rPr lang="en-GB" sz="1700" dirty="0" err="1"/>
              <a:t>resultados</a:t>
            </a:r>
            <a:r>
              <a:rPr lang="en-GB" sz="1700" dirty="0"/>
              <a:t> e </a:t>
            </a:r>
            <a:r>
              <a:rPr lang="en-GB" sz="1700" dirty="0" err="1"/>
              <a:t>conclusões</a:t>
            </a:r>
            <a:r>
              <a:rPr lang="en-GB" sz="1700" dirty="0"/>
              <a:t> do </a:t>
            </a:r>
            <a:r>
              <a:rPr lang="en-GB" sz="1700" dirty="0" err="1"/>
              <a:t>estudo</a:t>
            </a:r>
            <a:r>
              <a:rPr lang="en-GB" sz="1700" dirty="0"/>
              <a:t> </a:t>
            </a:r>
            <a:r>
              <a:rPr lang="en-GB" sz="1700" dirty="0" err="1"/>
              <a:t>realizado</a:t>
            </a:r>
            <a:r>
              <a:rPr lang="en-GB" sz="1700" dirty="0"/>
              <a:t> </a:t>
            </a:r>
            <a:r>
              <a:rPr lang="en-GB" sz="1700" dirty="0" err="1"/>
              <a:t>sobre</a:t>
            </a:r>
            <a:r>
              <a:rPr lang="en-GB" sz="1700" dirty="0"/>
              <a:t> </a:t>
            </a:r>
            <a:r>
              <a:rPr lang="en-GB" sz="1700" dirty="0" err="1"/>
              <a:t>os</a:t>
            </a:r>
            <a:r>
              <a:rPr lang="en-GB" sz="1700" dirty="0"/>
              <a:t> </a:t>
            </a:r>
            <a:r>
              <a:rPr lang="en-GB" sz="1700" dirty="0" err="1"/>
              <a:t>impactos</a:t>
            </a:r>
            <a:r>
              <a:rPr lang="en-GB" sz="1700" dirty="0"/>
              <a:t> das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endParaRPr lang="en-GB" sz="1700" dirty="0"/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 err="1"/>
              <a:t>Cocriação</a:t>
            </a:r>
            <a:r>
              <a:rPr lang="en-GB" sz="1700" dirty="0"/>
              <a:t> / co-</a:t>
            </a:r>
            <a:r>
              <a:rPr lang="en-GB" sz="1700" dirty="0" err="1"/>
              <a:t>desenho</a:t>
            </a:r>
            <a:r>
              <a:rPr lang="en-GB" sz="1700" dirty="0"/>
              <a:t> das </a:t>
            </a:r>
            <a:r>
              <a:rPr lang="en-GB" sz="1700" dirty="0" err="1"/>
              <a:t>atividades</a:t>
            </a:r>
            <a:r>
              <a:rPr lang="en-GB" sz="1700" dirty="0"/>
              <a:t> do </a:t>
            </a:r>
            <a:r>
              <a:rPr lang="en-GB" sz="1700" dirty="0" err="1"/>
              <a:t>projeto</a:t>
            </a:r>
            <a:endParaRPr lang="en-GB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6BEE83-C83A-97EB-769C-54FBA26B356B}"/>
              </a:ext>
            </a:extLst>
          </p:cNvPr>
          <p:cNvSpPr txBox="1"/>
          <p:nvPr/>
        </p:nvSpPr>
        <p:spPr>
          <a:xfrm>
            <a:off x="558800" y="4868225"/>
            <a:ext cx="11309350" cy="188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T" sz="1700" b="1" dirty="0"/>
              <a:t>Resultados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Boa </a:t>
            </a:r>
            <a:r>
              <a:rPr lang="en-GB" sz="1700" dirty="0" err="1"/>
              <a:t>compreensão</a:t>
            </a:r>
            <a:r>
              <a:rPr lang="en-GB" sz="1700" dirty="0"/>
              <a:t> das </a:t>
            </a:r>
            <a:r>
              <a:rPr lang="en-GB" sz="1700" dirty="0" err="1"/>
              <a:t>mudanças</a:t>
            </a:r>
            <a:r>
              <a:rPr lang="en-GB" sz="1700" dirty="0"/>
              <a:t> </a:t>
            </a:r>
            <a:r>
              <a:rPr lang="en-GB" sz="1700" dirty="0" err="1"/>
              <a:t>climáticas</a:t>
            </a:r>
            <a:r>
              <a:rPr lang="en-GB" sz="1700" dirty="0"/>
              <a:t> e de </a:t>
            </a:r>
            <a:r>
              <a:rPr lang="en-GB" sz="1700" dirty="0" err="1"/>
              <a:t>seus</a:t>
            </a:r>
            <a:r>
              <a:rPr lang="en-GB" sz="1700" dirty="0"/>
              <a:t> </a:t>
            </a:r>
            <a:r>
              <a:rPr lang="en-GB" sz="1700" dirty="0" err="1"/>
              <a:t>impactos</a:t>
            </a:r>
            <a:r>
              <a:rPr lang="en-GB" sz="1700" dirty="0"/>
              <a:t> no </a:t>
            </a:r>
            <a:r>
              <a:rPr lang="en-GB" sz="1700" dirty="0" err="1"/>
              <a:t>contexto</a:t>
            </a:r>
            <a:r>
              <a:rPr lang="en-GB" sz="1700" dirty="0"/>
              <a:t> da Economia Azul </a:t>
            </a:r>
            <a:r>
              <a:rPr lang="en-GB" sz="1700" dirty="0" err="1"/>
              <a:t>em</a:t>
            </a:r>
            <a:r>
              <a:rPr lang="en-GB" sz="1700" dirty="0"/>
              <a:t> STP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Boa </a:t>
            </a:r>
            <a:r>
              <a:rPr lang="en-GB" sz="1700" dirty="0" err="1"/>
              <a:t>compreensão</a:t>
            </a:r>
            <a:r>
              <a:rPr lang="en-GB" sz="1700" dirty="0"/>
              <a:t> do </a:t>
            </a:r>
            <a:r>
              <a:rPr lang="en-GB" sz="1700" dirty="0" err="1"/>
              <a:t>objetivo</a:t>
            </a:r>
            <a:r>
              <a:rPr lang="en-GB" sz="1700" dirty="0"/>
              <a:t> de </a:t>
            </a:r>
            <a:r>
              <a:rPr lang="en-GB" sz="1700" dirty="0" err="1"/>
              <a:t>desenvolver</a:t>
            </a:r>
            <a:r>
              <a:rPr lang="en-GB" sz="1700" dirty="0"/>
              <a:t> um </a:t>
            </a:r>
            <a:r>
              <a:rPr lang="en-GB" sz="1700" dirty="0" err="1"/>
              <a:t>projeto</a:t>
            </a:r>
            <a:r>
              <a:rPr lang="en-GB" sz="1700" dirty="0"/>
              <a:t> para o GCF</a:t>
            </a:r>
          </a:p>
          <a:p>
            <a:pPr marL="742950" lvl="1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700" dirty="0"/>
              <a:t>Co-</a:t>
            </a:r>
            <a:r>
              <a:rPr lang="en-GB" sz="1700" dirty="0" err="1"/>
              <a:t>desenho</a:t>
            </a:r>
            <a:r>
              <a:rPr lang="en-GB" sz="1700" dirty="0"/>
              <a:t> das </a:t>
            </a:r>
            <a:r>
              <a:rPr lang="en-GB" sz="1700" dirty="0" err="1"/>
              <a:t>atividades</a:t>
            </a:r>
            <a:r>
              <a:rPr lang="en-GB" sz="1700" dirty="0"/>
              <a:t> do </a:t>
            </a:r>
            <a:r>
              <a:rPr lang="en-GB" sz="1700" dirty="0" err="1"/>
              <a:t>projeto</a:t>
            </a:r>
            <a:r>
              <a:rPr lang="en-GB" sz="1700" dirty="0"/>
              <a:t> para um </a:t>
            </a:r>
            <a:r>
              <a:rPr lang="en-GB" sz="1700" dirty="0" err="1"/>
              <a:t>desenvolvimento</a:t>
            </a:r>
            <a:r>
              <a:rPr lang="en-GB" sz="1700" dirty="0"/>
              <a:t> de </a:t>
            </a:r>
            <a:r>
              <a:rPr lang="en-GB" sz="1700" dirty="0" err="1"/>
              <a:t>projeto</a:t>
            </a:r>
            <a:r>
              <a:rPr lang="en-GB" sz="1700" dirty="0"/>
              <a:t> </a:t>
            </a:r>
            <a:r>
              <a:rPr lang="en-GB" sz="1700" dirty="0" err="1"/>
              <a:t>mais</a:t>
            </a:r>
            <a:r>
              <a:rPr lang="en-GB" sz="1700" dirty="0"/>
              <a:t> </a:t>
            </a:r>
            <a:r>
              <a:rPr lang="en-GB" sz="1700" dirty="0" err="1"/>
              <a:t>participativo</a:t>
            </a:r>
            <a:r>
              <a:rPr lang="en-GB" sz="1700" dirty="0"/>
              <a:t> e de </a:t>
            </a:r>
            <a:r>
              <a:rPr lang="en-GB" sz="1700" dirty="0" err="1"/>
              <a:t>melhor</a:t>
            </a:r>
            <a:r>
              <a:rPr lang="en-GB" sz="1700" dirty="0"/>
              <a:t> </a:t>
            </a:r>
            <a:r>
              <a:rPr lang="en-GB" sz="1700" dirty="0" err="1"/>
              <a:t>qualidade</a:t>
            </a:r>
            <a:endParaRPr lang="en-IT" sz="1700" dirty="0"/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1CD9-024F-0DD0-312B-FE2E3DAB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1564-F498-4F85-7458-637673B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2C63FB-1A32-1AF4-2D96-F1AE80D2959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B8B434-EDD8-B3C4-EE56-234776DCED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B328B4-2CFA-4F16-F90E-6E0063CCBE7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E7F0CD1-567A-244F-648D-13FAA7192FD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988D38-BBC5-0935-1710-25372B4F339E}"/>
              </a:ext>
            </a:extLst>
          </p:cNvPr>
          <p:cNvSpPr txBox="1"/>
          <p:nvPr/>
        </p:nvSpPr>
        <p:spPr>
          <a:xfrm>
            <a:off x="1085551" y="2715884"/>
            <a:ext cx="9034872" cy="17143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Capacitação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e </a:t>
            </a:r>
            <a:r>
              <a:rPr lang="en-GB" dirty="0" err="1"/>
              <a:t>adaptação</a:t>
            </a:r>
            <a:r>
              <a:rPr lang="en-GB" dirty="0"/>
              <a:t> à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endParaRPr lang="pt-BR" dirty="0"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Disseminação dos </a:t>
            </a:r>
            <a:r>
              <a:rPr lang="en-GB" dirty="0" err="1"/>
              <a:t>resultados</a:t>
            </a:r>
            <a:r>
              <a:rPr lang="en-GB" dirty="0"/>
              <a:t> da </a:t>
            </a:r>
            <a:r>
              <a:rPr lang="en-GB" dirty="0" err="1"/>
              <a:t>avaliação</a:t>
            </a:r>
            <a:r>
              <a:rPr lang="en-GB" dirty="0"/>
              <a:t> de </a:t>
            </a:r>
            <a:r>
              <a:rPr lang="en-GB" dirty="0" err="1"/>
              <a:t>risco</a:t>
            </a:r>
            <a:r>
              <a:rPr lang="en-GB" dirty="0"/>
              <a:t> </a:t>
            </a:r>
            <a:r>
              <a:rPr lang="en-GB" dirty="0" err="1"/>
              <a:t>climático</a:t>
            </a:r>
            <a:endParaRPr lang="en-GB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Co-</a:t>
            </a:r>
            <a:r>
              <a:rPr lang="en-GB" dirty="0" err="1"/>
              <a:t>desenho</a:t>
            </a:r>
            <a:r>
              <a:rPr lang="en-GB" dirty="0"/>
              <a:t> de </a:t>
            </a:r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adaptação</a:t>
            </a:r>
            <a:r>
              <a:rPr lang="en-GB" dirty="0"/>
              <a:t> para o </a:t>
            </a:r>
            <a:r>
              <a:rPr lang="en-GB" dirty="0" err="1"/>
              <a:t>desenvolvimento</a:t>
            </a:r>
            <a:r>
              <a:rPr lang="en-GB" dirty="0"/>
              <a:t> de um </a:t>
            </a:r>
            <a:r>
              <a:rPr lang="en-GB" dirty="0" err="1"/>
              <a:t>Projeto</a:t>
            </a:r>
            <a:r>
              <a:rPr lang="en-GB" dirty="0"/>
              <a:t> do GCF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Identificação</a:t>
            </a:r>
            <a:r>
              <a:rPr lang="en-GB" dirty="0"/>
              <a:t> das </a:t>
            </a:r>
            <a:r>
              <a:rPr lang="en-GB" dirty="0" err="1"/>
              <a:t>necessidades</a:t>
            </a:r>
            <a:r>
              <a:rPr lang="en-GB" dirty="0"/>
              <a:t> de </a:t>
            </a:r>
            <a:r>
              <a:rPr lang="en-GB" dirty="0" err="1"/>
              <a:t>treinamento</a:t>
            </a:r>
            <a:endParaRPr lang="pt-BR" dirty="0"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A877C-5315-47C7-7F8D-E823D85D9C02}"/>
              </a:ext>
            </a:extLst>
          </p:cNvPr>
          <p:cNvSpPr/>
          <p:nvPr/>
        </p:nvSpPr>
        <p:spPr>
          <a:xfrm>
            <a:off x="838200" y="2250959"/>
            <a:ext cx="9930809" cy="2773887"/>
          </a:xfrm>
          <a:prstGeom prst="rect">
            <a:avLst/>
          </a:prstGeom>
          <a:noFill/>
          <a:ln w="317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122" name="Picture 2" descr="UNEP / UNDP / WRI Green Climate Fund Readiness Programme">
            <a:extLst>
              <a:ext uri="{FF2B5EF4-FFF2-40B4-BE49-F238E27FC236}">
                <a16:creationId xmlns:a16="http://schemas.microsoft.com/office/drawing/2014/main" id="{8DD60CF4-793D-08C1-9B6F-0CA106E8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4"/>
          <a:stretch>
            <a:fillRect/>
          </a:stretch>
        </p:blipFill>
        <p:spPr bwMode="auto">
          <a:xfrm>
            <a:off x="6373826" y="1328754"/>
            <a:ext cx="5321300" cy="115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57BD-E62B-33D0-5301-05AE516A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BE29-8711-C52B-3DFC-3C9E36F1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493653-4B21-8A86-CE6D-281D2DF4136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6E966E-A824-14A7-3A4D-8AF7A02E905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58E0D7-D259-B5A7-0DEC-2913111D0E0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47CEA1A-DDCB-B2AB-77BA-33DA226DE8BB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3700B5-38F7-02E6-AF0F-D17A88C07AD2}"/>
              </a:ext>
            </a:extLst>
          </p:cNvPr>
          <p:cNvSpPr txBox="1"/>
          <p:nvPr/>
        </p:nvSpPr>
        <p:spPr>
          <a:xfrm>
            <a:off x="423876" y="1485900"/>
            <a:ext cx="11188700" cy="485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b="1" dirty="0"/>
              <a:t>Riccardo Soldan</a:t>
            </a:r>
            <a:r>
              <a:rPr lang="en-GB" sz="1600" dirty="0"/>
              <a:t> </a:t>
            </a:r>
            <a:r>
              <a:rPr lang="en-GB" sz="1600" dirty="0" err="1"/>
              <a:t>possui</a:t>
            </a:r>
            <a:r>
              <a:rPr lang="en-GB" sz="1600" dirty="0"/>
              <a:t> um </a:t>
            </a:r>
            <a:r>
              <a:rPr lang="en-GB" sz="1600" dirty="0" err="1"/>
              <a:t>doutorado</a:t>
            </a:r>
            <a:r>
              <a:rPr lang="en-GB" sz="1600" dirty="0"/>
              <a:t> (Ph.D.)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Biossistemas</a:t>
            </a:r>
            <a:r>
              <a:rPr lang="en-GB" sz="1600" dirty="0"/>
              <a:t> </a:t>
            </a:r>
            <a:r>
              <a:rPr lang="en-GB" sz="1600" dirty="0" err="1"/>
              <a:t>Interdisciplinares</a:t>
            </a:r>
            <a:r>
              <a:rPr lang="en-GB" sz="1600" dirty="0"/>
              <a:t> pela </a:t>
            </a:r>
            <a:r>
              <a:rPr lang="en-GB" sz="1600" dirty="0" err="1"/>
              <a:t>Universidade</a:t>
            </a:r>
            <a:r>
              <a:rPr lang="en-GB" sz="1600" dirty="0"/>
              <a:t> de Oxford, </a:t>
            </a:r>
            <a:r>
              <a:rPr lang="en-GB" sz="1600" dirty="0" err="1"/>
              <a:t>onde</a:t>
            </a:r>
            <a:r>
              <a:rPr lang="en-GB" sz="1600" dirty="0"/>
              <a:t> se </a:t>
            </a:r>
            <a:r>
              <a:rPr lang="en-GB" sz="1600" dirty="0" err="1"/>
              <a:t>especializou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ecossistemas</a:t>
            </a:r>
            <a:r>
              <a:rPr lang="en-GB" sz="1600" dirty="0"/>
              <a:t>, e </a:t>
            </a:r>
            <a:r>
              <a:rPr lang="en-GB" sz="1600" dirty="0" err="1"/>
              <a:t>é</a:t>
            </a:r>
            <a:r>
              <a:rPr lang="en-GB" sz="1600" dirty="0"/>
              <a:t> </a:t>
            </a:r>
            <a:r>
              <a:rPr lang="en-GB" sz="1600" dirty="0" err="1"/>
              <a:t>mestre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Ciência</a:t>
            </a:r>
            <a:r>
              <a:rPr lang="en-GB" sz="1600" dirty="0"/>
              <a:t> de </a:t>
            </a:r>
            <a:r>
              <a:rPr lang="en-GB" sz="1600" dirty="0" err="1"/>
              <a:t>Culturas</a:t>
            </a:r>
            <a:r>
              <a:rPr lang="en-GB" sz="1600" dirty="0"/>
              <a:t>. Ele </a:t>
            </a:r>
            <a:r>
              <a:rPr lang="en-GB" sz="1600" dirty="0" err="1"/>
              <a:t>tem</a:t>
            </a:r>
            <a:r>
              <a:rPr lang="en-GB" sz="1600" dirty="0"/>
              <a:t> </a:t>
            </a:r>
            <a:r>
              <a:rPr lang="en-GB" sz="1600" dirty="0" err="1"/>
              <a:t>vários</a:t>
            </a:r>
            <a:r>
              <a:rPr lang="en-GB" sz="1600" dirty="0"/>
              <a:t> </a:t>
            </a:r>
            <a:r>
              <a:rPr lang="en-GB" sz="1600" dirty="0" err="1"/>
              <a:t>anos</a:t>
            </a:r>
            <a:r>
              <a:rPr lang="en-GB" sz="1600" dirty="0"/>
              <a:t> de </a:t>
            </a:r>
            <a:r>
              <a:rPr lang="en-GB" sz="1600" dirty="0" err="1"/>
              <a:t>experiência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ecossistemas</a:t>
            </a:r>
            <a:r>
              <a:rPr lang="en-GB" sz="1600" dirty="0"/>
              <a:t>, </a:t>
            </a:r>
            <a:r>
              <a:rPr lang="en-GB" sz="1600" dirty="0" err="1"/>
              <a:t>análise</a:t>
            </a:r>
            <a:r>
              <a:rPr lang="en-GB" sz="1600" dirty="0"/>
              <a:t> de </a:t>
            </a:r>
            <a:r>
              <a:rPr lang="en-GB" sz="1600" dirty="0" err="1"/>
              <a:t>riscos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e </a:t>
            </a:r>
            <a:r>
              <a:rPr lang="en-GB" sz="1600" dirty="0" err="1"/>
              <a:t>apoio</a:t>
            </a:r>
            <a:r>
              <a:rPr lang="en-GB" sz="1600" dirty="0"/>
              <a:t> à </a:t>
            </a:r>
            <a:r>
              <a:rPr lang="en-GB" sz="1600" dirty="0" err="1"/>
              <a:t>tomada</a:t>
            </a:r>
            <a:r>
              <a:rPr lang="en-GB" sz="1600" dirty="0"/>
              <a:t> de </a:t>
            </a:r>
            <a:r>
              <a:rPr lang="en-GB" sz="1600" dirty="0" err="1"/>
              <a:t>decisão</a:t>
            </a:r>
            <a:r>
              <a:rPr lang="en-GB" sz="1600" dirty="0"/>
              <a:t> </a:t>
            </a:r>
            <a:r>
              <a:rPr lang="en-GB" sz="1600" dirty="0" err="1"/>
              <a:t>baseada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dados para a </a:t>
            </a:r>
            <a:r>
              <a:rPr lang="en-GB" sz="1600" dirty="0" err="1"/>
              <a:t>agricultura</a:t>
            </a:r>
            <a:r>
              <a:rPr lang="en-GB" sz="1600" dirty="0"/>
              <a:t> e </a:t>
            </a:r>
            <a:r>
              <a:rPr lang="en-GB" sz="1600" dirty="0" err="1"/>
              <a:t>os</a:t>
            </a:r>
            <a:r>
              <a:rPr lang="en-GB" sz="1600" dirty="0"/>
              <a:t> </a:t>
            </a:r>
            <a:r>
              <a:rPr lang="en-GB" sz="1600" dirty="0" err="1"/>
              <a:t>recursos</a:t>
            </a:r>
            <a:r>
              <a:rPr lang="en-GB" sz="1600" dirty="0"/>
              <a:t> </a:t>
            </a:r>
            <a:r>
              <a:rPr lang="en-GB" sz="1600" dirty="0" err="1"/>
              <a:t>naturais</a:t>
            </a:r>
            <a:r>
              <a:rPr lang="en-GB" sz="1600" dirty="0"/>
              <a:t>. Na FAO, Riccardo </a:t>
            </a:r>
            <a:r>
              <a:rPr lang="en-GB" sz="1600" dirty="0" err="1"/>
              <a:t>liderou</a:t>
            </a:r>
            <a:r>
              <a:rPr lang="en-GB" sz="1600" dirty="0"/>
              <a:t> o </a:t>
            </a:r>
            <a:r>
              <a:rPr lang="en-GB" sz="1600" dirty="0" err="1"/>
              <a:t>desenvolvimento</a:t>
            </a:r>
            <a:r>
              <a:rPr lang="en-GB" sz="1600" dirty="0"/>
              <a:t> do </a:t>
            </a:r>
            <a:r>
              <a:rPr lang="en-GB" sz="1600" dirty="0" err="1"/>
              <a:t>quadro</a:t>
            </a:r>
            <a:r>
              <a:rPr lang="en-GB" sz="1600" dirty="0"/>
              <a:t> CAVA – Climate and Agriculture Risk Visualization and Assessment – e de ferramentas </a:t>
            </a:r>
            <a:r>
              <a:rPr lang="en-GB" sz="1600" dirty="0" err="1"/>
              <a:t>agroinformáticas</a:t>
            </a:r>
            <a:r>
              <a:rPr lang="en-GB" sz="1600" dirty="0"/>
              <a:t> </a:t>
            </a:r>
            <a:r>
              <a:rPr lang="en-GB" sz="1600" dirty="0" err="1"/>
              <a:t>associadas</a:t>
            </a:r>
            <a:r>
              <a:rPr lang="en-GB" sz="1600" dirty="0"/>
              <a:t>, para </a:t>
            </a:r>
            <a:r>
              <a:rPr lang="en-GB" sz="1600" dirty="0" err="1"/>
              <a:t>democratizar</a:t>
            </a:r>
            <a:r>
              <a:rPr lang="en-GB" sz="1600" dirty="0"/>
              <a:t> o </a:t>
            </a:r>
            <a:r>
              <a:rPr lang="en-GB" sz="1600" dirty="0" err="1"/>
              <a:t>acesso</a:t>
            </a:r>
            <a:r>
              <a:rPr lang="en-GB" sz="1600" dirty="0"/>
              <a:t> a </a:t>
            </a:r>
            <a:r>
              <a:rPr lang="en-GB" sz="1600" dirty="0" err="1"/>
              <a:t>informações</a:t>
            </a:r>
            <a:r>
              <a:rPr lang="en-GB" sz="1600" dirty="0"/>
              <a:t> </a:t>
            </a:r>
            <a:r>
              <a:rPr lang="en-GB" sz="1600" dirty="0" err="1"/>
              <a:t>sobre</a:t>
            </a:r>
            <a:r>
              <a:rPr lang="en-GB" sz="1600" dirty="0"/>
              <a:t> </a:t>
            </a:r>
            <a:r>
              <a:rPr lang="en-GB" sz="1600" dirty="0" err="1"/>
              <a:t>clima</a:t>
            </a:r>
            <a:r>
              <a:rPr lang="en-GB" sz="1600" dirty="0"/>
              <a:t> e </a:t>
            </a:r>
            <a:r>
              <a:rPr lang="en-GB" sz="1600" dirty="0" err="1"/>
              <a:t>impactos</a:t>
            </a:r>
            <a:r>
              <a:rPr lang="en-GB" sz="1600" dirty="0"/>
              <a:t>, </a:t>
            </a:r>
            <a:r>
              <a:rPr lang="en-GB" sz="1600" dirty="0" err="1"/>
              <a:t>apoiar</a:t>
            </a:r>
            <a:r>
              <a:rPr lang="en-GB" sz="1600" dirty="0"/>
              <a:t> a </a:t>
            </a:r>
            <a:r>
              <a:rPr lang="en-GB" sz="1600" dirty="0" err="1"/>
              <a:t>implementação</a:t>
            </a:r>
            <a:r>
              <a:rPr lang="en-GB" sz="1600" dirty="0"/>
              <a:t> dos </a:t>
            </a:r>
            <a:r>
              <a:rPr lang="en-GB" sz="1600" dirty="0" err="1"/>
              <a:t>Padrões</a:t>
            </a:r>
            <a:r>
              <a:rPr lang="en-GB" sz="1600" dirty="0"/>
              <a:t> </a:t>
            </a:r>
            <a:r>
              <a:rPr lang="en-GB" sz="1600" dirty="0" err="1"/>
              <a:t>Ambientais</a:t>
            </a:r>
            <a:r>
              <a:rPr lang="en-GB" sz="1600" dirty="0"/>
              <a:t> e </a:t>
            </a:r>
            <a:r>
              <a:rPr lang="en-GB" sz="1600" dirty="0" err="1"/>
              <a:t>Sociais</a:t>
            </a:r>
            <a:r>
              <a:rPr lang="en-GB" sz="1600" dirty="0"/>
              <a:t> (ESS) e </a:t>
            </a:r>
            <a:r>
              <a:rPr lang="en-GB" sz="1600" dirty="0" err="1"/>
              <a:t>fortalecer</a:t>
            </a:r>
            <a:r>
              <a:rPr lang="en-GB" sz="1600" dirty="0"/>
              <a:t> a </a:t>
            </a:r>
            <a:r>
              <a:rPr lang="en-GB" sz="1600" dirty="0" err="1"/>
              <a:t>análise</a:t>
            </a:r>
            <a:r>
              <a:rPr lang="en-GB" sz="1600" dirty="0"/>
              <a:t> de </a:t>
            </a:r>
            <a:r>
              <a:rPr lang="en-GB" sz="1600" dirty="0" err="1"/>
              <a:t>riscos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portfólios</a:t>
            </a:r>
            <a:r>
              <a:rPr lang="en-GB" sz="1600" dirty="0"/>
              <a:t> de </a:t>
            </a:r>
            <a:r>
              <a:rPr lang="en-GB" sz="1600" dirty="0" err="1"/>
              <a:t>projetos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países</a:t>
            </a:r>
            <a:r>
              <a:rPr lang="en-GB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endParaRPr lang="en-GB" sz="1600" dirty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b="1" dirty="0"/>
              <a:t>Samuel </a:t>
            </a:r>
            <a:r>
              <a:rPr lang="en-GB" sz="1600" b="1" dirty="0" err="1"/>
              <a:t>Greenrod</a:t>
            </a:r>
            <a:r>
              <a:rPr lang="en-GB" sz="1600" b="1" dirty="0"/>
              <a:t> </a:t>
            </a:r>
            <a:r>
              <a:rPr lang="en-GB" sz="1600" dirty="0" err="1"/>
              <a:t>possui</a:t>
            </a:r>
            <a:r>
              <a:rPr lang="en-GB" sz="1600" dirty="0"/>
              <a:t> um </a:t>
            </a:r>
            <a:r>
              <a:rPr lang="en-GB" sz="1600" dirty="0" err="1"/>
              <a:t>doutorado</a:t>
            </a:r>
            <a:r>
              <a:rPr lang="en-GB" sz="1600" dirty="0"/>
              <a:t> (Ph.D.)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Biossistemas</a:t>
            </a:r>
            <a:r>
              <a:rPr lang="en-GB" sz="1600" dirty="0"/>
              <a:t> </a:t>
            </a:r>
            <a:r>
              <a:rPr lang="en-GB" sz="1600" dirty="0" err="1"/>
              <a:t>Interdisciplinares</a:t>
            </a:r>
            <a:r>
              <a:rPr lang="en-GB" sz="1600" dirty="0"/>
              <a:t> pela </a:t>
            </a:r>
            <a:r>
              <a:rPr lang="en-GB" sz="1600" dirty="0" err="1"/>
              <a:t>Universidade</a:t>
            </a:r>
            <a:r>
              <a:rPr lang="en-GB" sz="1600" dirty="0"/>
              <a:t> de Oxford, no Reino </a:t>
            </a:r>
            <a:r>
              <a:rPr lang="en-GB" sz="1600" dirty="0" err="1"/>
              <a:t>Unido</a:t>
            </a:r>
            <a:r>
              <a:rPr lang="en-GB" sz="1600" dirty="0"/>
              <a:t>, </a:t>
            </a:r>
            <a:r>
              <a:rPr lang="en-GB" sz="1600" dirty="0" err="1"/>
              <a:t>onde</a:t>
            </a:r>
            <a:r>
              <a:rPr lang="en-GB" sz="1600" dirty="0"/>
              <a:t> se </a:t>
            </a:r>
            <a:r>
              <a:rPr lang="en-GB" sz="1600" dirty="0" err="1"/>
              <a:t>especializou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estresse</a:t>
            </a:r>
            <a:r>
              <a:rPr lang="en-GB" sz="1600" dirty="0"/>
              <a:t> </a:t>
            </a:r>
            <a:r>
              <a:rPr lang="en-GB" sz="1600" dirty="0" err="1"/>
              <a:t>térmico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ecossistemas</a:t>
            </a:r>
            <a:r>
              <a:rPr lang="en-GB" sz="1600" dirty="0"/>
              <a:t>, e um </a:t>
            </a:r>
            <a:r>
              <a:rPr lang="en-GB" sz="1600" dirty="0" err="1"/>
              <a:t>mestrado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Biologia</a:t>
            </a:r>
            <a:r>
              <a:rPr lang="en-GB" sz="1600" dirty="0"/>
              <a:t> de </a:t>
            </a:r>
            <a:r>
              <a:rPr lang="en-GB" sz="1600" dirty="0" err="1"/>
              <a:t>Patógenos</a:t>
            </a:r>
            <a:r>
              <a:rPr lang="en-GB" sz="1600" dirty="0"/>
              <a:t> de </a:t>
            </a:r>
            <a:r>
              <a:rPr lang="en-GB" sz="1600" dirty="0" err="1"/>
              <a:t>Culturas</a:t>
            </a:r>
            <a:r>
              <a:rPr lang="en-GB" sz="1600" dirty="0"/>
              <a:t>. Ele </a:t>
            </a:r>
            <a:r>
              <a:rPr lang="en-GB" sz="1600" dirty="0" err="1"/>
              <a:t>tem</a:t>
            </a:r>
            <a:r>
              <a:rPr lang="en-GB" sz="1600" dirty="0"/>
              <a:t> </a:t>
            </a:r>
            <a:r>
              <a:rPr lang="en-GB" sz="1600" dirty="0" err="1"/>
              <a:t>experiência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</a:t>
            </a:r>
            <a:r>
              <a:rPr lang="en-GB" sz="1600" dirty="0" err="1"/>
              <a:t>análises</a:t>
            </a:r>
            <a:r>
              <a:rPr lang="en-GB" sz="1600" dirty="0"/>
              <a:t> de </a:t>
            </a:r>
            <a:r>
              <a:rPr lang="en-GB" sz="1600" dirty="0" err="1"/>
              <a:t>risco</a:t>
            </a:r>
            <a:r>
              <a:rPr lang="en-GB" sz="1600" dirty="0"/>
              <a:t> </a:t>
            </a:r>
            <a:r>
              <a:rPr lang="en-GB" sz="1600" dirty="0" err="1"/>
              <a:t>climático</a:t>
            </a:r>
            <a:r>
              <a:rPr lang="en-GB" sz="1600" dirty="0"/>
              <a:t> e </a:t>
            </a:r>
            <a:r>
              <a:rPr lang="en-GB" sz="1600" dirty="0" err="1"/>
              <a:t>modelagem</a:t>
            </a:r>
            <a:r>
              <a:rPr lang="en-GB" sz="1600" dirty="0"/>
              <a:t> de </a:t>
            </a:r>
            <a:r>
              <a:rPr lang="en-GB" sz="1600" dirty="0" err="1"/>
              <a:t>impactos</a:t>
            </a:r>
            <a:r>
              <a:rPr lang="en-GB" sz="1600" dirty="0"/>
              <a:t> </a:t>
            </a:r>
            <a:r>
              <a:rPr lang="en-GB" sz="1600" dirty="0" err="1"/>
              <a:t>climáticos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setores</a:t>
            </a:r>
            <a:r>
              <a:rPr lang="en-GB" sz="1600" dirty="0"/>
              <a:t> de </a:t>
            </a:r>
            <a:r>
              <a:rPr lang="en-GB" sz="1600" dirty="0" err="1"/>
              <a:t>agricultura</a:t>
            </a:r>
            <a:r>
              <a:rPr lang="en-GB" sz="1600" dirty="0"/>
              <a:t>, </a:t>
            </a:r>
            <a:r>
              <a:rPr lang="en-GB" sz="1600" dirty="0" err="1"/>
              <a:t>florestas</a:t>
            </a:r>
            <a:r>
              <a:rPr lang="en-GB" sz="1600" dirty="0"/>
              <a:t> e </a:t>
            </a:r>
            <a:r>
              <a:rPr lang="en-GB" sz="1600" dirty="0" err="1"/>
              <a:t>pesca</a:t>
            </a:r>
            <a:r>
              <a:rPr lang="en-GB" sz="1600" dirty="0"/>
              <a:t>. Na FAO, Samuel </a:t>
            </a:r>
            <a:r>
              <a:rPr lang="en-GB" sz="1600" dirty="0" err="1"/>
              <a:t>é</a:t>
            </a:r>
            <a:r>
              <a:rPr lang="en-GB" sz="1600" dirty="0"/>
              <a:t> o </a:t>
            </a:r>
            <a:r>
              <a:rPr lang="en-GB" sz="1600" dirty="0" err="1"/>
              <a:t>autor</a:t>
            </a:r>
            <a:r>
              <a:rPr lang="en-GB" sz="1600" dirty="0"/>
              <a:t> principal de um </a:t>
            </a:r>
            <a:r>
              <a:rPr lang="en-GB" sz="1600" dirty="0" err="1"/>
              <a:t>relatório</a:t>
            </a:r>
            <a:r>
              <a:rPr lang="en-GB" sz="1600" dirty="0"/>
              <a:t> de </a:t>
            </a:r>
            <a:r>
              <a:rPr lang="en-GB" sz="1600" dirty="0" err="1"/>
              <a:t>prontidão</a:t>
            </a:r>
            <a:r>
              <a:rPr lang="en-GB" sz="1600" dirty="0"/>
              <a:t> do GCF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avalia</a:t>
            </a:r>
            <a:r>
              <a:rPr lang="en-GB" sz="1600" dirty="0"/>
              <a:t> </a:t>
            </a:r>
            <a:r>
              <a:rPr lang="en-GB" sz="1600" dirty="0" err="1"/>
              <a:t>os</a:t>
            </a:r>
            <a:r>
              <a:rPr lang="en-GB" sz="1600" dirty="0"/>
              <a:t> </a:t>
            </a:r>
            <a:r>
              <a:rPr lang="en-GB" sz="1600" dirty="0" err="1"/>
              <a:t>impactos</a:t>
            </a:r>
            <a:r>
              <a:rPr lang="en-GB" sz="1600" dirty="0"/>
              <a:t> das </a:t>
            </a:r>
            <a:r>
              <a:rPr lang="en-GB" sz="1600" dirty="0" err="1"/>
              <a:t>mudanças</a:t>
            </a:r>
            <a:r>
              <a:rPr lang="en-GB" sz="1600" dirty="0"/>
              <a:t> </a:t>
            </a:r>
            <a:r>
              <a:rPr lang="en-GB" sz="1600" dirty="0" err="1"/>
              <a:t>climáticas</a:t>
            </a:r>
            <a:r>
              <a:rPr lang="en-GB" sz="1600" dirty="0"/>
              <a:t> </a:t>
            </a:r>
            <a:r>
              <a:rPr lang="en-GB" sz="1600" dirty="0" err="1"/>
              <a:t>nos</a:t>
            </a:r>
            <a:r>
              <a:rPr lang="en-GB" sz="1600" dirty="0"/>
              <a:t> </a:t>
            </a:r>
            <a:r>
              <a:rPr lang="en-GB" sz="1600" dirty="0" err="1"/>
              <a:t>setores</a:t>
            </a:r>
            <a:r>
              <a:rPr lang="en-GB" sz="1600" dirty="0"/>
              <a:t> de turismo e </a:t>
            </a:r>
            <a:r>
              <a:rPr lang="en-GB" sz="1600" dirty="0" err="1"/>
              <a:t>pescas</a:t>
            </a:r>
            <a:r>
              <a:rPr lang="en-GB" sz="1600" dirty="0"/>
              <a:t> </a:t>
            </a:r>
            <a:r>
              <a:rPr lang="en-GB" sz="1600" dirty="0" err="1"/>
              <a:t>em</a:t>
            </a:r>
            <a:r>
              <a:rPr lang="en-GB" sz="1600" dirty="0"/>
              <a:t> São Tomé e Príncipe.</a:t>
            </a:r>
            <a:endParaRPr lang="en-IT" sz="1600" dirty="0"/>
          </a:p>
        </p:txBody>
      </p:sp>
    </p:spTree>
    <p:extLst>
      <p:ext uri="{BB962C8B-B14F-4D97-AF65-F5344CB8AC3E}">
        <p14:creationId xmlns:p14="http://schemas.microsoft.com/office/powerpoint/2010/main" val="42020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BF152-8EBC-0C93-CCBD-96ED2C4D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8265-C766-7078-7E51-17DD11AD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F579F-17D9-5B22-7567-C8B5B7F2883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716B46-32B7-22BB-6045-EF8E23436FB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03A666-53D2-7C4F-9519-D80C6A148D0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88D5DAA-C64C-D843-6B39-D3CD313DCA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0172609-C141-1F2F-A411-A9753E7F4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48" y="1562670"/>
            <a:ext cx="5430165" cy="51926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A968FC-A8F7-D661-45F4-C2E816306029}"/>
              </a:ext>
            </a:extLst>
          </p:cNvPr>
          <p:cNvSpPr txBox="1"/>
          <p:nvPr/>
        </p:nvSpPr>
        <p:spPr>
          <a:xfrm>
            <a:off x="6839551" y="3930638"/>
            <a:ext cx="514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Link to all slides: </a:t>
            </a:r>
          </a:p>
          <a:p>
            <a:r>
              <a:rPr lang="en-GB" sz="1600" dirty="0">
                <a:solidFill>
                  <a:srgbClr val="00B0F0"/>
                </a:solidFill>
              </a:rPr>
              <a:t>https://</a:t>
            </a:r>
            <a:r>
              <a:rPr lang="en-GB" sz="1600" dirty="0" err="1">
                <a:solidFill>
                  <a:srgbClr val="00B0F0"/>
                </a:solidFill>
              </a:rPr>
              <a:t>github.com</a:t>
            </a:r>
            <a:r>
              <a:rPr lang="en-GB" sz="1600" dirty="0">
                <a:solidFill>
                  <a:srgbClr val="00B0F0"/>
                </a:solidFill>
              </a:rPr>
              <a:t>/Risk-Team/trainings/tree/main/STP</a:t>
            </a:r>
            <a:endParaRPr lang="en-IT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44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035AC-A83F-3F30-31EC-3FAB0485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1140-8D6C-E5AF-0376-5646D776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AD52E9-673D-BB22-506A-B7F11B878B6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A0BAE1-EA6C-35C0-5698-93A17330B4C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128505-C30A-BF05-3FA6-0AFD5053184D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461B42F-8105-103C-947D-31EB0B23E72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1600DC-E380-4350-02F4-868BE5D2A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7"/>
          <a:stretch>
            <a:fillRect/>
          </a:stretch>
        </p:blipFill>
        <p:spPr>
          <a:xfrm>
            <a:off x="2132026" y="2463281"/>
            <a:ext cx="7772400" cy="277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2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customXml/itemProps3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462</Words>
  <Application>Microsoft Macintosh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Wingdings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Agenda do workshop</vt:lpstr>
      <vt:lpstr>Por que estamos aqui </vt:lpstr>
      <vt:lpstr>Speakers</vt:lpstr>
      <vt:lpstr>Agenda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26</cp:revision>
  <dcterms:created xsi:type="dcterms:W3CDTF">2025-11-12T15:08:01Z</dcterms:created>
  <dcterms:modified xsi:type="dcterms:W3CDTF">2025-11-30T16:37:55Z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