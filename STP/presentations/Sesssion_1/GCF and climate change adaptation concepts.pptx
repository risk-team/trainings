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7" r:id="rId3"/>
    <p:sldId id="282" r:id="rId4"/>
    <p:sldId id="283" r:id="rId5"/>
    <p:sldId id="284" r:id="rId6"/>
    <p:sldId id="288" r:id="rId7"/>
    <p:sldId id="289" r:id="rId8"/>
    <p:sldId id="291" r:id="rId9"/>
    <p:sldId id="290" r:id="rId10"/>
    <p:sldId id="292" r:id="rId11"/>
    <p:sldId id="312" r:id="rId12"/>
    <p:sldId id="293" r:id="rId13"/>
    <p:sldId id="297" r:id="rId14"/>
    <p:sldId id="295" r:id="rId15"/>
    <p:sldId id="294" r:id="rId16"/>
    <p:sldId id="296" r:id="rId17"/>
    <p:sldId id="298" r:id="rId18"/>
    <p:sldId id="300" r:id="rId19"/>
    <p:sldId id="313" r:id="rId20"/>
    <p:sldId id="301" r:id="rId21"/>
    <p:sldId id="302" r:id="rId22"/>
    <p:sldId id="307" r:id="rId23"/>
    <p:sldId id="306" r:id="rId24"/>
    <p:sldId id="304" r:id="rId25"/>
    <p:sldId id="303" r:id="rId26"/>
    <p:sldId id="308" r:id="rId27"/>
    <p:sldId id="309" r:id="rId28"/>
    <p:sldId id="31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9FAC0-9FA5-774B-B0EE-EE67083DACFF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5776D1-DEB1-DD47-926C-4694FAFCC838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1.</a:t>
          </a:r>
          <a:r>
            <a:rPr lang="en-US" sz="900" b="0" i="0"/>
            <a:t> Country and entity work programmes (</a:t>
          </a:r>
          <a:r>
            <a:rPr lang="en-US" sz="900" b="1" i="0" u="sng"/>
            <a:t>NDA</a:t>
          </a:r>
          <a:r>
            <a:rPr lang="en-US" sz="900" b="0" i="0"/>
            <a:t>, GCF, AE)</a:t>
          </a:r>
          <a:endParaRPr lang="en-US" sz="900"/>
        </a:p>
      </dgm:t>
    </dgm:pt>
    <dgm:pt modelId="{F61CDE0B-BA10-5A43-BC71-CD296EC79BF1}" type="parTrans" cxnId="{0A850F9D-4CA3-3E4E-89E8-6839F0E1AF7A}">
      <dgm:prSet/>
      <dgm:spPr/>
      <dgm:t>
        <a:bodyPr/>
        <a:lstStyle/>
        <a:p>
          <a:endParaRPr lang="en-US"/>
        </a:p>
      </dgm:t>
    </dgm:pt>
    <dgm:pt modelId="{B5346A4C-89D2-EF41-8305-2795721EE7F0}" type="sibTrans" cxnId="{0A850F9D-4CA3-3E4E-89E8-6839F0E1AF7A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2DCAFFE1-BEE3-264E-804A-FBBE2080A21E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2.</a:t>
          </a:r>
          <a:r>
            <a:rPr lang="en-US" sz="900" b="0" i="0"/>
            <a:t> Targeted project generation</a:t>
          </a:r>
          <a:endParaRPr lang="en-US" sz="900"/>
        </a:p>
      </dgm:t>
    </dgm:pt>
    <dgm:pt modelId="{3867C055-AF58-A74A-8F0F-F2A41BF6BEE1}" type="parTrans" cxnId="{48727055-FA4F-4D4E-BAE4-90AA5ECE7284}">
      <dgm:prSet/>
      <dgm:spPr/>
      <dgm:t>
        <a:bodyPr/>
        <a:lstStyle/>
        <a:p>
          <a:endParaRPr lang="en-US"/>
        </a:p>
      </dgm:t>
    </dgm:pt>
    <dgm:pt modelId="{4F420AF8-F107-3642-8180-64D43FA689CC}" type="sibTrans" cxnId="{48727055-FA4F-4D4E-BAE4-90AA5ECE7284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80621696-0A17-CA42-B077-86901C39EE41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3.</a:t>
          </a:r>
          <a:r>
            <a:rPr lang="en-US" sz="900" b="0" i="0"/>
            <a:t> Concept note submission (AE, </a:t>
          </a:r>
          <a:r>
            <a:rPr lang="en-US" sz="900" b="1" i="0" u="sng"/>
            <a:t>NDA</a:t>
          </a:r>
          <a:r>
            <a:rPr lang="en-US" sz="900" b="0" i="0"/>
            <a:t>)</a:t>
          </a:r>
          <a:endParaRPr lang="en-US" sz="900"/>
        </a:p>
      </dgm:t>
    </dgm:pt>
    <dgm:pt modelId="{6DA4C779-92EE-2240-B8DD-FEC06EA08B47}" type="parTrans" cxnId="{1D1AD44B-E848-F549-9CC8-4173AC5BB82D}">
      <dgm:prSet/>
      <dgm:spPr/>
      <dgm:t>
        <a:bodyPr/>
        <a:lstStyle/>
        <a:p>
          <a:endParaRPr lang="en-US"/>
        </a:p>
      </dgm:t>
    </dgm:pt>
    <dgm:pt modelId="{D10E664B-FBA4-4B48-9595-C75C2CCBEA89}" type="sibTrans" cxnId="{1D1AD44B-E848-F549-9CC8-4173AC5BB82D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933BDBDC-BD8C-5C4D-8AF0-7DACE850CF79}">
      <dgm:prSet phldrT="[Text]" custT="1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5.</a:t>
          </a:r>
          <a:r>
            <a:rPr lang="en-US" sz="900" b="0" i="0"/>
            <a:t> Funding proposal review</a:t>
          </a:r>
          <a:endParaRPr lang="en-US" sz="900"/>
        </a:p>
      </dgm:t>
    </dgm:pt>
    <dgm:pt modelId="{A63B990E-7B39-E44B-989C-161AF64A8EEE}" type="parTrans" cxnId="{825E2931-1FF5-A74F-8C55-C20A1DC3387E}">
      <dgm:prSet/>
      <dgm:spPr/>
      <dgm:t>
        <a:bodyPr/>
        <a:lstStyle/>
        <a:p>
          <a:endParaRPr lang="en-US"/>
        </a:p>
      </dgm:t>
    </dgm:pt>
    <dgm:pt modelId="{E222B10A-337A-1C45-B802-1AB4F3053F9D}" type="sibTrans" cxnId="{825E2931-1FF5-A74F-8C55-C20A1DC3387E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A27441B1-388E-624F-95C1-00DF2666891D}">
      <dgm:prSet custT="1"/>
      <dgm:spPr>
        <a:solidFill>
          <a:schemeClr val="accent2">
            <a:lumMod val="50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6.</a:t>
          </a:r>
          <a:r>
            <a:rPr lang="en-US" sz="900" b="0" i="0"/>
            <a:t> Board approval</a:t>
          </a:r>
          <a:endParaRPr lang="en-US" sz="900"/>
        </a:p>
      </dgm:t>
    </dgm:pt>
    <dgm:pt modelId="{0668C73B-E625-5A40-8A04-68E18ED95435}" type="parTrans" cxnId="{86D24C34-6C67-3A45-AC86-6B4460257F62}">
      <dgm:prSet/>
      <dgm:spPr/>
      <dgm:t>
        <a:bodyPr/>
        <a:lstStyle/>
        <a:p>
          <a:endParaRPr lang="en-US"/>
        </a:p>
      </dgm:t>
    </dgm:pt>
    <dgm:pt modelId="{3F556FD0-DCDE-2A4B-A837-074932CA1E7E}" type="sibTrans" cxnId="{86D24C34-6C67-3A45-AC86-6B4460257F62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A875EA7-D618-4744-AB27-6032EAA84E2A}">
      <dgm:prSet custT="1"/>
      <dgm:spPr>
        <a:solidFill>
          <a:schemeClr val="accent2">
            <a:lumMod val="50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7.</a:t>
          </a:r>
          <a:r>
            <a:rPr lang="en-US" sz="900" b="0" i="0"/>
            <a:t> Legal arrangements</a:t>
          </a:r>
          <a:endParaRPr lang="en-US" sz="900"/>
        </a:p>
      </dgm:t>
    </dgm:pt>
    <dgm:pt modelId="{9A9C85E4-7E63-AD46-AEA2-A9F0F8676631}" type="parTrans" cxnId="{935105DF-CF8E-DA49-A84D-5FC861408122}">
      <dgm:prSet/>
      <dgm:spPr/>
      <dgm:t>
        <a:bodyPr/>
        <a:lstStyle/>
        <a:p>
          <a:endParaRPr lang="en-US"/>
        </a:p>
      </dgm:t>
    </dgm:pt>
    <dgm:pt modelId="{8D0B9306-FA97-474A-AD0D-C91E5D2BBD91}" type="sibTrans" cxnId="{935105DF-CF8E-DA49-A84D-5FC861408122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D1E544D-392C-FD40-9052-482C909019A2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8.</a:t>
          </a:r>
          <a:r>
            <a:rPr lang="en-US" sz="900" b="0" i="0"/>
            <a:t> Monitoring for performance and compliance</a:t>
          </a:r>
          <a:endParaRPr lang="en-US" sz="900"/>
        </a:p>
      </dgm:t>
    </dgm:pt>
    <dgm:pt modelId="{D10AF2EC-6FB4-1A46-A935-15EFBD1C9293}" type="parTrans" cxnId="{4DB5E41F-107A-E244-97D5-569753011A48}">
      <dgm:prSet/>
      <dgm:spPr/>
      <dgm:t>
        <a:bodyPr/>
        <a:lstStyle/>
        <a:p>
          <a:endParaRPr lang="en-US"/>
        </a:p>
      </dgm:t>
    </dgm:pt>
    <dgm:pt modelId="{6A7BD6B4-4D4E-4A4E-8AC3-671A85699486}" type="sibTrans" cxnId="{4DB5E41F-107A-E244-97D5-569753011A48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A8FC804-FD49-D546-8D01-D0774F5F6DB1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9.</a:t>
          </a:r>
          <a:r>
            <a:rPr lang="en-US" sz="900" b="0" i="0"/>
            <a:t> Adaptive management</a:t>
          </a:r>
          <a:endParaRPr lang="en-US" sz="900"/>
        </a:p>
      </dgm:t>
    </dgm:pt>
    <dgm:pt modelId="{58CF1888-8BDB-8147-A35A-491B7729812F}" type="parTrans" cxnId="{DA51D0AA-C57A-5C46-91BC-62743E632028}">
      <dgm:prSet/>
      <dgm:spPr/>
      <dgm:t>
        <a:bodyPr/>
        <a:lstStyle/>
        <a:p>
          <a:endParaRPr lang="en-US"/>
        </a:p>
      </dgm:t>
    </dgm:pt>
    <dgm:pt modelId="{51FFE112-2EF1-294F-813C-F9978CD1CC7B}" type="sibTrans" cxnId="{DA51D0AA-C57A-5C46-91BC-62743E632028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B754DD04-2DBF-BF42-92B0-B970381F9AFD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10.</a:t>
          </a:r>
          <a:r>
            <a:rPr lang="en-US" sz="900" b="0" i="0"/>
            <a:t> Evaluation, learning and project closure</a:t>
          </a:r>
          <a:endParaRPr lang="en-US" sz="900"/>
        </a:p>
      </dgm:t>
    </dgm:pt>
    <dgm:pt modelId="{1E1FDB9C-2FAE-6A4A-AB68-452210F062C0}" type="parTrans" cxnId="{6B74572D-FAF8-0B49-8B57-76279A0046CB}">
      <dgm:prSet/>
      <dgm:spPr/>
      <dgm:t>
        <a:bodyPr/>
        <a:lstStyle/>
        <a:p>
          <a:endParaRPr lang="en-US"/>
        </a:p>
      </dgm:t>
    </dgm:pt>
    <dgm:pt modelId="{A5645C0A-FB67-814E-B8B1-FA573195F1CD}" type="sibTrans" cxnId="{6B74572D-FAF8-0B49-8B57-76279A0046CB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257C7E13-F894-FC47-A3B8-1872C84DECC9}">
      <dgm:prSet phldrT="[Text]" custT="1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4.</a:t>
          </a:r>
          <a:r>
            <a:rPr lang="en-US" sz="900" b="0" i="0"/>
            <a:t> Funding proposal development</a:t>
          </a:r>
          <a:endParaRPr lang="en-US" sz="900"/>
        </a:p>
      </dgm:t>
    </dgm:pt>
    <dgm:pt modelId="{EED6BFC1-D3B5-BA4E-A4A4-99C196B7D0A6}" type="sibTrans" cxnId="{181C5BA9-D082-524D-B487-A7775B9E4D04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5516CC31-59DD-CB4D-ADE0-856311358E35}" type="parTrans" cxnId="{181C5BA9-D082-524D-B487-A7775B9E4D04}">
      <dgm:prSet/>
      <dgm:spPr/>
      <dgm:t>
        <a:bodyPr/>
        <a:lstStyle/>
        <a:p>
          <a:endParaRPr lang="en-US"/>
        </a:p>
      </dgm:t>
    </dgm:pt>
    <dgm:pt modelId="{97F4392E-0C2B-3647-82DC-A9FA55F584FD}" type="pres">
      <dgm:prSet presAssocID="{00C9FAC0-9FA5-774B-B0EE-EE67083DACFF}" presName="cycle" presStyleCnt="0">
        <dgm:presLayoutVars>
          <dgm:dir/>
          <dgm:resizeHandles val="exact"/>
        </dgm:presLayoutVars>
      </dgm:prSet>
      <dgm:spPr/>
    </dgm:pt>
    <dgm:pt modelId="{31349CED-E16D-6F4A-BA18-0519CBCA02B9}" type="pres">
      <dgm:prSet presAssocID="{E45776D1-DEB1-DD47-926C-4694FAFCC838}" presName="node" presStyleLbl="node1" presStyleIdx="0" presStyleCnt="10" custScaleX="143719" custScaleY="207830">
        <dgm:presLayoutVars>
          <dgm:bulletEnabled val="1"/>
        </dgm:presLayoutVars>
      </dgm:prSet>
      <dgm:spPr/>
    </dgm:pt>
    <dgm:pt modelId="{365E8023-DB2F-4E42-8B3C-04E3482BF184}" type="pres">
      <dgm:prSet presAssocID="{E45776D1-DEB1-DD47-926C-4694FAFCC838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8BB4FB52-BBDD-C543-9774-F432078D7F70}" type="pres">
      <dgm:prSet presAssocID="{B5346A4C-89D2-EF41-8305-2795721EE7F0}" presName="sibTrans" presStyleLbl="sibTrans1D1" presStyleIdx="0" presStyleCnt="10"/>
      <dgm:spPr/>
    </dgm:pt>
    <dgm:pt modelId="{1CCFED3E-ADC9-E44D-A7C6-29175EDB225C}" type="pres">
      <dgm:prSet presAssocID="{2DCAFFE1-BEE3-264E-804A-FBBE2080A21E}" presName="node" presStyleLbl="node1" presStyleIdx="1" presStyleCnt="10" custScaleX="141771" custScaleY="145509">
        <dgm:presLayoutVars>
          <dgm:bulletEnabled val="1"/>
        </dgm:presLayoutVars>
      </dgm:prSet>
      <dgm:spPr/>
    </dgm:pt>
    <dgm:pt modelId="{A5FD3D32-54D9-EE4B-924D-3EFF27183111}" type="pres">
      <dgm:prSet presAssocID="{2DCAFFE1-BEE3-264E-804A-FBBE2080A21E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864F7834-377D-FE46-BEA1-5E9041BA5115}" type="pres">
      <dgm:prSet presAssocID="{4F420AF8-F107-3642-8180-64D43FA689CC}" presName="sibTrans" presStyleLbl="sibTrans1D1" presStyleIdx="1" presStyleCnt="10"/>
      <dgm:spPr/>
    </dgm:pt>
    <dgm:pt modelId="{F4F3F07E-55C9-D545-8786-59FC3102CD05}" type="pres">
      <dgm:prSet presAssocID="{80621696-0A17-CA42-B077-86901C39EE41}" presName="node" presStyleLbl="node1" presStyleIdx="2" presStyleCnt="10" custScaleX="155747" custScaleY="166127">
        <dgm:presLayoutVars>
          <dgm:bulletEnabled val="1"/>
        </dgm:presLayoutVars>
      </dgm:prSet>
      <dgm:spPr/>
    </dgm:pt>
    <dgm:pt modelId="{8584303F-1E5D-B547-9D9B-C9D2B28A3F91}" type="pres">
      <dgm:prSet presAssocID="{80621696-0A17-CA42-B077-86901C39EE41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A030E709-3F50-874C-BC84-8295143C2F7D}" type="pres">
      <dgm:prSet presAssocID="{D10E664B-FBA4-4B48-9595-C75C2CCBEA89}" presName="sibTrans" presStyleLbl="sibTrans1D1" presStyleIdx="2" presStyleCnt="10"/>
      <dgm:spPr/>
    </dgm:pt>
    <dgm:pt modelId="{A8CF6083-F4A9-164A-835E-E6C22BC76C2B}" type="pres">
      <dgm:prSet presAssocID="{257C7E13-F894-FC47-A3B8-1872C84DECC9}" presName="node" presStyleLbl="node1" presStyleIdx="3" presStyleCnt="10" custScaleX="136250" custScaleY="122288">
        <dgm:presLayoutVars>
          <dgm:bulletEnabled val="1"/>
        </dgm:presLayoutVars>
      </dgm:prSet>
      <dgm:spPr/>
    </dgm:pt>
    <dgm:pt modelId="{7ADC7894-FF38-1048-85D4-BF81C03CBC6D}" type="pres">
      <dgm:prSet presAssocID="{257C7E13-F894-FC47-A3B8-1872C84DECC9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9FCFEC1C-BD34-CA44-9E53-35A9F9F418DB}" type="pres">
      <dgm:prSet presAssocID="{EED6BFC1-D3B5-BA4E-A4A4-99C196B7D0A6}" presName="sibTrans" presStyleLbl="sibTrans1D1" presStyleIdx="3" presStyleCnt="10"/>
      <dgm:spPr/>
    </dgm:pt>
    <dgm:pt modelId="{762F314C-C518-624F-96C8-181FC25CCB50}" type="pres">
      <dgm:prSet presAssocID="{933BDBDC-BD8C-5C4D-8AF0-7DACE850CF79}" presName="node" presStyleLbl="node1" presStyleIdx="4" presStyleCnt="10" custScaleX="112662" custScaleY="121793">
        <dgm:presLayoutVars>
          <dgm:bulletEnabled val="1"/>
        </dgm:presLayoutVars>
      </dgm:prSet>
      <dgm:spPr/>
    </dgm:pt>
    <dgm:pt modelId="{9E13AB0C-34F5-9C4F-8925-0D91F097A523}" type="pres">
      <dgm:prSet presAssocID="{933BDBDC-BD8C-5C4D-8AF0-7DACE850CF79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13E8B772-2866-3D47-BFC9-E411F694AEE7}" type="pres">
      <dgm:prSet presAssocID="{E222B10A-337A-1C45-B802-1AB4F3053F9D}" presName="sibTrans" presStyleLbl="sibTrans1D1" presStyleIdx="4" presStyleCnt="10"/>
      <dgm:spPr/>
    </dgm:pt>
    <dgm:pt modelId="{0F781041-8EF5-FE4A-B317-1B48D1A1DF3D}" type="pres">
      <dgm:prSet presAssocID="{A27441B1-388E-624F-95C1-00DF2666891D}" presName="node" presStyleLbl="node1" presStyleIdx="5" presStyleCnt="10" custRadScaleRad="96796" custRadScaleInc="-26673">
        <dgm:presLayoutVars>
          <dgm:bulletEnabled val="1"/>
        </dgm:presLayoutVars>
      </dgm:prSet>
      <dgm:spPr/>
    </dgm:pt>
    <dgm:pt modelId="{DC26A0BD-5905-BE4D-A2B2-4BF0BAD21F94}" type="pres">
      <dgm:prSet presAssocID="{A27441B1-388E-624F-95C1-00DF2666891D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F20957E7-B37E-604C-AA4B-822FB02C3265}" type="pres">
      <dgm:prSet presAssocID="{3F556FD0-DCDE-2A4B-A837-074932CA1E7E}" presName="sibTrans" presStyleLbl="sibTrans1D1" presStyleIdx="5" presStyleCnt="10"/>
      <dgm:spPr/>
    </dgm:pt>
    <dgm:pt modelId="{734405F5-CECB-4A4B-B13B-4D0B1A9366C1}" type="pres">
      <dgm:prSet presAssocID="{6A875EA7-D618-4744-AB27-6032EAA84E2A}" presName="node" presStyleLbl="node1" presStyleIdx="6" presStyleCnt="10" custScaleX="158615" custScaleY="116774" custRadScaleRad="102002" custRadScaleInc="-7549">
        <dgm:presLayoutVars>
          <dgm:bulletEnabled val="1"/>
        </dgm:presLayoutVars>
      </dgm:prSet>
      <dgm:spPr/>
    </dgm:pt>
    <dgm:pt modelId="{A12AD284-F45C-DF49-AE67-C35F7EFB6022}" type="pres">
      <dgm:prSet presAssocID="{6A875EA7-D618-4744-AB27-6032EAA84E2A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29AB8263-4AEA-0D4B-A296-6470A324F36B}" type="pres">
      <dgm:prSet presAssocID="{8D0B9306-FA97-474A-AD0D-C91E5D2BBD91}" presName="sibTrans" presStyleLbl="sibTrans1D1" presStyleIdx="6" presStyleCnt="10"/>
      <dgm:spPr/>
    </dgm:pt>
    <dgm:pt modelId="{2169E69B-E242-0443-A1E4-87C9E7B9E1B4}" type="pres">
      <dgm:prSet presAssocID="{6D1E544D-392C-FD40-9052-482C909019A2}" presName="node" presStyleLbl="node1" presStyleIdx="7" presStyleCnt="10" custScaleX="162421" custScaleY="163760">
        <dgm:presLayoutVars>
          <dgm:bulletEnabled val="1"/>
        </dgm:presLayoutVars>
      </dgm:prSet>
      <dgm:spPr/>
    </dgm:pt>
    <dgm:pt modelId="{44858CBE-A084-6346-8B89-B2C6D1A9376D}" type="pres">
      <dgm:prSet presAssocID="{6D1E544D-392C-FD40-9052-482C909019A2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D98F3EAC-0D06-E341-8202-BDBBEE82B10A}" type="pres">
      <dgm:prSet presAssocID="{6A7BD6B4-4D4E-4A4E-8AC3-671A85699486}" presName="sibTrans" presStyleLbl="sibTrans1D1" presStyleIdx="7" presStyleCnt="10"/>
      <dgm:spPr/>
    </dgm:pt>
    <dgm:pt modelId="{A9F04EB8-6F8B-BB44-A871-875DE64796C0}" type="pres">
      <dgm:prSet presAssocID="{6A8FC804-FD49-D546-8D01-D0774F5F6DB1}" presName="node" presStyleLbl="node1" presStyleIdx="8" presStyleCnt="10" custScaleX="164384" custScaleY="125979">
        <dgm:presLayoutVars>
          <dgm:bulletEnabled val="1"/>
        </dgm:presLayoutVars>
      </dgm:prSet>
      <dgm:spPr/>
    </dgm:pt>
    <dgm:pt modelId="{00A8B485-F6B8-0F48-AB5A-A12BA463D901}" type="pres">
      <dgm:prSet presAssocID="{6A8FC804-FD49-D546-8D01-D0774F5F6DB1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1660B17C-CAD6-2D4C-A6F1-9A66F63E0AEC}" type="pres">
      <dgm:prSet presAssocID="{51FFE112-2EF1-294F-813C-F9978CD1CC7B}" presName="sibTrans" presStyleLbl="sibTrans1D1" presStyleIdx="8" presStyleCnt="10"/>
      <dgm:spPr/>
    </dgm:pt>
    <dgm:pt modelId="{DB0221F7-C1BD-2D43-8597-2DF59E1ADF23}" type="pres">
      <dgm:prSet presAssocID="{B754DD04-2DBF-BF42-92B0-B970381F9AFD}" presName="node" presStyleLbl="node1" presStyleIdx="9" presStyleCnt="10" custScaleX="143715" custScaleY="140491">
        <dgm:presLayoutVars>
          <dgm:bulletEnabled val="1"/>
        </dgm:presLayoutVars>
      </dgm:prSet>
      <dgm:spPr/>
    </dgm:pt>
    <dgm:pt modelId="{B773A33F-4816-3B44-AC2B-38A88FCB5E0A}" type="pres">
      <dgm:prSet presAssocID="{B754DD04-2DBF-BF42-92B0-B970381F9AFD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B65F1A1F-FC0A-2B46-BE66-6C5B84B59CCC}" type="pres">
      <dgm:prSet presAssocID="{A5645C0A-FB67-814E-B8B1-FA573195F1CD}" presName="sibTrans" presStyleLbl="sibTrans1D1" presStyleIdx="9" presStyleCnt="10"/>
      <dgm:spPr/>
    </dgm:pt>
  </dgm:ptLst>
  <dgm:cxnLst>
    <dgm:cxn modelId="{AC23DC0F-C5C7-B14A-B61E-71BECFEC0C89}" type="presOf" srcId="{E45776D1-DEB1-DD47-926C-4694FAFCC838}" destId="{31349CED-E16D-6F4A-BA18-0519CBCA02B9}" srcOrd="0" destOrd="0" presId="urn:microsoft.com/office/officeart/2005/8/layout/cycle5"/>
    <dgm:cxn modelId="{7BD5FF11-2421-F64C-B7E5-EB0F1D63DAB5}" type="presOf" srcId="{257C7E13-F894-FC47-A3B8-1872C84DECC9}" destId="{A8CF6083-F4A9-164A-835E-E6C22BC76C2B}" srcOrd="0" destOrd="0" presId="urn:microsoft.com/office/officeart/2005/8/layout/cycle5"/>
    <dgm:cxn modelId="{D0181617-B814-4D48-8676-05F8241F33C5}" type="presOf" srcId="{8D0B9306-FA97-474A-AD0D-C91E5D2BBD91}" destId="{29AB8263-4AEA-0D4B-A296-6470A324F36B}" srcOrd="0" destOrd="0" presId="urn:microsoft.com/office/officeart/2005/8/layout/cycle5"/>
    <dgm:cxn modelId="{98628A1C-D6AE-2442-93E7-82FED7091896}" type="presOf" srcId="{6D1E544D-392C-FD40-9052-482C909019A2}" destId="{2169E69B-E242-0443-A1E4-87C9E7B9E1B4}" srcOrd="0" destOrd="0" presId="urn:microsoft.com/office/officeart/2005/8/layout/cycle5"/>
    <dgm:cxn modelId="{79CD771D-F6A4-874B-8BCA-6D601652F16E}" type="presOf" srcId="{E222B10A-337A-1C45-B802-1AB4F3053F9D}" destId="{13E8B772-2866-3D47-BFC9-E411F694AEE7}" srcOrd="0" destOrd="0" presId="urn:microsoft.com/office/officeart/2005/8/layout/cycle5"/>
    <dgm:cxn modelId="{4DB5E41F-107A-E244-97D5-569753011A48}" srcId="{00C9FAC0-9FA5-774B-B0EE-EE67083DACFF}" destId="{6D1E544D-392C-FD40-9052-482C909019A2}" srcOrd="7" destOrd="0" parTransId="{D10AF2EC-6FB4-1A46-A935-15EFBD1C9293}" sibTransId="{6A7BD6B4-4D4E-4A4E-8AC3-671A85699486}"/>
    <dgm:cxn modelId="{33C9EF1F-A4F4-264E-B579-C790CFE54A35}" type="presOf" srcId="{80621696-0A17-CA42-B077-86901C39EE41}" destId="{F4F3F07E-55C9-D545-8786-59FC3102CD05}" srcOrd="0" destOrd="0" presId="urn:microsoft.com/office/officeart/2005/8/layout/cycle5"/>
    <dgm:cxn modelId="{B864162B-C7C6-884F-BF4F-C6996ED5F787}" type="presOf" srcId="{B5346A4C-89D2-EF41-8305-2795721EE7F0}" destId="{8BB4FB52-BBDD-C543-9774-F432078D7F70}" srcOrd="0" destOrd="0" presId="urn:microsoft.com/office/officeart/2005/8/layout/cycle5"/>
    <dgm:cxn modelId="{326BE72C-5608-7943-AA8C-0D47AB65D90B}" type="presOf" srcId="{A5645C0A-FB67-814E-B8B1-FA573195F1CD}" destId="{B65F1A1F-FC0A-2B46-BE66-6C5B84B59CCC}" srcOrd="0" destOrd="0" presId="urn:microsoft.com/office/officeart/2005/8/layout/cycle5"/>
    <dgm:cxn modelId="{6B74572D-FAF8-0B49-8B57-76279A0046CB}" srcId="{00C9FAC0-9FA5-774B-B0EE-EE67083DACFF}" destId="{B754DD04-2DBF-BF42-92B0-B970381F9AFD}" srcOrd="9" destOrd="0" parTransId="{1E1FDB9C-2FAE-6A4A-AB68-452210F062C0}" sibTransId="{A5645C0A-FB67-814E-B8B1-FA573195F1CD}"/>
    <dgm:cxn modelId="{825E2931-1FF5-A74F-8C55-C20A1DC3387E}" srcId="{00C9FAC0-9FA5-774B-B0EE-EE67083DACFF}" destId="{933BDBDC-BD8C-5C4D-8AF0-7DACE850CF79}" srcOrd="4" destOrd="0" parTransId="{A63B990E-7B39-E44B-989C-161AF64A8EEE}" sibTransId="{E222B10A-337A-1C45-B802-1AB4F3053F9D}"/>
    <dgm:cxn modelId="{86D24C34-6C67-3A45-AC86-6B4460257F62}" srcId="{00C9FAC0-9FA5-774B-B0EE-EE67083DACFF}" destId="{A27441B1-388E-624F-95C1-00DF2666891D}" srcOrd="5" destOrd="0" parTransId="{0668C73B-E625-5A40-8A04-68E18ED95435}" sibTransId="{3F556FD0-DCDE-2A4B-A837-074932CA1E7E}"/>
    <dgm:cxn modelId="{3420B043-98E4-2D4B-8A5F-23F1C78F382A}" type="presOf" srcId="{6A7BD6B4-4D4E-4A4E-8AC3-671A85699486}" destId="{D98F3EAC-0D06-E341-8202-BDBBEE82B10A}" srcOrd="0" destOrd="0" presId="urn:microsoft.com/office/officeart/2005/8/layout/cycle5"/>
    <dgm:cxn modelId="{1F143647-BCA5-8D4C-A160-6855C2327541}" type="presOf" srcId="{2DCAFFE1-BEE3-264E-804A-FBBE2080A21E}" destId="{1CCFED3E-ADC9-E44D-A7C6-29175EDB225C}" srcOrd="0" destOrd="0" presId="urn:microsoft.com/office/officeart/2005/8/layout/cycle5"/>
    <dgm:cxn modelId="{1D1AD44B-E848-F549-9CC8-4173AC5BB82D}" srcId="{00C9FAC0-9FA5-774B-B0EE-EE67083DACFF}" destId="{80621696-0A17-CA42-B077-86901C39EE41}" srcOrd="2" destOrd="0" parTransId="{6DA4C779-92EE-2240-B8DD-FEC06EA08B47}" sibTransId="{D10E664B-FBA4-4B48-9595-C75C2CCBEA89}"/>
    <dgm:cxn modelId="{48727055-FA4F-4D4E-BAE4-90AA5ECE7284}" srcId="{00C9FAC0-9FA5-774B-B0EE-EE67083DACFF}" destId="{2DCAFFE1-BEE3-264E-804A-FBBE2080A21E}" srcOrd="1" destOrd="0" parTransId="{3867C055-AF58-A74A-8F0F-F2A41BF6BEE1}" sibTransId="{4F420AF8-F107-3642-8180-64D43FA689CC}"/>
    <dgm:cxn modelId="{AE7D5A56-A363-714B-93D9-52907926BA22}" type="presOf" srcId="{3F556FD0-DCDE-2A4B-A837-074932CA1E7E}" destId="{F20957E7-B37E-604C-AA4B-822FB02C3265}" srcOrd="0" destOrd="0" presId="urn:microsoft.com/office/officeart/2005/8/layout/cycle5"/>
    <dgm:cxn modelId="{DAB04C66-825F-B442-A127-06B5120E5E57}" type="presOf" srcId="{EED6BFC1-D3B5-BA4E-A4A4-99C196B7D0A6}" destId="{9FCFEC1C-BD34-CA44-9E53-35A9F9F418DB}" srcOrd="0" destOrd="0" presId="urn:microsoft.com/office/officeart/2005/8/layout/cycle5"/>
    <dgm:cxn modelId="{27D0006C-7CCF-0442-BABA-214ECD715370}" type="presOf" srcId="{D10E664B-FBA4-4B48-9595-C75C2CCBEA89}" destId="{A030E709-3F50-874C-BC84-8295143C2F7D}" srcOrd="0" destOrd="0" presId="urn:microsoft.com/office/officeart/2005/8/layout/cycle5"/>
    <dgm:cxn modelId="{A067B271-3D51-B54A-A63B-E90C165D4812}" type="presOf" srcId="{A27441B1-388E-624F-95C1-00DF2666891D}" destId="{0F781041-8EF5-FE4A-B317-1B48D1A1DF3D}" srcOrd="0" destOrd="0" presId="urn:microsoft.com/office/officeart/2005/8/layout/cycle5"/>
    <dgm:cxn modelId="{0A850F9D-4CA3-3E4E-89E8-6839F0E1AF7A}" srcId="{00C9FAC0-9FA5-774B-B0EE-EE67083DACFF}" destId="{E45776D1-DEB1-DD47-926C-4694FAFCC838}" srcOrd="0" destOrd="0" parTransId="{F61CDE0B-BA10-5A43-BC71-CD296EC79BF1}" sibTransId="{B5346A4C-89D2-EF41-8305-2795721EE7F0}"/>
    <dgm:cxn modelId="{181C5BA9-D082-524D-B487-A7775B9E4D04}" srcId="{00C9FAC0-9FA5-774B-B0EE-EE67083DACFF}" destId="{257C7E13-F894-FC47-A3B8-1872C84DECC9}" srcOrd="3" destOrd="0" parTransId="{5516CC31-59DD-CB4D-ADE0-856311358E35}" sibTransId="{EED6BFC1-D3B5-BA4E-A4A4-99C196B7D0A6}"/>
    <dgm:cxn modelId="{DA51D0AA-C57A-5C46-91BC-62743E632028}" srcId="{00C9FAC0-9FA5-774B-B0EE-EE67083DACFF}" destId="{6A8FC804-FD49-D546-8D01-D0774F5F6DB1}" srcOrd="8" destOrd="0" parTransId="{58CF1888-8BDB-8147-A35A-491B7729812F}" sibTransId="{51FFE112-2EF1-294F-813C-F9978CD1CC7B}"/>
    <dgm:cxn modelId="{D49B73B0-0DEB-7E4E-8A43-4EC8275326D7}" type="presOf" srcId="{6A8FC804-FD49-D546-8D01-D0774F5F6DB1}" destId="{A9F04EB8-6F8B-BB44-A871-875DE64796C0}" srcOrd="0" destOrd="0" presId="urn:microsoft.com/office/officeart/2005/8/layout/cycle5"/>
    <dgm:cxn modelId="{D87ED6B2-15AD-5543-9CBF-1CF8231187D1}" type="presOf" srcId="{51FFE112-2EF1-294F-813C-F9978CD1CC7B}" destId="{1660B17C-CAD6-2D4C-A6F1-9A66F63E0AEC}" srcOrd="0" destOrd="0" presId="urn:microsoft.com/office/officeart/2005/8/layout/cycle5"/>
    <dgm:cxn modelId="{C4FF57B7-AD8C-E34C-9F7D-9027D0523925}" type="presOf" srcId="{6A875EA7-D618-4744-AB27-6032EAA84E2A}" destId="{734405F5-CECB-4A4B-B13B-4D0B1A9366C1}" srcOrd="0" destOrd="0" presId="urn:microsoft.com/office/officeart/2005/8/layout/cycle5"/>
    <dgm:cxn modelId="{CAF3C4C7-EB22-2B44-9742-4FEFD1753321}" type="presOf" srcId="{00C9FAC0-9FA5-774B-B0EE-EE67083DACFF}" destId="{97F4392E-0C2B-3647-82DC-A9FA55F584FD}" srcOrd="0" destOrd="0" presId="urn:microsoft.com/office/officeart/2005/8/layout/cycle5"/>
    <dgm:cxn modelId="{CCFA33D1-F505-B644-A68A-0A040EED33F0}" type="presOf" srcId="{B754DD04-2DBF-BF42-92B0-B970381F9AFD}" destId="{DB0221F7-C1BD-2D43-8597-2DF59E1ADF23}" srcOrd="0" destOrd="0" presId="urn:microsoft.com/office/officeart/2005/8/layout/cycle5"/>
    <dgm:cxn modelId="{FB2ACCDA-1180-9A4D-9234-AC43BC7355AC}" type="presOf" srcId="{933BDBDC-BD8C-5C4D-8AF0-7DACE850CF79}" destId="{762F314C-C518-624F-96C8-181FC25CCB50}" srcOrd="0" destOrd="0" presId="urn:microsoft.com/office/officeart/2005/8/layout/cycle5"/>
    <dgm:cxn modelId="{9B9CEBDB-4CD9-854F-AF51-CD069D3C01A0}" type="presOf" srcId="{4F420AF8-F107-3642-8180-64D43FA689CC}" destId="{864F7834-377D-FE46-BEA1-5E9041BA5115}" srcOrd="0" destOrd="0" presId="urn:microsoft.com/office/officeart/2005/8/layout/cycle5"/>
    <dgm:cxn modelId="{935105DF-CF8E-DA49-A84D-5FC861408122}" srcId="{00C9FAC0-9FA5-774B-B0EE-EE67083DACFF}" destId="{6A875EA7-D618-4744-AB27-6032EAA84E2A}" srcOrd="6" destOrd="0" parTransId="{9A9C85E4-7E63-AD46-AEA2-A9F0F8676631}" sibTransId="{8D0B9306-FA97-474A-AD0D-C91E5D2BBD91}"/>
    <dgm:cxn modelId="{4E70FBED-2C31-6844-AF5E-875EB248EE9C}" type="presParOf" srcId="{97F4392E-0C2B-3647-82DC-A9FA55F584FD}" destId="{31349CED-E16D-6F4A-BA18-0519CBCA02B9}" srcOrd="0" destOrd="0" presId="urn:microsoft.com/office/officeart/2005/8/layout/cycle5"/>
    <dgm:cxn modelId="{E6A119D4-D224-814D-AB1D-EB61B01BA60A}" type="presParOf" srcId="{97F4392E-0C2B-3647-82DC-A9FA55F584FD}" destId="{365E8023-DB2F-4E42-8B3C-04E3482BF184}" srcOrd="1" destOrd="0" presId="urn:microsoft.com/office/officeart/2005/8/layout/cycle5"/>
    <dgm:cxn modelId="{E2222CC4-6E43-094B-AC5F-71616F8BF4D9}" type="presParOf" srcId="{97F4392E-0C2B-3647-82DC-A9FA55F584FD}" destId="{8BB4FB52-BBDD-C543-9774-F432078D7F70}" srcOrd="2" destOrd="0" presId="urn:microsoft.com/office/officeart/2005/8/layout/cycle5"/>
    <dgm:cxn modelId="{75D83894-0D54-D045-B664-AB3BDEE5452C}" type="presParOf" srcId="{97F4392E-0C2B-3647-82DC-A9FA55F584FD}" destId="{1CCFED3E-ADC9-E44D-A7C6-29175EDB225C}" srcOrd="3" destOrd="0" presId="urn:microsoft.com/office/officeart/2005/8/layout/cycle5"/>
    <dgm:cxn modelId="{6F5E12AD-EFDA-E24B-8038-204DEE1130EF}" type="presParOf" srcId="{97F4392E-0C2B-3647-82DC-A9FA55F584FD}" destId="{A5FD3D32-54D9-EE4B-924D-3EFF27183111}" srcOrd="4" destOrd="0" presId="urn:microsoft.com/office/officeart/2005/8/layout/cycle5"/>
    <dgm:cxn modelId="{93D0158A-604E-3040-AC2A-9F0C08C20B36}" type="presParOf" srcId="{97F4392E-0C2B-3647-82DC-A9FA55F584FD}" destId="{864F7834-377D-FE46-BEA1-5E9041BA5115}" srcOrd="5" destOrd="0" presId="urn:microsoft.com/office/officeart/2005/8/layout/cycle5"/>
    <dgm:cxn modelId="{3984A1EC-C5D0-8548-A999-245D22E60AB4}" type="presParOf" srcId="{97F4392E-0C2B-3647-82DC-A9FA55F584FD}" destId="{F4F3F07E-55C9-D545-8786-59FC3102CD05}" srcOrd="6" destOrd="0" presId="urn:microsoft.com/office/officeart/2005/8/layout/cycle5"/>
    <dgm:cxn modelId="{3AA53AAA-F436-164E-91C0-86676C349C7C}" type="presParOf" srcId="{97F4392E-0C2B-3647-82DC-A9FA55F584FD}" destId="{8584303F-1E5D-B547-9D9B-C9D2B28A3F91}" srcOrd="7" destOrd="0" presId="urn:microsoft.com/office/officeart/2005/8/layout/cycle5"/>
    <dgm:cxn modelId="{D191764A-F447-174F-9A6E-AAB8B890AFF2}" type="presParOf" srcId="{97F4392E-0C2B-3647-82DC-A9FA55F584FD}" destId="{A030E709-3F50-874C-BC84-8295143C2F7D}" srcOrd="8" destOrd="0" presId="urn:microsoft.com/office/officeart/2005/8/layout/cycle5"/>
    <dgm:cxn modelId="{A2E10450-C4CB-B447-9271-FBEB00CB859D}" type="presParOf" srcId="{97F4392E-0C2B-3647-82DC-A9FA55F584FD}" destId="{A8CF6083-F4A9-164A-835E-E6C22BC76C2B}" srcOrd="9" destOrd="0" presId="urn:microsoft.com/office/officeart/2005/8/layout/cycle5"/>
    <dgm:cxn modelId="{4BB49270-F218-B04D-A29F-C7142E6DCDE7}" type="presParOf" srcId="{97F4392E-0C2B-3647-82DC-A9FA55F584FD}" destId="{7ADC7894-FF38-1048-85D4-BF81C03CBC6D}" srcOrd="10" destOrd="0" presId="urn:microsoft.com/office/officeart/2005/8/layout/cycle5"/>
    <dgm:cxn modelId="{E829189E-8192-AB4D-A657-35274C0524F9}" type="presParOf" srcId="{97F4392E-0C2B-3647-82DC-A9FA55F584FD}" destId="{9FCFEC1C-BD34-CA44-9E53-35A9F9F418DB}" srcOrd="11" destOrd="0" presId="urn:microsoft.com/office/officeart/2005/8/layout/cycle5"/>
    <dgm:cxn modelId="{7BDA845C-C7C8-B947-82CB-99A9807E1D7A}" type="presParOf" srcId="{97F4392E-0C2B-3647-82DC-A9FA55F584FD}" destId="{762F314C-C518-624F-96C8-181FC25CCB50}" srcOrd="12" destOrd="0" presId="urn:microsoft.com/office/officeart/2005/8/layout/cycle5"/>
    <dgm:cxn modelId="{55EA7EC7-79C3-444B-ABA2-3BE8F6178D62}" type="presParOf" srcId="{97F4392E-0C2B-3647-82DC-A9FA55F584FD}" destId="{9E13AB0C-34F5-9C4F-8925-0D91F097A523}" srcOrd="13" destOrd="0" presId="urn:microsoft.com/office/officeart/2005/8/layout/cycle5"/>
    <dgm:cxn modelId="{EA7B3C4F-20FC-EB45-975F-0707CFFF851D}" type="presParOf" srcId="{97F4392E-0C2B-3647-82DC-A9FA55F584FD}" destId="{13E8B772-2866-3D47-BFC9-E411F694AEE7}" srcOrd="14" destOrd="0" presId="urn:microsoft.com/office/officeart/2005/8/layout/cycle5"/>
    <dgm:cxn modelId="{2C7FA719-18E3-1B4B-B65F-FBB3CEE815B5}" type="presParOf" srcId="{97F4392E-0C2B-3647-82DC-A9FA55F584FD}" destId="{0F781041-8EF5-FE4A-B317-1B48D1A1DF3D}" srcOrd="15" destOrd="0" presId="urn:microsoft.com/office/officeart/2005/8/layout/cycle5"/>
    <dgm:cxn modelId="{8C9D3C37-8C6C-114F-9665-4338584604FE}" type="presParOf" srcId="{97F4392E-0C2B-3647-82DC-A9FA55F584FD}" destId="{DC26A0BD-5905-BE4D-A2B2-4BF0BAD21F94}" srcOrd="16" destOrd="0" presId="urn:microsoft.com/office/officeart/2005/8/layout/cycle5"/>
    <dgm:cxn modelId="{1A54E9A5-5B4C-2943-B313-66A128D5D8EA}" type="presParOf" srcId="{97F4392E-0C2B-3647-82DC-A9FA55F584FD}" destId="{F20957E7-B37E-604C-AA4B-822FB02C3265}" srcOrd="17" destOrd="0" presId="urn:microsoft.com/office/officeart/2005/8/layout/cycle5"/>
    <dgm:cxn modelId="{E13A1EDF-AF23-144D-8873-B6DC76B0AA9D}" type="presParOf" srcId="{97F4392E-0C2B-3647-82DC-A9FA55F584FD}" destId="{734405F5-CECB-4A4B-B13B-4D0B1A9366C1}" srcOrd="18" destOrd="0" presId="urn:microsoft.com/office/officeart/2005/8/layout/cycle5"/>
    <dgm:cxn modelId="{CD66C0BC-4768-224A-89A7-9CBDB7850876}" type="presParOf" srcId="{97F4392E-0C2B-3647-82DC-A9FA55F584FD}" destId="{A12AD284-F45C-DF49-AE67-C35F7EFB6022}" srcOrd="19" destOrd="0" presId="urn:microsoft.com/office/officeart/2005/8/layout/cycle5"/>
    <dgm:cxn modelId="{A95DBE0A-7C8D-284D-8783-D6B2FF531F37}" type="presParOf" srcId="{97F4392E-0C2B-3647-82DC-A9FA55F584FD}" destId="{29AB8263-4AEA-0D4B-A296-6470A324F36B}" srcOrd="20" destOrd="0" presId="urn:microsoft.com/office/officeart/2005/8/layout/cycle5"/>
    <dgm:cxn modelId="{6E5C3E16-B3DE-8A4C-B24D-7B522994B714}" type="presParOf" srcId="{97F4392E-0C2B-3647-82DC-A9FA55F584FD}" destId="{2169E69B-E242-0443-A1E4-87C9E7B9E1B4}" srcOrd="21" destOrd="0" presId="urn:microsoft.com/office/officeart/2005/8/layout/cycle5"/>
    <dgm:cxn modelId="{76E05CBD-EF50-7447-B2A5-D2362B6EA1F9}" type="presParOf" srcId="{97F4392E-0C2B-3647-82DC-A9FA55F584FD}" destId="{44858CBE-A084-6346-8B89-B2C6D1A9376D}" srcOrd="22" destOrd="0" presId="urn:microsoft.com/office/officeart/2005/8/layout/cycle5"/>
    <dgm:cxn modelId="{5E32A595-4953-934A-9A71-8AA39D66C6D0}" type="presParOf" srcId="{97F4392E-0C2B-3647-82DC-A9FA55F584FD}" destId="{D98F3EAC-0D06-E341-8202-BDBBEE82B10A}" srcOrd="23" destOrd="0" presId="urn:microsoft.com/office/officeart/2005/8/layout/cycle5"/>
    <dgm:cxn modelId="{9D1DC0CE-90D5-F441-B1C1-022B149DD5B4}" type="presParOf" srcId="{97F4392E-0C2B-3647-82DC-A9FA55F584FD}" destId="{A9F04EB8-6F8B-BB44-A871-875DE64796C0}" srcOrd="24" destOrd="0" presId="urn:microsoft.com/office/officeart/2005/8/layout/cycle5"/>
    <dgm:cxn modelId="{BB90CBBD-A2B7-2543-956D-707FA8E44008}" type="presParOf" srcId="{97F4392E-0C2B-3647-82DC-A9FA55F584FD}" destId="{00A8B485-F6B8-0F48-AB5A-A12BA463D901}" srcOrd="25" destOrd="0" presId="urn:microsoft.com/office/officeart/2005/8/layout/cycle5"/>
    <dgm:cxn modelId="{AE4404E9-4F72-1E4A-95AA-55FD7302E853}" type="presParOf" srcId="{97F4392E-0C2B-3647-82DC-A9FA55F584FD}" destId="{1660B17C-CAD6-2D4C-A6F1-9A66F63E0AEC}" srcOrd="26" destOrd="0" presId="urn:microsoft.com/office/officeart/2005/8/layout/cycle5"/>
    <dgm:cxn modelId="{9A1898EA-D76F-734C-B0AC-383AA97C55CC}" type="presParOf" srcId="{97F4392E-0C2B-3647-82DC-A9FA55F584FD}" destId="{DB0221F7-C1BD-2D43-8597-2DF59E1ADF23}" srcOrd="27" destOrd="0" presId="urn:microsoft.com/office/officeart/2005/8/layout/cycle5"/>
    <dgm:cxn modelId="{BA6AD5B3-2267-8246-88C2-CE4853F6554F}" type="presParOf" srcId="{97F4392E-0C2B-3647-82DC-A9FA55F584FD}" destId="{B773A33F-4816-3B44-AC2B-38A88FCB5E0A}" srcOrd="28" destOrd="0" presId="urn:microsoft.com/office/officeart/2005/8/layout/cycle5"/>
    <dgm:cxn modelId="{A5F44EAA-AB58-4C4D-95C7-A9D2AD49B5D7}" type="presParOf" srcId="{97F4392E-0C2B-3647-82DC-A9FA55F584FD}" destId="{B65F1A1F-FC0A-2B46-BE66-6C5B84B59CCC}" srcOrd="29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49CED-E16D-6F4A-BA18-0519CBCA02B9}">
      <dsp:nvSpPr>
        <dsp:cNvPr id="0" name=""/>
        <dsp:cNvSpPr/>
      </dsp:nvSpPr>
      <dsp:spPr>
        <a:xfrm>
          <a:off x="2496602" y="-115355"/>
          <a:ext cx="967845" cy="909732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1.</a:t>
          </a:r>
          <a:r>
            <a:rPr lang="en-US" sz="900" b="0" i="0" kern="1200"/>
            <a:t> Country and entity work programmes (</a:t>
          </a:r>
          <a:r>
            <a:rPr lang="en-US" sz="900" b="1" i="0" u="sng" kern="1200"/>
            <a:t>NDA</a:t>
          </a:r>
          <a:r>
            <a:rPr lang="en-US" sz="900" b="0" i="0" kern="1200"/>
            <a:t>, GCF, AE)</a:t>
          </a:r>
          <a:endParaRPr lang="en-US" sz="900" kern="1200"/>
        </a:p>
      </dsp:txBody>
      <dsp:txXfrm>
        <a:off x="2541011" y="-70946"/>
        <a:ext cx="879027" cy="820914"/>
      </dsp:txXfrm>
    </dsp:sp>
    <dsp:sp modelId="{8BB4FB52-BBDD-C543-9774-F432078D7F70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326796" y="71684"/>
              </a:moveTo>
              <a:arcTo wR="1820908" hR="1820908" stAng="17167816" swAng="12931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FED3E-ADC9-E44D-A7C6-29175EDB225C}">
      <dsp:nvSpPr>
        <dsp:cNvPr id="0" name=""/>
        <dsp:cNvSpPr/>
      </dsp:nvSpPr>
      <dsp:spPr>
        <a:xfrm>
          <a:off x="3573464" y="368805"/>
          <a:ext cx="954727" cy="636934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2.</a:t>
          </a:r>
          <a:r>
            <a:rPr lang="en-US" sz="900" b="0" i="0" kern="1200"/>
            <a:t> Targeted project generation</a:t>
          </a:r>
          <a:endParaRPr lang="en-US" sz="900" kern="1200"/>
        </a:p>
      </dsp:txBody>
      <dsp:txXfrm>
        <a:off x="3604557" y="399898"/>
        <a:ext cx="892541" cy="574748"/>
      </dsp:txXfrm>
    </dsp:sp>
    <dsp:sp modelId="{864F7834-377D-FE46-BEA1-5E9041BA5115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263575" y="709864"/>
              </a:moveTo>
              <a:arcTo wR="1820908" hR="1820908" stAng="19343939" swAng="31621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3F07E-55C9-D545-8786-59FC3102CD05}">
      <dsp:nvSpPr>
        <dsp:cNvPr id="0" name=""/>
        <dsp:cNvSpPr/>
      </dsp:nvSpPr>
      <dsp:spPr>
        <a:xfrm>
          <a:off x="4187889" y="1234134"/>
          <a:ext cx="1048845" cy="727185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3.</a:t>
          </a:r>
          <a:r>
            <a:rPr lang="en-US" sz="900" b="0" i="0" kern="1200"/>
            <a:t> Concept note submission (AE, </a:t>
          </a:r>
          <a:r>
            <a:rPr lang="en-US" sz="900" b="1" i="0" u="sng" kern="1200"/>
            <a:t>NDA</a:t>
          </a:r>
          <a:r>
            <a:rPr lang="en-US" sz="900" b="0" i="0" kern="1200"/>
            <a:t>)</a:t>
          </a:r>
          <a:endParaRPr lang="en-US" sz="900" kern="1200"/>
        </a:p>
      </dsp:txBody>
      <dsp:txXfrm>
        <a:off x="4223387" y="1269632"/>
        <a:ext cx="977849" cy="656189"/>
      </dsp:txXfrm>
    </dsp:sp>
    <dsp:sp modelId="{A030E709-3F50-874C-BC84-8295143C2F7D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639036" y="1720326"/>
              </a:moveTo>
              <a:arcTo wR="1820908" hR="1820908" stAng="21410011" swAng="56283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CF6083-F4A9-164A-835E-E6C22BC76C2B}">
      <dsp:nvSpPr>
        <dsp:cNvPr id="0" name=""/>
        <dsp:cNvSpPr/>
      </dsp:nvSpPr>
      <dsp:spPr>
        <a:xfrm>
          <a:off x="4253538" y="2455465"/>
          <a:ext cx="917547" cy="53528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4.</a:t>
          </a:r>
          <a:r>
            <a:rPr lang="en-US" sz="900" b="0" i="0" kern="1200"/>
            <a:t> Funding proposal development</a:t>
          </a:r>
          <a:endParaRPr lang="en-US" sz="900" kern="1200"/>
        </a:p>
      </dsp:txBody>
      <dsp:txXfrm>
        <a:off x="4279669" y="2481596"/>
        <a:ext cx="865285" cy="483027"/>
      </dsp:txXfrm>
    </dsp:sp>
    <dsp:sp modelId="{9FCFEC1C-BD34-CA44-9E53-35A9F9F418DB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397923" y="2731254"/>
              </a:moveTo>
              <a:arcTo wR="1820908" hR="1820908" stAng="1799765" swAng="51826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F314C-C518-624F-96C8-181FC25CCB50}">
      <dsp:nvSpPr>
        <dsp:cNvPr id="0" name=""/>
        <dsp:cNvSpPr/>
      </dsp:nvSpPr>
      <dsp:spPr>
        <a:xfrm>
          <a:off x="3671479" y="3367002"/>
          <a:ext cx="758698" cy="533123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5.</a:t>
          </a:r>
          <a:r>
            <a:rPr lang="en-US" sz="900" b="0" i="0" kern="1200"/>
            <a:t> Funding proposal review</a:t>
          </a:r>
          <a:endParaRPr lang="en-US" sz="900" kern="1200"/>
        </a:p>
      </dsp:txBody>
      <dsp:txXfrm>
        <a:off x="3697504" y="3393027"/>
        <a:ext cx="706648" cy="481073"/>
      </dsp:txXfrm>
    </dsp:sp>
    <dsp:sp modelId="{13E8B772-2866-3D47-BFC9-E411F694AEE7}">
      <dsp:nvSpPr>
        <dsp:cNvPr id="0" name=""/>
        <dsp:cNvSpPr/>
      </dsp:nvSpPr>
      <dsp:spPr>
        <a:xfrm>
          <a:off x="1557983" y="226985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062676" y="3625695"/>
              </a:moveTo>
              <a:arcTo wR="1820908" hR="1820908" stAng="4942206" swAng="29139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81041-8EF5-FE4A-B317-1B48D1A1DF3D}">
      <dsp:nvSpPr>
        <dsp:cNvPr id="0" name=""/>
        <dsp:cNvSpPr/>
      </dsp:nvSpPr>
      <dsp:spPr>
        <a:xfrm>
          <a:off x="2742223" y="3701371"/>
          <a:ext cx="673429" cy="437728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6.</a:t>
          </a:r>
          <a:r>
            <a:rPr lang="en-US" sz="900" b="0" i="0" kern="1200"/>
            <a:t> Board approval</a:t>
          </a:r>
          <a:endParaRPr lang="en-US" sz="900" kern="1200"/>
        </a:p>
      </dsp:txBody>
      <dsp:txXfrm>
        <a:off x="2763591" y="3722739"/>
        <a:ext cx="630693" cy="394992"/>
      </dsp:txXfrm>
    </dsp:sp>
    <dsp:sp modelId="{F20957E7-B37E-604C-AA4B-822FB02C3265}">
      <dsp:nvSpPr>
        <dsp:cNvPr id="0" name=""/>
        <dsp:cNvSpPr/>
      </dsp:nvSpPr>
      <dsp:spPr>
        <a:xfrm>
          <a:off x="597778" y="293958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083436" y="3622792"/>
              </a:moveTo>
              <a:arcTo wR="1820908" hR="1820908" stAng="4902632" swAng="35082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405F5-CECB-4A4B-B13B-4D0B1A9366C1}">
      <dsp:nvSpPr>
        <dsp:cNvPr id="0" name=""/>
        <dsp:cNvSpPr/>
      </dsp:nvSpPr>
      <dsp:spPr>
        <a:xfrm>
          <a:off x="1378608" y="3424552"/>
          <a:ext cx="1068159" cy="511153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7.</a:t>
          </a:r>
          <a:r>
            <a:rPr lang="en-US" sz="900" b="0" i="0" kern="1200"/>
            <a:t> Legal arrangements</a:t>
          </a:r>
          <a:endParaRPr lang="en-US" sz="900" kern="1200"/>
        </a:p>
      </dsp:txBody>
      <dsp:txXfrm>
        <a:off x="1403560" y="3449504"/>
        <a:ext cx="1018255" cy="461249"/>
      </dsp:txXfrm>
    </dsp:sp>
    <dsp:sp modelId="{29AB8263-4AEA-0D4B-A296-6470A324F36B}">
      <dsp:nvSpPr>
        <dsp:cNvPr id="0" name=""/>
        <dsp:cNvSpPr/>
      </dsp:nvSpPr>
      <dsp:spPr>
        <a:xfrm>
          <a:off x="1237421" y="487337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34416" y="2872597"/>
              </a:moveTo>
              <a:arcTo wR="1820908" hR="1820908" stAng="8683241" swAng="45713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9E69B-E242-0443-A1E4-87C9E7B9E1B4}">
      <dsp:nvSpPr>
        <dsp:cNvPr id="0" name=""/>
        <dsp:cNvSpPr/>
      </dsp:nvSpPr>
      <dsp:spPr>
        <a:xfrm>
          <a:off x="701843" y="2364697"/>
          <a:ext cx="1093790" cy="716824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8.</a:t>
          </a:r>
          <a:r>
            <a:rPr lang="en-US" sz="900" b="0" i="0" kern="1200"/>
            <a:t> Monitoring for performance and compliance</a:t>
          </a:r>
          <a:endParaRPr lang="en-US" sz="900" kern="1200"/>
        </a:p>
      </dsp:txBody>
      <dsp:txXfrm>
        <a:off x="736835" y="2399689"/>
        <a:ext cx="1023806" cy="646840"/>
      </dsp:txXfrm>
    </dsp:sp>
    <dsp:sp modelId="{D98F3EAC-0D06-E341-8202-BDBBEE82B10A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109" y="1927282"/>
              </a:moveTo>
              <a:arcTo wR="1820908" hR="1820908" stAng="10599059" swAng="55944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F04EB8-6F8B-BB44-A871-875DE64796C0}">
      <dsp:nvSpPr>
        <dsp:cNvPr id="0" name=""/>
        <dsp:cNvSpPr/>
      </dsp:nvSpPr>
      <dsp:spPr>
        <a:xfrm>
          <a:off x="695233" y="1322003"/>
          <a:ext cx="1107009" cy="551446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9.</a:t>
          </a:r>
          <a:r>
            <a:rPr lang="en-US" sz="900" b="0" i="0" kern="1200"/>
            <a:t> Adaptive management</a:t>
          </a:r>
          <a:endParaRPr lang="en-US" sz="900" kern="1200"/>
        </a:p>
      </dsp:txBody>
      <dsp:txXfrm>
        <a:off x="722152" y="1348922"/>
        <a:ext cx="1053171" cy="497608"/>
      </dsp:txXfrm>
    </dsp:sp>
    <dsp:sp modelId="{1660B17C-CAD6-2D4C-A6F1-9A66F63E0AEC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42180" y="913535"/>
              </a:moveTo>
              <a:arcTo wR="1820908" hR="1820908" stAng="12593287" swAng="44654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221F7-C1BD-2D43-8597-2DF59E1ADF23}">
      <dsp:nvSpPr>
        <dsp:cNvPr id="0" name=""/>
        <dsp:cNvSpPr/>
      </dsp:nvSpPr>
      <dsp:spPr>
        <a:xfrm>
          <a:off x="1426313" y="379788"/>
          <a:ext cx="967818" cy="614969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10.</a:t>
          </a:r>
          <a:r>
            <a:rPr lang="en-US" sz="900" b="0" i="0" kern="1200"/>
            <a:t> Evaluation, learning and project closure</a:t>
          </a:r>
          <a:endParaRPr lang="en-US" sz="900" kern="1200"/>
        </a:p>
      </dsp:txBody>
      <dsp:txXfrm>
        <a:off x="1456333" y="409808"/>
        <a:ext cx="907778" cy="554929"/>
      </dsp:txXfrm>
    </dsp:sp>
    <dsp:sp modelId="{B65F1A1F-FC0A-2B46-BE66-6C5B84B59CCC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1254854" y="90217"/>
              </a:moveTo>
              <a:arcTo wR="1820908" hR="1820908" stAng="15113324" swAng="12147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www.greenclimate.fund/sites/default/files/document/investment-criteria-indicator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active-atlas.ipcc.ch/regional-information#eyJ0eXBlIjoiQVRMQVMiLCJjb21tb25zIjp7ImxhdCI6OTc3MiwibG5nIjo0MDA2OTIsInpvb20iOjQsInByb2oiOiJFUFNHOjU0MDMwIiwibW9kZSI6ImNvbXBsZXRlX2F0bGFzIn0sInByaW1hcnkiOnsic2NlbmFyaW8iOiJzc3AxMjYiLCJwZXJpb2QiOiJuZWFyIiwic2Vhc29uIjoieWVhciIsImRhdGFzZXQiOiJDTUlQNiIsInZhcmlhYmxlIjoidGFzIiwidmFsdWVUeXBlIjoiQU5PTUFMWSIsImhhdGNoaW5nIjoiU0lNUExFIiwicmVnaW9uU2V0IjoiYXI2IiwiYmFzZWxpbmUiOiJwcmVJbmR1c3RyaWFsIiwicmVnaW9uc1NlbGVjdGVkIjpbXX0sInBsb3QiOnsiYWN0aXZlVGFiIjoicGx1bWUiLCJtYXNrIjoibm9uZSIsInNjYXR0ZXJZTWFnIjpudWxsLCJzY2F0dGVyWVZhciI6bnVsbCwic2hvd2luZyI6ZmFsc2V9fQ==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s.climate.copernicus.eu/global-temperature-trend-monitor/?tab=plo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nature1032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nasa.gov/ask-nasa-climate/3017/making-sense-of-climate-sensitivity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84-011-0148-z" TargetMode="External"/><Relationship Id="rId2" Type="http://schemas.openxmlformats.org/officeDocument/2006/relationships/hyperlink" Target="https://www.co2.earth/daily-co2#%3A~%3Atext%3D416.12%20ppm%26text%3DThis%20table%20presents%20the%20most%2Cparts%20per%20million%20(ppm)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007/s10584-013-0904-3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6417333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Introdução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aspectos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práticos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Fundo Verde para o Clima</a:t>
            </a: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1CD9-024F-0DD0-312B-FE2E3DAB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1564-F498-4F85-7458-637673B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2C63FB-1A32-1AF4-2D96-F1AE80D2959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B8B434-EDD8-B3C4-EE56-234776DCED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B328B4-2CFA-4F16-F90E-6E0063CCBE7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E7F0CD1-567A-244F-648D-13FAA7192FD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988D38-BBC5-0935-1710-25372B4F339E}"/>
              </a:ext>
            </a:extLst>
          </p:cNvPr>
          <p:cNvSpPr txBox="1"/>
          <p:nvPr/>
        </p:nvSpPr>
        <p:spPr>
          <a:xfrm>
            <a:off x="1085551" y="2715884"/>
            <a:ext cx="9034872" cy="17143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Capacitação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e </a:t>
            </a:r>
            <a:r>
              <a:rPr lang="en-GB" dirty="0" err="1"/>
              <a:t>adaptação</a:t>
            </a:r>
            <a:r>
              <a:rPr lang="en-GB" dirty="0"/>
              <a:t> à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endParaRPr lang="pt-BR" dirty="0"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Disseminação dos </a:t>
            </a:r>
            <a:r>
              <a:rPr lang="en-GB" dirty="0" err="1"/>
              <a:t>resultados</a:t>
            </a:r>
            <a:r>
              <a:rPr lang="en-GB" dirty="0"/>
              <a:t> da </a:t>
            </a:r>
            <a:r>
              <a:rPr lang="en-GB" dirty="0" err="1"/>
              <a:t>avaliação</a:t>
            </a:r>
            <a:r>
              <a:rPr lang="en-GB" dirty="0"/>
              <a:t> de </a:t>
            </a:r>
            <a:r>
              <a:rPr lang="en-GB" dirty="0" err="1"/>
              <a:t>risco</a:t>
            </a:r>
            <a:r>
              <a:rPr lang="en-GB" dirty="0"/>
              <a:t> </a:t>
            </a:r>
            <a:r>
              <a:rPr lang="en-GB" dirty="0" err="1"/>
              <a:t>climático</a:t>
            </a:r>
            <a:endParaRPr lang="en-GB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Co-</a:t>
            </a:r>
            <a:r>
              <a:rPr lang="en-GB" dirty="0" err="1"/>
              <a:t>desenho</a:t>
            </a:r>
            <a:r>
              <a:rPr lang="en-GB" dirty="0"/>
              <a:t> de </a:t>
            </a:r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adaptação</a:t>
            </a:r>
            <a:r>
              <a:rPr lang="en-GB" dirty="0"/>
              <a:t> para o </a:t>
            </a:r>
            <a:r>
              <a:rPr lang="en-GB" dirty="0" err="1"/>
              <a:t>desenvolvimento</a:t>
            </a:r>
            <a:r>
              <a:rPr lang="en-GB" dirty="0"/>
              <a:t> de um </a:t>
            </a:r>
            <a:r>
              <a:rPr lang="en-GB" dirty="0" err="1"/>
              <a:t>Projeto</a:t>
            </a:r>
            <a:r>
              <a:rPr lang="en-GB" dirty="0"/>
              <a:t> do GCF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Identificação</a:t>
            </a:r>
            <a:r>
              <a:rPr lang="en-GB" dirty="0"/>
              <a:t> das </a:t>
            </a:r>
            <a:r>
              <a:rPr lang="en-GB" dirty="0" err="1"/>
              <a:t>necessidades</a:t>
            </a:r>
            <a:r>
              <a:rPr lang="en-GB" dirty="0"/>
              <a:t> de </a:t>
            </a:r>
            <a:r>
              <a:rPr lang="en-GB" dirty="0" err="1"/>
              <a:t>treinamento</a:t>
            </a:r>
            <a:endParaRPr lang="pt-BR" dirty="0"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A877C-5315-47C7-7F8D-E823D85D9C02}"/>
              </a:ext>
            </a:extLst>
          </p:cNvPr>
          <p:cNvSpPr/>
          <p:nvPr/>
        </p:nvSpPr>
        <p:spPr>
          <a:xfrm>
            <a:off x="838200" y="2250959"/>
            <a:ext cx="9930809" cy="3317358"/>
          </a:xfrm>
          <a:prstGeom prst="rect">
            <a:avLst/>
          </a:prstGeom>
          <a:noFill/>
          <a:ln w="317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122" name="Picture 2" descr="UNEP / UNDP / WRI Green Climate Fund Readiness Programme">
            <a:extLst>
              <a:ext uri="{FF2B5EF4-FFF2-40B4-BE49-F238E27FC236}">
                <a16:creationId xmlns:a16="http://schemas.microsoft.com/office/drawing/2014/main" id="{8DD60CF4-793D-08C1-9B6F-0CA106E8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4"/>
          <a:stretch>
            <a:fillRect/>
          </a:stretch>
        </p:blipFill>
        <p:spPr bwMode="auto">
          <a:xfrm>
            <a:off x="6373826" y="1328754"/>
            <a:ext cx="5321300" cy="115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2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FE47-E342-EBAE-6478-B0C7FA43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D993-EA5F-E8C5-E35E-493F04911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E5CB58-A1D9-5322-865A-EDEED669A84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87DBAA-A221-57F7-C24B-5F8D2BD4CFB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744847-A68C-EBD2-E114-7BCB32D83E8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E4B516-981F-F51E-6DDF-C1170FE2730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523360-F073-0137-FBC8-9D675E16CBBF}"/>
              </a:ext>
            </a:extLst>
          </p:cNvPr>
          <p:cNvSpPr txBox="1"/>
          <p:nvPr/>
        </p:nvSpPr>
        <p:spPr>
          <a:xfrm>
            <a:off x="343678" y="1358061"/>
            <a:ext cx="11010122" cy="1298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Green </a:t>
            </a:r>
            <a:r>
              <a:rPr lang="pt-BR" dirty="0" err="1"/>
              <a:t>Climate</a:t>
            </a:r>
            <a:r>
              <a:rPr lang="pt-BR" dirty="0"/>
              <a:t> Fund (GCF) –  parte da estrutura da UNFCCC – é o maior fundo climático do mundo com o mandato de apoiar os países em desenvolvimento a aumentar e realizar suas ambições de Contribuições Nacionalmente Determinadas (NDC) em direção a caminhos resilientes ao clima e de baixas emissões.</a:t>
            </a:r>
            <a:endParaRPr lang="pt-BR" dirty="0">
              <a:cs typeface="Calibri"/>
            </a:endParaRPr>
          </a:p>
        </p:txBody>
      </p:sp>
      <p:pic>
        <p:nvPicPr>
          <p:cNvPr id="13" name="Picture 12" descr="A screenshot of a screenshot of a map&#10;&#10;AI-generated content may be incorrect.">
            <a:extLst>
              <a:ext uri="{FF2B5EF4-FFF2-40B4-BE49-F238E27FC236}">
                <a16:creationId xmlns:a16="http://schemas.microsoft.com/office/drawing/2014/main" id="{6D4891EB-1A78-8C0C-165A-02A6B02BB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01" y="3001259"/>
            <a:ext cx="5312734" cy="3491616"/>
          </a:xfrm>
          <a:prstGeom prst="rect">
            <a:avLst/>
          </a:prstGeom>
        </p:spPr>
      </p:pic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319B0D82-05D0-C4A2-9A3C-9F877FD9D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3099390"/>
            <a:ext cx="5992271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2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9ABF-93D4-B520-8FF1-E8C6F281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DFAC-B040-083E-779E-4B223031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Readiness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04AAF-45B7-8636-84D9-5FEB61D9A94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7EA00-1470-1250-2C53-07F7257D9E1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7ED59D-E49F-DF9B-5C1D-5A93850F07D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C49D101-3E43-8026-35FF-770408456D4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diagram of a project&#10;&#10;AI-generated content may be incorrect.">
            <a:extLst>
              <a:ext uri="{FF2B5EF4-FFF2-40B4-BE49-F238E27FC236}">
                <a16:creationId xmlns:a16="http://schemas.microsoft.com/office/drawing/2014/main" id="{812F0A36-E91C-03C5-73D8-2814D27B3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51" y="2700781"/>
            <a:ext cx="5512783" cy="36751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57E8F-AFC2-CD06-0DAB-C917968FFA2B}"/>
              </a:ext>
            </a:extLst>
          </p:cNvPr>
          <p:cNvSpPr txBox="1"/>
          <p:nvPr/>
        </p:nvSpPr>
        <p:spPr>
          <a:xfrm>
            <a:off x="721242" y="1369013"/>
            <a:ext cx="10921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/>
              <a:t>O </a:t>
            </a:r>
            <a:r>
              <a:rPr lang="en-GB" dirty="0" err="1"/>
              <a:t>Programa</a:t>
            </a:r>
            <a:r>
              <a:rPr lang="en-GB" dirty="0"/>
              <a:t> de Readiness </a:t>
            </a:r>
            <a:r>
              <a:rPr lang="en-GB" dirty="0" err="1"/>
              <a:t>ajuda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países</a:t>
            </a:r>
            <a:r>
              <a:rPr lang="en-GB" dirty="0"/>
              <a:t> a </a:t>
            </a:r>
            <a:r>
              <a:rPr lang="en-GB" dirty="0" err="1"/>
              <a:t>reforçar</a:t>
            </a:r>
            <a:r>
              <a:rPr lang="en-GB" dirty="0"/>
              <a:t> </a:t>
            </a:r>
            <a:r>
              <a:rPr lang="en-GB" dirty="0" err="1"/>
              <a:t>instituições</a:t>
            </a:r>
            <a:r>
              <a:rPr lang="en-GB" dirty="0"/>
              <a:t>, </a:t>
            </a:r>
            <a:r>
              <a:rPr lang="en-GB" dirty="0" err="1"/>
              <a:t>governança</a:t>
            </a:r>
            <a:r>
              <a:rPr lang="en-GB" dirty="0"/>
              <a:t> e </a:t>
            </a:r>
            <a:r>
              <a:rPr lang="en-GB" dirty="0" err="1"/>
              <a:t>planejamento</a:t>
            </a:r>
            <a:r>
              <a:rPr lang="en-GB" dirty="0"/>
              <a:t> para </a:t>
            </a:r>
            <a:r>
              <a:rPr lang="en-GB" dirty="0" err="1"/>
              <a:t>implementar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agenda de </a:t>
            </a:r>
            <a:r>
              <a:rPr lang="en-GB" dirty="0" err="1"/>
              <a:t>ação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de </a:t>
            </a:r>
            <a:r>
              <a:rPr lang="en-GB" dirty="0" err="1"/>
              <a:t>longo</a:t>
            </a:r>
            <a:r>
              <a:rPr lang="en-GB" dirty="0"/>
              <a:t> </a:t>
            </a:r>
            <a:r>
              <a:rPr lang="en-GB" dirty="0" err="1"/>
              <a:t>prazo</a:t>
            </a:r>
            <a:r>
              <a:rPr lang="en-GB" dirty="0"/>
              <a:t>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37201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9054-B92D-B594-CE86-F57F74A7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D587-130D-92BC-C970-C9D9314B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3D4960-3EA9-47FF-94FE-C435E6B096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41C0F7-E44A-3A81-D605-4270C9A741B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373240-3835-59A5-1CA6-64AD3B4B85B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0805BF3-C85E-A7C5-389E-456BA5B7999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8DB510A-B132-800D-5B19-260FCBC5DBB4}"/>
              </a:ext>
            </a:extLst>
          </p:cNvPr>
          <p:cNvSpPr txBox="1"/>
          <p:nvPr/>
        </p:nvSpPr>
        <p:spPr>
          <a:xfrm>
            <a:off x="439688" y="1363122"/>
            <a:ext cx="1147863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pt-BR" dirty="0"/>
              <a:t>TODAS as atividades do GCF devem estar ancoradas à lógica das mudanças climáticas. As Notas Conceptuais e as Propostas de Financiamento devem abordar os </a:t>
            </a:r>
            <a:r>
              <a:rPr lang="pt-BR" dirty="0">
                <a:hlinkClick r:id="rId2"/>
              </a:rPr>
              <a:t>6 Critérios de Investimento. 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2F6F75-968C-684F-7C30-2174436DDD77}"/>
              </a:ext>
            </a:extLst>
          </p:cNvPr>
          <p:cNvGrpSpPr/>
          <p:nvPr/>
        </p:nvGrpSpPr>
        <p:grpSpPr>
          <a:xfrm>
            <a:off x="1370941" y="2437548"/>
            <a:ext cx="5931969" cy="4084836"/>
            <a:chOff x="271035" y="2277053"/>
            <a:chExt cx="5206968" cy="3503168"/>
          </a:xfrm>
        </p:grpSpPr>
        <p:graphicFrame>
          <p:nvGraphicFramePr>
            <p:cNvPr id="5" name="Content Placeholder 7">
              <a:extLst>
                <a:ext uri="{FF2B5EF4-FFF2-40B4-BE49-F238E27FC236}">
                  <a16:creationId xmlns:a16="http://schemas.microsoft.com/office/drawing/2014/main" id="{B7F47D24-550A-311C-5968-4CD7957B5CD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85883888"/>
                </p:ext>
              </p:extLst>
            </p:nvPr>
          </p:nvGraphicFramePr>
          <p:xfrm>
            <a:off x="271035" y="2277053"/>
            <a:ext cx="5206968" cy="35031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BEFD4F-BA19-EAEF-335E-EB7DA54EEB6F}"/>
                </a:ext>
              </a:extLst>
            </p:cNvPr>
            <p:cNvSpPr/>
            <p:nvPr/>
          </p:nvSpPr>
          <p:spPr>
            <a:xfrm>
              <a:off x="2145707" y="3560006"/>
              <a:ext cx="1457623" cy="122300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latin typeface="Times New Roman" charset="0"/>
                  <a:ea typeface="Times New Roman" charset="0"/>
                  <a:cs typeface="Times New Roman" charset="0"/>
                </a:rPr>
                <a:t>Country-driven process/ principle of country ownership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C41BA0-B63E-425D-1141-741F1BC5BA69}"/>
              </a:ext>
            </a:extLst>
          </p:cNvPr>
          <p:cNvSpPr txBox="1"/>
          <p:nvPr/>
        </p:nvSpPr>
        <p:spPr>
          <a:xfrm>
            <a:off x="7302909" y="3167390"/>
            <a:ext cx="3895343" cy="52322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1-3: Strategy, origination and structuring (</a:t>
            </a:r>
            <a:r>
              <a:rPr lang="en-US" sz="1400" b="1" u="sng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NDA</a:t>
            </a:r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, AE, GCF)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C7550-57F0-5C88-B908-FE3F277CFBDB}"/>
              </a:ext>
            </a:extLst>
          </p:cNvPr>
          <p:cNvSpPr txBox="1"/>
          <p:nvPr/>
        </p:nvSpPr>
        <p:spPr>
          <a:xfrm>
            <a:off x="7302909" y="4127190"/>
            <a:ext cx="3786293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5-6: Technical review and appraisal (AE, GCF)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321C5-6875-089B-E5DE-12A3FEC2E177}"/>
              </a:ext>
            </a:extLst>
          </p:cNvPr>
          <p:cNvSpPr txBox="1"/>
          <p:nvPr/>
        </p:nvSpPr>
        <p:spPr>
          <a:xfrm>
            <a:off x="7302909" y="4871547"/>
            <a:ext cx="3973908" cy="30777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6-7: Approval and legal arrangements (AE, GCF)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966CB-3864-4EDA-159E-E4E010319FC3}"/>
              </a:ext>
            </a:extLst>
          </p:cNvPr>
          <p:cNvSpPr txBox="1"/>
          <p:nvPr/>
        </p:nvSpPr>
        <p:spPr>
          <a:xfrm>
            <a:off x="7302909" y="5615904"/>
            <a:ext cx="2999160" cy="3077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8-10: Implementation (AE, GCF)</a:t>
            </a:r>
          </a:p>
        </p:txBody>
      </p:sp>
    </p:spTree>
    <p:extLst>
      <p:ext uri="{BB962C8B-B14F-4D97-AF65-F5344CB8AC3E}">
        <p14:creationId xmlns:p14="http://schemas.microsoft.com/office/powerpoint/2010/main" val="84238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6D70-A074-D23F-E58B-8E6A3D9E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1E16-2909-3208-9E07-99695F91A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898A2-C55E-0D80-1B02-BC5AFBD34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Conceitos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básicos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ciência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clima </a:t>
            </a: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34D93B5-DAB8-0E8A-5970-9E7570C3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43EB10-0AA6-3DF5-1A38-BC03F0D49A27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EB98FC-4C25-CAD9-2542-A04BA4FE69AC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ED7E07-0A76-C6B7-CB04-E9E575D2CB48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610D0F-C1AC-7559-FC6B-7D7E007410B6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27B0F3-48A0-04EC-BCF8-513169D1D474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7C10F70F-15EB-E7CE-6A2D-AE4C05D57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92E0F-D507-5B29-3B5A-79AE191DD10F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01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29F8-349A-ECCB-E26B-CFFE71D4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821E-A9A2-E4B1-2449-CBD3C41D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3" y="512502"/>
            <a:ext cx="11341489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Coisas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saber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232285-FE10-BDA6-B0F8-01B4CF4D143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FB77A0-CB12-5B43-0A0B-6744CC522AB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7B648E-7CD8-04D2-D99B-14A428C3EF3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6AF9264-FA1C-D85D-F40C-4C9DBE1D86A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2C454B-E5CB-4256-8586-E43C861B331E}"/>
              </a:ext>
            </a:extLst>
          </p:cNvPr>
          <p:cNvSpPr txBox="1"/>
          <p:nvPr/>
        </p:nvSpPr>
        <p:spPr>
          <a:xfrm>
            <a:off x="582774" y="1895820"/>
            <a:ext cx="11010122" cy="17113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Aquecimento global de 1.5°C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Concentração de CO</a:t>
            </a:r>
            <a:r>
              <a:rPr lang="pt-BR" baseline="-25000" dirty="0"/>
              <a:t>2</a:t>
            </a:r>
            <a:r>
              <a:rPr lang="pt-BR" dirty="0"/>
              <a:t> na atmosfera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Modelos climáticos e introdução ao CMIP (</a:t>
            </a:r>
            <a:r>
              <a:rPr lang="pt-BR" dirty="0" err="1"/>
              <a:t>Coupled</a:t>
            </a:r>
            <a:r>
              <a:rPr lang="pt-BR" dirty="0"/>
              <a:t> Model </a:t>
            </a:r>
            <a:r>
              <a:rPr lang="pt-BR" dirty="0" err="1"/>
              <a:t>Intercomparison</a:t>
            </a:r>
            <a:r>
              <a:rPr lang="pt-BR" dirty="0"/>
              <a:t> Project)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Entender</a:t>
            </a:r>
            <a:r>
              <a:rPr lang="en-GB" dirty="0"/>
              <a:t> RCPs (</a:t>
            </a:r>
            <a:r>
              <a:rPr lang="en-GB" dirty="0" err="1"/>
              <a:t>Rapresentative</a:t>
            </a:r>
            <a:r>
              <a:rPr lang="en-GB" dirty="0"/>
              <a:t> Concentration Pathways)</a:t>
            </a:r>
          </a:p>
        </p:txBody>
      </p:sp>
    </p:spTree>
    <p:extLst>
      <p:ext uri="{BB962C8B-B14F-4D97-AF65-F5344CB8AC3E}">
        <p14:creationId xmlns:p14="http://schemas.microsoft.com/office/powerpoint/2010/main" val="276586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8214-B956-EDE0-CD15-7E9F4E82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5712-3F5F-98F4-F9B4-C59D86C0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036005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graus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D23F57-268F-741A-D33A-B3E87EB88B4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A6B71A-79E0-5B4C-75F9-C33AF601269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2F1533-858A-69A2-2BA4-048A008510F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C45CB6A-23BE-72E6-A1EB-0723165B87B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420B4B-12A6-C414-984B-9972EA9A2B2F}"/>
              </a:ext>
            </a:extLst>
          </p:cNvPr>
          <p:cNvSpPr txBox="1"/>
          <p:nvPr/>
        </p:nvSpPr>
        <p:spPr>
          <a:xfrm>
            <a:off x="664464" y="1518573"/>
            <a:ext cx="1068285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 err="1"/>
              <a:t>Calculado</a:t>
            </a:r>
            <a:r>
              <a:rPr lang="en-GB" dirty="0"/>
              <a:t> </a:t>
            </a:r>
            <a:r>
              <a:rPr lang="en-GB" dirty="0" err="1"/>
              <a:t>globalmente</a:t>
            </a:r>
            <a:r>
              <a:rPr lang="en-GB" dirty="0"/>
              <a:t> (</a:t>
            </a:r>
            <a:r>
              <a:rPr lang="en-GB" dirty="0" err="1"/>
              <a:t>média</a:t>
            </a:r>
            <a:r>
              <a:rPr lang="en-GB" dirty="0"/>
              <a:t> </a:t>
            </a:r>
            <a:r>
              <a:rPr lang="en-GB" dirty="0" err="1"/>
              <a:t>espacial</a:t>
            </a:r>
            <a:r>
              <a:rPr lang="en-GB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aquecimento é comparado ao período de 1850-1900, com uma janela de tempo de 30 anos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 </a:t>
            </a:r>
            <a:r>
              <a:rPr lang="en-GB" dirty="0" err="1"/>
              <a:t>temperatura</a:t>
            </a:r>
            <a:r>
              <a:rPr lang="en-GB" dirty="0"/>
              <a:t> global </a:t>
            </a:r>
            <a:r>
              <a:rPr lang="en-GB" dirty="0" err="1"/>
              <a:t>está</a:t>
            </a:r>
            <a:r>
              <a:rPr lang="en-GB" dirty="0"/>
              <a:t> </a:t>
            </a:r>
            <a:r>
              <a:rPr lang="en-GB" dirty="0" err="1"/>
              <a:t>aumentando</a:t>
            </a:r>
            <a:r>
              <a:rPr lang="en-GB" dirty="0"/>
              <a:t> 0,2 °C (0,1 SD)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década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1,5 °C será atingido entre 2035 e 2040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entender as diferenças espaciais</a:t>
            </a:r>
          </a:p>
          <a:p>
            <a:endParaRPr lang="en-IT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AA3B57B-976E-1DC8-9E72-7CAC807A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94" y="3539372"/>
            <a:ext cx="5732206" cy="312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3EDE66-7559-4F8C-4745-67A89F6558DE}"/>
              </a:ext>
            </a:extLst>
          </p:cNvPr>
          <p:cNvSpPr txBox="1"/>
          <p:nvPr/>
        </p:nvSpPr>
        <p:spPr>
          <a:xfrm>
            <a:off x="8232874" y="5597190"/>
            <a:ext cx="3323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3"/>
              </a:rPr>
              <a:t>Spatial differences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E95EA3-86D0-B9B2-9707-3A747C882B15}"/>
              </a:ext>
            </a:extLst>
          </p:cNvPr>
          <p:cNvSpPr txBox="1"/>
          <p:nvPr/>
        </p:nvSpPr>
        <p:spPr>
          <a:xfrm>
            <a:off x="8232874" y="5171954"/>
            <a:ext cx="1430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4"/>
              </a:rPr>
              <a:t>Interactive tool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9973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5167-0381-5BA3-3E91-CDFAEB36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D7E1-4606-CA40-6E56-46F06011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036005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graus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A5C179-BF7E-2E5F-2D84-67440DD5CB5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828A4C-DC19-F505-ACF7-400C4DA3C9F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BEBEDF-A66D-FEAB-606A-F49BAA79AB2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BE3680D-0AB1-CA77-D205-60F4227BA42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0292DA-61A3-C2CB-A08D-38C62F82D365}"/>
              </a:ext>
            </a:extLst>
          </p:cNvPr>
          <p:cNvSpPr txBox="1"/>
          <p:nvPr/>
        </p:nvSpPr>
        <p:spPr>
          <a:xfrm>
            <a:off x="664464" y="1641239"/>
            <a:ext cx="1128693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1,5 °C de aquecimento global não significa que você pode simplesmente considerar a temperatura de hoje e adicionar 1,5 °C</a:t>
            </a:r>
            <a:endParaRPr lang="en-GB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3BB45AA-2BC2-80C3-ACCB-FABD4D818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028868"/>
              </p:ext>
            </p:extLst>
          </p:nvPr>
        </p:nvGraphicFramePr>
        <p:xfrm>
          <a:off x="1489003" y="3085821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9104767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4009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3083829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17266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61974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98102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400382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71171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80940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7126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73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2497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28672F5-6808-8819-F97C-C30C3E858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09785"/>
              </p:ext>
            </p:extLst>
          </p:nvPr>
        </p:nvGraphicFramePr>
        <p:xfrm>
          <a:off x="1489003" y="4571495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9104767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4009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30838291"/>
                    </a:ext>
                  </a:extLst>
                </a:gridCol>
                <a:gridCol w="756398">
                  <a:extLst>
                    <a:ext uri="{9D8B030D-6E8A-4147-A177-3AD203B41FA5}">
                      <a16:colId xmlns:a16="http://schemas.microsoft.com/office/drawing/2014/main" val="4191726610"/>
                    </a:ext>
                  </a:extLst>
                </a:gridCol>
                <a:gridCol w="869202">
                  <a:extLst>
                    <a:ext uri="{9D8B030D-6E8A-4147-A177-3AD203B41FA5}">
                      <a16:colId xmlns:a16="http://schemas.microsoft.com/office/drawing/2014/main" val="4061974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98102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400382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71171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80940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7126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73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24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C007AB-1AB0-9EA8-382E-0BFBE7446B70}"/>
              </a:ext>
            </a:extLst>
          </p:cNvPr>
          <p:cNvSpPr txBox="1"/>
          <p:nvPr/>
        </p:nvSpPr>
        <p:spPr>
          <a:xfrm>
            <a:off x="9898861" y="3456661"/>
            <a:ext cx="145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= 23.1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41244-8F67-7645-A02D-E5740B5367B5}"/>
              </a:ext>
            </a:extLst>
          </p:cNvPr>
          <p:cNvSpPr txBox="1"/>
          <p:nvPr/>
        </p:nvSpPr>
        <p:spPr>
          <a:xfrm>
            <a:off x="9898861" y="4893555"/>
            <a:ext cx="145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= 24.6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A6722B-3433-B86C-10C0-633645EF031F}"/>
              </a:ext>
            </a:extLst>
          </p:cNvPr>
          <p:cNvCxnSpPr/>
          <p:nvPr/>
        </p:nvCxnSpPr>
        <p:spPr>
          <a:xfrm>
            <a:off x="10292150" y="3909759"/>
            <a:ext cx="0" cy="91497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20E283-A441-5103-2FF0-26559568270C}"/>
              </a:ext>
            </a:extLst>
          </p:cNvPr>
          <p:cNvSpPr txBox="1"/>
          <p:nvPr/>
        </p:nvSpPr>
        <p:spPr>
          <a:xfrm>
            <a:off x="10506052" y="4177689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1.5 °C </a:t>
            </a:r>
          </a:p>
        </p:txBody>
      </p:sp>
    </p:spTree>
    <p:extLst>
      <p:ext uri="{BB962C8B-B14F-4D97-AF65-F5344CB8AC3E}">
        <p14:creationId xmlns:p14="http://schemas.microsoft.com/office/powerpoint/2010/main" val="198932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BFE9-5E18-3C49-2804-5B68934A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EEEE-40BB-78AC-88C0-EB69D0B6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1208272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gases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efeito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estufa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torna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Terra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habitável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4C66C3-D47D-8924-F1BF-B803E7A8A1E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5FA877-D3BC-2775-7C9C-CB7AFCBBC3E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AF7293-2DA0-AE35-4B6A-C702062D4C6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644EBC9-4999-4463-9B69-A94A93F9F0A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135C20-3A4B-EE6B-A752-B60C069A7D44}"/>
              </a:ext>
            </a:extLst>
          </p:cNvPr>
          <p:cNvSpPr txBox="1"/>
          <p:nvPr/>
        </p:nvSpPr>
        <p:spPr>
          <a:xfrm>
            <a:off x="452535" y="1873537"/>
            <a:ext cx="1128693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 </a:t>
            </a:r>
            <a:r>
              <a:rPr lang="en-GB" dirty="0" err="1"/>
              <a:t>maior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do </a:t>
            </a:r>
            <a:r>
              <a:rPr lang="en-GB" dirty="0" err="1"/>
              <a:t>efeito</a:t>
            </a:r>
            <a:r>
              <a:rPr lang="en-GB" dirty="0"/>
              <a:t> de gases de </a:t>
            </a:r>
            <a:r>
              <a:rPr lang="en-GB" dirty="0" err="1"/>
              <a:t>efeito</a:t>
            </a:r>
            <a:r>
              <a:rPr lang="en-GB" dirty="0"/>
              <a:t> estufa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causada</a:t>
            </a:r>
            <a:r>
              <a:rPr lang="en-GB" dirty="0"/>
              <a:t> </a:t>
            </a:r>
            <a:r>
              <a:rPr lang="en-GB" dirty="0" err="1"/>
              <a:t>pelo</a:t>
            </a:r>
            <a:r>
              <a:rPr lang="en-GB" dirty="0"/>
              <a:t> vapor </a:t>
            </a:r>
            <a:r>
              <a:rPr lang="en-GB" dirty="0" err="1"/>
              <a:t>d’água</a:t>
            </a:r>
            <a:r>
              <a:rPr lang="en-GB" dirty="0"/>
              <a:t> e </a:t>
            </a:r>
            <a:r>
              <a:rPr lang="en-GB" dirty="0" err="1"/>
              <a:t>pelo</a:t>
            </a:r>
            <a:r>
              <a:rPr lang="en-GB" dirty="0"/>
              <a:t> </a:t>
            </a:r>
            <a:r>
              <a:rPr lang="pt-BR" dirty="0"/>
              <a:t>CO</a:t>
            </a:r>
            <a:r>
              <a:rPr lang="pt-BR" baseline="-25000" dirty="0"/>
              <a:t>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80% do </a:t>
            </a:r>
            <a:r>
              <a:rPr lang="en-GB" dirty="0" err="1"/>
              <a:t>aquecimento</a:t>
            </a:r>
            <a:r>
              <a:rPr lang="en-GB" dirty="0"/>
              <a:t> global </a:t>
            </a:r>
            <a:r>
              <a:rPr lang="en-GB" dirty="0" err="1"/>
              <a:t>é</a:t>
            </a:r>
            <a:r>
              <a:rPr lang="en-GB" dirty="0"/>
              <a:t> </a:t>
            </a:r>
            <a:r>
              <a:rPr lang="en-GB" dirty="0" err="1"/>
              <a:t>causado</a:t>
            </a:r>
            <a:r>
              <a:rPr lang="en-GB" dirty="0"/>
              <a:t> </a:t>
            </a:r>
            <a:r>
              <a:rPr lang="en-GB" dirty="0" err="1"/>
              <a:t>pelo</a:t>
            </a:r>
            <a:r>
              <a:rPr lang="en-GB" dirty="0"/>
              <a:t> </a:t>
            </a:r>
            <a:r>
              <a:rPr lang="pt-BR" dirty="0"/>
              <a:t>CO</a:t>
            </a:r>
            <a:r>
              <a:rPr lang="pt-BR" baseline="-25000" dirty="0"/>
              <a:t>2</a:t>
            </a:r>
            <a:endParaRPr lang="pt-B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hlinkClick r:id="rId2"/>
              </a:rPr>
              <a:t>Mais de </a:t>
            </a:r>
            <a:r>
              <a:rPr lang="en-GB" b="1" dirty="0">
                <a:hlinkClick r:id="rId2"/>
              </a:rPr>
              <a:t>70% das </a:t>
            </a:r>
            <a:r>
              <a:rPr lang="en-GB" b="1" dirty="0" err="1">
                <a:hlinkClick r:id="rId2"/>
              </a:rPr>
              <a:t>emissões</a:t>
            </a:r>
            <a:r>
              <a:rPr lang="en-GB" b="1" dirty="0">
                <a:hlinkClick r:id="rId2"/>
              </a:rPr>
              <a:t> de gases de </a:t>
            </a:r>
            <a:r>
              <a:rPr lang="en-GB" b="1" dirty="0" err="1">
                <a:hlinkClick r:id="rId2"/>
              </a:rPr>
              <a:t>efeito</a:t>
            </a:r>
            <a:r>
              <a:rPr lang="en-GB" b="1" dirty="0">
                <a:hlinkClick r:id="rId2"/>
              </a:rPr>
              <a:t> estufa</a:t>
            </a:r>
            <a:r>
              <a:rPr lang="en-GB" dirty="0">
                <a:hlinkClick r:id="rId2"/>
              </a:rPr>
              <a:t> </a:t>
            </a:r>
            <a:r>
              <a:rPr lang="en-GB" dirty="0" err="1">
                <a:hlinkClick r:id="rId2"/>
              </a:rPr>
              <a:t>são</a:t>
            </a:r>
            <a:r>
              <a:rPr lang="en-GB" dirty="0">
                <a:hlinkClick r:id="rId2"/>
              </a:rPr>
              <a:t> CO₂</a:t>
            </a:r>
            <a:r>
              <a:rPr lang="en-GB" dirty="0"/>
              <a:t>. Antes da </a:t>
            </a:r>
            <a:r>
              <a:rPr lang="en-GB" dirty="0" err="1"/>
              <a:t>Revolução</a:t>
            </a:r>
            <a:r>
              <a:rPr lang="en-GB" dirty="0"/>
              <a:t> Industrial, a </a:t>
            </a:r>
            <a:r>
              <a:rPr lang="en-GB" dirty="0" err="1"/>
              <a:t>concentração</a:t>
            </a:r>
            <a:r>
              <a:rPr lang="en-GB" dirty="0"/>
              <a:t> de CO₂ era de </a:t>
            </a:r>
            <a:r>
              <a:rPr lang="en-GB" b="1" dirty="0"/>
              <a:t>280–288 ppm</a:t>
            </a:r>
            <a:r>
              <a:rPr lang="en-GB" dirty="0"/>
              <a:t>; agora </a:t>
            </a:r>
            <a:r>
              <a:rPr lang="en-GB" dirty="0" err="1"/>
              <a:t>estamos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b="1" dirty="0"/>
              <a:t>415 ppm</a:t>
            </a:r>
            <a:r>
              <a:rPr lang="en-GB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 CO₂ </a:t>
            </a:r>
            <a:r>
              <a:rPr lang="en-GB" dirty="0" err="1"/>
              <a:t>representa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</a:t>
            </a:r>
            <a:r>
              <a:rPr lang="en-GB" b="1" dirty="0"/>
              <a:t>0,04% da </a:t>
            </a:r>
            <a:r>
              <a:rPr lang="en-GB" b="1" dirty="0" err="1"/>
              <a:t>atmosfera</a:t>
            </a:r>
            <a:r>
              <a:rPr lang="en-GB" dirty="0"/>
              <a:t>. </a:t>
            </a:r>
            <a:r>
              <a:rPr lang="en-GB" dirty="0" err="1"/>
              <a:t>Então</a:t>
            </a:r>
            <a:r>
              <a:rPr lang="en-GB" dirty="0"/>
              <a:t>,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ele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desencadear</a:t>
            </a:r>
            <a:r>
              <a:rPr lang="en-GB" dirty="0"/>
              <a:t> </a:t>
            </a:r>
            <a:r>
              <a:rPr lang="en-GB" dirty="0" err="1"/>
              <a:t>mudanças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tão</a:t>
            </a:r>
            <a:r>
              <a:rPr lang="en-GB" dirty="0"/>
              <a:t> grande </a:t>
            </a:r>
            <a:r>
              <a:rPr lang="en-GB" dirty="0" err="1"/>
              <a:t>escala</a:t>
            </a:r>
            <a:r>
              <a:rPr lang="en-GB" dirty="0"/>
              <a:t>?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 </a:t>
            </a:r>
            <a:r>
              <a:rPr lang="en-GB" dirty="0" err="1"/>
              <a:t>balanço</a:t>
            </a:r>
            <a:r>
              <a:rPr lang="en-GB" dirty="0"/>
              <a:t> </a:t>
            </a:r>
            <a:r>
              <a:rPr lang="en-GB" dirty="0" err="1"/>
              <a:t>energético</a:t>
            </a:r>
            <a:r>
              <a:rPr lang="en-GB" dirty="0"/>
              <a:t> da Terra </a:t>
            </a:r>
            <a:r>
              <a:rPr lang="en-GB" dirty="0" err="1"/>
              <a:t>é</a:t>
            </a:r>
            <a:r>
              <a:rPr lang="en-GB" dirty="0"/>
              <a:t> um </a:t>
            </a:r>
            <a:r>
              <a:rPr lang="en-GB" b="1" dirty="0" err="1"/>
              <a:t>equilíbrio</a:t>
            </a:r>
            <a:r>
              <a:rPr lang="en-GB" b="1" dirty="0"/>
              <a:t> </a:t>
            </a:r>
            <a:r>
              <a:rPr lang="en-GB" b="1" dirty="0" err="1"/>
              <a:t>delicado</a:t>
            </a:r>
            <a:r>
              <a:rPr lang="en-GB" dirty="0"/>
              <a:t>. </a:t>
            </a:r>
            <a:r>
              <a:rPr lang="en-GB" dirty="0" err="1"/>
              <a:t>Pequenas</a:t>
            </a:r>
            <a:r>
              <a:rPr lang="en-GB" dirty="0"/>
              <a:t> </a:t>
            </a:r>
            <a:r>
              <a:rPr lang="en-GB" dirty="0" err="1"/>
              <a:t>perturbações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gerar</a:t>
            </a:r>
            <a:r>
              <a:rPr lang="en-GB" dirty="0"/>
              <a:t> </a:t>
            </a:r>
            <a:r>
              <a:rPr lang="en-GB" dirty="0" err="1"/>
              <a:t>grandes</a:t>
            </a:r>
            <a:r>
              <a:rPr lang="en-GB" dirty="0"/>
              <a:t> </a:t>
            </a:r>
            <a:r>
              <a:rPr lang="en-GB" dirty="0" err="1"/>
              <a:t>mudanças</a:t>
            </a:r>
            <a:r>
              <a:rPr lang="en-GB" dirty="0"/>
              <a:t>. </a:t>
            </a:r>
            <a:r>
              <a:rPr lang="en-GB" dirty="0" err="1"/>
              <a:t>Mesmo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o CO₂ </a:t>
            </a:r>
            <a:r>
              <a:rPr lang="en-GB" dirty="0" err="1"/>
              <a:t>seja</a:t>
            </a:r>
            <a:r>
              <a:rPr lang="en-GB" dirty="0"/>
              <a:t> </a:t>
            </a:r>
            <a:r>
              <a:rPr lang="en-GB" dirty="0" err="1"/>
              <a:t>apenas</a:t>
            </a:r>
            <a:r>
              <a:rPr lang="en-GB" dirty="0"/>
              <a:t> </a:t>
            </a:r>
            <a:r>
              <a:rPr lang="en-GB" dirty="0" err="1"/>
              <a:t>cerca</a:t>
            </a:r>
            <a:r>
              <a:rPr lang="en-GB" dirty="0"/>
              <a:t> de 0,04% da </a:t>
            </a:r>
            <a:r>
              <a:rPr lang="en-GB" dirty="0" err="1"/>
              <a:t>atmosfera</a:t>
            </a:r>
            <a:r>
              <a:rPr lang="en-GB" dirty="0"/>
              <a:t>, </a:t>
            </a:r>
            <a:r>
              <a:rPr lang="en-GB" dirty="0" err="1"/>
              <a:t>isso</a:t>
            </a:r>
            <a:r>
              <a:rPr lang="en-GB" dirty="0"/>
              <a:t> </a:t>
            </a:r>
            <a:r>
              <a:rPr lang="en-GB" dirty="0" err="1"/>
              <a:t>ainda</a:t>
            </a:r>
            <a:r>
              <a:rPr lang="en-GB" dirty="0"/>
              <a:t> </a:t>
            </a:r>
            <a:r>
              <a:rPr lang="en-GB" dirty="0" err="1"/>
              <a:t>corresponde</a:t>
            </a:r>
            <a:r>
              <a:rPr lang="en-GB" dirty="0"/>
              <a:t> a </a:t>
            </a:r>
            <a:r>
              <a:rPr lang="en-GB" b="1" dirty="0" err="1"/>
              <a:t>bilhões</a:t>
            </a:r>
            <a:r>
              <a:rPr lang="en-GB" b="1" dirty="0"/>
              <a:t> e </a:t>
            </a:r>
            <a:r>
              <a:rPr lang="en-GB" b="1" dirty="0" err="1"/>
              <a:t>bilhões</a:t>
            </a:r>
            <a:r>
              <a:rPr lang="en-GB" b="1" dirty="0"/>
              <a:t> de </a:t>
            </a:r>
            <a:r>
              <a:rPr lang="en-GB" b="1" dirty="0" err="1"/>
              <a:t>toneladas</a:t>
            </a:r>
            <a:r>
              <a:rPr lang="en-GB" b="1" dirty="0"/>
              <a:t> de </a:t>
            </a:r>
            <a:r>
              <a:rPr lang="en-GB" b="1" dirty="0" err="1"/>
              <a:t>gás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retém</a:t>
            </a:r>
            <a:r>
              <a:rPr lang="en-GB" b="1" dirty="0"/>
              <a:t> </a:t>
            </a:r>
            <a:r>
              <a:rPr lang="en-GB" b="1" dirty="0" err="1"/>
              <a:t>calor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03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7380-2E81-DF37-A62A-A67AE8D6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7F37-E494-8881-83D9-F4DC46DC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causado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CO2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3DEF5B-228F-8A5F-E7F3-096CE72847F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356174-B1D4-D6BB-CE60-464F387F39FC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3105DD-56BD-B279-4188-8BF1C02EB49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062117E-B903-7B05-0B2A-EFA70540EE8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Figure: SPM.1">
            <a:extLst>
              <a:ext uri="{FF2B5EF4-FFF2-40B4-BE49-F238E27FC236}">
                <a16:creationId xmlns:a16="http://schemas.microsoft.com/office/drawing/2014/main" id="{7C3F6B47-EFB3-CFC7-A485-F56DF3F55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39"/>
          <a:stretch>
            <a:fillRect/>
          </a:stretch>
        </p:blipFill>
        <p:spPr bwMode="auto">
          <a:xfrm>
            <a:off x="1151142" y="2121408"/>
            <a:ext cx="7691169" cy="311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FE6C42C1-D5C8-102A-41A6-C0AFC35EFD51}"/>
              </a:ext>
            </a:extLst>
          </p:cNvPr>
          <p:cNvSpPr txBox="1"/>
          <p:nvPr/>
        </p:nvSpPr>
        <p:spPr>
          <a:xfrm>
            <a:off x="10343724" y="6485565"/>
            <a:ext cx="163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IPCC WGII</a:t>
            </a:r>
            <a:r>
              <a:rPr sz="900" spc="-3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AR6</a:t>
            </a:r>
            <a:r>
              <a:rPr sz="900" spc="-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SPM</a:t>
            </a:r>
            <a:r>
              <a:rPr sz="900" spc="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Figure</a:t>
            </a:r>
            <a:r>
              <a:rPr sz="900" spc="-2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lang="it-IT" sz="900" spc="-25" dirty="0">
                <a:solidFill>
                  <a:srgbClr val="BEBEBE"/>
                </a:solidFill>
                <a:latin typeface="Arial MT"/>
                <a:cs typeface="Arial MT"/>
              </a:rPr>
              <a:t>1</a:t>
            </a:r>
            <a:endParaRPr sz="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0543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AEF9-FFC4-8AF5-EC16-384A9A16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24A9-28AD-6938-4C1F-84506F90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CO2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800.000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672974-9B06-9743-8626-C7B6F9F263A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A48123-36D3-BC9E-FAC2-AF2C71B1C17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6FE3BA-1892-2F04-FC87-29803444729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6259CCF-C254-D973-1858-4461595B250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ject 3">
            <a:extLst>
              <a:ext uri="{FF2B5EF4-FFF2-40B4-BE49-F238E27FC236}">
                <a16:creationId xmlns:a16="http://schemas.microsoft.com/office/drawing/2014/main" id="{5E70EF8A-AED3-95CE-0EE7-BAA3752F87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1629155"/>
            <a:ext cx="5326380" cy="451104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45766D4-5E1A-AD1A-BF11-1CBE0375D5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7463" y="1852095"/>
            <a:ext cx="5912680" cy="402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4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F451-1CB2-98CD-7EDF-D04BD40B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9785-2AA7-A290-B241-8B0AC6EA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ED7385-7543-8AC7-907F-B06F828F848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BA7F93-4CBA-A534-695F-041CBD3FE5A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D2615-6FD5-2C36-C575-0C3BDAA191B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7E86F69-DA1B-9793-22C6-0A0F535D3581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0462B1A-6B32-E36A-C6CA-0C4FBA69E873}"/>
              </a:ext>
            </a:extLst>
          </p:cNvPr>
          <p:cNvSpPr txBox="1"/>
          <p:nvPr/>
        </p:nvSpPr>
        <p:spPr>
          <a:xfrm>
            <a:off x="472632" y="2364061"/>
            <a:ext cx="10887758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b="1" dirty="0" err="1"/>
              <a:t>Atraso</a:t>
            </a:r>
            <a:r>
              <a:rPr lang="en-GB" b="1" dirty="0"/>
              <a:t> </a:t>
            </a:r>
            <a:r>
              <a:rPr lang="en-GB" b="1" dirty="0" err="1"/>
              <a:t>evolutivo</a:t>
            </a:r>
            <a:r>
              <a:rPr lang="en-GB" b="1" dirty="0"/>
              <a:t>:</a:t>
            </a:r>
            <a:r>
              <a:rPr lang="en-GB" dirty="0"/>
              <a:t> As </a:t>
            </a:r>
            <a:r>
              <a:rPr lang="en-GB" dirty="0" err="1"/>
              <a:t>espécies</a:t>
            </a:r>
            <a:r>
              <a:rPr lang="en-GB" dirty="0"/>
              <a:t> </a:t>
            </a:r>
            <a:r>
              <a:rPr lang="en-GB" dirty="0" err="1"/>
              <a:t>normalmente</a:t>
            </a:r>
            <a:r>
              <a:rPr lang="en-GB" dirty="0"/>
              <a:t> se </a:t>
            </a:r>
            <a:r>
              <a:rPr lang="en-GB" dirty="0" err="1"/>
              <a:t>adaptam</a:t>
            </a:r>
            <a:r>
              <a:rPr lang="en-GB" dirty="0"/>
              <a:t> a </a:t>
            </a:r>
            <a:r>
              <a:rPr lang="en-GB" dirty="0" err="1"/>
              <a:t>diferentes</a:t>
            </a:r>
            <a:r>
              <a:rPr lang="en-GB" dirty="0"/>
              <a:t> </a:t>
            </a:r>
            <a:r>
              <a:rPr lang="en-GB" dirty="0" err="1"/>
              <a:t>condições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, do </a:t>
            </a:r>
            <a:r>
              <a:rPr lang="en-GB" dirty="0" err="1"/>
              <a:t>ponto</a:t>
            </a:r>
            <a:r>
              <a:rPr lang="en-GB" dirty="0"/>
              <a:t> de vista </a:t>
            </a:r>
            <a:r>
              <a:rPr lang="en-GB" dirty="0" err="1"/>
              <a:t>evolutivo</a:t>
            </a:r>
            <a:r>
              <a:rPr lang="en-GB" dirty="0"/>
              <a:t>, a </a:t>
            </a:r>
            <a:r>
              <a:rPr lang="en-GB" dirty="0" err="1"/>
              <a:t>uma</a:t>
            </a:r>
            <a:r>
              <a:rPr lang="en-GB" dirty="0"/>
              <a:t> taxa </a:t>
            </a:r>
            <a:r>
              <a:rPr lang="en-GB" dirty="0" err="1"/>
              <a:t>média</a:t>
            </a:r>
            <a:r>
              <a:rPr lang="en-GB" dirty="0"/>
              <a:t> de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b="1" dirty="0"/>
              <a:t>1°C </a:t>
            </a:r>
            <a:r>
              <a:rPr lang="en-GB" b="1" dirty="0" err="1"/>
              <a:t>por</a:t>
            </a:r>
            <a:r>
              <a:rPr lang="en-GB" b="1" dirty="0"/>
              <a:t> </a:t>
            </a:r>
            <a:r>
              <a:rPr lang="en-GB" b="1" dirty="0" err="1"/>
              <a:t>milhão</a:t>
            </a:r>
            <a:r>
              <a:rPr lang="en-GB" b="1" dirty="0"/>
              <a:t> de </a:t>
            </a:r>
            <a:r>
              <a:rPr lang="en-GB" b="1" dirty="0" err="1"/>
              <a:t>anos</a:t>
            </a:r>
            <a:r>
              <a:rPr lang="en-GB" dirty="0"/>
              <a:t>. As </a:t>
            </a:r>
            <a:r>
              <a:rPr lang="en-GB" dirty="0" err="1"/>
              <a:t>projeções</a:t>
            </a:r>
            <a:r>
              <a:rPr lang="en-GB" dirty="0"/>
              <a:t> </a:t>
            </a:r>
            <a:r>
              <a:rPr lang="en-GB" dirty="0" err="1"/>
              <a:t>atuais</a:t>
            </a:r>
            <a:r>
              <a:rPr lang="en-GB" dirty="0"/>
              <a:t> </a:t>
            </a:r>
            <a:r>
              <a:rPr lang="en-GB" dirty="0" err="1"/>
              <a:t>sugerem</a:t>
            </a:r>
            <a:r>
              <a:rPr lang="en-GB" dirty="0"/>
              <a:t> um </a:t>
            </a:r>
            <a:r>
              <a:rPr lang="en-GB" dirty="0" err="1"/>
              <a:t>aumento</a:t>
            </a:r>
            <a:r>
              <a:rPr lang="en-GB" dirty="0"/>
              <a:t> </a:t>
            </a:r>
            <a:r>
              <a:rPr lang="en-GB" dirty="0" err="1"/>
              <a:t>potencial</a:t>
            </a:r>
            <a:r>
              <a:rPr lang="en-GB" dirty="0"/>
              <a:t> de </a:t>
            </a:r>
            <a:r>
              <a:rPr lang="en-GB" dirty="0" err="1"/>
              <a:t>vários</a:t>
            </a:r>
            <a:r>
              <a:rPr lang="en-GB" dirty="0"/>
              <a:t> </a:t>
            </a:r>
            <a:r>
              <a:rPr lang="en-GB" dirty="0" err="1"/>
              <a:t>graus</a:t>
            </a:r>
            <a:r>
              <a:rPr lang="en-GB" dirty="0"/>
              <a:t> </a:t>
            </a:r>
            <a:r>
              <a:rPr lang="en-GB" dirty="0" err="1"/>
              <a:t>já</a:t>
            </a:r>
            <a:r>
              <a:rPr lang="en-GB" dirty="0"/>
              <a:t> </a:t>
            </a:r>
            <a:r>
              <a:rPr lang="en-GB" dirty="0" err="1"/>
              <a:t>nos</a:t>
            </a:r>
            <a:r>
              <a:rPr lang="en-GB" dirty="0"/>
              <a:t> </a:t>
            </a:r>
            <a:r>
              <a:rPr lang="en-GB" dirty="0" err="1"/>
              <a:t>próximos</a:t>
            </a:r>
            <a:r>
              <a:rPr lang="en-GB" dirty="0"/>
              <a:t> </a:t>
            </a:r>
            <a:r>
              <a:rPr lang="en-GB" b="1" dirty="0"/>
              <a:t>100 </a:t>
            </a:r>
            <a:r>
              <a:rPr lang="en-GB" b="1" dirty="0" err="1"/>
              <a:t>anos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b="1" dirty="0" err="1"/>
              <a:t>Aumento</a:t>
            </a:r>
            <a:r>
              <a:rPr lang="en-GB" b="1" dirty="0"/>
              <a:t> da </a:t>
            </a:r>
            <a:r>
              <a:rPr lang="en-GB" b="1" dirty="0" err="1"/>
              <a:t>frequência</a:t>
            </a:r>
            <a:r>
              <a:rPr lang="en-GB" b="1" dirty="0"/>
              <a:t> de </a:t>
            </a:r>
            <a:r>
              <a:rPr lang="en-GB" b="1" dirty="0" err="1"/>
              <a:t>eventos</a:t>
            </a:r>
            <a:r>
              <a:rPr lang="en-GB" b="1" dirty="0"/>
              <a:t> </a:t>
            </a:r>
            <a:r>
              <a:rPr lang="en-GB" b="1" dirty="0" err="1"/>
              <a:t>extremos</a:t>
            </a:r>
            <a:r>
              <a:rPr lang="en-GB" dirty="0"/>
              <a:t>.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2720345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6956-5998-E519-5314-385F965F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7137-59B2-12CD-E6E1-340E59F2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03CF51-A882-9C9C-3B3F-2FC0ED92DEF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8CF498-EC9D-6DD3-997E-0C2B236DC18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277678-307A-093F-8824-E3EC350E1B9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550E14-9786-EEEA-75D3-FD92B6E499E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ject 4">
            <a:extLst>
              <a:ext uri="{FF2B5EF4-FFF2-40B4-BE49-F238E27FC236}">
                <a16:creationId xmlns:a16="http://schemas.microsoft.com/office/drawing/2014/main" id="{7681206D-B9F0-2BE3-4665-613935239E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45" y="1570821"/>
            <a:ext cx="4878696" cy="4655081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9666B897-E50C-12FA-412C-ACB93D1FAF60}"/>
              </a:ext>
            </a:extLst>
          </p:cNvPr>
          <p:cNvSpPr txBox="1"/>
          <p:nvPr/>
        </p:nvSpPr>
        <p:spPr>
          <a:xfrm>
            <a:off x="5612129" y="2847213"/>
            <a:ext cx="5883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Conjunto de </a:t>
            </a:r>
            <a:r>
              <a:rPr lang="en-GB" dirty="0" err="1"/>
              <a:t>equações</a:t>
            </a:r>
            <a:r>
              <a:rPr lang="en-GB" dirty="0"/>
              <a:t> </a:t>
            </a:r>
            <a:r>
              <a:rPr lang="en-GB" dirty="0" err="1"/>
              <a:t>matemáticas</a:t>
            </a:r>
            <a:r>
              <a:rPr lang="en-GB" dirty="0"/>
              <a:t> </a:t>
            </a:r>
            <a:r>
              <a:rPr lang="en-GB" dirty="0" err="1"/>
              <a:t>usadas</a:t>
            </a:r>
            <a:r>
              <a:rPr lang="en-GB" dirty="0"/>
              <a:t> para </a:t>
            </a:r>
            <a:r>
              <a:rPr lang="en-GB" dirty="0" err="1"/>
              <a:t>simular</a:t>
            </a:r>
            <a:r>
              <a:rPr lang="en-GB" dirty="0"/>
              <a:t> a </a:t>
            </a:r>
            <a:r>
              <a:rPr lang="en-GB" dirty="0" err="1"/>
              <a:t>transferência</a:t>
            </a:r>
            <a:r>
              <a:rPr lang="en-GB" dirty="0"/>
              <a:t> de </a:t>
            </a:r>
            <a:r>
              <a:rPr lang="en-GB" dirty="0" err="1"/>
              <a:t>energia</a:t>
            </a:r>
            <a:r>
              <a:rPr lang="en-GB" dirty="0"/>
              <a:t> e </a:t>
            </a:r>
            <a:r>
              <a:rPr lang="en-GB" dirty="0" err="1"/>
              <a:t>materiais</a:t>
            </a:r>
            <a:r>
              <a:rPr lang="en-GB" dirty="0"/>
              <a:t> </a:t>
            </a:r>
            <a:r>
              <a:rPr lang="en-GB" dirty="0" err="1"/>
              <a:t>através</a:t>
            </a:r>
            <a:r>
              <a:rPr lang="en-GB" dirty="0"/>
              <a:t> do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climático</a:t>
            </a:r>
            <a:r>
              <a:rPr lang="en-GB" dirty="0"/>
              <a:t>. </a:t>
            </a:r>
            <a:r>
              <a:rPr lang="en-GB" dirty="0" err="1"/>
              <a:t>Essas</a:t>
            </a:r>
            <a:r>
              <a:rPr lang="en-GB" dirty="0"/>
              <a:t> </a:t>
            </a:r>
            <a:r>
              <a:rPr lang="en-GB" dirty="0" err="1"/>
              <a:t>equações</a:t>
            </a:r>
            <a:r>
              <a:rPr lang="en-GB" dirty="0"/>
              <a:t> </a:t>
            </a:r>
            <a:r>
              <a:rPr lang="en-GB" dirty="0" err="1"/>
              <a:t>precisam</a:t>
            </a:r>
            <a:r>
              <a:rPr lang="en-GB" dirty="0"/>
              <a:t> ser </a:t>
            </a:r>
            <a:r>
              <a:rPr lang="en-GB" dirty="0" err="1"/>
              <a:t>resolvidas</a:t>
            </a:r>
            <a:r>
              <a:rPr lang="en-GB" dirty="0"/>
              <a:t> para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célula</a:t>
            </a:r>
            <a:r>
              <a:rPr lang="en-GB" dirty="0"/>
              <a:t> da grade e para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intervalo</a:t>
            </a:r>
            <a:r>
              <a:rPr lang="en-GB" dirty="0"/>
              <a:t> de tempo.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98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EE87-5EB7-54E1-054A-C8B187A0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58D2-0A6F-D9C2-B43A-3ED971DA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58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precisamos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44A572-527A-5D33-C16E-AEA5903AE8D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E76AE-DCC9-79D8-0545-667558944F7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5D7FA-52DB-A334-C16E-47A968E3D02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FB22AB8-B443-6541-D1D5-FE184F5C3A9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486ADF-0558-3A54-CDF7-4FE050D7009D}"/>
              </a:ext>
            </a:extLst>
          </p:cNvPr>
          <p:cNvSpPr txBox="1"/>
          <p:nvPr/>
        </p:nvSpPr>
        <p:spPr>
          <a:xfrm>
            <a:off x="375058" y="1633302"/>
            <a:ext cx="11515725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Eles são as únicas ferramentas científicas confiáveis ​​para prever o clima futuro, incluindo seus impactos necessários para elaborar políticas apropriadas. Exemplo: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FF6810-DC84-9518-C92A-EC7205786318}"/>
              </a:ext>
            </a:extLst>
          </p:cNvPr>
          <p:cNvGrpSpPr/>
          <p:nvPr/>
        </p:nvGrpSpPr>
        <p:grpSpPr>
          <a:xfrm>
            <a:off x="531401" y="2876880"/>
            <a:ext cx="11051929" cy="3062072"/>
            <a:chOff x="467439" y="2729126"/>
            <a:chExt cx="11051929" cy="306207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D6224F-88D2-FA69-0F59-BCBF39F84820}"/>
                </a:ext>
              </a:extLst>
            </p:cNvPr>
            <p:cNvSpPr txBox="1"/>
            <p:nvPr/>
          </p:nvSpPr>
          <p:spPr>
            <a:xfrm>
              <a:off x="7520235" y="2734762"/>
              <a:ext cx="3135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Changing climate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20CCAA-9E54-A0FF-9B67-55EFDF54F5CB}"/>
                </a:ext>
              </a:extLst>
            </p:cNvPr>
            <p:cNvSpPr/>
            <p:nvPr/>
          </p:nvSpPr>
          <p:spPr>
            <a:xfrm>
              <a:off x="3478402" y="3415586"/>
              <a:ext cx="1794587" cy="120364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/>
                <a:t>Crop yield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0B31C4-BF10-8EA6-8C41-166C099E188F}"/>
                </a:ext>
              </a:extLst>
            </p:cNvPr>
            <p:cNvSpPr/>
            <p:nvPr/>
          </p:nvSpPr>
          <p:spPr>
            <a:xfrm>
              <a:off x="606490" y="3415586"/>
              <a:ext cx="1521445" cy="120364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/>
                <a:t>Current climate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C310256-DDE3-DFFE-408F-1C330A39BB2F}"/>
                </a:ext>
              </a:extLst>
            </p:cNvPr>
            <p:cNvCxnSpPr/>
            <p:nvPr/>
          </p:nvCxnSpPr>
          <p:spPr>
            <a:xfrm>
              <a:off x="2219325" y="4027132"/>
              <a:ext cx="116768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D400D4-921A-36F1-41FB-F427C06C89C2}"/>
                </a:ext>
              </a:extLst>
            </p:cNvPr>
            <p:cNvSpPr/>
            <p:nvPr/>
          </p:nvSpPr>
          <p:spPr>
            <a:xfrm>
              <a:off x="467439" y="5143499"/>
              <a:ext cx="1612835" cy="6476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/>
                <a:t>Input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28C3EF-B14E-EAAD-65EF-80D068F1FE28}"/>
                </a:ext>
              </a:extLst>
            </p:cNvPr>
            <p:cNvSpPr txBox="1"/>
            <p:nvPr/>
          </p:nvSpPr>
          <p:spPr>
            <a:xfrm>
              <a:off x="2219325" y="5282681"/>
              <a:ext cx="1794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Crop model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3F3ADD-6723-AA79-3F03-DE348DE53DE5}"/>
                </a:ext>
              </a:extLst>
            </p:cNvPr>
            <p:cNvSpPr/>
            <p:nvPr/>
          </p:nvSpPr>
          <p:spPr>
            <a:xfrm>
              <a:off x="3660154" y="5143498"/>
              <a:ext cx="1612835" cy="6476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/>
                <a:t>Output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86BE7B-4221-2F38-D446-F8B4BE18C4F9}"/>
                </a:ext>
              </a:extLst>
            </p:cNvPr>
            <p:cNvCxnSpPr/>
            <p:nvPr/>
          </p:nvCxnSpPr>
          <p:spPr>
            <a:xfrm flipV="1">
              <a:off x="1367212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451FA7C-13CC-A032-1F14-01FB8CDA3F5F}"/>
                </a:ext>
              </a:extLst>
            </p:cNvPr>
            <p:cNvCxnSpPr/>
            <p:nvPr/>
          </p:nvCxnSpPr>
          <p:spPr>
            <a:xfrm flipV="1">
              <a:off x="2803168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5288699-C141-6FB3-0136-C161B31FF6CF}"/>
                </a:ext>
              </a:extLst>
            </p:cNvPr>
            <p:cNvCxnSpPr/>
            <p:nvPr/>
          </p:nvCxnSpPr>
          <p:spPr>
            <a:xfrm flipV="1">
              <a:off x="4375695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ED02A2-D1CC-FEC9-5EF0-A7DB9A5687DB}"/>
                </a:ext>
              </a:extLst>
            </p:cNvPr>
            <p:cNvSpPr/>
            <p:nvPr/>
          </p:nvSpPr>
          <p:spPr>
            <a:xfrm>
              <a:off x="9724781" y="3398208"/>
              <a:ext cx="1794587" cy="120364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>
                  <a:solidFill>
                    <a:schemeClr val="tx1"/>
                  </a:solidFill>
                </a:rPr>
                <a:t>Crop yield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BA7BBF-71F5-4BF6-360F-213F2B977F14}"/>
                </a:ext>
              </a:extLst>
            </p:cNvPr>
            <p:cNvSpPr/>
            <p:nvPr/>
          </p:nvSpPr>
          <p:spPr>
            <a:xfrm>
              <a:off x="6852869" y="3398208"/>
              <a:ext cx="1521445" cy="120364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/>
                <a:t>Changing climate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D3E067-D31D-86A5-7934-1BECEA7D77BE}"/>
                </a:ext>
              </a:extLst>
            </p:cNvPr>
            <p:cNvCxnSpPr/>
            <p:nvPr/>
          </p:nvCxnSpPr>
          <p:spPr>
            <a:xfrm>
              <a:off x="8465704" y="4009754"/>
              <a:ext cx="116768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4BD8B5-BAD3-A3D3-D91A-F9033A613C23}"/>
                </a:ext>
              </a:extLst>
            </p:cNvPr>
            <p:cNvSpPr/>
            <p:nvPr/>
          </p:nvSpPr>
          <p:spPr>
            <a:xfrm>
              <a:off x="6713818" y="5126121"/>
              <a:ext cx="1612835" cy="6476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CD0B19-5AE3-1FCD-0926-687A597155FB}"/>
                </a:ext>
              </a:extLst>
            </p:cNvPr>
            <p:cNvSpPr txBox="1"/>
            <p:nvPr/>
          </p:nvSpPr>
          <p:spPr>
            <a:xfrm>
              <a:off x="8465704" y="5265303"/>
              <a:ext cx="1794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/>
                <a:t>Crop model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752BEB-6F4B-1091-52C5-F39776A642A1}"/>
                </a:ext>
              </a:extLst>
            </p:cNvPr>
            <p:cNvSpPr/>
            <p:nvPr/>
          </p:nvSpPr>
          <p:spPr>
            <a:xfrm>
              <a:off x="9906533" y="5126120"/>
              <a:ext cx="1612835" cy="6476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/>
                <a:t>Output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C3E1AE-C96A-316E-DC24-47F317FBE78C}"/>
                </a:ext>
              </a:extLst>
            </p:cNvPr>
            <p:cNvCxnSpPr/>
            <p:nvPr/>
          </p:nvCxnSpPr>
          <p:spPr>
            <a:xfrm flipV="1">
              <a:off x="7613591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6C56927-8FB8-C4E7-DBBC-B986AE1E8B14}"/>
                </a:ext>
              </a:extLst>
            </p:cNvPr>
            <p:cNvCxnSpPr/>
            <p:nvPr/>
          </p:nvCxnSpPr>
          <p:spPr>
            <a:xfrm flipV="1">
              <a:off x="9049547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22A450A-8F51-C124-44D4-179E6DD9ACE0}"/>
                </a:ext>
              </a:extLst>
            </p:cNvPr>
            <p:cNvCxnSpPr/>
            <p:nvPr/>
          </p:nvCxnSpPr>
          <p:spPr>
            <a:xfrm flipV="1">
              <a:off x="10622074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EF3F3D-63AB-0FE0-BB60-24704932BF47}"/>
                </a:ext>
              </a:extLst>
            </p:cNvPr>
            <p:cNvSpPr txBox="1"/>
            <p:nvPr/>
          </p:nvSpPr>
          <p:spPr>
            <a:xfrm>
              <a:off x="1819469" y="2729126"/>
              <a:ext cx="3135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Current state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FBD0895-24DB-A238-7BE3-E6719EEE1294}"/>
              </a:ext>
            </a:extLst>
          </p:cNvPr>
          <p:cNvSpPr txBox="1"/>
          <p:nvPr/>
        </p:nvSpPr>
        <p:spPr>
          <a:xfrm>
            <a:off x="1883431" y="6345498"/>
            <a:ext cx="922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solidFill>
                  <a:srgbClr val="FF0000"/>
                </a:solidFill>
              </a:rPr>
              <a:t>“Todos </a:t>
            </a:r>
            <a:r>
              <a:rPr lang="en-GB" b="1" u="sng" dirty="0" err="1">
                <a:solidFill>
                  <a:srgbClr val="FF0000"/>
                </a:solidFill>
              </a:rPr>
              <a:t>os</a:t>
            </a:r>
            <a:r>
              <a:rPr lang="en-GB" b="1" u="sng" dirty="0">
                <a:solidFill>
                  <a:srgbClr val="FF0000"/>
                </a:solidFill>
              </a:rPr>
              <a:t> </a:t>
            </a:r>
            <a:r>
              <a:rPr lang="en-GB" b="1" u="sng" dirty="0" err="1">
                <a:solidFill>
                  <a:srgbClr val="FF0000"/>
                </a:solidFill>
              </a:rPr>
              <a:t>modelos</a:t>
            </a:r>
            <a:r>
              <a:rPr lang="en-GB" b="1" u="sng" dirty="0">
                <a:solidFill>
                  <a:srgbClr val="FF0000"/>
                </a:solidFill>
              </a:rPr>
              <a:t> </a:t>
            </a:r>
            <a:r>
              <a:rPr lang="en-GB" b="1" u="sng" dirty="0" err="1">
                <a:solidFill>
                  <a:srgbClr val="FF0000"/>
                </a:solidFill>
              </a:rPr>
              <a:t>estão</a:t>
            </a:r>
            <a:r>
              <a:rPr lang="en-GB" b="1" u="sng" dirty="0">
                <a:solidFill>
                  <a:srgbClr val="FF0000"/>
                </a:solidFill>
              </a:rPr>
              <a:t> </a:t>
            </a:r>
            <a:r>
              <a:rPr lang="en-GB" b="1" u="sng" dirty="0" err="1">
                <a:solidFill>
                  <a:srgbClr val="FF0000"/>
                </a:solidFill>
              </a:rPr>
              <a:t>errados</a:t>
            </a:r>
            <a:r>
              <a:rPr lang="en-GB" b="1" u="sng" dirty="0">
                <a:solidFill>
                  <a:srgbClr val="FF0000"/>
                </a:solidFill>
              </a:rPr>
              <a:t>, mas </a:t>
            </a:r>
            <a:r>
              <a:rPr lang="en-GB" b="1" u="sng" dirty="0" err="1">
                <a:solidFill>
                  <a:srgbClr val="FF0000"/>
                </a:solidFill>
              </a:rPr>
              <a:t>alguns</a:t>
            </a:r>
            <a:r>
              <a:rPr lang="en-GB" b="1" u="sng" dirty="0">
                <a:solidFill>
                  <a:srgbClr val="FF0000"/>
                </a:solidFill>
              </a:rPr>
              <a:t> </a:t>
            </a:r>
            <a:r>
              <a:rPr lang="en-GB" b="1" u="sng" dirty="0" err="1">
                <a:solidFill>
                  <a:srgbClr val="FF0000"/>
                </a:solidFill>
              </a:rPr>
              <a:t>são</a:t>
            </a:r>
            <a:r>
              <a:rPr lang="en-GB" b="1" u="sng" dirty="0">
                <a:solidFill>
                  <a:srgbClr val="FF0000"/>
                </a:solidFill>
              </a:rPr>
              <a:t> </a:t>
            </a:r>
            <a:r>
              <a:rPr lang="en-GB" b="1" u="sng" dirty="0" err="1">
                <a:solidFill>
                  <a:srgbClr val="FF0000"/>
                </a:solidFill>
              </a:rPr>
              <a:t>úteis</a:t>
            </a:r>
            <a:r>
              <a:rPr lang="en-GB" b="1" u="sng" dirty="0">
                <a:solidFill>
                  <a:srgbClr val="FF0000"/>
                </a:solidFill>
              </a:rPr>
              <a:t>”</a:t>
            </a:r>
            <a:r>
              <a:rPr lang="en-GB" dirty="0"/>
              <a:t> — </a:t>
            </a:r>
            <a:r>
              <a:rPr lang="en-GB" b="1" dirty="0"/>
              <a:t>George E. P. Box (1976)</a:t>
            </a:r>
            <a:endParaRPr lang="en-IT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06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9C59-D7CF-3E0C-206D-9F733F52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F921-D6D1-2AC8-83A6-089D2951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6DD99F-E007-53D1-AD7D-190D7A45B4A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F9E155-2A20-1A0B-13D1-E76AF2DDFB6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AEDC0B-A421-ED35-AEC9-30122F32705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26D0A19-BD91-1F83-B258-2522A5A3470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1F9D08-9FA8-650A-AD66-D4343E0E70D1}"/>
              </a:ext>
            </a:extLst>
          </p:cNvPr>
          <p:cNvSpPr txBox="1"/>
          <p:nvPr/>
        </p:nvSpPr>
        <p:spPr>
          <a:xfrm>
            <a:off x="291775" y="1708279"/>
            <a:ext cx="11234057" cy="25423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Não existe um melhor modelo climático porque: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Diversidade de abordagens igualmente plausíveis para modelar sistemas climáticos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Difícil estabelecer a relação exata entre a duplicação da concentração de gases de efeito estufa e o aquecimento global </a:t>
            </a:r>
            <a:r>
              <a:rPr lang="en-GB" dirty="0"/>
              <a:t>(</a:t>
            </a:r>
            <a:r>
              <a:rPr lang="en-GB" dirty="0">
                <a:hlinkClick r:id="rId2"/>
              </a:rPr>
              <a:t>climate sensitivity</a:t>
            </a:r>
            <a:r>
              <a:rPr lang="en-GB" dirty="0"/>
              <a:t>)</a:t>
            </a:r>
            <a:endParaRPr lang="en-GB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399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4BF2-3163-AE2A-1628-4C9C9049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504F-D36A-4A63-AF8E-07344242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CMIP (Coupled Model Intercomparison Project)</a:t>
            </a:r>
            <a:b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046C38-059A-926C-AEC0-5E0670D7D2E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2F4B37-D5C6-6396-52E0-4D4877110D9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5BA4F7-1495-1618-04D1-F9D387BAA10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C517D2B-0D28-911B-7ABF-80CAD1EEEF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BC2186-D8F8-D2DA-EF64-CB7BC439067B}"/>
              </a:ext>
            </a:extLst>
          </p:cNvPr>
          <p:cNvSpPr txBox="1"/>
          <p:nvPr/>
        </p:nvSpPr>
        <p:spPr>
          <a:xfrm>
            <a:off x="313378" y="1302136"/>
            <a:ext cx="11747481" cy="2126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Projeto de </a:t>
            </a:r>
            <a:r>
              <a:rPr lang="pt-BR" dirty="0" err="1"/>
              <a:t>Intercomparação</a:t>
            </a:r>
            <a:r>
              <a:rPr lang="pt-BR" dirty="0"/>
              <a:t> de Modelos Acoplados (CMIP) é um projeto do Grupo de Trabalho de Modelagem Acoplada (WGCM) do Programa Mundial de Pesquisa Climática (WCRP).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Os objetivos do CMIP são levar a uma melhor compreensão das mudanças e variabilidades climáticas passadas, presentes e futuras em uma estrutura </a:t>
            </a:r>
            <a:r>
              <a:rPr lang="pt-BR" dirty="0" err="1"/>
              <a:t>multimodelo</a:t>
            </a:r>
            <a:r>
              <a:rPr lang="pt-BR" dirty="0"/>
              <a:t> e coordenada.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Iniciado em 1995, o CMIP encontra-se agora na sua 6ª fase. O CMIP6 é usado para o relatório do IPCC (AR6).</a:t>
            </a:r>
            <a:endParaRPr lang="en-GB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287B8-F371-4808-3646-4650F701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600" y="3415641"/>
            <a:ext cx="4496799" cy="332833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3E7DDE3-4E6B-C62D-D4E3-97B57C8EC692}"/>
              </a:ext>
            </a:extLst>
          </p:cNvPr>
          <p:cNvSpPr/>
          <p:nvPr/>
        </p:nvSpPr>
        <p:spPr>
          <a:xfrm>
            <a:off x="4180114" y="5990253"/>
            <a:ext cx="1838131" cy="23326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91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2D25-2655-B77E-A649-1380C66E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76EA-F026-693A-1D02-19F1D40E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Representative Concentration Pathways (RCPs)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27957B-BF63-1405-C061-D29D951CE78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2A2414-935C-40F8-99E8-C13946A2B15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2710C7-1CB9-59E8-933E-13EDB9CF2D4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AA2B156-117A-96E7-AE29-1285BE80CA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4">
            <a:extLst>
              <a:ext uri="{FF2B5EF4-FFF2-40B4-BE49-F238E27FC236}">
                <a16:creationId xmlns:a16="http://schemas.microsoft.com/office/drawing/2014/main" id="{F900CE6E-E3CC-4C1F-30D0-C61D2BD3DF1D}"/>
              </a:ext>
            </a:extLst>
          </p:cNvPr>
          <p:cNvSpPr txBox="1"/>
          <p:nvPr/>
        </p:nvSpPr>
        <p:spPr>
          <a:xfrm>
            <a:off x="400745" y="1384703"/>
            <a:ext cx="11658600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24485" algn="l"/>
              </a:tabLst>
            </a:pPr>
            <a:r>
              <a:rPr sz="1800" dirty="0">
                <a:latin typeface="Calibri"/>
                <a:cs typeface="Calibri"/>
              </a:rPr>
              <a:t>CMIP5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considered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radiative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forcings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methane,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aerosol)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spanning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2.6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</a:t>
            </a:r>
            <a:endParaRPr sz="1800" dirty="0">
              <a:latin typeface="Calibri"/>
              <a:cs typeface="Calibri"/>
            </a:endParaRPr>
          </a:p>
          <a:p>
            <a:pPr marL="3244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8.5 </a:t>
            </a:r>
            <a:r>
              <a:rPr sz="1800" spc="-20" dirty="0">
                <a:latin typeface="Calibri"/>
                <a:cs typeface="Calibri"/>
              </a:rPr>
              <a:t>W/m</a:t>
            </a:r>
            <a:r>
              <a:rPr sz="1800" spc="-30" baseline="25462" dirty="0">
                <a:latin typeface="Calibri"/>
                <a:cs typeface="Calibri"/>
              </a:rPr>
              <a:t>2</a:t>
            </a:r>
            <a:endParaRPr sz="1800" baseline="25462" dirty="0">
              <a:latin typeface="Calibri"/>
              <a:cs typeface="Calibri"/>
            </a:endParaRPr>
          </a:p>
          <a:p>
            <a:pPr marL="3238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2385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happen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global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climate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certain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concentration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of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greenhouse</a:t>
            </a:r>
            <a:r>
              <a:rPr sz="18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gasses</a:t>
            </a:r>
            <a:r>
              <a:rPr sz="1800" spc="-9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the</a:t>
            </a:r>
            <a:endParaRPr sz="1800" dirty="0">
              <a:latin typeface="Calibri"/>
              <a:cs typeface="Calibri"/>
            </a:endParaRPr>
          </a:p>
          <a:p>
            <a:pPr marL="3244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atmosphere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5F40E563-3B33-5FCD-8853-14957043CF5D}"/>
              </a:ext>
            </a:extLst>
          </p:cNvPr>
          <p:cNvSpPr txBox="1"/>
          <p:nvPr/>
        </p:nvSpPr>
        <p:spPr>
          <a:xfrm>
            <a:off x="939123" y="5448322"/>
            <a:ext cx="5623560" cy="114427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latin typeface="Calibri"/>
                <a:cs typeface="Calibri"/>
              </a:rPr>
              <a:t>Resources: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8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https://link.springer.com/article/10.1007/s10584-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011-0148-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z</a:t>
            </a:r>
            <a:r>
              <a:rPr sz="1600" spc="4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(RCPs) 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https://link.springer.com/article/10.1007/s10584-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013-0904-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3</a:t>
            </a:r>
            <a:r>
              <a:rPr sz="1600" spc="45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(SSPs)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A0D84EA-814A-43C2-4018-CC35EAA5E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88823"/>
              </p:ext>
            </p:extLst>
          </p:nvPr>
        </p:nvGraphicFramePr>
        <p:xfrm>
          <a:off x="1754082" y="3272939"/>
          <a:ext cx="8127364" cy="206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8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RCP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8970" marR="1225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Relative radiative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forcing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575" b="1" baseline="-21164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575" b="1" spc="135" baseline="-211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Global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warming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41973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575" b="1" baseline="-21164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575" b="1" spc="135" baseline="-211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emission pathway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1.9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1.9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450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1.5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Zero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2.6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2.6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490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Zero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2075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4.5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4.5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650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Falling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8.5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1370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rising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572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FCF7-24B5-AC2F-DB61-6F844665B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E589-A046-3CC4-A30C-913315B8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Socioeconomic Pathways (SSPs)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0FA118-18AD-B841-20A0-7E5D6A6D892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C8BB3B-2CB3-E20E-CC7E-F2C23EAFA52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9DBE664-E7EF-91C1-A52E-B97E0F5E97C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2196FEF-3267-06C9-368B-940A5E93B7A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4">
            <a:extLst>
              <a:ext uri="{FF2B5EF4-FFF2-40B4-BE49-F238E27FC236}">
                <a16:creationId xmlns:a16="http://schemas.microsoft.com/office/drawing/2014/main" id="{B1BBA5B5-2E4E-B495-D0A5-DAD777FAAF17}"/>
              </a:ext>
            </a:extLst>
          </p:cNvPr>
          <p:cNvSpPr txBox="1"/>
          <p:nvPr/>
        </p:nvSpPr>
        <p:spPr>
          <a:xfrm>
            <a:off x="400745" y="1873537"/>
            <a:ext cx="11581765" cy="488595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GB" b="1" dirty="0" err="1">
                <a:cs typeface="Arial" panose="020B0604020202020204" pitchFamily="34" charset="0"/>
              </a:rPr>
              <a:t>Os</a:t>
            </a:r>
            <a:r>
              <a:rPr lang="en-GB" b="1" dirty="0">
                <a:cs typeface="Arial" panose="020B0604020202020204" pitchFamily="34" charset="0"/>
              </a:rPr>
              <a:t> RCPs </a:t>
            </a:r>
            <a:r>
              <a:rPr lang="en-GB" b="1" dirty="0" err="1">
                <a:cs typeface="Arial" panose="020B0604020202020204" pitchFamily="34" charset="0"/>
              </a:rPr>
              <a:t>não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nos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dizem</a:t>
            </a:r>
            <a:r>
              <a:rPr lang="en-GB" b="1" dirty="0">
                <a:cs typeface="Arial" panose="020B0604020202020204" pitchFamily="34" charset="0"/>
              </a:rPr>
              <a:t> nada </a:t>
            </a:r>
            <a:r>
              <a:rPr lang="en-GB" b="1" dirty="0" err="1">
                <a:cs typeface="Arial" panose="020B0604020202020204" pitchFamily="34" charset="0"/>
              </a:rPr>
              <a:t>sobre</a:t>
            </a:r>
            <a:r>
              <a:rPr lang="en-GB" b="1" dirty="0">
                <a:cs typeface="Arial" panose="020B0604020202020204" pitchFamily="34" charset="0"/>
              </a:rPr>
              <a:t> o </a:t>
            </a:r>
            <a:r>
              <a:rPr lang="en-GB" b="1" dirty="0" err="1">
                <a:cs typeface="Arial" panose="020B0604020202020204" pitchFamily="34" charset="0"/>
              </a:rPr>
              <a:t>desenvolvimento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socioeconómico</a:t>
            </a:r>
            <a:r>
              <a:rPr lang="en-GB" b="1" dirty="0">
                <a:cs typeface="Arial" panose="020B0604020202020204" pitchFamily="34" charset="0"/>
              </a:rPr>
              <a:t>. </a:t>
            </a:r>
            <a:r>
              <a:rPr lang="en-GB" b="1" dirty="0" err="1">
                <a:cs typeface="Arial" panose="020B0604020202020204" pitchFamily="34" charset="0"/>
              </a:rPr>
              <a:t>Os</a:t>
            </a:r>
            <a:r>
              <a:rPr lang="en-GB" b="1" dirty="0">
                <a:cs typeface="Arial" panose="020B0604020202020204" pitchFamily="34" charset="0"/>
              </a:rPr>
              <a:t> RCPs </a:t>
            </a:r>
            <a:r>
              <a:rPr lang="en-GB" b="1" dirty="0" err="1">
                <a:cs typeface="Arial" panose="020B0604020202020204" pitchFamily="34" charset="0"/>
              </a:rPr>
              <a:t>são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apenas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trajetórias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climáticas</a:t>
            </a:r>
            <a:r>
              <a:rPr lang="en-GB" b="1" dirty="0">
                <a:cs typeface="Arial" panose="020B0604020202020204" pitchFamily="34" charset="0"/>
              </a:rPr>
              <a:t>.</a:t>
            </a:r>
          </a:p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GB" dirty="0" err="1">
                <a:cs typeface="Arial" panose="020B0604020202020204" pitchFamily="34" charset="0"/>
              </a:rPr>
              <a:t>Os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Caminhos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Socioeconómicos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Partilhados</a:t>
            </a:r>
            <a:r>
              <a:rPr lang="en-GB" b="1" dirty="0">
                <a:cs typeface="Arial" panose="020B0604020202020204" pitchFamily="34" charset="0"/>
              </a:rPr>
              <a:t> (SSPs)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são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cenários</a:t>
            </a:r>
            <a:r>
              <a:rPr lang="en-GB" dirty="0">
                <a:cs typeface="Arial" panose="020B0604020202020204" pitchFamily="34" charset="0"/>
              </a:rPr>
              <a:t> de </a:t>
            </a:r>
            <a:r>
              <a:rPr lang="en-GB" dirty="0" err="1">
                <a:cs typeface="Arial" panose="020B0604020202020204" pitchFamily="34" charset="0"/>
              </a:rPr>
              <a:t>projeções</a:t>
            </a:r>
            <a:r>
              <a:rPr lang="en-GB" dirty="0">
                <a:cs typeface="Arial" panose="020B0604020202020204" pitchFamily="34" charset="0"/>
              </a:rPr>
              <a:t> de </a:t>
            </a:r>
            <a:r>
              <a:rPr lang="en-GB" dirty="0" err="1">
                <a:cs typeface="Arial" panose="020B0604020202020204" pitchFamily="34" charset="0"/>
              </a:rPr>
              <a:t>mudanças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socioeconómicas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globais</a:t>
            </a:r>
            <a:br>
              <a:rPr lang="en-GB" dirty="0">
                <a:cs typeface="Arial" panose="020B0604020202020204" pitchFamily="34" charset="0"/>
              </a:rPr>
            </a:br>
            <a:r>
              <a:rPr lang="en-GB" dirty="0">
                <a:cs typeface="Arial" panose="020B0604020202020204" pitchFamily="34" charset="0"/>
              </a:rPr>
              <a:t>(</a:t>
            </a:r>
            <a:r>
              <a:rPr lang="en-GB" dirty="0" err="1">
                <a:cs typeface="Arial" panose="020B0604020202020204" pitchFamily="34" charset="0"/>
              </a:rPr>
              <a:t>cobertura</a:t>
            </a:r>
            <a:r>
              <a:rPr lang="en-GB" dirty="0">
                <a:cs typeface="Arial" panose="020B0604020202020204" pitchFamily="34" charset="0"/>
              </a:rPr>
              <a:t> do solo, </a:t>
            </a:r>
            <a:r>
              <a:rPr lang="en-GB" dirty="0" err="1">
                <a:cs typeface="Arial" panose="020B0604020202020204" pitchFamily="34" charset="0"/>
              </a:rPr>
              <a:t>população</a:t>
            </a:r>
            <a:r>
              <a:rPr lang="en-GB" dirty="0">
                <a:cs typeface="Arial" panose="020B0604020202020204" pitchFamily="34" charset="0"/>
              </a:rPr>
              <a:t>, PIB, </a:t>
            </a:r>
            <a:r>
              <a:rPr lang="en-GB" dirty="0" err="1">
                <a:cs typeface="Arial" panose="020B0604020202020204" pitchFamily="34" charset="0"/>
              </a:rPr>
              <a:t>urbanização</a:t>
            </a:r>
            <a:r>
              <a:rPr lang="en-GB" dirty="0">
                <a:cs typeface="Arial" panose="020B0604020202020204" pitchFamily="34" charset="0"/>
              </a:rPr>
              <a:t>, etc.).</a:t>
            </a:r>
          </a:p>
          <a:p>
            <a:pPr marL="299085" marR="5080" indent="-287020">
              <a:lnSpc>
                <a:spcPct val="150000"/>
              </a:lnSpc>
              <a:buFont typeface="Wingdings"/>
              <a:buChar char=""/>
              <a:tabLst>
                <a:tab pos="299085" algn="l"/>
              </a:tabLst>
            </a:pPr>
            <a:r>
              <a:rPr lang="en-GB" dirty="0" err="1">
                <a:cs typeface="Arial" panose="020B0604020202020204" pitchFamily="34" charset="0"/>
              </a:rPr>
              <a:t>Integrar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b="1" dirty="0">
                <a:cs typeface="Arial" panose="020B0604020202020204" pitchFamily="34" charset="0"/>
              </a:rPr>
              <a:t>RCPs com SSPs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permite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analisar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trajetórias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futuras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combinando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cenários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climáticos</a:t>
            </a:r>
            <a:r>
              <a:rPr lang="en-GB" dirty="0">
                <a:cs typeface="Arial" panose="020B0604020202020204" pitchFamily="34" charset="0"/>
              </a:rPr>
              <a:t> e </a:t>
            </a:r>
            <a:r>
              <a:rPr lang="en-GB" b="1" dirty="0" err="1">
                <a:cs typeface="Arial" panose="020B0604020202020204" pitchFamily="34" charset="0"/>
              </a:rPr>
              <a:t>socioeconómicos</a:t>
            </a:r>
            <a:r>
              <a:rPr lang="en-GB" dirty="0">
                <a:cs typeface="Arial" panose="020B0604020202020204" pitchFamily="34" charset="0"/>
              </a:rPr>
              <a:t>.</a:t>
            </a:r>
          </a:p>
          <a:p>
            <a:pPr marL="12065" marR="5080">
              <a:lnSpc>
                <a:spcPct val="150000"/>
              </a:lnSpc>
              <a:tabLst>
                <a:tab pos="299085" algn="l"/>
              </a:tabLst>
            </a:pPr>
            <a:endParaRPr sz="1800" dirty="0">
              <a:cs typeface="Calibri"/>
            </a:endParaRPr>
          </a:p>
          <a:p>
            <a:pPr marL="616585" lvl="1" indent="-342900">
              <a:lnSpc>
                <a:spcPct val="100000"/>
              </a:lnSpc>
              <a:buAutoNum type="arabicPeriod"/>
              <a:tabLst>
                <a:tab pos="616585" algn="l"/>
              </a:tabLst>
            </a:pPr>
            <a:r>
              <a:rPr sz="1800" b="1" dirty="0">
                <a:cs typeface="Calibri"/>
              </a:rPr>
              <a:t>SSP1</a:t>
            </a:r>
            <a:r>
              <a:rPr sz="1800" b="1" spc="-40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(Sustainability)</a:t>
            </a:r>
            <a:endParaRPr sz="1800" dirty="0">
              <a:cs typeface="Calibri"/>
            </a:endParaRPr>
          </a:p>
          <a:p>
            <a:pPr marL="616585" lvl="1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616585" algn="l"/>
              </a:tabLst>
            </a:pPr>
            <a:r>
              <a:rPr sz="1800" b="1" dirty="0">
                <a:cs typeface="Calibri"/>
              </a:rPr>
              <a:t>SSP2</a:t>
            </a:r>
            <a:r>
              <a:rPr sz="1800" b="1" spc="-40" dirty="0">
                <a:cs typeface="Calibri"/>
              </a:rPr>
              <a:t> </a:t>
            </a:r>
            <a:r>
              <a:rPr sz="1800" dirty="0">
                <a:cs typeface="Calibri"/>
              </a:rPr>
              <a:t>(Middle of</a:t>
            </a:r>
            <a:r>
              <a:rPr sz="1800" spc="-45" dirty="0">
                <a:cs typeface="Calibri"/>
              </a:rPr>
              <a:t> </a:t>
            </a:r>
            <a:r>
              <a:rPr sz="1800" dirty="0">
                <a:cs typeface="Calibri"/>
              </a:rPr>
              <a:t>the</a:t>
            </a:r>
            <a:r>
              <a:rPr sz="1800" spc="-20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road)</a:t>
            </a:r>
            <a:endParaRPr sz="1800" dirty="0">
              <a:cs typeface="Calibri"/>
            </a:endParaRPr>
          </a:p>
          <a:p>
            <a:pPr marL="616585" lvl="1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616585" algn="l"/>
              </a:tabLst>
            </a:pPr>
            <a:r>
              <a:rPr sz="1800" b="1" dirty="0">
                <a:cs typeface="Calibri"/>
              </a:rPr>
              <a:t>SSP3</a:t>
            </a:r>
            <a:r>
              <a:rPr sz="1800" b="1" spc="-75" dirty="0">
                <a:cs typeface="Calibri"/>
              </a:rPr>
              <a:t> </a:t>
            </a:r>
            <a:r>
              <a:rPr sz="1800" dirty="0">
                <a:cs typeface="Calibri"/>
              </a:rPr>
              <a:t>(Regional</a:t>
            </a:r>
            <a:r>
              <a:rPr sz="1800" spc="-45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rivalry)</a:t>
            </a:r>
            <a:endParaRPr sz="1800" dirty="0">
              <a:cs typeface="Calibri"/>
            </a:endParaRPr>
          </a:p>
          <a:p>
            <a:pPr marL="616585" lvl="1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616585" algn="l"/>
              </a:tabLst>
            </a:pPr>
            <a:r>
              <a:rPr sz="1800" b="1" dirty="0">
                <a:cs typeface="Calibri"/>
              </a:rPr>
              <a:t>SSP4</a:t>
            </a:r>
            <a:r>
              <a:rPr sz="1800" b="1" spc="-40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(Inequality)</a:t>
            </a:r>
            <a:endParaRPr sz="1800" dirty="0">
              <a:cs typeface="Calibri"/>
            </a:endParaRPr>
          </a:p>
          <a:p>
            <a:pPr marL="616585" lvl="1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616585" algn="l"/>
              </a:tabLst>
            </a:pPr>
            <a:r>
              <a:rPr sz="1800" b="1" dirty="0">
                <a:cs typeface="Calibri"/>
              </a:rPr>
              <a:t>SSP5</a:t>
            </a:r>
            <a:r>
              <a:rPr sz="1800" b="1" spc="-45" dirty="0">
                <a:cs typeface="Calibri"/>
              </a:rPr>
              <a:t> </a:t>
            </a:r>
            <a:r>
              <a:rPr sz="1800" dirty="0">
                <a:cs typeface="Calibri"/>
              </a:rPr>
              <a:t>(Fossil</a:t>
            </a:r>
            <a:r>
              <a:rPr sz="1800" spc="-35" dirty="0">
                <a:cs typeface="Calibri"/>
              </a:rPr>
              <a:t> </a:t>
            </a:r>
            <a:r>
              <a:rPr sz="1800" dirty="0">
                <a:cs typeface="Calibri"/>
              </a:rPr>
              <a:t>fuel</a:t>
            </a:r>
            <a:r>
              <a:rPr sz="1800" spc="-40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development)</a:t>
            </a:r>
            <a:endParaRPr sz="1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7451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080C-6AC5-E53C-A135-DE65B269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CA04-102D-F2B1-65BA-CB2B6E3F3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59519-E653-D508-8579-3D3283F21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Conceitos-chave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em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adaptação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às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mudanças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climáticas</a:t>
            </a:r>
            <a:endParaRPr lang="it-IT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 and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B87815-A54C-F0E2-78B3-631838D6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46510B-820E-856F-B56A-111D06BC1D88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CE3ECC-91FB-A57C-A26C-FDCD22386657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939686-A17F-2E53-FB5B-A46B82751F32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9A304BA-74F0-2317-8D7C-D014089C2B57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F652BD-9097-41CC-BB0C-761AF64AAAFA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0D06CA-ED84-40E5-FE5D-AACB614F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B5BD66-018B-3FDD-C07D-316E691ED7D5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67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E5DC-7CF3-CA50-DFF4-753723BA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049A-A1D3-8B5F-48BA-F4A8F87A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F6AB6F-0078-5D69-6B5D-AB62457ED49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8710EA-4996-CE61-C2FF-0C7CA911875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7E3C5C-E7CE-89B2-5001-C0C6B665764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E0D34A3-D9DD-0C0A-7F88-522EC20C22F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object 13">
            <a:extLst>
              <a:ext uri="{FF2B5EF4-FFF2-40B4-BE49-F238E27FC236}">
                <a16:creationId xmlns:a16="http://schemas.microsoft.com/office/drawing/2014/main" id="{A3CA4953-25C3-72A3-BEC6-4E0885A2E4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2239" y="4201335"/>
            <a:ext cx="3847151" cy="1086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8E5EB-C3BF-F49C-09A7-8A5C1F008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439" y="2489487"/>
            <a:ext cx="3973469" cy="3973469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35E77BD8-014C-E3CB-637B-6D3E5D5E0F2A}"/>
              </a:ext>
            </a:extLst>
          </p:cNvPr>
          <p:cNvSpPr txBox="1"/>
          <p:nvPr/>
        </p:nvSpPr>
        <p:spPr>
          <a:xfrm>
            <a:off x="6715497" y="1729136"/>
            <a:ext cx="552259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r>
              <a:rPr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risks</a:t>
            </a:r>
            <a:r>
              <a:rPr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adaptation</a:t>
            </a:r>
            <a:r>
              <a:rPr b="1" spc="-2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1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mitigation</a:t>
            </a:r>
            <a:endParaRPr lang="it-IT" b="1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greenhouse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gas</a:t>
            </a:r>
            <a:r>
              <a:rPr spc="-1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  <a:r>
              <a:rPr spc="-4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mitigation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7FDBF489-7FC9-2C67-B0F8-A569C3B55A9B}"/>
              </a:ext>
            </a:extLst>
          </p:cNvPr>
          <p:cNvSpPr txBox="1"/>
          <p:nvPr/>
        </p:nvSpPr>
        <p:spPr>
          <a:xfrm>
            <a:off x="470442" y="1729135"/>
            <a:ext cx="552259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lang="it-IT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limate</a:t>
            </a:r>
            <a:r>
              <a:rPr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Impacts</a:t>
            </a:r>
            <a:r>
              <a:rPr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Reality</a:t>
            </a:r>
            <a:endParaRPr lang="it-IT" b="1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lang="it-IT"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r>
              <a:rPr lang="it-IT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Risks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spc="-10"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982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7A08-7C7B-DD64-C226-7F0543F4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5B33-75A6-EB78-7D10-F518DCCB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A8F095-729F-84C8-BFF3-ED2ED8B19D1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F8308E-3E31-A3D9-506C-64A23BDA803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E1CA89-BDA8-1A8C-3CA9-E48DD4DC6FC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7ACD7FA-D3B1-B251-CBE6-0D540FD4C92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376A563-3DB7-6856-9F4D-543B66CAB1F3}"/>
              </a:ext>
            </a:extLst>
          </p:cNvPr>
          <p:cNvSpPr txBox="1"/>
          <p:nvPr/>
        </p:nvSpPr>
        <p:spPr>
          <a:xfrm>
            <a:off x="324465" y="1628501"/>
            <a:ext cx="11466789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As </a:t>
            </a:r>
            <a:r>
              <a:rPr lang="en-GB" dirty="0" err="1"/>
              <a:t>mudanças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 </a:t>
            </a:r>
            <a:r>
              <a:rPr lang="en-GB" dirty="0" err="1"/>
              <a:t>afetam</a:t>
            </a:r>
            <a:r>
              <a:rPr lang="en-GB" dirty="0"/>
              <a:t>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aspectos</a:t>
            </a:r>
            <a:r>
              <a:rPr lang="en-GB" dirty="0"/>
              <a:t> de um </a:t>
            </a:r>
            <a:r>
              <a:rPr lang="en-GB" dirty="0" err="1"/>
              <a:t>ecossistema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normalmente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considerados</a:t>
            </a:r>
            <a:r>
              <a:rPr lang="en-GB" dirty="0"/>
              <a:t> no </a:t>
            </a:r>
            <a:r>
              <a:rPr lang="en-GB" dirty="0" err="1"/>
              <a:t>manejo</a:t>
            </a:r>
            <a:r>
              <a:rPr lang="en-GB" dirty="0"/>
              <a:t> </a:t>
            </a:r>
            <a:r>
              <a:rPr lang="en-GB" dirty="0" err="1"/>
              <a:t>pesqueiro</a:t>
            </a:r>
            <a:endParaRPr lang="en-GB" dirty="0"/>
          </a:p>
        </p:txBody>
      </p:sp>
      <p:pic>
        <p:nvPicPr>
          <p:cNvPr id="25" name="Picture 24" descr="A diagram of fish and fish&#10;&#10;AI-generated content may be incorrect.">
            <a:extLst>
              <a:ext uri="{FF2B5EF4-FFF2-40B4-BE49-F238E27FC236}">
                <a16:creationId xmlns:a16="http://schemas.microsoft.com/office/drawing/2014/main" id="{C3B0F44B-06F8-6646-AFB6-B908857BB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32" y="2223281"/>
            <a:ext cx="6599903" cy="4399935"/>
          </a:xfrm>
          <a:prstGeom prst="rect">
            <a:avLst/>
          </a:prstGeom>
        </p:spPr>
      </p:pic>
      <p:sp>
        <p:nvSpPr>
          <p:cNvPr id="27" name="object 8">
            <a:extLst>
              <a:ext uri="{FF2B5EF4-FFF2-40B4-BE49-F238E27FC236}">
                <a16:creationId xmlns:a16="http://schemas.microsoft.com/office/drawing/2014/main" id="{FCDDB317-818B-FA26-C858-3581700331D2}"/>
              </a:ext>
            </a:extLst>
          </p:cNvPr>
          <p:cNvSpPr txBox="1"/>
          <p:nvPr/>
        </p:nvSpPr>
        <p:spPr>
          <a:xfrm>
            <a:off x="10541240" y="6623216"/>
            <a:ext cx="163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900" dirty="0">
                <a:solidFill>
                  <a:srgbClr val="BEBEBE"/>
                </a:solidFill>
                <a:latin typeface="Arial MT"/>
                <a:cs typeface="Arial MT"/>
              </a:rPr>
              <a:t>Author own </a:t>
            </a:r>
            <a:r>
              <a:rPr lang="en-GB" sz="900" dirty="0" err="1">
                <a:solidFill>
                  <a:srgbClr val="BEBEBE"/>
                </a:solidFill>
                <a:latin typeface="Arial MT"/>
                <a:cs typeface="Arial MT"/>
              </a:rPr>
              <a:t>eleboration</a:t>
            </a:r>
            <a:endParaRPr lang="en-GB" sz="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50082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7797-98C1-8978-F4B1-EB6111C3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220-CBBA-D2EE-F5E5-9F128AE1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499469-5041-FEF9-CF16-50BFC3ABE1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F1D641-D9E5-430F-6F5E-48E1C24F4DF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497C2A-E085-7D13-02D1-DCC6CC29A95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F62C17F-2868-0575-8D19-B37C7685B1E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6D6E68-2B56-A118-488A-DC79BDC06EC9}"/>
              </a:ext>
            </a:extLst>
          </p:cNvPr>
          <p:cNvSpPr txBox="1"/>
          <p:nvPr/>
        </p:nvSpPr>
        <p:spPr>
          <a:xfrm>
            <a:off x="987658" y="1905669"/>
            <a:ext cx="11028914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Entre 1997 e 2016, a </a:t>
            </a:r>
            <a:r>
              <a:rPr lang="en-GB" dirty="0" err="1"/>
              <a:t>distribuição</a:t>
            </a:r>
            <a:r>
              <a:rPr lang="en-GB" dirty="0"/>
              <a:t> do </a:t>
            </a:r>
            <a:r>
              <a:rPr lang="en-GB" dirty="0" err="1"/>
              <a:t>cavala</a:t>
            </a:r>
            <a:r>
              <a:rPr lang="en-GB" dirty="0"/>
              <a:t>-do-</a:t>
            </a:r>
            <a:r>
              <a:rPr lang="en-GB" dirty="0" err="1"/>
              <a:t>Atlântico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largo da costa </a:t>
            </a:r>
            <a:r>
              <a:rPr lang="en-GB" dirty="0" err="1"/>
              <a:t>oeste</a:t>
            </a:r>
            <a:r>
              <a:rPr lang="en-GB" dirty="0"/>
              <a:t> da </a:t>
            </a:r>
            <a:r>
              <a:rPr lang="en-GB" dirty="0" err="1"/>
              <a:t>Noruega</a:t>
            </a:r>
            <a:r>
              <a:rPr lang="en-GB" dirty="0"/>
              <a:t> </a:t>
            </a:r>
            <a:r>
              <a:rPr lang="en-GB" dirty="0" err="1"/>
              <a:t>aumentou</a:t>
            </a:r>
            <a:r>
              <a:rPr lang="en-GB" dirty="0"/>
              <a:t> </a:t>
            </a:r>
            <a:r>
              <a:rPr lang="en-GB" dirty="0" err="1"/>
              <a:t>três</a:t>
            </a:r>
            <a:r>
              <a:rPr lang="en-GB" dirty="0"/>
              <a:t> </a:t>
            </a:r>
            <a:r>
              <a:rPr lang="en-GB" dirty="0" err="1"/>
              <a:t>vezes</a:t>
            </a:r>
            <a:r>
              <a:rPr lang="en-IT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dirty="0" err="1"/>
              <a:t>expansão</a:t>
            </a:r>
            <a:r>
              <a:rPr lang="en-GB" dirty="0"/>
              <a:t> da </a:t>
            </a:r>
            <a:r>
              <a:rPr lang="en-GB" dirty="0" err="1"/>
              <a:t>distribuição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direção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oeste</a:t>
            </a:r>
            <a:r>
              <a:rPr lang="en-GB" dirty="0"/>
              <a:t> </a:t>
            </a:r>
            <a:r>
              <a:rPr lang="en-GB" dirty="0" err="1"/>
              <a:t>levou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início</a:t>
            </a:r>
            <a:r>
              <a:rPr lang="en-GB" dirty="0"/>
              <a:t> de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pescaria</a:t>
            </a:r>
            <a:r>
              <a:rPr lang="en-GB" dirty="0"/>
              <a:t> </a:t>
            </a:r>
            <a:r>
              <a:rPr lang="en-GB" dirty="0" err="1"/>
              <a:t>direta</a:t>
            </a:r>
            <a:r>
              <a:rPr lang="en-GB" dirty="0"/>
              <a:t> de </a:t>
            </a:r>
            <a:r>
              <a:rPr lang="en-GB" dirty="0" err="1"/>
              <a:t>cavala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águas</a:t>
            </a:r>
            <a:r>
              <a:rPr lang="en-GB" dirty="0"/>
              <a:t> </a:t>
            </a:r>
            <a:r>
              <a:rPr lang="en-GB" dirty="0" err="1"/>
              <a:t>islandesas</a:t>
            </a:r>
            <a:endParaRPr lang="en-I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F11D9-2BA8-D318-A16F-28E291F31BA1}"/>
              </a:ext>
            </a:extLst>
          </p:cNvPr>
          <p:cNvSpPr txBox="1"/>
          <p:nvPr/>
        </p:nvSpPr>
        <p:spPr>
          <a:xfrm>
            <a:off x="987658" y="4099466"/>
            <a:ext cx="11028914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 “</a:t>
            </a:r>
            <a:r>
              <a:rPr lang="en-GB" dirty="0" err="1"/>
              <a:t>onda</a:t>
            </a:r>
            <a:r>
              <a:rPr lang="en-GB" dirty="0"/>
              <a:t> de </a:t>
            </a:r>
            <a:r>
              <a:rPr lang="en-GB" dirty="0" err="1"/>
              <a:t>calor</a:t>
            </a:r>
            <a:r>
              <a:rPr lang="en-GB" dirty="0"/>
              <a:t> </a:t>
            </a:r>
            <a:r>
              <a:rPr lang="en-GB" dirty="0" err="1"/>
              <a:t>marinha</a:t>
            </a:r>
            <a:r>
              <a:rPr lang="en-GB" dirty="0"/>
              <a:t> </a:t>
            </a:r>
            <a:r>
              <a:rPr lang="en-GB" i="1" dirty="0"/>
              <a:t>Blob</a:t>
            </a:r>
            <a:r>
              <a:rPr lang="en-GB" dirty="0"/>
              <a:t>” </a:t>
            </a:r>
            <a:r>
              <a:rPr lang="en-GB" dirty="0" err="1"/>
              <a:t>em</a:t>
            </a:r>
            <a:r>
              <a:rPr lang="en-GB" dirty="0"/>
              <a:t> 2015 </a:t>
            </a:r>
            <a:r>
              <a:rPr lang="en-GB" dirty="0" err="1"/>
              <a:t>estendeu</a:t>
            </a:r>
            <a:r>
              <a:rPr lang="en-GB" dirty="0"/>
              <a:t>-se do México </a:t>
            </a:r>
            <a:r>
              <a:rPr lang="en-GB" dirty="0" err="1"/>
              <a:t>ao</a:t>
            </a:r>
            <a:r>
              <a:rPr lang="en-GB" dirty="0"/>
              <a:t> Alasca e </a:t>
            </a:r>
            <a:r>
              <a:rPr lang="en-GB" dirty="0" err="1"/>
              <a:t>resultou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aumento</a:t>
            </a:r>
            <a:r>
              <a:rPr lang="en-GB" dirty="0"/>
              <a:t> da </a:t>
            </a:r>
            <a:r>
              <a:rPr lang="en-GB" dirty="0" err="1"/>
              <a:t>área</a:t>
            </a:r>
            <a:r>
              <a:rPr lang="en-GB" dirty="0"/>
              <a:t> de </a:t>
            </a:r>
            <a:r>
              <a:rPr lang="en-GB" dirty="0" err="1"/>
              <a:t>distribuição</a:t>
            </a:r>
            <a:r>
              <a:rPr lang="en-GB" dirty="0"/>
              <a:t> para </a:t>
            </a:r>
            <a:r>
              <a:rPr lang="en-GB" dirty="0" err="1"/>
              <a:t>algumas</a:t>
            </a:r>
            <a:r>
              <a:rPr lang="en-GB" dirty="0"/>
              <a:t> </a:t>
            </a:r>
            <a:r>
              <a:rPr lang="en-GB" dirty="0" err="1"/>
              <a:t>espécies</a:t>
            </a:r>
            <a:r>
              <a:rPr lang="en-GB" dirty="0"/>
              <a:t> e </a:t>
            </a:r>
            <a:r>
              <a:rPr lang="en-GB" dirty="0" err="1"/>
              <a:t>destruição</a:t>
            </a:r>
            <a:r>
              <a:rPr lang="en-GB" dirty="0"/>
              <a:t> de habitat para </a:t>
            </a:r>
            <a:r>
              <a:rPr lang="en-GB" dirty="0" err="1"/>
              <a:t>outras</a:t>
            </a:r>
            <a:r>
              <a:rPr lang="en-GB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Ela </a:t>
            </a:r>
            <a:r>
              <a:rPr lang="en-GB" dirty="0" err="1"/>
              <a:t>provocou</a:t>
            </a:r>
            <a:r>
              <a:rPr lang="en-GB" dirty="0"/>
              <a:t> um </a:t>
            </a:r>
            <a:r>
              <a:rPr lang="en-GB" dirty="0" err="1"/>
              <a:t>aumento</a:t>
            </a:r>
            <a:r>
              <a:rPr lang="en-GB" dirty="0"/>
              <a:t> de 40 </a:t>
            </a:r>
            <a:r>
              <a:rPr lang="en-GB" dirty="0" err="1"/>
              <a:t>vezes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ocorrência</a:t>
            </a:r>
            <a:r>
              <a:rPr lang="en-GB" dirty="0"/>
              <a:t> de </a:t>
            </a:r>
            <a:r>
              <a:rPr lang="en-GB" dirty="0" err="1"/>
              <a:t>lulas</a:t>
            </a:r>
            <a:r>
              <a:rPr lang="en-GB" dirty="0"/>
              <a:t> no Oregon.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Também</a:t>
            </a:r>
            <a:r>
              <a:rPr lang="en-GB" dirty="0"/>
              <a:t> </a:t>
            </a:r>
            <a:r>
              <a:rPr lang="en-GB" dirty="0" err="1"/>
              <a:t>levou</a:t>
            </a:r>
            <a:r>
              <a:rPr lang="en-GB" dirty="0"/>
              <a:t> à </a:t>
            </a:r>
            <a:r>
              <a:rPr lang="en-GB" dirty="0" err="1"/>
              <a:t>redução</a:t>
            </a:r>
            <a:r>
              <a:rPr lang="en-GB" dirty="0"/>
              <a:t> da </a:t>
            </a:r>
            <a:r>
              <a:rPr lang="en-GB" dirty="0" err="1"/>
              <a:t>abundância</a:t>
            </a:r>
            <a:r>
              <a:rPr lang="en-GB" dirty="0"/>
              <a:t> de </a:t>
            </a:r>
            <a:r>
              <a:rPr lang="en-GB" dirty="0" err="1"/>
              <a:t>salmão</a:t>
            </a:r>
            <a:r>
              <a:rPr lang="en-GB" dirty="0"/>
              <a:t> no Golfo do Alasca (com 5,6 </a:t>
            </a:r>
            <a:r>
              <a:rPr lang="en-GB" dirty="0" err="1"/>
              <a:t>milhões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pagamentos</a:t>
            </a:r>
            <a:r>
              <a:rPr lang="en-GB" dirty="0"/>
              <a:t> de </a:t>
            </a:r>
            <a:r>
              <a:rPr lang="en-GB" dirty="0" err="1"/>
              <a:t>ajuda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desastre</a:t>
            </a:r>
            <a:r>
              <a:rPr lang="en-GB" dirty="0"/>
              <a:t>).</a:t>
            </a:r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8F82F-5059-9A65-C042-80B523B0DC5B}"/>
              </a:ext>
            </a:extLst>
          </p:cNvPr>
          <p:cNvSpPr/>
          <p:nvPr/>
        </p:nvSpPr>
        <p:spPr>
          <a:xfrm>
            <a:off x="432699" y="1662538"/>
            <a:ext cx="55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B8E8C1-78EB-3218-D631-63D0558431A9}"/>
              </a:ext>
            </a:extLst>
          </p:cNvPr>
          <p:cNvSpPr/>
          <p:nvPr/>
        </p:nvSpPr>
        <p:spPr>
          <a:xfrm>
            <a:off x="432698" y="3853361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GB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258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DCFA-D14D-CEEC-E669-23AAB71A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717A-AF59-C153-4A9D-34C1603F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agravar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E56F59-2813-1468-E263-66203A1CF2A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D90B8F-D3ED-5839-FA0E-C5BAAFAE2E1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C21B55-504E-F7C7-F979-A0123139D0E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49E2C51-4AF5-94BA-DD9B-F4FB4841DC0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8A037E5E-F9C5-C837-7150-1BC01992F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63" y="2539306"/>
            <a:ext cx="7772400" cy="24901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5571B-14F6-BC0B-9A80-C58DC6565CEC}"/>
              </a:ext>
            </a:extLst>
          </p:cNvPr>
          <p:cNvSpPr txBox="1"/>
          <p:nvPr/>
        </p:nvSpPr>
        <p:spPr>
          <a:xfrm>
            <a:off x="2495124" y="5154006"/>
            <a:ext cx="7335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400" dirty="0">
                <a:solidFill>
                  <a:schemeClr val="accent6">
                    <a:lumMod val="50000"/>
                  </a:schemeClr>
                </a:solidFill>
              </a:rPr>
              <a:t>Source: </a:t>
            </a:r>
            <a:r>
              <a:rPr lang="en-IT" sz="14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Assessment report on biodiversity and ecosystem services (2019)</a:t>
            </a:r>
            <a:endParaRPr lang="en-IT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E19D3-3319-2E2F-C375-B9D6C0A4E1EA}"/>
              </a:ext>
            </a:extLst>
          </p:cNvPr>
          <p:cNvSpPr txBox="1"/>
          <p:nvPr/>
        </p:nvSpPr>
        <p:spPr>
          <a:xfrm>
            <a:off x="2495123" y="2230126"/>
            <a:ext cx="784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Effects of different factors on sustainable fish stocks globally</a:t>
            </a:r>
            <a:endParaRPr lang="en-I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4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ECBE-254B-DCEF-AD5B-517B149F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1F20-17E4-3A27-3637-53ADEF51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Opções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adaptação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E58648-CFA6-36F4-B251-33A7D4ADAFD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D3DDBD-B045-06FD-D90D-BAF852708CE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ABB1C6-0421-965F-4643-E68A27D6338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FC0B067-115E-FDE2-8342-10716FD02E89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8">
            <a:extLst>
              <a:ext uri="{FF2B5EF4-FFF2-40B4-BE49-F238E27FC236}">
                <a16:creationId xmlns:a16="http://schemas.microsoft.com/office/drawing/2014/main" id="{6EFF8A45-88B2-8304-714F-9EB072756640}"/>
              </a:ext>
            </a:extLst>
          </p:cNvPr>
          <p:cNvSpPr txBox="1"/>
          <p:nvPr/>
        </p:nvSpPr>
        <p:spPr>
          <a:xfrm>
            <a:off x="10343724" y="6485565"/>
            <a:ext cx="163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IPCC WGII</a:t>
            </a:r>
            <a:r>
              <a:rPr sz="900" spc="-3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AR6</a:t>
            </a:r>
            <a:r>
              <a:rPr sz="900" spc="-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SPM</a:t>
            </a:r>
            <a:r>
              <a:rPr sz="900" spc="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Figure</a:t>
            </a:r>
            <a:r>
              <a:rPr sz="900" spc="-2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BEBEBE"/>
                </a:solidFill>
                <a:latin typeface="Arial MT"/>
                <a:cs typeface="Arial MT"/>
              </a:rPr>
              <a:t>4a</a:t>
            </a:r>
            <a:endParaRPr sz="900" dirty="0">
              <a:latin typeface="Arial MT"/>
              <a:cs typeface="Arial MT"/>
            </a:endParaRPr>
          </a:p>
        </p:txBody>
      </p:sp>
      <p:pic>
        <p:nvPicPr>
          <p:cNvPr id="7" name="object 9">
            <a:extLst>
              <a:ext uri="{FF2B5EF4-FFF2-40B4-BE49-F238E27FC236}">
                <a16:creationId xmlns:a16="http://schemas.microsoft.com/office/drawing/2014/main" id="{9977E328-B1BB-920E-47C3-6E50A52E2F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091" y="1527633"/>
            <a:ext cx="8772211" cy="5039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0DCB61-9862-CEA7-771A-C8BAF5AF951A}"/>
              </a:ext>
            </a:extLst>
          </p:cNvPr>
          <p:cNvSpPr/>
          <p:nvPr/>
        </p:nvSpPr>
        <p:spPr>
          <a:xfrm>
            <a:off x="3603319" y="3224523"/>
            <a:ext cx="6434983" cy="2157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16310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218C-112D-6EB2-77A0-E09C323B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CCBA-4D1D-0C60-F196-0289038E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Ecosystem Based Fishery Management (EBFM)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B54687-86AD-7582-6186-AF57B5AB6A2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5AD194-98EC-4E9F-C522-EB7644061B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19353F-CC8F-30A5-47BD-081BC56406E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277E3FC-F072-F6EF-9164-3CFFBE92396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250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89B5-7DDC-C329-F68B-0DBE4C4D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EC0D-EED1-0271-4218-58CF800C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Cabo Verde (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sinergias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turismo)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2A8584-ABCB-9F4A-49CA-68F2B2910D6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E7F7A-1ED3-737C-9118-381A026E44C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9BDD26-6FFA-2ACC-3B1F-38A6D27E5F7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58473A9-AEA5-D6FF-F6E0-542FF86690B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sea life&#10;&#10;AI-generated content may be incorrect.">
            <a:extLst>
              <a:ext uri="{FF2B5EF4-FFF2-40B4-BE49-F238E27FC236}">
                <a16:creationId xmlns:a16="http://schemas.microsoft.com/office/drawing/2014/main" id="{FAA6612E-9DE8-5B27-F0F1-4D7969557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2"/>
          <a:stretch>
            <a:fillRect/>
          </a:stretch>
        </p:blipFill>
        <p:spPr>
          <a:xfrm>
            <a:off x="0" y="2047981"/>
            <a:ext cx="7772400" cy="4297517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820B5EF3-C40D-D28D-84CF-7FDB579A3A58}"/>
              </a:ext>
            </a:extLst>
          </p:cNvPr>
          <p:cNvSpPr txBox="1"/>
          <p:nvPr/>
        </p:nvSpPr>
        <p:spPr>
          <a:xfrm>
            <a:off x="10541240" y="6623216"/>
            <a:ext cx="163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900" dirty="0">
                <a:solidFill>
                  <a:srgbClr val="BEBEBE"/>
                </a:solidFill>
                <a:latin typeface="Arial MT"/>
                <a:cs typeface="Arial MT"/>
              </a:rPr>
              <a:t>Author own </a:t>
            </a:r>
            <a:r>
              <a:rPr lang="en-GB" sz="900" dirty="0" err="1">
                <a:solidFill>
                  <a:srgbClr val="BEBEBE"/>
                </a:solidFill>
                <a:latin typeface="Arial MT"/>
                <a:cs typeface="Arial MT"/>
              </a:rPr>
              <a:t>eleboration</a:t>
            </a:r>
            <a:endParaRPr lang="en-GB" sz="900" dirty="0">
              <a:latin typeface="Arial MT"/>
              <a:cs typeface="Arial MT"/>
            </a:endParaRPr>
          </a:p>
        </p:txBody>
      </p:sp>
      <p:pic>
        <p:nvPicPr>
          <p:cNvPr id="1026" name="Picture 2" descr="Turtle watching in Cape Verde ...">
            <a:extLst>
              <a:ext uri="{FF2B5EF4-FFF2-40B4-BE49-F238E27FC236}">
                <a16:creationId xmlns:a16="http://schemas.microsoft.com/office/drawing/2014/main" id="{17034A8A-361F-F1AC-2948-D00790188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890" y="2612393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2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529609" y="3626097"/>
            <a:ext cx="32764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>
                <a:ln/>
                <a:solidFill>
                  <a:schemeClr val="accent4"/>
                </a:solidFill>
                <a:effectLst/>
              </a:rPr>
              <a:t>Obrigado!</a:t>
            </a:r>
            <a:endParaRPr lang="en-GB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3333</TotalTime>
  <Words>1684</Words>
  <Application>Microsoft Macintosh PowerPoint</Application>
  <PresentationFormat>Widescreen</PresentationFormat>
  <Paragraphs>206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Arial MT</vt:lpstr>
      <vt:lpstr>Calibri</vt:lpstr>
      <vt:lpstr>Georgia</vt:lpstr>
      <vt:lpstr>Times New Roman</vt:lpstr>
      <vt:lpstr>Wingdings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Por que estamos aqui </vt:lpstr>
      <vt:lpstr>Contexto</vt:lpstr>
      <vt:lpstr>Programa de Readiness </vt:lpstr>
      <vt:lpstr>Ciclo do projeto </vt:lpstr>
      <vt:lpstr>Technical workshop for GCF project: Climate change and climate change impacts on São Tomé and Príncipe with a focus on fishery and tourism sectors in a Blue Economy context Sao Tome and Principe, November/December 2025</vt:lpstr>
      <vt:lpstr>Coisas importantes a saber sobre as mudanças climáticas </vt:lpstr>
      <vt:lpstr>1,5 graus de aquecimento global</vt:lpstr>
      <vt:lpstr>1,5 graus de aquecimento global</vt:lpstr>
      <vt:lpstr>Os gases do efeito estufa são o que torna a Terra habitável </vt:lpstr>
      <vt:lpstr>80% do aquecimento global é causado pelo CO2 </vt:lpstr>
      <vt:lpstr>Concentração de CO2 nos últimos 800.000 anos  </vt:lpstr>
      <vt:lpstr>Então, onde está o problema?</vt:lpstr>
      <vt:lpstr>O que é um modelo climático? </vt:lpstr>
      <vt:lpstr>Por que precisamos de modelos climáticos?</vt:lpstr>
      <vt:lpstr>Quantos modelos climáticos?</vt:lpstr>
      <vt:lpstr>CMIP (Coupled Model Intercomparison Project) </vt:lpstr>
      <vt:lpstr>Representative Concentration Pathways (RCPs)</vt:lpstr>
      <vt:lpstr>Shared Socioeconomic Pathways (SSPs)</vt:lpstr>
      <vt:lpstr>Technical workshop for GCF project: Climate change and climate change impacts on São Tomé and Príncipe with a focus on fishery and tourism sectors in a Blue Economy context Sao Tome and Principe, November/December 2025</vt:lpstr>
      <vt:lpstr>Impactos e riscos das mudanças climáticas. O que são?</vt:lpstr>
      <vt:lpstr>Impactos e riscos das mudanças climáticas na pesca</vt:lpstr>
      <vt:lpstr>Impactos e riscos das mudanças climáticas na pesca</vt:lpstr>
      <vt:lpstr>O que pode agravar os impactos e riscos das mudanças climáticas?</vt:lpstr>
      <vt:lpstr>Opções de adaptação às mudanças climáticas</vt:lpstr>
      <vt:lpstr>Ecosystem Based Fishery Management (EBFM)</vt:lpstr>
      <vt:lpstr>Um exemplo de Cabo Verde (sinergias entre pesca e turismo)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174</cp:revision>
  <dcterms:created xsi:type="dcterms:W3CDTF">2025-11-12T15:08:01Z</dcterms:created>
  <dcterms:modified xsi:type="dcterms:W3CDTF">2025-11-29T11:32:45Z</dcterms:modified>
</cp:coreProperties>
</file>