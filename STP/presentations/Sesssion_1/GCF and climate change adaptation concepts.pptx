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312" r:id="rId12"/>
    <p:sldId id="293" r:id="rId13"/>
    <p:sldId id="297" r:id="rId14"/>
    <p:sldId id="295" r:id="rId15"/>
    <p:sldId id="294" r:id="rId16"/>
    <p:sldId id="296" r:id="rId17"/>
    <p:sldId id="298" r:id="rId18"/>
    <p:sldId id="300" r:id="rId19"/>
    <p:sldId id="313" r:id="rId20"/>
    <p:sldId id="301" r:id="rId21"/>
    <p:sldId id="302" r:id="rId22"/>
    <p:sldId id="307" r:id="rId23"/>
    <p:sldId id="306" r:id="rId24"/>
    <p:sldId id="304" r:id="rId25"/>
    <p:sldId id="303" r:id="rId26"/>
    <p:sldId id="308" r:id="rId27"/>
    <p:sldId id="309" r:id="rId28"/>
    <p:sldId id="31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06" autoAdjust="0"/>
    <p:restoredTop sz="94726"/>
  </p:normalViewPr>
  <p:slideViewPr>
    <p:cSldViewPr snapToGrid="0">
      <p:cViewPr varScale="1">
        <p:scale>
          <a:sx n="120" d="100"/>
          <a:sy n="120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nature1032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109785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52535" y="1873537"/>
            <a:ext cx="11286930" cy="3791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maior</a:t>
            </a:r>
            <a:r>
              <a:rPr lang="en-GB" dirty="0"/>
              <a:t> </a:t>
            </a:r>
            <a:r>
              <a:rPr lang="en-GB" dirty="0" err="1"/>
              <a:t>parte</a:t>
            </a:r>
            <a:r>
              <a:rPr lang="en-GB" dirty="0"/>
              <a:t> do </a:t>
            </a:r>
            <a:r>
              <a:rPr lang="en-GB" dirty="0" err="1"/>
              <a:t>efeito</a:t>
            </a:r>
            <a:r>
              <a:rPr lang="en-GB" dirty="0"/>
              <a:t> de gases de </a:t>
            </a:r>
            <a:r>
              <a:rPr lang="en-GB" dirty="0" err="1"/>
              <a:t>efeito</a:t>
            </a:r>
            <a:r>
              <a:rPr lang="en-GB" dirty="0"/>
              <a:t> estufa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causada</a:t>
            </a:r>
            <a:r>
              <a:rPr lang="en-GB" dirty="0"/>
              <a:t> </a:t>
            </a:r>
            <a:r>
              <a:rPr lang="en-GB" dirty="0" err="1"/>
              <a:t>pelo</a:t>
            </a:r>
            <a:r>
              <a:rPr lang="en-GB" dirty="0"/>
              <a:t> vapor </a:t>
            </a:r>
            <a:r>
              <a:rPr lang="en-GB" dirty="0" err="1"/>
              <a:t>d’água</a:t>
            </a:r>
            <a:r>
              <a:rPr lang="en-GB" dirty="0"/>
              <a:t> e </a:t>
            </a:r>
            <a:r>
              <a:rPr lang="en-GB" dirty="0" err="1"/>
              <a:t>pelo</a:t>
            </a:r>
            <a:r>
              <a:rPr lang="en-GB" dirty="0"/>
              <a:t> </a:t>
            </a:r>
            <a:r>
              <a:rPr lang="pt-BR" dirty="0"/>
              <a:t>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80% do </a:t>
            </a:r>
            <a:r>
              <a:rPr lang="en-GB" dirty="0" err="1"/>
              <a:t>aquecimento</a:t>
            </a:r>
            <a:r>
              <a:rPr lang="en-GB" dirty="0"/>
              <a:t> global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causado</a:t>
            </a:r>
            <a:r>
              <a:rPr lang="en-GB" dirty="0"/>
              <a:t> </a:t>
            </a:r>
            <a:r>
              <a:rPr lang="en-GB" dirty="0" err="1"/>
              <a:t>pelo</a:t>
            </a:r>
            <a:r>
              <a:rPr lang="en-GB" dirty="0"/>
              <a:t> </a:t>
            </a:r>
            <a:r>
              <a:rPr lang="pt-BR" dirty="0"/>
              <a:t>CO</a:t>
            </a:r>
            <a:r>
              <a:rPr lang="pt-BR" baseline="-25000" dirty="0"/>
              <a:t>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>
                <a:hlinkClick r:id="rId2"/>
              </a:rPr>
              <a:t>Mais de </a:t>
            </a:r>
            <a:r>
              <a:rPr lang="en-GB" b="1" dirty="0">
                <a:hlinkClick r:id="rId2"/>
              </a:rPr>
              <a:t>70% das </a:t>
            </a:r>
            <a:r>
              <a:rPr lang="en-GB" b="1" dirty="0" err="1">
                <a:hlinkClick r:id="rId2"/>
              </a:rPr>
              <a:t>emissões</a:t>
            </a:r>
            <a:r>
              <a:rPr lang="en-GB" b="1" dirty="0">
                <a:hlinkClick r:id="rId2"/>
              </a:rPr>
              <a:t> de gases de </a:t>
            </a:r>
            <a:r>
              <a:rPr lang="en-GB" b="1" dirty="0" err="1">
                <a:hlinkClick r:id="rId2"/>
              </a:rPr>
              <a:t>efeito</a:t>
            </a:r>
            <a:r>
              <a:rPr lang="en-GB" b="1" dirty="0">
                <a:hlinkClick r:id="rId2"/>
              </a:rPr>
              <a:t> estufa</a:t>
            </a:r>
            <a:r>
              <a:rPr lang="en-GB" dirty="0">
                <a:hlinkClick r:id="rId2"/>
              </a:rPr>
              <a:t> </a:t>
            </a:r>
            <a:r>
              <a:rPr lang="en-GB" dirty="0" err="1">
                <a:hlinkClick r:id="rId2"/>
              </a:rPr>
              <a:t>são</a:t>
            </a:r>
            <a:r>
              <a:rPr lang="en-GB" dirty="0">
                <a:hlinkClick r:id="rId2"/>
              </a:rPr>
              <a:t> CO₂</a:t>
            </a:r>
            <a:r>
              <a:rPr lang="en-GB" dirty="0"/>
              <a:t>. Antes da </a:t>
            </a:r>
            <a:r>
              <a:rPr lang="en-GB" dirty="0" err="1"/>
              <a:t>Revolução</a:t>
            </a:r>
            <a:r>
              <a:rPr lang="en-GB" dirty="0"/>
              <a:t> Industrial, a </a:t>
            </a:r>
            <a:r>
              <a:rPr lang="en-GB" dirty="0" err="1"/>
              <a:t>concentração</a:t>
            </a:r>
            <a:r>
              <a:rPr lang="en-GB" dirty="0"/>
              <a:t> de CO₂ era de </a:t>
            </a:r>
            <a:r>
              <a:rPr lang="en-GB" b="1" dirty="0"/>
              <a:t>280–288 ppm</a:t>
            </a:r>
            <a:r>
              <a:rPr lang="en-GB" dirty="0"/>
              <a:t>; agora </a:t>
            </a:r>
            <a:r>
              <a:rPr lang="en-GB" dirty="0" err="1"/>
              <a:t>estamos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415 ppm</a:t>
            </a:r>
            <a:r>
              <a:rPr lang="en-GB" dirty="0"/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O CO₂ </a:t>
            </a:r>
            <a:r>
              <a:rPr lang="en-GB" dirty="0" err="1"/>
              <a:t>representa</a:t>
            </a:r>
            <a:r>
              <a:rPr lang="en-GB" dirty="0"/>
              <a:t> </a:t>
            </a:r>
            <a:r>
              <a:rPr lang="en-GB" dirty="0" err="1"/>
              <a:t>apenas</a:t>
            </a:r>
            <a:r>
              <a:rPr lang="en-GB" dirty="0"/>
              <a:t> </a:t>
            </a:r>
            <a:r>
              <a:rPr lang="en-GB" b="1" dirty="0"/>
              <a:t>0,04% da </a:t>
            </a:r>
            <a:r>
              <a:rPr lang="en-GB" b="1" dirty="0" err="1"/>
              <a:t>atmosfera</a:t>
            </a:r>
            <a:r>
              <a:rPr lang="en-GB" dirty="0"/>
              <a:t>. </a:t>
            </a:r>
            <a:r>
              <a:rPr lang="en-GB" dirty="0" err="1"/>
              <a:t>Então</a:t>
            </a:r>
            <a:r>
              <a:rPr lang="en-GB" dirty="0"/>
              <a:t>,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ele</a:t>
            </a:r>
            <a:r>
              <a:rPr lang="en-GB" dirty="0"/>
              <a:t> </a:t>
            </a:r>
            <a:r>
              <a:rPr lang="en-GB" dirty="0" err="1"/>
              <a:t>pode</a:t>
            </a:r>
            <a:r>
              <a:rPr lang="en-GB" dirty="0"/>
              <a:t> </a:t>
            </a:r>
            <a:r>
              <a:rPr lang="en-GB" dirty="0" err="1"/>
              <a:t>desencadear</a:t>
            </a:r>
            <a:r>
              <a:rPr lang="en-GB" dirty="0"/>
              <a:t>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tão</a:t>
            </a:r>
            <a:r>
              <a:rPr lang="en-GB" dirty="0"/>
              <a:t> grande </a:t>
            </a:r>
            <a:r>
              <a:rPr lang="en-GB" dirty="0" err="1"/>
              <a:t>escala</a:t>
            </a:r>
            <a:r>
              <a:rPr lang="en-GB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balanço</a:t>
            </a:r>
            <a:r>
              <a:rPr lang="en-GB" dirty="0"/>
              <a:t> </a:t>
            </a:r>
            <a:r>
              <a:rPr lang="en-GB" dirty="0" err="1"/>
              <a:t>energético</a:t>
            </a:r>
            <a:r>
              <a:rPr lang="en-GB" dirty="0"/>
              <a:t> da Terra </a:t>
            </a:r>
            <a:r>
              <a:rPr lang="en-GB" dirty="0" err="1"/>
              <a:t>é</a:t>
            </a:r>
            <a:r>
              <a:rPr lang="en-GB" dirty="0"/>
              <a:t> um </a:t>
            </a:r>
            <a:r>
              <a:rPr lang="en-GB" b="1" dirty="0" err="1"/>
              <a:t>equilíbrio</a:t>
            </a:r>
            <a:r>
              <a:rPr lang="en-GB" b="1" dirty="0"/>
              <a:t> </a:t>
            </a:r>
            <a:r>
              <a:rPr lang="en-GB" b="1" dirty="0" err="1"/>
              <a:t>delicado</a:t>
            </a:r>
            <a:r>
              <a:rPr lang="en-GB" dirty="0"/>
              <a:t>. </a:t>
            </a:r>
            <a:r>
              <a:rPr lang="en-GB" dirty="0" err="1"/>
              <a:t>Pequenas</a:t>
            </a:r>
            <a:r>
              <a:rPr lang="en-GB" dirty="0"/>
              <a:t> </a:t>
            </a:r>
            <a:r>
              <a:rPr lang="en-GB" dirty="0" err="1"/>
              <a:t>perturbações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gerar</a:t>
            </a:r>
            <a:r>
              <a:rPr lang="en-GB" dirty="0"/>
              <a:t> </a:t>
            </a:r>
            <a:r>
              <a:rPr lang="en-GB" dirty="0" err="1"/>
              <a:t>grandes</a:t>
            </a:r>
            <a:r>
              <a:rPr lang="en-GB" dirty="0"/>
              <a:t> </a:t>
            </a:r>
            <a:r>
              <a:rPr lang="en-GB" dirty="0" err="1"/>
              <a:t>mudanças</a:t>
            </a:r>
            <a:r>
              <a:rPr lang="en-GB" dirty="0"/>
              <a:t>. </a:t>
            </a:r>
            <a:r>
              <a:rPr lang="en-GB" dirty="0" err="1"/>
              <a:t>Mesmo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o CO₂ </a:t>
            </a:r>
            <a:r>
              <a:rPr lang="en-GB" dirty="0" err="1"/>
              <a:t>seja</a:t>
            </a:r>
            <a:r>
              <a:rPr lang="en-GB" dirty="0"/>
              <a:t> </a:t>
            </a:r>
            <a:r>
              <a:rPr lang="en-GB" dirty="0" err="1"/>
              <a:t>apenas</a:t>
            </a:r>
            <a:r>
              <a:rPr lang="en-GB" dirty="0"/>
              <a:t> </a:t>
            </a:r>
            <a:r>
              <a:rPr lang="en-GB" dirty="0" err="1"/>
              <a:t>cerca</a:t>
            </a:r>
            <a:r>
              <a:rPr lang="en-GB" dirty="0"/>
              <a:t> de 0,04% da </a:t>
            </a:r>
            <a:r>
              <a:rPr lang="en-GB" dirty="0" err="1"/>
              <a:t>atmosfera</a:t>
            </a:r>
            <a:r>
              <a:rPr lang="en-GB" dirty="0"/>
              <a:t>, </a:t>
            </a:r>
            <a:r>
              <a:rPr lang="en-GB" dirty="0" err="1"/>
              <a:t>isso</a:t>
            </a:r>
            <a:r>
              <a:rPr lang="en-GB" dirty="0"/>
              <a:t> </a:t>
            </a:r>
            <a:r>
              <a:rPr lang="en-GB" dirty="0" err="1"/>
              <a:t>ainda</a:t>
            </a:r>
            <a:r>
              <a:rPr lang="en-GB" dirty="0"/>
              <a:t> </a:t>
            </a:r>
            <a:r>
              <a:rPr lang="en-GB" dirty="0" err="1"/>
              <a:t>corresponde</a:t>
            </a:r>
            <a:r>
              <a:rPr lang="en-GB" dirty="0"/>
              <a:t> a </a:t>
            </a:r>
            <a:r>
              <a:rPr lang="en-GB" b="1" dirty="0" err="1"/>
              <a:t>bilhões</a:t>
            </a:r>
            <a:r>
              <a:rPr lang="en-GB" b="1" dirty="0"/>
              <a:t> e </a:t>
            </a:r>
            <a:r>
              <a:rPr lang="en-GB" b="1" dirty="0" err="1"/>
              <a:t>bilhões</a:t>
            </a:r>
            <a:r>
              <a:rPr lang="en-GB" b="1" dirty="0"/>
              <a:t> de </a:t>
            </a:r>
            <a:r>
              <a:rPr lang="en-GB" b="1" dirty="0" err="1"/>
              <a:t>toneladas</a:t>
            </a:r>
            <a:r>
              <a:rPr lang="en-GB" b="1" dirty="0"/>
              <a:t> de </a:t>
            </a:r>
            <a:r>
              <a:rPr lang="en-GB" b="1" dirty="0" err="1"/>
              <a:t>gás</a:t>
            </a:r>
            <a:r>
              <a:rPr lang="en-GB" b="1" dirty="0"/>
              <a:t> </a:t>
            </a:r>
            <a:r>
              <a:rPr lang="en-GB" b="1" dirty="0" err="1"/>
              <a:t>que</a:t>
            </a:r>
            <a:r>
              <a:rPr lang="en-GB" b="1" dirty="0"/>
              <a:t> </a:t>
            </a:r>
            <a:r>
              <a:rPr lang="en-GB" b="1" dirty="0" err="1"/>
              <a:t>retém</a:t>
            </a:r>
            <a:r>
              <a:rPr lang="en-GB" b="1" dirty="0"/>
              <a:t> </a:t>
            </a:r>
            <a:r>
              <a:rPr lang="en-GB" b="1" dirty="0" err="1"/>
              <a:t>calor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7380-2E81-DF37-A62A-A67AE8D6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7F37-E494-8881-83D9-F4DC46DCB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80%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causado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CO2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3DEF5B-228F-8A5F-E7F3-096CE72847F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356174-B1D4-D6BB-CE60-464F387F39F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3105DD-56BD-B279-4188-8BF1C02EB49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62117E-B903-7B05-0B2A-EFA70540EE8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Figure: SPM.1">
            <a:extLst>
              <a:ext uri="{FF2B5EF4-FFF2-40B4-BE49-F238E27FC236}">
                <a16:creationId xmlns:a16="http://schemas.microsoft.com/office/drawing/2014/main" id="{7C3F6B47-EFB3-CFC7-A485-F56DF3F555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439"/>
          <a:stretch>
            <a:fillRect/>
          </a:stretch>
        </p:blipFill>
        <p:spPr bwMode="auto">
          <a:xfrm>
            <a:off x="1151142" y="2121408"/>
            <a:ext cx="7691169" cy="311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bject 8">
            <a:extLst>
              <a:ext uri="{FF2B5EF4-FFF2-40B4-BE49-F238E27FC236}">
                <a16:creationId xmlns:a16="http://schemas.microsoft.com/office/drawing/2014/main" id="{FE6C42C1-D5C8-102A-41A6-C0AFC35EFD51}"/>
              </a:ext>
            </a:extLst>
          </p:cNvPr>
          <p:cNvSpPr txBox="1"/>
          <p:nvPr/>
        </p:nvSpPr>
        <p:spPr>
          <a:xfrm>
            <a:off x="10343724" y="6485565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lang="it-IT" sz="900" spc="-25" dirty="0">
                <a:solidFill>
                  <a:srgbClr val="BEBEBE"/>
                </a:solidFill>
                <a:latin typeface="Arial MT"/>
                <a:cs typeface="Arial MT"/>
              </a:rPr>
              <a:t>1</a:t>
            </a:r>
            <a:endParaRPr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805437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531401" y="2876880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 dirty="0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 dirty="0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Current state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FBD0895-24DB-A238-7BE3-E6719EEE1294}"/>
              </a:ext>
            </a:extLst>
          </p:cNvPr>
          <p:cNvSpPr txBox="1"/>
          <p:nvPr/>
        </p:nvSpPr>
        <p:spPr>
          <a:xfrm>
            <a:off x="1883431" y="6345498"/>
            <a:ext cx="9226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u="sng" dirty="0">
                <a:solidFill>
                  <a:srgbClr val="FF0000"/>
                </a:solidFill>
              </a:rPr>
              <a:t>“Todos </a:t>
            </a:r>
            <a:r>
              <a:rPr lang="en-GB" b="1" u="sng" dirty="0" err="1">
                <a:solidFill>
                  <a:srgbClr val="FF0000"/>
                </a:solidFill>
              </a:rPr>
              <a:t>os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modelos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estão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errados</a:t>
            </a:r>
            <a:r>
              <a:rPr lang="en-GB" b="1" u="sng" dirty="0">
                <a:solidFill>
                  <a:srgbClr val="FF0000"/>
                </a:solidFill>
              </a:rPr>
              <a:t>, mas </a:t>
            </a:r>
            <a:r>
              <a:rPr lang="en-GB" b="1" u="sng" dirty="0" err="1">
                <a:solidFill>
                  <a:srgbClr val="FF0000"/>
                </a:solidFill>
              </a:rPr>
              <a:t>alguns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são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úteis</a:t>
            </a:r>
            <a:r>
              <a:rPr lang="en-GB" b="1" u="sng" dirty="0">
                <a:solidFill>
                  <a:srgbClr val="FF0000"/>
                </a:solidFill>
              </a:rPr>
              <a:t>”</a:t>
            </a:r>
            <a:r>
              <a:rPr lang="en-GB" dirty="0"/>
              <a:t> — </a:t>
            </a:r>
            <a:r>
              <a:rPr lang="en-GB" b="1" dirty="0"/>
              <a:t>George E. P. Box (1976)</a:t>
            </a:r>
            <a:endParaRPr lang="en-IT" b="1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1FCF7-24B5-AC2F-DB61-6F844665B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4E589-A046-3CC4-A30C-913315B8F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Shared Socioeconomic Pathways (SSPs)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40FA118-18AD-B841-20A0-7E5D6A6D892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5C8BB3B-2CB3-E20E-CC7E-F2C23EAFA52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9DBE664-E7EF-91C1-A52E-B97E0F5E97C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2196FEF-3267-06C9-368B-940A5E93B7A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bject 4">
            <a:extLst>
              <a:ext uri="{FF2B5EF4-FFF2-40B4-BE49-F238E27FC236}">
                <a16:creationId xmlns:a16="http://schemas.microsoft.com/office/drawing/2014/main" id="{B1BBA5B5-2E4E-B495-D0A5-DAD777FAAF17}"/>
              </a:ext>
            </a:extLst>
          </p:cNvPr>
          <p:cNvSpPr txBox="1"/>
          <p:nvPr/>
        </p:nvSpPr>
        <p:spPr>
          <a:xfrm>
            <a:off x="400745" y="1873537"/>
            <a:ext cx="11581765" cy="4885953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299085" algn="l"/>
              </a:tabLst>
            </a:pPr>
            <a:r>
              <a:rPr lang="en-GB" b="1" dirty="0" err="1">
                <a:cs typeface="Arial" panose="020B0604020202020204" pitchFamily="34" charset="0"/>
              </a:rPr>
              <a:t>Os</a:t>
            </a:r>
            <a:r>
              <a:rPr lang="en-GB" b="1" dirty="0">
                <a:cs typeface="Arial" panose="020B0604020202020204" pitchFamily="34" charset="0"/>
              </a:rPr>
              <a:t> RCPs </a:t>
            </a:r>
            <a:r>
              <a:rPr lang="en-GB" b="1" dirty="0" err="1">
                <a:cs typeface="Arial" panose="020B0604020202020204" pitchFamily="34" charset="0"/>
              </a:rPr>
              <a:t>não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nos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dizem</a:t>
            </a:r>
            <a:r>
              <a:rPr lang="en-GB" b="1" dirty="0">
                <a:cs typeface="Arial" panose="020B0604020202020204" pitchFamily="34" charset="0"/>
              </a:rPr>
              <a:t> nada </a:t>
            </a:r>
            <a:r>
              <a:rPr lang="en-GB" b="1" dirty="0" err="1">
                <a:cs typeface="Arial" panose="020B0604020202020204" pitchFamily="34" charset="0"/>
              </a:rPr>
              <a:t>sobre</a:t>
            </a:r>
            <a:r>
              <a:rPr lang="en-GB" b="1" dirty="0">
                <a:cs typeface="Arial" panose="020B0604020202020204" pitchFamily="34" charset="0"/>
              </a:rPr>
              <a:t> o </a:t>
            </a:r>
            <a:r>
              <a:rPr lang="en-GB" b="1" dirty="0" err="1">
                <a:cs typeface="Arial" panose="020B0604020202020204" pitchFamily="34" charset="0"/>
              </a:rPr>
              <a:t>desenvolvimento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socioeconómico</a:t>
            </a:r>
            <a:r>
              <a:rPr lang="en-GB" b="1" dirty="0">
                <a:cs typeface="Arial" panose="020B0604020202020204" pitchFamily="34" charset="0"/>
              </a:rPr>
              <a:t>. </a:t>
            </a:r>
            <a:r>
              <a:rPr lang="en-GB" b="1" dirty="0" err="1">
                <a:cs typeface="Arial" panose="020B0604020202020204" pitchFamily="34" charset="0"/>
              </a:rPr>
              <a:t>Os</a:t>
            </a:r>
            <a:r>
              <a:rPr lang="en-GB" b="1" dirty="0">
                <a:cs typeface="Arial" panose="020B0604020202020204" pitchFamily="34" charset="0"/>
              </a:rPr>
              <a:t> RCPs </a:t>
            </a:r>
            <a:r>
              <a:rPr lang="en-GB" b="1" dirty="0" err="1">
                <a:cs typeface="Arial" panose="020B0604020202020204" pitchFamily="34" charset="0"/>
              </a:rPr>
              <a:t>são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apenas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trajetórias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climáticas</a:t>
            </a:r>
            <a:r>
              <a:rPr lang="en-GB" b="1" dirty="0">
                <a:cs typeface="Arial" panose="020B0604020202020204" pitchFamily="34" charset="0"/>
              </a:rPr>
              <a:t>.</a:t>
            </a:r>
          </a:p>
          <a:p>
            <a:pPr marL="2990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299085" algn="l"/>
              </a:tabLst>
            </a:pPr>
            <a:r>
              <a:rPr lang="en-GB" dirty="0" err="1">
                <a:cs typeface="Arial" panose="020B0604020202020204" pitchFamily="34" charset="0"/>
              </a:rPr>
              <a:t>Os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Caminhos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Socioeconómicos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Partilhados</a:t>
            </a:r>
            <a:r>
              <a:rPr lang="en-GB" b="1" dirty="0">
                <a:cs typeface="Arial" panose="020B0604020202020204" pitchFamily="34" charset="0"/>
              </a:rPr>
              <a:t> (SSPs)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são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cenários</a:t>
            </a:r>
            <a:r>
              <a:rPr lang="en-GB" dirty="0">
                <a:cs typeface="Arial" panose="020B0604020202020204" pitchFamily="34" charset="0"/>
              </a:rPr>
              <a:t> de </a:t>
            </a:r>
            <a:r>
              <a:rPr lang="en-GB" dirty="0" err="1">
                <a:cs typeface="Arial" panose="020B0604020202020204" pitchFamily="34" charset="0"/>
              </a:rPr>
              <a:t>projeções</a:t>
            </a:r>
            <a:r>
              <a:rPr lang="en-GB" dirty="0">
                <a:cs typeface="Arial" panose="020B0604020202020204" pitchFamily="34" charset="0"/>
              </a:rPr>
              <a:t> de </a:t>
            </a:r>
            <a:r>
              <a:rPr lang="en-GB" dirty="0" err="1">
                <a:cs typeface="Arial" panose="020B0604020202020204" pitchFamily="34" charset="0"/>
              </a:rPr>
              <a:t>mudanças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socioeconómicas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globais</a:t>
            </a:r>
            <a:br>
              <a:rPr lang="en-GB" dirty="0">
                <a:cs typeface="Arial" panose="020B0604020202020204" pitchFamily="34" charset="0"/>
              </a:rPr>
            </a:br>
            <a:r>
              <a:rPr lang="en-GB" dirty="0">
                <a:cs typeface="Arial" panose="020B0604020202020204" pitchFamily="34" charset="0"/>
              </a:rPr>
              <a:t>(</a:t>
            </a:r>
            <a:r>
              <a:rPr lang="en-GB" dirty="0" err="1">
                <a:cs typeface="Arial" panose="020B0604020202020204" pitchFamily="34" charset="0"/>
              </a:rPr>
              <a:t>cobertura</a:t>
            </a:r>
            <a:r>
              <a:rPr lang="en-GB" dirty="0">
                <a:cs typeface="Arial" panose="020B0604020202020204" pitchFamily="34" charset="0"/>
              </a:rPr>
              <a:t> do solo, </a:t>
            </a:r>
            <a:r>
              <a:rPr lang="en-GB" dirty="0" err="1">
                <a:cs typeface="Arial" panose="020B0604020202020204" pitchFamily="34" charset="0"/>
              </a:rPr>
              <a:t>população</a:t>
            </a:r>
            <a:r>
              <a:rPr lang="en-GB" dirty="0">
                <a:cs typeface="Arial" panose="020B0604020202020204" pitchFamily="34" charset="0"/>
              </a:rPr>
              <a:t>, PIB, </a:t>
            </a:r>
            <a:r>
              <a:rPr lang="en-GB" dirty="0" err="1">
                <a:cs typeface="Arial" panose="020B0604020202020204" pitchFamily="34" charset="0"/>
              </a:rPr>
              <a:t>urbanização</a:t>
            </a:r>
            <a:r>
              <a:rPr lang="en-GB" dirty="0">
                <a:cs typeface="Arial" panose="020B0604020202020204" pitchFamily="34" charset="0"/>
              </a:rPr>
              <a:t>, etc.).</a:t>
            </a:r>
          </a:p>
          <a:p>
            <a:pPr marL="299085" marR="5080" indent="-287020">
              <a:lnSpc>
                <a:spcPct val="150000"/>
              </a:lnSpc>
              <a:buFont typeface="Wingdings"/>
              <a:buChar char=""/>
              <a:tabLst>
                <a:tab pos="299085" algn="l"/>
              </a:tabLst>
            </a:pPr>
            <a:r>
              <a:rPr lang="en-GB" dirty="0" err="1">
                <a:cs typeface="Arial" panose="020B0604020202020204" pitchFamily="34" charset="0"/>
              </a:rPr>
              <a:t>Integrar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>
                <a:cs typeface="Arial" panose="020B0604020202020204" pitchFamily="34" charset="0"/>
              </a:rPr>
              <a:t>RCPs com SSPs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permite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analisar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trajetórias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futuras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combinando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cenários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climáticos</a:t>
            </a:r>
            <a:r>
              <a:rPr lang="en-GB" dirty="0">
                <a:cs typeface="Arial" panose="020B0604020202020204" pitchFamily="34" charset="0"/>
              </a:rPr>
              <a:t> e </a:t>
            </a:r>
            <a:r>
              <a:rPr lang="en-GB" b="1" dirty="0" err="1">
                <a:cs typeface="Arial" panose="020B0604020202020204" pitchFamily="34" charset="0"/>
              </a:rPr>
              <a:t>socioeconómicos</a:t>
            </a:r>
            <a:r>
              <a:rPr lang="en-GB" dirty="0">
                <a:cs typeface="Arial" panose="020B0604020202020204" pitchFamily="34" charset="0"/>
              </a:rPr>
              <a:t>.</a:t>
            </a:r>
          </a:p>
          <a:p>
            <a:pPr marL="12065" marR="5080">
              <a:lnSpc>
                <a:spcPct val="150000"/>
              </a:lnSpc>
              <a:tabLst>
                <a:tab pos="299085" algn="l"/>
              </a:tabLst>
            </a:pP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SSP1</a:t>
            </a:r>
            <a:r>
              <a:rPr sz="1800" b="1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(Sustainability)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SSP2</a:t>
            </a:r>
            <a:r>
              <a:rPr sz="1800" b="1" spc="-40" dirty="0">
                <a:cs typeface="Calibri"/>
              </a:rPr>
              <a:t> </a:t>
            </a:r>
            <a:r>
              <a:rPr sz="1800" dirty="0">
                <a:cs typeface="Calibri"/>
              </a:rPr>
              <a:t>(Middle of</a:t>
            </a:r>
            <a:r>
              <a:rPr sz="1800" spc="-45" dirty="0">
                <a:cs typeface="Calibri"/>
              </a:rPr>
              <a:t> </a:t>
            </a:r>
            <a:r>
              <a:rPr sz="1800" dirty="0">
                <a:cs typeface="Calibri"/>
              </a:rPr>
              <a:t>the</a:t>
            </a:r>
            <a:r>
              <a:rPr sz="1800" spc="-2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road)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SSP3</a:t>
            </a:r>
            <a:r>
              <a:rPr sz="1800" b="1" spc="-75" dirty="0">
                <a:cs typeface="Calibri"/>
              </a:rPr>
              <a:t> </a:t>
            </a:r>
            <a:r>
              <a:rPr sz="1800" dirty="0">
                <a:cs typeface="Calibri"/>
              </a:rPr>
              <a:t>(Regional</a:t>
            </a:r>
            <a:r>
              <a:rPr sz="1800" spc="-45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rivalry)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SSP4</a:t>
            </a:r>
            <a:r>
              <a:rPr sz="1800" b="1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(Inequality)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SSP5</a:t>
            </a:r>
            <a:r>
              <a:rPr sz="1800" b="1" spc="-45" dirty="0">
                <a:cs typeface="Calibri"/>
              </a:rPr>
              <a:t> </a:t>
            </a:r>
            <a:r>
              <a:rPr sz="1800" dirty="0">
                <a:cs typeface="Calibri"/>
              </a:rPr>
              <a:t>(Fossil</a:t>
            </a:r>
            <a:r>
              <a:rPr sz="1800" spc="-35" dirty="0">
                <a:cs typeface="Calibri"/>
              </a:rPr>
              <a:t> </a:t>
            </a:r>
            <a:r>
              <a:rPr sz="1800" dirty="0">
                <a:cs typeface="Calibri"/>
              </a:rPr>
              <a:t>fuel</a:t>
            </a:r>
            <a:r>
              <a:rPr sz="1800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development)</a:t>
            </a:r>
            <a:endParaRPr sz="1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7451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324465" y="1628501"/>
            <a:ext cx="11466789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As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 </a:t>
            </a:r>
            <a:r>
              <a:rPr lang="en-GB" dirty="0" err="1"/>
              <a:t>afetam</a:t>
            </a:r>
            <a:r>
              <a:rPr lang="en-GB" dirty="0"/>
              <a:t> </a:t>
            </a:r>
            <a:r>
              <a:rPr lang="en-GB" dirty="0" err="1"/>
              <a:t>todos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aspectos</a:t>
            </a:r>
            <a:r>
              <a:rPr lang="en-GB" dirty="0"/>
              <a:t> de um </a:t>
            </a:r>
            <a:r>
              <a:rPr lang="en-GB" dirty="0" err="1"/>
              <a:t>ecossistema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</a:t>
            </a:r>
            <a:r>
              <a:rPr lang="en-GB" dirty="0" err="1"/>
              <a:t>são</a:t>
            </a:r>
            <a:r>
              <a:rPr lang="en-GB" dirty="0"/>
              <a:t> </a:t>
            </a:r>
            <a:r>
              <a:rPr lang="en-GB" dirty="0" err="1"/>
              <a:t>considerados</a:t>
            </a:r>
            <a:r>
              <a:rPr lang="en-GB" dirty="0"/>
              <a:t> no </a:t>
            </a:r>
            <a:r>
              <a:rPr lang="en-GB" dirty="0" err="1"/>
              <a:t>manejo</a:t>
            </a:r>
            <a:r>
              <a:rPr lang="en-GB" dirty="0"/>
              <a:t> </a:t>
            </a:r>
            <a:r>
              <a:rPr lang="en-GB" dirty="0" err="1"/>
              <a:t>pesqueiro</a:t>
            </a:r>
            <a:endParaRPr lang="en-GB" dirty="0"/>
          </a:p>
        </p:txBody>
      </p:sp>
      <p:pic>
        <p:nvPicPr>
          <p:cNvPr id="25" name="Picture 24" descr="A diagram of fish and fish&#10;&#10;AI-generated content may be incorrect.">
            <a:extLst>
              <a:ext uri="{FF2B5EF4-FFF2-40B4-BE49-F238E27FC236}">
                <a16:creationId xmlns:a16="http://schemas.microsoft.com/office/drawing/2014/main" id="{C3B0F44B-06F8-6646-AFB6-B908857BB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432" y="2223281"/>
            <a:ext cx="6599903" cy="4399935"/>
          </a:xfrm>
          <a:prstGeom prst="rect">
            <a:avLst/>
          </a:prstGeom>
        </p:spPr>
      </p:pic>
      <p:sp>
        <p:nvSpPr>
          <p:cNvPr id="27" name="object 8">
            <a:extLst>
              <a:ext uri="{FF2B5EF4-FFF2-40B4-BE49-F238E27FC236}">
                <a16:creationId xmlns:a16="http://schemas.microsoft.com/office/drawing/2014/main" id="{FCDDB317-818B-FA26-C858-3581700331D2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1905669"/>
            <a:ext cx="11028914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Entre 1997 e 2016, a </a:t>
            </a:r>
            <a:r>
              <a:rPr lang="en-GB" dirty="0" err="1"/>
              <a:t>distribuição</a:t>
            </a:r>
            <a:r>
              <a:rPr lang="en-GB" dirty="0"/>
              <a:t> do </a:t>
            </a:r>
            <a:r>
              <a:rPr lang="en-GB" dirty="0" err="1"/>
              <a:t>cavala</a:t>
            </a:r>
            <a:r>
              <a:rPr lang="en-GB" dirty="0"/>
              <a:t>-do-</a:t>
            </a:r>
            <a:r>
              <a:rPr lang="en-GB" dirty="0" err="1"/>
              <a:t>Atlântico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largo da costa </a:t>
            </a:r>
            <a:r>
              <a:rPr lang="en-GB" dirty="0" err="1"/>
              <a:t>oeste</a:t>
            </a:r>
            <a:r>
              <a:rPr lang="en-GB" dirty="0"/>
              <a:t> da </a:t>
            </a:r>
            <a:r>
              <a:rPr lang="en-GB" dirty="0" err="1"/>
              <a:t>Noruega</a:t>
            </a:r>
            <a:r>
              <a:rPr lang="en-GB" dirty="0"/>
              <a:t> </a:t>
            </a:r>
            <a:r>
              <a:rPr lang="en-GB" dirty="0" err="1"/>
              <a:t>aumentou</a:t>
            </a:r>
            <a:r>
              <a:rPr lang="en-GB" dirty="0"/>
              <a:t> </a:t>
            </a:r>
            <a:r>
              <a:rPr lang="en-GB" dirty="0" err="1"/>
              <a:t>três</a:t>
            </a:r>
            <a:r>
              <a:rPr lang="en-GB" dirty="0"/>
              <a:t> </a:t>
            </a:r>
            <a:r>
              <a:rPr lang="en-GB" dirty="0" err="1"/>
              <a:t>vezes</a:t>
            </a:r>
            <a:r>
              <a:rPr lang="en-IT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dirty="0" err="1"/>
              <a:t>expansão</a:t>
            </a:r>
            <a:r>
              <a:rPr lang="en-GB" dirty="0"/>
              <a:t> da </a:t>
            </a:r>
            <a:r>
              <a:rPr lang="en-GB" dirty="0" err="1"/>
              <a:t>distribuição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direção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oeste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início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pescaria</a:t>
            </a:r>
            <a:r>
              <a:rPr lang="en-GB" dirty="0"/>
              <a:t> </a:t>
            </a:r>
            <a:r>
              <a:rPr lang="en-GB" dirty="0" err="1"/>
              <a:t>direta</a:t>
            </a:r>
            <a:r>
              <a:rPr lang="en-GB" dirty="0"/>
              <a:t> de </a:t>
            </a:r>
            <a:r>
              <a:rPr lang="en-GB" dirty="0" err="1"/>
              <a:t>cavala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</a:t>
            </a:r>
            <a:r>
              <a:rPr lang="en-GB" dirty="0" err="1"/>
              <a:t>águas</a:t>
            </a:r>
            <a:r>
              <a:rPr lang="en-GB" dirty="0"/>
              <a:t> </a:t>
            </a:r>
            <a:r>
              <a:rPr lang="en-GB" dirty="0" err="1"/>
              <a:t>islandesas</a:t>
            </a:r>
            <a:endParaRPr lang="en-IT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 “</a:t>
            </a:r>
            <a:r>
              <a:rPr lang="en-GB" dirty="0" err="1"/>
              <a:t>onda</a:t>
            </a:r>
            <a:r>
              <a:rPr lang="en-GB" dirty="0"/>
              <a:t> de </a:t>
            </a:r>
            <a:r>
              <a:rPr lang="en-GB" dirty="0" err="1"/>
              <a:t>calor</a:t>
            </a:r>
            <a:r>
              <a:rPr lang="en-GB" dirty="0"/>
              <a:t> </a:t>
            </a:r>
            <a:r>
              <a:rPr lang="en-GB" dirty="0" err="1"/>
              <a:t>marinha</a:t>
            </a:r>
            <a:r>
              <a:rPr lang="en-GB" dirty="0"/>
              <a:t> </a:t>
            </a:r>
            <a:r>
              <a:rPr lang="en-GB" i="1" dirty="0"/>
              <a:t>Blob</a:t>
            </a:r>
            <a:r>
              <a:rPr lang="en-GB" dirty="0"/>
              <a:t>” </a:t>
            </a:r>
            <a:r>
              <a:rPr lang="en-GB" dirty="0" err="1"/>
              <a:t>em</a:t>
            </a:r>
            <a:r>
              <a:rPr lang="en-GB" dirty="0"/>
              <a:t> 2015 </a:t>
            </a:r>
            <a:r>
              <a:rPr lang="en-GB" dirty="0" err="1"/>
              <a:t>estendeu</a:t>
            </a:r>
            <a:r>
              <a:rPr lang="en-GB" dirty="0"/>
              <a:t>-se do México </a:t>
            </a:r>
            <a:r>
              <a:rPr lang="en-GB" dirty="0" err="1"/>
              <a:t>ao</a:t>
            </a:r>
            <a:r>
              <a:rPr lang="en-GB" dirty="0"/>
              <a:t> Alasca e </a:t>
            </a:r>
            <a:r>
              <a:rPr lang="en-GB" dirty="0" err="1"/>
              <a:t>resultou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aumento</a:t>
            </a:r>
            <a:r>
              <a:rPr lang="en-GB" dirty="0"/>
              <a:t> da </a:t>
            </a:r>
            <a:r>
              <a:rPr lang="en-GB" dirty="0" err="1"/>
              <a:t>área</a:t>
            </a:r>
            <a:r>
              <a:rPr lang="en-GB" dirty="0"/>
              <a:t> de </a:t>
            </a:r>
            <a:r>
              <a:rPr lang="en-GB" dirty="0" err="1"/>
              <a:t>distribuição</a:t>
            </a:r>
            <a:r>
              <a:rPr lang="en-GB" dirty="0"/>
              <a:t> para </a:t>
            </a:r>
            <a:r>
              <a:rPr lang="en-GB" dirty="0" err="1"/>
              <a:t>algumas</a:t>
            </a:r>
            <a:r>
              <a:rPr lang="en-GB" dirty="0"/>
              <a:t> </a:t>
            </a:r>
            <a:r>
              <a:rPr lang="en-GB" dirty="0" err="1"/>
              <a:t>espécies</a:t>
            </a:r>
            <a:r>
              <a:rPr lang="en-GB" dirty="0"/>
              <a:t> e </a:t>
            </a:r>
            <a:r>
              <a:rPr lang="en-GB" dirty="0" err="1"/>
              <a:t>destruição</a:t>
            </a:r>
            <a:r>
              <a:rPr lang="en-GB" dirty="0"/>
              <a:t> de habitat para </a:t>
            </a:r>
            <a:r>
              <a:rPr lang="en-GB" dirty="0" err="1"/>
              <a:t>outras</a:t>
            </a:r>
            <a:r>
              <a:rPr lang="en-GB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Ela </a:t>
            </a:r>
            <a:r>
              <a:rPr lang="en-GB" dirty="0" err="1"/>
              <a:t>provocou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de 40 </a:t>
            </a:r>
            <a:r>
              <a:rPr lang="en-GB" dirty="0" err="1"/>
              <a:t>vezes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ocorrência</a:t>
            </a:r>
            <a:r>
              <a:rPr lang="en-GB" dirty="0"/>
              <a:t> de </a:t>
            </a:r>
            <a:r>
              <a:rPr lang="en-GB" dirty="0" err="1"/>
              <a:t>lulas</a:t>
            </a:r>
            <a:r>
              <a:rPr lang="en-GB" dirty="0"/>
              <a:t> no Oregon.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à </a:t>
            </a:r>
            <a:r>
              <a:rPr lang="en-GB" dirty="0" err="1"/>
              <a:t>redução</a:t>
            </a:r>
            <a:r>
              <a:rPr lang="en-GB" dirty="0"/>
              <a:t> da </a:t>
            </a:r>
            <a:r>
              <a:rPr lang="en-GB" dirty="0" err="1"/>
              <a:t>abundância</a:t>
            </a:r>
            <a:r>
              <a:rPr lang="en-GB" dirty="0"/>
              <a:t> de </a:t>
            </a:r>
            <a:r>
              <a:rPr lang="en-GB" dirty="0" err="1"/>
              <a:t>salmão</a:t>
            </a:r>
            <a:r>
              <a:rPr lang="en-GB" dirty="0"/>
              <a:t> no Golfo do Alasca (com 5,6 </a:t>
            </a:r>
            <a:r>
              <a:rPr lang="en-GB" dirty="0" err="1"/>
              <a:t>milhões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pagamentos</a:t>
            </a:r>
            <a:r>
              <a:rPr lang="en-GB" dirty="0"/>
              <a:t> de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desastre</a:t>
            </a:r>
            <a:r>
              <a:rPr lang="en-GB" dirty="0"/>
              <a:t>).</a:t>
            </a:r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1662538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3853361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agravar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Opções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Ecosystem Based Fishery Management (EBFM)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89B5-7DDC-C329-F68B-0DBE4C4D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7EC0D-EED1-0271-4218-58CF800C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exemplo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Cabo Verde (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sinergias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turismo)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2A8584-ABCB-9F4A-49CA-68F2B2910D6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BE7F7A-1ED3-737C-9118-381A026E44C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9BDD26-6FFA-2ACC-3B1F-38A6D27E5F7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58473A9-AEA5-D6FF-F6E0-542FF86690B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sea life&#10;&#10;AI-generated content may be incorrect.">
            <a:extLst>
              <a:ext uri="{FF2B5EF4-FFF2-40B4-BE49-F238E27FC236}">
                <a16:creationId xmlns:a16="http://schemas.microsoft.com/office/drawing/2014/main" id="{FAA6612E-9DE8-5B27-F0F1-4D7969557C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2"/>
          <a:stretch>
            <a:fillRect/>
          </a:stretch>
        </p:blipFill>
        <p:spPr>
          <a:xfrm>
            <a:off x="0" y="2047981"/>
            <a:ext cx="7772400" cy="429751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820B5EF3-C40D-D28D-84CF-7FDB579A3A58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  <p:pic>
        <p:nvPicPr>
          <p:cNvPr id="1026" name="Picture 2" descr="Turtle watching in Cape Verde ...">
            <a:extLst>
              <a:ext uri="{FF2B5EF4-FFF2-40B4-BE49-F238E27FC236}">
                <a16:creationId xmlns:a16="http://schemas.microsoft.com/office/drawing/2014/main" id="{17034A8A-361F-F1AC-2948-D00790188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7890" y="2612393"/>
            <a:ext cx="3492500" cy="232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72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3405</TotalTime>
  <Words>1684</Words>
  <Application>Microsoft Macintosh PowerPoint</Application>
  <PresentationFormat>Widescreen</PresentationFormat>
  <Paragraphs>206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80% do aquecimento global é causado pelo CO2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Representative Concentration Pathways (RCPs)</vt:lpstr>
      <vt:lpstr>Shared Socioeconomic Pathways (SSPs)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Impactos e riscos das mudanças climáticas. O que são?</vt:lpstr>
      <vt:lpstr>Impactos e riscos das mudanças climáticas na pesca</vt:lpstr>
      <vt:lpstr>Impactos e riscos das mudanças climáticas na pesca</vt:lpstr>
      <vt:lpstr>O que pode agravar os impactos e riscos das mudanças climáticas?</vt:lpstr>
      <vt:lpstr>Opções de adaptação às mudanças climáticas</vt:lpstr>
      <vt:lpstr>Ecosystem Based Fishery Management (EBFM)</vt:lpstr>
      <vt:lpstr>Um exemplo de Cabo Verde (sinergias entre pesca e turismo)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174</cp:revision>
  <dcterms:created xsi:type="dcterms:W3CDTF">2025-11-12T15:08:01Z</dcterms:created>
  <dcterms:modified xsi:type="dcterms:W3CDTF">2025-11-30T16:34:29Z</dcterms:modified>
</cp:coreProperties>
</file>