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8" r:id="rId5"/>
    <p:sldId id="273" r:id="rId6"/>
    <p:sldId id="298" r:id="rId7"/>
    <p:sldId id="299" r:id="rId8"/>
    <p:sldId id="295" r:id="rId9"/>
    <p:sldId id="303" r:id="rId10"/>
    <p:sldId id="296" r:id="rId11"/>
    <p:sldId id="297" r:id="rId12"/>
    <p:sldId id="300" r:id="rId13"/>
    <p:sldId id="302" r:id="rId14"/>
    <p:sldId id="260" r:id="rId15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4FF2B-36C5-478F-A5A4-6839BA622F80}" v="220" dt="2025-11-27T15:01:55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07"/>
    <p:restoredTop sz="83051" autoAdjust="0"/>
  </p:normalViewPr>
  <p:slideViewPr>
    <p:cSldViewPr snapToGrid="0">
      <p:cViewPr>
        <p:scale>
          <a:sx n="80" d="100"/>
          <a:sy n="80" d="100"/>
        </p:scale>
        <p:origin x="186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5309B-12D6-8240-AE7D-DF18D3AE4A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85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E.G catch and release – sports fishing without harming fisheries</a:t>
            </a:r>
          </a:p>
          <a:p>
            <a:endParaRPr lang="en-GB" dirty="0"/>
          </a:p>
          <a:p>
            <a:r>
              <a:rPr lang="en-GB" dirty="0"/>
              <a:t>Find overlap between sectors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5309B-12D6-8240-AE7D-DF18D3AE4A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7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Adaptation recommendations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ACDE-10C9-F045-7191-964BE523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E97C-7B53-C082-54D7-4837292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752079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report findings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B8F31-5BAA-7915-FB6D-93ACC082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969" y="636502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6B2F92-30E2-9EF6-6876-03ACDD576A2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84171E-B5D6-D2D3-50B9-C9F54F0A61D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7E42CE-9992-223A-66F5-67C895479C6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80E5E99-848A-96C2-25A0-1EBCC47763E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127B1F-DAD1-37A5-0BFC-02891766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64657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climate change is expected to negatively affect blue economy in STP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Fisheries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fish biomass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probability of fish species occurrence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Tourism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Sea level rise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Increased tourist discomfort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Risk of coral bleaching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Decrease in occurrence probability of sports fishing species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graph of sea level rise&#10;&#10;AI-generated content may be incorrect.">
            <a:extLst>
              <a:ext uri="{FF2B5EF4-FFF2-40B4-BE49-F238E27FC236}">
                <a16:creationId xmlns:a16="http://schemas.microsoft.com/office/drawing/2014/main" id="{04BCB312-8A09-CB15-7037-8087C958C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661" y="1765753"/>
            <a:ext cx="1893313" cy="1893313"/>
          </a:xfrm>
          <a:prstGeom prst="rect">
            <a:avLst/>
          </a:prstGeom>
        </p:spPr>
      </p:pic>
      <p:pic>
        <p:nvPicPr>
          <p:cNvPr id="11" name="Picture 10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739226F7-DF6B-FEDC-507F-0CBDD42C63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135" y="1707194"/>
            <a:ext cx="2233206" cy="2010430"/>
          </a:xfrm>
          <a:prstGeom prst="rect">
            <a:avLst/>
          </a:prstGeom>
        </p:spPr>
      </p:pic>
      <p:pic>
        <p:nvPicPr>
          <p:cNvPr id="14" name="Picture 13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DA339A0B-4E3E-4ADD-2976-170B6B2A4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364" t="49744" b="5019"/>
          <a:stretch>
            <a:fillRect/>
          </a:stretch>
        </p:blipFill>
        <p:spPr>
          <a:xfrm>
            <a:off x="8078738" y="4210985"/>
            <a:ext cx="2818390" cy="2010430"/>
          </a:xfrm>
          <a:prstGeom prst="rect">
            <a:avLst/>
          </a:prstGeom>
        </p:spPr>
      </p:pic>
      <p:pic>
        <p:nvPicPr>
          <p:cNvPr id="15" name="Picture 14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92FEC3E6-84FA-EA9A-D203-6F8F5AE84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364" t="-807" b="93225"/>
          <a:stretch>
            <a:fillRect/>
          </a:stretch>
        </p:blipFill>
        <p:spPr>
          <a:xfrm>
            <a:off x="8078738" y="3937467"/>
            <a:ext cx="2818390" cy="336946"/>
          </a:xfrm>
          <a:prstGeom prst="rect">
            <a:avLst/>
          </a:prstGeom>
        </p:spPr>
      </p:pic>
      <p:pic>
        <p:nvPicPr>
          <p:cNvPr id="16" name="Picture 15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C7E636B2-D438-BB5C-7EE2-043455E78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5" t="49744" r="75383" b="5019"/>
          <a:stretch>
            <a:fillRect/>
          </a:stretch>
        </p:blipFill>
        <p:spPr>
          <a:xfrm>
            <a:off x="6627084" y="4210985"/>
            <a:ext cx="1518250" cy="2010430"/>
          </a:xfrm>
          <a:prstGeom prst="rect">
            <a:avLst/>
          </a:prstGeom>
        </p:spPr>
      </p:pic>
      <p:pic>
        <p:nvPicPr>
          <p:cNvPr id="17" name="Picture 16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CB784087-E911-000B-9FAF-3C0F50C67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296" t="94780" r="19316" b="1412"/>
          <a:stretch>
            <a:fillRect/>
          </a:stretch>
        </p:blipFill>
        <p:spPr>
          <a:xfrm>
            <a:off x="7954194" y="6251161"/>
            <a:ext cx="2942934" cy="1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2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F05B-C2BF-34D5-A138-A6EA4C11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1C08-D573-8126-846C-D12A3E8A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adaptation recommendations – infrastructure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292FA825-10D4-3B4A-755C-C32445972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FEB1-F4A5-7985-DC87-508ED56D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194A2F-FE0F-7B40-C78D-6115237368D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9CEB76-705F-1751-2B8B-AA71FF66F8B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C878FA-2A1A-1DB3-AC8E-50C50DA329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7F006A1-3516-7DD7-0A9E-2C38C677C17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3BF82E-432B-CBB8-1A09-2D36FF8D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424" y="1855543"/>
            <a:ext cx="3019733" cy="402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1E2DF8-69A1-7832-1CF0-4E64D3237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95775"/>
              </p:ext>
            </p:extLst>
          </p:nvPr>
        </p:nvGraphicFramePr>
        <p:xfrm>
          <a:off x="1064393" y="2048837"/>
          <a:ext cx="5231894" cy="36397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Development of fisheries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Construction of additional fishing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Building of district retail markets with adequate refrigeration equipment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Construction of a workshop for the construction of improved fishing boats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Build a manufacturing unit for essential fishing materials 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Development of official food storage and preparation hygiene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Development of road networks between fishing ports and markets and investment in refrigerated vehicles for safe fish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587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6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7CB1-8F06-F571-26CA-06981ED4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65F6-183C-90BA-48FA-9ED506E0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adaptation recommendations – protection of fish species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BCD9D-2CFE-C09C-4EE3-F12139C4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15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AA5F94-6008-1F3B-9BE4-3C32A5942D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A08FD4-5584-8ABF-FA61-DA3CE574119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F92B15-07B4-7CB8-1A1D-746EB3CC52C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CBDE9D8-8857-9F65-C30E-4E9B53F008B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map of the island of sao tome and principe&#10;&#10;AI-generated content may be incorrect.">
            <a:extLst>
              <a:ext uri="{FF2B5EF4-FFF2-40B4-BE49-F238E27FC236}">
                <a16:creationId xmlns:a16="http://schemas.microsoft.com/office/drawing/2014/main" id="{7D361A0B-9546-2193-0077-672B0CBB6F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672" y="1990478"/>
            <a:ext cx="3218286" cy="2278758"/>
          </a:xfrm>
          <a:prstGeom prst="rect">
            <a:avLst/>
          </a:prstGeom>
          <a:noFill/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627182-D576-A734-A0DA-9476F2250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42842"/>
              </p:ext>
            </p:extLst>
          </p:nvPr>
        </p:nvGraphicFramePr>
        <p:xfrm>
          <a:off x="972436" y="2425482"/>
          <a:ext cx="5231894" cy="132324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Protection of fish species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Further development and enforcement of marine protected areas (MPAs)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r>
                        <a:rPr lang="en-GB" sz="1600" dirty="0"/>
                        <a:t>Responsible use of moored fish aggregating devices (FADs)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6CCA013-4215-E900-413B-84715178F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93739"/>
              </p:ext>
            </p:extLst>
          </p:nvPr>
        </p:nvGraphicFramePr>
        <p:xfrm>
          <a:off x="972436" y="3889324"/>
          <a:ext cx="5231894" cy="189708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 to avoid overfishing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Returning juveniles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r>
                        <a:rPr lang="en-GB" sz="1600" dirty="0"/>
                        <a:t>Use of unweighted purse seine fishing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Catch limits based on fish stocks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49278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Limits on number of fishing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0742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A341B6C-9AB2-90A5-156F-65588AE8B6A7}"/>
              </a:ext>
            </a:extLst>
          </p:cNvPr>
          <p:cNvSpPr txBox="1"/>
          <p:nvPr/>
        </p:nvSpPr>
        <p:spPr>
          <a:xfrm>
            <a:off x="7137699" y="4512330"/>
            <a:ext cx="389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need for fish protection in STP has recently been acknowledged:</a:t>
            </a:r>
          </a:p>
          <a:p>
            <a:endParaRPr lang="en-GB" dirty="0"/>
          </a:p>
          <a:p>
            <a:r>
              <a:rPr lang="en-GB" b="1" dirty="0"/>
              <a:t>Eight Marine Protected Areas </a:t>
            </a:r>
            <a:r>
              <a:rPr lang="en-GB" dirty="0"/>
              <a:t>were agreed in stakeholder co-management Assemblies in 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6899D2-F0CB-DF9A-3616-A1DF6E04D006}"/>
              </a:ext>
            </a:extLst>
          </p:cNvPr>
          <p:cNvSpPr txBox="1"/>
          <p:nvPr/>
        </p:nvSpPr>
        <p:spPr>
          <a:xfrm>
            <a:off x="7724129" y="6416146"/>
            <a:ext cx="5737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Nuno et al., 2024; https://doi.org/10.1111/csp2.13196</a:t>
            </a:r>
          </a:p>
        </p:txBody>
      </p:sp>
    </p:spTree>
    <p:extLst>
      <p:ext uri="{BB962C8B-B14F-4D97-AF65-F5344CB8AC3E}">
        <p14:creationId xmlns:p14="http://schemas.microsoft.com/office/powerpoint/2010/main" val="254997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4F92-AC05-5A3F-28BD-4896D0CE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ECC6-1CC3-A2E5-C472-395D8243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coastal erosion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E82D8-AEF8-A5BC-A599-C4B6EF19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0216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BF4040-A48F-F004-EEA7-265451B5F3D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F6FDEC-5AF0-7BA1-4902-2988F0CBEB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3CF105-E640-DA4E-2F3B-05409BD2A01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13275AD-795B-972C-C4C7-A3A4926510B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9EA184-77B1-09E6-0378-6B1237782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68807"/>
              </p:ext>
            </p:extLst>
          </p:nvPr>
        </p:nvGraphicFramePr>
        <p:xfrm>
          <a:off x="838199" y="1836863"/>
          <a:ext cx="4789905" cy="416763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905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WACA+ recommended 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Construction of dikes, breakwaters (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e.g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gabions), and protective walls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Creating safe expansion zones for coastal communities.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Establishment of a climate alert system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Rehabilitation of tide stations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Sand dredging to repair eroded beaches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Diversification of coastal activities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532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Construction of drainage ditches and water tanks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10504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0C5987-26A0-C542-9B1F-1EAB4BB2D8D4}"/>
              </a:ext>
            </a:extLst>
          </p:cNvPr>
          <p:cNvSpPr txBox="1"/>
          <p:nvPr/>
        </p:nvSpPr>
        <p:spPr>
          <a:xfrm>
            <a:off x="6427442" y="1737568"/>
            <a:ext cx="49329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Similar measures in the GCF-funded: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 “</a:t>
            </a:r>
            <a:r>
              <a:rPr lang="en-GB" sz="2000" b="1" dirty="0"/>
              <a:t>Building Climate Resilient Safer Islands in the Maldives</a:t>
            </a:r>
            <a:r>
              <a:rPr lang="en-GB" sz="2000" dirty="0"/>
              <a:t>” project approved in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“</a:t>
            </a:r>
            <a:r>
              <a:rPr lang="en-GB" sz="2000" b="1" dirty="0"/>
              <a:t>Tonga Coastal Resilience</a:t>
            </a:r>
            <a:r>
              <a:rPr lang="en-GB" sz="2000" dirty="0"/>
              <a:t>” project approved in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pic>
        <p:nvPicPr>
          <p:cNvPr id="1028" name="Picture 4" descr="Praia Banana | São Tomé &amp; Príncipe, Africa | Attractions - Lonely Planet">
            <a:extLst>
              <a:ext uri="{FF2B5EF4-FFF2-40B4-BE49-F238E27FC236}">
                <a16:creationId xmlns:a16="http://schemas.microsoft.com/office/drawing/2014/main" id="{DB3C2663-889D-E34F-A8AD-02CBCE64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927" y="3679397"/>
            <a:ext cx="4054976" cy="26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78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1CE6-B4CD-5D95-7061-B0173E4B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9977-9D8B-D094-A5B4-F7ACC62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918410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 economy adaptation recommendations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94A09-8DA6-0796-BE6C-806C7319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969" y="636502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A455EB-6DD7-A51F-84AD-ADE13E5DE188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DA09BC-0627-7467-EEB2-7B477A1BD85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E7D705-C9CD-4221-BD0F-021AF357A10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F73D9DA-FB3A-10FA-3302-3D7139FF859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803D0AD-8CFC-2F9F-ED16-8657BE54E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125"/>
            <a:ext cx="514149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Fisheries and tourism are linked as part of blue economy: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Over-fishing may reduce diving opportunities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Coral damage may impact fish nurseries and reduce fish biomass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Decreases in fish biomass may constrain sports fishing potential</a:t>
            </a:r>
          </a:p>
        </p:txBody>
      </p:sp>
      <p:pic>
        <p:nvPicPr>
          <p:cNvPr id="4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35275B44-D6F7-CFA2-1851-512FB0F4E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935" y="1881233"/>
            <a:ext cx="3173068" cy="186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Dive Tribe – Diving in Sao Tome">
            <a:extLst>
              <a:ext uri="{FF2B5EF4-FFF2-40B4-BE49-F238E27FC236}">
                <a16:creationId xmlns:a16="http://schemas.microsoft.com/office/drawing/2014/main" id="{7F0F08A0-A128-D005-5636-67A9760F0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483" y="4448963"/>
            <a:ext cx="1988345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ao Tome and Principe endorses first ever fisheries management plan">
            <a:extLst>
              <a:ext uri="{FF2B5EF4-FFF2-40B4-BE49-F238E27FC236}">
                <a16:creationId xmlns:a16="http://schemas.microsoft.com/office/drawing/2014/main" id="{F0BAB39A-0BA0-2FEE-8D39-89FB8F1D8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59"/>
          <a:stretch>
            <a:fillRect/>
          </a:stretch>
        </p:blipFill>
        <p:spPr bwMode="auto">
          <a:xfrm>
            <a:off x="6693999" y="4324066"/>
            <a:ext cx="2137180" cy="151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329EDD-E1DE-341B-B5B5-DD33EB89386D}"/>
              </a:ext>
            </a:extLst>
          </p:cNvPr>
          <p:cNvCxnSpPr>
            <a:cxnSpLocks/>
          </p:cNvCxnSpPr>
          <p:nvPr/>
        </p:nvCxnSpPr>
        <p:spPr>
          <a:xfrm flipH="1">
            <a:off x="8940208" y="5039329"/>
            <a:ext cx="45642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34D122-7177-1786-F5D8-4A0881EE0508}"/>
              </a:ext>
            </a:extLst>
          </p:cNvPr>
          <p:cNvCxnSpPr>
            <a:cxnSpLocks/>
          </p:cNvCxnSpPr>
          <p:nvPr/>
        </p:nvCxnSpPr>
        <p:spPr>
          <a:xfrm>
            <a:off x="9926053" y="3897993"/>
            <a:ext cx="252646" cy="40347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46C8BA-4875-9A97-972B-4E22BC78C3CB}"/>
              </a:ext>
            </a:extLst>
          </p:cNvPr>
          <p:cNvCxnSpPr>
            <a:cxnSpLocks/>
          </p:cNvCxnSpPr>
          <p:nvPr/>
        </p:nvCxnSpPr>
        <p:spPr>
          <a:xfrm flipH="1">
            <a:off x="8129320" y="3797293"/>
            <a:ext cx="280753" cy="44629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631DF3-2DE5-194A-F881-8D909B9986FF}"/>
              </a:ext>
            </a:extLst>
          </p:cNvPr>
          <p:cNvCxnSpPr>
            <a:cxnSpLocks/>
          </p:cNvCxnSpPr>
          <p:nvPr/>
        </p:nvCxnSpPr>
        <p:spPr>
          <a:xfrm>
            <a:off x="8967530" y="5348139"/>
            <a:ext cx="45642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71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610C-9F81-71DF-EA4B-1EC082B7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F512-D779-89F1-A894-01317A55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 economy adaptation recommendations– eco-tourism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4086D-8EC6-89C8-C7D9-3ECF52BE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002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CD88A0-CDB1-FB08-705D-817D9059418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F5A31A-250D-DD1C-834B-678ED2C77E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174A86-5782-CDEE-559D-282D193BA9B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C1BA871-D8CB-BAC8-6BAF-84F42892087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odular Artificial Reef Structure (MARS) | REEF DESIGN LAB">
            <a:extLst>
              <a:ext uri="{FF2B5EF4-FFF2-40B4-BE49-F238E27FC236}">
                <a16:creationId xmlns:a16="http://schemas.microsoft.com/office/drawing/2014/main" id="{68A688B8-C3A4-E99A-69A8-5D8797C0B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r="21561"/>
          <a:stretch>
            <a:fillRect/>
          </a:stretch>
        </p:blipFill>
        <p:spPr bwMode="auto">
          <a:xfrm>
            <a:off x="5855974" y="4051556"/>
            <a:ext cx="2608050" cy="198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D7FE3-CE99-138E-79AF-308F8AC83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433255"/>
              </p:ext>
            </p:extLst>
          </p:nvPr>
        </p:nvGraphicFramePr>
        <p:xfrm>
          <a:off x="1288289" y="2192419"/>
          <a:ext cx="3875408" cy="330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75408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Coral vulnerability assessments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Regular assessment of coral health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Identifying storm sheltered areas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Regular ocean variable assessment for coral vulnerability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Development of coral nurseries for transplanting into damaged areas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Development of artificial reefs</a:t>
                      </a: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5C43C1-C7BA-C764-DC88-33D3E1F25FA6}"/>
              </a:ext>
            </a:extLst>
          </p:cNvPr>
          <p:cNvSpPr txBox="1"/>
          <p:nvPr/>
        </p:nvSpPr>
        <p:spPr>
          <a:xfrm>
            <a:off x="5757612" y="1880501"/>
            <a:ext cx="56495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Coral protection is a primary focus of GCF-funded “</a:t>
            </a:r>
            <a:r>
              <a:rPr lang="en-GB" b="1" dirty="0"/>
              <a:t>Global Fund for Coral Reefs Investment Window</a:t>
            </a:r>
            <a:r>
              <a:rPr lang="en-GB" dirty="0"/>
              <a:t>” approved in 2021</a:t>
            </a:r>
          </a:p>
          <a:p>
            <a:endParaRPr lang="en-GB" dirty="0"/>
          </a:p>
          <a:p>
            <a:r>
              <a:rPr lang="en-GB" dirty="0"/>
              <a:t>First artificial reefs were installed in São Tomé at the beginning of 2022 by MARAPA and the </a:t>
            </a:r>
            <a:r>
              <a:rPr lang="en-GB" dirty="0" err="1"/>
              <a:t>Tatô</a:t>
            </a:r>
            <a:r>
              <a:rPr lang="en-GB" dirty="0"/>
              <a:t>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4" name="Picture 2" descr="Coral Nurseries | Reef Resilience Network">
            <a:extLst>
              <a:ext uri="{FF2B5EF4-FFF2-40B4-BE49-F238E27FC236}">
                <a16:creationId xmlns:a16="http://schemas.microsoft.com/office/drawing/2014/main" id="{C610B6FF-5A08-92A0-8C8A-BF7DEC6D4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58" y="3999957"/>
            <a:ext cx="2077665" cy="226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7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D7C5-7980-51E6-031B-123AACB0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E8BA37-7749-02F0-51CD-241EFF99985D}"/>
              </a:ext>
            </a:extLst>
          </p:cNvPr>
          <p:cNvSpPr/>
          <p:nvPr/>
        </p:nvSpPr>
        <p:spPr>
          <a:xfrm>
            <a:off x="7194885" y="2039048"/>
            <a:ext cx="4030579" cy="18648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9E1F9-454A-99D2-8FC8-4C2D090D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adaptation recommendations – eco-tourism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05CEA-46D7-A052-19BB-830F42F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7DC198-BEEE-C17F-158A-D80DE04919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8806D9-5A4A-2B22-1971-7034DCF61FA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440086-A830-ABC3-C412-C3E8F5C6686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8E5BE8-9787-A5EB-BED8-B3CFBE1CA88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Green Fins">
            <a:extLst>
              <a:ext uri="{FF2B5EF4-FFF2-40B4-BE49-F238E27FC236}">
                <a16:creationId xmlns:a16="http://schemas.microsoft.com/office/drawing/2014/main" id="{BEF62EA1-35FA-4CA8-DFEE-48753EEE3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884" y="2056527"/>
            <a:ext cx="4042611" cy="18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2B47E-2C49-A631-2A9C-27D835CDADBB}"/>
              </a:ext>
            </a:extLst>
          </p:cNvPr>
          <p:cNvSpPr txBox="1"/>
          <p:nvPr/>
        </p:nvSpPr>
        <p:spPr>
          <a:xfrm>
            <a:off x="7339263" y="4279369"/>
            <a:ext cx="3898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These suggestions are in line with guidance by </a:t>
            </a:r>
            <a:r>
              <a:rPr lang="en-GB" b="1" dirty="0"/>
              <a:t>Green Fins </a:t>
            </a:r>
            <a:r>
              <a:rPr lang="en-GB" dirty="0"/>
              <a:t>– international recognised project implemented by The Reef-World Foundation and the UN Environment Programme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858EC5-9D23-D117-7E85-8CB645B3E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546652"/>
              </p:ext>
            </p:extLst>
          </p:nvPr>
        </p:nvGraphicFramePr>
        <p:xfrm>
          <a:off x="890193" y="1867667"/>
          <a:ext cx="5197642" cy="21344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7642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Code of conduct for sustainable diving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Limitations on number of divers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No-touch policy for corals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Mandatory use of reef-safe sunscreen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Sustainable anchoring practices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Education for tourists and guides on environmental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44FF32-7A66-66C5-F732-A704ED717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111252"/>
              </p:ext>
            </p:extLst>
          </p:nvPr>
        </p:nvGraphicFramePr>
        <p:xfrm>
          <a:off x="890193" y="4150736"/>
          <a:ext cx="5197642" cy="221325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7642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Licensing or authorisation for dive 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Minimum sustainability and safety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Designation of no-fishing or restricted recreational zones in the most sensitive reefs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Monitoring, enforcement, and sanctions for proven environmental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269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352A-2634-3562-A09A-4FB4B4D1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E6F6-022C-D801-1638-5A500899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and fisheries adaptation recommendations – sports fishing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3851B-CD58-CE20-8E81-3BF14A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466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6F0F37-8CC1-23AF-3A94-79651DAB901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0D7234-5031-99F1-974E-2AE0E752C0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466DB0-65D0-B50C-59A9-1F6FCB3F656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577E05-CE3D-545A-D862-AF5560E9913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ellowfin Tuna - Species Guide">
            <a:extLst>
              <a:ext uri="{FF2B5EF4-FFF2-40B4-BE49-F238E27FC236}">
                <a16:creationId xmlns:a16="http://schemas.microsoft.com/office/drawing/2014/main" id="{212BE09D-7D1E-B49D-C2B8-8C82301C3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4"/>
          <a:stretch>
            <a:fillRect/>
          </a:stretch>
        </p:blipFill>
        <p:spPr bwMode="auto">
          <a:xfrm>
            <a:off x="6931025" y="4632241"/>
            <a:ext cx="1908175" cy="154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E677F2-B7A2-29EF-E00B-60955A9B7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0947"/>
              </p:ext>
            </p:extLst>
          </p:nvPr>
        </p:nvGraphicFramePr>
        <p:xfrm>
          <a:off x="864106" y="2288680"/>
          <a:ext cx="5231894" cy="377629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 for sports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Creation of sport fishing zones based on existing ecological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Compulsory licenses for amateur and sport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Respect for the closed season (breeding seasons)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4287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Catch limits and minimum sizes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69339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Prohibition of fishing endangered species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836392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Recording of catches and shipments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650106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Require certified guides and safe, seaworthy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515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Environmental and maritime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118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D776C76-1700-43CC-D754-D3274FEB4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77471"/>
              </p:ext>
            </p:extLst>
          </p:nvPr>
        </p:nvGraphicFramePr>
        <p:xfrm>
          <a:off x="6931025" y="2213488"/>
          <a:ext cx="4422776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211388">
                  <a:extLst>
                    <a:ext uri="{9D8B030D-6E8A-4147-A177-3AD203B41FA5}">
                      <a16:colId xmlns:a16="http://schemas.microsoft.com/office/drawing/2014/main" val="2795396303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966034151"/>
                    </a:ext>
                  </a:extLst>
                </a:gridCol>
              </a:tblGrid>
              <a:tr h="21118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Country/Destination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Regulation and Services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61616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Costa Rica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Compulsory permits, protected areas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692851"/>
                  </a:ext>
                </a:extLst>
              </a:tr>
              <a:tr h="62747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Brazil (Pantanal)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Amateur fisherman registration, closed season, catch limits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93215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Mauritius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Regulated tournaments, eco-friendly accommodation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26632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Portugal (Azores)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Fishing-tourism licensing, environmental inspection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128047"/>
                  </a:ext>
                </a:extLst>
              </a:tr>
            </a:tbl>
          </a:graphicData>
        </a:graphic>
      </p:graphicFrame>
      <p:pic>
        <p:nvPicPr>
          <p:cNvPr id="4098" name="Picture 2" descr="Deep Sea Fishing - Fishing Techniques | Guidesly">
            <a:extLst>
              <a:ext uri="{FF2B5EF4-FFF2-40B4-BE49-F238E27FC236}">
                <a16:creationId xmlns:a16="http://schemas.microsoft.com/office/drawing/2014/main" id="{B14F7D38-59BE-0BF8-0D6B-C12E44B03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4647000"/>
            <a:ext cx="2057401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30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09F5-7BBA-88F3-7C18-93BD56C4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3711-50ED-E012-F93D-9626EFEC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tourism and fisheries for blue economy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54B78-AF3D-0742-CB20-53410DA8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466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585DD5-D87B-7679-763F-75B4FD4A080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443E4C-6E70-ED0F-F3FF-0AF20A39DF9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691829-49D1-9B9D-C4E4-8ABB46BA294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F09CFA4-4505-0A3A-C97F-A915B4D4675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ellowfin Tuna - Species Guide">
            <a:extLst>
              <a:ext uri="{FF2B5EF4-FFF2-40B4-BE49-F238E27FC236}">
                <a16:creationId xmlns:a16="http://schemas.microsoft.com/office/drawing/2014/main" id="{07ACDB4B-6103-A4ED-E419-F0F19EBF2B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4"/>
          <a:stretch>
            <a:fillRect/>
          </a:stretch>
        </p:blipFill>
        <p:spPr bwMode="auto">
          <a:xfrm>
            <a:off x="6931025" y="4632241"/>
            <a:ext cx="1908175" cy="154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438B70-EBD7-751D-6BD9-A11108C9CBB7}"/>
              </a:ext>
            </a:extLst>
          </p:cNvPr>
          <p:cNvGraphicFramePr>
            <a:graphicFrameLocks noGrp="1"/>
          </p:cNvGraphicFramePr>
          <p:nvPr/>
        </p:nvGraphicFramePr>
        <p:xfrm>
          <a:off x="864106" y="2288680"/>
          <a:ext cx="5231894" cy="377629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Regulatory framework for sports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Creation of sport fishing zones based on existing ecological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lvl="0"/>
                      <a:r>
                        <a:rPr lang="en-GB" sz="1600" dirty="0"/>
                        <a:t>Compulsory licenses for amateur and sport fishing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Respect for the closed season (breeding seasons)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4287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Catch limits and minimum sizes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69339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Prohibition of fishing endangered species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836392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Recording of catches and shipments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650106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Require certified guides and safe, seaworthy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515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Environmental and maritime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118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197AB5E-8C60-087B-839A-DCC3565953A5}"/>
              </a:ext>
            </a:extLst>
          </p:cNvPr>
          <p:cNvGraphicFramePr>
            <a:graphicFrameLocks noGrp="1"/>
          </p:cNvGraphicFramePr>
          <p:nvPr/>
        </p:nvGraphicFramePr>
        <p:xfrm>
          <a:off x="6931025" y="2213488"/>
          <a:ext cx="4422776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211388">
                  <a:extLst>
                    <a:ext uri="{9D8B030D-6E8A-4147-A177-3AD203B41FA5}">
                      <a16:colId xmlns:a16="http://schemas.microsoft.com/office/drawing/2014/main" val="2795396303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966034151"/>
                    </a:ext>
                  </a:extLst>
                </a:gridCol>
              </a:tblGrid>
              <a:tr h="21118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Country/Destination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Regulation and Services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61616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Costa Rica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Compulsory permits, protected areas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692851"/>
                  </a:ext>
                </a:extLst>
              </a:tr>
              <a:tr h="62747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Brazil (Pantanal)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Amateur fisherman registration, closed season, catch limits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93215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Mauritius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Regulated tournaments, eco-friendly accommodation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26632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Portugal (Azores)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Fishing-tourism licensing, environmental inspection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128047"/>
                  </a:ext>
                </a:extLst>
              </a:tr>
            </a:tbl>
          </a:graphicData>
        </a:graphic>
      </p:graphicFrame>
      <p:pic>
        <p:nvPicPr>
          <p:cNvPr id="4098" name="Picture 2" descr="Deep Sea Fishing - Fishing Techniques | Guidesly">
            <a:extLst>
              <a:ext uri="{FF2B5EF4-FFF2-40B4-BE49-F238E27FC236}">
                <a16:creationId xmlns:a16="http://schemas.microsoft.com/office/drawing/2014/main" id="{94EC4562-C7B8-73C7-BBCA-910CE52F6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4647000"/>
            <a:ext cx="2057401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54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5532-6683-13E3-C265-43BA25C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93C80A-C674-1DBB-5305-06A8E4C7EF58}"/>
              </a:ext>
            </a:extLst>
          </p:cNvPr>
          <p:cNvGrpSpPr/>
          <p:nvPr/>
        </p:nvGrpSpPr>
        <p:grpSpPr>
          <a:xfrm>
            <a:off x="-14068" y="-21659"/>
            <a:ext cx="12393386" cy="1611307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DE89E6-8A6E-EC4E-E986-BBD249F52F1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B3FB0-E509-4B22-624E-E9AC14B7624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2">
            <a:extLst>
              <a:ext uri="{FF2B5EF4-FFF2-40B4-BE49-F238E27FC236}">
                <a16:creationId xmlns:a16="http://schemas.microsoft.com/office/drawing/2014/main" id="{A9C56575-D07C-0F96-5881-6F5315AF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0036" y="2136450"/>
            <a:ext cx="4852615" cy="2376264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2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F1EDE0D-99E4-90B7-BDA1-FECF18E8A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1699003" y="2950234"/>
            <a:ext cx="4286633" cy="14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808</Words>
  <Application>Microsoft Office PowerPoint</Application>
  <PresentationFormat>Widescreen</PresentationFormat>
  <Paragraphs>133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Garamond</vt:lpstr>
      <vt:lpstr>Georgia</vt:lpstr>
      <vt:lpstr>Office Theme</vt:lpstr>
      <vt:lpstr>Climate change and climate change impacts on São Tomé and Príncipe with a focus on fishery and tourism sectors in a Blue Economy context Sao Tome and Principe, November/December 2025</vt:lpstr>
      <vt:lpstr>Summary of report findings</vt:lpstr>
      <vt:lpstr>Fisheries adaptation recommendations – infrastructure</vt:lpstr>
      <vt:lpstr>Fisheries adaptation recommendations – protection of fish species</vt:lpstr>
      <vt:lpstr>Tourism adaptation recommendations – coastal erosion</vt:lpstr>
      <vt:lpstr>Blue economy adaptation recommendations</vt:lpstr>
      <vt:lpstr>Blue economy adaptation recommendations– eco-tourism</vt:lpstr>
      <vt:lpstr>Tourism adaptation recommendations – eco-tourism</vt:lpstr>
      <vt:lpstr>Tourism and fisheries adaptation recommendations – sports fishing</vt:lpstr>
      <vt:lpstr>Link tourism and fisheries for blue economy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Greenrod, Samuel (OCBD)</cp:lastModifiedBy>
  <cp:revision>21</cp:revision>
  <dcterms:created xsi:type="dcterms:W3CDTF">2022-11-03T10:54:55Z</dcterms:created>
  <dcterms:modified xsi:type="dcterms:W3CDTF">2025-11-27T15:06:00Z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