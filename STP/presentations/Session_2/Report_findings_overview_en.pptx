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modernComment_116_A20CF004.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7"/>
  </p:notesMasterIdLst>
  <p:sldIdLst>
    <p:sldId id="278" r:id="rId5"/>
    <p:sldId id="318" r:id="rId6"/>
    <p:sldId id="319" r:id="rId7"/>
    <p:sldId id="320" r:id="rId8"/>
    <p:sldId id="303" r:id="rId9"/>
    <p:sldId id="304" r:id="rId10"/>
    <p:sldId id="305" r:id="rId11"/>
    <p:sldId id="312" r:id="rId12"/>
    <p:sldId id="306" r:id="rId13"/>
    <p:sldId id="313" r:id="rId14"/>
    <p:sldId id="315" r:id="rId15"/>
    <p:sldId id="317" r:id="rId16"/>
    <p:sldId id="262" r:id="rId17"/>
    <p:sldId id="307" r:id="rId18"/>
    <p:sldId id="308" r:id="rId19"/>
    <p:sldId id="309" r:id="rId20"/>
    <p:sldId id="310" r:id="rId21"/>
    <p:sldId id="311" r:id="rId22"/>
    <p:sldId id="316" r:id="rId23"/>
    <p:sldId id="280" r:id="rId24"/>
    <p:sldId id="295" r:id="rId25"/>
    <p:sldId id="274" r:id="rId26"/>
    <p:sldId id="296" r:id="rId27"/>
    <p:sldId id="281" r:id="rId28"/>
    <p:sldId id="297" r:id="rId29"/>
    <p:sldId id="298" r:id="rId30"/>
    <p:sldId id="301" r:id="rId31"/>
    <p:sldId id="282" r:id="rId32"/>
    <p:sldId id="302" r:id="rId33"/>
    <p:sldId id="299" r:id="rId34"/>
    <p:sldId id="321" r:id="rId35"/>
    <p:sldId id="260" r:id="rId36"/>
  </p:sldIdLst>
  <p:sldSz cx="12192000" cy="6858000"/>
  <p:notesSz cx="6858000" cy="9144000"/>
  <p:defaultTextStyle>
    <a:defPPr>
      <a:defRPr lang="en-G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58D5D99-21CF-B08C-94E1-10539A96C80D}" name="Samuel Greenrod" initials="SG" userId="f4bf26eb60ababa0"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99BDB3-C02F-4B9A-B318-9C9C611A5D0A}" v="484" dt="2025-11-27T16:37:24.7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807"/>
    <p:restoredTop sz="96327"/>
  </p:normalViewPr>
  <p:slideViewPr>
    <p:cSldViewPr snapToGrid="0">
      <p:cViewPr varScale="1">
        <p:scale>
          <a:sx n="102" d="100"/>
          <a:sy n="102" d="100"/>
        </p:scale>
        <p:origin x="84" y="2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8/10/relationships/authors" Targe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omments/modernComment_116_A20CF004.xml><?xml version="1.0" encoding="utf-8"?>
<p188:cmLst xmlns:a="http://schemas.openxmlformats.org/drawingml/2006/main" xmlns:r="http://schemas.openxmlformats.org/officeDocument/2006/relationships" xmlns:p188="http://schemas.microsoft.com/office/powerpoint/2018/8/main">
  <p188:cm id="{AA35EFF7-6E11-4ED5-8DD2-5683A3180CDF}" authorId="{058D5D99-21CF-B08C-94E1-10539A96C80D}" created="2025-09-25T07:35:28.264">
    <ac:deMkLst xmlns:ac="http://schemas.microsoft.com/office/drawing/2013/main/command">
      <pc:docMk xmlns:pc="http://schemas.microsoft.com/office/powerpoint/2013/main/command"/>
      <pc:sldMk xmlns:pc="http://schemas.microsoft.com/office/powerpoint/2013/main/command" cId="2718756868" sldId="278"/>
      <ac:picMk id="3074" creationId="{D18EC2C8-8D2B-E43F-E1FF-B94334997B32}"/>
    </ac:deMkLst>
    <p188:txBody>
      <a:bodyPr/>
      <a:lstStyle/>
      <a:p>
        <a:r>
          <a:rPr lang="en-GB"/>
          <a:t>I put the STP flag as a logo - maybe a different logo would be more appropriate here?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EF438C-C331-AD49-9851-63B1FE7ADA81}" type="datetimeFigureOut">
              <a:rPr lang="en-US" smtClean="0"/>
              <a:t>11/27/2025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95309B-12D6-8240-AE7D-DF18D3AE4A0B}" type="slidenum">
              <a:rPr lang="en-US" smtClean="0"/>
              <a:t>‹#›</a:t>
            </a:fld>
            <a:endParaRPr lang="en-US"/>
          </a:p>
        </p:txBody>
      </p:sp>
    </p:spTree>
    <p:extLst>
      <p:ext uri="{BB962C8B-B14F-4D97-AF65-F5344CB8AC3E}">
        <p14:creationId xmlns:p14="http://schemas.microsoft.com/office/powerpoint/2010/main" val="38501899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89F1F-D764-76A7-5647-C387D9DDF12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51A5DA2F-BC09-79BF-74E2-C04FDDC10D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15BFCA8A-5E75-00B9-7991-A37A597D231C}"/>
              </a:ext>
            </a:extLst>
          </p:cNvPr>
          <p:cNvSpPr>
            <a:spLocks noGrp="1"/>
          </p:cNvSpPr>
          <p:nvPr>
            <p:ph type="dt" sz="half" idx="10"/>
          </p:nvPr>
        </p:nvSpPr>
        <p:spPr/>
        <p:txBody>
          <a:bodyPr/>
          <a:lstStyle/>
          <a:p>
            <a:fld id="{8EE22EBA-D7A4-B848-AB8E-77DF82C97865}" type="datetime1">
              <a:rPr lang="en-US" smtClean="0"/>
              <a:t>11/27/2025</a:t>
            </a:fld>
            <a:endParaRPr lang="en-US"/>
          </a:p>
        </p:txBody>
      </p:sp>
      <p:sp>
        <p:nvSpPr>
          <p:cNvPr id="5" name="Footer Placeholder 4">
            <a:extLst>
              <a:ext uri="{FF2B5EF4-FFF2-40B4-BE49-F238E27FC236}">
                <a16:creationId xmlns:a16="http://schemas.microsoft.com/office/drawing/2014/main" id="{C64CA5A9-BEBC-78EE-74E6-78450AAFDA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49033A-5A7A-F423-BF9B-F87AFE8CAC4A}"/>
              </a:ext>
            </a:extLst>
          </p:cNvPr>
          <p:cNvSpPr>
            <a:spLocks noGrp="1"/>
          </p:cNvSpPr>
          <p:nvPr>
            <p:ph type="sldNum" sz="quarter" idx="12"/>
          </p:nvPr>
        </p:nvSpPr>
        <p:spPr/>
        <p:txBody>
          <a:bodyPr/>
          <a:lstStyle/>
          <a:p>
            <a:fld id="{D51B4FB4-AA13-FE41-AF8A-525BA2FA973D}" type="slidenum">
              <a:rPr lang="en-US" smtClean="0"/>
              <a:t>‹#›</a:t>
            </a:fld>
            <a:endParaRPr lang="en-US"/>
          </a:p>
        </p:txBody>
      </p:sp>
    </p:spTree>
    <p:extLst>
      <p:ext uri="{BB962C8B-B14F-4D97-AF65-F5344CB8AC3E}">
        <p14:creationId xmlns:p14="http://schemas.microsoft.com/office/powerpoint/2010/main" val="37969362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320F8-BBFB-E491-140E-761D7B70612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689983B-2B7E-DFD9-39D0-932B9B37FB8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AF9523E-5E99-E34F-7245-4ECDF07ABEB5}"/>
              </a:ext>
            </a:extLst>
          </p:cNvPr>
          <p:cNvSpPr>
            <a:spLocks noGrp="1"/>
          </p:cNvSpPr>
          <p:nvPr>
            <p:ph type="dt" sz="half" idx="10"/>
          </p:nvPr>
        </p:nvSpPr>
        <p:spPr/>
        <p:txBody>
          <a:bodyPr/>
          <a:lstStyle/>
          <a:p>
            <a:fld id="{F9D1B2B8-A631-CC4D-AD37-3A3B27278243}" type="datetime1">
              <a:rPr lang="en-US" smtClean="0"/>
              <a:t>11/27/2025</a:t>
            </a:fld>
            <a:endParaRPr lang="en-US"/>
          </a:p>
        </p:txBody>
      </p:sp>
      <p:sp>
        <p:nvSpPr>
          <p:cNvPr id="5" name="Footer Placeholder 4">
            <a:extLst>
              <a:ext uri="{FF2B5EF4-FFF2-40B4-BE49-F238E27FC236}">
                <a16:creationId xmlns:a16="http://schemas.microsoft.com/office/drawing/2014/main" id="{6C7B7571-5124-1446-A180-F28435598F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C9B2AB-26CF-14D2-153E-3A8A6D0AA9EB}"/>
              </a:ext>
            </a:extLst>
          </p:cNvPr>
          <p:cNvSpPr>
            <a:spLocks noGrp="1"/>
          </p:cNvSpPr>
          <p:nvPr>
            <p:ph type="sldNum" sz="quarter" idx="12"/>
          </p:nvPr>
        </p:nvSpPr>
        <p:spPr/>
        <p:txBody>
          <a:bodyPr/>
          <a:lstStyle/>
          <a:p>
            <a:fld id="{D51B4FB4-AA13-FE41-AF8A-525BA2FA973D}" type="slidenum">
              <a:rPr lang="en-US" smtClean="0"/>
              <a:t>‹#›</a:t>
            </a:fld>
            <a:endParaRPr lang="en-US"/>
          </a:p>
        </p:txBody>
      </p:sp>
    </p:spTree>
    <p:extLst>
      <p:ext uri="{BB962C8B-B14F-4D97-AF65-F5344CB8AC3E}">
        <p14:creationId xmlns:p14="http://schemas.microsoft.com/office/powerpoint/2010/main" val="4105868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6C695-A593-2156-164A-0EBBE7D5DE6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8FB5EB3-14A6-9C84-5D37-F53AD9D490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30BC292-9EF3-3C99-F9F6-0801630D2E2A}"/>
              </a:ext>
            </a:extLst>
          </p:cNvPr>
          <p:cNvSpPr>
            <a:spLocks noGrp="1"/>
          </p:cNvSpPr>
          <p:nvPr>
            <p:ph type="dt" sz="half" idx="10"/>
          </p:nvPr>
        </p:nvSpPr>
        <p:spPr/>
        <p:txBody>
          <a:bodyPr/>
          <a:lstStyle/>
          <a:p>
            <a:fld id="{71EDBDE0-F7A9-DB41-9E26-44A36E8471E2}" type="datetime1">
              <a:rPr lang="en-US" smtClean="0"/>
              <a:t>11/27/2025</a:t>
            </a:fld>
            <a:endParaRPr lang="en-US"/>
          </a:p>
        </p:txBody>
      </p:sp>
      <p:sp>
        <p:nvSpPr>
          <p:cNvPr id="5" name="Footer Placeholder 4">
            <a:extLst>
              <a:ext uri="{FF2B5EF4-FFF2-40B4-BE49-F238E27FC236}">
                <a16:creationId xmlns:a16="http://schemas.microsoft.com/office/drawing/2014/main" id="{2A0D0763-6183-3C66-294B-8ED481259D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EFFC3D-7BD1-D91E-C78E-EECE362E7B5E}"/>
              </a:ext>
            </a:extLst>
          </p:cNvPr>
          <p:cNvSpPr>
            <a:spLocks noGrp="1"/>
          </p:cNvSpPr>
          <p:nvPr>
            <p:ph type="sldNum" sz="quarter" idx="12"/>
          </p:nvPr>
        </p:nvSpPr>
        <p:spPr/>
        <p:txBody>
          <a:bodyPr/>
          <a:lstStyle/>
          <a:p>
            <a:fld id="{D51B4FB4-AA13-FE41-AF8A-525BA2FA973D}" type="slidenum">
              <a:rPr lang="en-US" smtClean="0"/>
              <a:t>‹#›</a:t>
            </a:fld>
            <a:endParaRPr lang="en-US"/>
          </a:p>
        </p:txBody>
      </p:sp>
    </p:spTree>
    <p:extLst>
      <p:ext uri="{BB962C8B-B14F-4D97-AF65-F5344CB8AC3E}">
        <p14:creationId xmlns:p14="http://schemas.microsoft.com/office/powerpoint/2010/main" val="2654476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20549-19CC-7EFE-A700-B8E471CAB4C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10968C5-D92D-6F83-91DC-A4F35CBD027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19428BFF-94DE-FEA5-2B7F-AD0D80190E1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FA97BFB7-21A4-FC49-C517-046786C2D2B9}"/>
              </a:ext>
            </a:extLst>
          </p:cNvPr>
          <p:cNvSpPr>
            <a:spLocks noGrp="1"/>
          </p:cNvSpPr>
          <p:nvPr>
            <p:ph type="dt" sz="half" idx="10"/>
          </p:nvPr>
        </p:nvSpPr>
        <p:spPr/>
        <p:txBody>
          <a:bodyPr/>
          <a:lstStyle/>
          <a:p>
            <a:fld id="{6CE39B8C-C3C5-094C-B681-56CCD7D412A6}" type="datetime1">
              <a:rPr lang="en-US" smtClean="0"/>
              <a:t>11/27/2025</a:t>
            </a:fld>
            <a:endParaRPr lang="en-US"/>
          </a:p>
        </p:txBody>
      </p:sp>
      <p:sp>
        <p:nvSpPr>
          <p:cNvPr id="6" name="Footer Placeholder 5">
            <a:extLst>
              <a:ext uri="{FF2B5EF4-FFF2-40B4-BE49-F238E27FC236}">
                <a16:creationId xmlns:a16="http://schemas.microsoft.com/office/drawing/2014/main" id="{C98B355B-57C2-4745-51EF-8FAE709B59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FE950B-637B-E1F2-B1B8-35CCAAB91823}"/>
              </a:ext>
            </a:extLst>
          </p:cNvPr>
          <p:cNvSpPr>
            <a:spLocks noGrp="1"/>
          </p:cNvSpPr>
          <p:nvPr>
            <p:ph type="sldNum" sz="quarter" idx="12"/>
          </p:nvPr>
        </p:nvSpPr>
        <p:spPr/>
        <p:txBody>
          <a:bodyPr/>
          <a:lstStyle/>
          <a:p>
            <a:fld id="{D51B4FB4-AA13-FE41-AF8A-525BA2FA973D}" type="slidenum">
              <a:rPr lang="en-US" smtClean="0"/>
              <a:t>‹#›</a:t>
            </a:fld>
            <a:endParaRPr lang="en-US"/>
          </a:p>
        </p:txBody>
      </p:sp>
    </p:spTree>
    <p:extLst>
      <p:ext uri="{BB962C8B-B14F-4D97-AF65-F5344CB8AC3E}">
        <p14:creationId xmlns:p14="http://schemas.microsoft.com/office/powerpoint/2010/main" val="4483261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BA364-A549-18A2-430B-4090C1834D23}"/>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783A868-55A7-1233-C85E-B8FE5832C1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D50D045-2786-FEB5-6F27-0BA5A6088AA7}"/>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75A27A1E-5FE1-EBAA-F320-CBA8D84515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F8F2C56-019F-776D-A28B-15CE136B8F8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FE342011-C314-7EC5-CB00-208D66E43168}"/>
              </a:ext>
            </a:extLst>
          </p:cNvPr>
          <p:cNvSpPr>
            <a:spLocks noGrp="1"/>
          </p:cNvSpPr>
          <p:nvPr>
            <p:ph type="dt" sz="half" idx="10"/>
          </p:nvPr>
        </p:nvSpPr>
        <p:spPr/>
        <p:txBody>
          <a:bodyPr/>
          <a:lstStyle/>
          <a:p>
            <a:fld id="{B5DA4142-9999-304A-9231-3B063AC794F7}" type="datetime1">
              <a:rPr lang="en-US" smtClean="0"/>
              <a:t>11/27/2025</a:t>
            </a:fld>
            <a:endParaRPr lang="en-US"/>
          </a:p>
        </p:txBody>
      </p:sp>
      <p:sp>
        <p:nvSpPr>
          <p:cNvPr id="8" name="Footer Placeholder 7">
            <a:extLst>
              <a:ext uri="{FF2B5EF4-FFF2-40B4-BE49-F238E27FC236}">
                <a16:creationId xmlns:a16="http://schemas.microsoft.com/office/drawing/2014/main" id="{A510741A-CD6B-604F-4668-10BA6596530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55862A9-8949-49A1-C9B8-FCF0DA6085F3}"/>
              </a:ext>
            </a:extLst>
          </p:cNvPr>
          <p:cNvSpPr>
            <a:spLocks noGrp="1"/>
          </p:cNvSpPr>
          <p:nvPr>
            <p:ph type="sldNum" sz="quarter" idx="12"/>
          </p:nvPr>
        </p:nvSpPr>
        <p:spPr/>
        <p:txBody>
          <a:bodyPr/>
          <a:lstStyle/>
          <a:p>
            <a:fld id="{D51B4FB4-AA13-FE41-AF8A-525BA2FA973D}" type="slidenum">
              <a:rPr lang="en-US" smtClean="0"/>
              <a:t>‹#›</a:t>
            </a:fld>
            <a:endParaRPr lang="en-US"/>
          </a:p>
        </p:txBody>
      </p:sp>
    </p:spTree>
    <p:extLst>
      <p:ext uri="{BB962C8B-B14F-4D97-AF65-F5344CB8AC3E}">
        <p14:creationId xmlns:p14="http://schemas.microsoft.com/office/powerpoint/2010/main" val="18102522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3FE85-D2F6-6BE7-EE7E-94CDC3977C67}"/>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AC715C8C-D11D-6977-C3EB-5CD595E97066}"/>
              </a:ext>
            </a:extLst>
          </p:cNvPr>
          <p:cNvSpPr>
            <a:spLocks noGrp="1"/>
          </p:cNvSpPr>
          <p:nvPr>
            <p:ph type="dt" sz="half" idx="10"/>
          </p:nvPr>
        </p:nvSpPr>
        <p:spPr/>
        <p:txBody>
          <a:bodyPr/>
          <a:lstStyle/>
          <a:p>
            <a:fld id="{DB908E25-E665-D648-847D-3AD88EF49AD6}" type="datetime1">
              <a:rPr lang="en-US" smtClean="0"/>
              <a:t>11/27/2025</a:t>
            </a:fld>
            <a:endParaRPr lang="en-US"/>
          </a:p>
        </p:txBody>
      </p:sp>
      <p:sp>
        <p:nvSpPr>
          <p:cNvPr id="4" name="Footer Placeholder 3">
            <a:extLst>
              <a:ext uri="{FF2B5EF4-FFF2-40B4-BE49-F238E27FC236}">
                <a16:creationId xmlns:a16="http://schemas.microsoft.com/office/drawing/2014/main" id="{E40E6B9F-AE8E-8B1F-1ECB-D57AE1421DA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EA07135-265E-AF49-74C1-A78AF623407C}"/>
              </a:ext>
            </a:extLst>
          </p:cNvPr>
          <p:cNvSpPr>
            <a:spLocks noGrp="1"/>
          </p:cNvSpPr>
          <p:nvPr>
            <p:ph type="sldNum" sz="quarter" idx="12"/>
          </p:nvPr>
        </p:nvSpPr>
        <p:spPr/>
        <p:txBody>
          <a:bodyPr/>
          <a:lstStyle/>
          <a:p>
            <a:fld id="{D51B4FB4-AA13-FE41-AF8A-525BA2FA973D}" type="slidenum">
              <a:rPr lang="en-US" smtClean="0"/>
              <a:t>‹#›</a:t>
            </a:fld>
            <a:endParaRPr lang="en-US"/>
          </a:p>
        </p:txBody>
      </p:sp>
    </p:spTree>
    <p:extLst>
      <p:ext uri="{BB962C8B-B14F-4D97-AF65-F5344CB8AC3E}">
        <p14:creationId xmlns:p14="http://schemas.microsoft.com/office/powerpoint/2010/main" val="209662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89BB6C-845A-B5CC-F1E6-D71DBCD27293}"/>
              </a:ext>
            </a:extLst>
          </p:cNvPr>
          <p:cNvSpPr>
            <a:spLocks noGrp="1"/>
          </p:cNvSpPr>
          <p:nvPr>
            <p:ph type="dt" sz="half" idx="10"/>
          </p:nvPr>
        </p:nvSpPr>
        <p:spPr/>
        <p:txBody>
          <a:bodyPr/>
          <a:lstStyle/>
          <a:p>
            <a:fld id="{F9FC69BC-24E4-0940-A8F5-5C763862DDEA}" type="datetime1">
              <a:rPr lang="en-US" smtClean="0"/>
              <a:t>11/27/2025</a:t>
            </a:fld>
            <a:endParaRPr lang="en-US"/>
          </a:p>
        </p:txBody>
      </p:sp>
      <p:sp>
        <p:nvSpPr>
          <p:cNvPr id="3" name="Footer Placeholder 2">
            <a:extLst>
              <a:ext uri="{FF2B5EF4-FFF2-40B4-BE49-F238E27FC236}">
                <a16:creationId xmlns:a16="http://schemas.microsoft.com/office/drawing/2014/main" id="{200D8888-B128-12FD-7630-3ECD86ECA6C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C6B1732-046D-02CA-5D8B-28AAA8117D3A}"/>
              </a:ext>
            </a:extLst>
          </p:cNvPr>
          <p:cNvSpPr>
            <a:spLocks noGrp="1"/>
          </p:cNvSpPr>
          <p:nvPr>
            <p:ph type="sldNum" sz="quarter" idx="12"/>
          </p:nvPr>
        </p:nvSpPr>
        <p:spPr/>
        <p:txBody>
          <a:bodyPr/>
          <a:lstStyle/>
          <a:p>
            <a:fld id="{D51B4FB4-AA13-FE41-AF8A-525BA2FA973D}" type="slidenum">
              <a:rPr lang="en-US" smtClean="0"/>
              <a:t>‹#›</a:t>
            </a:fld>
            <a:endParaRPr lang="en-US"/>
          </a:p>
        </p:txBody>
      </p:sp>
    </p:spTree>
    <p:extLst>
      <p:ext uri="{BB962C8B-B14F-4D97-AF65-F5344CB8AC3E}">
        <p14:creationId xmlns:p14="http://schemas.microsoft.com/office/powerpoint/2010/main" val="5416868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F2313-A232-7D42-2C6C-B51494DD7DC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97B1B26-A43E-BDF0-A069-6FDF1D4E18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C1C6ED1-A40D-C41B-8962-4F8F4A54EB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3684D77-1AFC-386E-DEFE-FA1C855818B8}"/>
              </a:ext>
            </a:extLst>
          </p:cNvPr>
          <p:cNvSpPr>
            <a:spLocks noGrp="1"/>
          </p:cNvSpPr>
          <p:nvPr>
            <p:ph type="dt" sz="half" idx="10"/>
          </p:nvPr>
        </p:nvSpPr>
        <p:spPr/>
        <p:txBody>
          <a:bodyPr/>
          <a:lstStyle/>
          <a:p>
            <a:fld id="{74D7D333-60A2-724E-9700-3C3CF588932B}" type="datetime1">
              <a:rPr lang="en-US" smtClean="0"/>
              <a:t>11/27/2025</a:t>
            </a:fld>
            <a:endParaRPr lang="en-US"/>
          </a:p>
        </p:txBody>
      </p:sp>
      <p:sp>
        <p:nvSpPr>
          <p:cNvPr id="6" name="Footer Placeholder 5">
            <a:extLst>
              <a:ext uri="{FF2B5EF4-FFF2-40B4-BE49-F238E27FC236}">
                <a16:creationId xmlns:a16="http://schemas.microsoft.com/office/drawing/2014/main" id="{44640F98-24FE-2CC9-B7AA-1EB507F86F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F54F10-DD4F-CF8F-43A5-8D299D5DBF00}"/>
              </a:ext>
            </a:extLst>
          </p:cNvPr>
          <p:cNvSpPr>
            <a:spLocks noGrp="1"/>
          </p:cNvSpPr>
          <p:nvPr>
            <p:ph type="sldNum" sz="quarter" idx="12"/>
          </p:nvPr>
        </p:nvSpPr>
        <p:spPr/>
        <p:txBody>
          <a:bodyPr/>
          <a:lstStyle/>
          <a:p>
            <a:fld id="{D51B4FB4-AA13-FE41-AF8A-525BA2FA973D}" type="slidenum">
              <a:rPr lang="en-US" smtClean="0"/>
              <a:t>‹#›</a:t>
            </a:fld>
            <a:endParaRPr lang="en-US"/>
          </a:p>
        </p:txBody>
      </p:sp>
    </p:spTree>
    <p:extLst>
      <p:ext uri="{BB962C8B-B14F-4D97-AF65-F5344CB8AC3E}">
        <p14:creationId xmlns:p14="http://schemas.microsoft.com/office/powerpoint/2010/main" val="3310206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59662-7AC1-4F7C-F4C0-9D9FA7337CF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E61F2577-7615-4DF0-25E6-8508D91DDB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F7E1C82-9A4E-AD3E-C091-BA248334CF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869753E-3E59-F72F-347D-96152BFA162A}"/>
              </a:ext>
            </a:extLst>
          </p:cNvPr>
          <p:cNvSpPr>
            <a:spLocks noGrp="1"/>
          </p:cNvSpPr>
          <p:nvPr>
            <p:ph type="dt" sz="half" idx="10"/>
          </p:nvPr>
        </p:nvSpPr>
        <p:spPr/>
        <p:txBody>
          <a:bodyPr/>
          <a:lstStyle/>
          <a:p>
            <a:fld id="{6B669330-04F5-D04F-9BF9-67F2C7B09055}" type="datetime1">
              <a:rPr lang="en-US" smtClean="0"/>
              <a:t>11/27/2025</a:t>
            </a:fld>
            <a:endParaRPr lang="en-US"/>
          </a:p>
        </p:txBody>
      </p:sp>
      <p:sp>
        <p:nvSpPr>
          <p:cNvPr id="6" name="Footer Placeholder 5">
            <a:extLst>
              <a:ext uri="{FF2B5EF4-FFF2-40B4-BE49-F238E27FC236}">
                <a16:creationId xmlns:a16="http://schemas.microsoft.com/office/drawing/2014/main" id="{CECE55ED-C4BC-2251-BFE0-86AAB7C08A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88C17D-09C2-6E7A-D7C5-059CB056829E}"/>
              </a:ext>
            </a:extLst>
          </p:cNvPr>
          <p:cNvSpPr>
            <a:spLocks noGrp="1"/>
          </p:cNvSpPr>
          <p:nvPr>
            <p:ph type="sldNum" sz="quarter" idx="12"/>
          </p:nvPr>
        </p:nvSpPr>
        <p:spPr/>
        <p:txBody>
          <a:bodyPr/>
          <a:lstStyle/>
          <a:p>
            <a:fld id="{D51B4FB4-AA13-FE41-AF8A-525BA2FA973D}" type="slidenum">
              <a:rPr lang="en-US" smtClean="0"/>
              <a:t>‹#›</a:t>
            </a:fld>
            <a:endParaRPr lang="en-US"/>
          </a:p>
        </p:txBody>
      </p:sp>
    </p:spTree>
    <p:extLst>
      <p:ext uri="{BB962C8B-B14F-4D97-AF65-F5344CB8AC3E}">
        <p14:creationId xmlns:p14="http://schemas.microsoft.com/office/powerpoint/2010/main" val="2096893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4A6F2-81E8-1E00-DB65-AE20918A4454}"/>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F58FFC4-E2A2-3DE8-C379-5A6ED263C42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100AF31-A33F-2673-F12C-4047EA515DF5}"/>
              </a:ext>
            </a:extLst>
          </p:cNvPr>
          <p:cNvSpPr>
            <a:spLocks noGrp="1"/>
          </p:cNvSpPr>
          <p:nvPr>
            <p:ph type="dt" sz="half" idx="10"/>
          </p:nvPr>
        </p:nvSpPr>
        <p:spPr/>
        <p:txBody>
          <a:bodyPr/>
          <a:lstStyle/>
          <a:p>
            <a:fld id="{6D801CE0-8DF5-6343-9F55-2457BD7CD408}" type="datetime1">
              <a:rPr lang="en-US" smtClean="0"/>
              <a:t>11/27/2025</a:t>
            </a:fld>
            <a:endParaRPr lang="en-US"/>
          </a:p>
        </p:txBody>
      </p:sp>
      <p:sp>
        <p:nvSpPr>
          <p:cNvPr id="5" name="Footer Placeholder 4">
            <a:extLst>
              <a:ext uri="{FF2B5EF4-FFF2-40B4-BE49-F238E27FC236}">
                <a16:creationId xmlns:a16="http://schemas.microsoft.com/office/drawing/2014/main" id="{C889CF14-931C-7493-32BD-6C03D2FB61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902DA6-CBEC-656A-E98C-110453E9872C}"/>
              </a:ext>
            </a:extLst>
          </p:cNvPr>
          <p:cNvSpPr>
            <a:spLocks noGrp="1"/>
          </p:cNvSpPr>
          <p:nvPr>
            <p:ph type="sldNum" sz="quarter" idx="12"/>
          </p:nvPr>
        </p:nvSpPr>
        <p:spPr/>
        <p:txBody>
          <a:bodyPr/>
          <a:lstStyle/>
          <a:p>
            <a:fld id="{D51B4FB4-AA13-FE41-AF8A-525BA2FA973D}" type="slidenum">
              <a:rPr lang="en-US" smtClean="0"/>
              <a:t>‹#›</a:t>
            </a:fld>
            <a:endParaRPr lang="en-US"/>
          </a:p>
        </p:txBody>
      </p:sp>
    </p:spTree>
    <p:extLst>
      <p:ext uri="{BB962C8B-B14F-4D97-AF65-F5344CB8AC3E}">
        <p14:creationId xmlns:p14="http://schemas.microsoft.com/office/powerpoint/2010/main" val="1506066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DDDC15-E2F0-C920-46FD-336766393A4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4C069DB-94DB-72CD-4567-A72A6444B22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BCFE13B-D9BE-1E59-6B7F-52A050ACB228}"/>
              </a:ext>
            </a:extLst>
          </p:cNvPr>
          <p:cNvSpPr>
            <a:spLocks noGrp="1"/>
          </p:cNvSpPr>
          <p:nvPr>
            <p:ph type="dt" sz="half" idx="10"/>
          </p:nvPr>
        </p:nvSpPr>
        <p:spPr/>
        <p:txBody>
          <a:bodyPr/>
          <a:lstStyle/>
          <a:p>
            <a:fld id="{9A37FF17-3CA3-5349-920A-5FEB1086772D}" type="datetime1">
              <a:rPr lang="en-US" smtClean="0"/>
              <a:t>11/27/2025</a:t>
            </a:fld>
            <a:endParaRPr lang="en-US"/>
          </a:p>
        </p:txBody>
      </p:sp>
      <p:sp>
        <p:nvSpPr>
          <p:cNvPr id="5" name="Footer Placeholder 4">
            <a:extLst>
              <a:ext uri="{FF2B5EF4-FFF2-40B4-BE49-F238E27FC236}">
                <a16:creationId xmlns:a16="http://schemas.microsoft.com/office/drawing/2014/main" id="{37FBB121-6A54-E24C-33B1-3ECFDD291D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D5329F-6857-5975-BA75-46413BD076B4}"/>
              </a:ext>
            </a:extLst>
          </p:cNvPr>
          <p:cNvSpPr>
            <a:spLocks noGrp="1"/>
          </p:cNvSpPr>
          <p:nvPr>
            <p:ph type="sldNum" sz="quarter" idx="12"/>
          </p:nvPr>
        </p:nvSpPr>
        <p:spPr/>
        <p:txBody>
          <a:bodyPr/>
          <a:lstStyle/>
          <a:p>
            <a:fld id="{D51B4FB4-AA13-FE41-AF8A-525BA2FA973D}" type="slidenum">
              <a:rPr lang="en-US" smtClean="0"/>
              <a:t>‹#›</a:t>
            </a:fld>
            <a:endParaRPr lang="en-US"/>
          </a:p>
        </p:txBody>
      </p:sp>
    </p:spTree>
    <p:extLst>
      <p:ext uri="{BB962C8B-B14F-4D97-AF65-F5344CB8AC3E}">
        <p14:creationId xmlns:p14="http://schemas.microsoft.com/office/powerpoint/2010/main" val="906018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51D291-E3E4-9457-AC33-534F6C658F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F4823D4-7225-9D25-DA90-44E59B502B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C52DE8E-89E2-5805-41AE-420DD64DB1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D692C4-E290-6C4B-9F58-D70F084E00FD}" type="datetime1">
              <a:rPr lang="en-US" smtClean="0"/>
              <a:t>11/27/2025</a:t>
            </a:fld>
            <a:endParaRPr lang="en-US"/>
          </a:p>
        </p:txBody>
      </p:sp>
      <p:sp>
        <p:nvSpPr>
          <p:cNvPr id="5" name="Footer Placeholder 4">
            <a:extLst>
              <a:ext uri="{FF2B5EF4-FFF2-40B4-BE49-F238E27FC236}">
                <a16:creationId xmlns:a16="http://schemas.microsoft.com/office/drawing/2014/main" id="{7CCBAEFD-6B90-01CA-332A-8CA917045B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BBAECA2-AC00-D4AE-0962-B05916EC24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1B4FB4-AA13-FE41-AF8A-525BA2FA973D}" type="slidenum">
              <a:rPr lang="en-US" smtClean="0"/>
              <a:t>‹#›</a:t>
            </a:fld>
            <a:endParaRPr lang="en-US"/>
          </a:p>
        </p:txBody>
      </p:sp>
    </p:spTree>
    <p:extLst>
      <p:ext uri="{BB962C8B-B14F-4D97-AF65-F5344CB8AC3E}">
        <p14:creationId xmlns:p14="http://schemas.microsoft.com/office/powerpoint/2010/main" val="31038814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16_A20CF00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jpeg"/></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2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2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A74D7-F4EA-CF5E-D552-74464B3CD55E}"/>
              </a:ext>
            </a:extLst>
          </p:cNvPr>
          <p:cNvSpPr>
            <a:spLocks noGrp="1"/>
          </p:cNvSpPr>
          <p:nvPr>
            <p:ph type="ctrTitle"/>
          </p:nvPr>
        </p:nvSpPr>
        <p:spPr>
          <a:xfrm>
            <a:off x="1523999" y="2060179"/>
            <a:ext cx="9144000" cy="1655762"/>
          </a:xfrm>
        </p:spPr>
        <p:txBody>
          <a:bodyPr>
            <a:normAutofit fontScale="90000"/>
          </a:bodyPr>
          <a:lstStyle/>
          <a:p>
            <a:pPr>
              <a:lnSpc>
                <a:spcPct val="150000"/>
              </a:lnSpc>
            </a:pPr>
            <a:r>
              <a:rPr lang="en-GB" sz="2400" dirty="0">
                <a:solidFill>
                  <a:srgbClr val="0070C0"/>
                </a:solidFill>
                <a:latin typeface="Arial"/>
                <a:cs typeface="Arial"/>
              </a:rPr>
              <a:t>Climate change and climate change impacts on São Tomé and Príncipe with a focus on fishery and tourism sectors in a Blue Economy context</a:t>
            </a:r>
            <a:br>
              <a:rPr lang="en-US" sz="3600" dirty="0">
                <a:latin typeface="Arial" panose="020B0604020202020204" pitchFamily="34" charset="0"/>
                <a:cs typeface="Arial" panose="020B0604020202020204" pitchFamily="34" charset="0"/>
              </a:rPr>
            </a:br>
            <a:r>
              <a:rPr lang="en-US" sz="1800" dirty="0">
                <a:solidFill>
                  <a:srgbClr val="0070C0"/>
                </a:solidFill>
                <a:latin typeface="Arial"/>
                <a:cs typeface="Arial"/>
              </a:rPr>
              <a:t>Sao Tome and Principe, November/December 2025</a:t>
            </a:r>
            <a:endParaRPr lang="en-US" sz="3600" dirty="0">
              <a:solidFill>
                <a:srgbClr val="0070C0"/>
              </a:solidFill>
              <a:latin typeface="Arial"/>
              <a:cs typeface="Arial"/>
            </a:endParaRPr>
          </a:p>
        </p:txBody>
      </p:sp>
      <p:sp>
        <p:nvSpPr>
          <p:cNvPr id="3" name="Subtitle 2">
            <a:extLst>
              <a:ext uri="{FF2B5EF4-FFF2-40B4-BE49-F238E27FC236}">
                <a16:creationId xmlns:a16="http://schemas.microsoft.com/office/drawing/2014/main" id="{B65361E7-4E15-CD6C-8E77-8F89B5B7D557}"/>
              </a:ext>
            </a:extLst>
          </p:cNvPr>
          <p:cNvSpPr>
            <a:spLocks noGrp="1"/>
          </p:cNvSpPr>
          <p:nvPr>
            <p:ph type="subTitle" idx="1"/>
          </p:nvPr>
        </p:nvSpPr>
        <p:spPr>
          <a:xfrm>
            <a:off x="1524000" y="4373677"/>
            <a:ext cx="9144000" cy="1655762"/>
          </a:xfrm>
        </p:spPr>
        <p:txBody>
          <a:bodyPr>
            <a:normAutofit/>
          </a:bodyPr>
          <a:lstStyle/>
          <a:p>
            <a:r>
              <a:rPr lang="en-GB" b="1" cap="all" dirty="0">
                <a:solidFill>
                  <a:schemeClr val="accent5">
                    <a:lumMod val="75000"/>
                  </a:schemeClr>
                </a:solidFill>
                <a:latin typeface="Georgia" panose="02040502050405020303" pitchFamily="18" charset="0"/>
              </a:rPr>
              <a:t>Report findings</a:t>
            </a:r>
            <a:endParaRPr lang="en-US" sz="1800" dirty="0">
              <a:solidFill>
                <a:schemeClr val="accent1">
                  <a:lumMod val="50000"/>
                </a:schemeClr>
              </a:solidFill>
              <a:latin typeface="Georgia" panose="02040502050405020303" pitchFamily="18" charset="0"/>
            </a:endParaRPr>
          </a:p>
          <a:p>
            <a:endParaRPr lang="en-US" dirty="0">
              <a:solidFill>
                <a:schemeClr val="accent1">
                  <a:lumMod val="50000"/>
                </a:schemeClr>
              </a:solidFill>
              <a:latin typeface="Georgia" panose="02040502050405020303" pitchFamily="18" charset="0"/>
            </a:endParaRPr>
          </a:p>
          <a:p>
            <a:r>
              <a:rPr lang="en-US" sz="1500" dirty="0">
                <a:solidFill>
                  <a:schemeClr val="accent1">
                    <a:lumMod val="50000"/>
                  </a:schemeClr>
                </a:solidFill>
                <a:latin typeface="Georgia" panose="02040502050405020303" pitchFamily="18" charset="0"/>
              </a:rPr>
              <a:t>By: Samuel Greenrod, Marco Fusi, Riccardo Soldan, Lionel </a:t>
            </a:r>
            <a:r>
              <a:rPr lang="en-US" sz="1500" dirty="0" err="1">
                <a:solidFill>
                  <a:schemeClr val="accent1">
                    <a:lumMod val="50000"/>
                  </a:schemeClr>
                </a:solidFill>
                <a:latin typeface="Georgia" panose="02040502050405020303" pitchFamily="18" charset="0"/>
              </a:rPr>
              <a:t>Kinadjian</a:t>
            </a:r>
            <a:endParaRPr lang="en-US" sz="1500" dirty="0">
              <a:solidFill>
                <a:schemeClr val="accent1">
                  <a:lumMod val="50000"/>
                </a:schemeClr>
              </a:solidFill>
              <a:latin typeface="Georgia" panose="02040502050405020303" pitchFamily="18" charset="0"/>
            </a:endParaRPr>
          </a:p>
        </p:txBody>
      </p:sp>
      <p:pic>
        <p:nvPicPr>
          <p:cNvPr id="7" name="Picture 6" descr="Graphical user interface, text&#10;&#10;Description automatically generated">
            <a:extLst>
              <a:ext uri="{FF2B5EF4-FFF2-40B4-BE49-F238E27FC236}">
                <a16:creationId xmlns:a16="http://schemas.microsoft.com/office/drawing/2014/main" id="{09888D26-7370-8509-4416-30924E0722A5}"/>
              </a:ext>
            </a:extLst>
          </p:cNvPr>
          <p:cNvPicPr>
            <a:picLocks noChangeAspect="1"/>
          </p:cNvPicPr>
          <p:nvPr/>
        </p:nvPicPr>
        <p:blipFill>
          <a:blip r:embed="rId3"/>
          <a:srcRect r="31257"/>
          <a:stretch>
            <a:fillRect/>
          </a:stretch>
        </p:blipFill>
        <p:spPr>
          <a:xfrm>
            <a:off x="594821" y="257459"/>
            <a:ext cx="3014653" cy="1003438"/>
          </a:xfrm>
          <a:prstGeom prst="rect">
            <a:avLst/>
          </a:prstGeom>
        </p:spPr>
      </p:pic>
      <p:cxnSp>
        <p:nvCxnSpPr>
          <p:cNvPr id="10" name="Straight Connector 9">
            <a:extLst>
              <a:ext uri="{FF2B5EF4-FFF2-40B4-BE49-F238E27FC236}">
                <a16:creationId xmlns:a16="http://schemas.microsoft.com/office/drawing/2014/main" id="{976A18F0-129F-D4F1-D5BD-9C6826AB94BE}"/>
              </a:ext>
            </a:extLst>
          </p:cNvPr>
          <p:cNvCxnSpPr/>
          <p:nvPr/>
        </p:nvCxnSpPr>
        <p:spPr>
          <a:xfrm>
            <a:off x="968828" y="3935186"/>
            <a:ext cx="10254343"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0465DBE5-7B38-D154-314F-B7ABE5C7A406}"/>
              </a:ext>
            </a:extLst>
          </p:cNvPr>
          <p:cNvGrpSpPr/>
          <p:nvPr/>
        </p:nvGrpSpPr>
        <p:grpSpPr>
          <a:xfrm>
            <a:off x="-16329" y="1390670"/>
            <a:ext cx="12208329" cy="262452"/>
            <a:chOff x="-16329" y="6677194"/>
            <a:chExt cx="12208329" cy="262452"/>
          </a:xfrm>
        </p:grpSpPr>
        <p:sp>
          <p:nvSpPr>
            <p:cNvPr id="12" name="Rectangle 11">
              <a:extLst>
                <a:ext uri="{FF2B5EF4-FFF2-40B4-BE49-F238E27FC236}">
                  <a16:creationId xmlns:a16="http://schemas.microsoft.com/office/drawing/2014/main" id="{4921F9B8-11EE-4197-BAF5-5A5EB6D664EE}"/>
                </a:ext>
              </a:extLst>
            </p:cNvPr>
            <p:cNvSpPr/>
            <p:nvPr/>
          </p:nvSpPr>
          <p:spPr>
            <a:xfrm>
              <a:off x="6384471" y="6678386"/>
              <a:ext cx="3804558" cy="26125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689C7B9-DBF0-4289-6D9A-D7CEC898F07B}"/>
                </a:ext>
              </a:extLst>
            </p:cNvPr>
            <p:cNvSpPr/>
            <p:nvPr/>
          </p:nvSpPr>
          <p:spPr>
            <a:xfrm>
              <a:off x="-16329" y="6678388"/>
              <a:ext cx="6400800" cy="261258"/>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2D5C065-F1C4-74F3-61B8-06241CFB5626}"/>
                </a:ext>
              </a:extLst>
            </p:cNvPr>
            <p:cNvSpPr/>
            <p:nvPr/>
          </p:nvSpPr>
          <p:spPr>
            <a:xfrm>
              <a:off x="10189029" y="6677194"/>
              <a:ext cx="2002971" cy="2624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074" name="Picture 2">
            <a:extLst>
              <a:ext uri="{FF2B5EF4-FFF2-40B4-BE49-F238E27FC236}">
                <a16:creationId xmlns:a16="http://schemas.microsoft.com/office/drawing/2014/main" id="{D18EC2C8-8D2B-E43F-E1FF-B94334997B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02166" y="174034"/>
            <a:ext cx="2173726" cy="1086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8756868"/>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F08B7-517A-8A3A-14A9-4644A0C49B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7CA3AB-ED9F-D079-1BCA-9FE3BF20EF27}"/>
              </a:ext>
            </a:extLst>
          </p:cNvPr>
          <p:cNvSpPr>
            <a:spLocks noGrp="1"/>
          </p:cNvSpPr>
          <p:nvPr>
            <p:ph type="title"/>
          </p:nvPr>
        </p:nvSpPr>
        <p:spPr>
          <a:xfrm>
            <a:off x="838200" y="501650"/>
            <a:ext cx="5646576" cy="1325563"/>
          </a:xfrm>
        </p:spPr>
        <p:txBody>
          <a:bodyPr>
            <a:normAutofit/>
          </a:bodyPr>
          <a:lstStyle/>
          <a:p>
            <a:r>
              <a:rPr lang="en-US" sz="3200" b="1" dirty="0">
                <a:solidFill>
                  <a:srgbClr val="0070C0"/>
                </a:solidFill>
                <a:latin typeface="Arial" panose="020B0604020202020204" pitchFamily="34" charset="0"/>
                <a:cs typeface="Arial" panose="020B0604020202020204" pitchFamily="34" charset="0"/>
              </a:rPr>
              <a:t>Blue economy</a:t>
            </a:r>
          </a:p>
        </p:txBody>
      </p:sp>
      <p:sp>
        <p:nvSpPr>
          <p:cNvPr id="3" name="Content Placeholder 2">
            <a:extLst>
              <a:ext uri="{FF2B5EF4-FFF2-40B4-BE49-F238E27FC236}">
                <a16:creationId xmlns:a16="http://schemas.microsoft.com/office/drawing/2014/main" id="{A0D2D24E-BB9A-8E3E-EFED-C8D973CC1B62}"/>
              </a:ext>
            </a:extLst>
          </p:cNvPr>
          <p:cNvSpPr>
            <a:spLocks noGrp="1"/>
          </p:cNvSpPr>
          <p:nvPr>
            <p:ph idx="1"/>
          </p:nvPr>
        </p:nvSpPr>
        <p:spPr>
          <a:xfrm>
            <a:off x="700177" y="1827213"/>
            <a:ext cx="5257800" cy="4351338"/>
          </a:xfrm>
        </p:spPr>
        <p:txBody>
          <a:bodyPr>
            <a:normAutofit fontScale="92500"/>
          </a:bodyPr>
          <a:lstStyle/>
          <a:p>
            <a:r>
              <a:rPr lang="en-GB" sz="2400" dirty="0">
                <a:latin typeface="Arial" panose="020B0604020202020204" pitchFamily="34" charset="0"/>
                <a:cs typeface="Arial" panose="020B0604020202020204" pitchFamily="34" charset="0"/>
              </a:rPr>
              <a:t>Blue economy is the sustainable use of ocean resources for economic growth, including:</a:t>
            </a:r>
          </a:p>
          <a:p>
            <a:pPr lvl="1"/>
            <a:r>
              <a:rPr lang="en-GB" sz="2000" dirty="0">
                <a:latin typeface="Arial" panose="020B0604020202020204" pitchFamily="34" charset="0"/>
                <a:cs typeface="Arial" panose="020B0604020202020204" pitchFamily="34" charset="0"/>
              </a:rPr>
              <a:t>Fisheries</a:t>
            </a:r>
          </a:p>
          <a:p>
            <a:pPr lvl="1"/>
            <a:r>
              <a:rPr lang="en-GB" sz="2000" dirty="0">
                <a:latin typeface="Arial" panose="020B0604020202020204" pitchFamily="34" charset="0"/>
                <a:cs typeface="Arial" panose="020B0604020202020204" pitchFamily="34" charset="0"/>
              </a:rPr>
              <a:t>Renewable energy 
Tourism</a:t>
            </a:r>
          </a:p>
          <a:p>
            <a:r>
              <a:rPr lang="en-GB" sz="2400" dirty="0">
                <a:latin typeface="Arial" panose="020B0604020202020204" pitchFamily="34" charset="0"/>
                <a:cs typeface="Arial" panose="020B0604020202020204" pitchFamily="34" charset="0"/>
              </a:rPr>
              <a:t>The blue economy is particularly important for small island developing states, which are largely dependent on their natural resources.
However, due to its dependence on natural resources, the blue economy is highly vulnerable to climate change.</a:t>
            </a:r>
            <a:endParaRPr lang="en-US" sz="2400"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1CCC355D-C25B-7A10-462A-A661164DF52E}"/>
              </a:ext>
            </a:extLst>
          </p:cNvPr>
          <p:cNvSpPr>
            <a:spLocks noGrp="1"/>
          </p:cNvSpPr>
          <p:nvPr>
            <p:ph type="sldNum" sz="quarter" idx="12"/>
          </p:nvPr>
        </p:nvSpPr>
        <p:spPr>
          <a:xfrm>
            <a:off x="9104067" y="6356349"/>
            <a:ext cx="2743200" cy="365125"/>
          </a:xfrm>
        </p:spPr>
        <p:txBody>
          <a:bodyPr/>
          <a:lstStyle/>
          <a:p>
            <a:fld id="{D51B4FB4-AA13-FE41-AF8A-525BA2FA973D}" type="slidenum">
              <a:rPr lang="en-US" smtClean="0"/>
              <a:t>2</a:t>
            </a:fld>
            <a:endParaRPr lang="en-US" dirty="0"/>
          </a:p>
        </p:txBody>
      </p:sp>
      <p:grpSp>
        <p:nvGrpSpPr>
          <p:cNvPr id="6" name="Group 5">
            <a:extLst>
              <a:ext uri="{FF2B5EF4-FFF2-40B4-BE49-F238E27FC236}">
                <a16:creationId xmlns:a16="http://schemas.microsoft.com/office/drawing/2014/main" id="{208F5CF8-9ACC-FDDD-5711-F04803ED4921}"/>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0D47AE03-914B-FA4B-7091-AD1605313A86}"/>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87ED10F-6B8F-A4F2-A5FF-20D0451DFAE3}"/>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95D23361-A54E-11B5-A709-DEE1DB65676F}"/>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6146" name="Picture 2" descr="As oceanic changes force fishers to go further from the coast, they are exposed to more danger.">
            <a:extLst>
              <a:ext uri="{FF2B5EF4-FFF2-40B4-BE49-F238E27FC236}">
                <a16:creationId xmlns:a16="http://schemas.microsoft.com/office/drawing/2014/main" id="{67D9CD7E-61BC-A24B-252F-14CE7D10996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936" r="18810"/>
          <a:stretch>
            <a:fillRect/>
          </a:stretch>
        </p:blipFill>
        <p:spPr bwMode="auto">
          <a:xfrm>
            <a:off x="6512345" y="1571176"/>
            <a:ext cx="4848045" cy="41814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BDC91F5-0DF6-9E49-8CDA-7BAC7FED01EC}"/>
              </a:ext>
            </a:extLst>
          </p:cNvPr>
          <p:cNvSpPr txBox="1"/>
          <p:nvPr/>
        </p:nvSpPr>
        <p:spPr>
          <a:xfrm>
            <a:off x="6512344" y="5885223"/>
            <a:ext cx="4848045" cy="338554"/>
          </a:xfrm>
          <a:prstGeom prst="rect">
            <a:avLst/>
          </a:prstGeom>
          <a:noFill/>
        </p:spPr>
        <p:txBody>
          <a:bodyPr wrap="square" rtlCol="0">
            <a:spAutoFit/>
          </a:bodyPr>
          <a:lstStyle/>
          <a:p>
            <a:r>
              <a:rPr lang="en-GB" sz="800" b="1" i="1" dirty="0"/>
              <a:t>As oceanic changes force fishers to go further from the coast, they are exposed to more danger. </a:t>
            </a:r>
            <a:r>
              <a:rPr lang="en-GB" sz="800" b="1" i="1" dirty="0" err="1"/>
              <a:t>Célcio</a:t>
            </a:r>
            <a:r>
              <a:rPr lang="en-GB" sz="800" b="1" i="1" dirty="0"/>
              <a:t> Dias – known as Mano, on the right, relies on a GPS to return safely home. Photo: </a:t>
            </a:r>
            <a:r>
              <a:rPr lang="en-GB" sz="800" b="1" i="1" dirty="0" err="1"/>
              <a:t>Flore</a:t>
            </a:r>
            <a:r>
              <a:rPr lang="en-GB" sz="800" b="1" i="1" dirty="0"/>
              <a:t> de </a:t>
            </a:r>
            <a:r>
              <a:rPr lang="en-GB" sz="800" b="1" i="1" dirty="0" err="1"/>
              <a:t>Preneuf</a:t>
            </a:r>
            <a:r>
              <a:rPr lang="en-GB" sz="800" b="1" i="1" dirty="0"/>
              <a:t>/ World Bank</a:t>
            </a:r>
            <a:endParaRPr lang="en-GB" sz="800" b="1" dirty="0"/>
          </a:p>
        </p:txBody>
      </p:sp>
    </p:spTree>
    <p:extLst>
      <p:ext uri="{BB962C8B-B14F-4D97-AF65-F5344CB8AC3E}">
        <p14:creationId xmlns:p14="http://schemas.microsoft.com/office/powerpoint/2010/main" val="145523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62831-56A7-1489-D622-C0ADEFD451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9C9297-52E0-79FF-651C-0E1EC181526F}"/>
              </a:ext>
            </a:extLst>
          </p:cNvPr>
          <p:cNvSpPr>
            <a:spLocks noGrp="1"/>
          </p:cNvSpPr>
          <p:nvPr>
            <p:ph type="title"/>
          </p:nvPr>
        </p:nvSpPr>
        <p:spPr>
          <a:xfrm>
            <a:off x="838200" y="501650"/>
            <a:ext cx="5646576" cy="1325563"/>
          </a:xfrm>
        </p:spPr>
        <p:txBody>
          <a:bodyPr>
            <a:normAutofit/>
          </a:bodyPr>
          <a:lstStyle/>
          <a:p>
            <a:r>
              <a:rPr lang="en-US" sz="3200" b="1" dirty="0">
                <a:solidFill>
                  <a:srgbClr val="0070C0"/>
                </a:solidFill>
                <a:latin typeface="Arial" panose="020B0604020202020204" pitchFamily="34" charset="0"/>
                <a:cs typeface="Arial" panose="020B0604020202020204" pitchFamily="34" charset="0"/>
              </a:rPr>
              <a:t>Focus of report</a:t>
            </a:r>
          </a:p>
        </p:txBody>
      </p:sp>
      <p:sp>
        <p:nvSpPr>
          <p:cNvPr id="3" name="Content Placeholder 2">
            <a:extLst>
              <a:ext uri="{FF2B5EF4-FFF2-40B4-BE49-F238E27FC236}">
                <a16:creationId xmlns:a16="http://schemas.microsoft.com/office/drawing/2014/main" id="{CCBD3AE6-5A58-1F06-C7A6-D67D7127D53A}"/>
              </a:ext>
            </a:extLst>
          </p:cNvPr>
          <p:cNvSpPr>
            <a:spLocks noGrp="1"/>
          </p:cNvSpPr>
          <p:nvPr>
            <p:ph idx="1"/>
          </p:nvPr>
        </p:nvSpPr>
        <p:spPr>
          <a:xfrm>
            <a:off x="838200" y="2005012"/>
            <a:ext cx="5257800" cy="4351338"/>
          </a:xfrm>
        </p:spPr>
        <p:txBody>
          <a:bodyPr>
            <a:normAutofit/>
          </a:bodyPr>
          <a:lstStyle/>
          <a:p>
            <a:r>
              <a:rPr lang="en-US" dirty="0">
                <a:latin typeface="Arial" panose="020B0604020202020204" pitchFamily="34" charset="0"/>
                <a:cs typeface="Arial" panose="020B0604020202020204" pitchFamily="34" charset="0"/>
              </a:rPr>
              <a:t>Assess impact of climate change on STP fisheries and tourism:</a:t>
            </a:r>
          </a:p>
          <a:p>
            <a:pPr lvl="1"/>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Assess climate change hazards</a:t>
            </a:r>
          </a:p>
          <a:p>
            <a:pPr lvl="1"/>
            <a:r>
              <a:rPr lang="en-US" dirty="0">
                <a:latin typeface="Arial" panose="020B0604020202020204" pitchFamily="34" charset="0"/>
                <a:cs typeface="Arial" panose="020B0604020202020204" pitchFamily="34" charset="0"/>
              </a:rPr>
              <a:t>Determine climate change impacts</a:t>
            </a:r>
          </a:p>
          <a:p>
            <a:pPr lvl="1"/>
            <a:r>
              <a:rPr lang="en-US" dirty="0">
                <a:latin typeface="Arial" panose="020B0604020202020204" pitchFamily="34" charset="0"/>
                <a:cs typeface="Arial" panose="020B0604020202020204" pitchFamily="34" charset="0"/>
              </a:rPr>
              <a:t>Identify climate adaptation options</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578AB068-74D3-1AFF-7E39-320937F8FEB9}"/>
              </a:ext>
            </a:extLst>
          </p:cNvPr>
          <p:cNvSpPr>
            <a:spLocks noGrp="1"/>
          </p:cNvSpPr>
          <p:nvPr>
            <p:ph type="sldNum" sz="quarter" idx="12"/>
          </p:nvPr>
        </p:nvSpPr>
        <p:spPr>
          <a:xfrm>
            <a:off x="9129946" y="6356350"/>
            <a:ext cx="2743200" cy="365125"/>
          </a:xfrm>
        </p:spPr>
        <p:txBody>
          <a:bodyPr/>
          <a:lstStyle/>
          <a:p>
            <a:fld id="{D51B4FB4-AA13-FE41-AF8A-525BA2FA973D}" type="slidenum">
              <a:rPr lang="en-US" smtClean="0"/>
              <a:t>3</a:t>
            </a:fld>
            <a:endParaRPr lang="en-US" dirty="0"/>
          </a:p>
        </p:txBody>
      </p:sp>
      <p:grpSp>
        <p:nvGrpSpPr>
          <p:cNvPr id="6" name="Group 5">
            <a:extLst>
              <a:ext uri="{FF2B5EF4-FFF2-40B4-BE49-F238E27FC236}">
                <a16:creationId xmlns:a16="http://schemas.microsoft.com/office/drawing/2014/main" id="{CAD97C0F-2C8D-87F2-7475-45B0BF04546B}"/>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E0DA4B40-5667-CAC6-9DA0-CF61B84E038B}"/>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01ED26F-B8DF-4896-3B5C-AAFBC27DF2E6}"/>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B015286C-BFC9-D496-1C57-AC776AABC77D}"/>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5122" name="Picture 2" descr="Map of Sao Tome and Principe">
            <a:extLst>
              <a:ext uri="{FF2B5EF4-FFF2-40B4-BE49-F238E27FC236}">
                <a16:creationId xmlns:a16="http://schemas.microsoft.com/office/drawing/2014/main" id="{15F53A00-F371-82A4-39D6-084EBE676D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9611" y="810882"/>
            <a:ext cx="4889794" cy="275050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Sao Tome and Principe endorses first ever fisheries management plan">
            <a:extLst>
              <a:ext uri="{FF2B5EF4-FFF2-40B4-BE49-F238E27FC236}">
                <a16:creationId xmlns:a16="http://schemas.microsoft.com/office/drawing/2014/main" id="{0A1002B4-808D-3109-4DDE-DD52099F3CE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3476"/>
          <a:stretch>
            <a:fillRect/>
          </a:stretch>
        </p:blipFill>
        <p:spPr bwMode="auto">
          <a:xfrm>
            <a:off x="6916258" y="3802931"/>
            <a:ext cx="2150984" cy="255341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5 Reasons to Visit São Tomé and Príncipe in the Winter Months">
            <a:extLst>
              <a:ext uri="{FF2B5EF4-FFF2-40B4-BE49-F238E27FC236}">
                <a16:creationId xmlns:a16="http://schemas.microsoft.com/office/drawing/2014/main" id="{20F87E72-9F35-A6D4-6595-2008D9423D2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 r="36755"/>
          <a:stretch>
            <a:fillRect/>
          </a:stretch>
        </p:blipFill>
        <p:spPr bwMode="auto">
          <a:xfrm>
            <a:off x="9343015" y="3802931"/>
            <a:ext cx="2155080" cy="25534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1900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329CD-3939-1982-D604-3D8DFA13AF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A8F245-E744-4E8A-7859-489151E7E40D}"/>
              </a:ext>
            </a:extLst>
          </p:cNvPr>
          <p:cNvSpPr>
            <a:spLocks noGrp="1"/>
          </p:cNvSpPr>
          <p:nvPr>
            <p:ph type="title"/>
          </p:nvPr>
        </p:nvSpPr>
        <p:spPr>
          <a:xfrm>
            <a:off x="838200" y="501650"/>
            <a:ext cx="5646576" cy="1325563"/>
          </a:xfrm>
        </p:spPr>
        <p:txBody>
          <a:bodyPr>
            <a:normAutofit/>
          </a:bodyPr>
          <a:lstStyle/>
          <a:p>
            <a:r>
              <a:rPr lang="en-US" sz="3200" b="1" dirty="0">
                <a:solidFill>
                  <a:srgbClr val="0070C0"/>
                </a:solidFill>
                <a:latin typeface="Arial" panose="020B0604020202020204" pitchFamily="34" charset="0"/>
                <a:cs typeface="Arial" panose="020B0604020202020204" pitchFamily="34" charset="0"/>
              </a:rPr>
              <a:t>Presentation overview</a:t>
            </a:r>
          </a:p>
        </p:txBody>
      </p:sp>
      <p:sp>
        <p:nvSpPr>
          <p:cNvPr id="3" name="Content Placeholder 2">
            <a:extLst>
              <a:ext uri="{FF2B5EF4-FFF2-40B4-BE49-F238E27FC236}">
                <a16:creationId xmlns:a16="http://schemas.microsoft.com/office/drawing/2014/main" id="{29B93379-6DCA-FFCE-4974-EEA1A448B2CE}"/>
              </a:ext>
            </a:extLst>
          </p:cNvPr>
          <p:cNvSpPr>
            <a:spLocks noGrp="1"/>
          </p:cNvSpPr>
          <p:nvPr>
            <p:ph idx="1"/>
          </p:nvPr>
        </p:nvSpPr>
        <p:spPr>
          <a:xfrm>
            <a:off x="838200" y="2005012"/>
            <a:ext cx="5257800" cy="4351338"/>
          </a:xfrm>
        </p:spPr>
        <p:txBody>
          <a:bodyPr>
            <a:normAutofit lnSpcReduction="10000"/>
          </a:bodyPr>
          <a:lstStyle/>
          <a:p>
            <a:pPr marL="514350" indent="-514350">
              <a:buFont typeface="+mj-lt"/>
              <a:buAutoNum type="arabicPeriod"/>
            </a:pPr>
            <a:r>
              <a:rPr lang="en-US" dirty="0">
                <a:latin typeface="Arial" panose="020B0604020202020204" pitchFamily="34" charset="0"/>
                <a:cs typeface="Arial" panose="020B0604020202020204" pitchFamily="34" charset="0"/>
              </a:rPr>
              <a:t>Sector baseline (fisheries)</a:t>
            </a:r>
          </a:p>
          <a:p>
            <a:pPr marL="514350" indent="-514350">
              <a:buFont typeface="+mj-lt"/>
              <a:buAutoNum type="arabicPeriod"/>
            </a:pPr>
            <a:r>
              <a:rPr lang="en-US" dirty="0">
                <a:latin typeface="Arial" panose="020B0604020202020204" pitchFamily="34" charset="0"/>
                <a:cs typeface="Arial" panose="020B0604020202020204" pitchFamily="34" charset="0"/>
              </a:rPr>
              <a:t>Historical ocean trends</a:t>
            </a:r>
          </a:p>
          <a:p>
            <a:pPr marL="514350" indent="-514350">
              <a:buFont typeface="+mj-lt"/>
              <a:buAutoNum type="arabicPeriod"/>
            </a:pPr>
            <a:r>
              <a:rPr lang="en-US" dirty="0">
                <a:latin typeface="Arial" panose="020B0604020202020204" pitchFamily="34" charset="0"/>
                <a:cs typeface="Arial" panose="020B0604020202020204" pitchFamily="34" charset="0"/>
              </a:rPr>
              <a:t>Future ocean trends</a:t>
            </a:r>
          </a:p>
          <a:p>
            <a:pPr marL="514350" indent="-514350">
              <a:buFont typeface="+mj-lt"/>
              <a:buAutoNum type="arabicPeriod"/>
            </a:pPr>
            <a:r>
              <a:rPr lang="en-US" dirty="0">
                <a:latin typeface="Arial" panose="020B0604020202020204" pitchFamily="34" charset="0"/>
                <a:cs typeface="Arial" panose="020B0604020202020204" pitchFamily="34" charset="0"/>
              </a:rPr>
              <a:t>Impact analysis (fisheries)</a:t>
            </a:r>
          </a:p>
          <a:p>
            <a:pPr marL="514350" indent="-514350">
              <a:buFont typeface="+mj-lt"/>
              <a:buAutoNum type="arabicPeriod"/>
            </a:pPr>
            <a:endParaRPr lang="en-US" dirty="0">
              <a:latin typeface="Arial" panose="020B0604020202020204" pitchFamily="34" charset="0"/>
              <a:cs typeface="Arial" panose="020B0604020202020204" pitchFamily="34" charset="0"/>
            </a:endParaRPr>
          </a:p>
          <a:p>
            <a:pPr marL="514350" indent="-514350">
              <a:buFont typeface="+mj-lt"/>
              <a:buAutoNum type="arabicPeriod"/>
            </a:pPr>
            <a:r>
              <a:rPr lang="en-US" dirty="0">
                <a:latin typeface="Arial" panose="020B0604020202020204" pitchFamily="34" charset="0"/>
                <a:cs typeface="Arial" panose="020B0604020202020204" pitchFamily="34" charset="0"/>
              </a:rPr>
              <a:t>Sector baseline (tourism)</a:t>
            </a:r>
          </a:p>
          <a:p>
            <a:pPr marL="514350" indent="-514350">
              <a:buFont typeface="+mj-lt"/>
              <a:buAutoNum type="arabicPeriod"/>
            </a:pPr>
            <a:r>
              <a:rPr lang="en-US" dirty="0">
                <a:latin typeface="Arial" panose="020B0604020202020204" pitchFamily="34" charset="0"/>
                <a:cs typeface="Arial" panose="020B0604020202020204" pitchFamily="34" charset="0"/>
              </a:rPr>
              <a:t>Historical climate trends</a:t>
            </a:r>
          </a:p>
          <a:p>
            <a:pPr marL="514350" indent="-514350">
              <a:buFont typeface="+mj-lt"/>
              <a:buAutoNum type="arabicPeriod"/>
            </a:pPr>
            <a:r>
              <a:rPr lang="en-US" dirty="0">
                <a:latin typeface="Arial" panose="020B0604020202020204" pitchFamily="34" charset="0"/>
                <a:cs typeface="Arial" panose="020B0604020202020204" pitchFamily="34" charset="0"/>
              </a:rPr>
              <a:t>Future climate trends</a:t>
            </a:r>
          </a:p>
          <a:p>
            <a:pPr marL="514350" indent="-514350">
              <a:buFont typeface="+mj-lt"/>
              <a:buAutoNum type="arabicPeriod"/>
            </a:pPr>
            <a:r>
              <a:rPr lang="en-US" dirty="0">
                <a:latin typeface="Arial" panose="020B0604020202020204" pitchFamily="34" charset="0"/>
                <a:cs typeface="Arial" panose="020B0604020202020204" pitchFamily="34" charset="0"/>
              </a:rPr>
              <a:t>Impact analysis (tourism)</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9F1A7892-50B6-C03C-77FF-56B8489D588A}"/>
              </a:ext>
            </a:extLst>
          </p:cNvPr>
          <p:cNvSpPr>
            <a:spLocks noGrp="1"/>
          </p:cNvSpPr>
          <p:nvPr>
            <p:ph type="sldNum" sz="quarter" idx="12"/>
          </p:nvPr>
        </p:nvSpPr>
        <p:spPr>
          <a:xfrm>
            <a:off x="9214508" y="6356350"/>
            <a:ext cx="2743200" cy="365125"/>
          </a:xfrm>
        </p:spPr>
        <p:txBody>
          <a:bodyPr/>
          <a:lstStyle/>
          <a:p>
            <a:fld id="{D51B4FB4-AA13-FE41-AF8A-525BA2FA973D}" type="slidenum">
              <a:rPr lang="en-US" smtClean="0"/>
              <a:t>4</a:t>
            </a:fld>
            <a:endParaRPr lang="en-US" dirty="0"/>
          </a:p>
        </p:txBody>
      </p:sp>
      <p:grpSp>
        <p:nvGrpSpPr>
          <p:cNvPr id="6" name="Group 5">
            <a:extLst>
              <a:ext uri="{FF2B5EF4-FFF2-40B4-BE49-F238E27FC236}">
                <a16:creationId xmlns:a16="http://schemas.microsoft.com/office/drawing/2014/main" id="{22BFFE2F-4070-E3E8-848F-470157C26DBE}"/>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248FB563-C6E0-9170-B0E1-5F75BEB67263}"/>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16997E-21D3-0542-9AFB-914B8555B397}"/>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CBA277BA-A0BB-721D-7226-70E9B228EE70}"/>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5122" name="Picture 2" descr="Map of Sao Tome and Principe">
            <a:extLst>
              <a:ext uri="{FF2B5EF4-FFF2-40B4-BE49-F238E27FC236}">
                <a16:creationId xmlns:a16="http://schemas.microsoft.com/office/drawing/2014/main" id="{EE53BDD6-DC03-D746-182B-CB6D42534D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9611" y="810882"/>
            <a:ext cx="4889794" cy="275050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Sao Tome and Principe endorses first ever fisheries management plan">
            <a:extLst>
              <a:ext uri="{FF2B5EF4-FFF2-40B4-BE49-F238E27FC236}">
                <a16:creationId xmlns:a16="http://schemas.microsoft.com/office/drawing/2014/main" id="{CCC3E55F-E72A-EC5F-B734-FA31FB3CD0E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3476"/>
          <a:stretch>
            <a:fillRect/>
          </a:stretch>
        </p:blipFill>
        <p:spPr bwMode="auto">
          <a:xfrm>
            <a:off x="6916258" y="3802931"/>
            <a:ext cx="2150984" cy="255341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5 Reasons to Visit São Tomé and Príncipe in the Winter Months">
            <a:extLst>
              <a:ext uri="{FF2B5EF4-FFF2-40B4-BE49-F238E27FC236}">
                <a16:creationId xmlns:a16="http://schemas.microsoft.com/office/drawing/2014/main" id="{12FA9CF9-0E41-F4F4-34F2-1A5C0743C1C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 r="36755"/>
          <a:stretch>
            <a:fillRect/>
          </a:stretch>
        </p:blipFill>
        <p:spPr bwMode="auto">
          <a:xfrm>
            <a:off x="9343015" y="3802931"/>
            <a:ext cx="2155080" cy="25534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822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7FA4D-2991-242A-6B6F-6A38B1CAB5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E7096B-D50E-7EC7-FBD3-497630D074A5}"/>
              </a:ext>
            </a:extLst>
          </p:cNvPr>
          <p:cNvSpPr>
            <a:spLocks noGrp="1"/>
          </p:cNvSpPr>
          <p:nvPr>
            <p:ph type="title"/>
          </p:nvPr>
        </p:nvSpPr>
        <p:spPr>
          <a:xfrm>
            <a:off x="838200" y="501650"/>
            <a:ext cx="5646576" cy="1325563"/>
          </a:xfrm>
        </p:spPr>
        <p:txBody>
          <a:bodyPr>
            <a:normAutofit/>
          </a:bodyPr>
          <a:lstStyle/>
          <a:p>
            <a:r>
              <a:rPr lang="en-US" sz="3200" b="1" dirty="0">
                <a:solidFill>
                  <a:srgbClr val="0070C0"/>
                </a:solidFill>
                <a:latin typeface="Arial" panose="020B0604020202020204" pitchFamily="34" charset="0"/>
                <a:cs typeface="Arial" panose="020B0604020202020204" pitchFamily="34" charset="0"/>
              </a:rPr>
              <a:t>Fisheries in STP</a:t>
            </a:r>
          </a:p>
        </p:txBody>
      </p:sp>
      <p:sp>
        <p:nvSpPr>
          <p:cNvPr id="3" name="Content Placeholder 2">
            <a:extLst>
              <a:ext uri="{FF2B5EF4-FFF2-40B4-BE49-F238E27FC236}">
                <a16:creationId xmlns:a16="http://schemas.microsoft.com/office/drawing/2014/main" id="{6252BA87-517A-A087-52EF-290827B9A778}"/>
              </a:ext>
            </a:extLst>
          </p:cNvPr>
          <p:cNvSpPr>
            <a:spLocks noGrp="1"/>
          </p:cNvSpPr>
          <p:nvPr>
            <p:ph idx="1"/>
          </p:nvPr>
        </p:nvSpPr>
        <p:spPr>
          <a:xfrm>
            <a:off x="830035" y="1825623"/>
            <a:ext cx="5257800" cy="4351338"/>
          </a:xfrm>
        </p:spPr>
        <p:txBody>
          <a:bodyPr>
            <a:normAutofit fontScale="77500" lnSpcReduction="20000"/>
          </a:bodyPr>
          <a:lstStyle/>
          <a:p>
            <a:r>
              <a:rPr lang="en-US" dirty="0">
                <a:latin typeface="Arial" panose="020B0604020202020204" pitchFamily="34" charset="0"/>
                <a:cs typeface="Arial" panose="020B0604020202020204" pitchFamily="34" charset="0"/>
              </a:rPr>
              <a:t>Fisheries are crucial for the economy and employment</a:t>
            </a:r>
          </a:p>
          <a:p>
            <a:pPr lvl="1"/>
            <a:r>
              <a:rPr lang="en-US" dirty="0">
                <a:latin typeface="Arial" panose="020B0604020202020204" pitchFamily="34" charset="0"/>
                <a:cs typeface="Arial" panose="020B0604020202020204" pitchFamily="34" charset="0"/>
              </a:rPr>
              <a:t>5-10% GDP</a:t>
            </a:r>
          </a:p>
          <a:p>
            <a:pPr lvl="1"/>
            <a:r>
              <a:rPr lang="en-US" dirty="0">
                <a:latin typeface="Arial" panose="020B0604020202020204" pitchFamily="34" charset="0"/>
                <a:cs typeface="Arial" panose="020B0604020202020204" pitchFamily="34" charset="0"/>
              </a:rPr>
              <a:t>Employ 10-15% population</a:t>
            </a:r>
          </a:p>
          <a:p>
            <a:pPr lvl="1"/>
            <a:r>
              <a:rPr lang="en-US" dirty="0">
                <a:latin typeface="Arial" panose="020B0604020202020204" pitchFamily="34" charset="0"/>
                <a:cs typeface="Arial" panose="020B0604020202020204" pitchFamily="34" charset="0"/>
              </a:rPr>
              <a:t>Fish comprises ~53% of animal protein intake</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Fish conservation is also important for future tourism:</a:t>
            </a:r>
          </a:p>
          <a:p>
            <a:pPr lvl="1"/>
            <a:r>
              <a:rPr lang="en-US" dirty="0">
                <a:latin typeface="Arial" panose="020B0604020202020204" pitchFamily="34" charset="0"/>
                <a:cs typeface="Arial" panose="020B0604020202020204" pitchFamily="34" charset="0"/>
              </a:rPr>
              <a:t>Sports fishing</a:t>
            </a:r>
          </a:p>
          <a:p>
            <a:pPr lvl="1"/>
            <a:r>
              <a:rPr lang="en-US" dirty="0">
                <a:latin typeface="Arial" panose="020B0604020202020204" pitchFamily="34" charset="0"/>
                <a:cs typeface="Arial" panose="020B0604020202020204" pitchFamily="34" charset="0"/>
              </a:rPr>
              <a:t>Diving </a:t>
            </a:r>
          </a:p>
          <a:p>
            <a:pPr lvl="1"/>
            <a:endParaRPr lang="en-US" i="1"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Threats</a:t>
            </a:r>
          </a:p>
          <a:p>
            <a:pPr lvl="1"/>
            <a:r>
              <a:rPr lang="en-US" dirty="0">
                <a:latin typeface="Arial" panose="020B0604020202020204" pitchFamily="34" charset="0"/>
                <a:cs typeface="Arial" panose="020B0604020202020204" pitchFamily="34" charset="0"/>
              </a:rPr>
              <a:t>Ocean warming</a:t>
            </a:r>
          </a:p>
          <a:p>
            <a:pPr lvl="1"/>
            <a:r>
              <a:rPr lang="en-US" dirty="0">
                <a:latin typeface="Arial" panose="020B0604020202020204" pitchFamily="34" charset="0"/>
                <a:cs typeface="Arial" panose="020B0604020202020204" pitchFamily="34" charset="0"/>
              </a:rPr>
              <a:t>Ocean acidification</a:t>
            </a:r>
          </a:p>
          <a:p>
            <a:pPr lvl="1"/>
            <a:endParaRPr lang="en-US" i="1" dirty="0">
              <a:latin typeface="Arial" panose="020B0604020202020204" pitchFamily="34" charset="0"/>
              <a:cs typeface="Arial" panose="020B0604020202020204" pitchFamily="34" charset="0"/>
            </a:endParaRPr>
          </a:p>
          <a:p>
            <a:pPr lvl="1"/>
            <a:endParaRPr lang="en-US" dirty="0">
              <a:latin typeface="Arial" panose="020B0604020202020204" pitchFamily="34" charset="0"/>
              <a:cs typeface="Arial" panose="020B0604020202020204" pitchFamily="34" charset="0"/>
            </a:endParaRPr>
          </a:p>
        </p:txBody>
      </p:sp>
      <p:pic>
        <p:nvPicPr>
          <p:cNvPr id="4" name="Picture 3" descr="A picture containing text, sign, vector graphics&#10;&#10;Description automatically generated">
            <a:extLst>
              <a:ext uri="{FF2B5EF4-FFF2-40B4-BE49-F238E27FC236}">
                <a16:creationId xmlns:a16="http://schemas.microsoft.com/office/drawing/2014/main" id="{6FD2981D-3028-2049-A5B2-E94B980AEE49}"/>
              </a:ext>
            </a:extLst>
          </p:cNvPr>
          <p:cNvPicPr>
            <a:picLocks noChangeAspect="1"/>
          </p:cNvPicPr>
          <p:nvPr/>
        </p:nvPicPr>
        <p:blipFill>
          <a:blip r:embed="rId2"/>
          <a:stretch>
            <a:fillRect/>
          </a:stretch>
        </p:blipFill>
        <p:spPr>
          <a:xfrm>
            <a:off x="11353800" y="6176961"/>
            <a:ext cx="541677" cy="541677"/>
          </a:xfrm>
          <a:prstGeom prst="rect">
            <a:avLst/>
          </a:prstGeom>
        </p:spPr>
      </p:pic>
      <p:sp>
        <p:nvSpPr>
          <p:cNvPr id="5" name="Slide Number Placeholder 4">
            <a:extLst>
              <a:ext uri="{FF2B5EF4-FFF2-40B4-BE49-F238E27FC236}">
                <a16:creationId xmlns:a16="http://schemas.microsoft.com/office/drawing/2014/main" id="{936CA3D0-83C0-5C22-5D35-98F9CAC35D1D}"/>
              </a:ext>
            </a:extLst>
          </p:cNvPr>
          <p:cNvSpPr>
            <a:spLocks noGrp="1"/>
          </p:cNvSpPr>
          <p:nvPr>
            <p:ph type="sldNum" sz="quarter" idx="12"/>
          </p:nvPr>
        </p:nvSpPr>
        <p:spPr/>
        <p:txBody>
          <a:bodyPr/>
          <a:lstStyle/>
          <a:p>
            <a:fld id="{D51B4FB4-AA13-FE41-AF8A-525BA2FA973D}" type="slidenum">
              <a:rPr lang="en-US" smtClean="0"/>
              <a:t>5</a:t>
            </a:fld>
            <a:endParaRPr lang="en-US" dirty="0"/>
          </a:p>
        </p:txBody>
      </p:sp>
      <p:grpSp>
        <p:nvGrpSpPr>
          <p:cNvPr id="6" name="Group 5">
            <a:extLst>
              <a:ext uri="{FF2B5EF4-FFF2-40B4-BE49-F238E27FC236}">
                <a16:creationId xmlns:a16="http://schemas.microsoft.com/office/drawing/2014/main" id="{856C4360-7F84-D304-D9B1-59937E7D6C05}"/>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811AA310-78A2-F2B2-0086-1944DC27D174}"/>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C4AACAA-D0D5-2571-33D8-E2F168AE39B1}"/>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B8D3EA01-AF34-31C9-828F-824A31A9D8FA}"/>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7" name="Picture 2" descr="Sao Tome and Principe endorses first ever fisheries management plan">
            <a:extLst>
              <a:ext uri="{FF2B5EF4-FFF2-40B4-BE49-F238E27FC236}">
                <a16:creationId xmlns:a16="http://schemas.microsoft.com/office/drawing/2014/main" id="{23F4F30E-1141-22F2-5D95-6BE4F624C2E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3476"/>
          <a:stretch>
            <a:fillRect/>
          </a:stretch>
        </p:blipFill>
        <p:spPr bwMode="auto">
          <a:xfrm>
            <a:off x="6757130" y="406302"/>
            <a:ext cx="5434870" cy="6451698"/>
          </a:xfrm>
          <a:prstGeom prst="rect">
            <a:avLst/>
          </a:prstGeom>
          <a:noFill/>
          <a:extLst>
            <a:ext uri="{909E8E84-426E-40DD-AFC4-6F175D3DCCD1}">
              <a14:hiddenFill xmlns:a14="http://schemas.microsoft.com/office/drawing/2010/main">
                <a:solidFill>
                  <a:srgbClr val="FFFFFF"/>
                </a:solidFill>
              </a14:hiddenFill>
            </a:ext>
          </a:extLst>
        </p:spPr>
      </p:pic>
      <p:sp>
        <p:nvSpPr>
          <p:cNvPr id="11" name="Slide Number Placeholder 4">
            <a:extLst>
              <a:ext uri="{FF2B5EF4-FFF2-40B4-BE49-F238E27FC236}">
                <a16:creationId xmlns:a16="http://schemas.microsoft.com/office/drawing/2014/main" id="{ECD9742F-3B4E-2E43-5C11-CE6B0AC65687}"/>
              </a:ext>
            </a:extLst>
          </p:cNvPr>
          <p:cNvSpPr txBox="1">
            <a:spLocks/>
          </p:cNvSpPr>
          <p:nvPr/>
        </p:nvSpPr>
        <p:spPr>
          <a:xfrm>
            <a:off x="9136811" y="6322284"/>
            <a:ext cx="2743200" cy="365125"/>
          </a:xfrm>
          <a:prstGeom prst="rect">
            <a:avLst/>
          </a:prstGeom>
        </p:spPr>
        <p:txBody>
          <a:bodyPr vert="horz" lIns="91440" tIns="45720" rIns="91440" bIns="45720" rtlCol="0" anchor="ctr"/>
          <a:lstStyle>
            <a:defPPr>
              <a:defRPr lang="en-GH"/>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1B4FB4-AA13-FE41-AF8A-525BA2FA973D}" type="slidenum">
              <a:rPr lang="en-US" smtClean="0"/>
              <a:pPr/>
              <a:t>5</a:t>
            </a:fld>
            <a:endParaRPr lang="en-US" dirty="0"/>
          </a:p>
        </p:txBody>
      </p:sp>
    </p:spTree>
    <p:extLst>
      <p:ext uri="{BB962C8B-B14F-4D97-AF65-F5344CB8AC3E}">
        <p14:creationId xmlns:p14="http://schemas.microsoft.com/office/powerpoint/2010/main" val="1950489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77C62-7F9F-5B58-D1B6-4BE11B11FC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983EB9-2A5D-B828-63C7-652AC653CA1D}"/>
              </a:ext>
            </a:extLst>
          </p:cNvPr>
          <p:cNvSpPr>
            <a:spLocks noGrp="1"/>
          </p:cNvSpPr>
          <p:nvPr>
            <p:ph type="title"/>
          </p:nvPr>
        </p:nvSpPr>
        <p:spPr>
          <a:xfrm>
            <a:off x="838200" y="501650"/>
            <a:ext cx="6309852" cy="1325563"/>
          </a:xfrm>
        </p:spPr>
        <p:txBody>
          <a:bodyPr>
            <a:normAutofit/>
          </a:bodyPr>
          <a:lstStyle/>
          <a:p>
            <a:r>
              <a:rPr lang="en-US" sz="3200" b="1" dirty="0">
                <a:solidFill>
                  <a:srgbClr val="0070C0"/>
                </a:solidFill>
                <a:latin typeface="Arial" panose="020B0604020202020204" pitchFamily="34" charset="0"/>
                <a:cs typeface="Arial" panose="020B0604020202020204" pitchFamily="34" charset="0"/>
              </a:rPr>
              <a:t>Fisheries in STP</a:t>
            </a:r>
          </a:p>
        </p:txBody>
      </p:sp>
      <p:sp>
        <p:nvSpPr>
          <p:cNvPr id="5" name="Slide Number Placeholder 4">
            <a:extLst>
              <a:ext uri="{FF2B5EF4-FFF2-40B4-BE49-F238E27FC236}">
                <a16:creationId xmlns:a16="http://schemas.microsoft.com/office/drawing/2014/main" id="{CE103F98-88FA-BBE3-3CA8-5DADA3690030}"/>
              </a:ext>
            </a:extLst>
          </p:cNvPr>
          <p:cNvSpPr>
            <a:spLocks noGrp="1"/>
          </p:cNvSpPr>
          <p:nvPr>
            <p:ph type="sldNum" sz="quarter" idx="12"/>
          </p:nvPr>
        </p:nvSpPr>
        <p:spPr>
          <a:xfrm>
            <a:off x="9161106" y="6326819"/>
            <a:ext cx="2743200" cy="365125"/>
          </a:xfrm>
        </p:spPr>
        <p:txBody>
          <a:bodyPr/>
          <a:lstStyle/>
          <a:p>
            <a:fld id="{D51B4FB4-AA13-FE41-AF8A-525BA2FA973D}" type="slidenum">
              <a:rPr lang="en-US" smtClean="0"/>
              <a:t>6</a:t>
            </a:fld>
            <a:endParaRPr lang="en-US" dirty="0"/>
          </a:p>
        </p:txBody>
      </p:sp>
      <p:grpSp>
        <p:nvGrpSpPr>
          <p:cNvPr id="6" name="Group 5">
            <a:extLst>
              <a:ext uri="{FF2B5EF4-FFF2-40B4-BE49-F238E27FC236}">
                <a16:creationId xmlns:a16="http://schemas.microsoft.com/office/drawing/2014/main" id="{FA6402C4-29A0-26B9-9542-68B9D4288B4C}"/>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C7D83BCA-E35C-7356-DCAB-A643F14D4DE6}"/>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BB55201-A471-AAD2-925A-8ACA11D6F54E}"/>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68DF0C12-1A45-E0A7-F347-A4A995844C08}"/>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11" name="Picture 10" descr="A graph with different colored squares&#10;&#10;Description automatically generated">
            <a:extLst>
              <a:ext uri="{FF2B5EF4-FFF2-40B4-BE49-F238E27FC236}">
                <a16:creationId xmlns:a16="http://schemas.microsoft.com/office/drawing/2014/main" id="{150E851A-678A-5608-A446-ED941FA7F3A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23787" y="1709893"/>
            <a:ext cx="4057340" cy="1941014"/>
          </a:xfrm>
          <a:prstGeom prst="rect">
            <a:avLst/>
          </a:prstGeom>
          <a:noFill/>
          <a:ln>
            <a:noFill/>
          </a:ln>
        </p:spPr>
      </p:pic>
      <p:pic>
        <p:nvPicPr>
          <p:cNvPr id="18" name="Picture 17" descr="A graph of different colored lines&#10;&#10;AI-generated content may be incorrect.">
            <a:extLst>
              <a:ext uri="{FF2B5EF4-FFF2-40B4-BE49-F238E27FC236}">
                <a16:creationId xmlns:a16="http://schemas.microsoft.com/office/drawing/2014/main" id="{208D4B01-417D-056F-5E11-06E328A7603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9811" y="4112568"/>
            <a:ext cx="4700776" cy="2350388"/>
          </a:xfrm>
          <a:prstGeom prst="rect">
            <a:avLst/>
          </a:prstGeom>
        </p:spPr>
      </p:pic>
      <p:pic>
        <p:nvPicPr>
          <p:cNvPr id="21" name="Picture 20" descr="A graph of fish species&#10;&#10;AI-generated content may be incorrect.">
            <a:extLst>
              <a:ext uri="{FF2B5EF4-FFF2-40B4-BE49-F238E27FC236}">
                <a16:creationId xmlns:a16="http://schemas.microsoft.com/office/drawing/2014/main" id="{D6223D0B-952D-3D00-25AF-8E5BE442E03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04888" y="1611179"/>
            <a:ext cx="4898202" cy="4898202"/>
          </a:xfrm>
          <a:prstGeom prst="rect">
            <a:avLst/>
          </a:prstGeom>
        </p:spPr>
      </p:pic>
      <p:sp>
        <p:nvSpPr>
          <p:cNvPr id="22" name="TextBox 21">
            <a:extLst>
              <a:ext uri="{FF2B5EF4-FFF2-40B4-BE49-F238E27FC236}">
                <a16:creationId xmlns:a16="http://schemas.microsoft.com/office/drawing/2014/main" id="{03E35604-F2B6-404C-7149-10E41DB04CA4}"/>
              </a:ext>
            </a:extLst>
          </p:cNvPr>
          <p:cNvSpPr txBox="1"/>
          <p:nvPr/>
        </p:nvSpPr>
        <p:spPr>
          <a:xfrm>
            <a:off x="9680880" y="3909612"/>
            <a:ext cx="1679510" cy="1754326"/>
          </a:xfrm>
          <a:prstGeom prst="rect">
            <a:avLst/>
          </a:prstGeom>
          <a:noFill/>
        </p:spPr>
        <p:txBody>
          <a:bodyPr wrap="square" rtlCol="0">
            <a:spAutoFit/>
          </a:bodyPr>
          <a:lstStyle/>
          <a:p>
            <a:pPr marL="342900" indent="-342900">
              <a:buAutoNum type="arabicPeriod"/>
            </a:pPr>
            <a:r>
              <a:rPr lang="en-GB" dirty="0"/>
              <a:t>Flying fish</a:t>
            </a:r>
          </a:p>
          <a:p>
            <a:pPr marL="342900" indent="-342900">
              <a:buAutoNum type="arabicPeriod"/>
            </a:pPr>
            <a:r>
              <a:rPr lang="en-GB" dirty="0"/>
              <a:t>Ray-finned fish</a:t>
            </a:r>
          </a:p>
          <a:p>
            <a:pPr marL="342900" indent="-342900">
              <a:buAutoNum type="arabicPeriod"/>
            </a:pPr>
            <a:r>
              <a:rPr lang="en-GB" dirty="0"/>
              <a:t>Blue runner</a:t>
            </a:r>
          </a:p>
          <a:p>
            <a:pPr marL="342900" indent="-342900">
              <a:buAutoNum type="arabicPeriod"/>
            </a:pPr>
            <a:r>
              <a:rPr lang="en-GB" dirty="0"/>
              <a:t>Scads</a:t>
            </a:r>
          </a:p>
          <a:p>
            <a:pPr marL="342900" indent="-342900">
              <a:buAutoNum type="arabicPeriod"/>
            </a:pPr>
            <a:r>
              <a:rPr lang="en-GB" dirty="0"/>
              <a:t>Little tunny</a:t>
            </a:r>
          </a:p>
        </p:txBody>
      </p:sp>
    </p:spTree>
    <p:extLst>
      <p:ext uri="{BB962C8B-B14F-4D97-AF65-F5344CB8AC3E}">
        <p14:creationId xmlns:p14="http://schemas.microsoft.com/office/powerpoint/2010/main" val="29569049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FC06E-C397-FD0B-DF90-B3FF8E89DF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924D00-DC56-8A14-2910-DFED1D7A2351}"/>
              </a:ext>
            </a:extLst>
          </p:cNvPr>
          <p:cNvSpPr>
            <a:spLocks noGrp="1"/>
          </p:cNvSpPr>
          <p:nvPr>
            <p:ph type="title"/>
          </p:nvPr>
        </p:nvSpPr>
        <p:spPr>
          <a:xfrm>
            <a:off x="838200" y="501650"/>
            <a:ext cx="8119188" cy="1325563"/>
          </a:xfrm>
        </p:spPr>
        <p:txBody>
          <a:bodyPr>
            <a:normAutofit/>
          </a:bodyPr>
          <a:lstStyle/>
          <a:p>
            <a:r>
              <a:rPr lang="en-US" sz="3200" b="1" dirty="0">
                <a:solidFill>
                  <a:srgbClr val="0070C0"/>
                </a:solidFill>
                <a:latin typeface="Arial" panose="020B0604020202020204" pitchFamily="34" charset="0"/>
                <a:cs typeface="Arial" panose="020B0604020202020204" pitchFamily="34" charset="0"/>
              </a:rPr>
              <a:t>Fisheries – climate exposure (historical)</a:t>
            </a:r>
          </a:p>
        </p:txBody>
      </p:sp>
      <p:sp>
        <p:nvSpPr>
          <p:cNvPr id="5" name="Slide Number Placeholder 4">
            <a:extLst>
              <a:ext uri="{FF2B5EF4-FFF2-40B4-BE49-F238E27FC236}">
                <a16:creationId xmlns:a16="http://schemas.microsoft.com/office/drawing/2014/main" id="{55AE7603-BFCB-C50A-FC92-829FFD975AF2}"/>
              </a:ext>
            </a:extLst>
          </p:cNvPr>
          <p:cNvSpPr>
            <a:spLocks noGrp="1"/>
          </p:cNvSpPr>
          <p:nvPr>
            <p:ph type="sldNum" sz="quarter" idx="12"/>
          </p:nvPr>
        </p:nvSpPr>
        <p:spPr>
          <a:xfrm>
            <a:off x="9152277" y="6323392"/>
            <a:ext cx="2743200" cy="365125"/>
          </a:xfrm>
        </p:spPr>
        <p:txBody>
          <a:bodyPr/>
          <a:lstStyle/>
          <a:p>
            <a:fld id="{D51B4FB4-AA13-FE41-AF8A-525BA2FA973D}" type="slidenum">
              <a:rPr lang="en-US" smtClean="0"/>
              <a:t>7</a:t>
            </a:fld>
            <a:endParaRPr lang="en-US" dirty="0"/>
          </a:p>
        </p:txBody>
      </p:sp>
      <p:grpSp>
        <p:nvGrpSpPr>
          <p:cNvPr id="6" name="Group 5">
            <a:extLst>
              <a:ext uri="{FF2B5EF4-FFF2-40B4-BE49-F238E27FC236}">
                <a16:creationId xmlns:a16="http://schemas.microsoft.com/office/drawing/2014/main" id="{D5E8BE89-6978-2C84-B2F8-047BC9DABA1D}"/>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D16C4A7A-C2EA-B89C-E49D-235574725999}"/>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3ADD20F-F3E9-A845-0938-E6B0C903326A}"/>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6106D7CB-01C4-9CBD-4858-16409191CDCF}"/>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2" name="Content Placeholder 2">
            <a:extLst>
              <a:ext uri="{FF2B5EF4-FFF2-40B4-BE49-F238E27FC236}">
                <a16:creationId xmlns:a16="http://schemas.microsoft.com/office/drawing/2014/main" id="{87253163-6E49-456F-7812-FD766132E4C0}"/>
              </a:ext>
            </a:extLst>
          </p:cNvPr>
          <p:cNvSpPr>
            <a:spLocks noGrp="1"/>
          </p:cNvSpPr>
          <p:nvPr>
            <p:ph idx="1"/>
          </p:nvPr>
        </p:nvSpPr>
        <p:spPr>
          <a:xfrm>
            <a:off x="838200" y="1797634"/>
            <a:ext cx="5005647" cy="4351338"/>
          </a:xfrm>
        </p:spPr>
        <p:txBody>
          <a:bodyPr>
            <a:normAutofit/>
          </a:bodyPr>
          <a:lstStyle/>
          <a:p>
            <a:r>
              <a:rPr lang="en-US" sz="2000" dirty="0">
                <a:latin typeface="Arial" panose="020B0604020202020204" pitchFamily="34" charset="0"/>
                <a:cs typeface="Arial" panose="020B0604020202020204" pitchFamily="34" charset="0"/>
              </a:rPr>
              <a:t>Data source: Copernicus Marine Data Store reanalysis datasets (1993-2023)</a:t>
            </a:r>
          </a:p>
          <a:p>
            <a:r>
              <a:rPr lang="en-US" sz="2000" dirty="0">
                <a:latin typeface="Arial" panose="020B0604020202020204" pitchFamily="34" charset="0"/>
                <a:cs typeface="Arial" panose="020B0604020202020204" pitchFamily="34" charset="0"/>
              </a:rPr>
              <a:t>Historical ocean trends:</a:t>
            </a:r>
          </a:p>
          <a:p>
            <a:pPr lvl="1"/>
            <a:r>
              <a:rPr lang="en-US" sz="1800" b="1" i="1" dirty="0">
                <a:latin typeface="Arial" panose="020B0604020202020204" pitchFamily="34" charset="0"/>
                <a:cs typeface="Arial" panose="020B0604020202020204" pitchFamily="34" charset="0"/>
              </a:rPr>
              <a:t>Sea surface temperatures rising</a:t>
            </a:r>
          </a:p>
          <a:p>
            <a:pPr lvl="1"/>
            <a:r>
              <a:rPr lang="en-US" sz="1800" b="1" i="1" dirty="0">
                <a:latin typeface="Arial" panose="020B0604020202020204" pitchFamily="34" charset="0"/>
                <a:cs typeface="Arial" panose="020B0604020202020204" pitchFamily="34" charset="0"/>
              </a:rPr>
              <a:t>Sea surface pH decreasing </a:t>
            </a:r>
            <a:r>
              <a:rPr lang="en-US" sz="1800" i="1" dirty="0">
                <a:latin typeface="Arial" panose="020B0604020202020204" pitchFamily="34" charset="0"/>
                <a:cs typeface="Arial" panose="020B0604020202020204" pitchFamily="34" charset="0"/>
              </a:rPr>
              <a:t>(acidification)</a:t>
            </a:r>
          </a:p>
          <a:p>
            <a:pPr lvl="1"/>
            <a:r>
              <a:rPr lang="en-US" sz="1800" b="1" i="1" dirty="0">
                <a:latin typeface="Arial" panose="020B0604020202020204" pitchFamily="34" charset="0"/>
                <a:cs typeface="Arial" panose="020B0604020202020204" pitchFamily="34" charset="0"/>
              </a:rPr>
              <a:t>Sea surface oxygen remains stable</a:t>
            </a:r>
          </a:p>
          <a:p>
            <a:pPr lvl="1"/>
            <a:endParaRPr lang="en-US" sz="1800" dirty="0">
              <a:latin typeface="Arial" panose="020B0604020202020204" pitchFamily="34" charset="0"/>
              <a:cs typeface="Arial" panose="020B0604020202020204" pitchFamily="34" charset="0"/>
            </a:endParaRPr>
          </a:p>
        </p:txBody>
      </p:sp>
      <p:grpSp>
        <p:nvGrpSpPr>
          <p:cNvPr id="16" name="Group 15">
            <a:extLst>
              <a:ext uri="{FF2B5EF4-FFF2-40B4-BE49-F238E27FC236}">
                <a16:creationId xmlns:a16="http://schemas.microsoft.com/office/drawing/2014/main" id="{5DCCD6A3-D201-EC00-4CF3-FE262E5026BB}"/>
              </a:ext>
            </a:extLst>
          </p:cNvPr>
          <p:cNvGrpSpPr/>
          <p:nvPr/>
        </p:nvGrpSpPr>
        <p:grpSpPr>
          <a:xfrm>
            <a:off x="6248889" y="2058326"/>
            <a:ext cx="5416998" cy="1914977"/>
            <a:chOff x="947737" y="4183598"/>
            <a:chExt cx="5724525" cy="2051029"/>
          </a:xfrm>
        </p:grpSpPr>
        <p:pic>
          <p:nvPicPr>
            <p:cNvPr id="13" name="drawing">
              <a:extLst>
                <a:ext uri="{FF2B5EF4-FFF2-40B4-BE49-F238E27FC236}">
                  <a16:creationId xmlns:a16="http://schemas.microsoft.com/office/drawing/2014/main" id="{AD46BE17-8616-1AD8-803C-308B1F7B1E0F}"/>
                </a:ext>
              </a:extLst>
            </p:cNvPr>
            <p:cNvPicPr>
              <a:picLocks noChangeAspect="1"/>
            </p:cNvPicPr>
            <p:nvPr/>
          </p:nvPicPr>
          <p:blipFill>
            <a:blip r:embed="rId2" cstate="print">
              <a:extLst>
                <a:ext uri="{28A0092B-C50C-407E-A947-70E740481C1C}">
                  <a14:useLocalDpi xmlns:a14="http://schemas.microsoft.com/office/drawing/2010/main" val="0"/>
                </a:ext>
              </a:extLst>
            </a:blip>
            <a:srcRect t="45380"/>
            <a:stretch>
              <a:fillRect/>
            </a:stretch>
          </p:blipFill>
          <p:spPr>
            <a:xfrm>
              <a:off x="947737" y="4320073"/>
              <a:ext cx="5724525" cy="1914554"/>
            </a:xfrm>
            <a:prstGeom prst="rect">
              <a:avLst/>
            </a:prstGeom>
          </p:spPr>
        </p:pic>
        <p:pic>
          <p:nvPicPr>
            <p:cNvPr id="14" name="drawing">
              <a:extLst>
                <a:ext uri="{FF2B5EF4-FFF2-40B4-BE49-F238E27FC236}">
                  <a16:creationId xmlns:a16="http://schemas.microsoft.com/office/drawing/2014/main" id="{1407453D-6C32-84C8-8F25-F4E48805DF27}"/>
                </a:ext>
              </a:extLst>
            </p:cNvPr>
            <p:cNvPicPr>
              <a:picLocks noChangeAspect="1"/>
            </p:cNvPicPr>
            <p:nvPr/>
          </p:nvPicPr>
          <p:blipFill>
            <a:blip r:embed="rId2" cstate="print">
              <a:extLst>
                <a:ext uri="{28A0092B-C50C-407E-A947-70E740481C1C}">
                  <a14:useLocalDpi xmlns:a14="http://schemas.microsoft.com/office/drawing/2010/main" val="0"/>
                </a:ext>
              </a:extLst>
            </a:blip>
            <a:srcRect t="1903" b="92086"/>
            <a:stretch>
              <a:fillRect/>
            </a:stretch>
          </p:blipFill>
          <p:spPr>
            <a:xfrm>
              <a:off x="947737" y="4183598"/>
              <a:ext cx="5724525" cy="210675"/>
            </a:xfrm>
            <a:prstGeom prst="rect">
              <a:avLst/>
            </a:prstGeom>
          </p:spPr>
        </p:pic>
      </p:grpSp>
      <p:grpSp>
        <p:nvGrpSpPr>
          <p:cNvPr id="20" name="Group 19">
            <a:extLst>
              <a:ext uri="{FF2B5EF4-FFF2-40B4-BE49-F238E27FC236}">
                <a16:creationId xmlns:a16="http://schemas.microsoft.com/office/drawing/2014/main" id="{86048A73-1EBF-7117-C053-ED20A623A196}"/>
              </a:ext>
            </a:extLst>
          </p:cNvPr>
          <p:cNvGrpSpPr/>
          <p:nvPr/>
        </p:nvGrpSpPr>
        <p:grpSpPr>
          <a:xfrm>
            <a:off x="685710" y="4435804"/>
            <a:ext cx="5310626" cy="2027152"/>
            <a:chOff x="639859" y="4170435"/>
            <a:chExt cx="5310626" cy="2027152"/>
          </a:xfrm>
        </p:grpSpPr>
        <p:pic>
          <p:nvPicPr>
            <p:cNvPr id="17" name="Picture 16" descr="A screenshot of a graph&#10;&#10;AI-generated content may be incorrect.">
              <a:extLst>
                <a:ext uri="{FF2B5EF4-FFF2-40B4-BE49-F238E27FC236}">
                  <a16:creationId xmlns:a16="http://schemas.microsoft.com/office/drawing/2014/main" id="{68F3D411-AE1C-10FD-BB97-973EBAD271AC}"/>
                </a:ext>
              </a:extLst>
            </p:cNvPr>
            <p:cNvPicPr>
              <a:picLocks noChangeAspect="1"/>
            </p:cNvPicPr>
            <p:nvPr/>
          </p:nvPicPr>
          <p:blipFill>
            <a:blip r:embed="rId3" cstate="print">
              <a:extLst>
                <a:ext uri="{28A0092B-C50C-407E-A947-70E740481C1C}">
                  <a14:useLocalDpi xmlns:a14="http://schemas.microsoft.com/office/drawing/2010/main" val="0"/>
                </a:ext>
              </a:extLst>
            </a:blip>
            <a:srcRect t="43227"/>
            <a:stretch>
              <a:fillRect/>
            </a:stretch>
          </p:blipFill>
          <p:spPr>
            <a:xfrm>
              <a:off x="639860" y="4317974"/>
              <a:ext cx="5310625" cy="1879613"/>
            </a:xfrm>
            <a:prstGeom prst="rect">
              <a:avLst/>
            </a:prstGeom>
          </p:spPr>
        </p:pic>
        <p:pic>
          <p:nvPicPr>
            <p:cNvPr id="19" name="Picture 18" descr="A screenshot of a graph&#10;&#10;AI-generated content may be incorrect.">
              <a:extLst>
                <a:ext uri="{FF2B5EF4-FFF2-40B4-BE49-F238E27FC236}">
                  <a16:creationId xmlns:a16="http://schemas.microsoft.com/office/drawing/2014/main" id="{D86FA01A-A9A5-A73B-A865-F44CFB3026FA}"/>
                </a:ext>
              </a:extLst>
            </p:cNvPr>
            <p:cNvPicPr>
              <a:picLocks noChangeAspect="1"/>
            </p:cNvPicPr>
            <p:nvPr/>
          </p:nvPicPr>
          <p:blipFill>
            <a:blip r:embed="rId3" cstate="print">
              <a:extLst>
                <a:ext uri="{28A0092B-C50C-407E-A947-70E740481C1C}">
                  <a14:useLocalDpi xmlns:a14="http://schemas.microsoft.com/office/drawing/2010/main" val="0"/>
                </a:ext>
              </a:extLst>
            </a:blip>
            <a:srcRect t="1102" b="92957"/>
            <a:stretch>
              <a:fillRect/>
            </a:stretch>
          </p:blipFill>
          <p:spPr>
            <a:xfrm>
              <a:off x="639859" y="4170435"/>
              <a:ext cx="5310625" cy="196699"/>
            </a:xfrm>
            <a:prstGeom prst="rect">
              <a:avLst/>
            </a:prstGeom>
          </p:spPr>
        </p:pic>
      </p:grpSp>
      <p:grpSp>
        <p:nvGrpSpPr>
          <p:cNvPr id="4" name="Group 3">
            <a:extLst>
              <a:ext uri="{FF2B5EF4-FFF2-40B4-BE49-F238E27FC236}">
                <a16:creationId xmlns:a16="http://schemas.microsoft.com/office/drawing/2014/main" id="{86A30FF1-E980-7690-9FCB-3DE075B03A2A}"/>
              </a:ext>
            </a:extLst>
          </p:cNvPr>
          <p:cNvGrpSpPr/>
          <p:nvPr/>
        </p:nvGrpSpPr>
        <p:grpSpPr>
          <a:xfrm>
            <a:off x="6067167" y="4393427"/>
            <a:ext cx="5579760" cy="1962923"/>
            <a:chOff x="6092837" y="4261104"/>
            <a:chExt cx="5579760" cy="1962923"/>
          </a:xfrm>
        </p:grpSpPr>
        <p:pic>
          <p:nvPicPr>
            <p:cNvPr id="3" name="drawing">
              <a:extLst>
                <a:ext uri="{FF2B5EF4-FFF2-40B4-BE49-F238E27FC236}">
                  <a16:creationId xmlns:a16="http://schemas.microsoft.com/office/drawing/2014/main" id="{7732CC25-302C-8785-9DD0-3E02D0D735CC}"/>
                </a:ext>
              </a:extLst>
            </p:cNvPr>
            <p:cNvPicPr>
              <a:picLocks noChangeAspect="1"/>
            </p:cNvPicPr>
            <p:nvPr/>
          </p:nvPicPr>
          <p:blipFill>
            <a:blip r:embed="rId4" cstate="print">
              <a:extLst>
                <a:ext uri="{28A0092B-C50C-407E-A947-70E740481C1C}">
                  <a14:useLocalDpi xmlns:a14="http://schemas.microsoft.com/office/drawing/2010/main" val="0"/>
                </a:ext>
              </a:extLst>
            </a:blip>
            <a:srcRect t="41606"/>
            <a:stretch>
              <a:fillRect/>
            </a:stretch>
          </p:blipFill>
          <p:spPr>
            <a:xfrm>
              <a:off x="6170953" y="4288954"/>
              <a:ext cx="5501644" cy="1935073"/>
            </a:xfrm>
            <a:prstGeom prst="rect">
              <a:avLst/>
            </a:prstGeom>
          </p:spPr>
        </p:pic>
        <p:pic>
          <p:nvPicPr>
            <p:cNvPr id="7" name="drawing">
              <a:extLst>
                <a:ext uri="{FF2B5EF4-FFF2-40B4-BE49-F238E27FC236}">
                  <a16:creationId xmlns:a16="http://schemas.microsoft.com/office/drawing/2014/main" id="{00477BA3-4355-531D-820A-EF34D353C8C0}"/>
                </a:ext>
              </a:extLst>
            </p:cNvPr>
            <p:cNvPicPr>
              <a:picLocks noChangeAspect="1"/>
            </p:cNvPicPr>
            <p:nvPr/>
          </p:nvPicPr>
          <p:blipFill>
            <a:blip r:embed="rId2" cstate="print">
              <a:extLst>
                <a:ext uri="{28A0092B-C50C-407E-A947-70E740481C1C}">
                  <a14:useLocalDpi xmlns:a14="http://schemas.microsoft.com/office/drawing/2010/main" val="0"/>
                </a:ext>
              </a:extLst>
            </a:blip>
            <a:srcRect t="1903" b="92086"/>
            <a:stretch>
              <a:fillRect/>
            </a:stretch>
          </p:blipFill>
          <p:spPr>
            <a:xfrm>
              <a:off x="6092837" y="4261104"/>
              <a:ext cx="5501644" cy="199774"/>
            </a:xfrm>
            <a:prstGeom prst="rect">
              <a:avLst/>
            </a:prstGeom>
          </p:spPr>
        </p:pic>
      </p:grpSp>
    </p:spTree>
    <p:extLst>
      <p:ext uri="{BB962C8B-B14F-4D97-AF65-F5344CB8AC3E}">
        <p14:creationId xmlns:p14="http://schemas.microsoft.com/office/powerpoint/2010/main" val="2111888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0BD38-83CB-BB75-9580-910AA9EF9D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D568CC-C4FE-6538-D04F-490605BA4EFF}"/>
              </a:ext>
            </a:extLst>
          </p:cNvPr>
          <p:cNvSpPr>
            <a:spLocks noGrp="1"/>
          </p:cNvSpPr>
          <p:nvPr>
            <p:ph type="title"/>
          </p:nvPr>
        </p:nvSpPr>
        <p:spPr>
          <a:xfrm>
            <a:off x="838200" y="501650"/>
            <a:ext cx="8147180" cy="1325563"/>
          </a:xfrm>
        </p:spPr>
        <p:txBody>
          <a:bodyPr>
            <a:normAutofit/>
          </a:bodyPr>
          <a:lstStyle/>
          <a:p>
            <a:r>
              <a:rPr lang="en-US" sz="3200" b="1" dirty="0">
                <a:solidFill>
                  <a:srgbClr val="0070C0"/>
                </a:solidFill>
                <a:latin typeface="Arial" panose="020B0604020202020204" pitchFamily="34" charset="0"/>
                <a:cs typeface="Arial" panose="020B0604020202020204" pitchFamily="34" charset="0"/>
              </a:rPr>
              <a:t>Fisheries – climate exposure (historical)</a:t>
            </a:r>
          </a:p>
        </p:txBody>
      </p:sp>
      <p:sp>
        <p:nvSpPr>
          <p:cNvPr id="5" name="Slide Number Placeholder 4">
            <a:extLst>
              <a:ext uri="{FF2B5EF4-FFF2-40B4-BE49-F238E27FC236}">
                <a16:creationId xmlns:a16="http://schemas.microsoft.com/office/drawing/2014/main" id="{F5C720B8-B8B1-D46C-9B0D-3114021C9349}"/>
              </a:ext>
            </a:extLst>
          </p:cNvPr>
          <p:cNvSpPr>
            <a:spLocks noGrp="1"/>
          </p:cNvSpPr>
          <p:nvPr>
            <p:ph type="sldNum" sz="quarter" idx="12"/>
          </p:nvPr>
        </p:nvSpPr>
        <p:spPr>
          <a:xfrm>
            <a:off x="9152277" y="6323392"/>
            <a:ext cx="2743200" cy="365125"/>
          </a:xfrm>
        </p:spPr>
        <p:txBody>
          <a:bodyPr/>
          <a:lstStyle/>
          <a:p>
            <a:fld id="{D51B4FB4-AA13-FE41-AF8A-525BA2FA973D}" type="slidenum">
              <a:rPr lang="en-US" smtClean="0"/>
              <a:t>8</a:t>
            </a:fld>
            <a:endParaRPr lang="en-US" dirty="0"/>
          </a:p>
        </p:txBody>
      </p:sp>
      <p:grpSp>
        <p:nvGrpSpPr>
          <p:cNvPr id="6" name="Group 5">
            <a:extLst>
              <a:ext uri="{FF2B5EF4-FFF2-40B4-BE49-F238E27FC236}">
                <a16:creationId xmlns:a16="http://schemas.microsoft.com/office/drawing/2014/main" id="{419766A7-A9EB-369A-0816-6316A0EB0ADF}"/>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54D1C34A-F9F4-F435-60D8-E10F65151316}"/>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C154C66-C325-BB1E-D76A-D7C17455FD23}"/>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C11EF0CE-3F2E-844C-135C-24552F541CCD}"/>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2" name="Content Placeholder 2">
            <a:extLst>
              <a:ext uri="{FF2B5EF4-FFF2-40B4-BE49-F238E27FC236}">
                <a16:creationId xmlns:a16="http://schemas.microsoft.com/office/drawing/2014/main" id="{1B7BF28A-4670-6FE7-7241-162027C86BF9}"/>
              </a:ext>
            </a:extLst>
          </p:cNvPr>
          <p:cNvSpPr>
            <a:spLocks noGrp="1"/>
          </p:cNvSpPr>
          <p:nvPr>
            <p:ph idx="1"/>
          </p:nvPr>
        </p:nvSpPr>
        <p:spPr>
          <a:xfrm>
            <a:off x="838200" y="1917272"/>
            <a:ext cx="7251442" cy="4351338"/>
          </a:xfrm>
        </p:spPr>
        <p:txBody>
          <a:bodyPr>
            <a:normAutofit/>
          </a:bodyPr>
          <a:lstStyle/>
          <a:p>
            <a:r>
              <a:rPr lang="en-US" sz="2400" dirty="0">
                <a:latin typeface="Arial" panose="020B0604020202020204" pitchFamily="34" charset="0"/>
                <a:cs typeface="Arial" panose="020B0604020202020204" pitchFamily="34" charset="0"/>
              </a:rPr>
              <a:t>Notable observation:</a:t>
            </a:r>
          </a:p>
          <a:p>
            <a:pPr lvl="1"/>
            <a:r>
              <a:rPr lang="en-US" sz="2000" dirty="0">
                <a:latin typeface="Arial" panose="020B0604020202020204" pitchFamily="34" charset="0"/>
                <a:cs typeface="Arial" panose="020B0604020202020204" pitchFamily="34" charset="0"/>
              </a:rPr>
              <a:t>Thermal buffering close to the coastline</a:t>
            </a:r>
          </a:p>
          <a:p>
            <a:pPr lvl="1"/>
            <a:r>
              <a:rPr lang="en-US" sz="2000" dirty="0">
                <a:latin typeface="Arial" panose="020B0604020202020204" pitchFamily="34" charset="0"/>
                <a:cs typeface="Arial" panose="020B0604020202020204" pitchFamily="34" charset="0"/>
              </a:rPr>
              <a:t>Slower climate velocity close to coastline</a:t>
            </a:r>
            <a:endParaRPr lang="en-US" sz="1600" dirty="0">
              <a:latin typeface="Arial" panose="020B0604020202020204" pitchFamily="34" charset="0"/>
              <a:cs typeface="Arial" panose="020B0604020202020204" pitchFamily="34" charset="0"/>
            </a:endParaRPr>
          </a:p>
          <a:p>
            <a:pPr lvl="1"/>
            <a:endParaRPr lang="en-US" sz="2000" dirty="0">
              <a:latin typeface="Arial" panose="020B0604020202020204" pitchFamily="34" charset="0"/>
              <a:cs typeface="Arial" panose="020B0604020202020204" pitchFamily="34" charset="0"/>
            </a:endParaRPr>
          </a:p>
        </p:txBody>
      </p:sp>
      <p:pic>
        <p:nvPicPr>
          <p:cNvPr id="4" name="drawing">
            <a:extLst>
              <a:ext uri="{FF2B5EF4-FFF2-40B4-BE49-F238E27FC236}">
                <a16:creationId xmlns:a16="http://schemas.microsoft.com/office/drawing/2014/main" id="{08A6F28F-A74C-9E64-5735-D9B82B32E1EF}"/>
              </a:ext>
            </a:extLst>
          </p:cNvPr>
          <p:cNvPicPr>
            <a:picLocks noChangeAspect="1"/>
          </p:cNvPicPr>
          <p:nvPr/>
        </p:nvPicPr>
        <p:blipFill>
          <a:blip r:embed="rId2" cstate="print">
            <a:extLst>
              <a:ext uri="{28A0092B-C50C-407E-A947-70E740481C1C}">
                <a14:useLocalDpi xmlns:a14="http://schemas.microsoft.com/office/drawing/2010/main" val="0"/>
              </a:ext>
            </a:extLst>
          </a:blip>
          <a:srcRect l="46360"/>
          <a:stretch>
            <a:fillRect/>
          </a:stretch>
        </p:blipFill>
        <p:spPr>
          <a:xfrm>
            <a:off x="6782300" y="2510358"/>
            <a:ext cx="5113177" cy="3695575"/>
          </a:xfrm>
          <a:prstGeom prst="rect">
            <a:avLst/>
          </a:prstGeom>
        </p:spPr>
      </p:pic>
      <p:pic>
        <p:nvPicPr>
          <p:cNvPr id="11" name="drawing">
            <a:extLst>
              <a:ext uri="{FF2B5EF4-FFF2-40B4-BE49-F238E27FC236}">
                <a16:creationId xmlns:a16="http://schemas.microsoft.com/office/drawing/2014/main" id="{CE21D854-585F-2CA4-0272-F842DA67C7F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3173" y="3660933"/>
            <a:ext cx="5724525" cy="2143125"/>
          </a:xfrm>
          <a:prstGeom prst="rect">
            <a:avLst/>
          </a:prstGeom>
        </p:spPr>
      </p:pic>
    </p:spTree>
    <p:extLst>
      <p:ext uri="{BB962C8B-B14F-4D97-AF65-F5344CB8AC3E}">
        <p14:creationId xmlns:p14="http://schemas.microsoft.com/office/powerpoint/2010/main" val="4025397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52949-09FF-CFB4-64B6-CDB4304E1D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BCC7D6-AF06-A961-E339-6BFCACE20DE9}"/>
              </a:ext>
            </a:extLst>
          </p:cNvPr>
          <p:cNvSpPr>
            <a:spLocks noGrp="1"/>
          </p:cNvSpPr>
          <p:nvPr>
            <p:ph type="title"/>
          </p:nvPr>
        </p:nvSpPr>
        <p:spPr>
          <a:xfrm>
            <a:off x="838199" y="501650"/>
            <a:ext cx="8044544" cy="1325563"/>
          </a:xfrm>
        </p:spPr>
        <p:txBody>
          <a:bodyPr>
            <a:normAutofit/>
          </a:bodyPr>
          <a:lstStyle/>
          <a:p>
            <a:r>
              <a:rPr lang="en-US" sz="3200" b="1" dirty="0">
                <a:solidFill>
                  <a:srgbClr val="0070C0"/>
                </a:solidFill>
                <a:latin typeface="Arial" panose="020B0604020202020204" pitchFamily="34" charset="0"/>
                <a:cs typeface="Arial" panose="020B0604020202020204" pitchFamily="34" charset="0"/>
              </a:rPr>
              <a:t>Fisheries – climate exposure (historical)</a:t>
            </a:r>
          </a:p>
        </p:txBody>
      </p:sp>
      <p:sp>
        <p:nvSpPr>
          <p:cNvPr id="5" name="Slide Number Placeholder 4">
            <a:extLst>
              <a:ext uri="{FF2B5EF4-FFF2-40B4-BE49-F238E27FC236}">
                <a16:creationId xmlns:a16="http://schemas.microsoft.com/office/drawing/2014/main" id="{E9A9C8EE-7D98-1F1B-E5DD-CB3F48DE8997}"/>
              </a:ext>
            </a:extLst>
          </p:cNvPr>
          <p:cNvSpPr>
            <a:spLocks noGrp="1"/>
          </p:cNvSpPr>
          <p:nvPr>
            <p:ph type="sldNum" sz="quarter" idx="12"/>
          </p:nvPr>
        </p:nvSpPr>
        <p:spPr>
          <a:xfrm>
            <a:off x="9170437" y="6356349"/>
            <a:ext cx="2743200" cy="365125"/>
          </a:xfrm>
        </p:spPr>
        <p:txBody>
          <a:bodyPr/>
          <a:lstStyle/>
          <a:p>
            <a:fld id="{D51B4FB4-AA13-FE41-AF8A-525BA2FA973D}" type="slidenum">
              <a:rPr lang="en-US" smtClean="0"/>
              <a:t>9</a:t>
            </a:fld>
            <a:endParaRPr lang="en-US" dirty="0"/>
          </a:p>
        </p:txBody>
      </p:sp>
      <p:grpSp>
        <p:nvGrpSpPr>
          <p:cNvPr id="6" name="Group 5">
            <a:extLst>
              <a:ext uri="{FF2B5EF4-FFF2-40B4-BE49-F238E27FC236}">
                <a16:creationId xmlns:a16="http://schemas.microsoft.com/office/drawing/2014/main" id="{87314F1A-5328-2002-3C58-8FDF93B8B7F6}"/>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6BA2E5A6-2E3D-DCDE-E05C-301073D1CC70}"/>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5BA57F2-2365-73D7-0DA0-3A81F2E54DD8}"/>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A1667AAA-F2B7-777F-11EB-F3B7430B277F}"/>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2" name="Content Placeholder 2">
            <a:extLst>
              <a:ext uri="{FF2B5EF4-FFF2-40B4-BE49-F238E27FC236}">
                <a16:creationId xmlns:a16="http://schemas.microsoft.com/office/drawing/2014/main" id="{BEAF8332-4A2D-81A8-3996-3EC985CF1574}"/>
              </a:ext>
            </a:extLst>
          </p:cNvPr>
          <p:cNvSpPr>
            <a:spLocks noGrp="1"/>
          </p:cNvSpPr>
          <p:nvPr>
            <p:ph idx="1"/>
          </p:nvPr>
        </p:nvSpPr>
        <p:spPr>
          <a:xfrm>
            <a:off x="838199" y="2111618"/>
            <a:ext cx="3715140" cy="4351338"/>
          </a:xfrm>
        </p:spPr>
        <p:txBody>
          <a:bodyPr>
            <a:normAutofit/>
          </a:bodyPr>
          <a:lstStyle/>
          <a:p>
            <a:r>
              <a:rPr lang="en-US" sz="2400" dirty="0">
                <a:latin typeface="Arial" panose="020B0604020202020204" pitchFamily="34" charset="0"/>
                <a:cs typeface="Arial" panose="020B0604020202020204" pitchFamily="34" charset="0"/>
              </a:rPr>
              <a:t>Historical ocean anomalies:</a:t>
            </a:r>
          </a:p>
          <a:p>
            <a:pPr lvl="1"/>
            <a:r>
              <a:rPr lang="en-US" sz="2000" i="1" dirty="0">
                <a:latin typeface="Arial" panose="020B0604020202020204" pitchFamily="34" charset="0"/>
                <a:cs typeface="Arial" panose="020B0604020202020204" pitchFamily="34" charset="0"/>
              </a:rPr>
              <a:t>Increase in frequency of marine heatwaves</a:t>
            </a:r>
          </a:p>
          <a:p>
            <a:pPr lvl="1"/>
            <a:r>
              <a:rPr lang="en-US" sz="2000" i="1" dirty="0">
                <a:latin typeface="Arial" panose="020B0604020202020204" pitchFamily="34" charset="0"/>
                <a:cs typeface="Arial" panose="020B0604020202020204" pitchFamily="34" charset="0"/>
              </a:rPr>
              <a:t>Decrease in frequency of marine cold spells</a:t>
            </a:r>
          </a:p>
          <a:p>
            <a:pPr lvl="1"/>
            <a:endParaRPr lang="en-US" sz="2000" i="1" dirty="0">
              <a:latin typeface="Arial" panose="020B0604020202020204" pitchFamily="34" charset="0"/>
              <a:cs typeface="Arial" panose="020B0604020202020204" pitchFamily="34" charset="0"/>
            </a:endParaRPr>
          </a:p>
          <a:p>
            <a:pPr lvl="2"/>
            <a:endParaRPr lang="en-US" sz="1800" i="1" dirty="0">
              <a:latin typeface="Arial" panose="020B0604020202020204" pitchFamily="34" charset="0"/>
              <a:cs typeface="Arial" panose="020B0604020202020204" pitchFamily="34" charset="0"/>
            </a:endParaRPr>
          </a:p>
          <a:p>
            <a:pPr lvl="1"/>
            <a:endParaRPr lang="en-US" sz="2000" dirty="0">
              <a:latin typeface="Arial" panose="020B0604020202020204" pitchFamily="34" charset="0"/>
              <a:cs typeface="Arial" panose="020B0604020202020204" pitchFamily="34" charset="0"/>
            </a:endParaRPr>
          </a:p>
        </p:txBody>
      </p:sp>
      <p:pic>
        <p:nvPicPr>
          <p:cNvPr id="11" name="drawing">
            <a:extLst>
              <a:ext uri="{FF2B5EF4-FFF2-40B4-BE49-F238E27FC236}">
                <a16:creationId xmlns:a16="http://schemas.microsoft.com/office/drawing/2014/main" id="{BCEAD268-31A9-274B-ED7B-7D21D1DA42A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35705" y="2187574"/>
            <a:ext cx="6306631" cy="3693734"/>
          </a:xfrm>
          <a:prstGeom prst="rect">
            <a:avLst/>
          </a:prstGeom>
        </p:spPr>
      </p:pic>
    </p:spTree>
    <p:extLst>
      <p:ext uri="{BB962C8B-B14F-4D97-AF65-F5344CB8AC3E}">
        <p14:creationId xmlns:p14="http://schemas.microsoft.com/office/powerpoint/2010/main" val="41821779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72700-C78A-387B-C7C1-5D498E5C4B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C3AAE4-6185-A48A-73C4-0CC69011CC62}"/>
              </a:ext>
            </a:extLst>
          </p:cNvPr>
          <p:cNvSpPr>
            <a:spLocks noGrp="1"/>
          </p:cNvSpPr>
          <p:nvPr>
            <p:ph type="title"/>
          </p:nvPr>
        </p:nvSpPr>
        <p:spPr>
          <a:xfrm>
            <a:off x="838199" y="501650"/>
            <a:ext cx="7680650" cy="1325563"/>
          </a:xfrm>
        </p:spPr>
        <p:txBody>
          <a:bodyPr>
            <a:normAutofit/>
          </a:bodyPr>
          <a:lstStyle/>
          <a:p>
            <a:r>
              <a:rPr lang="en-US" sz="3200" b="1" dirty="0">
                <a:solidFill>
                  <a:srgbClr val="0070C0"/>
                </a:solidFill>
                <a:latin typeface="Arial" panose="020B0604020202020204" pitchFamily="34" charset="0"/>
                <a:cs typeface="Arial" panose="020B0604020202020204" pitchFamily="34" charset="0"/>
              </a:rPr>
              <a:t>Fisheries – climate exposure (future)</a:t>
            </a:r>
          </a:p>
        </p:txBody>
      </p:sp>
      <p:sp>
        <p:nvSpPr>
          <p:cNvPr id="5" name="Slide Number Placeholder 4">
            <a:extLst>
              <a:ext uri="{FF2B5EF4-FFF2-40B4-BE49-F238E27FC236}">
                <a16:creationId xmlns:a16="http://schemas.microsoft.com/office/drawing/2014/main" id="{60D4D19D-4BD3-1547-6C16-CCF5C11A66A7}"/>
              </a:ext>
            </a:extLst>
          </p:cNvPr>
          <p:cNvSpPr>
            <a:spLocks noGrp="1"/>
          </p:cNvSpPr>
          <p:nvPr>
            <p:ph type="sldNum" sz="quarter" idx="12"/>
          </p:nvPr>
        </p:nvSpPr>
        <p:spPr/>
        <p:txBody>
          <a:bodyPr/>
          <a:lstStyle/>
          <a:p>
            <a:fld id="{D51B4FB4-AA13-FE41-AF8A-525BA2FA973D}" type="slidenum">
              <a:rPr lang="en-US" smtClean="0"/>
              <a:t>10</a:t>
            </a:fld>
            <a:endParaRPr lang="en-US" dirty="0"/>
          </a:p>
        </p:txBody>
      </p:sp>
      <p:grpSp>
        <p:nvGrpSpPr>
          <p:cNvPr id="6" name="Group 5">
            <a:extLst>
              <a:ext uri="{FF2B5EF4-FFF2-40B4-BE49-F238E27FC236}">
                <a16:creationId xmlns:a16="http://schemas.microsoft.com/office/drawing/2014/main" id="{789CFD78-BD5F-B1D0-E9EC-1EF6AA24C0F7}"/>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6C4A7BBA-064C-BD94-0811-AAB374BC5C30}"/>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8BFED30-762F-B34F-A6A9-93E97F3D41C2}"/>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DDE36D11-BC3F-60C3-FFE8-85C8D1616F95}"/>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3" name="Picture 2" descr="A screenshot of a computer screen&#10;&#10;AI-generated content may be incorrect.">
            <a:extLst>
              <a:ext uri="{FF2B5EF4-FFF2-40B4-BE49-F238E27FC236}">
                <a16:creationId xmlns:a16="http://schemas.microsoft.com/office/drawing/2014/main" id="{EB44F880-4DC6-15CA-4A09-9639C3CD59D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51041" y="1680388"/>
            <a:ext cx="4911008" cy="4911008"/>
          </a:xfrm>
          <a:prstGeom prst="rect">
            <a:avLst/>
          </a:prstGeom>
        </p:spPr>
      </p:pic>
      <p:sp>
        <p:nvSpPr>
          <p:cNvPr id="15" name="Content Placeholder 2">
            <a:extLst>
              <a:ext uri="{FF2B5EF4-FFF2-40B4-BE49-F238E27FC236}">
                <a16:creationId xmlns:a16="http://schemas.microsoft.com/office/drawing/2014/main" id="{3A719294-3C7F-B9E2-A14A-607C8C6C5C96}"/>
              </a:ext>
            </a:extLst>
          </p:cNvPr>
          <p:cNvSpPr>
            <a:spLocks noGrp="1"/>
          </p:cNvSpPr>
          <p:nvPr>
            <p:ph idx="1"/>
          </p:nvPr>
        </p:nvSpPr>
        <p:spPr>
          <a:xfrm>
            <a:off x="1011043" y="1960223"/>
            <a:ext cx="5005647" cy="4351338"/>
          </a:xfrm>
        </p:spPr>
        <p:txBody>
          <a:bodyPr>
            <a:normAutofit/>
          </a:bodyPr>
          <a:lstStyle/>
          <a:p>
            <a:r>
              <a:rPr lang="en-US" sz="2000" dirty="0">
                <a:latin typeface="Arial" panose="020B0604020202020204" pitchFamily="34" charset="0"/>
                <a:cs typeface="Arial" panose="020B0604020202020204" pitchFamily="34" charset="0"/>
              </a:rPr>
              <a:t>Data source: three Earth System Models and one climate model ensemble</a:t>
            </a:r>
          </a:p>
          <a:p>
            <a:r>
              <a:rPr lang="en-US" sz="2000" dirty="0">
                <a:latin typeface="Arial" panose="020B0604020202020204" pitchFamily="34" charset="0"/>
                <a:cs typeface="Arial" panose="020B0604020202020204" pitchFamily="34" charset="0"/>
              </a:rPr>
              <a:t>Climate scenarios:</a:t>
            </a:r>
          </a:p>
          <a:p>
            <a:pPr lvl="1"/>
            <a:r>
              <a:rPr lang="en-US" sz="2000" dirty="0">
                <a:latin typeface="Arial" panose="020B0604020202020204" pitchFamily="34" charset="0"/>
                <a:cs typeface="Arial" panose="020B0604020202020204" pitchFamily="34" charset="0"/>
              </a:rPr>
              <a:t>Two shared socioeconomic pathways</a:t>
            </a:r>
          </a:p>
          <a:p>
            <a:pPr lvl="2"/>
            <a:r>
              <a:rPr lang="en-US" sz="1800" dirty="0">
                <a:latin typeface="Arial" panose="020B0604020202020204" pitchFamily="34" charset="0"/>
                <a:cs typeface="Arial" panose="020B0604020202020204" pitchFamily="34" charset="0"/>
              </a:rPr>
              <a:t>SSP1 2.6 (low carbon, optimistic)</a:t>
            </a:r>
          </a:p>
          <a:p>
            <a:pPr lvl="2"/>
            <a:r>
              <a:rPr lang="en-US" sz="1800" dirty="0">
                <a:latin typeface="Arial" panose="020B0604020202020204" pitchFamily="34" charset="0"/>
                <a:cs typeface="Arial" panose="020B0604020202020204" pitchFamily="34" charset="0"/>
              </a:rPr>
              <a:t>SSP5 8.5 (high carbon, pessimistic)</a:t>
            </a:r>
          </a:p>
          <a:p>
            <a:pPr lvl="2"/>
            <a:endParaRPr lang="en-US" sz="1600" dirty="0">
              <a:latin typeface="Arial" panose="020B0604020202020204" pitchFamily="34" charset="0"/>
              <a:cs typeface="Arial" panose="020B0604020202020204" pitchFamily="34" charset="0"/>
            </a:endParaRPr>
          </a:p>
          <a:p>
            <a:pPr lvl="1"/>
            <a:r>
              <a:rPr lang="en-US" sz="2000" dirty="0">
                <a:latin typeface="Arial" panose="020B0604020202020204" pitchFamily="34" charset="0"/>
                <a:cs typeface="Arial" panose="020B0604020202020204" pitchFamily="34" charset="0"/>
              </a:rPr>
              <a:t>Historical baseline (1989-2019)</a:t>
            </a:r>
          </a:p>
          <a:p>
            <a:pPr lvl="1"/>
            <a:r>
              <a:rPr lang="en-US" sz="2000" dirty="0">
                <a:latin typeface="Arial" panose="020B0604020202020204" pitchFamily="34" charset="0"/>
                <a:cs typeface="Arial" panose="020B0604020202020204" pitchFamily="34" charset="0"/>
              </a:rPr>
              <a:t>Two future time periods</a:t>
            </a:r>
          </a:p>
          <a:p>
            <a:pPr lvl="2"/>
            <a:r>
              <a:rPr lang="en-US" sz="1800" dirty="0">
                <a:latin typeface="Arial" panose="020B0604020202020204" pitchFamily="34" charset="0"/>
                <a:cs typeface="Arial" panose="020B0604020202020204" pitchFamily="34" charset="0"/>
              </a:rPr>
              <a:t>2020-2049</a:t>
            </a:r>
          </a:p>
          <a:p>
            <a:pPr lvl="2"/>
            <a:r>
              <a:rPr lang="en-US" sz="1800" dirty="0">
                <a:latin typeface="Arial" panose="020B0604020202020204" pitchFamily="34" charset="0"/>
                <a:cs typeface="Arial" panose="020B0604020202020204" pitchFamily="34" charset="0"/>
              </a:rPr>
              <a:t>2050-2079</a:t>
            </a:r>
          </a:p>
          <a:p>
            <a:pPr lvl="1"/>
            <a:endParaRPr lang="en-US" sz="1800" dirty="0">
              <a:latin typeface="Arial" panose="020B0604020202020204" pitchFamily="34" charset="0"/>
              <a:cs typeface="Arial" panose="020B0604020202020204" pitchFamily="34" charset="0"/>
            </a:endParaRPr>
          </a:p>
        </p:txBody>
      </p:sp>
      <p:sp>
        <p:nvSpPr>
          <p:cNvPr id="16" name="Slide Number Placeholder 4">
            <a:extLst>
              <a:ext uri="{FF2B5EF4-FFF2-40B4-BE49-F238E27FC236}">
                <a16:creationId xmlns:a16="http://schemas.microsoft.com/office/drawing/2014/main" id="{5ECC3157-D462-4734-8C49-6CDB5EF6E60C}"/>
              </a:ext>
            </a:extLst>
          </p:cNvPr>
          <p:cNvSpPr txBox="1">
            <a:spLocks/>
          </p:cNvSpPr>
          <p:nvPr/>
        </p:nvSpPr>
        <p:spPr>
          <a:xfrm>
            <a:off x="9136811" y="6322284"/>
            <a:ext cx="2743200" cy="365125"/>
          </a:xfrm>
          <a:prstGeom prst="rect">
            <a:avLst/>
          </a:prstGeom>
        </p:spPr>
        <p:txBody>
          <a:bodyPr vert="horz" lIns="91440" tIns="45720" rIns="91440" bIns="45720" rtlCol="0" anchor="ctr"/>
          <a:lstStyle>
            <a:defPPr>
              <a:defRPr lang="en-GH"/>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1B4FB4-AA13-FE41-AF8A-525BA2FA973D}" type="slidenum">
              <a:rPr lang="en-US" smtClean="0"/>
              <a:pPr/>
              <a:t>10</a:t>
            </a:fld>
            <a:endParaRPr lang="en-US" dirty="0"/>
          </a:p>
        </p:txBody>
      </p:sp>
    </p:spTree>
    <p:extLst>
      <p:ext uri="{BB962C8B-B14F-4D97-AF65-F5344CB8AC3E}">
        <p14:creationId xmlns:p14="http://schemas.microsoft.com/office/powerpoint/2010/main" val="25173165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FF061-1403-8D0C-989E-5FE1340314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4B4E17-DFAC-53EE-2501-4FBE05BF5285}"/>
              </a:ext>
            </a:extLst>
          </p:cNvPr>
          <p:cNvSpPr>
            <a:spLocks noGrp="1"/>
          </p:cNvSpPr>
          <p:nvPr>
            <p:ph type="title"/>
          </p:nvPr>
        </p:nvSpPr>
        <p:spPr>
          <a:xfrm>
            <a:off x="838199" y="501650"/>
            <a:ext cx="7680650" cy="1325563"/>
          </a:xfrm>
        </p:spPr>
        <p:txBody>
          <a:bodyPr>
            <a:normAutofit/>
          </a:bodyPr>
          <a:lstStyle/>
          <a:p>
            <a:r>
              <a:rPr lang="en-US" sz="3200" b="1" dirty="0">
                <a:solidFill>
                  <a:srgbClr val="0070C0"/>
                </a:solidFill>
                <a:latin typeface="Arial" panose="020B0604020202020204" pitchFamily="34" charset="0"/>
                <a:cs typeface="Arial" panose="020B0604020202020204" pitchFamily="34" charset="0"/>
              </a:rPr>
              <a:t>Fisheries – climate exposure (future)</a:t>
            </a:r>
          </a:p>
        </p:txBody>
      </p:sp>
      <p:sp>
        <p:nvSpPr>
          <p:cNvPr id="5" name="Slide Number Placeholder 4">
            <a:extLst>
              <a:ext uri="{FF2B5EF4-FFF2-40B4-BE49-F238E27FC236}">
                <a16:creationId xmlns:a16="http://schemas.microsoft.com/office/drawing/2014/main" id="{3B81A1A9-2B35-540A-124A-5820711EF98F}"/>
              </a:ext>
            </a:extLst>
          </p:cNvPr>
          <p:cNvSpPr>
            <a:spLocks noGrp="1"/>
          </p:cNvSpPr>
          <p:nvPr>
            <p:ph type="sldNum" sz="quarter" idx="12"/>
          </p:nvPr>
        </p:nvSpPr>
        <p:spPr>
          <a:xfrm>
            <a:off x="9136811" y="6322284"/>
            <a:ext cx="2743200" cy="365125"/>
          </a:xfrm>
        </p:spPr>
        <p:txBody>
          <a:bodyPr/>
          <a:lstStyle/>
          <a:p>
            <a:fld id="{D51B4FB4-AA13-FE41-AF8A-525BA2FA973D}" type="slidenum">
              <a:rPr lang="en-US" smtClean="0"/>
              <a:t>11</a:t>
            </a:fld>
            <a:endParaRPr lang="en-US" dirty="0"/>
          </a:p>
        </p:txBody>
      </p:sp>
      <p:grpSp>
        <p:nvGrpSpPr>
          <p:cNvPr id="6" name="Group 5">
            <a:extLst>
              <a:ext uri="{FF2B5EF4-FFF2-40B4-BE49-F238E27FC236}">
                <a16:creationId xmlns:a16="http://schemas.microsoft.com/office/drawing/2014/main" id="{22B739E8-57CA-7932-C7C7-428D4352DADF}"/>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2226A326-1B30-4162-D0D5-F7BE52092C90}"/>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E3F3EAD-8895-3961-23DB-AD181F0A53EB}"/>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390B0C4F-FE8D-6825-7ABC-91E9388B13C2}"/>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7" name="Picture 6" descr="A screenshot of a graph&#10;&#10;AI-generated content may be incorrect.">
            <a:extLst>
              <a:ext uri="{FF2B5EF4-FFF2-40B4-BE49-F238E27FC236}">
                <a16:creationId xmlns:a16="http://schemas.microsoft.com/office/drawing/2014/main" id="{F0DFD516-ADA7-CFDF-7003-08E37473CB1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04699" y="1725286"/>
            <a:ext cx="4962123" cy="4962123"/>
          </a:xfrm>
          <a:prstGeom prst="rect">
            <a:avLst/>
          </a:prstGeom>
        </p:spPr>
      </p:pic>
      <p:pic>
        <p:nvPicPr>
          <p:cNvPr id="11" name="Picture 10" descr="A screenshot of a computer screen&#10;&#10;AI-generated content may be incorrect.">
            <a:extLst>
              <a:ext uri="{FF2B5EF4-FFF2-40B4-BE49-F238E27FC236}">
                <a16:creationId xmlns:a16="http://schemas.microsoft.com/office/drawing/2014/main" id="{1EE625C3-A954-9296-83F8-3C9DE2E3E0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5178" y="1776402"/>
            <a:ext cx="4918091" cy="4911007"/>
          </a:xfrm>
          <a:prstGeom prst="rect">
            <a:avLst/>
          </a:prstGeom>
        </p:spPr>
      </p:pic>
    </p:spTree>
    <p:extLst>
      <p:ext uri="{BB962C8B-B14F-4D97-AF65-F5344CB8AC3E}">
        <p14:creationId xmlns:p14="http://schemas.microsoft.com/office/powerpoint/2010/main" val="2405538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1AA3C-5ECE-100A-6148-9B61C8CEF5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EDD185-7D27-2615-C374-78E57627AF1B}"/>
              </a:ext>
            </a:extLst>
          </p:cNvPr>
          <p:cNvSpPr>
            <a:spLocks noGrp="1"/>
          </p:cNvSpPr>
          <p:nvPr>
            <p:ph type="title"/>
          </p:nvPr>
        </p:nvSpPr>
        <p:spPr>
          <a:xfrm>
            <a:off x="838199" y="501650"/>
            <a:ext cx="7680650" cy="1325563"/>
          </a:xfrm>
        </p:spPr>
        <p:txBody>
          <a:bodyPr>
            <a:normAutofit/>
          </a:bodyPr>
          <a:lstStyle/>
          <a:p>
            <a:r>
              <a:rPr lang="en-US" sz="3200" b="1" dirty="0">
                <a:solidFill>
                  <a:srgbClr val="0070C0"/>
                </a:solidFill>
                <a:latin typeface="Arial" panose="020B0604020202020204" pitchFamily="34" charset="0"/>
                <a:cs typeface="Arial" panose="020B0604020202020204" pitchFamily="34" charset="0"/>
              </a:rPr>
              <a:t>Fisheries – climate exposure (future)</a:t>
            </a:r>
          </a:p>
        </p:txBody>
      </p:sp>
      <p:sp>
        <p:nvSpPr>
          <p:cNvPr id="5" name="Slide Number Placeholder 4">
            <a:extLst>
              <a:ext uri="{FF2B5EF4-FFF2-40B4-BE49-F238E27FC236}">
                <a16:creationId xmlns:a16="http://schemas.microsoft.com/office/drawing/2014/main" id="{5B109D5C-FEBD-801C-1697-DE4966B0FFC3}"/>
              </a:ext>
            </a:extLst>
          </p:cNvPr>
          <p:cNvSpPr>
            <a:spLocks noGrp="1"/>
          </p:cNvSpPr>
          <p:nvPr>
            <p:ph type="sldNum" sz="quarter" idx="12"/>
          </p:nvPr>
        </p:nvSpPr>
        <p:spPr>
          <a:xfrm>
            <a:off x="9171317" y="6381883"/>
            <a:ext cx="2743200" cy="365125"/>
          </a:xfrm>
        </p:spPr>
        <p:txBody>
          <a:bodyPr/>
          <a:lstStyle/>
          <a:p>
            <a:fld id="{D51B4FB4-AA13-FE41-AF8A-525BA2FA973D}" type="slidenum">
              <a:rPr lang="en-US" smtClean="0"/>
              <a:t>12</a:t>
            </a:fld>
            <a:endParaRPr lang="en-US" dirty="0"/>
          </a:p>
        </p:txBody>
      </p:sp>
      <p:grpSp>
        <p:nvGrpSpPr>
          <p:cNvPr id="6" name="Group 5">
            <a:extLst>
              <a:ext uri="{FF2B5EF4-FFF2-40B4-BE49-F238E27FC236}">
                <a16:creationId xmlns:a16="http://schemas.microsoft.com/office/drawing/2014/main" id="{5685BE3E-E075-8D50-D9A1-263CCBD56377}"/>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37C4577F-6EAA-C3DF-90AA-42BD2B8DD8DE}"/>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F526AFF-D8E8-E538-7AC7-7CE7F425B478}"/>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AA6075A7-F856-CCA9-205B-1426CA4934FC}"/>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12" name="Table 11">
            <a:extLst>
              <a:ext uri="{FF2B5EF4-FFF2-40B4-BE49-F238E27FC236}">
                <a16:creationId xmlns:a16="http://schemas.microsoft.com/office/drawing/2014/main" id="{AB898F54-6971-3939-E322-C484191DB6CC}"/>
              </a:ext>
            </a:extLst>
          </p:cNvPr>
          <p:cNvGraphicFramePr>
            <a:graphicFrameLocks noGrp="1"/>
          </p:cNvGraphicFramePr>
          <p:nvPr>
            <p:extLst>
              <p:ext uri="{D42A27DB-BD31-4B8C-83A1-F6EECF244321}">
                <p14:modId xmlns:p14="http://schemas.microsoft.com/office/powerpoint/2010/main" val="1802777567"/>
              </p:ext>
            </p:extLst>
          </p:nvPr>
        </p:nvGraphicFramePr>
        <p:xfrm>
          <a:off x="1268963" y="1845403"/>
          <a:ext cx="9414588" cy="4518290"/>
        </p:xfrm>
        <a:graphic>
          <a:graphicData uri="http://schemas.openxmlformats.org/drawingml/2006/table">
            <a:tbl>
              <a:tblPr firstRow="1" firstCol="1"/>
              <a:tblGrid>
                <a:gridCol w="1475632">
                  <a:extLst>
                    <a:ext uri="{9D8B030D-6E8A-4147-A177-3AD203B41FA5}">
                      <a16:colId xmlns:a16="http://schemas.microsoft.com/office/drawing/2014/main" val="68114147"/>
                    </a:ext>
                  </a:extLst>
                </a:gridCol>
                <a:gridCol w="496054">
                  <a:extLst>
                    <a:ext uri="{9D8B030D-6E8A-4147-A177-3AD203B41FA5}">
                      <a16:colId xmlns:a16="http://schemas.microsoft.com/office/drawing/2014/main" val="2594612641"/>
                    </a:ext>
                  </a:extLst>
                </a:gridCol>
                <a:gridCol w="496054">
                  <a:extLst>
                    <a:ext uri="{9D8B030D-6E8A-4147-A177-3AD203B41FA5}">
                      <a16:colId xmlns:a16="http://schemas.microsoft.com/office/drawing/2014/main" val="3406241730"/>
                    </a:ext>
                  </a:extLst>
                </a:gridCol>
                <a:gridCol w="496054">
                  <a:extLst>
                    <a:ext uri="{9D8B030D-6E8A-4147-A177-3AD203B41FA5}">
                      <a16:colId xmlns:a16="http://schemas.microsoft.com/office/drawing/2014/main" val="1150756912"/>
                    </a:ext>
                  </a:extLst>
                </a:gridCol>
                <a:gridCol w="496054">
                  <a:extLst>
                    <a:ext uri="{9D8B030D-6E8A-4147-A177-3AD203B41FA5}">
                      <a16:colId xmlns:a16="http://schemas.microsoft.com/office/drawing/2014/main" val="3451970560"/>
                    </a:ext>
                  </a:extLst>
                </a:gridCol>
                <a:gridCol w="496054">
                  <a:extLst>
                    <a:ext uri="{9D8B030D-6E8A-4147-A177-3AD203B41FA5}">
                      <a16:colId xmlns:a16="http://schemas.microsoft.com/office/drawing/2014/main" val="2047799161"/>
                    </a:ext>
                  </a:extLst>
                </a:gridCol>
                <a:gridCol w="496054">
                  <a:extLst>
                    <a:ext uri="{9D8B030D-6E8A-4147-A177-3AD203B41FA5}">
                      <a16:colId xmlns:a16="http://schemas.microsoft.com/office/drawing/2014/main" val="1667249743"/>
                    </a:ext>
                  </a:extLst>
                </a:gridCol>
                <a:gridCol w="496054">
                  <a:extLst>
                    <a:ext uri="{9D8B030D-6E8A-4147-A177-3AD203B41FA5}">
                      <a16:colId xmlns:a16="http://schemas.microsoft.com/office/drawing/2014/main" val="701437389"/>
                    </a:ext>
                  </a:extLst>
                </a:gridCol>
                <a:gridCol w="497100">
                  <a:extLst>
                    <a:ext uri="{9D8B030D-6E8A-4147-A177-3AD203B41FA5}">
                      <a16:colId xmlns:a16="http://schemas.microsoft.com/office/drawing/2014/main" val="291700949"/>
                    </a:ext>
                  </a:extLst>
                </a:gridCol>
                <a:gridCol w="496054">
                  <a:extLst>
                    <a:ext uri="{9D8B030D-6E8A-4147-A177-3AD203B41FA5}">
                      <a16:colId xmlns:a16="http://schemas.microsoft.com/office/drawing/2014/main" val="722732300"/>
                    </a:ext>
                  </a:extLst>
                </a:gridCol>
                <a:gridCol w="496054">
                  <a:extLst>
                    <a:ext uri="{9D8B030D-6E8A-4147-A177-3AD203B41FA5}">
                      <a16:colId xmlns:a16="http://schemas.microsoft.com/office/drawing/2014/main" val="204249892"/>
                    </a:ext>
                  </a:extLst>
                </a:gridCol>
                <a:gridCol w="496054">
                  <a:extLst>
                    <a:ext uri="{9D8B030D-6E8A-4147-A177-3AD203B41FA5}">
                      <a16:colId xmlns:a16="http://schemas.microsoft.com/office/drawing/2014/main" val="258106944"/>
                    </a:ext>
                  </a:extLst>
                </a:gridCol>
                <a:gridCol w="496054">
                  <a:extLst>
                    <a:ext uri="{9D8B030D-6E8A-4147-A177-3AD203B41FA5}">
                      <a16:colId xmlns:a16="http://schemas.microsoft.com/office/drawing/2014/main" val="2183424889"/>
                    </a:ext>
                  </a:extLst>
                </a:gridCol>
                <a:gridCol w="496054">
                  <a:extLst>
                    <a:ext uri="{9D8B030D-6E8A-4147-A177-3AD203B41FA5}">
                      <a16:colId xmlns:a16="http://schemas.microsoft.com/office/drawing/2014/main" val="1550457047"/>
                    </a:ext>
                  </a:extLst>
                </a:gridCol>
                <a:gridCol w="496054">
                  <a:extLst>
                    <a:ext uri="{9D8B030D-6E8A-4147-A177-3AD203B41FA5}">
                      <a16:colId xmlns:a16="http://schemas.microsoft.com/office/drawing/2014/main" val="2899739583"/>
                    </a:ext>
                  </a:extLst>
                </a:gridCol>
                <a:gridCol w="496054">
                  <a:extLst>
                    <a:ext uri="{9D8B030D-6E8A-4147-A177-3AD203B41FA5}">
                      <a16:colId xmlns:a16="http://schemas.microsoft.com/office/drawing/2014/main" val="2610593859"/>
                    </a:ext>
                  </a:extLst>
                </a:gridCol>
                <a:gridCol w="497100">
                  <a:extLst>
                    <a:ext uri="{9D8B030D-6E8A-4147-A177-3AD203B41FA5}">
                      <a16:colId xmlns:a16="http://schemas.microsoft.com/office/drawing/2014/main" val="2795337115"/>
                    </a:ext>
                  </a:extLst>
                </a:gridCol>
              </a:tblGrid>
              <a:tr h="238473">
                <a:tc>
                  <a:txBody>
                    <a:bodyPr/>
                    <a:lstStyle/>
                    <a:p>
                      <a:pPr algn="just">
                        <a:lnSpc>
                          <a:spcPct val="150000"/>
                        </a:lnSpc>
                        <a:spcAft>
                          <a:spcPts val="800"/>
                        </a:spcAft>
                        <a:buNone/>
                      </a:pPr>
                      <a:r>
                        <a:rPr lang="en-GB" sz="1400" b="1" dirty="0">
                          <a:effectLst/>
                          <a:latin typeface="Garamond" panose="02020404030301010803" pitchFamily="18" charset="0"/>
                          <a:ea typeface="Calibri" panose="020F0502020204030204" pitchFamily="34" charset="0"/>
                          <a:cs typeface="Arial" panose="020B0604020202020204" pitchFamily="34" charset="0"/>
                        </a:rPr>
                        <a:t> </a:t>
                      </a:r>
                      <a:endParaRPr lang="en-GB" sz="1600" dirty="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tc gridSpan="8">
                  <a:txBody>
                    <a:bodyPr/>
                    <a:lstStyle/>
                    <a:p>
                      <a:pPr algn="just">
                        <a:lnSpc>
                          <a:spcPct val="150000"/>
                        </a:lnSpc>
                        <a:spcAft>
                          <a:spcPts val="800"/>
                        </a:spcAft>
                        <a:buNone/>
                      </a:pPr>
                      <a:r>
                        <a:rPr lang="en-GB" sz="1400" b="1">
                          <a:solidFill>
                            <a:srgbClr val="000000"/>
                          </a:solidFill>
                          <a:effectLst/>
                          <a:latin typeface="Garamond" panose="02020404030301010803" pitchFamily="18" charset="0"/>
                          <a:ea typeface="Calibri" panose="020F0502020204030204" pitchFamily="34" charset="0"/>
                          <a:cs typeface="Arial" panose="020B0604020202020204" pitchFamily="34" charset="0"/>
                        </a:rPr>
                        <a:t>RCP 2.6 (low carbon scenario)</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gridSpan="8">
                  <a:txBody>
                    <a:bodyPr/>
                    <a:lstStyle/>
                    <a:p>
                      <a:pPr algn="just">
                        <a:lnSpc>
                          <a:spcPct val="150000"/>
                        </a:lnSpc>
                        <a:spcAft>
                          <a:spcPts val="800"/>
                        </a:spcAft>
                        <a:buNone/>
                      </a:pPr>
                      <a:r>
                        <a:rPr lang="en-GB" sz="1400" b="1">
                          <a:solidFill>
                            <a:srgbClr val="000000"/>
                          </a:solidFill>
                          <a:effectLst/>
                          <a:latin typeface="Garamond" panose="02020404030301010803" pitchFamily="18" charset="0"/>
                          <a:ea typeface="Calibri" panose="020F0502020204030204" pitchFamily="34" charset="0"/>
                          <a:cs typeface="Arial" panose="020B0604020202020204" pitchFamily="34" charset="0"/>
                        </a:rPr>
                        <a:t>RCP 8.5 (high carbon scenario)</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260955388"/>
                  </a:ext>
                </a:extLst>
              </a:tr>
              <a:tr h="297318">
                <a:tc>
                  <a:txBody>
                    <a:bodyPr/>
                    <a:lstStyle/>
                    <a:p>
                      <a:pPr algn="just">
                        <a:lnSpc>
                          <a:spcPct val="150000"/>
                        </a:lnSpc>
                        <a:spcAft>
                          <a:spcPts val="800"/>
                        </a:spcAft>
                        <a:buNone/>
                      </a:pPr>
                      <a:r>
                        <a:rPr lang="en-GB" sz="1400" b="1" dirty="0">
                          <a:effectLst/>
                          <a:latin typeface="Garamond" panose="02020404030301010803" pitchFamily="18" charset="0"/>
                          <a:ea typeface="Calibri" panose="020F0502020204030204" pitchFamily="34" charset="0"/>
                          <a:cs typeface="Arial" panose="020B0604020202020204" pitchFamily="34" charset="0"/>
                        </a:rPr>
                        <a:t> </a:t>
                      </a:r>
                      <a:endParaRPr lang="en-GB" sz="1600" dirty="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tc gridSpan="4">
                  <a:txBody>
                    <a:bodyPr/>
                    <a:lstStyle/>
                    <a:p>
                      <a:pPr algn="just">
                        <a:lnSpc>
                          <a:spcPct val="150000"/>
                        </a:lnSpc>
                        <a:spcAft>
                          <a:spcPts val="800"/>
                        </a:spcAft>
                        <a:buNone/>
                      </a:pPr>
                      <a:r>
                        <a:rPr lang="en-GB" sz="1400" b="1">
                          <a:solidFill>
                            <a:srgbClr val="000000"/>
                          </a:solidFill>
                          <a:effectLst/>
                          <a:latin typeface="Garamond" panose="02020404030301010803" pitchFamily="18" charset="0"/>
                          <a:ea typeface="Calibri" panose="020F0502020204030204" pitchFamily="34" charset="0"/>
                          <a:cs typeface="Arial" panose="020B0604020202020204" pitchFamily="34" charset="0"/>
                        </a:rPr>
                        <a:t>2020-2049</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algn="just">
                        <a:lnSpc>
                          <a:spcPct val="150000"/>
                        </a:lnSpc>
                        <a:spcAft>
                          <a:spcPts val="800"/>
                        </a:spcAft>
                        <a:buNone/>
                      </a:pPr>
                      <a:r>
                        <a:rPr lang="en-GB" sz="1400" b="1">
                          <a:solidFill>
                            <a:srgbClr val="000000"/>
                          </a:solidFill>
                          <a:effectLst/>
                          <a:latin typeface="Garamond" panose="02020404030301010803" pitchFamily="18" charset="0"/>
                          <a:ea typeface="Calibri" panose="020F0502020204030204" pitchFamily="34" charset="0"/>
                          <a:cs typeface="Arial" panose="020B0604020202020204" pitchFamily="34" charset="0"/>
                        </a:rPr>
                        <a:t>2050-2079</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algn="just">
                        <a:lnSpc>
                          <a:spcPct val="150000"/>
                        </a:lnSpc>
                        <a:spcAft>
                          <a:spcPts val="800"/>
                        </a:spcAft>
                        <a:buNone/>
                      </a:pPr>
                      <a:r>
                        <a:rPr lang="en-GB" sz="1400" b="1">
                          <a:solidFill>
                            <a:srgbClr val="000000"/>
                          </a:solidFill>
                          <a:effectLst/>
                          <a:latin typeface="Garamond" panose="02020404030301010803" pitchFamily="18" charset="0"/>
                          <a:ea typeface="Calibri" panose="020F0502020204030204" pitchFamily="34" charset="0"/>
                          <a:cs typeface="Arial" panose="020B0604020202020204" pitchFamily="34" charset="0"/>
                        </a:rPr>
                        <a:t>2020-2049</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algn="just">
                        <a:lnSpc>
                          <a:spcPct val="150000"/>
                        </a:lnSpc>
                        <a:spcAft>
                          <a:spcPts val="800"/>
                        </a:spcAft>
                        <a:buNone/>
                      </a:pPr>
                      <a:r>
                        <a:rPr lang="en-GB" sz="1400" b="1">
                          <a:solidFill>
                            <a:srgbClr val="000000"/>
                          </a:solidFill>
                          <a:effectLst/>
                          <a:latin typeface="Garamond" panose="02020404030301010803" pitchFamily="18" charset="0"/>
                          <a:ea typeface="Calibri" panose="020F0502020204030204" pitchFamily="34" charset="0"/>
                          <a:cs typeface="Arial" panose="020B0604020202020204" pitchFamily="34" charset="0"/>
                        </a:rPr>
                        <a:t>2050-2079</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797420138"/>
                  </a:ext>
                </a:extLst>
              </a:tr>
              <a:tr h="324000">
                <a:tc>
                  <a:txBody>
                    <a:bodyPr/>
                    <a:lstStyle/>
                    <a:p>
                      <a:pPr algn="just">
                        <a:lnSpc>
                          <a:spcPct val="150000"/>
                        </a:lnSpc>
                        <a:spcAft>
                          <a:spcPts val="800"/>
                        </a:spcAft>
                        <a:buNone/>
                      </a:pPr>
                      <a:r>
                        <a:rPr lang="en-GB" sz="1600" b="1" dirty="0">
                          <a:effectLst/>
                          <a:latin typeface="Garamond" panose="02020404030301010803" pitchFamily="18" charset="0"/>
                          <a:ea typeface="Calibri" panose="020F0502020204030204" pitchFamily="34" charset="0"/>
                          <a:cs typeface="Arial" panose="020B0604020202020204" pitchFamily="34" charset="0"/>
                        </a:rPr>
                        <a:t> </a:t>
                      </a:r>
                      <a:endParaRPr lang="en-GB" sz="1800" dirty="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tc>
                  <a:txBody>
                    <a:bodyPr/>
                    <a:lstStyle/>
                    <a:p>
                      <a:pPr algn="ctr">
                        <a:lnSpc>
                          <a:spcPct val="150000"/>
                        </a:lnSpc>
                        <a:spcAft>
                          <a:spcPts val="800"/>
                        </a:spcAft>
                        <a:buNone/>
                      </a:pPr>
                      <a:r>
                        <a:rPr lang="en-GB" sz="1100" b="1" dirty="0">
                          <a:solidFill>
                            <a:srgbClr val="000000"/>
                          </a:solidFill>
                          <a:effectLst/>
                          <a:latin typeface="Garamond" panose="02020404030301010803" pitchFamily="18" charset="0"/>
                          <a:ea typeface="Calibri" panose="020F0502020204030204" pitchFamily="34" charset="0"/>
                          <a:cs typeface="Arial" panose="020B0604020202020204" pitchFamily="34" charset="0"/>
                        </a:rPr>
                        <a:t>JFM</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tc>
                  <a:txBody>
                    <a:bodyPr/>
                    <a:lstStyle/>
                    <a:p>
                      <a:pPr algn="ctr">
                        <a:lnSpc>
                          <a:spcPct val="150000"/>
                        </a:lnSpc>
                        <a:spcAft>
                          <a:spcPts val="800"/>
                        </a:spcAft>
                        <a:buNone/>
                      </a:pPr>
                      <a:r>
                        <a:rPr lang="en-GB" sz="1100" b="1" dirty="0">
                          <a:solidFill>
                            <a:srgbClr val="000000"/>
                          </a:solidFill>
                          <a:effectLst/>
                          <a:latin typeface="Garamond" panose="02020404030301010803" pitchFamily="18" charset="0"/>
                          <a:ea typeface="Calibri" panose="020F0502020204030204" pitchFamily="34" charset="0"/>
                          <a:cs typeface="Arial" panose="020B0604020202020204" pitchFamily="34" charset="0"/>
                        </a:rPr>
                        <a:t>AMJ</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tc>
                  <a:txBody>
                    <a:bodyPr/>
                    <a:lstStyle/>
                    <a:p>
                      <a:pPr algn="ctr">
                        <a:lnSpc>
                          <a:spcPct val="150000"/>
                        </a:lnSpc>
                        <a:spcAft>
                          <a:spcPts val="800"/>
                        </a:spcAft>
                        <a:buNone/>
                      </a:pPr>
                      <a:r>
                        <a:rPr lang="en-GB" sz="1100" b="1" dirty="0">
                          <a:solidFill>
                            <a:srgbClr val="000000"/>
                          </a:solidFill>
                          <a:effectLst/>
                          <a:latin typeface="Garamond" panose="02020404030301010803" pitchFamily="18" charset="0"/>
                          <a:ea typeface="Calibri" panose="020F0502020204030204" pitchFamily="34" charset="0"/>
                          <a:cs typeface="Arial" panose="020B0604020202020204" pitchFamily="34" charset="0"/>
                        </a:rPr>
                        <a:t>JAS</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tc>
                  <a:txBody>
                    <a:bodyPr/>
                    <a:lstStyle/>
                    <a:p>
                      <a:pPr algn="ctr">
                        <a:lnSpc>
                          <a:spcPct val="150000"/>
                        </a:lnSpc>
                        <a:spcAft>
                          <a:spcPts val="800"/>
                        </a:spcAft>
                        <a:buNone/>
                      </a:pPr>
                      <a:r>
                        <a:rPr lang="en-GB" sz="1100" b="1" dirty="0">
                          <a:solidFill>
                            <a:srgbClr val="000000"/>
                          </a:solidFill>
                          <a:effectLst/>
                          <a:latin typeface="Garamond" panose="02020404030301010803" pitchFamily="18" charset="0"/>
                          <a:ea typeface="Calibri" panose="020F0502020204030204" pitchFamily="34" charset="0"/>
                          <a:cs typeface="Arial" panose="020B0604020202020204" pitchFamily="34" charset="0"/>
                        </a:rPr>
                        <a:t>OND</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tc>
                  <a:txBody>
                    <a:bodyPr/>
                    <a:lstStyle/>
                    <a:p>
                      <a:pPr algn="ctr">
                        <a:lnSpc>
                          <a:spcPct val="150000"/>
                        </a:lnSpc>
                        <a:spcAft>
                          <a:spcPts val="800"/>
                        </a:spcAft>
                        <a:buNone/>
                      </a:pPr>
                      <a:r>
                        <a:rPr lang="en-GB" sz="1100" b="1" dirty="0">
                          <a:solidFill>
                            <a:srgbClr val="000000"/>
                          </a:solidFill>
                          <a:effectLst/>
                          <a:latin typeface="Garamond" panose="02020404030301010803" pitchFamily="18" charset="0"/>
                          <a:ea typeface="Calibri" panose="020F0502020204030204" pitchFamily="34" charset="0"/>
                          <a:cs typeface="Arial" panose="020B0604020202020204" pitchFamily="34" charset="0"/>
                        </a:rPr>
                        <a:t>JFM</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tc>
                  <a:txBody>
                    <a:bodyPr/>
                    <a:lstStyle/>
                    <a:p>
                      <a:pPr algn="ctr">
                        <a:lnSpc>
                          <a:spcPct val="150000"/>
                        </a:lnSpc>
                        <a:spcAft>
                          <a:spcPts val="800"/>
                        </a:spcAft>
                        <a:buNone/>
                      </a:pPr>
                      <a:r>
                        <a:rPr lang="en-GB" sz="1100" b="1" dirty="0">
                          <a:solidFill>
                            <a:srgbClr val="000000"/>
                          </a:solidFill>
                          <a:effectLst/>
                          <a:latin typeface="Garamond" panose="02020404030301010803" pitchFamily="18" charset="0"/>
                          <a:ea typeface="Calibri" panose="020F0502020204030204" pitchFamily="34" charset="0"/>
                          <a:cs typeface="Arial" panose="020B0604020202020204" pitchFamily="34" charset="0"/>
                        </a:rPr>
                        <a:t>AMJ</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tc>
                  <a:txBody>
                    <a:bodyPr/>
                    <a:lstStyle/>
                    <a:p>
                      <a:pPr algn="ctr">
                        <a:lnSpc>
                          <a:spcPct val="150000"/>
                        </a:lnSpc>
                        <a:spcAft>
                          <a:spcPts val="800"/>
                        </a:spcAft>
                        <a:buNone/>
                      </a:pPr>
                      <a:r>
                        <a:rPr lang="en-GB" sz="1100" b="1" dirty="0">
                          <a:solidFill>
                            <a:srgbClr val="000000"/>
                          </a:solidFill>
                          <a:effectLst/>
                          <a:latin typeface="Garamond" panose="02020404030301010803" pitchFamily="18" charset="0"/>
                          <a:ea typeface="Calibri" panose="020F0502020204030204" pitchFamily="34" charset="0"/>
                          <a:cs typeface="Arial" panose="020B0604020202020204" pitchFamily="34" charset="0"/>
                        </a:rPr>
                        <a:t>JAS</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tc>
                  <a:txBody>
                    <a:bodyPr/>
                    <a:lstStyle/>
                    <a:p>
                      <a:pPr algn="ctr">
                        <a:lnSpc>
                          <a:spcPct val="150000"/>
                        </a:lnSpc>
                        <a:spcAft>
                          <a:spcPts val="800"/>
                        </a:spcAft>
                        <a:buNone/>
                      </a:pPr>
                      <a:r>
                        <a:rPr lang="en-GB" sz="1100" b="1">
                          <a:solidFill>
                            <a:srgbClr val="000000"/>
                          </a:solidFill>
                          <a:effectLst/>
                          <a:latin typeface="Garamond" panose="02020404030301010803" pitchFamily="18" charset="0"/>
                          <a:ea typeface="Calibri" panose="020F0502020204030204" pitchFamily="34" charset="0"/>
                          <a:cs typeface="Arial" panose="020B0604020202020204" pitchFamily="34" charset="0"/>
                        </a:rPr>
                        <a:t>OND</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tc>
                  <a:txBody>
                    <a:bodyPr/>
                    <a:lstStyle/>
                    <a:p>
                      <a:pPr algn="ctr">
                        <a:lnSpc>
                          <a:spcPct val="150000"/>
                        </a:lnSpc>
                        <a:spcAft>
                          <a:spcPts val="800"/>
                        </a:spcAft>
                        <a:buNone/>
                      </a:pPr>
                      <a:r>
                        <a:rPr lang="en-GB" sz="1100" b="1" dirty="0">
                          <a:solidFill>
                            <a:srgbClr val="000000"/>
                          </a:solidFill>
                          <a:effectLst/>
                          <a:latin typeface="Garamond" panose="02020404030301010803" pitchFamily="18" charset="0"/>
                          <a:ea typeface="Calibri" panose="020F0502020204030204" pitchFamily="34" charset="0"/>
                          <a:cs typeface="Arial" panose="020B0604020202020204" pitchFamily="34" charset="0"/>
                        </a:rPr>
                        <a:t>JFM</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tc>
                  <a:txBody>
                    <a:bodyPr/>
                    <a:lstStyle/>
                    <a:p>
                      <a:pPr algn="ctr">
                        <a:lnSpc>
                          <a:spcPct val="150000"/>
                        </a:lnSpc>
                        <a:spcAft>
                          <a:spcPts val="800"/>
                        </a:spcAft>
                        <a:buNone/>
                      </a:pPr>
                      <a:r>
                        <a:rPr lang="en-GB" sz="1100" b="1" dirty="0">
                          <a:solidFill>
                            <a:srgbClr val="000000"/>
                          </a:solidFill>
                          <a:effectLst/>
                          <a:latin typeface="Garamond" panose="02020404030301010803" pitchFamily="18" charset="0"/>
                          <a:ea typeface="Calibri" panose="020F0502020204030204" pitchFamily="34" charset="0"/>
                          <a:cs typeface="Arial" panose="020B0604020202020204" pitchFamily="34" charset="0"/>
                        </a:rPr>
                        <a:t>AMJ</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tc>
                  <a:txBody>
                    <a:bodyPr/>
                    <a:lstStyle/>
                    <a:p>
                      <a:pPr algn="ctr">
                        <a:lnSpc>
                          <a:spcPct val="150000"/>
                        </a:lnSpc>
                        <a:spcAft>
                          <a:spcPts val="800"/>
                        </a:spcAft>
                        <a:buNone/>
                      </a:pPr>
                      <a:r>
                        <a:rPr lang="en-GB" sz="1100" b="1" dirty="0">
                          <a:solidFill>
                            <a:srgbClr val="000000"/>
                          </a:solidFill>
                          <a:effectLst/>
                          <a:latin typeface="Garamond" panose="02020404030301010803" pitchFamily="18" charset="0"/>
                          <a:ea typeface="Calibri" panose="020F0502020204030204" pitchFamily="34" charset="0"/>
                          <a:cs typeface="Arial" panose="020B0604020202020204" pitchFamily="34" charset="0"/>
                        </a:rPr>
                        <a:t>JAS</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tc>
                  <a:txBody>
                    <a:bodyPr/>
                    <a:lstStyle/>
                    <a:p>
                      <a:pPr algn="ctr">
                        <a:lnSpc>
                          <a:spcPct val="150000"/>
                        </a:lnSpc>
                        <a:spcAft>
                          <a:spcPts val="800"/>
                        </a:spcAft>
                        <a:buNone/>
                      </a:pPr>
                      <a:r>
                        <a:rPr lang="en-GB" sz="1100" b="1" dirty="0">
                          <a:solidFill>
                            <a:srgbClr val="000000"/>
                          </a:solidFill>
                          <a:effectLst/>
                          <a:latin typeface="Garamond" panose="02020404030301010803" pitchFamily="18" charset="0"/>
                          <a:ea typeface="Calibri" panose="020F0502020204030204" pitchFamily="34" charset="0"/>
                          <a:cs typeface="Arial" panose="020B0604020202020204" pitchFamily="34" charset="0"/>
                        </a:rPr>
                        <a:t>OND</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tc>
                  <a:txBody>
                    <a:bodyPr/>
                    <a:lstStyle/>
                    <a:p>
                      <a:pPr algn="ctr">
                        <a:lnSpc>
                          <a:spcPct val="150000"/>
                        </a:lnSpc>
                        <a:spcAft>
                          <a:spcPts val="800"/>
                        </a:spcAft>
                        <a:buNone/>
                      </a:pPr>
                      <a:r>
                        <a:rPr lang="en-GB" sz="1100" b="1" dirty="0">
                          <a:solidFill>
                            <a:srgbClr val="000000"/>
                          </a:solidFill>
                          <a:effectLst/>
                          <a:latin typeface="Garamond" panose="02020404030301010803" pitchFamily="18" charset="0"/>
                          <a:ea typeface="Calibri" panose="020F0502020204030204" pitchFamily="34" charset="0"/>
                          <a:cs typeface="Arial" panose="020B0604020202020204" pitchFamily="34" charset="0"/>
                        </a:rPr>
                        <a:t>JFM</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tc>
                  <a:txBody>
                    <a:bodyPr/>
                    <a:lstStyle/>
                    <a:p>
                      <a:pPr algn="ctr">
                        <a:lnSpc>
                          <a:spcPct val="150000"/>
                        </a:lnSpc>
                        <a:spcAft>
                          <a:spcPts val="800"/>
                        </a:spcAft>
                        <a:buNone/>
                      </a:pPr>
                      <a:r>
                        <a:rPr lang="en-GB" sz="1100" b="1" dirty="0">
                          <a:solidFill>
                            <a:srgbClr val="000000"/>
                          </a:solidFill>
                          <a:effectLst/>
                          <a:latin typeface="Garamond" panose="02020404030301010803" pitchFamily="18" charset="0"/>
                          <a:ea typeface="Calibri" panose="020F0502020204030204" pitchFamily="34" charset="0"/>
                          <a:cs typeface="Arial" panose="020B0604020202020204" pitchFamily="34" charset="0"/>
                        </a:rPr>
                        <a:t>AMJ</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tc>
                  <a:txBody>
                    <a:bodyPr/>
                    <a:lstStyle/>
                    <a:p>
                      <a:pPr algn="ctr">
                        <a:lnSpc>
                          <a:spcPct val="150000"/>
                        </a:lnSpc>
                        <a:spcAft>
                          <a:spcPts val="800"/>
                        </a:spcAft>
                        <a:buNone/>
                      </a:pPr>
                      <a:r>
                        <a:rPr lang="en-GB" sz="1100" b="1" dirty="0">
                          <a:solidFill>
                            <a:srgbClr val="000000"/>
                          </a:solidFill>
                          <a:effectLst/>
                          <a:latin typeface="Garamond" panose="02020404030301010803" pitchFamily="18" charset="0"/>
                          <a:ea typeface="Calibri" panose="020F0502020204030204" pitchFamily="34" charset="0"/>
                          <a:cs typeface="Arial" panose="020B0604020202020204" pitchFamily="34" charset="0"/>
                        </a:rPr>
                        <a:t>JAS</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tc>
                  <a:txBody>
                    <a:bodyPr/>
                    <a:lstStyle/>
                    <a:p>
                      <a:pPr algn="ctr">
                        <a:lnSpc>
                          <a:spcPct val="150000"/>
                        </a:lnSpc>
                        <a:spcAft>
                          <a:spcPts val="800"/>
                        </a:spcAft>
                        <a:buNone/>
                      </a:pPr>
                      <a:r>
                        <a:rPr lang="en-GB" sz="1100" b="1" dirty="0">
                          <a:solidFill>
                            <a:srgbClr val="000000"/>
                          </a:solidFill>
                          <a:effectLst/>
                          <a:latin typeface="Garamond" panose="02020404030301010803" pitchFamily="18" charset="0"/>
                          <a:ea typeface="Calibri" panose="020F0502020204030204" pitchFamily="34" charset="0"/>
                          <a:cs typeface="Arial" panose="020B0604020202020204" pitchFamily="34" charset="0"/>
                        </a:rPr>
                        <a:t>OND</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extLst>
                  <a:ext uri="{0D108BD9-81ED-4DB2-BD59-A6C34878D82A}">
                    <a16:rowId xmlns:a16="http://schemas.microsoft.com/office/drawing/2014/main" val="3445324418"/>
                  </a:ext>
                </a:extLst>
              </a:tr>
              <a:tr h="238473">
                <a:tc>
                  <a:txBody>
                    <a:bodyPr/>
                    <a:lstStyle/>
                    <a:p>
                      <a:pPr algn="just">
                        <a:lnSpc>
                          <a:spcPct val="150000"/>
                        </a:lnSpc>
                        <a:spcAft>
                          <a:spcPts val="800"/>
                        </a:spcAft>
                        <a:buNone/>
                      </a:pPr>
                      <a:r>
                        <a:rPr lang="en-GB" sz="1400" b="1">
                          <a:effectLst/>
                          <a:latin typeface="Garamond" panose="02020404030301010803" pitchFamily="18" charset="0"/>
                          <a:ea typeface="Calibri" panose="020F0502020204030204" pitchFamily="34" charset="0"/>
                          <a:cs typeface="Arial" panose="020B0604020202020204" pitchFamily="34" charset="0"/>
                        </a:rPr>
                        <a:t>Marine heatwave</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6.4</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7.1</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9.3</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4.2</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6.5</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8.3</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400">
                          <a:solidFill>
                            <a:srgbClr val="FFFFFF"/>
                          </a:solidFill>
                          <a:effectLst/>
                          <a:latin typeface="Garamond" panose="02020404030301010803" pitchFamily="18" charset="0"/>
                          <a:ea typeface="Calibri" panose="020F0502020204030204" pitchFamily="34" charset="0"/>
                          <a:cs typeface="Arial" panose="020B0604020202020204" pitchFamily="34" charset="0"/>
                        </a:rPr>
                        <a:t>10.4</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tc>
                  <a:txBody>
                    <a:bodyPr/>
                    <a:lstStyle/>
                    <a:p>
                      <a:pPr algn="just">
                        <a:lnSpc>
                          <a:spcPct val="150000"/>
                        </a:lnSpc>
                        <a:spcAft>
                          <a:spcPts val="800"/>
                        </a:spcAft>
                        <a:buNone/>
                      </a:pPr>
                      <a:r>
                        <a:rPr lang="en-GB" sz="1400" dirty="0">
                          <a:solidFill>
                            <a:srgbClr val="000000"/>
                          </a:solidFill>
                          <a:effectLst/>
                          <a:latin typeface="Garamond" panose="02020404030301010803" pitchFamily="18" charset="0"/>
                          <a:ea typeface="Calibri" panose="020F0502020204030204" pitchFamily="34" charset="0"/>
                          <a:cs typeface="Arial" panose="020B0604020202020204" pitchFamily="34" charset="0"/>
                        </a:rPr>
                        <a:t>5.3</a:t>
                      </a:r>
                      <a:endParaRPr lang="en-GB" sz="1600" dirty="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5.2</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6.8</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400" dirty="0">
                          <a:solidFill>
                            <a:srgbClr val="FFFFFF"/>
                          </a:solidFill>
                          <a:effectLst/>
                          <a:latin typeface="Garamond" panose="02020404030301010803" pitchFamily="18" charset="0"/>
                          <a:ea typeface="Calibri" panose="020F0502020204030204" pitchFamily="34" charset="0"/>
                          <a:cs typeface="Arial" panose="020B0604020202020204" pitchFamily="34" charset="0"/>
                        </a:rPr>
                        <a:t>10.0</a:t>
                      </a:r>
                      <a:endParaRPr lang="en-GB" sz="1600" dirty="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3.8</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just">
                        <a:lnSpc>
                          <a:spcPct val="150000"/>
                        </a:lnSpc>
                        <a:spcAft>
                          <a:spcPts val="800"/>
                        </a:spcAft>
                        <a:buNone/>
                      </a:pPr>
                      <a:r>
                        <a:rPr lang="en-GB" sz="1400" dirty="0">
                          <a:solidFill>
                            <a:srgbClr val="000000"/>
                          </a:solidFill>
                          <a:effectLst/>
                          <a:latin typeface="Garamond" panose="02020404030301010803" pitchFamily="18" charset="0"/>
                          <a:ea typeface="Calibri" panose="020F0502020204030204" pitchFamily="34" charset="0"/>
                          <a:cs typeface="Arial" panose="020B0604020202020204" pitchFamily="34" charset="0"/>
                        </a:rPr>
                        <a:t>5.7</a:t>
                      </a:r>
                      <a:endParaRPr lang="en-GB" sz="1600" dirty="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400" dirty="0">
                          <a:solidFill>
                            <a:srgbClr val="000000"/>
                          </a:solidFill>
                          <a:effectLst/>
                          <a:latin typeface="Garamond" panose="02020404030301010803" pitchFamily="18" charset="0"/>
                          <a:ea typeface="Calibri" panose="020F0502020204030204" pitchFamily="34" charset="0"/>
                          <a:cs typeface="Arial" panose="020B0604020202020204" pitchFamily="34" charset="0"/>
                        </a:rPr>
                        <a:t>6.9</a:t>
                      </a:r>
                      <a:endParaRPr lang="en-GB" sz="1600" dirty="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400">
                          <a:solidFill>
                            <a:srgbClr val="FFFFFF"/>
                          </a:solidFill>
                          <a:effectLst/>
                          <a:latin typeface="Garamond" panose="02020404030301010803" pitchFamily="18" charset="0"/>
                          <a:ea typeface="Calibri" panose="020F0502020204030204" pitchFamily="34" charset="0"/>
                          <a:cs typeface="Arial" panose="020B0604020202020204" pitchFamily="34" charset="0"/>
                        </a:rPr>
                        <a:t>12.5</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6.2</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2916873034"/>
                  </a:ext>
                </a:extLst>
              </a:tr>
              <a:tr h="238473">
                <a:tc>
                  <a:txBody>
                    <a:bodyPr/>
                    <a:lstStyle/>
                    <a:p>
                      <a:pPr algn="just">
                        <a:lnSpc>
                          <a:spcPct val="150000"/>
                        </a:lnSpc>
                        <a:spcAft>
                          <a:spcPts val="800"/>
                        </a:spcAft>
                        <a:buNone/>
                      </a:pPr>
                      <a:r>
                        <a:rPr lang="en-GB" sz="1400" b="1">
                          <a:effectLst/>
                          <a:latin typeface="Garamond" panose="02020404030301010803" pitchFamily="18" charset="0"/>
                          <a:ea typeface="Calibri" panose="020F0502020204030204" pitchFamily="34" charset="0"/>
                          <a:cs typeface="Arial" panose="020B0604020202020204" pitchFamily="34" charset="0"/>
                        </a:rPr>
                        <a:t>Marine cold spell</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0.26</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0.30</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0.27</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0.20</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0.22</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0.30</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0.27</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0.20</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0.42</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0.30</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0.27</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0.20</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0.22</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0.30</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0.27</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0.20</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01174873"/>
                  </a:ext>
                </a:extLst>
              </a:tr>
              <a:tr h="501702">
                <a:tc>
                  <a:txBody>
                    <a:bodyPr/>
                    <a:lstStyle/>
                    <a:p>
                      <a:pPr algn="just">
                        <a:lnSpc>
                          <a:spcPct val="150000"/>
                        </a:lnSpc>
                        <a:spcAft>
                          <a:spcPts val="800"/>
                        </a:spcAft>
                        <a:buNone/>
                      </a:pPr>
                      <a:r>
                        <a:rPr lang="en-GB" sz="1400" b="1">
                          <a:effectLst/>
                          <a:latin typeface="Garamond" panose="02020404030301010803" pitchFamily="18" charset="0"/>
                          <a:ea typeface="Calibri" panose="020F0502020204030204" pitchFamily="34" charset="0"/>
                          <a:cs typeface="Arial" panose="020B0604020202020204" pitchFamily="34" charset="0"/>
                        </a:rPr>
                        <a:t>High oxygen streak</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0.38</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0.35</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0.34</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0.60</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0.38</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0.35</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0.34</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0.60</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0.46</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0.35</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0.34</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0.50</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0.38</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0.35</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0.34</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0.60</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20557668"/>
                  </a:ext>
                </a:extLst>
              </a:tr>
              <a:tr h="501702">
                <a:tc>
                  <a:txBody>
                    <a:bodyPr/>
                    <a:lstStyle/>
                    <a:p>
                      <a:pPr algn="just">
                        <a:lnSpc>
                          <a:spcPct val="150000"/>
                        </a:lnSpc>
                        <a:spcAft>
                          <a:spcPts val="800"/>
                        </a:spcAft>
                        <a:buNone/>
                      </a:pPr>
                      <a:r>
                        <a:rPr lang="en-GB" sz="1400" b="1">
                          <a:effectLst/>
                          <a:latin typeface="Garamond" panose="02020404030301010803" pitchFamily="18" charset="0"/>
                          <a:ea typeface="Calibri" panose="020F0502020204030204" pitchFamily="34" charset="0"/>
                          <a:cs typeface="Arial" panose="020B0604020202020204" pitchFamily="34" charset="0"/>
                        </a:rPr>
                        <a:t>Low oxygen streak</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6.5</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400">
                          <a:solidFill>
                            <a:srgbClr val="FFFFFF"/>
                          </a:solidFill>
                          <a:effectLst/>
                          <a:latin typeface="Garamond" panose="02020404030301010803" pitchFamily="18" charset="0"/>
                          <a:ea typeface="Calibri" panose="020F0502020204030204" pitchFamily="34" charset="0"/>
                          <a:cs typeface="Arial" panose="020B0604020202020204" pitchFamily="34" charset="0"/>
                        </a:rPr>
                        <a:t>15.6</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8.9</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400">
                          <a:solidFill>
                            <a:srgbClr val="FFFFFF"/>
                          </a:solidFill>
                          <a:effectLst/>
                          <a:latin typeface="Garamond" panose="02020404030301010803" pitchFamily="18" charset="0"/>
                          <a:ea typeface="Calibri" panose="020F0502020204030204" pitchFamily="34" charset="0"/>
                          <a:cs typeface="Arial" panose="020B0604020202020204" pitchFamily="34" charset="0"/>
                        </a:rPr>
                        <a:t>16.4</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7.9</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400">
                          <a:solidFill>
                            <a:srgbClr val="FFFFFF"/>
                          </a:solidFill>
                          <a:effectLst/>
                          <a:latin typeface="Garamond" panose="02020404030301010803" pitchFamily="18" charset="0"/>
                          <a:ea typeface="Calibri" panose="020F0502020204030204" pitchFamily="34" charset="0"/>
                          <a:cs typeface="Arial" panose="020B0604020202020204" pitchFamily="34" charset="0"/>
                        </a:rPr>
                        <a:t>18.5</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tc>
                  <a:txBody>
                    <a:bodyPr/>
                    <a:lstStyle/>
                    <a:p>
                      <a:pPr algn="just">
                        <a:lnSpc>
                          <a:spcPct val="150000"/>
                        </a:lnSpc>
                        <a:spcAft>
                          <a:spcPts val="800"/>
                        </a:spcAft>
                        <a:buNone/>
                      </a:pPr>
                      <a:r>
                        <a:rPr lang="en-GB" sz="1400">
                          <a:solidFill>
                            <a:srgbClr val="FFFFFF"/>
                          </a:solidFill>
                          <a:effectLst/>
                          <a:latin typeface="Garamond" panose="02020404030301010803" pitchFamily="18" charset="0"/>
                          <a:ea typeface="Calibri" panose="020F0502020204030204" pitchFamily="34" charset="0"/>
                          <a:cs typeface="Arial" panose="020B0604020202020204" pitchFamily="34" charset="0"/>
                        </a:rPr>
                        <a:t>10.6</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tc>
                  <a:txBody>
                    <a:bodyPr/>
                    <a:lstStyle/>
                    <a:p>
                      <a:pPr algn="just">
                        <a:lnSpc>
                          <a:spcPct val="150000"/>
                        </a:lnSpc>
                        <a:spcAft>
                          <a:spcPts val="800"/>
                        </a:spcAft>
                        <a:buNone/>
                      </a:pPr>
                      <a:r>
                        <a:rPr lang="en-GB" sz="1400">
                          <a:solidFill>
                            <a:srgbClr val="FFFFFF"/>
                          </a:solidFill>
                          <a:effectLst/>
                          <a:latin typeface="Garamond" panose="02020404030301010803" pitchFamily="18" charset="0"/>
                          <a:ea typeface="Calibri" panose="020F0502020204030204" pitchFamily="34" charset="0"/>
                          <a:cs typeface="Arial" panose="020B0604020202020204" pitchFamily="34" charset="0"/>
                        </a:rPr>
                        <a:t>22.9</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5.9</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400">
                          <a:solidFill>
                            <a:srgbClr val="FFFFFF"/>
                          </a:solidFill>
                          <a:effectLst/>
                          <a:latin typeface="Garamond" panose="02020404030301010803" pitchFamily="18" charset="0"/>
                          <a:ea typeface="Calibri" panose="020F0502020204030204" pitchFamily="34" charset="0"/>
                          <a:cs typeface="Arial" panose="020B0604020202020204" pitchFamily="34" charset="0"/>
                        </a:rPr>
                        <a:t>13.8</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9.7</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400">
                          <a:solidFill>
                            <a:srgbClr val="FFFFFF"/>
                          </a:solidFill>
                          <a:effectLst/>
                          <a:latin typeface="Garamond" panose="02020404030301010803" pitchFamily="18" charset="0"/>
                          <a:ea typeface="Calibri" panose="020F0502020204030204" pitchFamily="34" charset="0"/>
                          <a:cs typeface="Arial" panose="020B0604020202020204" pitchFamily="34" charset="0"/>
                        </a:rPr>
                        <a:t>15.4</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tc>
                  <a:txBody>
                    <a:bodyPr/>
                    <a:lstStyle/>
                    <a:p>
                      <a:pPr algn="just">
                        <a:lnSpc>
                          <a:spcPct val="150000"/>
                        </a:lnSpc>
                        <a:spcAft>
                          <a:spcPts val="800"/>
                        </a:spcAft>
                        <a:buNone/>
                      </a:pPr>
                      <a:r>
                        <a:rPr lang="en-GB" sz="1400">
                          <a:solidFill>
                            <a:srgbClr val="FFFFFF"/>
                          </a:solidFill>
                          <a:effectLst/>
                          <a:latin typeface="Garamond" panose="02020404030301010803" pitchFamily="18" charset="0"/>
                          <a:ea typeface="Calibri" panose="020F0502020204030204" pitchFamily="34" charset="0"/>
                          <a:cs typeface="Arial" panose="020B0604020202020204" pitchFamily="34" charset="0"/>
                        </a:rPr>
                        <a:t>10.1</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tc>
                  <a:txBody>
                    <a:bodyPr/>
                    <a:lstStyle/>
                    <a:p>
                      <a:pPr algn="just">
                        <a:lnSpc>
                          <a:spcPct val="150000"/>
                        </a:lnSpc>
                        <a:spcAft>
                          <a:spcPts val="800"/>
                        </a:spcAft>
                        <a:buNone/>
                      </a:pPr>
                      <a:r>
                        <a:rPr lang="en-GB" sz="1400">
                          <a:solidFill>
                            <a:srgbClr val="FFFFFF"/>
                          </a:solidFill>
                          <a:effectLst/>
                          <a:latin typeface="Garamond" panose="02020404030301010803" pitchFamily="18" charset="0"/>
                          <a:ea typeface="Calibri" panose="020F0502020204030204" pitchFamily="34" charset="0"/>
                          <a:cs typeface="Arial" panose="020B0604020202020204" pitchFamily="34" charset="0"/>
                        </a:rPr>
                        <a:t>23.1</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tc>
                  <a:txBody>
                    <a:bodyPr/>
                    <a:lstStyle/>
                    <a:p>
                      <a:pPr algn="just">
                        <a:lnSpc>
                          <a:spcPct val="150000"/>
                        </a:lnSpc>
                        <a:spcAft>
                          <a:spcPts val="800"/>
                        </a:spcAft>
                        <a:buNone/>
                      </a:pPr>
                      <a:r>
                        <a:rPr lang="en-GB" sz="1400">
                          <a:solidFill>
                            <a:srgbClr val="FFFFFF"/>
                          </a:solidFill>
                          <a:effectLst/>
                          <a:latin typeface="Garamond" panose="02020404030301010803" pitchFamily="18" charset="0"/>
                          <a:ea typeface="Calibri" panose="020F0502020204030204" pitchFamily="34" charset="0"/>
                          <a:cs typeface="Arial" panose="020B0604020202020204" pitchFamily="34" charset="0"/>
                        </a:rPr>
                        <a:t>18.4</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tc>
                  <a:txBody>
                    <a:bodyPr/>
                    <a:lstStyle/>
                    <a:p>
                      <a:pPr algn="just">
                        <a:lnSpc>
                          <a:spcPct val="150000"/>
                        </a:lnSpc>
                        <a:spcAft>
                          <a:spcPts val="800"/>
                        </a:spcAft>
                        <a:buNone/>
                      </a:pPr>
                      <a:r>
                        <a:rPr lang="en-GB" sz="1400">
                          <a:solidFill>
                            <a:srgbClr val="FFFFFF"/>
                          </a:solidFill>
                          <a:effectLst/>
                          <a:latin typeface="Garamond" panose="02020404030301010803" pitchFamily="18" charset="0"/>
                          <a:ea typeface="Calibri" panose="020F0502020204030204" pitchFamily="34" charset="0"/>
                          <a:cs typeface="Arial" panose="020B0604020202020204" pitchFamily="34" charset="0"/>
                        </a:rPr>
                        <a:t>23.6</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3714709431"/>
                  </a:ext>
                </a:extLst>
              </a:tr>
              <a:tr h="238473">
                <a:tc>
                  <a:txBody>
                    <a:bodyPr/>
                    <a:lstStyle/>
                    <a:p>
                      <a:pPr algn="just">
                        <a:lnSpc>
                          <a:spcPct val="150000"/>
                        </a:lnSpc>
                        <a:spcAft>
                          <a:spcPts val="800"/>
                        </a:spcAft>
                        <a:buNone/>
                      </a:pPr>
                      <a:r>
                        <a:rPr lang="en-GB" sz="1400" b="1">
                          <a:effectLst/>
                          <a:latin typeface="Garamond" panose="02020404030301010803" pitchFamily="18" charset="0"/>
                          <a:ea typeface="Calibri" panose="020F0502020204030204" pitchFamily="34" charset="0"/>
                          <a:cs typeface="Arial" panose="020B0604020202020204" pitchFamily="34" charset="0"/>
                        </a:rPr>
                        <a:t>High pH streak</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0.25</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0.22</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0.20</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0.83</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0.25</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0.22</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0.20</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0.83</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0.25</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0.22</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0.20</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0.83</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0.25</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0.22</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0.20</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0.83</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13394113"/>
                  </a:ext>
                </a:extLst>
              </a:tr>
              <a:tr h="238473">
                <a:tc>
                  <a:txBody>
                    <a:bodyPr/>
                    <a:lstStyle/>
                    <a:p>
                      <a:pPr algn="just">
                        <a:lnSpc>
                          <a:spcPct val="150000"/>
                        </a:lnSpc>
                        <a:spcAft>
                          <a:spcPts val="800"/>
                        </a:spcAft>
                        <a:buNone/>
                      </a:pPr>
                      <a:r>
                        <a:rPr lang="en-GB" sz="1400" b="1">
                          <a:effectLst/>
                          <a:latin typeface="Garamond" panose="02020404030301010803" pitchFamily="18" charset="0"/>
                          <a:ea typeface="Calibri" panose="020F0502020204030204" pitchFamily="34" charset="0"/>
                          <a:cs typeface="Arial" panose="020B0604020202020204" pitchFamily="34" charset="0"/>
                        </a:rPr>
                        <a:t>Low pH streak</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8.6</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7.6</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6.5</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400">
                          <a:solidFill>
                            <a:srgbClr val="FFFFFF"/>
                          </a:solidFill>
                          <a:effectLst/>
                          <a:latin typeface="Garamond" panose="02020404030301010803" pitchFamily="18" charset="0"/>
                          <a:ea typeface="Calibri" panose="020F0502020204030204" pitchFamily="34" charset="0"/>
                          <a:cs typeface="Arial" panose="020B0604020202020204" pitchFamily="34" charset="0"/>
                        </a:rPr>
                        <a:t>27.7</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7.6</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7.7</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5.9</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400">
                          <a:solidFill>
                            <a:srgbClr val="FFFFFF"/>
                          </a:solidFill>
                          <a:effectLst/>
                          <a:latin typeface="Garamond" panose="02020404030301010803" pitchFamily="18" charset="0"/>
                          <a:ea typeface="Calibri" panose="020F0502020204030204" pitchFamily="34" charset="0"/>
                          <a:cs typeface="Arial" panose="020B0604020202020204" pitchFamily="34" charset="0"/>
                        </a:rPr>
                        <a:t>24.4</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8.6</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7.6</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6.4</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400">
                          <a:solidFill>
                            <a:srgbClr val="FFFFFF"/>
                          </a:solidFill>
                          <a:effectLst/>
                          <a:latin typeface="Garamond" panose="02020404030301010803" pitchFamily="18" charset="0"/>
                          <a:ea typeface="Calibri" panose="020F0502020204030204" pitchFamily="34" charset="0"/>
                          <a:cs typeface="Arial" panose="020B0604020202020204" pitchFamily="34" charset="0"/>
                        </a:rPr>
                        <a:t>25.8</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7.6</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7.6</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5.9</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400">
                          <a:solidFill>
                            <a:srgbClr val="FFFFFF"/>
                          </a:solidFill>
                          <a:effectLst/>
                          <a:latin typeface="Garamond" panose="02020404030301010803" pitchFamily="18" charset="0"/>
                          <a:ea typeface="Calibri" panose="020F0502020204030204" pitchFamily="34" charset="0"/>
                          <a:cs typeface="Arial" panose="020B0604020202020204" pitchFamily="34" charset="0"/>
                        </a:rPr>
                        <a:t>24.4</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4249005575"/>
                  </a:ext>
                </a:extLst>
              </a:tr>
              <a:tr h="501702">
                <a:tc>
                  <a:txBody>
                    <a:bodyPr/>
                    <a:lstStyle/>
                    <a:p>
                      <a:pPr algn="just">
                        <a:lnSpc>
                          <a:spcPct val="150000"/>
                        </a:lnSpc>
                        <a:spcAft>
                          <a:spcPts val="800"/>
                        </a:spcAft>
                        <a:buNone/>
                      </a:pPr>
                      <a:r>
                        <a:rPr lang="en-GB" sz="1400" b="1">
                          <a:effectLst/>
                          <a:latin typeface="Garamond" panose="02020404030301010803" pitchFamily="18" charset="0"/>
                          <a:ea typeface="Calibri" panose="020F0502020204030204" pitchFamily="34" charset="0"/>
                          <a:cs typeface="Arial" panose="020B0604020202020204" pitchFamily="34" charset="0"/>
                        </a:rPr>
                        <a:t>High salinity streak</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0.88</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1.0</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1.1</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2.0</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0.88</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1.0</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1.1</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2.3</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0.88</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1.0</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0.75</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2.0</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0.88</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1.0</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0.83</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2.4</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587584377"/>
                  </a:ext>
                </a:extLst>
              </a:tr>
              <a:tr h="501702">
                <a:tc>
                  <a:txBody>
                    <a:bodyPr/>
                    <a:lstStyle/>
                    <a:p>
                      <a:pPr algn="just">
                        <a:lnSpc>
                          <a:spcPct val="150000"/>
                        </a:lnSpc>
                        <a:spcAft>
                          <a:spcPts val="800"/>
                        </a:spcAft>
                        <a:buNone/>
                      </a:pPr>
                      <a:r>
                        <a:rPr lang="en-GB" sz="1400" b="1">
                          <a:effectLst/>
                          <a:latin typeface="Garamond" panose="02020404030301010803" pitchFamily="18" charset="0"/>
                          <a:ea typeface="Calibri" panose="020F0502020204030204" pitchFamily="34" charset="0"/>
                          <a:cs typeface="Arial" panose="020B0604020202020204" pitchFamily="34" charset="0"/>
                        </a:rPr>
                        <a:t>Low salinity streak</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2.8</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2.6</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2.5</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0.83</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2.3</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3.2</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1.5</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0.92</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4.5</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6.8</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400">
                          <a:solidFill>
                            <a:srgbClr val="000000"/>
                          </a:solidFill>
                          <a:effectLst/>
                          <a:latin typeface="Garamond" panose="02020404030301010803" pitchFamily="18" charset="0"/>
                          <a:ea typeface="Calibri" panose="020F0502020204030204" pitchFamily="34" charset="0"/>
                          <a:cs typeface="Arial" panose="020B0604020202020204" pitchFamily="34" charset="0"/>
                        </a:rPr>
                        <a:t>5.2</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400">
                          <a:effectLst/>
                          <a:latin typeface="Garamond" panose="02020404030301010803" pitchFamily="18" charset="0"/>
                          <a:ea typeface="Calibri" panose="020F0502020204030204" pitchFamily="34" charset="0"/>
                          <a:cs typeface="Arial" panose="020B0604020202020204" pitchFamily="34" charset="0"/>
                        </a:rPr>
                        <a:t>1.8</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400">
                          <a:solidFill>
                            <a:srgbClr val="FFFFFF"/>
                          </a:solidFill>
                          <a:effectLst/>
                          <a:latin typeface="Garamond" panose="02020404030301010803" pitchFamily="18" charset="0"/>
                          <a:ea typeface="Calibri" panose="020F0502020204030204" pitchFamily="34" charset="0"/>
                          <a:cs typeface="Arial" panose="020B0604020202020204" pitchFamily="34" charset="0"/>
                        </a:rPr>
                        <a:t>13.6</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tc>
                  <a:txBody>
                    <a:bodyPr/>
                    <a:lstStyle/>
                    <a:p>
                      <a:pPr algn="just">
                        <a:lnSpc>
                          <a:spcPct val="150000"/>
                        </a:lnSpc>
                        <a:spcAft>
                          <a:spcPts val="800"/>
                        </a:spcAft>
                        <a:buNone/>
                      </a:pPr>
                      <a:r>
                        <a:rPr lang="en-GB" sz="1400">
                          <a:solidFill>
                            <a:srgbClr val="FFFFFF"/>
                          </a:solidFill>
                          <a:effectLst/>
                          <a:latin typeface="Garamond" panose="02020404030301010803" pitchFamily="18" charset="0"/>
                          <a:ea typeface="Calibri" panose="020F0502020204030204" pitchFamily="34" charset="0"/>
                          <a:cs typeface="Arial" panose="020B0604020202020204" pitchFamily="34" charset="0"/>
                        </a:rPr>
                        <a:t>20.9</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tc>
                  <a:txBody>
                    <a:bodyPr/>
                    <a:lstStyle/>
                    <a:p>
                      <a:pPr algn="just">
                        <a:lnSpc>
                          <a:spcPct val="150000"/>
                        </a:lnSpc>
                        <a:spcAft>
                          <a:spcPts val="800"/>
                        </a:spcAft>
                        <a:buNone/>
                      </a:pPr>
                      <a:r>
                        <a:rPr lang="en-GB" sz="1400">
                          <a:solidFill>
                            <a:srgbClr val="FFFFFF"/>
                          </a:solidFill>
                          <a:effectLst/>
                          <a:latin typeface="Garamond" panose="02020404030301010803" pitchFamily="18" charset="0"/>
                          <a:ea typeface="Calibri" panose="020F0502020204030204" pitchFamily="34" charset="0"/>
                          <a:cs typeface="Arial" panose="020B0604020202020204" pitchFamily="34" charset="0"/>
                        </a:rPr>
                        <a:t>17.5</a:t>
                      </a:r>
                      <a:endParaRPr lang="en-GB" sz="160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tc>
                  <a:txBody>
                    <a:bodyPr/>
                    <a:lstStyle/>
                    <a:p>
                      <a:pPr algn="just">
                        <a:lnSpc>
                          <a:spcPct val="150000"/>
                        </a:lnSpc>
                        <a:spcAft>
                          <a:spcPts val="800"/>
                        </a:spcAft>
                        <a:buNone/>
                      </a:pPr>
                      <a:r>
                        <a:rPr lang="en-GB" sz="1400" dirty="0">
                          <a:solidFill>
                            <a:srgbClr val="000000"/>
                          </a:solidFill>
                          <a:effectLst/>
                          <a:latin typeface="Garamond" panose="02020404030301010803" pitchFamily="18" charset="0"/>
                          <a:ea typeface="Calibri" panose="020F0502020204030204" pitchFamily="34" charset="0"/>
                          <a:cs typeface="Arial" panose="020B0604020202020204" pitchFamily="34" charset="0"/>
                        </a:rPr>
                        <a:t>2.3</a:t>
                      </a:r>
                      <a:endParaRPr lang="en-GB" sz="1600" dirty="0">
                        <a:effectLst/>
                        <a:latin typeface="Garamond" panose="02020404030301010803" pitchFamily="18" charset="0"/>
                        <a:ea typeface="Calibri" panose="020F0502020204030204" pitchFamily="34" charset="0"/>
                        <a:cs typeface="Arial" panose="020B0604020202020204" pitchFamily="34" charset="0"/>
                      </a:endParaRPr>
                    </a:p>
                  </a:txBody>
                  <a:tcPr marL="52107" marR="5210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716056619"/>
                  </a:ext>
                </a:extLst>
              </a:tr>
            </a:tbl>
          </a:graphicData>
        </a:graphic>
      </p:graphicFrame>
    </p:spTree>
    <p:extLst>
      <p:ext uri="{BB962C8B-B14F-4D97-AF65-F5344CB8AC3E}">
        <p14:creationId xmlns:p14="http://schemas.microsoft.com/office/powerpoint/2010/main" val="2914907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43415-383E-9F3A-6063-F6DE642910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639597-57ED-0A4B-54BB-C49E2BC6658E}"/>
              </a:ext>
            </a:extLst>
          </p:cNvPr>
          <p:cNvSpPr>
            <a:spLocks noGrp="1"/>
          </p:cNvSpPr>
          <p:nvPr>
            <p:ph type="title"/>
          </p:nvPr>
        </p:nvSpPr>
        <p:spPr>
          <a:xfrm>
            <a:off x="864156" y="521846"/>
            <a:ext cx="5646576" cy="1325563"/>
          </a:xfrm>
        </p:spPr>
        <p:txBody>
          <a:bodyPr>
            <a:normAutofit/>
          </a:bodyPr>
          <a:lstStyle/>
          <a:p>
            <a:r>
              <a:rPr lang="en-US" sz="3200" b="1" dirty="0">
                <a:solidFill>
                  <a:srgbClr val="0070C0"/>
                </a:solidFill>
                <a:latin typeface="Arial" panose="020B0604020202020204" pitchFamily="34" charset="0"/>
                <a:cs typeface="Arial" panose="020B0604020202020204" pitchFamily="34" charset="0"/>
              </a:rPr>
              <a:t>Fish impact analysis</a:t>
            </a:r>
          </a:p>
        </p:txBody>
      </p:sp>
      <p:sp>
        <p:nvSpPr>
          <p:cNvPr id="3" name="Content Placeholder 2">
            <a:extLst>
              <a:ext uri="{FF2B5EF4-FFF2-40B4-BE49-F238E27FC236}">
                <a16:creationId xmlns:a16="http://schemas.microsoft.com/office/drawing/2014/main" id="{658F7D0B-3588-08B0-0049-708DBA68FA54}"/>
              </a:ext>
            </a:extLst>
          </p:cNvPr>
          <p:cNvSpPr>
            <a:spLocks noGrp="1"/>
          </p:cNvSpPr>
          <p:nvPr>
            <p:ph idx="1"/>
          </p:nvPr>
        </p:nvSpPr>
        <p:spPr>
          <a:xfrm>
            <a:off x="929754" y="1847409"/>
            <a:ext cx="5515379" cy="4351338"/>
          </a:xfrm>
        </p:spPr>
        <p:txBody>
          <a:bodyPr>
            <a:normAutofit fontScale="92500" lnSpcReduction="10000"/>
          </a:bodyPr>
          <a:lstStyle/>
          <a:p>
            <a:r>
              <a:rPr lang="en-US" dirty="0">
                <a:latin typeface="Arial" panose="020B0604020202020204" pitchFamily="34" charset="0"/>
                <a:cs typeface="Arial" panose="020B0604020202020204" pitchFamily="34" charset="0"/>
              </a:rPr>
              <a:t>Climate impact on fisheries was assessed using two types of model: mechanistic and empirical</a:t>
            </a:r>
          </a:p>
          <a:p>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Mechanistic models </a:t>
            </a:r>
            <a:r>
              <a:rPr lang="en-US" dirty="0">
                <a:latin typeface="Arial" panose="020B0604020202020204" pitchFamily="34" charset="0"/>
                <a:cs typeface="Arial" panose="020B0604020202020204" pitchFamily="34" charset="0"/>
              </a:rPr>
              <a:t>– use equations that model how fish systems function and interact with climate</a:t>
            </a:r>
          </a:p>
          <a:p>
            <a:r>
              <a:rPr lang="en-US" b="1" dirty="0">
                <a:latin typeface="Arial" panose="020B0604020202020204" pitchFamily="34" charset="0"/>
                <a:cs typeface="Arial" panose="020B0604020202020204" pitchFamily="34" charset="0"/>
              </a:rPr>
              <a:t>Empirical models </a:t>
            </a:r>
            <a:r>
              <a:rPr lang="en-US" dirty="0">
                <a:latin typeface="Arial" panose="020B0604020202020204" pitchFamily="34" charset="0"/>
                <a:cs typeface="Arial" panose="020B0604020202020204" pitchFamily="34" charset="0"/>
              </a:rPr>
              <a:t>– find statistical associations between species presence and environmental parameters</a:t>
            </a:r>
          </a:p>
          <a:p>
            <a:pPr lvl="1"/>
            <a:endParaRPr lang="en-US" dirty="0">
              <a:latin typeface="Arial" panose="020B0604020202020204" pitchFamily="34" charset="0"/>
              <a:cs typeface="Arial" panose="020B0604020202020204" pitchFamily="34" charset="0"/>
            </a:endParaRPr>
          </a:p>
          <a:p>
            <a:pPr lvl="1"/>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EAE09670-A785-821A-65D0-C1B5F9BCCF82}"/>
              </a:ext>
            </a:extLst>
          </p:cNvPr>
          <p:cNvSpPr>
            <a:spLocks noGrp="1"/>
          </p:cNvSpPr>
          <p:nvPr>
            <p:ph type="sldNum" sz="quarter" idx="12"/>
          </p:nvPr>
        </p:nvSpPr>
        <p:spPr>
          <a:xfrm>
            <a:off x="9085053" y="6280393"/>
            <a:ext cx="2743200" cy="365125"/>
          </a:xfrm>
        </p:spPr>
        <p:txBody>
          <a:bodyPr/>
          <a:lstStyle/>
          <a:p>
            <a:fld id="{D51B4FB4-AA13-FE41-AF8A-525BA2FA973D}" type="slidenum">
              <a:rPr lang="en-US" smtClean="0"/>
              <a:t>13</a:t>
            </a:fld>
            <a:endParaRPr lang="en-US" dirty="0"/>
          </a:p>
        </p:txBody>
      </p:sp>
      <p:grpSp>
        <p:nvGrpSpPr>
          <p:cNvPr id="6" name="Group 5">
            <a:extLst>
              <a:ext uri="{FF2B5EF4-FFF2-40B4-BE49-F238E27FC236}">
                <a16:creationId xmlns:a16="http://schemas.microsoft.com/office/drawing/2014/main" id="{3545AF79-8BA1-55EA-8D7F-D4A9CF3452AE}"/>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AE618566-26EA-20E2-DF6F-8387115801FF}"/>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515BD8F-18AE-843A-8247-21312ABE4564}"/>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3A176A92-1BE8-9390-CAD4-C04837C21BCC}"/>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7" name="Picture 4" descr="Mechanistic Modelling of Biomass Growth, Glucose Consumption and Ethanol  Production by Kluyveromyces marxianus in Batch Fermentation">
            <a:extLst>
              <a:ext uri="{FF2B5EF4-FFF2-40B4-BE49-F238E27FC236}">
                <a16:creationId xmlns:a16="http://schemas.microsoft.com/office/drawing/2014/main" id="{D61BADDF-C5BC-0447-82E4-24C81F870A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67258" y="1407197"/>
            <a:ext cx="4028266" cy="196850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descr="A person walking with a computer&#10;&#10;AI-generated content may be incorrect.">
            <a:extLst>
              <a:ext uri="{FF2B5EF4-FFF2-40B4-BE49-F238E27FC236}">
                <a16:creationId xmlns:a16="http://schemas.microsoft.com/office/drawing/2014/main" id="{B6005A82-7AD1-F777-1367-86D6CFA8F193}"/>
              </a:ext>
            </a:extLst>
          </p:cNvPr>
          <p:cNvPicPr>
            <a:picLocks noChangeAspect="1"/>
          </p:cNvPicPr>
          <p:nvPr/>
        </p:nvPicPr>
        <p:blipFill>
          <a:blip r:embed="rId3"/>
          <a:stretch>
            <a:fillRect/>
          </a:stretch>
        </p:blipFill>
        <p:spPr>
          <a:xfrm>
            <a:off x="7267258" y="3770401"/>
            <a:ext cx="3898534" cy="2191245"/>
          </a:xfrm>
          <a:prstGeom prst="rect">
            <a:avLst/>
          </a:prstGeom>
        </p:spPr>
      </p:pic>
    </p:spTree>
    <p:extLst>
      <p:ext uri="{BB962C8B-B14F-4D97-AF65-F5344CB8AC3E}">
        <p14:creationId xmlns:p14="http://schemas.microsoft.com/office/powerpoint/2010/main" val="1473720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57FC1-7531-CD46-460C-A2E429CE02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7560CE-1936-86A2-35E0-EDFB4F62FC64}"/>
              </a:ext>
            </a:extLst>
          </p:cNvPr>
          <p:cNvSpPr>
            <a:spLocks noGrp="1"/>
          </p:cNvSpPr>
          <p:nvPr>
            <p:ph type="title"/>
          </p:nvPr>
        </p:nvSpPr>
        <p:spPr>
          <a:xfrm>
            <a:off x="874787" y="456975"/>
            <a:ext cx="10619007" cy="1325563"/>
          </a:xfrm>
        </p:spPr>
        <p:txBody>
          <a:bodyPr>
            <a:normAutofit/>
          </a:bodyPr>
          <a:lstStyle/>
          <a:p>
            <a:r>
              <a:rPr lang="en-US" sz="3200" b="1" dirty="0">
                <a:solidFill>
                  <a:srgbClr val="0070C0"/>
                </a:solidFill>
                <a:latin typeface="Arial" panose="020B0604020202020204" pitchFamily="34" charset="0"/>
                <a:cs typeface="Arial" panose="020B0604020202020204" pitchFamily="34" charset="0"/>
              </a:rPr>
              <a:t>Fisheries – climate impact (mechanistic modelling)</a:t>
            </a:r>
          </a:p>
        </p:txBody>
      </p:sp>
      <p:sp>
        <p:nvSpPr>
          <p:cNvPr id="5" name="Slide Number Placeholder 4">
            <a:extLst>
              <a:ext uri="{FF2B5EF4-FFF2-40B4-BE49-F238E27FC236}">
                <a16:creationId xmlns:a16="http://schemas.microsoft.com/office/drawing/2014/main" id="{31A7A2BE-C518-8415-361B-A9ADDA84F301}"/>
              </a:ext>
            </a:extLst>
          </p:cNvPr>
          <p:cNvSpPr>
            <a:spLocks noGrp="1"/>
          </p:cNvSpPr>
          <p:nvPr>
            <p:ph type="sldNum" sz="quarter" idx="12"/>
          </p:nvPr>
        </p:nvSpPr>
        <p:spPr>
          <a:xfrm>
            <a:off x="9136811" y="6350574"/>
            <a:ext cx="2743200" cy="365125"/>
          </a:xfrm>
        </p:spPr>
        <p:txBody>
          <a:bodyPr/>
          <a:lstStyle/>
          <a:p>
            <a:fld id="{D51B4FB4-AA13-FE41-AF8A-525BA2FA973D}" type="slidenum">
              <a:rPr lang="en-US" smtClean="0"/>
              <a:t>14</a:t>
            </a:fld>
            <a:endParaRPr lang="en-US" dirty="0"/>
          </a:p>
        </p:txBody>
      </p:sp>
      <p:grpSp>
        <p:nvGrpSpPr>
          <p:cNvPr id="6" name="Group 5">
            <a:extLst>
              <a:ext uri="{FF2B5EF4-FFF2-40B4-BE49-F238E27FC236}">
                <a16:creationId xmlns:a16="http://schemas.microsoft.com/office/drawing/2014/main" id="{36370579-FFDD-22C1-2FDD-971C14A91004}"/>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E127ACE1-F74B-5F43-34E2-9893EA41B3CA}"/>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5C8BFEE-AFA7-13FB-FAF4-463646473D96}"/>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9DC6DDA8-FD0E-9F27-E792-45234BDBCAF2}"/>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14" name="Picture 13" descr="A graph of different numbers&#10;&#10;AI-generated content may be incorrect.">
            <a:extLst>
              <a:ext uri="{FF2B5EF4-FFF2-40B4-BE49-F238E27FC236}">
                <a16:creationId xmlns:a16="http://schemas.microsoft.com/office/drawing/2014/main" id="{BEA1185F-84CB-4F33-5E1D-B57999BF5B63}"/>
              </a:ext>
            </a:extLst>
          </p:cNvPr>
          <p:cNvPicPr>
            <a:picLocks noChangeAspect="1"/>
          </p:cNvPicPr>
          <p:nvPr/>
        </p:nvPicPr>
        <p:blipFill>
          <a:blip r:embed="rId2"/>
          <a:stretch>
            <a:fillRect/>
          </a:stretch>
        </p:blipFill>
        <p:spPr>
          <a:xfrm>
            <a:off x="4080093" y="1844468"/>
            <a:ext cx="7110682" cy="4444176"/>
          </a:xfrm>
          <a:prstGeom prst="rect">
            <a:avLst/>
          </a:prstGeom>
        </p:spPr>
      </p:pic>
      <p:sp>
        <p:nvSpPr>
          <p:cNvPr id="17" name="TextBox 16">
            <a:extLst>
              <a:ext uri="{FF2B5EF4-FFF2-40B4-BE49-F238E27FC236}">
                <a16:creationId xmlns:a16="http://schemas.microsoft.com/office/drawing/2014/main" id="{79A34808-8692-5667-1AE5-B091979DD8FA}"/>
              </a:ext>
            </a:extLst>
          </p:cNvPr>
          <p:cNvSpPr txBox="1"/>
          <p:nvPr/>
        </p:nvSpPr>
        <p:spPr>
          <a:xfrm>
            <a:off x="1001225" y="1844468"/>
            <a:ext cx="2307265" cy="3970318"/>
          </a:xfrm>
          <a:prstGeom prst="rect">
            <a:avLst/>
          </a:prstGeom>
          <a:noFill/>
        </p:spPr>
        <p:txBody>
          <a:bodyPr wrap="square" rtlCol="0">
            <a:spAutoFit/>
          </a:bodyPr>
          <a:lstStyle/>
          <a:p>
            <a:r>
              <a:rPr lang="en-GB" b="1" u="sng" dirty="0">
                <a:latin typeface="Arial" panose="020B0604020202020204" pitchFamily="34" charset="0"/>
                <a:cs typeface="Arial" panose="020B0604020202020204" pitchFamily="34" charset="0"/>
              </a:rPr>
              <a:t>ISIMIP</a:t>
            </a: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Fish biomass impact models: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APECOSM</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BOATS</a:t>
            </a:r>
          </a:p>
          <a:p>
            <a:pPr marL="285750" indent="-285750">
              <a:buFont typeface="Arial" panose="020B0604020202020204" pitchFamily="34" charset="0"/>
              <a:buChar char="•"/>
            </a:pPr>
            <a:r>
              <a:rPr lang="en-GB" dirty="0" err="1">
                <a:latin typeface="Arial" panose="020B0604020202020204" pitchFamily="34" charset="0"/>
                <a:cs typeface="Arial" panose="020B0604020202020204" pitchFamily="34" charset="0"/>
              </a:rPr>
              <a:t>EcoOcean</a:t>
            </a:r>
            <a:endParaRPr lang="en-GB"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DBPM</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FEISTY</a:t>
            </a:r>
          </a:p>
          <a:p>
            <a:pPr marL="285750" indent="-285750">
              <a:buFont typeface="Arial" panose="020B0604020202020204" pitchFamily="34" charset="0"/>
              <a:buChar char="•"/>
            </a:pPr>
            <a:r>
              <a:rPr lang="en-GB" dirty="0" err="1">
                <a:latin typeface="Arial" panose="020B0604020202020204" pitchFamily="34" charset="0"/>
                <a:cs typeface="Arial" panose="020B0604020202020204" pitchFamily="34" charset="0"/>
              </a:rPr>
              <a:t>ZooMSS</a:t>
            </a:r>
            <a:endParaRPr lang="en-GB"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Climate models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IPSL-CMIP6-LR</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GFDL-ESM4</a:t>
            </a:r>
          </a:p>
        </p:txBody>
      </p:sp>
    </p:spTree>
    <p:extLst>
      <p:ext uri="{BB962C8B-B14F-4D97-AF65-F5344CB8AC3E}">
        <p14:creationId xmlns:p14="http://schemas.microsoft.com/office/powerpoint/2010/main" val="20745910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DF011-6B45-3DA4-7A68-C488B3E24609}"/>
            </a:ext>
          </a:extLst>
        </p:cNvPr>
        <p:cNvGrpSpPr/>
        <p:nvPr/>
      </p:nvGrpSpPr>
      <p:grpSpPr>
        <a:xfrm>
          <a:off x="0" y="0"/>
          <a:ext cx="0" cy="0"/>
          <a:chOff x="0" y="0"/>
          <a:chExt cx="0" cy="0"/>
        </a:xfrm>
      </p:grpSpPr>
      <p:pic>
        <p:nvPicPr>
          <p:cNvPr id="7" name="Picture 6" descr="A graph with different colored lines&#10;&#10;AI-generated content may be incorrect.">
            <a:extLst>
              <a:ext uri="{FF2B5EF4-FFF2-40B4-BE49-F238E27FC236}">
                <a16:creationId xmlns:a16="http://schemas.microsoft.com/office/drawing/2014/main" id="{FF5A5501-6A54-1503-AB08-BCF384C84F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63697" y="1720607"/>
            <a:ext cx="6572608" cy="4694720"/>
          </a:xfrm>
          <a:prstGeom prst="rect">
            <a:avLst/>
          </a:prstGeom>
        </p:spPr>
      </p:pic>
      <p:sp>
        <p:nvSpPr>
          <p:cNvPr id="2" name="Title 1">
            <a:extLst>
              <a:ext uri="{FF2B5EF4-FFF2-40B4-BE49-F238E27FC236}">
                <a16:creationId xmlns:a16="http://schemas.microsoft.com/office/drawing/2014/main" id="{73D7D691-12C4-4775-38C9-49FA86D76C2D}"/>
              </a:ext>
            </a:extLst>
          </p:cNvPr>
          <p:cNvSpPr>
            <a:spLocks noGrp="1"/>
          </p:cNvSpPr>
          <p:nvPr>
            <p:ph type="title"/>
          </p:nvPr>
        </p:nvSpPr>
        <p:spPr>
          <a:xfrm>
            <a:off x="838201" y="395044"/>
            <a:ext cx="10740655" cy="1325563"/>
          </a:xfrm>
        </p:spPr>
        <p:txBody>
          <a:bodyPr>
            <a:normAutofit/>
          </a:bodyPr>
          <a:lstStyle/>
          <a:p>
            <a:r>
              <a:rPr lang="en-US" sz="3200" b="1" dirty="0">
                <a:solidFill>
                  <a:srgbClr val="0070C0"/>
                </a:solidFill>
                <a:latin typeface="Arial" panose="020B0604020202020204" pitchFamily="34" charset="0"/>
                <a:cs typeface="Arial" panose="020B0604020202020204" pitchFamily="34" charset="0"/>
              </a:rPr>
              <a:t>Fisheries – climate impact (empirical modelling)</a:t>
            </a:r>
          </a:p>
        </p:txBody>
      </p:sp>
      <p:sp>
        <p:nvSpPr>
          <p:cNvPr id="3" name="Content Placeholder 2">
            <a:extLst>
              <a:ext uri="{FF2B5EF4-FFF2-40B4-BE49-F238E27FC236}">
                <a16:creationId xmlns:a16="http://schemas.microsoft.com/office/drawing/2014/main" id="{3D10159C-0E99-B505-D01B-41E8A09FA0A8}"/>
              </a:ext>
            </a:extLst>
          </p:cNvPr>
          <p:cNvSpPr>
            <a:spLocks noGrp="1"/>
          </p:cNvSpPr>
          <p:nvPr>
            <p:ph idx="1"/>
          </p:nvPr>
        </p:nvSpPr>
        <p:spPr>
          <a:xfrm>
            <a:off x="763773" y="1825623"/>
            <a:ext cx="4031512" cy="4351338"/>
          </a:xfrm>
        </p:spPr>
        <p:txBody>
          <a:bodyPr>
            <a:normAutofit/>
          </a:bodyPr>
          <a:lstStyle/>
          <a:p>
            <a:r>
              <a:rPr lang="en-GB" sz="2400" dirty="0">
                <a:latin typeface="Arial" panose="020B0604020202020204" pitchFamily="34" charset="0"/>
                <a:cs typeface="Arial" panose="020B0604020202020204" pitchFamily="34" charset="0"/>
              </a:rPr>
              <a:t>Fish occurrence probability is projected to vary considerably with climate change</a:t>
            </a:r>
          </a:p>
          <a:p>
            <a:endParaRPr lang="en-GB" sz="2400" dirty="0">
              <a:latin typeface="Arial" panose="020B0604020202020204" pitchFamily="34" charset="0"/>
              <a:cs typeface="Arial" panose="020B0604020202020204" pitchFamily="34" charset="0"/>
            </a:endParaRPr>
          </a:p>
          <a:p>
            <a:r>
              <a:rPr lang="en-GB" sz="2400" dirty="0">
                <a:latin typeface="Arial" panose="020B0604020202020204" pitchFamily="34" charset="0"/>
                <a:cs typeface="Arial" panose="020B0604020202020204" pitchFamily="34" charset="0"/>
              </a:rPr>
              <a:t>With a 0.1 change cut-off, occurrence probability projected to:</a:t>
            </a:r>
          </a:p>
          <a:p>
            <a:pPr lvl="1"/>
            <a:r>
              <a:rPr lang="en-GB" sz="2000" dirty="0">
                <a:latin typeface="Arial" panose="020B0604020202020204" pitchFamily="34" charset="0"/>
                <a:cs typeface="Arial" panose="020B0604020202020204" pitchFamily="34" charset="0"/>
              </a:rPr>
              <a:t>Increase for </a:t>
            </a:r>
            <a:r>
              <a:rPr lang="en-GB" sz="2000" b="1" dirty="0">
                <a:latin typeface="Arial" panose="020B0604020202020204" pitchFamily="34" charset="0"/>
                <a:cs typeface="Arial" panose="020B0604020202020204" pitchFamily="34" charset="0"/>
              </a:rPr>
              <a:t>10</a:t>
            </a:r>
            <a:r>
              <a:rPr lang="en-GB" sz="2000" dirty="0">
                <a:latin typeface="Arial" panose="020B0604020202020204" pitchFamily="34" charset="0"/>
                <a:cs typeface="Arial" panose="020B0604020202020204" pitchFamily="34" charset="0"/>
              </a:rPr>
              <a:t> species</a:t>
            </a:r>
          </a:p>
          <a:p>
            <a:pPr lvl="1"/>
            <a:r>
              <a:rPr lang="en-GB" sz="2000" dirty="0">
                <a:latin typeface="Arial" panose="020B0604020202020204" pitchFamily="34" charset="0"/>
                <a:cs typeface="Arial" panose="020B0604020202020204" pitchFamily="34" charset="0"/>
              </a:rPr>
              <a:t>No change for </a:t>
            </a:r>
            <a:r>
              <a:rPr lang="en-GB" sz="2000" b="1" dirty="0">
                <a:latin typeface="Arial" panose="020B0604020202020204" pitchFamily="34" charset="0"/>
                <a:cs typeface="Arial" panose="020B0604020202020204" pitchFamily="34" charset="0"/>
              </a:rPr>
              <a:t>14</a:t>
            </a:r>
            <a:r>
              <a:rPr lang="en-GB" sz="2000" dirty="0">
                <a:latin typeface="Arial" panose="020B0604020202020204" pitchFamily="34" charset="0"/>
                <a:cs typeface="Arial" panose="020B0604020202020204" pitchFamily="34" charset="0"/>
              </a:rPr>
              <a:t> species</a:t>
            </a:r>
          </a:p>
          <a:p>
            <a:pPr lvl="1"/>
            <a:r>
              <a:rPr lang="en-GB" sz="2000" dirty="0">
                <a:latin typeface="Arial" panose="020B0604020202020204" pitchFamily="34" charset="0"/>
                <a:cs typeface="Arial" panose="020B0604020202020204" pitchFamily="34" charset="0"/>
              </a:rPr>
              <a:t>Decrease for </a:t>
            </a:r>
            <a:r>
              <a:rPr lang="en-GB" sz="2000" b="1" dirty="0">
                <a:latin typeface="Arial" panose="020B0604020202020204" pitchFamily="34" charset="0"/>
                <a:cs typeface="Arial" panose="020B0604020202020204" pitchFamily="34" charset="0"/>
              </a:rPr>
              <a:t>36</a:t>
            </a:r>
            <a:r>
              <a:rPr lang="en-GB" sz="2000" dirty="0">
                <a:latin typeface="Arial" panose="020B0604020202020204" pitchFamily="34" charset="0"/>
                <a:cs typeface="Arial" panose="020B0604020202020204" pitchFamily="34" charset="0"/>
              </a:rPr>
              <a:t> species</a:t>
            </a:r>
          </a:p>
          <a:p>
            <a:pPr lvl="1"/>
            <a:endParaRPr lang="en-US" sz="2000" dirty="0">
              <a:latin typeface="Arial" panose="020B0604020202020204" pitchFamily="34" charset="0"/>
              <a:cs typeface="Arial" panose="020B0604020202020204" pitchFamily="34" charset="0"/>
            </a:endParaRPr>
          </a:p>
          <a:p>
            <a:pPr lvl="1"/>
            <a:endParaRPr lang="en-US" sz="20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E15C3BEA-7B97-6CB7-1E3D-DEEB86F70D8D}"/>
              </a:ext>
            </a:extLst>
          </p:cNvPr>
          <p:cNvSpPr>
            <a:spLocks noGrp="1"/>
          </p:cNvSpPr>
          <p:nvPr>
            <p:ph type="sldNum" sz="quarter" idx="12"/>
          </p:nvPr>
        </p:nvSpPr>
        <p:spPr>
          <a:xfrm>
            <a:off x="9145438" y="6280393"/>
            <a:ext cx="2743200" cy="365125"/>
          </a:xfrm>
        </p:spPr>
        <p:txBody>
          <a:bodyPr/>
          <a:lstStyle/>
          <a:p>
            <a:fld id="{D51B4FB4-AA13-FE41-AF8A-525BA2FA973D}" type="slidenum">
              <a:rPr lang="en-US" smtClean="0"/>
              <a:t>15</a:t>
            </a:fld>
            <a:endParaRPr lang="en-US" dirty="0"/>
          </a:p>
        </p:txBody>
      </p:sp>
      <p:grpSp>
        <p:nvGrpSpPr>
          <p:cNvPr id="6" name="Group 5">
            <a:extLst>
              <a:ext uri="{FF2B5EF4-FFF2-40B4-BE49-F238E27FC236}">
                <a16:creationId xmlns:a16="http://schemas.microsoft.com/office/drawing/2014/main" id="{89D05C82-4037-DD8B-70B0-D86A0B41CA9B}"/>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66957EB7-89C5-8513-60F9-638A66D65577}"/>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A0861AB-59E1-4165-2AF9-344EF8B4A63A}"/>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557DFF4B-F5EF-4362-E3FB-7DD6463DF516}"/>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22873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526DB-C581-CCA5-78E3-12C0C4AFDC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0D5563-FC9F-18B8-EACB-0D74EBE9A710}"/>
              </a:ext>
            </a:extLst>
          </p:cNvPr>
          <p:cNvSpPr>
            <a:spLocks noGrp="1"/>
          </p:cNvSpPr>
          <p:nvPr>
            <p:ph type="title"/>
          </p:nvPr>
        </p:nvSpPr>
        <p:spPr>
          <a:xfrm>
            <a:off x="838201" y="395044"/>
            <a:ext cx="10825715" cy="1325563"/>
          </a:xfrm>
        </p:spPr>
        <p:txBody>
          <a:bodyPr>
            <a:normAutofit/>
          </a:bodyPr>
          <a:lstStyle/>
          <a:p>
            <a:r>
              <a:rPr lang="en-US" sz="3200" b="1" dirty="0">
                <a:solidFill>
                  <a:srgbClr val="0070C0"/>
                </a:solidFill>
                <a:latin typeface="Arial" panose="020B0604020202020204" pitchFamily="34" charset="0"/>
                <a:cs typeface="Arial" panose="020B0604020202020204" pitchFamily="34" charset="0"/>
              </a:rPr>
              <a:t>Fisheries – climate impact (empirical modelling)</a:t>
            </a:r>
          </a:p>
        </p:txBody>
      </p:sp>
      <p:sp>
        <p:nvSpPr>
          <p:cNvPr id="3" name="Content Placeholder 2">
            <a:extLst>
              <a:ext uri="{FF2B5EF4-FFF2-40B4-BE49-F238E27FC236}">
                <a16:creationId xmlns:a16="http://schemas.microsoft.com/office/drawing/2014/main" id="{204FD1F0-E1B2-D61A-28FB-14B4432116D3}"/>
              </a:ext>
            </a:extLst>
          </p:cNvPr>
          <p:cNvSpPr>
            <a:spLocks noGrp="1"/>
          </p:cNvSpPr>
          <p:nvPr>
            <p:ph idx="1"/>
          </p:nvPr>
        </p:nvSpPr>
        <p:spPr>
          <a:xfrm>
            <a:off x="6728409" y="1812097"/>
            <a:ext cx="4731631" cy="4351338"/>
          </a:xfrm>
        </p:spPr>
        <p:txBody>
          <a:bodyPr>
            <a:normAutofit/>
          </a:bodyPr>
          <a:lstStyle/>
          <a:p>
            <a:r>
              <a:rPr lang="en-GB" sz="2000" dirty="0">
                <a:latin typeface="Arial" panose="020B0604020202020204" pitchFamily="34" charset="0"/>
                <a:cs typeface="Arial" panose="020B0604020202020204" pitchFamily="34" charset="0"/>
              </a:rPr>
              <a:t>Climate impact is greater in the west than east, consistent with mechanistic models</a:t>
            </a:r>
          </a:p>
          <a:p>
            <a:r>
              <a:rPr lang="en-GB" sz="2000" dirty="0">
                <a:latin typeface="Arial" panose="020B0604020202020204" pitchFamily="34" charset="0"/>
                <a:cs typeface="Arial" panose="020B0604020202020204" pitchFamily="34" charset="0"/>
              </a:rPr>
              <a:t>Coastal waters are buffered from climate impact</a:t>
            </a:r>
          </a:p>
          <a:p>
            <a:pPr lvl="1"/>
            <a:endParaRPr lang="en-US" sz="1800" dirty="0">
              <a:latin typeface="Arial" panose="020B0604020202020204" pitchFamily="34" charset="0"/>
              <a:cs typeface="Arial" panose="020B0604020202020204" pitchFamily="34" charset="0"/>
            </a:endParaRPr>
          </a:p>
          <a:p>
            <a:pPr lvl="1"/>
            <a:endParaRPr lang="en-US" sz="18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02FE00C1-E73D-5607-F09D-B1F616EA6566}"/>
              </a:ext>
            </a:extLst>
          </p:cNvPr>
          <p:cNvSpPr>
            <a:spLocks noGrp="1"/>
          </p:cNvSpPr>
          <p:nvPr>
            <p:ph type="sldNum" sz="quarter" idx="12"/>
          </p:nvPr>
        </p:nvSpPr>
        <p:spPr>
          <a:xfrm>
            <a:off x="9123852" y="6317392"/>
            <a:ext cx="2743200" cy="365125"/>
          </a:xfrm>
        </p:spPr>
        <p:txBody>
          <a:bodyPr/>
          <a:lstStyle/>
          <a:p>
            <a:fld id="{D51B4FB4-AA13-FE41-AF8A-525BA2FA973D}" type="slidenum">
              <a:rPr lang="en-US" smtClean="0"/>
              <a:t>16</a:t>
            </a:fld>
            <a:endParaRPr lang="en-US" dirty="0"/>
          </a:p>
        </p:txBody>
      </p:sp>
      <p:grpSp>
        <p:nvGrpSpPr>
          <p:cNvPr id="6" name="Group 5">
            <a:extLst>
              <a:ext uri="{FF2B5EF4-FFF2-40B4-BE49-F238E27FC236}">
                <a16:creationId xmlns:a16="http://schemas.microsoft.com/office/drawing/2014/main" id="{3866A2FF-7826-DE64-C293-B5412508BEA4}"/>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7ABD4834-8288-4516-C3AA-CC019105A234}"/>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A841CAF-7984-3C5F-F33E-F695AA305FD7}"/>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2FD646F6-8523-74B2-99A6-32F24B694B07}"/>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25" name="Picture 24" descr="A diagram of a bird&#10;&#10;AI-generated content may be incorrect.">
            <a:extLst>
              <a:ext uri="{FF2B5EF4-FFF2-40B4-BE49-F238E27FC236}">
                <a16:creationId xmlns:a16="http://schemas.microsoft.com/office/drawing/2014/main" id="{5A417C97-85F2-9855-CF0E-9E52361B3254}"/>
              </a:ext>
            </a:extLst>
          </p:cNvPr>
          <p:cNvPicPr>
            <a:picLocks noChangeAspect="1"/>
          </p:cNvPicPr>
          <p:nvPr/>
        </p:nvPicPr>
        <p:blipFill>
          <a:blip r:embed="rId2">
            <a:extLst>
              <a:ext uri="{28A0092B-C50C-407E-A947-70E740481C1C}">
                <a14:useLocalDpi xmlns:a14="http://schemas.microsoft.com/office/drawing/2010/main" val="0"/>
              </a:ext>
            </a:extLst>
          </a:blip>
          <a:srcRect t="9091" b="9448"/>
          <a:stretch>
            <a:fillRect/>
          </a:stretch>
        </p:blipFill>
        <p:spPr>
          <a:xfrm>
            <a:off x="731960" y="1838064"/>
            <a:ext cx="5144691" cy="4190922"/>
          </a:xfrm>
          <a:prstGeom prst="rect">
            <a:avLst/>
          </a:prstGeom>
        </p:spPr>
      </p:pic>
      <p:pic>
        <p:nvPicPr>
          <p:cNvPr id="26" name="Picture 25" descr="A screen shot of a graph&#10;&#10;AI-generated content may be incorrect.">
            <a:extLst>
              <a:ext uri="{FF2B5EF4-FFF2-40B4-BE49-F238E27FC236}">
                <a16:creationId xmlns:a16="http://schemas.microsoft.com/office/drawing/2014/main" id="{303A8F46-387E-2867-92DE-B546342959EA}"/>
              </a:ext>
            </a:extLst>
          </p:cNvPr>
          <p:cNvPicPr>
            <a:picLocks noChangeAspect="1"/>
          </p:cNvPicPr>
          <p:nvPr/>
        </p:nvPicPr>
        <p:blipFill>
          <a:blip r:embed="rId3">
            <a:extLst>
              <a:ext uri="{28A0092B-C50C-407E-A947-70E740481C1C}">
                <a14:useLocalDpi xmlns:a14="http://schemas.microsoft.com/office/drawing/2010/main" val="0"/>
              </a:ext>
            </a:extLst>
          </a:blip>
          <a:srcRect t="29306" r="37778" b="29306"/>
          <a:stretch>
            <a:fillRect/>
          </a:stretch>
        </p:blipFill>
        <p:spPr>
          <a:xfrm>
            <a:off x="9213870" y="4071434"/>
            <a:ext cx="2563165" cy="1704963"/>
          </a:xfrm>
          <a:prstGeom prst="rect">
            <a:avLst/>
          </a:prstGeom>
        </p:spPr>
      </p:pic>
      <p:pic>
        <p:nvPicPr>
          <p:cNvPr id="27" name="Picture 26" descr="A red and blue graph&#10;&#10;AI-generated content may be incorrect.">
            <a:extLst>
              <a:ext uri="{FF2B5EF4-FFF2-40B4-BE49-F238E27FC236}">
                <a16:creationId xmlns:a16="http://schemas.microsoft.com/office/drawing/2014/main" id="{E1DBCE14-A472-9C37-AEDE-C2F4C7E18AF5}"/>
              </a:ext>
            </a:extLst>
          </p:cNvPr>
          <p:cNvPicPr>
            <a:picLocks noChangeAspect="1"/>
          </p:cNvPicPr>
          <p:nvPr/>
        </p:nvPicPr>
        <p:blipFill>
          <a:blip r:embed="rId4">
            <a:extLst>
              <a:ext uri="{28A0092B-C50C-407E-A947-70E740481C1C}">
                <a14:useLocalDpi xmlns:a14="http://schemas.microsoft.com/office/drawing/2010/main" val="0"/>
              </a:ext>
            </a:extLst>
          </a:blip>
          <a:srcRect t="28889" r="37917" b="30000"/>
          <a:stretch>
            <a:fillRect/>
          </a:stretch>
        </p:blipFill>
        <p:spPr>
          <a:xfrm>
            <a:off x="6457507" y="4062503"/>
            <a:ext cx="2574725" cy="1704963"/>
          </a:xfrm>
          <a:prstGeom prst="rect">
            <a:avLst/>
          </a:prstGeom>
        </p:spPr>
      </p:pic>
      <p:sp>
        <p:nvSpPr>
          <p:cNvPr id="28" name="TextBox 27">
            <a:extLst>
              <a:ext uri="{FF2B5EF4-FFF2-40B4-BE49-F238E27FC236}">
                <a16:creationId xmlns:a16="http://schemas.microsoft.com/office/drawing/2014/main" id="{5B11FD6F-A875-B37D-800F-04EED0E8F977}"/>
              </a:ext>
            </a:extLst>
          </p:cNvPr>
          <p:cNvSpPr txBox="1"/>
          <p:nvPr/>
        </p:nvSpPr>
        <p:spPr>
          <a:xfrm>
            <a:off x="9313717" y="3781056"/>
            <a:ext cx="1677137" cy="276999"/>
          </a:xfrm>
          <a:prstGeom prst="rect">
            <a:avLst/>
          </a:prstGeom>
          <a:noFill/>
        </p:spPr>
        <p:txBody>
          <a:bodyPr wrap="square" rtlCol="0">
            <a:spAutoFit/>
          </a:bodyPr>
          <a:lstStyle/>
          <a:p>
            <a:pPr algn="ctr"/>
            <a:r>
              <a:rPr lang="en-GB" sz="1200" b="1" i="1" dirty="0" err="1"/>
              <a:t>Erythrocles</a:t>
            </a:r>
            <a:r>
              <a:rPr lang="en-GB" sz="1200" b="1" i="1" dirty="0"/>
              <a:t> </a:t>
            </a:r>
            <a:r>
              <a:rPr lang="en-GB" sz="1200" b="1" i="1" dirty="0" err="1"/>
              <a:t>monodi</a:t>
            </a:r>
            <a:endParaRPr lang="en-GB" sz="1200" b="1" i="1" dirty="0"/>
          </a:p>
        </p:txBody>
      </p:sp>
      <p:sp>
        <p:nvSpPr>
          <p:cNvPr id="29" name="TextBox 28">
            <a:extLst>
              <a:ext uri="{FF2B5EF4-FFF2-40B4-BE49-F238E27FC236}">
                <a16:creationId xmlns:a16="http://schemas.microsoft.com/office/drawing/2014/main" id="{F43B9755-F4BB-E31E-064D-6D9A79DA8C6F}"/>
              </a:ext>
            </a:extLst>
          </p:cNvPr>
          <p:cNvSpPr txBox="1"/>
          <p:nvPr/>
        </p:nvSpPr>
        <p:spPr>
          <a:xfrm>
            <a:off x="6457507" y="3802754"/>
            <a:ext cx="1677137" cy="276999"/>
          </a:xfrm>
          <a:prstGeom prst="rect">
            <a:avLst/>
          </a:prstGeom>
          <a:noFill/>
        </p:spPr>
        <p:txBody>
          <a:bodyPr wrap="square" rtlCol="0">
            <a:spAutoFit/>
          </a:bodyPr>
          <a:lstStyle/>
          <a:p>
            <a:pPr algn="ctr"/>
            <a:r>
              <a:rPr lang="en-GB" sz="1200" b="1" i="1" dirty="0"/>
              <a:t>Anthias </a:t>
            </a:r>
            <a:r>
              <a:rPr lang="en-GB" sz="1200" b="1" i="1" dirty="0" err="1"/>
              <a:t>anthias</a:t>
            </a:r>
            <a:endParaRPr lang="en-GB" sz="1200" b="1" i="1" dirty="0"/>
          </a:p>
        </p:txBody>
      </p:sp>
      <p:pic>
        <p:nvPicPr>
          <p:cNvPr id="30" name="Picture 29" descr="A map of a continent&#10;&#10;AI-generated content may be incorrect.">
            <a:extLst>
              <a:ext uri="{FF2B5EF4-FFF2-40B4-BE49-F238E27FC236}">
                <a16:creationId xmlns:a16="http://schemas.microsoft.com/office/drawing/2014/main" id="{1D3B5889-A4C9-2051-C4FC-1AB11CD7C080}"/>
              </a:ext>
            </a:extLst>
          </p:cNvPr>
          <p:cNvPicPr>
            <a:picLocks noChangeAspect="1"/>
          </p:cNvPicPr>
          <p:nvPr/>
        </p:nvPicPr>
        <p:blipFill>
          <a:blip r:embed="rId5">
            <a:extLst>
              <a:ext uri="{28A0092B-C50C-407E-A947-70E740481C1C}">
                <a14:useLocalDpi xmlns:a14="http://schemas.microsoft.com/office/drawing/2010/main" val="0"/>
              </a:ext>
            </a:extLst>
          </a:blip>
          <a:srcRect t="80351" b="8590"/>
          <a:stretch>
            <a:fillRect/>
          </a:stretch>
        </p:blipFill>
        <p:spPr>
          <a:xfrm>
            <a:off x="7317732" y="5883693"/>
            <a:ext cx="3429000" cy="379239"/>
          </a:xfrm>
          <a:prstGeom prst="rect">
            <a:avLst/>
          </a:prstGeom>
        </p:spPr>
      </p:pic>
    </p:spTree>
    <p:extLst>
      <p:ext uri="{BB962C8B-B14F-4D97-AF65-F5344CB8AC3E}">
        <p14:creationId xmlns:p14="http://schemas.microsoft.com/office/powerpoint/2010/main" val="37128498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2B7CB-7FF0-2259-1107-D4C367F1E6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1DA17C-EF0B-16DB-DBA4-FA306AAF60DA}"/>
              </a:ext>
            </a:extLst>
          </p:cNvPr>
          <p:cNvSpPr>
            <a:spLocks noGrp="1"/>
          </p:cNvSpPr>
          <p:nvPr>
            <p:ph type="title"/>
          </p:nvPr>
        </p:nvSpPr>
        <p:spPr>
          <a:xfrm>
            <a:off x="838201" y="395044"/>
            <a:ext cx="10932041" cy="1325563"/>
          </a:xfrm>
        </p:spPr>
        <p:txBody>
          <a:bodyPr>
            <a:normAutofit/>
          </a:bodyPr>
          <a:lstStyle/>
          <a:p>
            <a:r>
              <a:rPr lang="en-US" sz="3200" b="1" dirty="0">
                <a:solidFill>
                  <a:srgbClr val="0070C0"/>
                </a:solidFill>
                <a:latin typeface="Arial" panose="020B0604020202020204" pitchFamily="34" charset="0"/>
                <a:cs typeface="Arial" panose="020B0604020202020204" pitchFamily="34" charset="0"/>
              </a:rPr>
              <a:t>Fisheries – climate impact (empirical modelling)</a:t>
            </a:r>
          </a:p>
        </p:txBody>
      </p:sp>
      <p:sp>
        <p:nvSpPr>
          <p:cNvPr id="5" name="Slide Number Placeholder 4">
            <a:extLst>
              <a:ext uri="{FF2B5EF4-FFF2-40B4-BE49-F238E27FC236}">
                <a16:creationId xmlns:a16="http://schemas.microsoft.com/office/drawing/2014/main" id="{4E40E8C7-22E0-3588-4E99-77BA4025D5BF}"/>
              </a:ext>
            </a:extLst>
          </p:cNvPr>
          <p:cNvSpPr>
            <a:spLocks noGrp="1"/>
          </p:cNvSpPr>
          <p:nvPr>
            <p:ph type="sldNum" sz="quarter" idx="12"/>
          </p:nvPr>
        </p:nvSpPr>
        <p:spPr>
          <a:xfrm>
            <a:off x="9093679" y="6327461"/>
            <a:ext cx="2743200" cy="365125"/>
          </a:xfrm>
        </p:spPr>
        <p:txBody>
          <a:bodyPr/>
          <a:lstStyle/>
          <a:p>
            <a:fld id="{D51B4FB4-AA13-FE41-AF8A-525BA2FA973D}" type="slidenum">
              <a:rPr lang="en-US" smtClean="0"/>
              <a:t>17</a:t>
            </a:fld>
            <a:endParaRPr lang="en-US" dirty="0"/>
          </a:p>
        </p:txBody>
      </p:sp>
      <p:grpSp>
        <p:nvGrpSpPr>
          <p:cNvPr id="6" name="Group 5">
            <a:extLst>
              <a:ext uri="{FF2B5EF4-FFF2-40B4-BE49-F238E27FC236}">
                <a16:creationId xmlns:a16="http://schemas.microsoft.com/office/drawing/2014/main" id="{3978C6DF-2633-9AD6-BF19-922ECFB238C3}"/>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96186CB3-E159-52B2-9697-BF89C473FBA6}"/>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CDD1A54-2DF1-F3AC-49D6-A6AFED905AF5}"/>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3010934A-73DD-AE10-DC42-FD3EECEA757C}"/>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1AB3761-53B8-0543-15F1-2306AE7F2745}"/>
              </a:ext>
            </a:extLst>
          </p:cNvPr>
          <p:cNvSpPr txBox="1"/>
          <p:nvPr/>
        </p:nvSpPr>
        <p:spPr>
          <a:xfrm>
            <a:off x="1095386" y="1821817"/>
            <a:ext cx="3040680" cy="276999"/>
          </a:xfrm>
          <a:prstGeom prst="rect">
            <a:avLst/>
          </a:prstGeom>
          <a:noFill/>
        </p:spPr>
        <p:txBody>
          <a:bodyPr wrap="square" rtlCol="0">
            <a:spAutoFit/>
          </a:bodyPr>
          <a:lstStyle/>
          <a:p>
            <a:pPr algn="ctr"/>
            <a:r>
              <a:rPr lang="en-GB" sz="1200" b="1" dirty="0">
                <a:latin typeface="Arial" panose="020B0604020202020204" pitchFamily="34" charset="0"/>
                <a:cs typeface="Arial" panose="020B0604020202020204" pitchFamily="34" charset="0"/>
              </a:rPr>
              <a:t>Positively affected by climate change</a:t>
            </a:r>
          </a:p>
        </p:txBody>
      </p:sp>
      <p:sp>
        <p:nvSpPr>
          <p:cNvPr id="13" name="TextBox 12">
            <a:extLst>
              <a:ext uri="{FF2B5EF4-FFF2-40B4-BE49-F238E27FC236}">
                <a16:creationId xmlns:a16="http://schemas.microsoft.com/office/drawing/2014/main" id="{E149040D-3D3A-6C2D-33BB-66F64635ED61}"/>
              </a:ext>
            </a:extLst>
          </p:cNvPr>
          <p:cNvSpPr txBox="1"/>
          <p:nvPr/>
        </p:nvSpPr>
        <p:spPr>
          <a:xfrm>
            <a:off x="5302621" y="1867000"/>
            <a:ext cx="2951893" cy="276999"/>
          </a:xfrm>
          <a:prstGeom prst="rect">
            <a:avLst/>
          </a:prstGeom>
          <a:noFill/>
        </p:spPr>
        <p:txBody>
          <a:bodyPr wrap="square" rtlCol="0">
            <a:spAutoFit/>
          </a:bodyPr>
          <a:lstStyle/>
          <a:p>
            <a:pPr algn="ctr"/>
            <a:r>
              <a:rPr lang="en-GB" sz="1200" b="1" dirty="0">
                <a:latin typeface="Arial" panose="020B0604020202020204" pitchFamily="34" charset="0"/>
                <a:cs typeface="Arial" panose="020B0604020202020204" pitchFamily="34" charset="0"/>
              </a:rPr>
              <a:t>Negatively affected by climate change</a:t>
            </a:r>
          </a:p>
        </p:txBody>
      </p:sp>
      <p:cxnSp>
        <p:nvCxnSpPr>
          <p:cNvPr id="14" name="Straight Arrow Connector 13">
            <a:extLst>
              <a:ext uri="{FF2B5EF4-FFF2-40B4-BE49-F238E27FC236}">
                <a16:creationId xmlns:a16="http://schemas.microsoft.com/office/drawing/2014/main" id="{ABA1BA87-B28C-4F11-1785-4596163BB1FB}"/>
              </a:ext>
            </a:extLst>
          </p:cNvPr>
          <p:cNvCxnSpPr/>
          <p:nvPr/>
        </p:nvCxnSpPr>
        <p:spPr>
          <a:xfrm flipV="1">
            <a:off x="7235126" y="4542764"/>
            <a:ext cx="0" cy="371475"/>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AC2A3FD6-F064-C195-2F79-6F8E7F37BFFC}"/>
              </a:ext>
            </a:extLst>
          </p:cNvPr>
          <p:cNvCxnSpPr>
            <a:cxnSpLocks/>
          </p:cNvCxnSpPr>
          <p:nvPr/>
        </p:nvCxnSpPr>
        <p:spPr>
          <a:xfrm>
            <a:off x="3170562" y="2256764"/>
            <a:ext cx="0" cy="466725"/>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pic>
        <p:nvPicPr>
          <p:cNvPr id="16" name="Picture 2">
            <a:extLst>
              <a:ext uri="{FF2B5EF4-FFF2-40B4-BE49-F238E27FC236}">
                <a16:creationId xmlns:a16="http://schemas.microsoft.com/office/drawing/2014/main" id="{8CD22DA9-713B-DCCB-9F7F-8C855B56358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5784" t="43010" b="19680"/>
          <a:stretch>
            <a:fillRect/>
          </a:stretch>
        </p:blipFill>
        <p:spPr bwMode="auto">
          <a:xfrm>
            <a:off x="9302234" y="4005560"/>
            <a:ext cx="1895475" cy="181553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a:extLst>
              <a:ext uri="{FF2B5EF4-FFF2-40B4-BE49-F238E27FC236}">
                <a16:creationId xmlns:a16="http://schemas.microsoft.com/office/drawing/2014/main" id="{1335F3D9-24D7-46A2-064C-FAC164F5DBB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7575" t="86889" r="31137" b="-249"/>
          <a:stretch>
            <a:fillRect/>
          </a:stretch>
        </p:blipFill>
        <p:spPr bwMode="auto">
          <a:xfrm>
            <a:off x="9213979" y="5821098"/>
            <a:ext cx="1907461" cy="50636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4">
            <a:extLst>
              <a:ext uri="{FF2B5EF4-FFF2-40B4-BE49-F238E27FC236}">
                <a16:creationId xmlns:a16="http://schemas.microsoft.com/office/drawing/2014/main" id="{4EC8E666-2D0E-31D0-A7C8-B7DF0F2D13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60228" y="1602398"/>
            <a:ext cx="2384187" cy="214422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A graph of a graph showing a number of different numbers&#10;&#10;AI-generated content may be incorrect.">
            <a:extLst>
              <a:ext uri="{FF2B5EF4-FFF2-40B4-BE49-F238E27FC236}">
                <a16:creationId xmlns:a16="http://schemas.microsoft.com/office/drawing/2014/main" id="{D54368B5-24A4-2D05-2A7A-4555F1AA68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7405" y="2143999"/>
            <a:ext cx="3657607" cy="3657607"/>
          </a:xfrm>
          <a:prstGeom prst="rect">
            <a:avLst/>
          </a:prstGeom>
        </p:spPr>
      </p:pic>
      <p:pic>
        <p:nvPicPr>
          <p:cNvPr id="20" name="Picture 19" descr="A graph with blue lines&#10;&#10;AI-generated content may be incorrect.">
            <a:extLst>
              <a:ext uri="{FF2B5EF4-FFF2-40B4-BE49-F238E27FC236}">
                <a16:creationId xmlns:a16="http://schemas.microsoft.com/office/drawing/2014/main" id="{BFC78793-E9E4-8077-0BD4-FB1E6828F4C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78756" y="2144415"/>
            <a:ext cx="3657607" cy="3657607"/>
          </a:xfrm>
          <a:prstGeom prst="rect">
            <a:avLst/>
          </a:prstGeom>
        </p:spPr>
      </p:pic>
      <p:cxnSp>
        <p:nvCxnSpPr>
          <p:cNvPr id="21" name="Straight Arrow Connector 20">
            <a:extLst>
              <a:ext uri="{FF2B5EF4-FFF2-40B4-BE49-F238E27FC236}">
                <a16:creationId xmlns:a16="http://schemas.microsoft.com/office/drawing/2014/main" id="{1DBDF515-77FF-1A06-D684-E218194CAA9C}"/>
              </a:ext>
            </a:extLst>
          </p:cNvPr>
          <p:cNvCxnSpPr>
            <a:cxnSpLocks/>
          </p:cNvCxnSpPr>
          <p:nvPr/>
        </p:nvCxnSpPr>
        <p:spPr>
          <a:xfrm>
            <a:off x="7387526" y="3181105"/>
            <a:ext cx="0" cy="471226"/>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D88BFE8F-9100-13AC-6FCC-50D2F1C47823}"/>
              </a:ext>
            </a:extLst>
          </p:cNvPr>
          <p:cNvCxnSpPr>
            <a:cxnSpLocks/>
          </p:cNvCxnSpPr>
          <p:nvPr/>
        </p:nvCxnSpPr>
        <p:spPr>
          <a:xfrm flipV="1">
            <a:off x="3291776" y="3910959"/>
            <a:ext cx="0" cy="374700"/>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149168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C3CF1-DCEC-2C60-C4F9-F58C830CBB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232EFD-BE0C-B85D-34BC-62C76A0846D5}"/>
              </a:ext>
            </a:extLst>
          </p:cNvPr>
          <p:cNvSpPr>
            <a:spLocks noGrp="1"/>
          </p:cNvSpPr>
          <p:nvPr>
            <p:ph type="title"/>
          </p:nvPr>
        </p:nvSpPr>
        <p:spPr>
          <a:xfrm>
            <a:off x="699091" y="414271"/>
            <a:ext cx="10793818" cy="1325563"/>
          </a:xfrm>
        </p:spPr>
        <p:txBody>
          <a:bodyPr>
            <a:normAutofit/>
          </a:bodyPr>
          <a:lstStyle/>
          <a:p>
            <a:r>
              <a:rPr lang="en-US" sz="3200" b="1" dirty="0">
                <a:solidFill>
                  <a:srgbClr val="0070C0"/>
                </a:solidFill>
                <a:latin typeface="Arial" panose="020B0604020202020204" pitchFamily="34" charset="0"/>
                <a:cs typeface="Arial" panose="020B0604020202020204" pitchFamily="34" charset="0"/>
              </a:rPr>
              <a:t>Fisheries – climate impact (empirical modelling)</a:t>
            </a:r>
          </a:p>
        </p:txBody>
      </p:sp>
      <p:sp>
        <p:nvSpPr>
          <p:cNvPr id="5" name="Slide Number Placeholder 4">
            <a:extLst>
              <a:ext uri="{FF2B5EF4-FFF2-40B4-BE49-F238E27FC236}">
                <a16:creationId xmlns:a16="http://schemas.microsoft.com/office/drawing/2014/main" id="{EA0E5C0D-21A3-1ED5-F194-B02B18FDAD7C}"/>
              </a:ext>
            </a:extLst>
          </p:cNvPr>
          <p:cNvSpPr>
            <a:spLocks noGrp="1"/>
          </p:cNvSpPr>
          <p:nvPr>
            <p:ph type="sldNum" sz="quarter" idx="12"/>
          </p:nvPr>
        </p:nvSpPr>
        <p:spPr>
          <a:xfrm>
            <a:off x="8972124" y="6373603"/>
            <a:ext cx="2743200" cy="365125"/>
          </a:xfrm>
        </p:spPr>
        <p:txBody>
          <a:bodyPr/>
          <a:lstStyle/>
          <a:p>
            <a:fld id="{D51B4FB4-AA13-FE41-AF8A-525BA2FA973D}" type="slidenum">
              <a:rPr lang="en-US" smtClean="0"/>
              <a:t>18</a:t>
            </a:fld>
            <a:endParaRPr lang="en-US" dirty="0"/>
          </a:p>
        </p:txBody>
      </p:sp>
      <p:grpSp>
        <p:nvGrpSpPr>
          <p:cNvPr id="6" name="Group 5">
            <a:extLst>
              <a:ext uri="{FF2B5EF4-FFF2-40B4-BE49-F238E27FC236}">
                <a16:creationId xmlns:a16="http://schemas.microsoft.com/office/drawing/2014/main" id="{58186325-0757-D403-4A08-6572E02C4894}"/>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698708D9-963C-4CBE-A6DC-B15F8C15B142}"/>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BAE27FC-0B74-3CE7-60DF-ABFA6F95C587}"/>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39765FEA-AB29-6AEC-B2FE-C9410DF3A679}"/>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3" name="Picture 2" descr="A graph with dots and lines&#10;&#10;AI-generated content may be incorrect.">
            <a:extLst>
              <a:ext uri="{FF2B5EF4-FFF2-40B4-BE49-F238E27FC236}">
                <a16:creationId xmlns:a16="http://schemas.microsoft.com/office/drawing/2014/main" id="{37FF9FCE-76A8-F642-797F-451C2CFBE6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3628" y="2040933"/>
            <a:ext cx="3657607" cy="3657607"/>
          </a:xfrm>
          <a:prstGeom prst="rect">
            <a:avLst/>
          </a:prstGeom>
        </p:spPr>
      </p:pic>
      <p:pic>
        <p:nvPicPr>
          <p:cNvPr id="7" name="Picture 4">
            <a:extLst>
              <a:ext uri="{FF2B5EF4-FFF2-40B4-BE49-F238E27FC236}">
                <a16:creationId xmlns:a16="http://schemas.microsoft.com/office/drawing/2014/main" id="{6B3467E7-466A-9107-01C7-F1FA37382D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9090" y="3869737"/>
            <a:ext cx="5715000" cy="227647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07E1FA68-40E7-DDCD-F042-038714DBC4F6}"/>
              </a:ext>
            </a:extLst>
          </p:cNvPr>
          <p:cNvSpPr txBox="1"/>
          <p:nvPr/>
        </p:nvSpPr>
        <p:spPr>
          <a:xfrm>
            <a:off x="5392790" y="1899996"/>
            <a:ext cx="5967600" cy="1938992"/>
          </a:xfrm>
          <a:prstGeom prst="rect">
            <a:avLst/>
          </a:prstGeom>
          <a:noFill/>
        </p:spPr>
        <p:txBody>
          <a:bodyPr wrap="square" rtlCol="0">
            <a:spAutoFit/>
          </a:bodyPr>
          <a:lstStyle/>
          <a:p>
            <a:pPr marL="800100" lvl="1" indent="-342900">
              <a:buFont typeface="Arial" panose="020B0604020202020204" pitchFamily="34" charset="0"/>
              <a:buChar char="•"/>
            </a:pPr>
            <a:r>
              <a:rPr lang="en-GB" sz="2400" dirty="0">
                <a:latin typeface="Arial" panose="020B0604020202020204" pitchFamily="34" charset="0"/>
                <a:cs typeface="Arial" panose="020B0604020202020204" pitchFamily="34" charset="0"/>
              </a:rPr>
              <a:t>Coastal buffering occurs across all species</a:t>
            </a:r>
          </a:p>
          <a:p>
            <a:pPr marL="800100" lvl="1" indent="-342900">
              <a:buFont typeface="Arial" panose="020B0604020202020204" pitchFamily="34" charset="0"/>
              <a:buChar char="•"/>
            </a:pPr>
            <a:r>
              <a:rPr lang="en-GB" sz="2400" dirty="0">
                <a:latin typeface="Arial" panose="020B0604020202020204" pitchFamily="34" charset="0"/>
                <a:cs typeface="Arial" panose="020B0604020202020204" pitchFamily="34" charset="0"/>
              </a:rPr>
              <a:t>Result may be due to greater climatic stability near coast</a:t>
            </a:r>
          </a:p>
          <a:p>
            <a:pPr marL="1257300" lvl="2" indent="-342900">
              <a:buFont typeface="Arial" panose="020B0604020202020204" pitchFamily="34" charset="0"/>
              <a:buChar char="•"/>
            </a:pPr>
            <a:endParaRPr lang="en-GB" sz="2400" dirty="0">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8ED0C3AE-F8EE-55AB-5FB1-F3574ED5B332}"/>
              </a:ext>
            </a:extLst>
          </p:cNvPr>
          <p:cNvSpPr txBox="1"/>
          <p:nvPr/>
        </p:nvSpPr>
        <p:spPr>
          <a:xfrm>
            <a:off x="838201" y="2152555"/>
            <a:ext cx="4576584" cy="461665"/>
          </a:xfrm>
          <a:prstGeom prst="rect">
            <a:avLst/>
          </a:prstGeom>
          <a:noFill/>
        </p:spPr>
        <p:txBody>
          <a:bodyPr wrap="square" rtlCol="0">
            <a:spAutoFit/>
          </a:bodyPr>
          <a:lstStyle/>
          <a:p>
            <a:pPr lvl="2"/>
            <a:r>
              <a:rPr lang="en-GB" sz="1200" b="1" dirty="0">
                <a:latin typeface="Arial" panose="020B0604020202020204" pitchFamily="34" charset="0"/>
                <a:cs typeface="Arial" panose="020B0604020202020204" pitchFamily="34" charset="0"/>
              </a:rPr>
              <a:t>m = 0.32</a:t>
            </a:r>
          </a:p>
          <a:p>
            <a:pPr lvl="2"/>
            <a:r>
              <a:rPr lang="en-GB" sz="1200" b="1" dirty="0">
                <a:latin typeface="Arial" panose="020B0604020202020204" pitchFamily="34" charset="0"/>
                <a:cs typeface="Arial" panose="020B0604020202020204" pitchFamily="34" charset="0"/>
              </a:rPr>
              <a:t>R² = 0.78</a:t>
            </a:r>
          </a:p>
        </p:txBody>
      </p:sp>
    </p:spTree>
    <p:extLst>
      <p:ext uri="{BB962C8B-B14F-4D97-AF65-F5344CB8AC3E}">
        <p14:creationId xmlns:p14="http://schemas.microsoft.com/office/powerpoint/2010/main" val="2765465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2BEDD-B0BB-6D4E-2E9B-7D247D8B73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4EF191-D735-306C-8900-3571E8F534D7}"/>
              </a:ext>
            </a:extLst>
          </p:cNvPr>
          <p:cNvSpPr>
            <a:spLocks noGrp="1"/>
          </p:cNvSpPr>
          <p:nvPr>
            <p:ph type="title"/>
          </p:nvPr>
        </p:nvSpPr>
        <p:spPr>
          <a:xfrm>
            <a:off x="838200" y="501650"/>
            <a:ext cx="5646576" cy="1325563"/>
          </a:xfrm>
        </p:spPr>
        <p:txBody>
          <a:bodyPr>
            <a:normAutofit/>
          </a:bodyPr>
          <a:lstStyle/>
          <a:p>
            <a:r>
              <a:rPr lang="en-US" sz="3200" b="1" dirty="0">
                <a:solidFill>
                  <a:srgbClr val="0070C0"/>
                </a:solidFill>
                <a:latin typeface="Arial" panose="020B0604020202020204" pitchFamily="34" charset="0"/>
                <a:cs typeface="Arial" panose="020B0604020202020204" pitchFamily="34" charset="0"/>
              </a:rPr>
              <a:t>Conclusions for fisheries</a:t>
            </a:r>
          </a:p>
        </p:txBody>
      </p:sp>
      <p:sp>
        <p:nvSpPr>
          <p:cNvPr id="3" name="Content Placeholder 2">
            <a:extLst>
              <a:ext uri="{FF2B5EF4-FFF2-40B4-BE49-F238E27FC236}">
                <a16:creationId xmlns:a16="http://schemas.microsoft.com/office/drawing/2014/main" id="{48B10D8D-519F-9448-1769-8AB7F598C88E}"/>
              </a:ext>
            </a:extLst>
          </p:cNvPr>
          <p:cNvSpPr>
            <a:spLocks noGrp="1"/>
          </p:cNvSpPr>
          <p:nvPr>
            <p:ph idx="1"/>
          </p:nvPr>
        </p:nvSpPr>
        <p:spPr>
          <a:xfrm>
            <a:off x="695325" y="1884606"/>
            <a:ext cx="5622407" cy="4351338"/>
          </a:xfrm>
        </p:spPr>
        <p:txBody>
          <a:bodyPr>
            <a:normAutofit fontScale="92500" lnSpcReduction="10000"/>
          </a:bodyPr>
          <a:lstStyle/>
          <a:p>
            <a:r>
              <a:rPr lang="en-US" dirty="0">
                <a:latin typeface="Arial" panose="020B0604020202020204" pitchFamily="34" charset="0"/>
                <a:cs typeface="Arial" panose="020B0604020202020204" pitchFamily="34" charset="0"/>
              </a:rPr>
              <a:t>Historical and projected trends:</a:t>
            </a:r>
          </a:p>
          <a:p>
            <a:pPr lvl="1"/>
            <a:r>
              <a:rPr lang="en-US" dirty="0">
                <a:latin typeface="Arial" panose="020B0604020202020204" pitchFamily="34" charset="0"/>
                <a:cs typeface="Arial" panose="020B0604020202020204" pitchFamily="34" charset="0"/>
              </a:rPr>
              <a:t>Increase in sea surface temperatures</a:t>
            </a:r>
          </a:p>
          <a:p>
            <a:pPr lvl="1"/>
            <a:r>
              <a:rPr lang="en-US" dirty="0">
                <a:latin typeface="Arial" panose="020B0604020202020204" pitchFamily="34" charset="0"/>
                <a:cs typeface="Arial" panose="020B0604020202020204" pitchFamily="34" charset="0"/>
              </a:rPr>
              <a:t>Decrease in sea surface pH and oxygen</a:t>
            </a:r>
          </a:p>
          <a:p>
            <a:pPr lvl="1"/>
            <a:r>
              <a:rPr lang="en-US" dirty="0">
                <a:latin typeface="Arial" panose="020B0604020202020204" pitchFamily="34" charset="0"/>
                <a:cs typeface="Arial" panose="020B0604020202020204" pitchFamily="34" charset="0"/>
              </a:rPr>
              <a:t>Variable impacts on overall rainfall</a:t>
            </a:r>
          </a:p>
          <a:p>
            <a:pPr lvl="1"/>
            <a:r>
              <a:rPr lang="en-US" dirty="0">
                <a:latin typeface="Arial" panose="020B0604020202020204" pitchFamily="34" charset="0"/>
                <a:cs typeface="Arial" panose="020B0604020202020204" pitchFamily="34" charset="0"/>
              </a:rPr>
              <a:t>Increase in frequency of heatwaves and extreme rainfall</a:t>
            </a:r>
          </a:p>
          <a:p>
            <a:pPr lvl="1"/>
            <a:r>
              <a:rPr lang="en-US" dirty="0">
                <a:latin typeface="Arial" panose="020B0604020202020204" pitchFamily="34" charset="0"/>
                <a:cs typeface="Arial" panose="020B0604020202020204" pitchFamily="34" charset="0"/>
              </a:rPr>
              <a:t>Rising sea levels</a:t>
            </a:r>
            <a:endParaRPr lang="en-US" i="1" dirty="0">
              <a:latin typeface="Arial" panose="020B0604020202020204" pitchFamily="34" charset="0"/>
              <a:cs typeface="Arial" panose="020B0604020202020204" pitchFamily="34" charset="0"/>
            </a:endParaRPr>
          </a:p>
          <a:p>
            <a:pPr lvl="1"/>
            <a:endParaRPr lang="en-US" i="1"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Impacts</a:t>
            </a:r>
          </a:p>
          <a:p>
            <a:pPr lvl="1"/>
            <a:r>
              <a:rPr lang="en-US" dirty="0">
                <a:latin typeface="Arial" panose="020B0604020202020204" pitchFamily="34" charset="0"/>
                <a:cs typeface="Arial" panose="020B0604020202020204" pitchFamily="34" charset="0"/>
              </a:rPr>
              <a:t>Dangerous weather conditions for tourists</a:t>
            </a:r>
          </a:p>
          <a:p>
            <a:pPr lvl="1"/>
            <a:r>
              <a:rPr lang="en-US" dirty="0">
                <a:latin typeface="Arial" panose="020B0604020202020204" pitchFamily="34" charset="0"/>
                <a:cs typeface="Arial" panose="020B0604020202020204" pitchFamily="34" charset="0"/>
              </a:rPr>
              <a:t>Erosion of beaches/coastal areas</a:t>
            </a:r>
          </a:p>
          <a:p>
            <a:pPr lvl="1"/>
            <a:endParaRPr lang="en-US" i="1" dirty="0">
              <a:latin typeface="Arial" panose="020B0604020202020204" pitchFamily="34" charset="0"/>
              <a:cs typeface="Arial" panose="020B0604020202020204" pitchFamily="34" charset="0"/>
            </a:endParaRPr>
          </a:p>
          <a:p>
            <a:pPr lvl="1"/>
            <a:endParaRPr lang="en-US" dirty="0">
              <a:latin typeface="Arial" panose="020B0604020202020204" pitchFamily="34" charset="0"/>
              <a:cs typeface="Arial" panose="020B0604020202020204" pitchFamily="34" charset="0"/>
            </a:endParaRPr>
          </a:p>
        </p:txBody>
      </p:sp>
      <p:pic>
        <p:nvPicPr>
          <p:cNvPr id="4" name="Picture 3" descr="A picture containing text, sign, vector graphics&#10;&#10;Description automatically generated">
            <a:extLst>
              <a:ext uri="{FF2B5EF4-FFF2-40B4-BE49-F238E27FC236}">
                <a16:creationId xmlns:a16="http://schemas.microsoft.com/office/drawing/2014/main" id="{F2AFE85F-5239-4667-5668-B8B8BC8D3913}"/>
              </a:ext>
            </a:extLst>
          </p:cNvPr>
          <p:cNvPicPr>
            <a:picLocks noChangeAspect="1"/>
          </p:cNvPicPr>
          <p:nvPr/>
        </p:nvPicPr>
        <p:blipFill>
          <a:blip r:embed="rId2"/>
          <a:stretch>
            <a:fillRect/>
          </a:stretch>
        </p:blipFill>
        <p:spPr>
          <a:xfrm>
            <a:off x="11353800" y="6176961"/>
            <a:ext cx="541677" cy="541677"/>
          </a:xfrm>
          <a:prstGeom prst="rect">
            <a:avLst/>
          </a:prstGeom>
        </p:spPr>
      </p:pic>
      <p:sp>
        <p:nvSpPr>
          <p:cNvPr id="5" name="Slide Number Placeholder 4">
            <a:extLst>
              <a:ext uri="{FF2B5EF4-FFF2-40B4-BE49-F238E27FC236}">
                <a16:creationId xmlns:a16="http://schemas.microsoft.com/office/drawing/2014/main" id="{9BFE1041-4B1F-AEDB-2A08-AF5606085814}"/>
              </a:ext>
            </a:extLst>
          </p:cNvPr>
          <p:cNvSpPr>
            <a:spLocks noGrp="1"/>
          </p:cNvSpPr>
          <p:nvPr>
            <p:ph type="sldNum" sz="quarter" idx="12"/>
          </p:nvPr>
        </p:nvSpPr>
        <p:spPr/>
        <p:txBody>
          <a:bodyPr/>
          <a:lstStyle/>
          <a:p>
            <a:fld id="{D51B4FB4-AA13-FE41-AF8A-525BA2FA973D}" type="slidenum">
              <a:rPr lang="en-US" smtClean="0"/>
              <a:t>19</a:t>
            </a:fld>
            <a:endParaRPr lang="en-US" dirty="0"/>
          </a:p>
        </p:txBody>
      </p:sp>
      <p:grpSp>
        <p:nvGrpSpPr>
          <p:cNvPr id="6" name="Group 5">
            <a:extLst>
              <a:ext uri="{FF2B5EF4-FFF2-40B4-BE49-F238E27FC236}">
                <a16:creationId xmlns:a16="http://schemas.microsoft.com/office/drawing/2014/main" id="{51539188-0844-74C6-C6D8-396981746D7F}"/>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AFDEC274-AC30-0961-10EB-42AC93AEB84D}"/>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CB47984-0320-49BB-562E-63CCBE37504B}"/>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73A84F27-A31C-D05D-6E37-6C4E3033BA80}"/>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7" name="Picture 2" descr="Sao Tome and Principe endorses first ever fisheries management plan">
            <a:extLst>
              <a:ext uri="{FF2B5EF4-FFF2-40B4-BE49-F238E27FC236}">
                <a16:creationId xmlns:a16="http://schemas.microsoft.com/office/drawing/2014/main" id="{71EECC6E-53D6-11A2-AD83-469EAB653C4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3476"/>
          <a:stretch>
            <a:fillRect/>
          </a:stretch>
        </p:blipFill>
        <p:spPr bwMode="auto">
          <a:xfrm>
            <a:off x="6757130" y="406302"/>
            <a:ext cx="5434870" cy="6451698"/>
          </a:xfrm>
          <a:prstGeom prst="rect">
            <a:avLst/>
          </a:prstGeom>
          <a:noFill/>
          <a:extLst>
            <a:ext uri="{909E8E84-426E-40DD-AFC4-6F175D3DCCD1}">
              <a14:hiddenFill xmlns:a14="http://schemas.microsoft.com/office/drawing/2010/main">
                <a:solidFill>
                  <a:srgbClr val="FFFFFF"/>
                </a:solidFill>
              </a14:hiddenFill>
            </a:ext>
          </a:extLst>
        </p:spPr>
      </p:pic>
      <p:sp>
        <p:nvSpPr>
          <p:cNvPr id="11" name="Slide Number Placeholder 4">
            <a:extLst>
              <a:ext uri="{FF2B5EF4-FFF2-40B4-BE49-F238E27FC236}">
                <a16:creationId xmlns:a16="http://schemas.microsoft.com/office/drawing/2014/main" id="{209730D2-7949-78FC-55DF-18C105371E73}"/>
              </a:ext>
            </a:extLst>
          </p:cNvPr>
          <p:cNvSpPr txBox="1">
            <a:spLocks/>
          </p:cNvSpPr>
          <p:nvPr/>
        </p:nvSpPr>
        <p:spPr>
          <a:xfrm>
            <a:off x="8876930" y="6345885"/>
            <a:ext cx="2743200" cy="365125"/>
          </a:xfrm>
          <a:prstGeom prst="rect">
            <a:avLst/>
          </a:prstGeom>
        </p:spPr>
        <p:txBody>
          <a:bodyPr vert="horz" lIns="91440" tIns="45720" rIns="91440" bIns="45720" rtlCol="0" anchor="ctr"/>
          <a:lstStyle>
            <a:defPPr>
              <a:defRPr lang="en-GH"/>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51B4FB4-AA13-FE41-AF8A-525BA2FA973D}" type="slidenum">
              <a:rPr lang="en-US" smtClean="0"/>
              <a:pPr/>
              <a:t>19</a:t>
            </a:fld>
            <a:endParaRPr lang="en-US" dirty="0"/>
          </a:p>
        </p:txBody>
      </p:sp>
    </p:spTree>
    <p:extLst>
      <p:ext uri="{BB962C8B-B14F-4D97-AF65-F5344CB8AC3E}">
        <p14:creationId xmlns:p14="http://schemas.microsoft.com/office/powerpoint/2010/main" val="18341190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0B696-778A-D8CE-4102-B3D67869C82A}"/>
            </a:ext>
          </a:extLst>
        </p:cNvPr>
        <p:cNvGrpSpPr/>
        <p:nvPr/>
      </p:nvGrpSpPr>
      <p:grpSpPr>
        <a:xfrm>
          <a:off x="0" y="0"/>
          <a:ext cx="0" cy="0"/>
          <a:chOff x="0" y="0"/>
          <a:chExt cx="0" cy="0"/>
        </a:xfrm>
      </p:grpSpPr>
      <p:pic>
        <p:nvPicPr>
          <p:cNvPr id="2050" name="Picture 2" descr="5 Reasons to Visit São Tomé and Príncipe in the Winter Months">
            <a:extLst>
              <a:ext uri="{FF2B5EF4-FFF2-40B4-BE49-F238E27FC236}">
                <a16:creationId xmlns:a16="http://schemas.microsoft.com/office/drawing/2014/main" id="{1F8354CC-424B-E624-D376-3924312982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87835" y="395043"/>
            <a:ext cx="8641719" cy="647566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9472256-E5F8-2060-F4BC-FFF63DAF5A69}"/>
              </a:ext>
            </a:extLst>
          </p:cNvPr>
          <p:cNvSpPr>
            <a:spLocks noGrp="1"/>
          </p:cNvSpPr>
          <p:nvPr>
            <p:ph type="title"/>
          </p:nvPr>
        </p:nvSpPr>
        <p:spPr>
          <a:xfrm>
            <a:off x="838200" y="501650"/>
            <a:ext cx="5646576" cy="1325563"/>
          </a:xfrm>
        </p:spPr>
        <p:txBody>
          <a:bodyPr>
            <a:normAutofit/>
          </a:bodyPr>
          <a:lstStyle/>
          <a:p>
            <a:r>
              <a:rPr lang="en-US" sz="3200" b="1" dirty="0">
                <a:solidFill>
                  <a:srgbClr val="0070C0"/>
                </a:solidFill>
                <a:latin typeface="Arial" panose="020B0604020202020204" pitchFamily="34" charset="0"/>
                <a:cs typeface="Arial" panose="020B0604020202020204" pitchFamily="34" charset="0"/>
              </a:rPr>
              <a:t>Tourism in STP</a:t>
            </a:r>
          </a:p>
        </p:txBody>
      </p:sp>
      <p:sp>
        <p:nvSpPr>
          <p:cNvPr id="3" name="Content Placeholder 2">
            <a:extLst>
              <a:ext uri="{FF2B5EF4-FFF2-40B4-BE49-F238E27FC236}">
                <a16:creationId xmlns:a16="http://schemas.microsoft.com/office/drawing/2014/main" id="{3E59EDD1-AA50-5BD6-0C61-E0284018FFE2}"/>
              </a:ext>
            </a:extLst>
          </p:cNvPr>
          <p:cNvSpPr>
            <a:spLocks noGrp="1"/>
          </p:cNvSpPr>
          <p:nvPr>
            <p:ph idx="1"/>
          </p:nvPr>
        </p:nvSpPr>
        <p:spPr>
          <a:xfrm>
            <a:off x="838200" y="1994547"/>
            <a:ext cx="4860551" cy="4351338"/>
          </a:xfrm>
        </p:spPr>
        <p:txBody>
          <a:bodyPr>
            <a:normAutofit fontScale="92500" lnSpcReduction="20000"/>
          </a:bodyPr>
          <a:lstStyle/>
          <a:p>
            <a:r>
              <a:rPr lang="en-US" dirty="0">
                <a:latin typeface="Arial" panose="020B0604020202020204" pitchFamily="34" charset="0"/>
                <a:cs typeface="Arial" panose="020B0604020202020204" pitchFamily="34" charset="0"/>
              </a:rPr>
              <a:t>GDP: 6-8% (14% indirect)</a:t>
            </a:r>
          </a:p>
          <a:p>
            <a:r>
              <a:rPr lang="en-US" dirty="0">
                <a:latin typeface="Arial" panose="020B0604020202020204" pitchFamily="34" charset="0"/>
                <a:cs typeface="Arial" panose="020B0604020202020204" pitchFamily="34" charset="0"/>
              </a:rPr>
              <a:t>Employment: ~10%</a:t>
            </a:r>
          </a:p>
          <a:p>
            <a:r>
              <a:rPr lang="en-US" dirty="0">
                <a:latin typeface="Arial" panose="020B0604020202020204" pitchFamily="34" charset="0"/>
                <a:cs typeface="Arial" panose="020B0604020202020204" pitchFamily="34" charset="0"/>
              </a:rPr>
              <a:t>Highlights:</a:t>
            </a:r>
          </a:p>
          <a:p>
            <a:pPr lvl="1"/>
            <a:r>
              <a:rPr lang="en-US" dirty="0">
                <a:latin typeface="Arial" panose="020B0604020202020204" pitchFamily="34" charset="0"/>
                <a:cs typeface="Arial" panose="020B0604020202020204" pitchFamily="34" charset="0"/>
              </a:rPr>
              <a:t>Sun and beach</a:t>
            </a:r>
          </a:p>
          <a:p>
            <a:pPr lvl="1"/>
            <a:r>
              <a:rPr lang="en-US" dirty="0">
                <a:latin typeface="Arial" panose="020B0604020202020204" pitchFamily="34" charset="0"/>
                <a:cs typeface="Arial" panose="020B0604020202020204" pitchFamily="34" charset="0"/>
              </a:rPr>
              <a:t>Diving</a:t>
            </a:r>
          </a:p>
          <a:p>
            <a:pPr lvl="1"/>
            <a:r>
              <a:rPr lang="en-US" dirty="0">
                <a:latin typeface="Arial" panose="020B0604020202020204" pitchFamily="34" charset="0"/>
                <a:cs typeface="Arial" panose="020B0604020202020204" pitchFamily="34" charset="0"/>
              </a:rPr>
              <a:t>Ecotourism</a:t>
            </a:r>
          </a:p>
          <a:p>
            <a:pPr lvl="1"/>
            <a:r>
              <a:rPr lang="en-US" i="1" dirty="0">
                <a:latin typeface="Arial" panose="020B0604020202020204" pitchFamily="34" charset="0"/>
                <a:cs typeface="Arial" panose="020B0604020202020204" pitchFamily="34" charset="0"/>
              </a:rPr>
              <a:t>Sports fishing</a:t>
            </a:r>
          </a:p>
          <a:p>
            <a:pPr lvl="1"/>
            <a:endParaRPr lang="en-US" i="1"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Threats</a:t>
            </a:r>
          </a:p>
          <a:p>
            <a:pPr lvl="1"/>
            <a:r>
              <a:rPr lang="en-US" dirty="0">
                <a:latin typeface="Arial" panose="020B0604020202020204" pitchFamily="34" charset="0"/>
                <a:cs typeface="Arial" panose="020B0604020202020204" pitchFamily="34" charset="0"/>
              </a:rPr>
              <a:t>High temperatures and humidity</a:t>
            </a:r>
          </a:p>
          <a:p>
            <a:pPr lvl="1"/>
            <a:r>
              <a:rPr lang="en-US" dirty="0">
                <a:latin typeface="Arial" panose="020B0604020202020204" pitchFamily="34" charset="0"/>
                <a:cs typeface="Arial" panose="020B0604020202020204" pitchFamily="34" charset="0"/>
              </a:rPr>
              <a:t>Extreme weather</a:t>
            </a:r>
          </a:p>
          <a:p>
            <a:pPr lvl="1"/>
            <a:r>
              <a:rPr lang="en-US" dirty="0">
                <a:latin typeface="Arial" panose="020B0604020202020204" pitchFamily="34" charset="0"/>
                <a:cs typeface="Arial" panose="020B0604020202020204" pitchFamily="34" charset="0"/>
              </a:rPr>
              <a:t>Coastal erosion</a:t>
            </a:r>
          </a:p>
          <a:p>
            <a:pPr lvl="1"/>
            <a:endParaRPr lang="en-US" i="1" dirty="0">
              <a:latin typeface="Arial" panose="020B0604020202020204" pitchFamily="34" charset="0"/>
              <a:cs typeface="Arial" panose="020B0604020202020204" pitchFamily="34" charset="0"/>
            </a:endParaRPr>
          </a:p>
          <a:p>
            <a:pPr lvl="1"/>
            <a:endParaRPr lang="en-US"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A1EA563C-3436-CAF4-90AF-128BCD09650B}"/>
              </a:ext>
            </a:extLst>
          </p:cNvPr>
          <p:cNvSpPr>
            <a:spLocks noGrp="1"/>
          </p:cNvSpPr>
          <p:nvPr>
            <p:ph type="sldNum" sz="quarter" idx="12"/>
          </p:nvPr>
        </p:nvSpPr>
        <p:spPr>
          <a:xfrm>
            <a:off x="8876930" y="6345885"/>
            <a:ext cx="2743200" cy="365125"/>
          </a:xfrm>
        </p:spPr>
        <p:txBody>
          <a:bodyPr/>
          <a:lstStyle/>
          <a:p>
            <a:fld id="{D51B4FB4-AA13-FE41-AF8A-525BA2FA973D}" type="slidenum">
              <a:rPr lang="en-US" smtClean="0"/>
              <a:t>20</a:t>
            </a:fld>
            <a:endParaRPr lang="en-US" dirty="0"/>
          </a:p>
        </p:txBody>
      </p:sp>
      <p:grpSp>
        <p:nvGrpSpPr>
          <p:cNvPr id="6" name="Group 5">
            <a:extLst>
              <a:ext uri="{FF2B5EF4-FFF2-40B4-BE49-F238E27FC236}">
                <a16:creationId xmlns:a16="http://schemas.microsoft.com/office/drawing/2014/main" id="{EFE16E37-5C45-2DD8-6936-38188B9C8587}"/>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1B602073-FF12-DCD2-E89A-23E196430464}"/>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484D007-D74E-D712-E30B-2874B061D081}"/>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DD619689-B7BB-04C2-5CB6-B8F81FBED7B8}"/>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72808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E83BB-C7AF-63ED-BD80-67F1D9A4E9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F84820-09FF-E2E4-EAEF-35A219E823AF}"/>
              </a:ext>
            </a:extLst>
          </p:cNvPr>
          <p:cNvSpPr>
            <a:spLocks noGrp="1"/>
          </p:cNvSpPr>
          <p:nvPr>
            <p:ph type="title"/>
          </p:nvPr>
        </p:nvSpPr>
        <p:spPr>
          <a:xfrm>
            <a:off x="838200" y="501650"/>
            <a:ext cx="5646576" cy="1325563"/>
          </a:xfrm>
        </p:spPr>
        <p:txBody>
          <a:bodyPr>
            <a:normAutofit/>
          </a:bodyPr>
          <a:lstStyle/>
          <a:p>
            <a:r>
              <a:rPr lang="en-US" sz="3200" b="1" dirty="0">
                <a:solidFill>
                  <a:srgbClr val="0070C0"/>
                </a:solidFill>
                <a:latin typeface="Arial" panose="020B0604020202020204" pitchFamily="34" charset="0"/>
                <a:cs typeface="Arial" panose="020B0604020202020204" pitchFamily="34" charset="0"/>
              </a:rPr>
              <a:t>Tourism in STP</a:t>
            </a:r>
          </a:p>
        </p:txBody>
      </p:sp>
      <p:sp>
        <p:nvSpPr>
          <p:cNvPr id="5" name="Slide Number Placeholder 4">
            <a:extLst>
              <a:ext uri="{FF2B5EF4-FFF2-40B4-BE49-F238E27FC236}">
                <a16:creationId xmlns:a16="http://schemas.microsoft.com/office/drawing/2014/main" id="{E672FBF9-64DB-1A22-61D7-FDD1FDA0468E}"/>
              </a:ext>
            </a:extLst>
          </p:cNvPr>
          <p:cNvSpPr>
            <a:spLocks noGrp="1"/>
          </p:cNvSpPr>
          <p:nvPr>
            <p:ph type="sldNum" sz="quarter" idx="12"/>
          </p:nvPr>
        </p:nvSpPr>
        <p:spPr>
          <a:xfrm>
            <a:off x="9205669" y="6299592"/>
            <a:ext cx="2743200" cy="365125"/>
          </a:xfrm>
        </p:spPr>
        <p:txBody>
          <a:bodyPr/>
          <a:lstStyle/>
          <a:p>
            <a:fld id="{D51B4FB4-AA13-FE41-AF8A-525BA2FA973D}" type="slidenum">
              <a:rPr lang="en-US" smtClean="0"/>
              <a:t>21</a:t>
            </a:fld>
            <a:endParaRPr lang="en-US" dirty="0"/>
          </a:p>
        </p:txBody>
      </p:sp>
      <p:grpSp>
        <p:nvGrpSpPr>
          <p:cNvPr id="6" name="Group 5">
            <a:extLst>
              <a:ext uri="{FF2B5EF4-FFF2-40B4-BE49-F238E27FC236}">
                <a16:creationId xmlns:a16="http://schemas.microsoft.com/office/drawing/2014/main" id="{1B08B314-B2BD-9FF4-EEE1-FC757E0A15DD}"/>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68C28B0A-E289-8F95-E66A-385D15083B9A}"/>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04AC088-D1D2-0691-6A50-4A861AF6C932}"/>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B64E9549-AD8F-062B-D058-176544BE1240}"/>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12" name="Picture 11" descr="A graph with numbers and a bar chart&#10;&#10;Description automatically generated">
            <a:extLst>
              <a:ext uri="{FF2B5EF4-FFF2-40B4-BE49-F238E27FC236}">
                <a16:creationId xmlns:a16="http://schemas.microsoft.com/office/drawing/2014/main" id="{01FC1FFF-6F6D-DEBD-887B-975716C610C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95732" y="1684333"/>
            <a:ext cx="4731792" cy="2052911"/>
          </a:xfrm>
          <a:prstGeom prst="rect">
            <a:avLst/>
          </a:prstGeom>
          <a:noFill/>
          <a:ln>
            <a:noFill/>
          </a:ln>
        </p:spPr>
      </p:pic>
      <p:pic>
        <p:nvPicPr>
          <p:cNvPr id="13" name="Picture 12" descr="A graph with blue and orange lines&#10;&#10;Description automatically generated">
            <a:extLst>
              <a:ext uri="{FF2B5EF4-FFF2-40B4-BE49-F238E27FC236}">
                <a16:creationId xmlns:a16="http://schemas.microsoft.com/office/drawing/2014/main" id="{32BC151E-3B40-9634-4E6E-AD9BD0C5AFA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853180"/>
            <a:ext cx="4646857" cy="2628975"/>
          </a:xfrm>
          <a:prstGeom prst="rect">
            <a:avLst/>
          </a:prstGeom>
          <a:noFill/>
          <a:ln>
            <a:noFill/>
          </a:ln>
        </p:spPr>
      </p:pic>
      <p:pic>
        <p:nvPicPr>
          <p:cNvPr id="14" name="Picture 13" descr="STP2">
            <a:extLst>
              <a:ext uri="{FF2B5EF4-FFF2-40B4-BE49-F238E27FC236}">
                <a16:creationId xmlns:a16="http://schemas.microsoft.com/office/drawing/2014/main" id="{B6282532-8A54-9713-6C93-CD2A1947C4DF}"/>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93128" y="1827212"/>
            <a:ext cx="5731510" cy="4051935"/>
          </a:xfrm>
          <a:prstGeom prst="rect">
            <a:avLst/>
          </a:prstGeom>
          <a:noFill/>
          <a:ln>
            <a:noFill/>
          </a:ln>
        </p:spPr>
      </p:pic>
      <p:sp>
        <p:nvSpPr>
          <p:cNvPr id="15" name="TextBox 14">
            <a:extLst>
              <a:ext uri="{FF2B5EF4-FFF2-40B4-BE49-F238E27FC236}">
                <a16:creationId xmlns:a16="http://schemas.microsoft.com/office/drawing/2014/main" id="{83554A8D-99C5-F560-5E6E-590121C5BC74}"/>
              </a:ext>
            </a:extLst>
          </p:cNvPr>
          <p:cNvSpPr txBox="1"/>
          <p:nvPr/>
        </p:nvSpPr>
        <p:spPr>
          <a:xfrm>
            <a:off x="7532145" y="1499667"/>
            <a:ext cx="3045124" cy="369332"/>
          </a:xfrm>
          <a:prstGeom prst="rect">
            <a:avLst/>
          </a:prstGeom>
          <a:noFill/>
        </p:spPr>
        <p:txBody>
          <a:bodyPr wrap="square" rtlCol="0">
            <a:spAutoFit/>
          </a:bodyPr>
          <a:lstStyle/>
          <a:p>
            <a:r>
              <a:rPr lang="en-GB" dirty="0"/>
              <a:t>Locations of tourist provisions</a:t>
            </a:r>
          </a:p>
        </p:txBody>
      </p:sp>
    </p:spTree>
    <p:extLst>
      <p:ext uri="{BB962C8B-B14F-4D97-AF65-F5344CB8AC3E}">
        <p14:creationId xmlns:p14="http://schemas.microsoft.com/office/powerpoint/2010/main" val="34419709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99060-E8F0-E715-8D6A-B7432F0E02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EC78ED-6FE0-218B-A93A-729ABD9A0F90}"/>
              </a:ext>
            </a:extLst>
          </p:cNvPr>
          <p:cNvSpPr>
            <a:spLocks noGrp="1"/>
          </p:cNvSpPr>
          <p:nvPr>
            <p:ph type="title"/>
          </p:nvPr>
        </p:nvSpPr>
        <p:spPr>
          <a:xfrm>
            <a:off x="838200" y="557726"/>
            <a:ext cx="7772400" cy="1325563"/>
          </a:xfrm>
        </p:spPr>
        <p:txBody>
          <a:bodyPr>
            <a:normAutofit/>
          </a:bodyPr>
          <a:lstStyle/>
          <a:p>
            <a:r>
              <a:rPr lang="en-US" sz="3200" b="1" dirty="0">
                <a:solidFill>
                  <a:srgbClr val="0070C0"/>
                </a:solidFill>
                <a:latin typeface="Arial" panose="020B0604020202020204" pitchFamily="34" charset="0"/>
                <a:cs typeface="Arial" panose="020B0604020202020204" pitchFamily="34" charset="0"/>
              </a:rPr>
              <a:t>Tourism – climate exposure (historical)</a:t>
            </a:r>
          </a:p>
        </p:txBody>
      </p:sp>
      <p:sp>
        <p:nvSpPr>
          <p:cNvPr id="5" name="Slide Number Placeholder 4">
            <a:extLst>
              <a:ext uri="{FF2B5EF4-FFF2-40B4-BE49-F238E27FC236}">
                <a16:creationId xmlns:a16="http://schemas.microsoft.com/office/drawing/2014/main" id="{D511E6E2-F45E-5A6C-047F-C77C3AFA373F}"/>
              </a:ext>
            </a:extLst>
          </p:cNvPr>
          <p:cNvSpPr>
            <a:spLocks noGrp="1"/>
          </p:cNvSpPr>
          <p:nvPr>
            <p:ph type="sldNum" sz="quarter" idx="12"/>
          </p:nvPr>
        </p:nvSpPr>
        <p:spPr>
          <a:xfrm>
            <a:off x="9184328" y="6352086"/>
            <a:ext cx="2743200" cy="365125"/>
          </a:xfrm>
        </p:spPr>
        <p:txBody>
          <a:bodyPr/>
          <a:lstStyle/>
          <a:p>
            <a:fld id="{D51B4FB4-AA13-FE41-AF8A-525BA2FA973D}" type="slidenum">
              <a:rPr lang="en-US" smtClean="0"/>
              <a:t>22</a:t>
            </a:fld>
            <a:endParaRPr lang="en-US" dirty="0"/>
          </a:p>
        </p:txBody>
      </p:sp>
      <p:grpSp>
        <p:nvGrpSpPr>
          <p:cNvPr id="6" name="Group 5">
            <a:extLst>
              <a:ext uri="{FF2B5EF4-FFF2-40B4-BE49-F238E27FC236}">
                <a16:creationId xmlns:a16="http://schemas.microsoft.com/office/drawing/2014/main" id="{2773066D-1FE3-FCCE-9EE4-71A4BBEF3769}"/>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D5C5281B-1BDB-DAB8-C730-9FDD9D3C17FD}"/>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6CD0654-5C0E-504A-C6BB-C7D10202A273}"/>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44690702-43AE-5A45-AAA0-3E9FBF4B25E6}"/>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3" name="Picture 2" descr="A screenshot of a graph&#10;&#10;AI-generated content may be incorrect.">
            <a:extLst>
              <a:ext uri="{FF2B5EF4-FFF2-40B4-BE49-F238E27FC236}">
                <a16:creationId xmlns:a16="http://schemas.microsoft.com/office/drawing/2014/main" id="{BD479BF8-FC44-F123-9041-EF2E3A1C7DB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30527" b="32193"/>
          <a:stretch>
            <a:fillRect/>
          </a:stretch>
        </p:blipFill>
        <p:spPr bwMode="auto">
          <a:xfrm>
            <a:off x="838200" y="4176417"/>
            <a:ext cx="5211092" cy="1942395"/>
          </a:xfrm>
          <a:prstGeom prst="rect">
            <a:avLst/>
          </a:prstGeom>
          <a:ln>
            <a:noFill/>
          </a:ln>
          <a:extLst>
            <a:ext uri="{53640926-AAD7-44D8-BBD7-CCE9431645EC}">
              <a14:shadowObscured xmlns:a14="http://schemas.microsoft.com/office/drawing/2010/main"/>
            </a:ext>
          </a:extLst>
        </p:spPr>
      </p:pic>
      <p:pic>
        <p:nvPicPr>
          <p:cNvPr id="7" name="Picture 6" descr="A screenshot of a computer screen&#10;&#10;AI-generated content may be incorrect.">
            <a:extLst>
              <a:ext uri="{FF2B5EF4-FFF2-40B4-BE49-F238E27FC236}">
                <a16:creationId xmlns:a16="http://schemas.microsoft.com/office/drawing/2014/main" id="{B7E99EF5-F346-296C-F7DA-E65915B696A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30988" b="31582"/>
          <a:stretch>
            <a:fillRect/>
          </a:stretch>
        </p:blipFill>
        <p:spPr bwMode="auto">
          <a:xfrm>
            <a:off x="6589581" y="2116563"/>
            <a:ext cx="5189495" cy="1942395"/>
          </a:xfrm>
          <a:prstGeom prst="rect">
            <a:avLst/>
          </a:prstGeom>
          <a:ln>
            <a:noFill/>
          </a:ln>
          <a:extLst>
            <a:ext uri="{53640926-AAD7-44D8-BBD7-CCE9431645EC}">
              <a14:shadowObscured xmlns:a14="http://schemas.microsoft.com/office/drawing/2010/main"/>
            </a:ext>
          </a:extLst>
        </p:spPr>
      </p:pic>
      <p:pic>
        <p:nvPicPr>
          <p:cNvPr id="11" name="Picture 10" descr="A screenshot of a computer screen&#10;&#10;AI-generated content may be incorrect.">
            <a:extLst>
              <a:ext uri="{FF2B5EF4-FFF2-40B4-BE49-F238E27FC236}">
                <a16:creationId xmlns:a16="http://schemas.microsoft.com/office/drawing/2014/main" id="{5C080776-192C-E8F4-E312-46CA8A7E48A3}"/>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30681" b="32652"/>
          <a:stretch>
            <a:fillRect/>
          </a:stretch>
        </p:blipFill>
        <p:spPr bwMode="auto">
          <a:xfrm>
            <a:off x="6567984" y="4207963"/>
            <a:ext cx="5211092" cy="1910849"/>
          </a:xfrm>
          <a:prstGeom prst="rect">
            <a:avLst/>
          </a:prstGeom>
          <a:ln>
            <a:noFill/>
          </a:ln>
          <a:extLst>
            <a:ext uri="{53640926-AAD7-44D8-BBD7-CCE9431645EC}">
              <a14:shadowObscured xmlns:a14="http://schemas.microsoft.com/office/drawing/2010/main"/>
            </a:ext>
          </a:extLst>
        </p:spPr>
      </p:pic>
      <p:sp>
        <p:nvSpPr>
          <p:cNvPr id="12" name="Content Placeholder 2">
            <a:extLst>
              <a:ext uri="{FF2B5EF4-FFF2-40B4-BE49-F238E27FC236}">
                <a16:creationId xmlns:a16="http://schemas.microsoft.com/office/drawing/2014/main" id="{7AA4B144-32AA-BF9C-A1E7-A25A8EE3EA8F}"/>
              </a:ext>
            </a:extLst>
          </p:cNvPr>
          <p:cNvSpPr>
            <a:spLocks noGrp="1"/>
          </p:cNvSpPr>
          <p:nvPr>
            <p:ph idx="1"/>
          </p:nvPr>
        </p:nvSpPr>
        <p:spPr>
          <a:xfrm>
            <a:off x="912845" y="2000748"/>
            <a:ext cx="5525278" cy="4351338"/>
          </a:xfrm>
        </p:spPr>
        <p:txBody>
          <a:bodyPr>
            <a:normAutofit/>
          </a:bodyPr>
          <a:lstStyle/>
          <a:p>
            <a:r>
              <a:rPr lang="en-US" sz="2000" dirty="0">
                <a:latin typeface="Arial" panose="020B0604020202020204" pitchFamily="34" charset="0"/>
                <a:cs typeface="Arial" panose="020B0604020202020204" pitchFamily="34" charset="0"/>
              </a:rPr>
              <a:t>Data source: ERA5 reanalysis dataset</a:t>
            </a:r>
          </a:p>
          <a:p>
            <a:r>
              <a:rPr lang="en-US" sz="2000" dirty="0">
                <a:latin typeface="Arial" panose="020B0604020202020204" pitchFamily="34" charset="0"/>
                <a:cs typeface="Arial" panose="020B0604020202020204" pitchFamily="34" charset="0"/>
              </a:rPr>
              <a:t>Past climate trends:</a:t>
            </a:r>
          </a:p>
          <a:p>
            <a:pPr lvl="1"/>
            <a:r>
              <a:rPr lang="en-US" sz="1800" b="1" dirty="0">
                <a:latin typeface="Arial" panose="020B0604020202020204" pitchFamily="34" charset="0"/>
                <a:cs typeface="Arial" panose="020B0604020202020204" pitchFamily="34" charset="0"/>
              </a:rPr>
              <a:t>Rising surface temperatures</a:t>
            </a:r>
          </a:p>
          <a:p>
            <a:pPr lvl="1"/>
            <a:r>
              <a:rPr lang="en-US" sz="1800" b="1" dirty="0">
                <a:latin typeface="Arial" panose="020B0604020202020204" pitchFamily="34" charset="0"/>
                <a:cs typeface="Arial" panose="020B0604020202020204" pitchFamily="34" charset="0"/>
              </a:rPr>
              <a:t>More precipitation in October-December</a:t>
            </a:r>
          </a:p>
          <a:p>
            <a:pPr lvl="1"/>
            <a:r>
              <a:rPr lang="en-US" sz="1800" b="1" dirty="0">
                <a:latin typeface="Arial" panose="020B0604020202020204" pitchFamily="34" charset="0"/>
                <a:cs typeface="Arial" panose="020B0604020202020204" pitchFamily="34" charset="0"/>
              </a:rPr>
              <a:t>More humid in July-December</a:t>
            </a:r>
          </a:p>
          <a:p>
            <a:pPr lvl="1"/>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618593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03853-9780-EC54-6736-2FC26EAFBB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487E54-C88C-C040-F6CB-8C8B96686C15}"/>
              </a:ext>
            </a:extLst>
          </p:cNvPr>
          <p:cNvSpPr>
            <a:spLocks noGrp="1"/>
          </p:cNvSpPr>
          <p:nvPr>
            <p:ph type="title"/>
          </p:nvPr>
        </p:nvSpPr>
        <p:spPr>
          <a:xfrm>
            <a:off x="838200" y="501650"/>
            <a:ext cx="8184502" cy="1325563"/>
          </a:xfrm>
        </p:spPr>
        <p:txBody>
          <a:bodyPr>
            <a:normAutofit/>
          </a:bodyPr>
          <a:lstStyle/>
          <a:p>
            <a:r>
              <a:rPr lang="en-US" sz="3200" b="1" dirty="0">
                <a:solidFill>
                  <a:srgbClr val="0070C0"/>
                </a:solidFill>
                <a:latin typeface="Arial" panose="020B0604020202020204" pitchFamily="34" charset="0"/>
                <a:cs typeface="Arial" panose="020B0604020202020204" pitchFamily="34" charset="0"/>
              </a:rPr>
              <a:t>Tourism – climate exposure (historical)</a:t>
            </a:r>
          </a:p>
        </p:txBody>
      </p:sp>
      <p:sp>
        <p:nvSpPr>
          <p:cNvPr id="5" name="Slide Number Placeholder 4">
            <a:extLst>
              <a:ext uri="{FF2B5EF4-FFF2-40B4-BE49-F238E27FC236}">
                <a16:creationId xmlns:a16="http://schemas.microsoft.com/office/drawing/2014/main" id="{131196F0-0865-B181-5BD9-1D3E0103C4E8}"/>
              </a:ext>
            </a:extLst>
          </p:cNvPr>
          <p:cNvSpPr>
            <a:spLocks noGrp="1"/>
          </p:cNvSpPr>
          <p:nvPr>
            <p:ph type="sldNum" sz="quarter" idx="12"/>
          </p:nvPr>
        </p:nvSpPr>
        <p:spPr>
          <a:xfrm>
            <a:off x="9110932" y="6280393"/>
            <a:ext cx="2743200" cy="365125"/>
          </a:xfrm>
        </p:spPr>
        <p:txBody>
          <a:bodyPr/>
          <a:lstStyle/>
          <a:p>
            <a:fld id="{D51B4FB4-AA13-FE41-AF8A-525BA2FA973D}" type="slidenum">
              <a:rPr lang="en-US" smtClean="0"/>
              <a:t>23</a:t>
            </a:fld>
            <a:endParaRPr lang="en-US" dirty="0"/>
          </a:p>
        </p:txBody>
      </p:sp>
      <p:grpSp>
        <p:nvGrpSpPr>
          <p:cNvPr id="6" name="Group 5">
            <a:extLst>
              <a:ext uri="{FF2B5EF4-FFF2-40B4-BE49-F238E27FC236}">
                <a16:creationId xmlns:a16="http://schemas.microsoft.com/office/drawing/2014/main" id="{54C82112-22C8-B2C5-4D09-CCA0051D479C}"/>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163ED638-D06E-7B94-D67F-29BE633C5896}"/>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FAC20DB-E44B-2C25-5582-0E1AE1828175}"/>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6E8ECA50-5C96-B9BE-FAC3-0CE435D63D3D}"/>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21" name="Table 20">
            <a:extLst>
              <a:ext uri="{FF2B5EF4-FFF2-40B4-BE49-F238E27FC236}">
                <a16:creationId xmlns:a16="http://schemas.microsoft.com/office/drawing/2014/main" id="{3A5026F5-1F37-4F2A-105B-BB9E3ACE2D07}"/>
              </a:ext>
            </a:extLst>
          </p:cNvPr>
          <p:cNvGraphicFramePr>
            <a:graphicFrameLocks noGrp="1"/>
          </p:cNvGraphicFramePr>
          <p:nvPr>
            <p:extLst>
              <p:ext uri="{D42A27DB-BD31-4B8C-83A1-F6EECF244321}">
                <p14:modId xmlns:p14="http://schemas.microsoft.com/office/powerpoint/2010/main" val="1770460427"/>
              </p:ext>
            </p:extLst>
          </p:nvPr>
        </p:nvGraphicFramePr>
        <p:xfrm>
          <a:off x="1938068" y="2484409"/>
          <a:ext cx="8057070" cy="3339384"/>
        </p:xfrm>
        <a:graphic>
          <a:graphicData uri="http://schemas.openxmlformats.org/drawingml/2006/table">
            <a:tbl>
              <a:tblPr firstRow="1" firstCol="1" bandRow="1"/>
              <a:tblGrid>
                <a:gridCol w="1242162">
                  <a:extLst>
                    <a:ext uri="{9D8B030D-6E8A-4147-A177-3AD203B41FA5}">
                      <a16:colId xmlns:a16="http://schemas.microsoft.com/office/drawing/2014/main" val="4101417176"/>
                    </a:ext>
                  </a:extLst>
                </a:gridCol>
                <a:gridCol w="851640">
                  <a:extLst>
                    <a:ext uri="{9D8B030D-6E8A-4147-A177-3AD203B41FA5}">
                      <a16:colId xmlns:a16="http://schemas.microsoft.com/office/drawing/2014/main" val="1779012330"/>
                    </a:ext>
                  </a:extLst>
                </a:gridCol>
                <a:gridCol w="851640">
                  <a:extLst>
                    <a:ext uri="{9D8B030D-6E8A-4147-A177-3AD203B41FA5}">
                      <a16:colId xmlns:a16="http://schemas.microsoft.com/office/drawing/2014/main" val="540060528"/>
                    </a:ext>
                  </a:extLst>
                </a:gridCol>
                <a:gridCol w="851640">
                  <a:extLst>
                    <a:ext uri="{9D8B030D-6E8A-4147-A177-3AD203B41FA5}">
                      <a16:colId xmlns:a16="http://schemas.microsoft.com/office/drawing/2014/main" val="4248318436"/>
                    </a:ext>
                  </a:extLst>
                </a:gridCol>
                <a:gridCol w="852534">
                  <a:extLst>
                    <a:ext uri="{9D8B030D-6E8A-4147-A177-3AD203B41FA5}">
                      <a16:colId xmlns:a16="http://schemas.microsoft.com/office/drawing/2014/main" val="2578382231"/>
                    </a:ext>
                  </a:extLst>
                </a:gridCol>
                <a:gridCol w="851640">
                  <a:extLst>
                    <a:ext uri="{9D8B030D-6E8A-4147-A177-3AD203B41FA5}">
                      <a16:colId xmlns:a16="http://schemas.microsoft.com/office/drawing/2014/main" val="4189338430"/>
                    </a:ext>
                  </a:extLst>
                </a:gridCol>
                <a:gridCol w="851640">
                  <a:extLst>
                    <a:ext uri="{9D8B030D-6E8A-4147-A177-3AD203B41FA5}">
                      <a16:colId xmlns:a16="http://schemas.microsoft.com/office/drawing/2014/main" val="2918689729"/>
                    </a:ext>
                  </a:extLst>
                </a:gridCol>
                <a:gridCol w="851640">
                  <a:extLst>
                    <a:ext uri="{9D8B030D-6E8A-4147-A177-3AD203B41FA5}">
                      <a16:colId xmlns:a16="http://schemas.microsoft.com/office/drawing/2014/main" val="1985133232"/>
                    </a:ext>
                  </a:extLst>
                </a:gridCol>
                <a:gridCol w="852534">
                  <a:extLst>
                    <a:ext uri="{9D8B030D-6E8A-4147-A177-3AD203B41FA5}">
                      <a16:colId xmlns:a16="http://schemas.microsoft.com/office/drawing/2014/main" val="3091013333"/>
                    </a:ext>
                  </a:extLst>
                </a:gridCol>
              </a:tblGrid>
              <a:tr h="358648">
                <a:tc>
                  <a:txBody>
                    <a:bodyPr/>
                    <a:lstStyle/>
                    <a:p>
                      <a:pPr algn="just">
                        <a:lnSpc>
                          <a:spcPct val="150000"/>
                        </a:lnSpc>
                        <a:spcAft>
                          <a:spcPts val="800"/>
                        </a:spcAft>
                        <a:buNone/>
                      </a:pPr>
                      <a:r>
                        <a:rPr lang="en-GB" sz="1600" b="1">
                          <a:effectLst/>
                          <a:latin typeface="Garamond" panose="02020404030301010803" pitchFamily="18" charset="0"/>
                          <a:ea typeface="Calibri" panose="020F0502020204030204" pitchFamily="34" charset="0"/>
                          <a:cs typeface="Arial" panose="020B0604020202020204" pitchFamily="34" charset="0"/>
                        </a:rPr>
                        <a:t> </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4">
                  <a:txBody>
                    <a:bodyPr/>
                    <a:lstStyle/>
                    <a:p>
                      <a:pPr algn="ctr">
                        <a:lnSpc>
                          <a:spcPct val="150000"/>
                        </a:lnSpc>
                        <a:spcAft>
                          <a:spcPts val="800"/>
                        </a:spcAft>
                        <a:buNone/>
                      </a:pPr>
                      <a:r>
                        <a:rPr lang="en-GB" sz="1600" b="1">
                          <a:effectLst/>
                          <a:latin typeface="Garamond" panose="02020404030301010803" pitchFamily="18" charset="0"/>
                          <a:ea typeface="Calibri" panose="020F0502020204030204" pitchFamily="34" charset="0"/>
                          <a:cs typeface="Arial" panose="020B0604020202020204" pitchFamily="34" charset="0"/>
                        </a:rPr>
                        <a:t>São Tomé</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algn="ctr">
                        <a:lnSpc>
                          <a:spcPct val="150000"/>
                        </a:lnSpc>
                        <a:spcAft>
                          <a:spcPts val="800"/>
                        </a:spcAft>
                        <a:buNone/>
                      </a:pPr>
                      <a:r>
                        <a:rPr lang="en-GB" sz="1600" b="1" dirty="0">
                          <a:effectLst/>
                          <a:latin typeface="Garamond" panose="02020404030301010803" pitchFamily="18" charset="0"/>
                          <a:ea typeface="Calibri" panose="020F0502020204030204" pitchFamily="34" charset="0"/>
                          <a:cs typeface="Arial" panose="020B0604020202020204" pitchFamily="34" charset="0"/>
                        </a:rPr>
                        <a:t>Príncipe</a:t>
                      </a:r>
                      <a:endParaRPr lang="en-GB" sz="1800" dirty="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636990081"/>
                  </a:ext>
                </a:extLst>
              </a:tr>
              <a:tr h="754480">
                <a:tc>
                  <a:txBody>
                    <a:bodyPr/>
                    <a:lstStyle/>
                    <a:p>
                      <a:pPr algn="just">
                        <a:lnSpc>
                          <a:spcPct val="150000"/>
                        </a:lnSpc>
                        <a:spcAft>
                          <a:spcPts val="800"/>
                        </a:spcAft>
                        <a:buNone/>
                      </a:pPr>
                      <a:r>
                        <a:rPr lang="en-GB" sz="1600" b="1">
                          <a:effectLst/>
                          <a:latin typeface="Garamond" panose="02020404030301010803" pitchFamily="18" charset="0"/>
                          <a:ea typeface="Calibri" panose="020F0502020204030204" pitchFamily="34" charset="0"/>
                          <a:cs typeface="Arial" panose="020B0604020202020204" pitchFamily="34" charset="0"/>
                        </a:rPr>
                        <a:t> </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buNone/>
                      </a:pPr>
                      <a:r>
                        <a:rPr lang="en-GB" sz="1600" b="1">
                          <a:effectLst/>
                          <a:latin typeface="Garamond" panose="02020404030301010803" pitchFamily="18" charset="0"/>
                          <a:ea typeface="Calibri" panose="020F0502020204030204" pitchFamily="34" charset="0"/>
                          <a:cs typeface="Arial" panose="020B0604020202020204" pitchFamily="34" charset="0"/>
                        </a:rPr>
                        <a:t>Jan-Mar</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buNone/>
                      </a:pPr>
                      <a:r>
                        <a:rPr lang="en-GB" sz="1600" b="1">
                          <a:effectLst/>
                          <a:latin typeface="Garamond" panose="02020404030301010803" pitchFamily="18" charset="0"/>
                          <a:ea typeface="Calibri" panose="020F0502020204030204" pitchFamily="34" charset="0"/>
                          <a:cs typeface="Arial" panose="020B0604020202020204" pitchFamily="34" charset="0"/>
                        </a:rPr>
                        <a:t>Apr-Jun</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buNone/>
                      </a:pPr>
                      <a:r>
                        <a:rPr lang="en-GB" sz="1600" b="1">
                          <a:effectLst/>
                          <a:latin typeface="Garamond" panose="02020404030301010803" pitchFamily="18" charset="0"/>
                          <a:ea typeface="Calibri" panose="020F0502020204030204" pitchFamily="34" charset="0"/>
                          <a:cs typeface="Arial" panose="020B0604020202020204" pitchFamily="34" charset="0"/>
                        </a:rPr>
                        <a:t>Jul-Sep</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buNone/>
                      </a:pPr>
                      <a:r>
                        <a:rPr lang="en-GB" sz="1600" b="1">
                          <a:effectLst/>
                          <a:latin typeface="Garamond" panose="02020404030301010803" pitchFamily="18" charset="0"/>
                          <a:ea typeface="Calibri" panose="020F0502020204030204" pitchFamily="34" charset="0"/>
                          <a:cs typeface="Arial" panose="020B0604020202020204" pitchFamily="34" charset="0"/>
                        </a:rPr>
                        <a:t>Oct-Dec</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buNone/>
                      </a:pPr>
                      <a:r>
                        <a:rPr lang="en-GB" sz="1600" b="1">
                          <a:effectLst/>
                          <a:latin typeface="Garamond" panose="02020404030301010803" pitchFamily="18" charset="0"/>
                          <a:ea typeface="Calibri" panose="020F0502020204030204" pitchFamily="34" charset="0"/>
                          <a:cs typeface="Arial" panose="020B0604020202020204" pitchFamily="34" charset="0"/>
                        </a:rPr>
                        <a:t>Jan-Mar</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buNone/>
                      </a:pPr>
                      <a:r>
                        <a:rPr lang="en-GB" sz="1600" b="1" dirty="0">
                          <a:effectLst/>
                          <a:latin typeface="Garamond" panose="02020404030301010803" pitchFamily="18" charset="0"/>
                          <a:ea typeface="Calibri" panose="020F0502020204030204" pitchFamily="34" charset="0"/>
                          <a:cs typeface="Arial" panose="020B0604020202020204" pitchFamily="34" charset="0"/>
                        </a:rPr>
                        <a:t>Apr-Jun</a:t>
                      </a:r>
                      <a:endParaRPr lang="en-GB" sz="1800" dirty="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buNone/>
                      </a:pPr>
                      <a:r>
                        <a:rPr lang="en-GB" sz="1600" b="1">
                          <a:effectLst/>
                          <a:latin typeface="Garamond" panose="02020404030301010803" pitchFamily="18" charset="0"/>
                          <a:ea typeface="Calibri" panose="020F0502020204030204" pitchFamily="34" charset="0"/>
                          <a:cs typeface="Arial" panose="020B0604020202020204" pitchFamily="34" charset="0"/>
                        </a:rPr>
                        <a:t>Jul-Sep</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buNone/>
                      </a:pPr>
                      <a:r>
                        <a:rPr lang="en-GB" sz="1600" b="1">
                          <a:effectLst/>
                          <a:latin typeface="Garamond" panose="02020404030301010803" pitchFamily="18" charset="0"/>
                          <a:ea typeface="Calibri" panose="020F0502020204030204" pitchFamily="34" charset="0"/>
                          <a:cs typeface="Arial" panose="020B0604020202020204" pitchFamily="34" charset="0"/>
                        </a:rPr>
                        <a:t>Oct-Dec</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22079606"/>
                  </a:ext>
                </a:extLst>
              </a:tr>
              <a:tr h="358648">
                <a:tc>
                  <a:txBody>
                    <a:bodyPr/>
                    <a:lstStyle/>
                    <a:p>
                      <a:pPr algn="just">
                        <a:lnSpc>
                          <a:spcPct val="150000"/>
                        </a:lnSpc>
                        <a:spcAft>
                          <a:spcPts val="800"/>
                        </a:spcAft>
                        <a:buNone/>
                      </a:pPr>
                      <a:r>
                        <a:rPr lang="en-GB" sz="1600" b="1">
                          <a:effectLst/>
                          <a:latin typeface="Garamond" panose="02020404030301010803" pitchFamily="18" charset="0"/>
                          <a:ea typeface="Calibri" panose="020F0502020204030204" pitchFamily="34" charset="0"/>
                          <a:cs typeface="Arial" panose="020B0604020202020204" pitchFamily="34" charset="0"/>
                        </a:rPr>
                        <a:t>Heatwaves </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600">
                          <a:solidFill>
                            <a:srgbClr val="000000"/>
                          </a:solidFill>
                          <a:effectLst/>
                          <a:latin typeface="Garamond" panose="02020404030301010803" pitchFamily="18" charset="0"/>
                          <a:ea typeface="Calibri" panose="020F0502020204030204" pitchFamily="34" charset="0"/>
                          <a:cs typeface="Arial" panose="020B0604020202020204" pitchFamily="34" charset="0"/>
                        </a:rPr>
                        <a:t>1.77</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just">
                        <a:lnSpc>
                          <a:spcPct val="150000"/>
                        </a:lnSpc>
                        <a:spcAft>
                          <a:spcPts val="800"/>
                        </a:spcAft>
                        <a:buNone/>
                      </a:pPr>
                      <a:r>
                        <a:rPr lang="en-GB" sz="1600">
                          <a:effectLst/>
                          <a:latin typeface="Garamond" panose="02020404030301010803" pitchFamily="18" charset="0"/>
                          <a:ea typeface="Calibri" panose="020F0502020204030204" pitchFamily="34" charset="0"/>
                          <a:cs typeface="Arial" panose="020B0604020202020204" pitchFamily="34" charset="0"/>
                        </a:rPr>
                        <a:t>1.31</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600">
                          <a:effectLst/>
                          <a:latin typeface="Garamond" panose="02020404030301010803" pitchFamily="18" charset="0"/>
                          <a:ea typeface="Calibri" panose="020F0502020204030204" pitchFamily="34" charset="0"/>
                          <a:cs typeface="Arial" panose="020B0604020202020204" pitchFamily="34" charset="0"/>
                        </a:rPr>
                        <a:t>1.00</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600">
                          <a:effectLst/>
                          <a:latin typeface="Garamond" panose="02020404030301010803" pitchFamily="18" charset="0"/>
                          <a:ea typeface="Calibri" panose="020F0502020204030204" pitchFamily="34" charset="0"/>
                          <a:cs typeface="Arial" panose="020B0604020202020204" pitchFamily="34" charset="0"/>
                        </a:rPr>
                        <a:t>1.00</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600">
                          <a:solidFill>
                            <a:srgbClr val="000000"/>
                          </a:solidFill>
                          <a:effectLst/>
                          <a:latin typeface="Garamond" panose="02020404030301010803" pitchFamily="18" charset="0"/>
                          <a:ea typeface="Calibri" panose="020F0502020204030204" pitchFamily="34" charset="0"/>
                          <a:cs typeface="Arial" panose="020B0604020202020204" pitchFamily="34" charset="0"/>
                        </a:rPr>
                        <a:t>3.20</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600">
                          <a:solidFill>
                            <a:srgbClr val="000000"/>
                          </a:solidFill>
                          <a:effectLst/>
                          <a:latin typeface="Garamond" panose="02020404030301010803" pitchFamily="18" charset="0"/>
                          <a:ea typeface="Calibri" panose="020F0502020204030204" pitchFamily="34" charset="0"/>
                          <a:cs typeface="Arial" panose="020B0604020202020204" pitchFamily="34" charset="0"/>
                        </a:rPr>
                        <a:t>2.71</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600">
                          <a:effectLst/>
                          <a:latin typeface="Garamond" panose="02020404030301010803" pitchFamily="18" charset="0"/>
                          <a:ea typeface="Calibri" panose="020F0502020204030204" pitchFamily="34" charset="0"/>
                          <a:cs typeface="Arial" panose="020B0604020202020204" pitchFamily="34" charset="0"/>
                        </a:rPr>
                        <a:t>1.00</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600">
                          <a:effectLst/>
                          <a:latin typeface="Garamond" panose="02020404030301010803" pitchFamily="18" charset="0"/>
                          <a:ea typeface="Calibri" panose="020F0502020204030204" pitchFamily="34" charset="0"/>
                          <a:cs typeface="Arial" panose="020B0604020202020204" pitchFamily="34" charset="0"/>
                        </a:rPr>
                        <a:t>1.00</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94078907"/>
                  </a:ext>
                </a:extLst>
              </a:tr>
              <a:tr h="754480">
                <a:tc>
                  <a:txBody>
                    <a:bodyPr/>
                    <a:lstStyle/>
                    <a:p>
                      <a:pPr algn="just">
                        <a:lnSpc>
                          <a:spcPct val="150000"/>
                        </a:lnSpc>
                        <a:spcAft>
                          <a:spcPts val="800"/>
                        </a:spcAft>
                        <a:buNone/>
                      </a:pPr>
                      <a:r>
                        <a:rPr lang="en-GB" sz="1600" b="1">
                          <a:effectLst/>
                          <a:latin typeface="Garamond" panose="02020404030301010803" pitchFamily="18" charset="0"/>
                          <a:ea typeface="Calibri" panose="020F0502020204030204" pitchFamily="34" charset="0"/>
                          <a:cs typeface="Arial" panose="020B0604020202020204" pitchFamily="34" charset="0"/>
                        </a:rPr>
                        <a:t>Heavy rainfall days </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600">
                          <a:solidFill>
                            <a:srgbClr val="000000"/>
                          </a:solidFill>
                          <a:effectLst/>
                          <a:latin typeface="Garamond" panose="02020404030301010803" pitchFamily="18" charset="0"/>
                          <a:ea typeface="Calibri" panose="020F0502020204030204" pitchFamily="34" charset="0"/>
                          <a:cs typeface="Arial" panose="020B0604020202020204" pitchFamily="34" charset="0"/>
                        </a:rPr>
                        <a:t>2.11</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just">
                        <a:lnSpc>
                          <a:spcPct val="150000"/>
                        </a:lnSpc>
                        <a:spcAft>
                          <a:spcPts val="800"/>
                        </a:spcAft>
                        <a:buNone/>
                      </a:pPr>
                      <a:r>
                        <a:rPr lang="en-GB" sz="1600">
                          <a:solidFill>
                            <a:srgbClr val="FFFFFF"/>
                          </a:solidFill>
                          <a:effectLst/>
                          <a:latin typeface="Garamond" panose="02020404030301010803" pitchFamily="18" charset="0"/>
                          <a:ea typeface="Calibri" panose="020F0502020204030204" pitchFamily="34" charset="0"/>
                          <a:cs typeface="Arial" panose="020B0604020202020204" pitchFamily="34" charset="0"/>
                        </a:rPr>
                        <a:t>6.99</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tc>
                  <a:txBody>
                    <a:bodyPr/>
                    <a:lstStyle/>
                    <a:p>
                      <a:pPr algn="just">
                        <a:lnSpc>
                          <a:spcPct val="150000"/>
                        </a:lnSpc>
                        <a:spcAft>
                          <a:spcPts val="800"/>
                        </a:spcAft>
                        <a:buNone/>
                      </a:pPr>
                      <a:r>
                        <a:rPr lang="en-GB" sz="1600">
                          <a:solidFill>
                            <a:srgbClr val="000000"/>
                          </a:solidFill>
                          <a:effectLst/>
                          <a:latin typeface="Garamond" panose="02020404030301010803" pitchFamily="18" charset="0"/>
                          <a:ea typeface="Calibri" panose="020F0502020204030204" pitchFamily="34" charset="0"/>
                          <a:cs typeface="Arial" panose="020B0604020202020204" pitchFamily="34" charset="0"/>
                        </a:rPr>
                        <a:t>2.18</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just">
                        <a:lnSpc>
                          <a:spcPct val="150000"/>
                        </a:lnSpc>
                        <a:spcAft>
                          <a:spcPts val="800"/>
                        </a:spcAft>
                        <a:buNone/>
                      </a:pPr>
                      <a:r>
                        <a:rPr lang="en-GB" sz="1600">
                          <a:solidFill>
                            <a:srgbClr val="000000"/>
                          </a:solidFill>
                          <a:effectLst/>
                          <a:latin typeface="Garamond" panose="02020404030301010803" pitchFamily="18" charset="0"/>
                          <a:ea typeface="Calibri" panose="020F0502020204030204" pitchFamily="34" charset="0"/>
                          <a:cs typeface="Arial" panose="020B0604020202020204" pitchFamily="34" charset="0"/>
                        </a:rPr>
                        <a:t>2.00</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just">
                        <a:lnSpc>
                          <a:spcPct val="150000"/>
                        </a:lnSpc>
                        <a:spcAft>
                          <a:spcPts val="800"/>
                        </a:spcAft>
                        <a:buNone/>
                      </a:pPr>
                      <a:r>
                        <a:rPr lang="en-GB" sz="1600">
                          <a:solidFill>
                            <a:srgbClr val="000000"/>
                          </a:solidFill>
                          <a:effectLst/>
                          <a:latin typeface="Garamond" panose="02020404030301010803" pitchFamily="18" charset="0"/>
                          <a:ea typeface="Calibri" panose="020F0502020204030204" pitchFamily="34" charset="0"/>
                          <a:cs typeface="Arial" panose="020B0604020202020204" pitchFamily="34" charset="0"/>
                        </a:rPr>
                        <a:t>1.40</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just">
                        <a:lnSpc>
                          <a:spcPct val="150000"/>
                        </a:lnSpc>
                        <a:spcAft>
                          <a:spcPts val="800"/>
                        </a:spcAft>
                        <a:buNone/>
                      </a:pPr>
                      <a:r>
                        <a:rPr lang="en-GB" sz="1600" dirty="0">
                          <a:solidFill>
                            <a:srgbClr val="000000"/>
                          </a:solidFill>
                          <a:effectLst/>
                          <a:latin typeface="Garamond" panose="02020404030301010803" pitchFamily="18" charset="0"/>
                          <a:ea typeface="Calibri" panose="020F0502020204030204" pitchFamily="34" charset="0"/>
                          <a:cs typeface="Arial" panose="020B0604020202020204" pitchFamily="34" charset="0"/>
                        </a:rPr>
                        <a:t>1.94</a:t>
                      </a:r>
                      <a:endParaRPr lang="en-GB" sz="1800" dirty="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just">
                        <a:lnSpc>
                          <a:spcPct val="150000"/>
                        </a:lnSpc>
                        <a:spcAft>
                          <a:spcPts val="800"/>
                        </a:spcAft>
                        <a:buNone/>
                      </a:pPr>
                      <a:r>
                        <a:rPr lang="en-GB" sz="1600">
                          <a:solidFill>
                            <a:srgbClr val="000000"/>
                          </a:solidFill>
                          <a:effectLst/>
                          <a:latin typeface="Garamond" panose="02020404030301010803" pitchFamily="18" charset="0"/>
                          <a:ea typeface="Calibri" panose="020F0502020204030204" pitchFamily="34" charset="0"/>
                          <a:cs typeface="Arial" panose="020B0604020202020204" pitchFamily="34" charset="0"/>
                        </a:rPr>
                        <a:t>1.53</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just">
                        <a:lnSpc>
                          <a:spcPct val="150000"/>
                        </a:lnSpc>
                        <a:spcAft>
                          <a:spcPts val="800"/>
                        </a:spcAft>
                        <a:buNone/>
                      </a:pPr>
                      <a:r>
                        <a:rPr lang="en-GB" sz="1600">
                          <a:solidFill>
                            <a:srgbClr val="000000"/>
                          </a:solidFill>
                          <a:effectLst/>
                          <a:latin typeface="Garamond" panose="02020404030301010803" pitchFamily="18" charset="0"/>
                          <a:ea typeface="Calibri" panose="020F0502020204030204" pitchFamily="34" charset="0"/>
                          <a:cs typeface="Arial" panose="020B0604020202020204" pitchFamily="34" charset="0"/>
                        </a:rPr>
                        <a:t>3.23</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2433323048"/>
                  </a:ext>
                </a:extLst>
              </a:tr>
              <a:tr h="754480">
                <a:tc>
                  <a:txBody>
                    <a:bodyPr/>
                    <a:lstStyle/>
                    <a:p>
                      <a:pPr algn="just">
                        <a:lnSpc>
                          <a:spcPct val="150000"/>
                        </a:lnSpc>
                        <a:spcAft>
                          <a:spcPts val="800"/>
                        </a:spcAft>
                        <a:buNone/>
                      </a:pPr>
                      <a:r>
                        <a:rPr lang="en-GB" sz="1600" b="1">
                          <a:effectLst/>
                          <a:latin typeface="Garamond" panose="02020404030301010803" pitchFamily="18" charset="0"/>
                          <a:ea typeface="Calibri" panose="020F0502020204030204" pitchFamily="34" charset="0"/>
                          <a:cs typeface="Arial" panose="020B0604020202020204" pitchFamily="34" charset="0"/>
                        </a:rPr>
                        <a:t>Extreme rainfall days </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600">
                          <a:solidFill>
                            <a:srgbClr val="FFFFFF"/>
                          </a:solidFill>
                          <a:effectLst/>
                          <a:latin typeface="Garamond" panose="02020404030301010803" pitchFamily="18" charset="0"/>
                          <a:ea typeface="Calibri" panose="020F0502020204030204" pitchFamily="34" charset="0"/>
                          <a:cs typeface="Arial" panose="020B0604020202020204" pitchFamily="34" charset="0"/>
                        </a:rPr>
                        <a:t>75.8</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tc>
                  <a:txBody>
                    <a:bodyPr/>
                    <a:lstStyle/>
                    <a:p>
                      <a:pPr algn="just">
                        <a:lnSpc>
                          <a:spcPct val="150000"/>
                        </a:lnSpc>
                        <a:spcAft>
                          <a:spcPts val="800"/>
                        </a:spcAft>
                        <a:buNone/>
                      </a:pPr>
                      <a:r>
                        <a:rPr lang="en-GB" sz="1600">
                          <a:solidFill>
                            <a:srgbClr val="FFFFFF"/>
                          </a:solidFill>
                          <a:effectLst/>
                          <a:latin typeface="Garamond" panose="02020404030301010803" pitchFamily="18" charset="0"/>
                          <a:ea typeface="Calibri" panose="020F0502020204030204" pitchFamily="34" charset="0"/>
                          <a:cs typeface="Arial" panose="020B0604020202020204" pitchFamily="34" charset="0"/>
                        </a:rPr>
                        <a:t>29.0</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tc>
                  <a:txBody>
                    <a:bodyPr/>
                    <a:lstStyle/>
                    <a:p>
                      <a:pPr algn="just">
                        <a:lnSpc>
                          <a:spcPct val="150000"/>
                        </a:lnSpc>
                        <a:spcAft>
                          <a:spcPts val="800"/>
                        </a:spcAft>
                        <a:buNone/>
                      </a:pPr>
                      <a:r>
                        <a:rPr lang="en-GB" sz="1600">
                          <a:effectLst/>
                          <a:latin typeface="Garamond" panose="02020404030301010803" pitchFamily="18" charset="0"/>
                          <a:ea typeface="Calibri" panose="020F0502020204030204" pitchFamily="34" charset="0"/>
                          <a:cs typeface="Arial" panose="020B0604020202020204" pitchFamily="34" charset="0"/>
                        </a:rPr>
                        <a:t>0.85</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600">
                          <a:solidFill>
                            <a:srgbClr val="000000"/>
                          </a:solidFill>
                          <a:effectLst/>
                          <a:latin typeface="Garamond" panose="02020404030301010803" pitchFamily="18" charset="0"/>
                          <a:ea typeface="Calibri" panose="020F0502020204030204" pitchFamily="34" charset="0"/>
                          <a:cs typeface="Arial" panose="020B0604020202020204" pitchFamily="34" charset="0"/>
                        </a:rPr>
                        <a:t>3.72</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600">
                          <a:solidFill>
                            <a:srgbClr val="000000"/>
                          </a:solidFill>
                          <a:effectLst/>
                          <a:latin typeface="Garamond" panose="02020404030301010803" pitchFamily="18" charset="0"/>
                          <a:ea typeface="Calibri" panose="020F0502020204030204" pitchFamily="34" charset="0"/>
                          <a:cs typeface="Arial" panose="020B0604020202020204" pitchFamily="34" charset="0"/>
                        </a:rPr>
                        <a:t>1.68</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just">
                        <a:lnSpc>
                          <a:spcPct val="150000"/>
                        </a:lnSpc>
                        <a:spcAft>
                          <a:spcPts val="800"/>
                        </a:spcAft>
                        <a:buNone/>
                      </a:pPr>
                      <a:r>
                        <a:rPr lang="en-GB" sz="1600">
                          <a:solidFill>
                            <a:srgbClr val="FFFFFF"/>
                          </a:solidFill>
                          <a:effectLst/>
                          <a:latin typeface="Garamond" panose="02020404030301010803" pitchFamily="18" charset="0"/>
                          <a:ea typeface="Calibri" panose="020F0502020204030204" pitchFamily="34" charset="0"/>
                          <a:cs typeface="Arial" panose="020B0604020202020204" pitchFamily="34" charset="0"/>
                        </a:rPr>
                        <a:t>8.07</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tc>
                  <a:txBody>
                    <a:bodyPr/>
                    <a:lstStyle/>
                    <a:p>
                      <a:pPr algn="just">
                        <a:lnSpc>
                          <a:spcPct val="150000"/>
                        </a:lnSpc>
                        <a:spcAft>
                          <a:spcPts val="800"/>
                        </a:spcAft>
                        <a:buNone/>
                      </a:pPr>
                      <a:r>
                        <a:rPr lang="en-GB" sz="1600">
                          <a:effectLst/>
                          <a:latin typeface="Garamond" panose="02020404030301010803" pitchFamily="18" charset="0"/>
                          <a:ea typeface="Calibri" panose="020F0502020204030204" pitchFamily="34" charset="0"/>
                          <a:cs typeface="Arial" panose="020B0604020202020204" pitchFamily="34" charset="0"/>
                        </a:rPr>
                        <a:t>1.09</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600">
                          <a:solidFill>
                            <a:srgbClr val="000000"/>
                          </a:solidFill>
                          <a:effectLst/>
                          <a:latin typeface="Garamond" panose="02020404030301010803" pitchFamily="18" charset="0"/>
                          <a:ea typeface="Calibri" panose="020F0502020204030204" pitchFamily="34" charset="0"/>
                          <a:cs typeface="Arial" panose="020B0604020202020204" pitchFamily="34" charset="0"/>
                        </a:rPr>
                        <a:t>4.65</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3409868639"/>
                  </a:ext>
                </a:extLst>
              </a:tr>
              <a:tr h="358648">
                <a:tc>
                  <a:txBody>
                    <a:bodyPr/>
                    <a:lstStyle/>
                    <a:p>
                      <a:pPr algn="just">
                        <a:lnSpc>
                          <a:spcPct val="150000"/>
                        </a:lnSpc>
                        <a:spcAft>
                          <a:spcPts val="800"/>
                        </a:spcAft>
                        <a:buNone/>
                      </a:pPr>
                      <a:r>
                        <a:rPr lang="en-GB" sz="1600" b="1">
                          <a:effectLst/>
                          <a:latin typeface="Garamond" panose="02020404030301010803" pitchFamily="18" charset="0"/>
                          <a:ea typeface="Calibri" panose="020F0502020204030204" pitchFamily="34" charset="0"/>
                          <a:cs typeface="Arial" panose="020B0604020202020204" pitchFamily="34" charset="0"/>
                        </a:rPr>
                        <a:t>Dry days </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600">
                          <a:solidFill>
                            <a:srgbClr val="000000"/>
                          </a:solidFill>
                          <a:effectLst/>
                          <a:latin typeface="Garamond" panose="02020404030301010803" pitchFamily="18" charset="0"/>
                          <a:ea typeface="Calibri" panose="020F0502020204030204" pitchFamily="34" charset="0"/>
                          <a:cs typeface="Arial" panose="020B0604020202020204" pitchFamily="34" charset="0"/>
                        </a:rPr>
                        <a:t>1.84</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just">
                        <a:lnSpc>
                          <a:spcPct val="150000"/>
                        </a:lnSpc>
                        <a:spcAft>
                          <a:spcPts val="800"/>
                        </a:spcAft>
                        <a:buNone/>
                      </a:pPr>
                      <a:r>
                        <a:rPr lang="en-GB" sz="1600">
                          <a:effectLst/>
                          <a:latin typeface="Garamond" panose="02020404030301010803" pitchFamily="18" charset="0"/>
                          <a:ea typeface="Calibri" panose="020F0502020204030204" pitchFamily="34" charset="0"/>
                          <a:cs typeface="Arial" panose="020B0604020202020204" pitchFamily="34" charset="0"/>
                        </a:rPr>
                        <a:t>1.12</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600">
                          <a:effectLst/>
                          <a:latin typeface="Garamond" panose="02020404030301010803" pitchFamily="18" charset="0"/>
                          <a:ea typeface="Calibri" panose="020F0502020204030204" pitchFamily="34" charset="0"/>
                          <a:cs typeface="Arial" panose="020B0604020202020204" pitchFamily="34" charset="0"/>
                        </a:rPr>
                        <a:t>1.01</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600">
                          <a:effectLst/>
                          <a:latin typeface="Garamond" panose="02020404030301010803" pitchFamily="18" charset="0"/>
                          <a:ea typeface="Calibri" panose="020F0502020204030204" pitchFamily="34" charset="0"/>
                          <a:cs typeface="Arial" panose="020B0604020202020204" pitchFamily="34" charset="0"/>
                        </a:rPr>
                        <a:t>0.93</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600">
                          <a:effectLst/>
                          <a:latin typeface="Garamond" panose="02020404030301010803" pitchFamily="18" charset="0"/>
                          <a:ea typeface="Calibri" panose="020F0502020204030204" pitchFamily="34" charset="0"/>
                          <a:cs typeface="Arial" panose="020B0604020202020204" pitchFamily="34" charset="0"/>
                        </a:rPr>
                        <a:t>1.27</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600">
                          <a:effectLst/>
                          <a:latin typeface="Garamond" panose="02020404030301010803" pitchFamily="18" charset="0"/>
                          <a:ea typeface="Calibri" panose="020F0502020204030204" pitchFamily="34" charset="0"/>
                          <a:cs typeface="Arial" panose="020B0604020202020204" pitchFamily="34" charset="0"/>
                        </a:rPr>
                        <a:t>1.28</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600">
                          <a:effectLst/>
                          <a:latin typeface="Garamond" panose="02020404030301010803" pitchFamily="18" charset="0"/>
                          <a:ea typeface="Calibri" panose="020F0502020204030204" pitchFamily="34" charset="0"/>
                          <a:cs typeface="Arial" panose="020B0604020202020204" pitchFamily="34" charset="0"/>
                        </a:rPr>
                        <a:t>0.98</a:t>
                      </a:r>
                      <a:endParaRPr lang="en-GB" sz="180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600" dirty="0">
                          <a:effectLst/>
                          <a:latin typeface="Garamond" panose="02020404030301010803" pitchFamily="18" charset="0"/>
                          <a:ea typeface="Calibri" panose="020F0502020204030204" pitchFamily="34" charset="0"/>
                          <a:cs typeface="Arial" panose="020B0604020202020204" pitchFamily="34" charset="0"/>
                        </a:rPr>
                        <a:t>1.05</a:t>
                      </a:r>
                      <a:endParaRPr lang="en-GB" sz="1800" dirty="0">
                        <a:effectLst/>
                        <a:latin typeface="Garamond" panose="02020404030301010803"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75960923"/>
                  </a:ext>
                </a:extLst>
              </a:tr>
            </a:tbl>
          </a:graphicData>
        </a:graphic>
      </p:graphicFrame>
      <p:sp>
        <p:nvSpPr>
          <p:cNvPr id="24" name="TextBox 23">
            <a:extLst>
              <a:ext uri="{FF2B5EF4-FFF2-40B4-BE49-F238E27FC236}">
                <a16:creationId xmlns:a16="http://schemas.microsoft.com/office/drawing/2014/main" id="{5EB191D9-48B1-7AB4-2BF7-2329A9CEBBCC}"/>
              </a:ext>
            </a:extLst>
          </p:cNvPr>
          <p:cNvSpPr txBox="1"/>
          <p:nvPr/>
        </p:nvSpPr>
        <p:spPr>
          <a:xfrm>
            <a:off x="1782792" y="2093817"/>
            <a:ext cx="8626415" cy="646331"/>
          </a:xfrm>
          <a:prstGeom prst="rect">
            <a:avLst/>
          </a:prstGeom>
          <a:noFill/>
        </p:spPr>
        <p:txBody>
          <a:bodyPr wrap="square" rtlCol="0">
            <a:spAutoFit/>
          </a:bodyPr>
          <a:lstStyle/>
          <a:p>
            <a:r>
              <a:rPr lang="en-GB" b="1" dirty="0"/>
              <a:t>Times difference in frequency of climate anomalies between 1980-1990 and 2010-2020</a:t>
            </a:r>
            <a:endParaRPr lang="en-GB" dirty="0"/>
          </a:p>
          <a:p>
            <a:endParaRPr lang="en-GB" dirty="0"/>
          </a:p>
        </p:txBody>
      </p:sp>
    </p:spTree>
    <p:extLst>
      <p:ext uri="{BB962C8B-B14F-4D97-AF65-F5344CB8AC3E}">
        <p14:creationId xmlns:p14="http://schemas.microsoft.com/office/powerpoint/2010/main" val="28142326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EC4AA-8B61-98FC-EE05-C4E6AE9FFE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0B6429-15D6-3006-19C8-A981650EA375}"/>
              </a:ext>
            </a:extLst>
          </p:cNvPr>
          <p:cNvSpPr>
            <a:spLocks noGrp="1"/>
          </p:cNvSpPr>
          <p:nvPr>
            <p:ph type="title"/>
          </p:nvPr>
        </p:nvSpPr>
        <p:spPr>
          <a:xfrm>
            <a:off x="838199" y="501650"/>
            <a:ext cx="8380445" cy="1325563"/>
          </a:xfrm>
        </p:spPr>
        <p:txBody>
          <a:bodyPr>
            <a:normAutofit/>
          </a:bodyPr>
          <a:lstStyle/>
          <a:p>
            <a:r>
              <a:rPr lang="en-US" sz="3200" b="1" dirty="0">
                <a:solidFill>
                  <a:srgbClr val="0070C0"/>
                </a:solidFill>
                <a:latin typeface="Arial" panose="020B0604020202020204" pitchFamily="34" charset="0"/>
                <a:cs typeface="Arial" panose="020B0604020202020204" pitchFamily="34" charset="0"/>
              </a:rPr>
              <a:t>Tourism – climate exposure (future)</a:t>
            </a:r>
          </a:p>
        </p:txBody>
      </p:sp>
      <p:sp>
        <p:nvSpPr>
          <p:cNvPr id="5" name="Slide Number Placeholder 4">
            <a:extLst>
              <a:ext uri="{FF2B5EF4-FFF2-40B4-BE49-F238E27FC236}">
                <a16:creationId xmlns:a16="http://schemas.microsoft.com/office/drawing/2014/main" id="{752330B0-74FE-3686-7FCF-4FB095579497}"/>
              </a:ext>
            </a:extLst>
          </p:cNvPr>
          <p:cNvSpPr>
            <a:spLocks noGrp="1"/>
          </p:cNvSpPr>
          <p:nvPr>
            <p:ph type="sldNum" sz="quarter" idx="12"/>
          </p:nvPr>
        </p:nvSpPr>
        <p:spPr>
          <a:xfrm>
            <a:off x="9218644" y="6311561"/>
            <a:ext cx="2743200" cy="365125"/>
          </a:xfrm>
        </p:spPr>
        <p:txBody>
          <a:bodyPr/>
          <a:lstStyle/>
          <a:p>
            <a:fld id="{D51B4FB4-AA13-FE41-AF8A-525BA2FA973D}" type="slidenum">
              <a:rPr lang="en-US" smtClean="0"/>
              <a:t>24</a:t>
            </a:fld>
            <a:endParaRPr lang="en-US" dirty="0"/>
          </a:p>
        </p:txBody>
      </p:sp>
      <p:grpSp>
        <p:nvGrpSpPr>
          <p:cNvPr id="6" name="Group 5">
            <a:extLst>
              <a:ext uri="{FF2B5EF4-FFF2-40B4-BE49-F238E27FC236}">
                <a16:creationId xmlns:a16="http://schemas.microsoft.com/office/drawing/2014/main" id="{3AF5B37C-6947-7B26-8683-C3E3D57CF0C3}"/>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02DC2386-A617-FEB3-7A0F-1387B7FD9D61}"/>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9DEBCA4-9B32-FB05-878C-E68463C61513}"/>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0730BBD6-C1D4-D717-13E5-4F5CBF148915}"/>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11" name="Picture 10" descr="A screenshot of a graph&#10;&#10;AI-generated content may be incorrect.">
            <a:extLst>
              <a:ext uri="{FF2B5EF4-FFF2-40B4-BE49-F238E27FC236}">
                <a16:creationId xmlns:a16="http://schemas.microsoft.com/office/drawing/2014/main" id="{28D9B092-3FD1-E743-48A2-464A2374E3E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84247" y="1731229"/>
            <a:ext cx="4852706" cy="4840340"/>
          </a:xfrm>
          <a:prstGeom prst="rect">
            <a:avLst/>
          </a:prstGeom>
        </p:spPr>
      </p:pic>
      <p:sp>
        <p:nvSpPr>
          <p:cNvPr id="16" name="Content Placeholder 2">
            <a:extLst>
              <a:ext uri="{FF2B5EF4-FFF2-40B4-BE49-F238E27FC236}">
                <a16:creationId xmlns:a16="http://schemas.microsoft.com/office/drawing/2014/main" id="{1496C946-CF81-0129-19E4-C612E6650B87}"/>
              </a:ext>
            </a:extLst>
          </p:cNvPr>
          <p:cNvSpPr>
            <a:spLocks noGrp="1"/>
          </p:cNvSpPr>
          <p:nvPr>
            <p:ph idx="1"/>
          </p:nvPr>
        </p:nvSpPr>
        <p:spPr>
          <a:xfrm>
            <a:off x="1011043" y="1960223"/>
            <a:ext cx="5005647" cy="4351338"/>
          </a:xfrm>
        </p:spPr>
        <p:txBody>
          <a:bodyPr>
            <a:normAutofit/>
          </a:bodyPr>
          <a:lstStyle/>
          <a:p>
            <a:r>
              <a:rPr lang="en-US" sz="2000" dirty="0">
                <a:latin typeface="Arial" panose="020B0604020202020204" pitchFamily="34" charset="0"/>
                <a:cs typeface="Arial" panose="020B0604020202020204" pitchFamily="34" charset="0"/>
              </a:rPr>
              <a:t>Data source: CORDEX-CORE bias-corrected, downscaled CMIP5 ensemble</a:t>
            </a:r>
          </a:p>
          <a:p>
            <a:r>
              <a:rPr lang="en-US" sz="2000" dirty="0">
                <a:latin typeface="Arial" panose="020B0604020202020204" pitchFamily="34" charset="0"/>
                <a:cs typeface="Arial" panose="020B0604020202020204" pitchFamily="34" charset="0"/>
              </a:rPr>
              <a:t>Climate scenarios:</a:t>
            </a:r>
          </a:p>
          <a:p>
            <a:pPr lvl="1"/>
            <a:r>
              <a:rPr lang="en-US" sz="2000" dirty="0">
                <a:latin typeface="Arial" panose="020B0604020202020204" pitchFamily="34" charset="0"/>
                <a:cs typeface="Arial" panose="020B0604020202020204" pitchFamily="34" charset="0"/>
              </a:rPr>
              <a:t>Two representative concentration pathways</a:t>
            </a:r>
          </a:p>
          <a:p>
            <a:pPr lvl="2"/>
            <a:r>
              <a:rPr lang="en-US" sz="1800" dirty="0">
                <a:latin typeface="Arial" panose="020B0604020202020204" pitchFamily="34" charset="0"/>
                <a:cs typeface="Arial" panose="020B0604020202020204" pitchFamily="34" charset="0"/>
              </a:rPr>
              <a:t>RCP 2.6 (low carbon, optimistic)</a:t>
            </a:r>
          </a:p>
          <a:p>
            <a:pPr lvl="2"/>
            <a:r>
              <a:rPr lang="en-US" sz="1800" dirty="0">
                <a:latin typeface="Arial" panose="020B0604020202020204" pitchFamily="34" charset="0"/>
                <a:cs typeface="Arial" panose="020B0604020202020204" pitchFamily="34" charset="0"/>
              </a:rPr>
              <a:t>RCP 8.5 (high carbon, pessimistic)</a:t>
            </a:r>
          </a:p>
          <a:p>
            <a:pPr lvl="2"/>
            <a:endParaRPr lang="en-US" sz="1600" dirty="0">
              <a:latin typeface="Arial" panose="020B0604020202020204" pitchFamily="34" charset="0"/>
              <a:cs typeface="Arial" panose="020B0604020202020204" pitchFamily="34" charset="0"/>
            </a:endParaRPr>
          </a:p>
          <a:p>
            <a:pPr lvl="1"/>
            <a:r>
              <a:rPr lang="en-US" sz="2000" dirty="0">
                <a:latin typeface="Arial" panose="020B0604020202020204" pitchFamily="34" charset="0"/>
                <a:cs typeface="Arial" panose="020B0604020202020204" pitchFamily="34" charset="0"/>
              </a:rPr>
              <a:t>Historical baseline (1980-2005)</a:t>
            </a:r>
          </a:p>
          <a:p>
            <a:pPr lvl="1"/>
            <a:r>
              <a:rPr lang="en-US" sz="2000" dirty="0">
                <a:latin typeface="Arial" panose="020B0604020202020204" pitchFamily="34" charset="0"/>
                <a:cs typeface="Arial" panose="020B0604020202020204" pitchFamily="34" charset="0"/>
              </a:rPr>
              <a:t>Two future time periods</a:t>
            </a:r>
          </a:p>
          <a:p>
            <a:pPr lvl="2"/>
            <a:r>
              <a:rPr lang="en-US" sz="1800" dirty="0">
                <a:latin typeface="Arial" panose="020B0604020202020204" pitchFamily="34" charset="0"/>
                <a:cs typeface="Arial" panose="020B0604020202020204" pitchFamily="34" charset="0"/>
              </a:rPr>
              <a:t>2020-2049</a:t>
            </a:r>
          </a:p>
          <a:p>
            <a:pPr lvl="2"/>
            <a:r>
              <a:rPr lang="en-US" sz="1800" dirty="0">
                <a:latin typeface="Arial" panose="020B0604020202020204" pitchFamily="34" charset="0"/>
                <a:cs typeface="Arial" panose="020B0604020202020204" pitchFamily="34" charset="0"/>
              </a:rPr>
              <a:t>2050-2079</a:t>
            </a:r>
          </a:p>
          <a:p>
            <a:pPr lvl="1"/>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85620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4160E-D7AC-B0A9-E941-7254708CBE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09D300-7D5D-57D6-9E84-BD0001DD3D3B}"/>
              </a:ext>
            </a:extLst>
          </p:cNvPr>
          <p:cNvSpPr>
            <a:spLocks noGrp="1"/>
          </p:cNvSpPr>
          <p:nvPr>
            <p:ph type="title"/>
          </p:nvPr>
        </p:nvSpPr>
        <p:spPr>
          <a:xfrm>
            <a:off x="838199" y="501650"/>
            <a:ext cx="8380445" cy="1325563"/>
          </a:xfrm>
        </p:spPr>
        <p:txBody>
          <a:bodyPr>
            <a:normAutofit/>
          </a:bodyPr>
          <a:lstStyle/>
          <a:p>
            <a:r>
              <a:rPr lang="en-US" sz="3200" b="1" dirty="0">
                <a:solidFill>
                  <a:srgbClr val="0070C0"/>
                </a:solidFill>
                <a:latin typeface="Arial" panose="020B0604020202020204" pitchFamily="34" charset="0"/>
                <a:cs typeface="Arial" panose="020B0604020202020204" pitchFamily="34" charset="0"/>
              </a:rPr>
              <a:t>Tourism – climate exposure (future)</a:t>
            </a:r>
          </a:p>
        </p:txBody>
      </p:sp>
      <p:sp>
        <p:nvSpPr>
          <p:cNvPr id="5" name="Slide Number Placeholder 4">
            <a:extLst>
              <a:ext uri="{FF2B5EF4-FFF2-40B4-BE49-F238E27FC236}">
                <a16:creationId xmlns:a16="http://schemas.microsoft.com/office/drawing/2014/main" id="{CBCCBE2E-3F08-C7D9-4CFB-FEDC0F7B5CBB}"/>
              </a:ext>
            </a:extLst>
          </p:cNvPr>
          <p:cNvSpPr>
            <a:spLocks noGrp="1"/>
          </p:cNvSpPr>
          <p:nvPr>
            <p:ph type="sldNum" sz="quarter" idx="12"/>
          </p:nvPr>
        </p:nvSpPr>
        <p:spPr>
          <a:xfrm>
            <a:off x="9145438" y="6318372"/>
            <a:ext cx="2743200" cy="365125"/>
          </a:xfrm>
        </p:spPr>
        <p:txBody>
          <a:bodyPr/>
          <a:lstStyle/>
          <a:p>
            <a:fld id="{D51B4FB4-AA13-FE41-AF8A-525BA2FA973D}" type="slidenum">
              <a:rPr lang="en-US" smtClean="0"/>
              <a:t>25</a:t>
            </a:fld>
            <a:endParaRPr lang="en-US" dirty="0"/>
          </a:p>
        </p:txBody>
      </p:sp>
      <p:grpSp>
        <p:nvGrpSpPr>
          <p:cNvPr id="6" name="Group 5">
            <a:extLst>
              <a:ext uri="{FF2B5EF4-FFF2-40B4-BE49-F238E27FC236}">
                <a16:creationId xmlns:a16="http://schemas.microsoft.com/office/drawing/2014/main" id="{C4EBFC82-9D86-D6EE-D78C-E807F50BA896}"/>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28FD9CEC-3224-E7D5-30BA-A36E951867D2}"/>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CCB4B67-1CD4-0167-C9FF-73801FD9BE56}"/>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DB7625F9-5206-CC60-2AC5-153C86CA7B88}"/>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3" name="Picture 2" descr="A screenshot of a computer screen&#10;&#10;AI-generated content may be incorrect.">
            <a:extLst>
              <a:ext uri="{FF2B5EF4-FFF2-40B4-BE49-F238E27FC236}">
                <a16:creationId xmlns:a16="http://schemas.microsoft.com/office/drawing/2014/main" id="{73E82B13-4E43-31B1-EC5A-1C4BEF6B31A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09849" y="1707502"/>
            <a:ext cx="4802274" cy="4755454"/>
          </a:xfrm>
          <a:prstGeom prst="rect">
            <a:avLst/>
          </a:prstGeom>
        </p:spPr>
      </p:pic>
      <p:sp>
        <p:nvSpPr>
          <p:cNvPr id="7" name="Content Placeholder 2">
            <a:extLst>
              <a:ext uri="{FF2B5EF4-FFF2-40B4-BE49-F238E27FC236}">
                <a16:creationId xmlns:a16="http://schemas.microsoft.com/office/drawing/2014/main" id="{6D721A4D-FD8F-9FD4-7FAD-4B412E8243E2}"/>
              </a:ext>
            </a:extLst>
          </p:cNvPr>
          <p:cNvSpPr>
            <a:spLocks noGrp="1"/>
          </p:cNvSpPr>
          <p:nvPr>
            <p:ph idx="1"/>
          </p:nvPr>
        </p:nvSpPr>
        <p:spPr>
          <a:xfrm>
            <a:off x="959498" y="1969415"/>
            <a:ext cx="4629972" cy="4351338"/>
          </a:xfrm>
        </p:spPr>
        <p:txBody>
          <a:bodyPr>
            <a:normAutofit/>
          </a:bodyPr>
          <a:lstStyle/>
          <a:p>
            <a:r>
              <a:rPr lang="en-US" sz="2400" dirty="0">
                <a:latin typeface="Arial" panose="020B0604020202020204" pitchFamily="34" charset="0"/>
                <a:cs typeface="Arial" panose="020B0604020202020204" pitchFamily="34" charset="0"/>
              </a:rPr>
              <a:t>Future climate trends:</a:t>
            </a:r>
          </a:p>
          <a:p>
            <a:pPr lvl="1"/>
            <a:r>
              <a:rPr lang="en-US" sz="2000" i="1" dirty="0">
                <a:latin typeface="Arial" panose="020B0604020202020204" pitchFamily="34" charset="0"/>
                <a:cs typeface="Arial" panose="020B0604020202020204" pitchFamily="34" charset="0"/>
              </a:rPr>
              <a:t>Hotter – increasing surface temperatures</a:t>
            </a:r>
          </a:p>
          <a:p>
            <a:pPr lvl="1"/>
            <a:r>
              <a:rPr lang="en-US" sz="2000" i="1" dirty="0">
                <a:latin typeface="Arial" panose="020B0604020202020204" pitchFamily="34" charset="0"/>
                <a:cs typeface="Arial" panose="020B0604020202020204" pitchFamily="34" charset="0"/>
              </a:rPr>
              <a:t>Possibly more rainfall in April-December</a:t>
            </a:r>
          </a:p>
          <a:p>
            <a:pPr lvl="1"/>
            <a:r>
              <a:rPr lang="en-US" sz="2000" i="1" dirty="0">
                <a:latin typeface="Arial" panose="020B0604020202020204" pitchFamily="34" charset="0"/>
                <a:cs typeface="Arial" panose="020B0604020202020204" pitchFamily="34" charset="0"/>
              </a:rPr>
              <a:t>More humid</a:t>
            </a:r>
          </a:p>
          <a:p>
            <a:pPr lvl="1"/>
            <a:endParaRPr lang="en-US" sz="2000" i="1" dirty="0">
              <a:latin typeface="Arial" panose="020B0604020202020204" pitchFamily="34" charset="0"/>
              <a:cs typeface="Arial" panose="020B0604020202020204" pitchFamily="34" charset="0"/>
            </a:endParaRPr>
          </a:p>
          <a:p>
            <a:pPr lvl="1"/>
            <a:endParaRPr lang="en-US" sz="2000" i="1" dirty="0">
              <a:latin typeface="Arial" panose="020B0604020202020204" pitchFamily="34" charset="0"/>
              <a:cs typeface="Arial" panose="020B0604020202020204" pitchFamily="34" charset="0"/>
            </a:endParaRPr>
          </a:p>
          <a:p>
            <a:r>
              <a:rPr lang="en-US" sz="2400" i="1" dirty="0">
                <a:latin typeface="Arial" panose="020B0604020202020204" pitchFamily="34" charset="0"/>
                <a:cs typeface="Arial" panose="020B0604020202020204" pitchFamily="34" charset="0"/>
              </a:rPr>
              <a:t>Potential risk of </a:t>
            </a:r>
          </a:p>
          <a:p>
            <a:pPr lvl="1"/>
            <a:endParaRPr lang="en-US" sz="2000" dirty="0">
              <a:latin typeface="Arial" panose="020B0604020202020204" pitchFamily="34" charset="0"/>
              <a:cs typeface="Arial" panose="020B0604020202020204" pitchFamily="34" charset="0"/>
            </a:endParaRPr>
          </a:p>
        </p:txBody>
      </p:sp>
      <p:pic>
        <p:nvPicPr>
          <p:cNvPr id="12" name="Picture 11" descr="A screenshot of a graph&#10;&#10;AI-generated content may be incorrect.">
            <a:extLst>
              <a:ext uri="{FF2B5EF4-FFF2-40B4-BE49-F238E27FC236}">
                <a16:creationId xmlns:a16="http://schemas.microsoft.com/office/drawing/2014/main" id="{A507DD38-3589-EEDF-5888-B8F2E34150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66601" y="1698571"/>
            <a:ext cx="4887997" cy="4840341"/>
          </a:xfrm>
          <a:prstGeom prst="rect">
            <a:avLst/>
          </a:prstGeom>
        </p:spPr>
      </p:pic>
    </p:spTree>
    <p:extLst>
      <p:ext uri="{BB962C8B-B14F-4D97-AF65-F5344CB8AC3E}">
        <p14:creationId xmlns:p14="http://schemas.microsoft.com/office/powerpoint/2010/main" val="15754600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56B8F-4CE6-2639-7803-BBFB4C826D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A55799-53C0-2B10-4A42-34BE55787BDE}"/>
              </a:ext>
            </a:extLst>
          </p:cNvPr>
          <p:cNvSpPr>
            <a:spLocks noGrp="1"/>
          </p:cNvSpPr>
          <p:nvPr>
            <p:ph type="title"/>
          </p:nvPr>
        </p:nvSpPr>
        <p:spPr>
          <a:xfrm>
            <a:off x="838199" y="501650"/>
            <a:ext cx="8380445" cy="1325563"/>
          </a:xfrm>
        </p:spPr>
        <p:txBody>
          <a:bodyPr>
            <a:normAutofit/>
          </a:bodyPr>
          <a:lstStyle/>
          <a:p>
            <a:r>
              <a:rPr lang="en-US" sz="3200" b="1" dirty="0">
                <a:solidFill>
                  <a:srgbClr val="0070C0"/>
                </a:solidFill>
                <a:latin typeface="Arial" panose="020B0604020202020204" pitchFamily="34" charset="0"/>
                <a:cs typeface="Arial" panose="020B0604020202020204" pitchFamily="34" charset="0"/>
              </a:rPr>
              <a:t>Tourism – climate exposure (future)</a:t>
            </a:r>
          </a:p>
        </p:txBody>
      </p:sp>
      <p:sp>
        <p:nvSpPr>
          <p:cNvPr id="5" name="Slide Number Placeholder 4">
            <a:extLst>
              <a:ext uri="{FF2B5EF4-FFF2-40B4-BE49-F238E27FC236}">
                <a16:creationId xmlns:a16="http://schemas.microsoft.com/office/drawing/2014/main" id="{EADBFAA9-9C92-B3DA-F4D6-8A97E225413E}"/>
              </a:ext>
            </a:extLst>
          </p:cNvPr>
          <p:cNvSpPr>
            <a:spLocks noGrp="1"/>
          </p:cNvSpPr>
          <p:nvPr>
            <p:ph type="sldNum" sz="quarter" idx="12"/>
          </p:nvPr>
        </p:nvSpPr>
        <p:spPr>
          <a:xfrm>
            <a:off x="9218644" y="6356350"/>
            <a:ext cx="2743200" cy="365125"/>
          </a:xfrm>
        </p:spPr>
        <p:txBody>
          <a:bodyPr/>
          <a:lstStyle/>
          <a:p>
            <a:fld id="{D51B4FB4-AA13-FE41-AF8A-525BA2FA973D}" type="slidenum">
              <a:rPr lang="en-US" smtClean="0"/>
              <a:t>26</a:t>
            </a:fld>
            <a:endParaRPr lang="en-US" dirty="0"/>
          </a:p>
        </p:txBody>
      </p:sp>
      <p:grpSp>
        <p:nvGrpSpPr>
          <p:cNvPr id="6" name="Group 5">
            <a:extLst>
              <a:ext uri="{FF2B5EF4-FFF2-40B4-BE49-F238E27FC236}">
                <a16:creationId xmlns:a16="http://schemas.microsoft.com/office/drawing/2014/main" id="{22DE5C73-F4D7-681E-FF9E-6CFA4A4E4290}"/>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927612F7-7B76-2684-BC10-1A2CE70FB379}"/>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42271A8-904E-0143-603E-F34BA6BB79C8}"/>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E72C5F72-DA46-F6B1-111E-AEE71FBD9A85}"/>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17" name="Table 16">
            <a:extLst>
              <a:ext uri="{FF2B5EF4-FFF2-40B4-BE49-F238E27FC236}">
                <a16:creationId xmlns:a16="http://schemas.microsoft.com/office/drawing/2014/main" id="{FCF85196-E592-F608-AEC6-F518B87DAF3E}"/>
              </a:ext>
            </a:extLst>
          </p:cNvPr>
          <p:cNvGraphicFramePr>
            <a:graphicFrameLocks noGrp="1"/>
          </p:cNvGraphicFramePr>
          <p:nvPr>
            <p:extLst>
              <p:ext uri="{D42A27DB-BD31-4B8C-83A1-F6EECF244321}">
                <p14:modId xmlns:p14="http://schemas.microsoft.com/office/powerpoint/2010/main" val="1100537767"/>
              </p:ext>
            </p:extLst>
          </p:nvPr>
        </p:nvGraphicFramePr>
        <p:xfrm>
          <a:off x="1007320" y="1933818"/>
          <a:ext cx="10515593" cy="4149852"/>
        </p:xfrm>
        <a:graphic>
          <a:graphicData uri="http://schemas.openxmlformats.org/drawingml/2006/table">
            <a:tbl>
              <a:tblPr firstRow="1" firstCol="1"/>
              <a:tblGrid>
                <a:gridCol w="1634413">
                  <a:extLst>
                    <a:ext uri="{9D8B030D-6E8A-4147-A177-3AD203B41FA5}">
                      <a16:colId xmlns:a16="http://schemas.microsoft.com/office/drawing/2014/main" val="774094957"/>
                    </a:ext>
                  </a:extLst>
                </a:gridCol>
                <a:gridCol w="568000">
                  <a:extLst>
                    <a:ext uri="{9D8B030D-6E8A-4147-A177-3AD203B41FA5}">
                      <a16:colId xmlns:a16="http://schemas.microsoft.com/office/drawing/2014/main" val="1422101158"/>
                    </a:ext>
                  </a:extLst>
                </a:gridCol>
                <a:gridCol w="554212">
                  <a:extLst>
                    <a:ext uri="{9D8B030D-6E8A-4147-A177-3AD203B41FA5}">
                      <a16:colId xmlns:a16="http://schemas.microsoft.com/office/drawing/2014/main" val="3982161606"/>
                    </a:ext>
                  </a:extLst>
                </a:gridCol>
                <a:gridCol w="554212">
                  <a:extLst>
                    <a:ext uri="{9D8B030D-6E8A-4147-A177-3AD203B41FA5}">
                      <a16:colId xmlns:a16="http://schemas.microsoft.com/office/drawing/2014/main" val="2874421135"/>
                    </a:ext>
                  </a:extLst>
                </a:gridCol>
                <a:gridCol w="554212">
                  <a:extLst>
                    <a:ext uri="{9D8B030D-6E8A-4147-A177-3AD203B41FA5}">
                      <a16:colId xmlns:a16="http://schemas.microsoft.com/office/drawing/2014/main" val="3684333080"/>
                    </a:ext>
                  </a:extLst>
                </a:gridCol>
                <a:gridCol w="554212">
                  <a:extLst>
                    <a:ext uri="{9D8B030D-6E8A-4147-A177-3AD203B41FA5}">
                      <a16:colId xmlns:a16="http://schemas.microsoft.com/office/drawing/2014/main" val="3189620484"/>
                    </a:ext>
                  </a:extLst>
                </a:gridCol>
                <a:gridCol w="554212">
                  <a:extLst>
                    <a:ext uri="{9D8B030D-6E8A-4147-A177-3AD203B41FA5}">
                      <a16:colId xmlns:a16="http://schemas.microsoft.com/office/drawing/2014/main" val="62839745"/>
                    </a:ext>
                  </a:extLst>
                </a:gridCol>
                <a:gridCol w="554212">
                  <a:extLst>
                    <a:ext uri="{9D8B030D-6E8A-4147-A177-3AD203B41FA5}">
                      <a16:colId xmlns:a16="http://schemas.microsoft.com/office/drawing/2014/main" val="2489394002"/>
                    </a:ext>
                  </a:extLst>
                </a:gridCol>
                <a:gridCol w="554212">
                  <a:extLst>
                    <a:ext uri="{9D8B030D-6E8A-4147-A177-3AD203B41FA5}">
                      <a16:colId xmlns:a16="http://schemas.microsoft.com/office/drawing/2014/main" val="1288968904"/>
                    </a:ext>
                  </a:extLst>
                </a:gridCol>
                <a:gridCol w="554212">
                  <a:extLst>
                    <a:ext uri="{9D8B030D-6E8A-4147-A177-3AD203B41FA5}">
                      <a16:colId xmlns:a16="http://schemas.microsoft.com/office/drawing/2014/main" val="3182713721"/>
                    </a:ext>
                  </a:extLst>
                </a:gridCol>
                <a:gridCol w="554212">
                  <a:extLst>
                    <a:ext uri="{9D8B030D-6E8A-4147-A177-3AD203B41FA5}">
                      <a16:colId xmlns:a16="http://schemas.microsoft.com/office/drawing/2014/main" val="2452001912"/>
                    </a:ext>
                  </a:extLst>
                </a:gridCol>
                <a:gridCol w="554212">
                  <a:extLst>
                    <a:ext uri="{9D8B030D-6E8A-4147-A177-3AD203B41FA5}">
                      <a16:colId xmlns:a16="http://schemas.microsoft.com/office/drawing/2014/main" val="1226451773"/>
                    </a:ext>
                  </a:extLst>
                </a:gridCol>
                <a:gridCol w="554212">
                  <a:extLst>
                    <a:ext uri="{9D8B030D-6E8A-4147-A177-3AD203B41FA5}">
                      <a16:colId xmlns:a16="http://schemas.microsoft.com/office/drawing/2014/main" val="1866491822"/>
                    </a:ext>
                  </a:extLst>
                </a:gridCol>
                <a:gridCol w="554212">
                  <a:extLst>
                    <a:ext uri="{9D8B030D-6E8A-4147-A177-3AD203B41FA5}">
                      <a16:colId xmlns:a16="http://schemas.microsoft.com/office/drawing/2014/main" val="3228504788"/>
                    </a:ext>
                  </a:extLst>
                </a:gridCol>
                <a:gridCol w="554212">
                  <a:extLst>
                    <a:ext uri="{9D8B030D-6E8A-4147-A177-3AD203B41FA5}">
                      <a16:colId xmlns:a16="http://schemas.microsoft.com/office/drawing/2014/main" val="1731372450"/>
                    </a:ext>
                  </a:extLst>
                </a:gridCol>
                <a:gridCol w="554212">
                  <a:extLst>
                    <a:ext uri="{9D8B030D-6E8A-4147-A177-3AD203B41FA5}">
                      <a16:colId xmlns:a16="http://schemas.microsoft.com/office/drawing/2014/main" val="1888486370"/>
                    </a:ext>
                  </a:extLst>
                </a:gridCol>
                <a:gridCol w="554212">
                  <a:extLst>
                    <a:ext uri="{9D8B030D-6E8A-4147-A177-3AD203B41FA5}">
                      <a16:colId xmlns:a16="http://schemas.microsoft.com/office/drawing/2014/main" val="652600120"/>
                    </a:ext>
                  </a:extLst>
                </a:gridCol>
              </a:tblGrid>
              <a:tr h="185854">
                <a:tc>
                  <a:txBody>
                    <a:bodyPr/>
                    <a:lstStyle/>
                    <a:p>
                      <a:pPr algn="ctr">
                        <a:lnSpc>
                          <a:spcPct val="150000"/>
                        </a:lnSpc>
                        <a:spcAft>
                          <a:spcPts val="800"/>
                        </a:spcAft>
                        <a:buNone/>
                      </a:pPr>
                      <a:r>
                        <a:rPr lang="en-GB" sz="1400" b="1">
                          <a:solidFill>
                            <a:srgbClr val="000000"/>
                          </a:solidFill>
                          <a:effectLst/>
                          <a:latin typeface="Garamond" panose="02020404030301010803" pitchFamily="18" charset="0"/>
                          <a:ea typeface="Calibri" panose="020F0502020204030204" pitchFamily="34" charset="0"/>
                          <a:cs typeface="Arial" panose="020B0604020202020204" pitchFamily="34" charset="0"/>
                        </a:rPr>
                        <a:t>Climate anomaly</a:t>
                      </a:r>
                      <a:endParaRPr lang="en-GB" sz="14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tc gridSpan="16">
                  <a:txBody>
                    <a:bodyPr/>
                    <a:lstStyle/>
                    <a:p>
                      <a:pPr algn="ctr">
                        <a:lnSpc>
                          <a:spcPct val="150000"/>
                        </a:lnSpc>
                        <a:spcAft>
                          <a:spcPts val="800"/>
                        </a:spcAft>
                        <a:buNone/>
                      </a:pPr>
                      <a:r>
                        <a:rPr lang="en-GB" sz="1400" b="1" dirty="0">
                          <a:solidFill>
                            <a:srgbClr val="000000"/>
                          </a:solidFill>
                          <a:effectLst/>
                          <a:latin typeface="Garamond" panose="02020404030301010803" pitchFamily="18" charset="0"/>
                          <a:ea typeface="Calibri" panose="020F0502020204030204" pitchFamily="34" charset="0"/>
                          <a:cs typeface="Arial" panose="020B0604020202020204" pitchFamily="34" charset="0"/>
                        </a:rPr>
                        <a:t>Frequency of extreme events in future projections relative to baseline (1980-2005)</a:t>
                      </a:r>
                      <a:endParaRPr lang="en-GB" sz="1400" dirty="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655714588"/>
                  </a:ext>
                </a:extLst>
              </a:tr>
              <a:tr h="133393">
                <a:tc>
                  <a:txBody>
                    <a:bodyPr/>
                    <a:lstStyle/>
                    <a:p>
                      <a:pPr algn="ctr">
                        <a:lnSpc>
                          <a:spcPct val="150000"/>
                        </a:lnSpc>
                        <a:spcAft>
                          <a:spcPts val="800"/>
                        </a:spcAft>
                        <a:buNone/>
                      </a:pPr>
                      <a:r>
                        <a:rPr lang="en-GB" sz="1400" b="1">
                          <a:effectLst/>
                          <a:latin typeface="Garamond" panose="02020404030301010803" pitchFamily="18" charset="0"/>
                          <a:ea typeface="Calibri" panose="020F0502020204030204" pitchFamily="34" charset="0"/>
                          <a:cs typeface="Arial" panose="020B0604020202020204" pitchFamily="34" charset="0"/>
                        </a:rPr>
                        <a:t> </a:t>
                      </a:r>
                      <a:endParaRPr lang="en-GB" sz="14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tc gridSpan="8">
                  <a:txBody>
                    <a:bodyPr/>
                    <a:lstStyle/>
                    <a:p>
                      <a:pPr algn="ctr">
                        <a:lnSpc>
                          <a:spcPct val="150000"/>
                        </a:lnSpc>
                        <a:spcAft>
                          <a:spcPts val="800"/>
                        </a:spcAft>
                        <a:buNone/>
                      </a:pPr>
                      <a:r>
                        <a:rPr lang="en-GB" sz="1400" b="1">
                          <a:solidFill>
                            <a:srgbClr val="000000"/>
                          </a:solidFill>
                          <a:effectLst/>
                          <a:latin typeface="Garamond" panose="02020404030301010803" pitchFamily="18" charset="0"/>
                          <a:ea typeface="Calibri" panose="020F0502020204030204" pitchFamily="34" charset="0"/>
                          <a:cs typeface="Arial" panose="020B0604020202020204" pitchFamily="34" charset="0"/>
                        </a:rPr>
                        <a:t>RCP 2.6 (low carbon scenario)</a:t>
                      </a:r>
                      <a:endParaRPr lang="en-GB" sz="14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gridSpan="8">
                  <a:txBody>
                    <a:bodyPr/>
                    <a:lstStyle/>
                    <a:p>
                      <a:pPr algn="ctr">
                        <a:lnSpc>
                          <a:spcPct val="150000"/>
                        </a:lnSpc>
                        <a:spcAft>
                          <a:spcPts val="800"/>
                        </a:spcAft>
                        <a:buNone/>
                      </a:pPr>
                      <a:r>
                        <a:rPr lang="en-GB" sz="1400" b="1">
                          <a:solidFill>
                            <a:srgbClr val="000000"/>
                          </a:solidFill>
                          <a:effectLst/>
                          <a:latin typeface="Garamond" panose="02020404030301010803" pitchFamily="18" charset="0"/>
                          <a:ea typeface="Calibri" panose="020F0502020204030204" pitchFamily="34" charset="0"/>
                          <a:cs typeface="Arial" panose="020B0604020202020204" pitchFamily="34" charset="0"/>
                        </a:rPr>
                        <a:t>RCP 8.5 (high carbon scenario)</a:t>
                      </a:r>
                      <a:endParaRPr lang="en-GB" sz="14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430499684"/>
                  </a:ext>
                </a:extLst>
              </a:tr>
              <a:tr h="133393">
                <a:tc>
                  <a:txBody>
                    <a:bodyPr/>
                    <a:lstStyle/>
                    <a:p>
                      <a:pPr algn="ctr">
                        <a:lnSpc>
                          <a:spcPct val="150000"/>
                        </a:lnSpc>
                        <a:spcAft>
                          <a:spcPts val="800"/>
                        </a:spcAft>
                        <a:buNone/>
                      </a:pPr>
                      <a:r>
                        <a:rPr lang="en-GB" sz="1400" b="1">
                          <a:effectLst/>
                          <a:latin typeface="Garamond" panose="02020404030301010803" pitchFamily="18" charset="0"/>
                          <a:ea typeface="Calibri" panose="020F0502020204030204" pitchFamily="34" charset="0"/>
                          <a:cs typeface="Arial" panose="020B0604020202020204" pitchFamily="34" charset="0"/>
                        </a:rPr>
                        <a:t> </a:t>
                      </a:r>
                      <a:endParaRPr lang="en-GB" sz="14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tc gridSpan="4">
                  <a:txBody>
                    <a:bodyPr/>
                    <a:lstStyle/>
                    <a:p>
                      <a:pPr algn="ctr">
                        <a:lnSpc>
                          <a:spcPct val="150000"/>
                        </a:lnSpc>
                        <a:spcAft>
                          <a:spcPts val="800"/>
                        </a:spcAft>
                        <a:buNone/>
                      </a:pPr>
                      <a:r>
                        <a:rPr lang="en-GB" sz="1400" b="1">
                          <a:solidFill>
                            <a:srgbClr val="000000"/>
                          </a:solidFill>
                          <a:effectLst/>
                          <a:latin typeface="Garamond" panose="02020404030301010803" pitchFamily="18" charset="0"/>
                          <a:ea typeface="Calibri" panose="020F0502020204030204" pitchFamily="34" charset="0"/>
                          <a:cs typeface="Arial" panose="020B0604020202020204" pitchFamily="34" charset="0"/>
                        </a:rPr>
                        <a:t>2020-2049</a:t>
                      </a:r>
                      <a:endParaRPr lang="en-GB" sz="14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algn="ctr">
                        <a:lnSpc>
                          <a:spcPct val="150000"/>
                        </a:lnSpc>
                        <a:spcAft>
                          <a:spcPts val="800"/>
                        </a:spcAft>
                        <a:buNone/>
                      </a:pPr>
                      <a:r>
                        <a:rPr lang="en-GB" sz="1400" b="1">
                          <a:solidFill>
                            <a:srgbClr val="000000"/>
                          </a:solidFill>
                          <a:effectLst/>
                          <a:latin typeface="Garamond" panose="02020404030301010803" pitchFamily="18" charset="0"/>
                          <a:ea typeface="Calibri" panose="020F0502020204030204" pitchFamily="34" charset="0"/>
                          <a:cs typeface="Arial" panose="020B0604020202020204" pitchFamily="34" charset="0"/>
                        </a:rPr>
                        <a:t>2050-2079</a:t>
                      </a:r>
                      <a:endParaRPr lang="en-GB" sz="14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algn="ctr">
                        <a:lnSpc>
                          <a:spcPct val="150000"/>
                        </a:lnSpc>
                        <a:spcAft>
                          <a:spcPts val="800"/>
                        </a:spcAft>
                        <a:buNone/>
                      </a:pPr>
                      <a:r>
                        <a:rPr lang="en-GB" sz="1400" b="1">
                          <a:solidFill>
                            <a:srgbClr val="000000"/>
                          </a:solidFill>
                          <a:effectLst/>
                          <a:latin typeface="Garamond" panose="02020404030301010803" pitchFamily="18" charset="0"/>
                          <a:ea typeface="Calibri" panose="020F0502020204030204" pitchFamily="34" charset="0"/>
                          <a:cs typeface="Arial" panose="020B0604020202020204" pitchFamily="34" charset="0"/>
                        </a:rPr>
                        <a:t>2020-2049</a:t>
                      </a:r>
                      <a:endParaRPr lang="en-GB" sz="14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algn="ctr">
                        <a:lnSpc>
                          <a:spcPct val="150000"/>
                        </a:lnSpc>
                        <a:spcAft>
                          <a:spcPts val="800"/>
                        </a:spcAft>
                        <a:buNone/>
                      </a:pPr>
                      <a:r>
                        <a:rPr lang="en-GB" sz="1400" b="1" dirty="0">
                          <a:solidFill>
                            <a:srgbClr val="000000"/>
                          </a:solidFill>
                          <a:effectLst/>
                          <a:latin typeface="Garamond" panose="02020404030301010803" pitchFamily="18" charset="0"/>
                          <a:ea typeface="Calibri" panose="020F0502020204030204" pitchFamily="34" charset="0"/>
                          <a:cs typeface="Arial" panose="020B0604020202020204" pitchFamily="34" charset="0"/>
                        </a:rPr>
                        <a:t>2050-2079</a:t>
                      </a:r>
                      <a:endParaRPr lang="en-GB" sz="1400" dirty="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3"/>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241434330"/>
                  </a:ext>
                </a:extLst>
              </a:tr>
              <a:tr h="324000">
                <a:tc>
                  <a:txBody>
                    <a:bodyPr/>
                    <a:lstStyle/>
                    <a:p>
                      <a:pPr algn="just">
                        <a:lnSpc>
                          <a:spcPct val="150000"/>
                        </a:lnSpc>
                        <a:spcAft>
                          <a:spcPts val="800"/>
                        </a:spcAft>
                        <a:buNone/>
                      </a:pPr>
                      <a:r>
                        <a:rPr lang="en-GB" sz="1200" dirty="0">
                          <a:effectLst/>
                          <a:latin typeface="Garamond" panose="02020404030301010803" pitchFamily="18" charset="0"/>
                          <a:ea typeface="Calibri" panose="020F0502020204030204" pitchFamily="34" charset="0"/>
                          <a:cs typeface="Arial" panose="020B0604020202020204" pitchFamily="34" charset="0"/>
                        </a:rPr>
                        <a:t> </a:t>
                      </a: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buNone/>
                      </a:pPr>
                      <a:r>
                        <a:rPr lang="en-GB" sz="1100" b="1" dirty="0">
                          <a:effectLst/>
                          <a:latin typeface="Garamond" panose="02020404030301010803" pitchFamily="18" charset="0"/>
                          <a:ea typeface="Calibri" panose="020F0502020204030204" pitchFamily="34" charset="0"/>
                          <a:cs typeface="Arial" panose="020B0604020202020204" pitchFamily="34" charset="0"/>
                        </a:rPr>
                        <a:t>JFM</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buNone/>
                      </a:pPr>
                      <a:r>
                        <a:rPr lang="en-GB" sz="1100" b="1" dirty="0">
                          <a:effectLst/>
                          <a:latin typeface="Garamond" panose="02020404030301010803" pitchFamily="18" charset="0"/>
                          <a:ea typeface="Calibri" panose="020F0502020204030204" pitchFamily="34" charset="0"/>
                          <a:cs typeface="Arial" panose="020B0604020202020204" pitchFamily="34" charset="0"/>
                        </a:rPr>
                        <a:t>AMJ</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buNone/>
                      </a:pPr>
                      <a:r>
                        <a:rPr lang="en-GB" sz="1100" b="1" dirty="0">
                          <a:effectLst/>
                          <a:latin typeface="Garamond" panose="02020404030301010803" pitchFamily="18" charset="0"/>
                          <a:ea typeface="Calibri" panose="020F0502020204030204" pitchFamily="34" charset="0"/>
                          <a:cs typeface="Arial" panose="020B0604020202020204" pitchFamily="34" charset="0"/>
                        </a:rPr>
                        <a:t>JAS</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buNone/>
                      </a:pPr>
                      <a:r>
                        <a:rPr lang="en-GB" sz="1100" b="1">
                          <a:effectLst/>
                          <a:latin typeface="Garamond" panose="02020404030301010803" pitchFamily="18" charset="0"/>
                          <a:ea typeface="Calibri" panose="020F0502020204030204" pitchFamily="34" charset="0"/>
                          <a:cs typeface="Arial" panose="020B0604020202020204" pitchFamily="34" charset="0"/>
                        </a:rPr>
                        <a:t>OND</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buNone/>
                      </a:pPr>
                      <a:r>
                        <a:rPr lang="en-GB" sz="1100" b="1" dirty="0">
                          <a:effectLst/>
                          <a:latin typeface="Garamond" panose="02020404030301010803" pitchFamily="18" charset="0"/>
                          <a:ea typeface="Calibri" panose="020F0502020204030204" pitchFamily="34" charset="0"/>
                          <a:cs typeface="Arial" panose="020B0604020202020204" pitchFamily="34" charset="0"/>
                        </a:rPr>
                        <a:t>JFM</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buNone/>
                      </a:pPr>
                      <a:r>
                        <a:rPr lang="en-GB" sz="1100" b="1" dirty="0">
                          <a:effectLst/>
                          <a:latin typeface="Garamond" panose="02020404030301010803" pitchFamily="18" charset="0"/>
                          <a:ea typeface="Calibri" panose="020F0502020204030204" pitchFamily="34" charset="0"/>
                          <a:cs typeface="Arial" panose="020B0604020202020204" pitchFamily="34" charset="0"/>
                        </a:rPr>
                        <a:t>AMJ</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buNone/>
                      </a:pPr>
                      <a:r>
                        <a:rPr lang="en-GB" sz="1100" b="1" dirty="0">
                          <a:effectLst/>
                          <a:latin typeface="Garamond" panose="02020404030301010803" pitchFamily="18" charset="0"/>
                          <a:ea typeface="Calibri" panose="020F0502020204030204" pitchFamily="34" charset="0"/>
                          <a:cs typeface="Arial" panose="020B0604020202020204" pitchFamily="34" charset="0"/>
                        </a:rPr>
                        <a:t>JAS</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buNone/>
                      </a:pPr>
                      <a:r>
                        <a:rPr lang="en-GB" sz="1100" b="1">
                          <a:effectLst/>
                          <a:latin typeface="Garamond" panose="02020404030301010803" pitchFamily="18" charset="0"/>
                          <a:ea typeface="Calibri" panose="020F0502020204030204" pitchFamily="34" charset="0"/>
                          <a:cs typeface="Arial" panose="020B0604020202020204" pitchFamily="34" charset="0"/>
                        </a:rPr>
                        <a:t>OND</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buNone/>
                      </a:pPr>
                      <a:r>
                        <a:rPr lang="en-GB" sz="1100" b="1" dirty="0">
                          <a:effectLst/>
                          <a:latin typeface="Garamond" panose="02020404030301010803" pitchFamily="18" charset="0"/>
                          <a:ea typeface="Calibri" panose="020F0502020204030204" pitchFamily="34" charset="0"/>
                          <a:cs typeface="Arial" panose="020B0604020202020204" pitchFamily="34" charset="0"/>
                        </a:rPr>
                        <a:t>JFM</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buNone/>
                      </a:pPr>
                      <a:r>
                        <a:rPr lang="en-GB" sz="1100" b="1" dirty="0">
                          <a:effectLst/>
                          <a:latin typeface="Garamond" panose="02020404030301010803" pitchFamily="18" charset="0"/>
                          <a:ea typeface="Calibri" panose="020F0502020204030204" pitchFamily="34" charset="0"/>
                          <a:cs typeface="Arial" panose="020B0604020202020204" pitchFamily="34" charset="0"/>
                        </a:rPr>
                        <a:t>AMJ</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buNone/>
                      </a:pPr>
                      <a:r>
                        <a:rPr lang="en-GB" sz="1100" b="1" dirty="0">
                          <a:effectLst/>
                          <a:latin typeface="Garamond" panose="02020404030301010803" pitchFamily="18" charset="0"/>
                          <a:ea typeface="Calibri" panose="020F0502020204030204" pitchFamily="34" charset="0"/>
                          <a:cs typeface="Arial" panose="020B0604020202020204" pitchFamily="34" charset="0"/>
                        </a:rPr>
                        <a:t>JAS</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buNone/>
                      </a:pPr>
                      <a:r>
                        <a:rPr lang="en-GB" sz="1100" b="1" dirty="0">
                          <a:effectLst/>
                          <a:latin typeface="Garamond" panose="02020404030301010803" pitchFamily="18" charset="0"/>
                          <a:ea typeface="Calibri" panose="020F0502020204030204" pitchFamily="34" charset="0"/>
                          <a:cs typeface="Arial" panose="020B0604020202020204" pitchFamily="34" charset="0"/>
                        </a:rPr>
                        <a:t>OND</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buNone/>
                      </a:pPr>
                      <a:r>
                        <a:rPr lang="en-GB" sz="1100" b="1" dirty="0">
                          <a:effectLst/>
                          <a:latin typeface="Garamond" panose="02020404030301010803" pitchFamily="18" charset="0"/>
                          <a:ea typeface="Calibri" panose="020F0502020204030204" pitchFamily="34" charset="0"/>
                          <a:cs typeface="Arial" panose="020B0604020202020204" pitchFamily="34" charset="0"/>
                        </a:rPr>
                        <a:t>JFM</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buNone/>
                      </a:pPr>
                      <a:r>
                        <a:rPr lang="en-GB" sz="1100" b="1" dirty="0">
                          <a:effectLst/>
                          <a:latin typeface="Garamond" panose="02020404030301010803" pitchFamily="18" charset="0"/>
                          <a:ea typeface="Calibri" panose="020F0502020204030204" pitchFamily="34" charset="0"/>
                          <a:cs typeface="Arial" panose="020B0604020202020204" pitchFamily="34" charset="0"/>
                        </a:rPr>
                        <a:t>AMJ</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buNone/>
                      </a:pPr>
                      <a:r>
                        <a:rPr lang="en-GB" sz="1100" b="1" dirty="0">
                          <a:effectLst/>
                          <a:latin typeface="Garamond" panose="02020404030301010803" pitchFamily="18" charset="0"/>
                          <a:ea typeface="Calibri" panose="020F0502020204030204" pitchFamily="34" charset="0"/>
                          <a:cs typeface="Arial" panose="020B0604020202020204" pitchFamily="34" charset="0"/>
                        </a:rPr>
                        <a:t>JAS</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buNone/>
                      </a:pPr>
                      <a:r>
                        <a:rPr lang="en-GB" sz="1100" b="1" dirty="0">
                          <a:effectLst/>
                          <a:latin typeface="Garamond" panose="02020404030301010803" pitchFamily="18" charset="0"/>
                          <a:ea typeface="Calibri" panose="020F0502020204030204" pitchFamily="34" charset="0"/>
                          <a:cs typeface="Arial" panose="020B0604020202020204" pitchFamily="34" charset="0"/>
                        </a:rPr>
                        <a:t>OND</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69969249"/>
                  </a:ext>
                </a:extLst>
              </a:tr>
              <a:tr h="133393">
                <a:tc>
                  <a:txBody>
                    <a:bodyPr/>
                    <a:lstStyle/>
                    <a:p>
                      <a:pPr algn="just">
                        <a:lnSpc>
                          <a:spcPct val="150000"/>
                        </a:lnSpc>
                        <a:spcAft>
                          <a:spcPts val="800"/>
                        </a:spcAft>
                        <a:buNone/>
                      </a:pPr>
                      <a:r>
                        <a:rPr lang="en-GB" sz="1400" b="1" dirty="0">
                          <a:effectLst/>
                          <a:latin typeface="Garamond" panose="02020404030301010803" pitchFamily="18" charset="0"/>
                          <a:ea typeface="Calibri" panose="020F0502020204030204" pitchFamily="34" charset="0"/>
                          <a:cs typeface="Arial" panose="020B0604020202020204" pitchFamily="34" charset="0"/>
                        </a:rPr>
                        <a:t>São Tomé</a:t>
                      </a:r>
                      <a:endParaRPr lang="en-GB" sz="1400" dirty="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algn="just">
                        <a:lnSpc>
                          <a:spcPct val="150000"/>
                        </a:lnSpc>
                        <a:spcAft>
                          <a:spcPts val="800"/>
                        </a:spcAft>
                        <a:buNone/>
                      </a:pPr>
                      <a:r>
                        <a:rPr lang="en-GB" sz="1200">
                          <a:effectLst/>
                          <a:latin typeface="Garamond" panose="02020404030301010803" pitchFamily="18" charset="0"/>
                          <a:ea typeface="Calibri" panose="020F0502020204030204" pitchFamily="34" charset="0"/>
                          <a:cs typeface="Arial" panose="020B0604020202020204" pitchFamily="34" charset="0"/>
                        </a:rPr>
                        <a:t> </a:t>
                      </a: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GB"/>
                    </a:p>
                  </a:txBody>
                  <a:tcPr/>
                </a:tc>
                <a:tc gridSpan="2">
                  <a:txBody>
                    <a:bodyPr/>
                    <a:lstStyle/>
                    <a:p>
                      <a:pPr algn="just">
                        <a:lnSpc>
                          <a:spcPct val="150000"/>
                        </a:lnSpc>
                        <a:spcAft>
                          <a:spcPts val="800"/>
                        </a:spcAft>
                        <a:buNone/>
                      </a:pPr>
                      <a:r>
                        <a:rPr lang="en-GB" sz="1200">
                          <a:effectLst/>
                          <a:latin typeface="Garamond" panose="02020404030301010803" pitchFamily="18" charset="0"/>
                          <a:ea typeface="Calibri" panose="020F0502020204030204" pitchFamily="34" charset="0"/>
                          <a:cs typeface="Arial" panose="020B0604020202020204" pitchFamily="34" charset="0"/>
                        </a:rPr>
                        <a:t> </a:t>
                      </a: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GB"/>
                    </a:p>
                  </a:txBody>
                  <a:tcPr/>
                </a:tc>
                <a:tc gridSpan="2">
                  <a:txBody>
                    <a:bodyPr/>
                    <a:lstStyle/>
                    <a:p>
                      <a:pPr algn="just">
                        <a:lnSpc>
                          <a:spcPct val="150000"/>
                        </a:lnSpc>
                        <a:spcAft>
                          <a:spcPts val="800"/>
                        </a:spcAft>
                        <a:buNone/>
                      </a:pPr>
                      <a:r>
                        <a:rPr lang="en-GB" sz="1200">
                          <a:effectLst/>
                          <a:latin typeface="Garamond" panose="02020404030301010803" pitchFamily="18" charset="0"/>
                          <a:ea typeface="Calibri" panose="020F0502020204030204" pitchFamily="34" charset="0"/>
                          <a:cs typeface="Arial" panose="020B0604020202020204" pitchFamily="34" charset="0"/>
                        </a:rPr>
                        <a:t> </a:t>
                      </a: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GB"/>
                    </a:p>
                  </a:txBody>
                  <a:tcPr/>
                </a:tc>
                <a:tc gridSpan="2">
                  <a:txBody>
                    <a:bodyPr/>
                    <a:lstStyle/>
                    <a:p>
                      <a:pPr algn="just">
                        <a:lnSpc>
                          <a:spcPct val="150000"/>
                        </a:lnSpc>
                        <a:spcAft>
                          <a:spcPts val="800"/>
                        </a:spcAft>
                        <a:buNone/>
                      </a:pPr>
                      <a:r>
                        <a:rPr lang="en-GB" sz="1200">
                          <a:effectLst/>
                          <a:latin typeface="Garamond" panose="02020404030301010803" pitchFamily="18" charset="0"/>
                          <a:ea typeface="Calibri" panose="020F0502020204030204" pitchFamily="34" charset="0"/>
                          <a:cs typeface="Arial" panose="020B0604020202020204" pitchFamily="34" charset="0"/>
                        </a:rPr>
                        <a:t> </a:t>
                      </a: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GB"/>
                    </a:p>
                  </a:txBody>
                  <a:tcPr/>
                </a:tc>
                <a:tc gridSpan="2">
                  <a:txBody>
                    <a:bodyPr/>
                    <a:lstStyle/>
                    <a:p>
                      <a:pPr algn="just">
                        <a:lnSpc>
                          <a:spcPct val="150000"/>
                        </a:lnSpc>
                        <a:spcAft>
                          <a:spcPts val="800"/>
                        </a:spcAft>
                        <a:buNone/>
                      </a:pPr>
                      <a:r>
                        <a:rPr lang="en-GB" sz="1200">
                          <a:effectLst/>
                          <a:latin typeface="Garamond" panose="02020404030301010803" pitchFamily="18" charset="0"/>
                          <a:ea typeface="Calibri" panose="020F0502020204030204" pitchFamily="34" charset="0"/>
                          <a:cs typeface="Arial" panose="020B0604020202020204" pitchFamily="34" charset="0"/>
                        </a:rPr>
                        <a:t> </a:t>
                      </a: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GB"/>
                    </a:p>
                  </a:txBody>
                  <a:tcPr/>
                </a:tc>
                <a:tc gridSpan="2">
                  <a:txBody>
                    <a:bodyPr/>
                    <a:lstStyle/>
                    <a:p>
                      <a:pPr algn="just">
                        <a:lnSpc>
                          <a:spcPct val="150000"/>
                        </a:lnSpc>
                        <a:spcAft>
                          <a:spcPts val="800"/>
                        </a:spcAft>
                        <a:buNone/>
                      </a:pPr>
                      <a:r>
                        <a:rPr lang="en-GB" sz="1200">
                          <a:effectLst/>
                          <a:latin typeface="Garamond" panose="02020404030301010803" pitchFamily="18" charset="0"/>
                          <a:ea typeface="Calibri" panose="020F0502020204030204" pitchFamily="34" charset="0"/>
                          <a:cs typeface="Arial" panose="020B0604020202020204" pitchFamily="34" charset="0"/>
                        </a:rPr>
                        <a:t> </a:t>
                      </a: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GB"/>
                    </a:p>
                  </a:txBody>
                  <a:tcPr/>
                </a:tc>
                <a:tc gridSpan="2">
                  <a:txBody>
                    <a:bodyPr/>
                    <a:lstStyle/>
                    <a:p>
                      <a:pPr algn="just">
                        <a:lnSpc>
                          <a:spcPct val="150000"/>
                        </a:lnSpc>
                        <a:spcAft>
                          <a:spcPts val="800"/>
                        </a:spcAft>
                        <a:buNone/>
                      </a:pPr>
                      <a:r>
                        <a:rPr lang="en-GB" sz="1200">
                          <a:effectLst/>
                          <a:latin typeface="Garamond" panose="02020404030301010803" pitchFamily="18" charset="0"/>
                          <a:ea typeface="Calibri" panose="020F0502020204030204" pitchFamily="34" charset="0"/>
                          <a:cs typeface="Arial" panose="020B0604020202020204" pitchFamily="34" charset="0"/>
                        </a:rPr>
                        <a:t> </a:t>
                      </a: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GB"/>
                    </a:p>
                  </a:txBody>
                  <a:tcPr/>
                </a:tc>
                <a:tc gridSpan="2">
                  <a:txBody>
                    <a:bodyPr/>
                    <a:lstStyle/>
                    <a:p>
                      <a:pPr algn="just">
                        <a:lnSpc>
                          <a:spcPct val="150000"/>
                        </a:lnSpc>
                        <a:spcAft>
                          <a:spcPts val="800"/>
                        </a:spcAft>
                        <a:buNone/>
                      </a:pPr>
                      <a:r>
                        <a:rPr lang="en-GB" sz="1200">
                          <a:effectLst/>
                          <a:latin typeface="Garamond" panose="02020404030301010803" pitchFamily="18" charset="0"/>
                          <a:ea typeface="Calibri" panose="020F0502020204030204" pitchFamily="34" charset="0"/>
                          <a:cs typeface="Arial" panose="020B0604020202020204" pitchFamily="34" charset="0"/>
                        </a:rPr>
                        <a:t> </a:t>
                      </a: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GB"/>
                    </a:p>
                  </a:txBody>
                  <a:tcPr/>
                </a:tc>
                <a:extLst>
                  <a:ext uri="{0D108BD9-81ED-4DB2-BD59-A6C34878D82A}">
                    <a16:rowId xmlns:a16="http://schemas.microsoft.com/office/drawing/2014/main" val="2794735844"/>
                  </a:ext>
                </a:extLst>
              </a:tr>
              <a:tr h="133393">
                <a:tc>
                  <a:txBody>
                    <a:bodyPr/>
                    <a:lstStyle/>
                    <a:p>
                      <a:pPr algn="just">
                        <a:lnSpc>
                          <a:spcPct val="150000"/>
                        </a:lnSpc>
                        <a:spcAft>
                          <a:spcPts val="800"/>
                        </a:spcAft>
                        <a:buNone/>
                      </a:pPr>
                      <a:r>
                        <a:rPr lang="en-GB" sz="1200" b="1">
                          <a:effectLst/>
                          <a:latin typeface="Garamond" panose="02020404030301010803" pitchFamily="18" charset="0"/>
                          <a:ea typeface="Calibri" panose="020F0502020204030204" pitchFamily="34" charset="0"/>
                          <a:cs typeface="Arial" panose="020B0604020202020204" pitchFamily="34" charset="0"/>
                        </a:rPr>
                        <a:t>Heatwaves</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solidFill>
                            <a:srgbClr val="000000"/>
                          </a:solidFill>
                          <a:effectLst/>
                          <a:latin typeface="Garamond" panose="02020404030301010803" pitchFamily="18" charset="0"/>
                          <a:ea typeface="Calibri" panose="020F0502020204030204" pitchFamily="34" charset="0"/>
                          <a:cs typeface="Arial" panose="020B0604020202020204" pitchFamily="34" charset="0"/>
                        </a:rPr>
                        <a:t>2.3</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100">
                          <a:solidFill>
                            <a:srgbClr val="000000"/>
                          </a:solidFill>
                          <a:effectLst/>
                          <a:latin typeface="Garamond" panose="02020404030301010803" pitchFamily="18" charset="0"/>
                          <a:ea typeface="Calibri" panose="020F0502020204030204" pitchFamily="34" charset="0"/>
                          <a:cs typeface="Arial" panose="020B0604020202020204" pitchFamily="34" charset="0"/>
                        </a:rPr>
                        <a:t>1.6</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dirty="0">
                          <a:effectLst/>
                          <a:latin typeface="Garamond" panose="02020404030301010803" pitchFamily="18" charset="0"/>
                          <a:ea typeface="Calibri" panose="020F0502020204030204" pitchFamily="34" charset="0"/>
                          <a:cs typeface="Arial" panose="020B0604020202020204" pitchFamily="34" charset="0"/>
                        </a:rPr>
                        <a:t>0.1</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solidFill>
                            <a:srgbClr val="000000"/>
                          </a:solidFill>
                          <a:effectLst/>
                          <a:latin typeface="Garamond" panose="02020404030301010803" pitchFamily="18" charset="0"/>
                          <a:ea typeface="Calibri" panose="020F0502020204030204" pitchFamily="34" charset="0"/>
                          <a:cs typeface="Arial" panose="020B0604020202020204" pitchFamily="34" charset="0"/>
                        </a:rPr>
                        <a:t>2.3</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100">
                          <a:solidFill>
                            <a:srgbClr val="000000"/>
                          </a:solidFill>
                          <a:effectLst/>
                          <a:latin typeface="Garamond" panose="02020404030301010803" pitchFamily="18" charset="0"/>
                          <a:ea typeface="Calibri" panose="020F0502020204030204" pitchFamily="34" charset="0"/>
                          <a:cs typeface="Arial" panose="020B0604020202020204" pitchFamily="34" charset="0"/>
                        </a:rPr>
                        <a:t>1.7</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0.2</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solidFill>
                            <a:srgbClr val="000000"/>
                          </a:solidFill>
                          <a:effectLst/>
                          <a:latin typeface="Garamond" panose="02020404030301010803" pitchFamily="18" charset="0"/>
                          <a:ea typeface="Calibri" panose="020F0502020204030204" pitchFamily="34" charset="0"/>
                          <a:cs typeface="Arial" panose="020B0604020202020204" pitchFamily="34" charset="0"/>
                        </a:rPr>
                        <a:t>2.2</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100">
                          <a:solidFill>
                            <a:srgbClr val="000000"/>
                          </a:solidFill>
                          <a:effectLst/>
                          <a:latin typeface="Garamond" panose="02020404030301010803" pitchFamily="18" charset="0"/>
                          <a:ea typeface="Calibri" panose="020F0502020204030204" pitchFamily="34" charset="0"/>
                          <a:cs typeface="Arial" panose="020B0604020202020204" pitchFamily="34" charset="0"/>
                        </a:rPr>
                        <a:t>1.6</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0.3</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solidFill>
                            <a:srgbClr val="000000"/>
                          </a:solidFill>
                          <a:effectLst/>
                          <a:latin typeface="Garamond" panose="02020404030301010803" pitchFamily="18" charset="0"/>
                          <a:ea typeface="Calibri" panose="020F0502020204030204" pitchFamily="34" charset="0"/>
                          <a:cs typeface="Arial" panose="020B0604020202020204" pitchFamily="34" charset="0"/>
                        </a:rPr>
                        <a:t>1.1</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just">
                        <a:lnSpc>
                          <a:spcPct val="150000"/>
                        </a:lnSpc>
                        <a:spcAft>
                          <a:spcPts val="800"/>
                        </a:spcAft>
                        <a:buNone/>
                      </a:pPr>
                      <a:r>
                        <a:rPr lang="en-GB" sz="1100">
                          <a:solidFill>
                            <a:srgbClr val="000000"/>
                          </a:solidFill>
                          <a:effectLst/>
                          <a:latin typeface="Garamond" panose="02020404030301010803" pitchFamily="18" charset="0"/>
                          <a:ea typeface="Calibri" panose="020F0502020204030204" pitchFamily="34" charset="0"/>
                          <a:cs typeface="Arial" panose="020B0604020202020204" pitchFamily="34" charset="0"/>
                        </a:rPr>
                        <a:t>1.5</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0.2</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solidFill>
                            <a:srgbClr val="000000"/>
                          </a:solidFill>
                          <a:effectLst/>
                          <a:latin typeface="Garamond" panose="02020404030301010803" pitchFamily="18" charset="0"/>
                          <a:ea typeface="Calibri" panose="020F0502020204030204" pitchFamily="34" charset="0"/>
                          <a:cs typeface="Arial" panose="020B0604020202020204" pitchFamily="34" charset="0"/>
                        </a:rPr>
                        <a:t>2.0</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2979291715"/>
                  </a:ext>
                </a:extLst>
              </a:tr>
              <a:tr h="283363">
                <a:tc>
                  <a:txBody>
                    <a:bodyPr/>
                    <a:lstStyle/>
                    <a:p>
                      <a:pPr algn="just">
                        <a:lnSpc>
                          <a:spcPct val="150000"/>
                        </a:lnSpc>
                        <a:spcAft>
                          <a:spcPts val="800"/>
                        </a:spcAft>
                        <a:buNone/>
                      </a:pPr>
                      <a:r>
                        <a:rPr lang="en-GB" sz="1200" b="1">
                          <a:effectLst/>
                          <a:latin typeface="Garamond" panose="02020404030301010803" pitchFamily="18" charset="0"/>
                          <a:ea typeface="Calibri" panose="020F0502020204030204" pitchFamily="34" charset="0"/>
                          <a:cs typeface="Arial" panose="020B0604020202020204" pitchFamily="34" charset="0"/>
                        </a:rPr>
                        <a:t>Heavy rainfall days</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-0.02</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0.05</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0.04</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0.25</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0.1</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0.3</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0.02</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0.5</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0.08</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0.2</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0.05</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0.2</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-0.05</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0.3</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-0.02</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0.3</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3897720"/>
                  </a:ext>
                </a:extLst>
              </a:tr>
              <a:tr h="283363">
                <a:tc>
                  <a:txBody>
                    <a:bodyPr/>
                    <a:lstStyle/>
                    <a:p>
                      <a:pPr algn="just">
                        <a:lnSpc>
                          <a:spcPct val="150000"/>
                        </a:lnSpc>
                        <a:spcAft>
                          <a:spcPts val="800"/>
                        </a:spcAft>
                        <a:buNone/>
                      </a:pPr>
                      <a:r>
                        <a:rPr lang="en-GB" sz="1200" b="1">
                          <a:effectLst/>
                          <a:latin typeface="Garamond" panose="02020404030301010803" pitchFamily="18" charset="0"/>
                          <a:ea typeface="Calibri" panose="020F0502020204030204" pitchFamily="34" charset="0"/>
                          <a:cs typeface="Arial" panose="020B0604020202020204" pitchFamily="34" charset="0"/>
                        </a:rPr>
                        <a:t>Extreme rainfall days</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0.03</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0.06</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0.06</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0.08</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0.01</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0.08</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dirty="0">
                          <a:effectLst/>
                          <a:latin typeface="Garamond" panose="02020404030301010803" pitchFamily="18" charset="0"/>
                          <a:ea typeface="Calibri" panose="020F0502020204030204" pitchFamily="34" charset="0"/>
                          <a:cs typeface="Arial" panose="020B0604020202020204" pitchFamily="34" charset="0"/>
                        </a:rPr>
                        <a:t>0.03</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0.2</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0.05</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0.05</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0.06</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0.1</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0.01</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0.09</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0.03</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0.2</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0715865"/>
                  </a:ext>
                </a:extLst>
              </a:tr>
              <a:tr h="170369">
                <a:tc>
                  <a:txBody>
                    <a:bodyPr/>
                    <a:lstStyle/>
                    <a:p>
                      <a:pPr algn="just">
                        <a:lnSpc>
                          <a:spcPct val="150000"/>
                        </a:lnSpc>
                        <a:spcAft>
                          <a:spcPts val="800"/>
                        </a:spcAft>
                        <a:buNone/>
                      </a:pPr>
                      <a:r>
                        <a:rPr lang="en-GB" sz="1200" b="1">
                          <a:effectLst/>
                          <a:latin typeface="Garamond" panose="02020404030301010803" pitchFamily="18" charset="0"/>
                          <a:ea typeface="Calibri" panose="020F0502020204030204" pitchFamily="34" charset="0"/>
                          <a:cs typeface="Arial" panose="020B0604020202020204" pitchFamily="34" charset="0"/>
                        </a:rPr>
                        <a:t>Dry days</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solidFill>
                            <a:srgbClr val="000000"/>
                          </a:solidFill>
                          <a:effectLst/>
                          <a:latin typeface="Garamond" panose="02020404030301010803" pitchFamily="18" charset="0"/>
                          <a:ea typeface="Calibri" panose="020F0502020204030204" pitchFamily="34" charset="0"/>
                          <a:cs typeface="Arial" panose="020B0604020202020204" pitchFamily="34" charset="0"/>
                        </a:rPr>
                        <a:t>0.9</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just">
                        <a:lnSpc>
                          <a:spcPct val="150000"/>
                        </a:lnSpc>
                        <a:spcAft>
                          <a:spcPts val="800"/>
                        </a:spcAft>
                        <a:buNone/>
                      </a:pPr>
                      <a:r>
                        <a:rPr lang="en-GB" sz="1100">
                          <a:solidFill>
                            <a:srgbClr val="000000"/>
                          </a:solidFill>
                          <a:effectLst/>
                          <a:latin typeface="Garamond" panose="02020404030301010803" pitchFamily="18" charset="0"/>
                          <a:ea typeface="Calibri" panose="020F0502020204030204" pitchFamily="34" charset="0"/>
                          <a:cs typeface="Arial" panose="020B0604020202020204" pitchFamily="34" charset="0"/>
                        </a:rPr>
                        <a:t>-1.1</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gn="just">
                        <a:lnSpc>
                          <a:spcPct val="150000"/>
                        </a:lnSpc>
                        <a:spcAft>
                          <a:spcPts val="800"/>
                        </a:spcAft>
                        <a:buNone/>
                      </a:pPr>
                      <a:r>
                        <a:rPr lang="en-GB" sz="1100">
                          <a:solidFill>
                            <a:srgbClr val="000000"/>
                          </a:solidFill>
                          <a:effectLst/>
                          <a:latin typeface="Garamond" panose="02020404030301010803" pitchFamily="18" charset="0"/>
                          <a:ea typeface="Calibri" panose="020F0502020204030204" pitchFamily="34" charset="0"/>
                          <a:cs typeface="Arial" panose="020B0604020202020204" pitchFamily="34" charset="0"/>
                        </a:rPr>
                        <a:t>1.4</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just">
                        <a:lnSpc>
                          <a:spcPct val="150000"/>
                        </a:lnSpc>
                        <a:spcAft>
                          <a:spcPts val="800"/>
                        </a:spcAft>
                        <a:buNone/>
                      </a:pPr>
                      <a:r>
                        <a:rPr lang="en-GB" sz="1100">
                          <a:solidFill>
                            <a:srgbClr val="000000"/>
                          </a:solidFill>
                          <a:effectLst/>
                          <a:latin typeface="Garamond" panose="02020404030301010803" pitchFamily="18" charset="0"/>
                          <a:ea typeface="Calibri" panose="020F0502020204030204" pitchFamily="34" charset="0"/>
                          <a:cs typeface="Arial" panose="020B0604020202020204" pitchFamily="34" charset="0"/>
                        </a:rPr>
                        <a:t>2.2</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100">
                          <a:solidFill>
                            <a:srgbClr val="000000"/>
                          </a:solidFill>
                          <a:effectLst/>
                          <a:latin typeface="Garamond" panose="02020404030301010803" pitchFamily="18" charset="0"/>
                          <a:ea typeface="Calibri" panose="020F0502020204030204" pitchFamily="34" charset="0"/>
                          <a:cs typeface="Arial" panose="020B0604020202020204" pitchFamily="34" charset="0"/>
                        </a:rPr>
                        <a:t>-1.3</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gn="just">
                        <a:lnSpc>
                          <a:spcPct val="150000"/>
                        </a:lnSpc>
                        <a:spcAft>
                          <a:spcPts val="800"/>
                        </a:spcAft>
                        <a:buNone/>
                      </a:pPr>
                      <a:r>
                        <a:rPr lang="en-GB" sz="1100">
                          <a:solidFill>
                            <a:srgbClr val="000000"/>
                          </a:solidFill>
                          <a:effectLst/>
                          <a:latin typeface="Garamond" panose="02020404030301010803" pitchFamily="18" charset="0"/>
                          <a:ea typeface="Calibri" panose="020F0502020204030204" pitchFamily="34" charset="0"/>
                          <a:cs typeface="Arial" panose="020B0604020202020204" pitchFamily="34" charset="0"/>
                        </a:rPr>
                        <a:t>-1.9</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just">
                        <a:lnSpc>
                          <a:spcPct val="150000"/>
                        </a:lnSpc>
                        <a:spcAft>
                          <a:spcPts val="800"/>
                        </a:spcAft>
                        <a:buNone/>
                      </a:pPr>
                      <a:r>
                        <a:rPr lang="en-GB" sz="1100">
                          <a:solidFill>
                            <a:srgbClr val="000000"/>
                          </a:solidFill>
                          <a:effectLst/>
                          <a:latin typeface="Garamond" panose="02020404030301010803" pitchFamily="18" charset="0"/>
                          <a:ea typeface="Calibri" panose="020F0502020204030204" pitchFamily="34" charset="0"/>
                          <a:cs typeface="Arial" panose="020B0604020202020204" pitchFamily="34" charset="0"/>
                        </a:rPr>
                        <a:t>1.9</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100" dirty="0">
                          <a:solidFill>
                            <a:srgbClr val="000000"/>
                          </a:solidFill>
                          <a:effectLst/>
                          <a:latin typeface="Garamond" panose="02020404030301010803" pitchFamily="18" charset="0"/>
                          <a:ea typeface="Calibri" panose="020F0502020204030204" pitchFamily="34" charset="0"/>
                          <a:cs typeface="Arial" panose="020B0604020202020204" pitchFamily="34" charset="0"/>
                        </a:rPr>
                        <a:t>1.2</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just">
                        <a:lnSpc>
                          <a:spcPct val="150000"/>
                        </a:lnSpc>
                        <a:spcAft>
                          <a:spcPts val="800"/>
                        </a:spcAft>
                        <a:buNone/>
                      </a:pPr>
                      <a:r>
                        <a:rPr lang="en-GB" sz="1100">
                          <a:solidFill>
                            <a:srgbClr val="000000"/>
                          </a:solidFill>
                          <a:effectLst/>
                          <a:latin typeface="Garamond" panose="02020404030301010803" pitchFamily="18" charset="0"/>
                          <a:ea typeface="Calibri" panose="020F0502020204030204" pitchFamily="34" charset="0"/>
                          <a:cs typeface="Arial" panose="020B0604020202020204" pitchFamily="34" charset="0"/>
                        </a:rPr>
                        <a:t>1.5</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100">
                          <a:solidFill>
                            <a:srgbClr val="000000"/>
                          </a:solidFill>
                          <a:effectLst/>
                          <a:latin typeface="Garamond" panose="02020404030301010803" pitchFamily="18" charset="0"/>
                          <a:ea typeface="Calibri" panose="020F0502020204030204" pitchFamily="34" charset="0"/>
                          <a:cs typeface="Arial" panose="020B0604020202020204" pitchFamily="34" charset="0"/>
                        </a:rPr>
                        <a:t>-2.4</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0.3</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solidFill>
                            <a:srgbClr val="000000"/>
                          </a:solidFill>
                          <a:effectLst/>
                          <a:latin typeface="Garamond" panose="02020404030301010803" pitchFamily="18" charset="0"/>
                          <a:ea typeface="Calibri" panose="020F0502020204030204" pitchFamily="34" charset="0"/>
                          <a:cs typeface="Arial" panose="020B0604020202020204" pitchFamily="34" charset="0"/>
                        </a:rPr>
                        <a:t>2.5</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100">
                          <a:solidFill>
                            <a:srgbClr val="000000"/>
                          </a:solidFill>
                          <a:effectLst/>
                          <a:latin typeface="Garamond" panose="02020404030301010803" pitchFamily="18" charset="0"/>
                          <a:ea typeface="Calibri" panose="020F0502020204030204" pitchFamily="34" charset="0"/>
                          <a:cs typeface="Arial" panose="020B0604020202020204" pitchFamily="34" charset="0"/>
                        </a:rPr>
                        <a:t>2.5</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100">
                          <a:solidFill>
                            <a:srgbClr val="000000"/>
                          </a:solidFill>
                          <a:effectLst/>
                          <a:latin typeface="Garamond" panose="02020404030301010803" pitchFamily="18" charset="0"/>
                          <a:ea typeface="Calibri" panose="020F0502020204030204" pitchFamily="34" charset="0"/>
                          <a:cs typeface="Arial" panose="020B0604020202020204" pitchFamily="34" charset="0"/>
                        </a:rPr>
                        <a:t>-1.3</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gn="just">
                        <a:lnSpc>
                          <a:spcPct val="150000"/>
                        </a:lnSpc>
                        <a:spcAft>
                          <a:spcPts val="800"/>
                        </a:spcAft>
                        <a:buNone/>
                      </a:pPr>
                      <a:r>
                        <a:rPr lang="en-GB" sz="1100">
                          <a:solidFill>
                            <a:srgbClr val="000000"/>
                          </a:solidFill>
                          <a:effectLst/>
                          <a:latin typeface="Garamond" panose="02020404030301010803" pitchFamily="18" charset="0"/>
                          <a:ea typeface="Calibri" panose="020F0502020204030204" pitchFamily="34" charset="0"/>
                          <a:cs typeface="Arial" panose="020B0604020202020204" pitchFamily="34" charset="0"/>
                        </a:rPr>
                        <a:t>3.3</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0.8</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36458532"/>
                  </a:ext>
                </a:extLst>
              </a:tr>
              <a:tr h="133393">
                <a:tc>
                  <a:txBody>
                    <a:bodyPr/>
                    <a:lstStyle/>
                    <a:p>
                      <a:pPr algn="just">
                        <a:lnSpc>
                          <a:spcPct val="150000"/>
                        </a:lnSpc>
                        <a:spcAft>
                          <a:spcPts val="800"/>
                        </a:spcAft>
                        <a:buNone/>
                      </a:pPr>
                      <a:r>
                        <a:rPr lang="en-GB" sz="1200">
                          <a:effectLst/>
                          <a:latin typeface="Garamond" panose="02020404030301010803" pitchFamily="18" charset="0"/>
                          <a:ea typeface="Calibri" panose="020F0502020204030204" pitchFamily="34" charset="0"/>
                          <a:cs typeface="Arial" panose="020B0604020202020204" pitchFamily="34" charset="0"/>
                        </a:rPr>
                        <a:t> </a:t>
                      </a: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gridSpan="2">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 </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hMerge="1">
                  <a:txBody>
                    <a:bodyPr/>
                    <a:lstStyle/>
                    <a:p>
                      <a:endParaRPr lang="en-GB"/>
                    </a:p>
                  </a:txBody>
                  <a:tcPr/>
                </a:tc>
                <a:tc gridSpan="2">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 </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hMerge="1">
                  <a:txBody>
                    <a:bodyPr/>
                    <a:lstStyle/>
                    <a:p>
                      <a:endParaRPr lang="en-GB"/>
                    </a:p>
                  </a:txBody>
                  <a:tcPr/>
                </a:tc>
                <a:tc gridSpan="2">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 </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hMerge="1">
                  <a:txBody>
                    <a:bodyPr/>
                    <a:lstStyle/>
                    <a:p>
                      <a:endParaRPr lang="en-GB"/>
                    </a:p>
                  </a:txBody>
                  <a:tcPr/>
                </a:tc>
                <a:tc gridSpan="2">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 </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hMerge="1">
                  <a:txBody>
                    <a:bodyPr/>
                    <a:lstStyle/>
                    <a:p>
                      <a:endParaRPr lang="en-GB"/>
                    </a:p>
                  </a:txBody>
                  <a:tcPr/>
                </a:tc>
                <a:tc gridSpan="2">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 </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hMerge="1">
                  <a:txBody>
                    <a:bodyPr/>
                    <a:lstStyle/>
                    <a:p>
                      <a:endParaRPr lang="en-GB"/>
                    </a:p>
                  </a:txBody>
                  <a:tcPr/>
                </a:tc>
                <a:tc gridSpan="2">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 </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hMerge="1">
                  <a:txBody>
                    <a:bodyPr/>
                    <a:lstStyle/>
                    <a:p>
                      <a:endParaRPr lang="en-GB"/>
                    </a:p>
                  </a:txBody>
                  <a:tcPr/>
                </a:tc>
                <a:tc gridSpan="2">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 </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hMerge="1">
                  <a:txBody>
                    <a:bodyPr/>
                    <a:lstStyle/>
                    <a:p>
                      <a:endParaRPr lang="en-GB"/>
                    </a:p>
                  </a:txBody>
                  <a:tcPr/>
                </a:tc>
                <a:tc gridSpan="2">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 </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hMerge="1">
                  <a:txBody>
                    <a:bodyPr/>
                    <a:lstStyle/>
                    <a:p>
                      <a:endParaRPr lang="en-GB"/>
                    </a:p>
                  </a:txBody>
                  <a:tcPr/>
                </a:tc>
                <a:extLst>
                  <a:ext uri="{0D108BD9-81ED-4DB2-BD59-A6C34878D82A}">
                    <a16:rowId xmlns:a16="http://schemas.microsoft.com/office/drawing/2014/main" val="1922913146"/>
                  </a:ext>
                </a:extLst>
              </a:tr>
              <a:tr h="133393">
                <a:tc>
                  <a:txBody>
                    <a:bodyPr/>
                    <a:lstStyle/>
                    <a:p>
                      <a:pPr algn="just">
                        <a:lnSpc>
                          <a:spcPct val="150000"/>
                        </a:lnSpc>
                        <a:spcAft>
                          <a:spcPts val="800"/>
                        </a:spcAft>
                        <a:buNone/>
                      </a:pPr>
                      <a:r>
                        <a:rPr lang="en-GB" sz="1400" b="1" dirty="0">
                          <a:effectLst/>
                          <a:latin typeface="Garamond" panose="02020404030301010803" pitchFamily="18" charset="0"/>
                          <a:ea typeface="Calibri" panose="020F0502020204030204" pitchFamily="34" charset="0"/>
                          <a:cs typeface="Arial" panose="020B0604020202020204" pitchFamily="34" charset="0"/>
                        </a:rPr>
                        <a:t>Príncipe</a:t>
                      </a:r>
                      <a:endParaRPr lang="en-GB" sz="1400" dirty="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 </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GB"/>
                    </a:p>
                  </a:txBody>
                  <a:tcPr/>
                </a:tc>
                <a:tc gridSpan="2">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 </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GB"/>
                    </a:p>
                  </a:txBody>
                  <a:tcPr/>
                </a:tc>
                <a:tc gridSpan="2">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 </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GB"/>
                    </a:p>
                  </a:txBody>
                  <a:tcPr/>
                </a:tc>
                <a:tc gridSpan="2">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 </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GB"/>
                    </a:p>
                  </a:txBody>
                  <a:tcPr/>
                </a:tc>
                <a:tc gridSpan="2">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 </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GB"/>
                    </a:p>
                  </a:txBody>
                  <a:tcPr/>
                </a:tc>
                <a:tc gridSpan="2">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 </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GB"/>
                    </a:p>
                  </a:txBody>
                  <a:tcPr/>
                </a:tc>
                <a:tc gridSpan="2">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 </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GB"/>
                    </a:p>
                  </a:txBody>
                  <a:tcPr/>
                </a:tc>
                <a:tc gridSpan="2">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 </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GB"/>
                    </a:p>
                  </a:txBody>
                  <a:tcPr/>
                </a:tc>
                <a:extLst>
                  <a:ext uri="{0D108BD9-81ED-4DB2-BD59-A6C34878D82A}">
                    <a16:rowId xmlns:a16="http://schemas.microsoft.com/office/drawing/2014/main" val="2193567075"/>
                  </a:ext>
                </a:extLst>
              </a:tr>
              <a:tr h="170369">
                <a:tc>
                  <a:txBody>
                    <a:bodyPr/>
                    <a:lstStyle/>
                    <a:p>
                      <a:pPr algn="just">
                        <a:lnSpc>
                          <a:spcPct val="150000"/>
                        </a:lnSpc>
                        <a:spcAft>
                          <a:spcPts val="800"/>
                        </a:spcAft>
                        <a:buNone/>
                      </a:pPr>
                      <a:r>
                        <a:rPr lang="en-GB" sz="1200" b="1">
                          <a:effectLst/>
                          <a:latin typeface="Garamond" panose="02020404030301010803" pitchFamily="18" charset="0"/>
                          <a:ea typeface="Calibri" panose="020F0502020204030204" pitchFamily="34" charset="0"/>
                          <a:cs typeface="Arial" panose="020B0604020202020204" pitchFamily="34" charset="0"/>
                        </a:rPr>
                        <a:t>Heatwaves</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0.5</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0.5</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0.9</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0.4</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0.4</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solidFill>
                            <a:srgbClr val="000000"/>
                          </a:solidFill>
                          <a:effectLst/>
                          <a:latin typeface="Garamond" panose="02020404030301010803" pitchFamily="18" charset="0"/>
                          <a:ea typeface="Calibri" panose="020F0502020204030204" pitchFamily="34" charset="0"/>
                          <a:cs typeface="Arial" panose="020B0604020202020204" pitchFamily="34" charset="0"/>
                        </a:rPr>
                        <a:t>1.1</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0.3</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dirty="0">
                          <a:effectLst/>
                          <a:latin typeface="Garamond" panose="02020404030301010803" pitchFamily="18" charset="0"/>
                          <a:ea typeface="Calibri" panose="020F0502020204030204" pitchFamily="34" charset="0"/>
                          <a:cs typeface="Arial" panose="020B0604020202020204" pitchFamily="34" charset="0"/>
                        </a:rPr>
                        <a:t>0.4</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0.01</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solidFill>
                            <a:srgbClr val="000000"/>
                          </a:solidFill>
                          <a:effectLst/>
                          <a:latin typeface="Garamond" panose="02020404030301010803" pitchFamily="18" charset="0"/>
                          <a:ea typeface="Calibri" panose="020F0502020204030204" pitchFamily="34" charset="0"/>
                          <a:cs typeface="Arial" panose="020B0604020202020204" pitchFamily="34" charset="0"/>
                        </a:rPr>
                        <a:t>1.3</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-0.6</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0.02</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solidFill>
                            <a:srgbClr val="000000"/>
                          </a:solidFill>
                          <a:effectLst/>
                          <a:latin typeface="Garamond" panose="02020404030301010803" pitchFamily="18" charset="0"/>
                          <a:ea typeface="Calibri" panose="020F0502020204030204" pitchFamily="34" charset="0"/>
                          <a:cs typeface="Arial" panose="020B0604020202020204" pitchFamily="34" charset="0"/>
                        </a:rPr>
                        <a:t>1.1</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just">
                        <a:lnSpc>
                          <a:spcPct val="150000"/>
                        </a:lnSpc>
                        <a:spcAft>
                          <a:spcPts val="800"/>
                        </a:spcAft>
                        <a:buNone/>
                      </a:pPr>
                      <a:r>
                        <a:rPr lang="en-GB" sz="1100">
                          <a:solidFill>
                            <a:srgbClr val="000000"/>
                          </a:solidFill>
                          <a:effectLst/>
                          <a:latin typeface="Garamond" panose="02020404030301010803" pitchFamily="18" charset="0"/>
                          <a:ea typeface="Calibri" panose="020F0502020204030204" pitchFamily="34" charset="0"/>
                          <a:cs typeface="Arial" panose="020B0604020202020204" pitchFamily="34" charset="0"/>
                        </a:rPr>
                        <a:t>2.5</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extLst>
                  <a:ext uri="{0D108BD9-81ED-4DB2-BD59-A6C34878D82A}">
                    <a16:rowId xmlns:a16="http://schemas.microsoft.com/office/drawing/2014/main" val="1838076564"/>
                  </a:ext>
                </a:extLst>
              </a:tr>
              <a:tr h="283363">
                <a:tc>
                  <a:txBody>
                    <a:bodyPr/>
                    <a:lstStyle/>
                    <a:p>
                      <a:pPr algn="just">
                        <a:lnSpc>
                          <a:spcPct val="150000"/>
                        </a:lnSpc>
                        <a:spcAft>
                          <a:spcPts val="800"/>
                        </a:spcAft>
                        <a:buNone/>
                      </a:pPr>
                      <a:r>
                        <a:rPr lang="en-GB" sz="1200" b="1">
                          <a:effectLst/>
                          <a:latin typeface="Garamond" panose="02020404030301010803" pitchFamily="18" charset="0"/>
                          <a:ea typeface="Calibri" panose="020F0502020204030204" pitchFamily="34" charset="0"/>
                          <a:cs typeface="Arial" panose="020B0604020202020204" pitchFamily="34" charset="0"/>
                        </a:rPr>
                        <a:t>Heavy rainfall days</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0.05</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0.08</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0.5</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0.5</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0.2</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0.5</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0.4</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0.5</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0.1</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0.2</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dirty="0">
                          <a:solidFill>
                            <a:srgbClr val="000000"/>
                          </a:solidFill>
                          <a:effectLst/>
                          <a:latin typeface="Garamond" panose="02020404030301010803" pitchFamily="18" charset="0"/>
                          <a:ea typeface="Calibri" panose="020F0502020204030204" pitchFamily="34" charset="0"/>
                          <a:cs typeface="Arial" panose="020B0604020202020204" pitchFamily="34" charset="0"/>
                        </a:rPr>
                        <a:t>0.9</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0.5</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-0.05</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solidFill>
                            <a:srgbClr val="000000"/>
                          </a:solidFill>
                          <a:effectLst/>
                          <a:latin typeface="Garamond" panose="02020404030301010803" pitchFamily="18" charset="0"/>
                          <a:ea typeface="Calibri" panose="020F0502020204030204" pitchFamily="34" charset="0"/>
                          <a:cs typeface="Arial" panose="020B0604020202020204" pitchFamily="34" charset="0"/>
                        </a:rPr>
                        <a:t>1.0</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just">
                        <a:lnSpc>
                          <a:spcPct val="150000"/>
                        </a:lnSpc>
                        <a:spcAft>
                          <a:spcPts val="800"/>
                        </a:spcAft>
                        <a:buNone/>
                      </a:pPr>
                      <a:r>
                        <a:rPr lang="en-GB" sz="1100">
                          <a:solidFill>
                            <a:srgbClr val="000000"/>
                          </a:solidFill>
                          <a:effectLst/>
                          <a:latin typeface="Garamond" panose="02020404030301010803" pitchFamily="18" charset="0"/>
                          <a:ea typeface="Calibri" panose="020F0502020204030204" pitchFamily="34" charset="0"/>
                          <a:cs typeface="Arial" panose="020B0604020202020204" pitchFamily="34" charset="0"/>
                        </a:rPr>
                        <a:t>1.0</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0.8</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41918541"/>
                  </a:ext>
                </a:extLst>
              </a:tr>
              <a:tr h="283363">
                <a:tc>
                  <a:txBody>
                    <a:bodyPr/>
                    <a:lstStyle/>
                    <a:p>
                      <a:pPr algn="just">
                        <a:lnSpc>
                          <a:spcPct val="150000"/>
                        </a:lnSpc>
                        <a:spcAft>
                          <a:spcPts val="800"/>
                        </a:spcAft>
                        <a:buNone/>
                      </a:pPr>
                      <a:r>
                        <a:rPr lang="en-GB" sz="1200" b="1">
                          <a:effectLst/>
                          <a:latin typeface="Garamond" panose="02020404030301010803" pitchFamily="18" charset="0"/>
                          <a:ea typeface="Calibri" panose="020F0502020204030204" pitchFamily="34" charset="0"/>
                          <a:cs typeface="Arial" panose="020B0604020202020204" pitchFamily="34" charset="0"/>
                        </a:rPr>
                        <a:t>Extreme rainfall days</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0.004</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0.05</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0.2</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0.2</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0.04</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0.01</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0.3</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0.1</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0.05</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0.02</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0.4</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dirty="0">
                          <a:effectLst/>
                          <a:latin typeface="Garamond" panose="02020404030301010803" pitchFamily="18" charset="0"/>
                          <a:ea typeface="Calibri" panose="020F0502020204030204" pitchFamily="34" charset="0"/>
                          <a:cs typeface="Arial" panose="020B0604020202020204" pitchFamily="34" charset="0"/>
                        </a:rPr>
                        <a:t>0.2</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0.01</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0.1</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0.4</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0.5</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90144705"/>
                  </a:ext>
                </a:extLst>
              </a:tr>
              <a:tr h="170369">
                <a:tc>
                  <a:txBody>
                    <a:bodyPr/>
                    <a:lstStyle/>
                    <a:p>
                      <a:pPr algn="just">
                        <a:lnSpc>
                          <a:spcPct val="150000"/>
                        </a:lnSpc>
                        <a:spcAft>
                          <a:spcPts val="800"/>
                        </a:spcAft>
                        <a:buNone/>
                      </a:pPr>
                      <a:r>
                        <a:rPr lang="en-GB" sz="1200" b="1">
                          <a:effectLst/>
                          <a:latin typeface="Garamond" panose="02020404030301010803" pitchFamily="18" charset="0"/>
                          <a:ea typeface="Calibri" panose="020F0502020204030204" pitchFamily="34" charset="0"/>
                          <a:cs typeface="Arial" panose="020B0604020202020204" pitchFamily="34" charset="0"/>
                        </a:rPr>
                        <a:t>Dry days</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0.8</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solidFill>
                            <a:srgbClr val="000000"/>
                          </a:solidFill>
                          <a:effectLst/>
                          <a:latin typeface="Garamond" panose="02020404030301010803" pitchFamily="18" charset="0"/>
                          <a:ea typeface="Calibri" panose="020F0502020204030204" pitchFamily="34" charset="0"/>
                          <a:cs typeface="Arial" panose="020B0604020202020204" pitchFamily="34" charset="0"/>
                        </a:rPr>
                        <a:t>-1.0</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gn="just">
                        <a:lnSpc>
                          <a:spcPct val="150000"/>
                        </a:lnSpc>
                        <a:spcAft>
                          <a:spcPts val="800"/>
                        </a:spcAft>
                        <a:buNone/>
                      </a:pPr>
                      <a:r>
                        <a:rPr lang="en-GB" sz="1100">
                          <a:solidFill>
                            <a:srgbClr val="000000"/>
                          </a:solidFill>
                          <a:effectLst/>
                          <a:latin typeface="Garamond" panose="02020404030301010803" pitchFamily="18" charset="0"/>
                          <a:ea typeface="Calibri" panose="020F0502020204030204" pitchFamily="34" charset="0"/>
                          <a:cs typeface="Arial" panose="020B0604020202020204" pitchFamily="34" charset="0"/>
                        </a:rPr>
                        <a:t>2.6</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0.4</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-0.4</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solidFill>
                            <a:srgbClr val="000000"/>
                          </a:solidFill>
                          <a:effectLst/>
                          <a:latin typeface="Garamond" panose="02020404030301010803" pitchFamily="18" charset="0"/>
                          <a:ea typeface="Calibri" panose="020F0502020204030204" pitchFamily="34" charset="0"/>
                          <a:cs typeface="Arial" panose="020B0604020202020204" pitchFamily="34" charset="0"/>
                        </a:rPr>
                        <a:t>-1.2</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gn="just">
                        <a:lnSpc>
                          <a:spcPct val="150000"/>
                        </a:lnSpc>
                        <a:spcAft>
                          <a:spcPts val="800"/>
                        </a:spcAft>
                        <a:buNone/>
                      </a:pPr>
                      <a:r>
                        <a:rPr lang="en-GB" sz="1100">
                          <a:solidFill>
                            <a:srgbClr val="000000"/>
                          </a:solidFill>
                          <a:effectLst/>
                          <a:latin typeface="Garamond" panose="02020404030301010803" pitchFamily="18" charset="0"/>
                          <a:ea typeface="Calibri" panose="020F0502020204030204" pitchFamily="34" charset="0"/>
                          <a:cs typeface="Arial" panose="020B0604020202020204" pitchFamily="34" charset="0"/>
                        </a:rPr>
                        <a:t>1.4</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0.8</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solidFill>
                            <a:srgbClr val="000000"/>
                          </a:solidFill>
                          <a:effectLst/>
                          <a:latin typeface="Garamond" panose="02020404030301010803" pitchFamily="18" charset="0"/>
                          <a:ea typeface="Calibri" panose="020F0502020204030204" pitchFamily="34" charset="0"/>
                          <a:cs typeface="Arial" panose="020B0604020202020204" pitchFamily="34" charset="0"/>
                        </a:rPr>
                        <a:t>1.6</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algn="just">
                        <a:lnSpc>
                          <a:spcPct val="150000"/>
                        </a:lnSpc>
                        <a:spcAft>
                          <a:spcPts val="800"/>
                        </a:spcAft>
                        <a:buNone/>
                      </a:pPr>
                      <a:r>
                        <a:rPr lang="en-GB" sz="1100">
                          <a:solidFill>
                            <a:srgbClr val="000000"/>
                          </a:solidFill>
                          <a:effectLst/>
                          <a:latin typeface="Garamond" panose="02020404030301010803" pitchFamily="18" charset="0"/>
                          <a:ea typeface="Calibri" panose="020F0502020204030204" pitchFamily="34" charset="0"/>
                          <a:cs typeface="Arial" panose="020B0604020202020204" pitchFamily="34" charset="0"/>
                        </a:rPr>
                        <a:t>-1.7</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just">
                        <a:lnSpc>
                          <a:spcPct val="150000"/>
                        </a:lnSpc>
                        <a:spcAft>
                          <a:spcPts val="800"/>
                        </a:spcAft>
                        <a:buNone/>
                      </a:pPr>
                      <a:r>
                        <a:rPr lang="en-GB" sz="1100">
                          <a:effectLst/>
                          <a:latin typeface="Garamond" panose="02020404030301010803" pitchFamily="18" charset="0"/>
                          <a:ea typeface="Calibri" panose="020F0502020204030204" pitchFamily="34" charset="0"/>
                          <a:cs typeface="Arial" panose="020B0604020202020204" pitchFamily="34" charset="0"/>
                        </a:rPr>
                        <a:t>-0.6</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a:solidFill>
                            <a:srgbClr val="000000"/>
                          </a:solidFill>
                          <a:effectLst/>
                          <a:latin typeface="Garamond" panose="02020404030301010803" pitchFamily="18" charset="0"/>
                          <a:ea typeface="Calibri" panose="020F0502020204030204" pitchFamily="34" charset="0"/>
                          <a:cs typeface="Arial" panose="020B0604020202020204" pitchFamily="34" charset="0"/>
                        </a:rPr>
                        <a:t>1.1</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just">
                        <a:lnSpc>
                          <a:spcPct val="150000"/>
                        </a:lnSpc>
                        <a:spcAft>
                          <a:spcPts val="800"/>
                        </a:spcAft>
                        <a:buNone/>
                      </a:pPr>
                      <a:r>
                        <a:rPr lang="en-GB" sz="1100">
                          <a:solidFill>
                            <a:srgbClr val="FFFFFF"/>
                          </a:solidFill>
                          <a:effectLst/>
                          <a:latin typeface="Garamond" panose="02020404030301010803" pitchFamily="18" charset="0"/>
                          <a:ea typeface="Calibri" panose="020F0502020204030204" pitchFamily="34" charset="0"/>
                          <a:cs typeface="Arial" panose="020B0604020202020204" pitchFamily="34" charset="0"/>
                        </a:rPr>
                        <a:t>5.7</a:t>
                      </a:r>
                      <a:endParaRPr lang="en-GB" sz="120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tc>
                  <a:txBody>
                    <a:bodyPr/>
                    <a:lstStyle/>
                    <a:p>
                      <a:pPr algn="just">
                        <a:lnSpc>
                          <a:spcPct val="150000"/>
                        </a:lnSpc>
                        <a:spcAft>
                          <a:spcPts val="800"/>
                        </a:spcAft>
                        <a:buNone/>
                      </a:pPr>
                      <a:r>
                        <a:rPr lang="en-GB" sz="1100" dirty="0">
                          <a:solidFill>
                            <a:srgbClr val="000000"/>
                          </a:solidFill>
                          <a:effectLst/>
                          <a:latin typeface="Garamond" panose="02020404030301010803" pitchFamily="18" charset="0"/>
                          <a:ea typeface="Calibri" panose="020F0502020204030204" pitchFamily="34" charset="0"/>
                          <a:cs typeface="Arial" panose="020B0604020202020204" pitchFamily="34" charset="0"/>
                        </a:rPr>
                        <a:t>-1.4</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gn="just">
                        <a:lnSpc>
                          <a:spcPct val="150000"/>
                        </a:lnSpc>
                        <a:spcAft>
                          <a:spcPts val="800"/>
                        </a:spcAft>
                        <a:buNone/>
                      </a:pPr>
                      <a:r>
                        <a:rPr lang="en-GB" sz="1100" dirty="0">
                          <a:effectLst/>
                          <a:latin typeface="Garamond" panose="02020404030301010803" pitchFamily="18" charset="0"/>
                          <a:ea typeface="Calibri" panose="020F0502020204030204" pitchFamily="34" charset="0"/>
                          <a:cs typeface="Arial" panose="020B0604020202020204" pitchFamily="34" charset="0"/>
                        </a:rPr>
                        <a:t>0.9</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buNone/>
                      </a:pPr>
                      <a:r>
                        <a:rPr lang="en-GB" sz="1100" dirty="0">
                          <a:effectLst/>
                          <a:latin typeface="Garamond" panose="02020404030301010803" pitchFamily="18" charset="0"/>
                          <a:ea typeface="Calibri" panose="020F0502020204030204" pitchFamily="34" charset="0"/>
                          <a:cs typeface="Arial" panose="020B0604020202020204" pitchFamily="34" charset="0"/>
                        </a:rPr>
                        <a:t>0.01</a:t>
                      </a:r>
                      <a:endParaRPr lang="en-GB" sz="1200" dirty="0">
                        <a:effectLst/>
                        <a:latin typeface="Garamond" panose="02020404030301010803" pitchFamily="18" charset="0"/>
                        <a:ea typeface="Calibri" panose="020F0502020204030204" pitchFamily="34" charset="0"/>
                        <a:cs typeface="Arial" panose="020B0604020202020204" pitchFamily="34" charset="0"/>
                      </a:endParaRPr>
                    </a:p>
                  </a:txBody>
                  <a:tcPr marL="39745" marR="397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40815271"/>
                  </a:ext>
                </a:extLst>
              </a:tr>
            </a:tbl>
          </a:graphicData>
        </a:graphic>
      </p:graphicFrame>
    </p:spTree>
    <p:extLst>
      <p:ext uri="{BB962C8B-B14F-4D97-AF65-F5344CB8AC3E}">
        <p14:creationId xmlns:p14="http://schemas.microsoft.com/office/powerpoint/2010/main" val="20128454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21512-1EDC-4E39-4792-D6C68964F2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92494-7A8A-8DB8-85C8-F268C34AF2A3}"/>
              </a:ext>
            </a:extLst>
          </p:cNvPr>
          <p:cNvSpPr>
            <a:spLocks noGrp="1"/>
          </p:cNvSpPr>
          <p:nvPr>
            <p:ph type="title"/>
          </p:nvPr>
        </p:nvSpPr>
        <p:spPr>
          <a:xfrm>
            <a:off x="838199" y="501650"/>
            <a:ext cx="6836817" cy="1325563"/>
          </a:xfrm>
        </p:spPr>
        <p:txBody>
          <a:bodyPr>
            <a:normAutofit/>
          </a:bodyPr>
          <a:lstStyle/>
          <a:p>
            <a:r>
              <a:rPr lang="en-US" sz="3200" b="1" dirty="0">
                <a:solidFill>
                  <a:srgbClr val="0070C0"/>
                </a:solidFill>
                <a:latin typeface="Arial" panose="020B0604020202020204" pitchFamily="34" charset="0"/>
                <a:cs typeface="Arial" panose="020B0604020202020204" pitchFamily="34" charset="0"/>
              </a:rPr>
              <a:t>Tourism – climate impact analysis</a:t>
            </a:r>
          </a:p>
        </p:txBody>
      </p:sp>
      <p:sp>
        <p:nvSpPr>
          <p:cNvPr id="5" name="Slide Number Placeholder 4">
            <a:extLst>
              <a:ext uri="{FF2B5EF4-FFF2-40B4-BE49-F238E27FC236}">
                <a16:creationId xmlns:a16="http://schemas.microsoft.com/office/drawing/2014/main" id="{6A222841-C420-7879-F67F-E4F6B9841468}"/>
              </a:ext>
            </a:extLst>
          </p:cNvPr>
          <p:cNvSpPr>
            <a:spLocks noGrp="1"/>
          </p:cNvSpPr>
          <p:nvPr>
            <p:ph type="sldNum" sz="quarter" idx="12"/>
          </p:nvPr>
        </p:nvSpPr>
        <p:spPr>
          <a:xfrm>
            <a:off x="9050547" y="6280393"/>
            <a:ext cx="2743200" cy="365125"/>
          </a:xfrm>
        </p:spPr>
        <p:txBody>
          <a:bodyPr/>
          <a:lstStyle/>
          <a:p>
            <a:fld id="{D51B4FB4-AA13-FE41-AF8A-525BA2FA973D}" type="slidenum">
              <a:rPr lang="en-US" smtClean="0"/>
              <a:t>27</a:t>
            </a:fld>
            <a:endParaRPr lang="en-US" dirty="0"/>
          </a:p>
        </p:txBody>
      </p:sp>
      <p:grpSp>
        <p:nvGrpSpPr>
          <p:cNvPr id="6" name="Group 5">
            <a:extLst>
              <a:ext uri="{FF2B5EF4-FFF2-40B4-BE49-F238E27FC236}">
                <a16:creationId xmlns:a16="http://schemas.microsoft.com/office/drawing/2014/main" id="{87595545-6E7F-2603-C5C6-48474AB891A9}"/>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5E2CA211-B761-8D86-3E97-E4AAC34B8099}"/>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18BF102-FE82-83CF-7B82-DD97B0378A00}"/>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C9CC6D31-F9FF-4BDA-102C-4EE46316BD40}"/>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3078" name="Picture 6" descr="A picture containing text&#10;&#10;Description automatically generated">
            <a:extLst>
              <a:ext uri="{FF2B5EF4-FFF2-40B4-BE49-F238E27FC236}">
                <a16:creationId xmlns:a16="http://schemas.microsoft.com/office/drawing/2014/main" id="{1064EAA5-6898-2858-6190-B647E34AC6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8142" y="2053595"/>
            <a:ext cx="3173068" cy="1862040"/>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What are ecosystems and why they're important">
            <a:extLst>
              <a:ext uri="{FF2B5EF4-FFF2-40B4-BE49-F238E27FC236}">
                <a16:creationId xmlns:a16="http://schemas.microsoft.com/office/drawing/2014/main" id="{E965FBC6-502D-C3DD-354C-6B5C46334F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8033" y="2006602"/>
            <a:ext cx="2390775" cy="2038350"/>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a:extLst>
              <a:ext uri="{FF2B5EF4-FFF2-40B4-BE49-F238E27FC236}">
                <a16:creationId xmlns:a16="http://schemas.microsoft.com/office/drawing/2014/main" id="{A7BF3921-E786-01BF-C187-B4DB059368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0337" y="5170274"/>
            <a:ext cx="1101107" cy="1101107"/>
          </a:xfrm>
          <a:prstGeom prst="rect">
            <a:avLst/>
          </a:prstGeom>
          <a:noFill/>
          <a:extLst>
            <a:ext uri="{909E8E84-426E-40DD-AFC4-6F175D3DCCD1}">
              <a14:hiddenFill xmlns:a14="http://schemas.microsoft.com/office/drawing/2010/main">
                <a:solidFill>
                  <a:srgbClr val="FFFFFF"/>
                </a:solidFill>
              </a14:hiddenFill>
            </a:ext>
          </a:extLst>
        </p:spPr>
      </p:pic>
      <p:cxnSp>
        <p:nvCxnSpPr>
          <p:cNvPr id="21" name="Straight Arrow Connector 20">
            <a:extLst>
              <a:ext uri="{FF2B5EF4-FFF2-40B4-BE49-F238E27FC236}">
                <a16:creationId xmlns:a16="http://schemas.microsoft.com/office/drawing/2014/main" id="{EB8713FA-AE40-AE6B-B127-1A2D573766C2}"/>
              </a:ext>
            </a:extLst>
          </p:cNvPr>
          <p:cNvCxnSpPr>
            <a:cxnSpLocks/>
          </p:cNvCxnSpPr>
          <p:nvPr/>
        </p:nvCxnSpPr>
        <p:spPr>
          <a:xfrm>
            <a:off x="5517503" y="3025777"/>
            <a:ext cx="857943"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BDCA03F-CC84-388C-DD02-F07FD9AF771D}"/>
              </a:ext>
            </a:extLst>
          </p:cNvPr>
          <p:cNvCxnSpPr/>
          <p:nvPr/>
        </p:nvCxnSpPr>
        <p:spPr>
          <a:xfrm>
            <a:off x="8083420" y="4276815"/>
            <a:ext cx="0" cy="1432996"/>
          </a:xfrm>
          <a:prstGeom prst="line">
            <a:avLst/>
          </a:prstGeom>
          <a:ln w="50800"/>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BA5EBD8-233F-1E47-0EF9-640CDE1E54A3}"/>
              </a:ext>
            </a:extLst>
          </p:cNvPr>
          <p:cNvCxnSpPr/>
          <p:nvPr/>
        </p:nvCxnSpPr>
        <p:spPr>
          <a:xfrm flipH="1">
            <a:off x="4844608" y="5720828"/>
            <a:ext cx="3238812"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A420BDAB-967B-1631-3602-4A0CE485A55C}"/>
              </a:ext>
            </a:extLst>
          </p:cNvPr>
          <p:cNvCxnSpPr>
            <a:cxnSpLocks/>
          </p:cNvCxnSpPr>
          <p:nvPr/>
        </p:nvCxnSpPr>
        <p:spPr>
          <a:xfrm>
            <a:off x="3692792" y="4134301"/>
            <a:ext cx="0" cy="783861"/>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F89E136B-AD17-5387-E572-2BC2BA13E297}"/>
              </a:ext>
            </a:extLst>
          </p:cNvPr>
          <p:cNvSpPr txBox="1"/>
          <p:nvPr/>
        </p:nvSpPr>
        <p:spPr>
          <a:xfrm>
            <a:off x="1735494" y="4248823"/>
            <a:ext cx="1754155" cy="369332"/>
          </a:xfrm>
          <a:prstGeom prst="rect">
            <a:avLst/>
          </a:prstGeom>
          <a:noFill/>
        </p:spPr>
        <p:txBody>
          <a:bodyPr wrap="square" rtlCol="0">
            <a:spAutoFit/>
          </a:bodyPr>
          <a:lstStyle/>
          <a:p>
            <a:r>
              <a:rPr lang="en-GB" b="1" dirty="0"/>
              <a:t>Direct impacts</a:t>
            </a:r>
          </a:p>
        </p:txBody>
      </p:sp>
      <p:sp>
        <p:nvSpPr>
          <p:cNvPr id="26" name="TextBox 25">
            <a:extLst>
              <a:ext uri="{FF2B5EF4-FFF2-40B4-BE49-F238E27FC236}">
                <a16:creationId xmlns:a16="http://schemas.microsoft.com/office/drawing/2014/main" id="{1B006901-2003-BBB4-9F2B-21443D91B981}"/>
              </a:ext>
            </a:extLst>
          </p:cNvPr>
          <p:cNvSpPr txBox="1"/>
          <p:nvPr/>
        </p:nvSpPr>
        <p:spPr>
          <a:xfrm>
            <a:off x="8299094" y="4808647"/>
            <a:ext cx="1754155" cy="369332"/>
          </a:xfrm>
          <a:prstGeom prst="rect">
            <a:avLst/>
          </a:prstGeom>
          <a:noFill/>
        </p:spPr>
        <p:txBody>
          <a:bodyPr wrap="square" rtlCol="0">
            <a:spAutoFit/>
          </a:bodyPr>
          <a:lstStyle/>
          <a:p>
            <a:r>
              <a:rPr lang="en-GB" b="1" dirty="0"/>
              <a:t>Indirect impacts</a:t>
            </a:r>
          </a:p>
        </p:txBody>
      </p:sp>
    </p:spTree>
    <p:extLst>
      <p:ext uri="{BB962C8B-B14F-4D97-AF65-F5344CB8AC3E}">
        <p14:creationId xmlns:p14="http://schemas.microsoft.com/office/powerpoint/2010/main" val="31725803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45F90-E316-AD81-4E1E-3AF951887E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43B6F0-9B1F-85AE-9F38-4DCD1ECEE103}"/>
              </a:ext>
            </a:extLst>
          </p:cNvPr>
          <p:cNvSpPr>
            <a:spLocks noGrp="1"/>
          </p:cNvSpPr>
          <p:nvPr>
            <p:ph type="title"/>
          </p:nvPr>
        </p:nvSpPr>
        <p:spPr>
          <a:xfrm>
            <a:off x="838199" y="501650"/>
            <a:ext cx="6836817" cy="1325563"/>
          </a:xfrm>
        </p:spPr>
        <p:txBody>
          <a:bodyPr>
            <a:normAutofit/>
          </a:bodyPr>
          <a:lstStyle/>
          <a:p>
            <a:r>
              <a:rPr lang="en-US" sz="3200" b="1" dirty="0">
                <a:solidFill>
                  <a:srgbClr val="0070C0"/>
                </a:solidFill>
                <a:latin typeface="Arial" panose="020B0604020202020204" pitchFamily="34" charset="0"/>
                <a:cs typeface="Arial" panose="020B0604020202020204" pitchFamily="34" charset="0"/>
              </a:rPr>
              <a:t>Tourism – direct impacts</a:t>
            </a:r>
          </a:p>
        </p:txBody>
      </p:sp>
      <p:sp>
        <p:nvSpPr>
          <p:cNvPr id="5" name="Slide Number Placeholder 4">
            <a:extLst>
              <a:ext uri="{FF2B5EF4-FFF2-40B4-BE49-F238E27FC236}">
                <a16:creationId xmlns:a16="http://schemas.microsoft.com/office/drawing/2014/main" id="{342D89D5-F8B1-CB1E-9E26-AE0FCD499941}"/>
              </a:ext>
            </a:extLst>
          </p:cNvPr>
          <p:cNvSpPr>
            <a:spLocks noGrp="1"/>
          </p:cNvSpPr>
          <p:nvPr>
            <p:ph type="sldNum" sz="quarter" idx="12"/>
          </p:nvPr>
        </p:nvSpPr>
        <p:spPr>
          <a:xfrm>
            <a:off x="9090178" y="6335958"/>
            <a:ext cx="2743200" cy="365125"/>
          </a:xfrm>
        </p:spPr>
        <p:txBody>
          <a:bodyPr/>
          <a:lstStyle/>
          <a:p>
            <a:fld id="{D51B4FB4-AA13-FE41-AF8A-525BA2FA973D}" type="slidenum">
              <a:rPr lang="en-US" smtClean="0"/>
              <a:t>28</a:t>
            </a:fld>
            <a:endParaRPr lang="en-US" dirty="0"/>
          </a:p>
        </p:txBody>
      </p:sp>
      <p:grpSp>
        <p:nvGrpSpPr>
          <p:cNvPr id="6" name="Group 5">
            <a:extLst>
              <a:ext uri="{FF2B5EF4-FFF2-40B4-BE49-F238E27FC236}">
                <a16:creationId xmlns:a16="http://schemas.microsoft.com/office/drawing/2014/main" id="{7D6FB2F0-8D18-8793-9331-C21A32155D73}"/>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BF8482EC-25D5-7AD1-7211-A8FCBF13D2D3}"/>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E3BEDCC-5946-CFAF-30BF-80226B8755BC}"/>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B66C867C-5DA7-F690-8E5F-DFE6A71EF5CA}"/>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2" name="Content Placeholder 2">
            <a:extLst>
              <a:ext uri="{FF2B5EF4-FFF2-40B4-BE49-F238E27FC236}">
                <a16:creationId xmlns:a16="http://schemas.microsoft.com/office/drawing/2014/main" id="{B753352B-304F-4650-6BA5-CB6900516252}"/>
              </a:ext>
            </a:extLst>
          </p:cNvPr>
          <p:cNvSpPr>
            <a:spLocks noGrp="1"/>
          </p:cNvSpPr>
          <p:nvPr>
            <p:ph idx="1"/>
          </p:nvPr>
        </p:nvSpPr>
        <p:spPr>
          <a:xfrm>
            <a:off x="729942" y="1771572"/>
            <a:ext cx="4761469" cy="4351338"/>
          </a:xfrm>
        </p:spPr>
        <p:txBody>
          <a:bodyPr>
            <a:normAutofit/>
          </a:bodyPr>
          <a:lstStyle/>
          <a:p>
            <a:r>
              <a:rPr lang="en-US" sz="2400" dirty="0">
                <a:latin typeface="Arial" panose="020B0604020202020204" pitchFamily="34" charset="0"/>
                <a:cs typeface="Arial" panose="020B0604020202020204" pitchFamily="34" charset="0"/>
              </a:rPr>
              <a:t>Historical increase in high heat index days in Oct-Dec</a:t>
            </a:r>
          </a:p>
          <a:p>
            <a:pPr marL="0" indent="0">
              <a:buNone/>
            </a:pPr>
            <a:endParaRPr lang="en-US" sz="2400" i="1"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Historical and projected sea level rise</a:t>
            </a:r>
          </a:p>
          <a:p>
            <a:pPr lvl="2"/>
            <a:endParaRPr lang="en-US" sz="1800" i="1" dirty="0">
              <a:latin typeface="Arial" panose="020B0604020202020204" pitchFamily="34" charset="0"/>
              <a:cs typeface="Arial" panose="020B0604020202020204" pitchFamily="34" charset="0"/>
            </a:endParaRPr>
          </a:p>
          <a:p>
            <a:pPr lvl="1"/>
            <a:endParaRPr lang="en-US" sz="2000" dirty="0">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7F7B57ED-5E1A-05F2-4F20-47585C7C1F64}"/>
              </a:ext>
            </a:extLst>
          </p:cNvPr>
          <p:cNvGrpSpPr/>
          <p:nvPr/>
        </p:nvGrpSpPr>
        <p:grpSpPr>
          <a:xfrm>
            <a:off x="935276" y="4344173"/>
            <a:ext cx="4228421" cy="2259389"/>
            <a:chOff x="0" y="0"/>
            <a:chExt cx="5495925" cy="2849880"/>
          </a:xfrm>
        </p:grpSpPr>
        <p:pic>
          <p:nvPicPr>
            <p:cNvPr id="7" name="Picture 6" descr="A map of the north america&#10;&#10;AI-generated content may be incorrect.">
              <a:extLst>
                <a:ext uri="{FF2B5EF4-FFF2-40B4-BE49-F238E27FC236}">
                  <a16:creationId xmlns:a16="http://schemas.microsoft.com/office/drawing/2014/main" id="{DC1FFBF8-DBF8-8C3A-3FD0-AFF54187DD1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849880" cy="2849880"/>
            </a:xfrm>
            <a:prstGeom prst="rect">
              <a:avLst/>
            </a:prstGeom>
          </p:spPr>
        </p:pic>
        <p:pic>
          <p:nvPicPr>
            <p:cNvPr id="11" name="Picture 10" descr="A graph with a line graph and black dots&#10;&#10;AI-generated content may be incorrect.">
              <a:extLst>
                <a:ext uri="{FF2B5EF4-FFF2-40B4-BE49-F238E27FC236}">
                  <a16:creationId xmlns:a16="http://schemas.microsoft.com/office/drawing/2014/main" id="{F838627D-4762-69BE-850C-530139E499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0400" y="68094"/>
              <a:ext cx="2295525" cy="2295525"/>
            </a:xfrm>
            <a:prstGeom prst="rect">
              <a:avLst/>
            </a:prstGeom>
          </p:spPr>
        </p:pic>
      </p:grpSp>
      <p:pic>
        <p:nvPicPr>
          <p:cNvPr id="15" name="Picture 14" descr="A graph with a line and a line&#10;&#10;AI-generated content may be incorrect.">
            <a:extLst>
              <a:ext uri="{FF2B5EF4-FFF2-40B4-BE49-F238E27FC236}">
                <a16:creationId xmlns:a16="http://schemas.microsoft.com/office/drawing/2014/main" id="{6B8B4FF3-2E00-778B-794E-7530835E9B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28493" y="2098733"/>
            <a:ext cx="6243029" cy="1873047"/>
          </a:xfrm>
          <a:prstGeom prst="rect">
            <a:avLst/>
          </a:prstGeom>
        </p:spPr>
      </p:pic>
      <p:pic>
        <p:nvPicPr>
          <p:cNvPr id="16" name="Picture 15" descr="A graph of sea level rise&#10;&#10;AI-generated content may be incorrect.">
            <a:extLst>
              <a:ext uri="{FF2B5EF4-FFF2-40B4-BE49-F238E27FC236}">
                <a16:creationId xmlns:a16="http://schemas.microsoft.com/office/drawing/2014/main" id="{E9F850CE-14BF-DAA0-1BDB-3F811940AF0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024072" y="4344173"/>
            <a:ext cx="2063216" cy="2063216"/>
          </a:xfrm>
          <a:prstGeom prst="rect">
            <a:avLst/>
          </a:prstGeom>
        </p:spPr>
      </p:pic>
      <p:pic>
        <p:nvPicPr>
          <p:cNvPr id="17" name="Picture 16" descr="A group of images of sea level rise&#10;&#10;AI-generated content may be incorrect.">
            <a:extLst>
              <a:ext uri="{FF2B5EF4-FFF2-40B4-BE49-F238E27FC236}">
                <a16:creationId xmlns:a16="http://schemas.microsoft.com/office/drawing/2014/main" id="{B844D4BC-F1F2-D698-5489-CB126ECB173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087835" y="4352607"/>
            <a:ext cx="2405919" cy="2165914"/>
          </a:xfrm>
          <a:prstGeom prst="rect">
            <a:avLst/>
          </a:prstGeom>
        </p:spPr>
      </p:pic>
      <p:sp>
        <p:nvSpPr>
          <p:cNvPr id="18" name="TextBox 17">
            <a:extLst>
              <a:ext uri="{FF2B5EF4-FFF2-40B4-BE49-F238E27FC236}">
                <a16:creationId xmlns:a16="http://schemas.microsoft.com/office/drawing/2014/main" id="{F24CC8D1-B9D3-12C0-2124-42666C19C029}"/>
              </a:ext>
            </a:extLst>
          </p:cNvPr>
          <p:cNvSpPr txBox="1"/>
          <p:nvPr/>
        </p:nvSpPr>
        <p:spPr>
          <a:xfrm>
            <a:off x="1072935" y="4028826"/>
            <a:ext cx="3443081" cy="338554"/>
          </a:xfrm>
          <a:prstGeom prst="rect">
            <a:avLst/>
          </a:prstGeom>
          <a:noFill/>
        </p:spPr>
        <p:txBody>
          <a:bodyPr wrap="square" rtlCol="0">
            <a:spAutoFit/>
          </a:bodyPr>
          <a:lstStyle/>
          <a:p>
            <a:r>
              <a:rPr lang="en-GB" sz="1600" b="1" dirty="0"/>
              <a:t>Historical sea level rise (1993 – 2023)</a:t>
            </a:r>
          </a:p>
        </p:txBody>
      </p:sp>
      <p:sp>
        <p:nvSpPr>
          <p:cNvPr id="19" name="TextBox 18">
            <a:extLst>
              <a:ext uri="{FF2B5EF4-FFF2-40B4-BE49-F238E27FC236}">
                <a16:creationId xmlns:a16="http://schemas.microsoft.com/office/drawing/2014/main" id="{0579BC3F-B735-CDB8-60DE-1E628BC541D8}"/>
              </a:ext>
            </a:extLst>
          </p:cNvPr>
          <p:cNvSpPr txBox="1"/>
          <p:nvPr/>
        </p:nvSpPr>
        <p:spPr>
          <a:xfrm>
            <a:off x="6021729" y="3971780"/>
            <a:ext cx="2514600" cy="338554"/>
          </a:xfrm>
          <a:prstGeom prst="rect">
            <a:avLst/>
          </a:prstGeom>
          <a:noFill/>
        </p:spPr>
        <p:txBody>
          <a:bodyPr wrap="square" rtlCol="0">
            <a:spAutoFit/>
          </a:bodyPr>
          <a:lstStyle/>
          <a:p>
            <a:r>
              <a:rPr lang="en-GB" sz="1600" b="1" dirty="0"/>
              <a:t>Projected sea level rise</a:t>
            </a:r>
          </a:p>
        </p:txBody>
      </p:sp>
      <p:sp>
        <p:nvSpPr>
          <p:cNvPr id="13" name="TextBox 12">
            <a:extLst>
              <a:ext uri="{FF2B5EF4-FFF2-40B4-BE49-F238E27FC236}">
                <a16:creationId xmlns:a16="http://schemas.microsoft.com/office/drawing/2014/main" id="{AAA54446-B857-8C00-F851-2005974E011E}"/>
              </a:ext>
            </a:extLst>
          </p:cNvPr>
          <p:cNvSpPr txBox="1"/>
          <p:nvPr/>
        </p:nvSpPr>
        <p:spPr>
          <a:xfrm>
            <a:off x="5803685" y="1698778"/>
            <a:ext cx="5947717" cy="338554"/>
          </a:xfrm>
          <a:prstGeom prst="rect">
            <a:avLst/>
          </a:prstGeom>
          <a:noFill/>
        </p:spPr>
        <p:txBody>
          <a:bodyPr wrap="square" rtlCol="0">
            <a:spAutoFit/>
          </a:bodyPr>
          <a:lstStyle/>
          <a:p>
            <a:r>
              <a:rPr lang="en-GB" sz="1600" b="1" dirty="0"/>
              <a:t>High heat index days in Sao Tome – same results for Principe</a:t>
            </a:r>
          </a:p>
        </p:txBody>
      </p:sp>
    </p:spTree>
    <p:extLst>
      <p:ext uri="{BB962C8B-B14F-4D97-AF65-F5344CB8AC3E}">
        <p14:creationId xmlns:p14="http://schemas.microsoft.com/office/powerpoint/2010/main" val="28773243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16D44-43B8-008B-B904-7B004D784E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19ABD4-927D-F0A4-42DA-F2D4BD75E9FC}"/>
              </a:ext>
            </a:extLst>
          </p:cNvPr>
          <p:cNvSpPr>
            <a:spLocks noGrp="1"/>
          </p:cNvSpPr>
          <p:nvPr>
            <p:ph type="title"/>
          </p:nvPr>
        </p:nvSpPr>
        <p:spPr>
          <a:xfrm>
            <a:off x="838201" y="455414"/>
            <a:ext cx="9923361" cy="1325563"/>
          </a:xfrm>
        </p:spPr>
        <p:txBody>
          <a:bodyPr>
            <a:normAutofit/>
          </a:bodyPr>
          <a:lstStyle/>
          <a:p>
            <a:r>
              <a:rPr lang="en-US" sz="3200" b="1" dirty="0">
                <a:solidFill>
                  <a:srgbClr val="0070C0"/>
                </a:solidFill>
                <a:latin typeface="Arial" panose="020B0604020202020204" pitchFamily="34" charset="0"/>
                <a:cs typeface="Arial" panose="020B0604020202020204" pitchFamily="34" charset="0"/>
              </a:rPr>
              <a:t>Tourism – indirect impacts</a:t>
            </a:r>
          </a:p>
        </p:txBody>
      </p:sp>
      <p:sp>
        <p:nvSpPr>
          <p:cNvPr id="5" name="Slide Number Placeholder 4">
            <a:extLst>
              <a:ext uri="{FF2B5EF4-FFF2-40B4-BE49-F238E27FC236}">
                <a16:creationId xmlns:a16="http://schemas.microsoft.com/office/drawing/2014/main" id="{CE27131A-0874-2914-5BE6-0DAC9BD038E8}"/>
              </a:ext>
            </a:extLst>
          </p:cNvPr>
          <p:cNvSpPr>
            <a:spLocks noGrp="1"/>
          </p:cNvSpPr>
          <p:nvPr>
            <p:ph type="sldNum" sz="quarter" idx="12"/>
          </p:nvPr>
        </p:nvSpPr>
        <p:spPr>
          <a:xfrm>
            <a:off x="9067094" y="6251240"/>
            <a:ext cx="2743200" cy="365125"/>
          </a:xfrm>
        </p:spPr>
        <p:txBody>
          <a:bodyPr/>
          <a:lstStyle/>
          <a:p>
            <a:fld id="{D51B4FB4-AA13-FE41-AF8A-525BA2FA973D}" type="slidenum">
              <a:rPr lang="en-US" smtClean="0"/>
              <a:t>29</a:t>
            </a:fld>
            <a:endParaRPr lang="en-US" dirty="0"/>
          </a:p>
        </p:txBody>
      </p:sp>
      <p:grpSp>
        <p:nvGrpSpPr>
          <p:cNvPr id="6" name="Group 5">
            <a:extLst>
              <a:ext uri="{FF2B5EF4-FFF2-40B4-BE49-F238E27FC236}">
                <a16:creationId xmlns:a16="http://schemas.microsoft.com/office/drawing/2014/main" id="{2E32D2CD-6400-9EEC-04E5-19E76D65243E}"/>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8A94CF53-269A-AAD9-1978-18D0ED2AA6D8}"/>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56F1C02-0153-E53A-C72E-834C066973A9}"/>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EA546F2D-B947-BE16-626D-6DDF9602DD03}"/>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12" name="Picture 11" descr="A graph with different colored bars&#10;&#10;AI-generated content may be incorrect.">
            <a:extLst>
              <a:ext uri="{FF2B5EF4-FFF2-40B4-BE49-F238E27FC236}">
                <a16:creationId xmlns:a16="http://schemas.microsoft.com/office/drawing/2014/main" id="{608316FF-9206-1566-BF46-E9633FAE6D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45565" y="2077202"/>
            <a:ext cx="5508235" cy="3934453"/>
          </a:xfrm>
          <a:prstGeom prst="rect">
            <a:avLst/>
          </a:prstGeom>
        </p:spPr>
      </p:pic>
      <p:sp>
        <p:nvSpPr>
          <p:cNvPr id="13" name="TextBox 12">
            <a:extLst>
              <a:ext uri="{FF2B5EF4-FFF2-40B4-BE49-F238E27FC236}">
                <a16:creationId xmlns:a16="http://schemas.microsoft.com/office/drawing/2014/main" id="{60971D7C-ABC2-DDE4-55F4-FAAC9805F4F0}"/>
              </a:ext>
            </a:extLst>
          </p:cNvPr>
          <p:cNvSpPr txBox="1"/>
          <p:nvPr/>
        </p:nvSpPr>
        <p:spPr>
          <a:xfrm>
            <a:off x="10285814" y="4180733"/>
            <a:ext cx="1368092" cy="307777"/>
          </a:xfrm>
          <a:prstGeom prst="rect">
            <a:avLst/>
          </a:prstGeom>
          <a:noFill/>
        </p:spPr>
        <p:txBody>
          <a:bodyPr wrap="square" rtlCol="0">
            <a:spAutoFit/>
          </a:bodyPr>
          <a:lstStyle/>
          <a:p>
            <a:r>
              <a:rPr lang="en-GB" sz="1400" b="1" dirty="0"/>
              <a:t>Grouper</a:t>
            </a:r>
          </a:p>
        </p:txBody>
      </p:sp>
      <p:sp>
        <p:nvSpPr>
          <p:cNvPr id="14" name="TextBox 13">
            <a:extLst>
              <a:ext uri="{FF2B5EF4-FFF2-40B4-BE49-F238E27FC236}">
                <a16:creationId xmlns:a16="http://schemas.microsoft.com/office/drawing/2014/main" id="{75CCACA9-5C84-1862-C125-46A9E536B5EA}"/>
              </a:ext>
            </a:extLst>
          </p:cNvPr>
          <p:cNvSpPr txBox="1"/>
          <p:nvPr/>
        </p:nvSpPr>
        <p:spPr>
          <a:xfrm>
            <a:off x="9959115" y="4494456"/>
            <a:ext cx="1368092" cy="307777"/>
          </a:xfrm>
          <a:prstGeom prst="rect">
            <a:avLst/>
          </a:prstGeom>
          <a:noFill/>
        </p:spPr>
        <p:txBody>
          <a:bodyPr wrap="square" rtlCol="0">
            <a:spAutoFit/>
          </a:bodyPr>
          <a:lstStyle/>
          <a:p>
            <a:r>
              <a:rPr lang="en-GB" sz="1400" b="1" dirty="0"/>
              <a:t>Snapper</a:t>
            </a:r>
          </a:p>
        </p:txBody>
      </p:sp>
      <p:cxnSp>
        <p:nvCxnSpPr>
          <p:cNvPr id="15" name="Straight Connector 14">
            <a:extLst>
              <a:ext uri="{FF2B5EF4-FFF2-40B4-BE49-F238E27FC236}">
                <a16:creationId xmlns:a16="http://schemas.microsoft.com/office/drawing/2014/main" id="{19C9647F-5734-6EF3-0BDF-C68044A80AD3}"/>
              </a:ext>
            </a:extLst>
          </p:cNvPr>
          <p:cNvCxnSpPr>
            <a:cxnSpLocks/>
          </p:cNvCxnSpPr>
          <p:nvPr/>
        </p:nvCxnSpPr>
        <p:spPr>
          <a:xfrm>
            <a:off x="10837762" y="4488510"/>
            <a:ext cx="0" cy="466102"/>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C2D1012A-7290-C5E5-D5E3-311D46BF3700}"/>
              </a:ext>
            </a:extLst>
          </p:cNvPr>
          <p:cNvCxnSpPr>
            <a:cxnSpLocks/>
          </p:cNvCxnSpPr>
          <p:nvPr/>
        </p:nvCxnSpPr>
        <p:spPr>
          <a:xfrm>
            <a:off x="9959115" y="4554825"/>
            <a:ext cx="0" cy="178134"/>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69A49783-F442-8444-22D2-59BACE000B94}"/>
              </a:ext>
            </a:extLst>
          </p:cNvPr>
          <p:cNvCxnSpPr>
            <a:cxnSpLocks/>
          </p:cNvCxnSpPr>
          <p:nvPr/>
        </p:nvCxnSpPr>
        <p:spPr>
          <a:xfrm flipH="1">
            <a:off x="9653199" y="4345013"/>
            <a:ext cx="632615" cy="19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E6018242-24FA-9DD5-6BE5-20D80B0AD121}"/>
              </a:ext>
            </a:extLst>
          </p:cNvPr>
          <p:cNvCxnSpPr/>
          <p:nvPr/>
        </p:nvCxnSpPr>
        <p:spPr>
          <a:xfrm flipH="1">
            <a:off x="9653199" y="4954612"/>
            <a:ext cx="118456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661DC1A3-6082-03F5-24BB-3E0375B5EF52}"/>
              </a:ext>
            </a:extLst>
          </p:cNvPr>
          <p:cNvCxnSpPr>
            <a:cxnSpLocks/>
          </p:cNvCxnSpPr>
          <p:nvPr/>
        </p:nvCxnSpPr>
        <p:spPr>
          <a:xfrm flipH="1">
            <a:off x="9653199" y="4568640"/>
            <a:ext cx="31630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DFEB00B0-CA88-B556-5EE7-60672B7527D1}"/>
              </a:ext>
            </a:extLst>
          </p:cNvPr>
          <p:cNvCxnSpPr>
            <a:cxnSpLocks/>
          </p:cNvCxnSpPr>
          <p:nvPr/>
        </p:nvCxnSpPr>
        <p:spPr>
          <a:xfrm flipH="1">
            <a:off x="9653199" y="4721542"/>
            <a:ext cx="31630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49EE8739-3D91-FED4-844A-2924F75F9563}"/>
              </a:ext>
            </a:extLst>
          </p:cNvPr>
          <p:cNvSpPr txBox="1"/>
          <p:nvPr/>
        </p:nvSpPr>
        <p:spPr>
          <a:xfrm>
            <a:off x="10438694" y="2112531"/>
            <a:ext cx="1368092" cy="307777"/>
          </a:xfrm>
          <a:prstGeom prst="rect">
            <a:avLst/>
          </a:prstGeom>
          <a:noFill/>
        </p:spPr>
        <p:txBody>
          <a:bodyPr wrap="square" rtlCol="0">
            <a:spAutoFit/>
          </a:bodyPr>
          <a:lstStyle/>
          <a:p>
            <a:r>
              <a:rPr lang="en-GB" sz="1400" b="1" dirty="0"/>
              <a:t>Tuna</a:t>
            </a:r>
          </a:p>
        </p:txBody>
      </p:sp>
      <p:cxnSp>
        <p:nvCxnSpPr>
          <p:cNvPr id="22" name="Straight Arrow Connector 21">
            <a:extLst>
              <a:ext uri="{FF2B5EF4-FFF2-40B4-BE49-F238E27FC236}">
                <a16:creationId xmlns:a16="http://schemas.microsoft.com/office/drawing/2014/main" id="{F0D2F66B-EA46-2E4E-065E-6E1DE5EEB35A}"/>
              </a:ext>
            </a:extLst>
          </p:cNvPr>
          <p:cNvCxnSpPr>
            <a:cxnSpLocks/>
          </p:cNvCxnSpPr>
          <p:nvPr/>
        </p:nvCxnSpPr>
        <p:spPr>
          <a:xfrm flipH="1">
            <a:off x="9799018" y="2267809"/>
            <a:ext cx="632615" cy="19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14CD4921-237B-1CD1-6090-65C63F0B65B4}"/>
              </a:ext>
            </a:extLst>
          </p:cNvPr>
          <p:cNvCxnSpPr>
            <a:cxnSpLocks/>
          </p:cNvCxnSpPr>
          <p:nvPr/>
        </p:nvCxnSpPr>
        <p:spPr>
          <a:xfrm>
            <a:off x="10761562" y="2420308"/>
            <a:ext cx="0" cy="804460"/>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AD61495C-35A0-425A-9C30-23FB1AD25DAD}"/>
              </a:ext>
            </a:extLst>
          </p:cNvPr>
          <p:cNvCxnSpPr>
            <a:cxnSpLocks/>
          </p:cNvCxnSpPr>
          <p:nvPr/>
        </p:nvCxnSpPr>
        <p:spPr>
          <a:xfrm flipH="1">
            <a:off x="9811352" y="3224768"/>
            <a:ext cx="95021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6" name="Content Placeholder 2">
            <a:extLst>
              <a:ext uri="{FF2B5EF4-FFF2-40B4-BE49-F238E27FC236}">
                <a16:creationId xmlns:a16="http://schemas.microsoft.com/office/drawing/2014/main" id="{52853121-CBA1-59A0-A384-24DD783DAC55}"/>
              </a:ext>
            </a:extLst>
          </p:cNvPr>
          <p:cNvSpPr>
            <a:spLocks noGrp="1"/>
          </p:cNvSpPr>
          <p:nvPr>
            <p:ph idx="1"/>
          </p:nvPr>
        </p:nvSpPr>
        <p:spPr>
          <a:xfrm>
            <a:off x="935407" y="2005012"/>
            <a:ext cx="4031512" cy="4351338"/>
          </a:xfrm>
        </p:spPr>
        <p:txBody>
          <a:bodyPr>
            <a:normAutofit/>
          </a:bodyPr>
          <a:lstStyle/>
          <a:p>
            <a:r>
              <a:rPr lang="en-GB" sz="2400" dirty="0">
                <a:latin typeface="Arial" panose="020B0604020202020204" pitchFamily="34" charset="0"/>
                <a:cs typeface="Arial" panose="020B0604020202020204" pitchFamily="34" charset="0"/>
              </a:rPr>
              <a:t>15 fish species identified as candidates for sports fishing</a:t>
            </a:r>
          </a:p>
          <a:p>
            <a:endParaRPr lang="en-GB" sz="2400" dirty="0">
              <a:latin typeface="Arial" panose="020B0604020202020204" pitchFamily="34" charset="0"/>
              <a:cs typeface="Arial" panose="020B0604020202020204" pitchFamily="34" charset="0"/>
            </a:endParaRPr>
          </a:p>
          <a:p>
            <a:r>
              <a:rPr lang="en-GB" sz="2400" dirty="0">
                <a:latin typeface="Arial" panose="020B0604020202020204" pitchFamily="34" charset="0"/>
                <a:cs typeface="Arial" panose="020B0604020202020204" pitchFamily="34" charset="0"/>
              </a:rPr>
              <a:t>With a 0.1 change cut-off, presence probability projected to:</a:t>
            </a:r>
          </a:p>
          <a:p>
            <a:pPr lvl="1"/>
            <a:r>
              <a:rPr lang="en-GB" sz="2000" dirty="0">
                <a:latin typeface="Arial" panose="020B0604020202020204" pitchFamily="34" charset="0"/>
                <a:cs typeface="Arial" panose="020B0604020202020204" pitchFamily="34" charset="0"/>
              </a:rPr>
              <a:t>Increase for </a:t>
            </a:r>
            <a:r>
              <a:rPr lang="en-GB" sz="2000" b="1" dirty="0">
                <a:latin typeface="Arial" panose="020B0604020202020204" pitchFamily="34" charset="0"/>
                <a:cs typeface="Arial" panose="020B0604020202020204" pitchFamily="34" charset="0"/>
              </a:rPr>
              <a:t>3</a:t>
            </a:r>
            <a:r>
              <a:rPr lang="en-GB" sz="2000" dirty="0">
                <a:latin typeface="Arial" panose="020B0604020202020204" pitchFamily="34" charset="0"/>
                <a:cs typeface="Arial" panose="020B0604020202020204" pitchFamily="34" charset="0"/>
              </a:rPr>
              <a:t> species</a:t>
            </a:r>
          </a:p>
          <a:p>
            <a:pPr lvl="1"/>
            <a:r>
              <a:rPr lang="en-GB" sz="2000" dirty="0">
                <a:latin typeface="Arial" panose="020B0604020202020204" pitchFamily="34" charset="0"/>
                <a:cs typeface="Arial" panose="020B0604020202020204" pitchFamily="34" charset="0"/>
              </a:rPr>
              <a:t>No change for </a:t>
            </a:r>
            <a:r>
              <a:rPr lang="en-GB" sz="2000" b="1" dirty="0">
                <a:latin typeface="Arial" panose="020B0604020202020204" pitchFamily="34" charset="0"/>
                <a:cs typeface="Arial" panose="020B0604020202020204" pitchFamily="34" charset="0"/>
              </a:rPr>
              <a:t>5</a:t>
            </a:r>
            <a:r>
              <a:rPr lang="en-GB" sz="2000" dirty="0">
                <a:latin typeface="Arial" panose="020B0604020202020204" pitchFamily="34" charset="0"/>
                <a:cs typeface="Arial" panose="020B0604020202020204" pitchFamily="34" charset="0"/>
              </a:rPr>
              <a:t> species</a:t>
            </a:r>
          </a:p>
          <a:p>
            <a:pPr lvl="1"/>
            <a:r>
              <a:rPr lang="en-GB" sz="2000" dirty="0">
                <a:latin typeface="Arial" panose="020B0604020202020204" pitchFamily="34" charset="0"/>
                <a:cs typeface="Arial" panose="020B0604020202020204" pitchFamily="34" charset="0"/>
              </a:rPr>
              <a:t>Decrease for </a:t>
            </a:r>
            <a:r>
              <a:rPr lang="en-GB" sz="2000" b="1" dirty="0">
                <a:latin typeface="Arial" panose="020B0604020202020204" pitchFamily="34" charset="0"/>
                <a:cs typeface="Arial" panose="020B0604020202020204" pitchFamily="34" charset="0"/>
              </a:rPr>
              <a:t>7</a:t>
            </a:r>
            <a:r>
              <a:rPr lang="en-GB" sz="2000" dirty="0">
                <a:latin typeface="Arial" panose="020B0604020202020204" pitchFamily="34" charset="0"/>
                <a:cs typeface="Arial" panose="020B0604020202020204" pitchFamily="34" charset="0"/>
              </a:rPr>
              <a:t> species</a:t>
            </a:r>
          </a:p>
          <a:p>
            <a:pPr lvl="1"/>
            <a:endParaRPr lang="en-US" sz="2000" dirty="0">
              <a:latin typeface="Arial" panose="020B0604020202020204" pitchFamily="34" charset="0"/>
              <a:cs typeface="Arial" panose="020B0604020202020204" pitchFamily="34" charset="0"/>
            </a:endParaRPr>
          </a:p>
          <a:p>
            <a:pPr lvl="1"/>
            <a:endParaRPr lang="en-US" sz="20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013770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C317C-ADA2-00AA-2F30-F8869E8F8E88}"/>
            </a:ext>
          </a:extLst>
        </p:cNvPr>
        <p:cNvGrpSpPr/>
        <p:nvPr/>
      </p:nvGrpSpPr>
      <p:grpSpPr>
        <a:xfrm>
          <a:off x="0" y="0"/>
          <a:ext cx="0" cy="0"/>
          <a:chOff x="0" y="0"/>
          <a:chExt cx="0" cy="0"/>
        </a:xfrm>
      </p:grpSpPr>
      <p:pic>
        <p:nvPicPr>
          <p:cNvPr id="2050" name="Picture 2" descr="5 Reasons to Visit São Tomé and Príncipe in the Winter Months">
            <a:extLst>
              <a:ext uri="{FF2B5EF4-FFF2-40B4-BE49-F238E27FC236}">
                <a16:creationId xmlns:a16="http://schemas.microsoft.com/office/drawing/2014/main" id="{81CDC40A-4FAA-FC3A-329D-06663CC9A4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8949" y="395044"/>
            <a:ext cx="8641719" cy="647566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868B9EC-F332-E98E-3BC9-28F811D50B8D}"/>
              </a:ext>
            </a:extLst>
          </p:cNvPr>
          <p:cNvSpPr>
            <a:spLocks noGrp="1"/>
          </p:cNvSpPr>
          <p:nvPr>
            <p:ph type="title"/>
          </p:nvPr>
        </p:nvSpPr>
        <p:spPr>
          <a:xfrm>
            <a:off x="838200" y="501650"/>
            <a:ext cx="5646576" cy="1325563"/>
          </a:xfrm>
        </p:spPr>
        <p:txBody>
          <a:bodyPr>
            <a:normAutofit/>
          </a:bodyPr>
          <a:lstStyle/>
          <a:p>
            <a:r>
              <a:rPr lang="en-US" sz="3200" b="1" dirty="0">
                <a:solidFill>
                  <a:srgbClr val="0070C0"/>
                </a:solidFill>
                <a:latin typeface="Arial" panose="020B0604020202020204" pitchFamily="34" charset="0"/>
                <a:cs typeface="Arial" panose="020B0604020202020204" pitchFamily="34" charset="0"/>
              </a:rPr>
              <a:t>Conclusions for tourism</a:t>
            </a:r>
          </a:p>
        </p:txBody>
      </p:sp>
      <p:sp>
        <p:nvSpPr>
          <p:cNvPr id="3" name="Content Placeholder 2">
            <a:extLst>
              <a:ext uri="{FF2B5EF4-FFF2-40B4-BE49-F238E27FC236}">
                <a16:creationId xmlns:a16="http://schemas.microsoft.com/office/drawing/2014/main" id="{A358F695-1B62-1E3C-09DE-B8C2D06BA5CB}"/>
              </a:ext>
            </a:extLst>
          </p:cNvPr>
          <p:cNvSpPr>
            <a:spLocks noGrp="1"/>
          </p:cNvSpPr>
          <p:nvPr>
            <p:ph idx="1"/>
          </p:nvPr>
        </p:nvSpPr>
        <p:spPr>
          <a:xfrm>
            <a:off x="838200" y="1994547"/>
            <a:ext cx="5476875" cy="4351338"/>
          </a:xfrm>
        </p:spPr>
        <p:txBody>
          <a:bodyPr>
            <a:normAutofit fontScale="92500" lnSpcReduction="10000"/>
          </a:bodyPr>
          <a:lstStyle/>
          <a:p>
            <a:r>
              <a:rPr lang="en-US" dirty="0">
                <a:latin typeface="Arial" panose="020B0604020202020204" pitchFamily="34" charset="0"/>
                <a:cs typeface="Arial" panose="020B0604020202020204" pitchFamily="34" charset="0"/>
              </a:rPr>
              <a:t>Historical and projected trends:</a:t>
            </a:r>
          </a:p>
          <a:p>
            <a:pPr lvl="1"/>
            <a:r>
              <a:rPr lang="en-US" dirty="0">
                <a:latin typeface="Arial" panose="020B0604020202020204" pitchFamily="34" charset="0"/>
                <a:cs typeface="Arial" panose="020B0604020202020204" pitchFamily="34" charset="0"/>
              </a:rPr>
              <a:t>Increase in average temperatures and humidity</a:t>
            </a:r>
          </a:p>
          <a:p>
            <a:pPr lvl="1"/>
            <a:r>
              <a:rPr lang="en-US" dirty="0">
                <a:latin typeface="Arial" panose="020B0604020202020204" pitchFamily="34" charset="0"/>
                <a:cs typeface="Arial" panose="020B0604020202020204" pitchFamily="34" charset="0"/>
              </a:rPr>
              <a:t>Variable impacts on overall rainfall</a:t>
            </a:r>
          </a:p>
          <a:p>
            <a:pPr lvl="1"/>
            <a:r>
              <a:rPr lang="en-US" dirty="0">
                <a:latin typeface="Arial" panose="020B0604020202020204" pitchFamily="34" charset="0"/>
                <a:cs typeface="Arial" panose="020B0604020202020204" pitchFamily="34" charset="0"/>
              </a:rPr>
              <a:t>Increase in frequency of heatwaves and extreme rainfall</a:t>
            </a:r>
          </a:p>
          <a:p>
            <a:pPr lvl="1"/>
            <a:endParaRPr lang="en-US" i="1" dirty="0">
              <a:latin typeface="Arial" panose="020B0604020202020204" pitchFamily="34" charset="0"/>
              <a:cs typeface="Arial" panose="020B0604020202020204" pitchFamily="34" charset="0"/>
            </a:endParaRPr>
          </a:p>
          <a:p>
            <a:pPr lvl="1"/>
            <a:endParaRPr lang="en-US" i="1"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Impacts</a:t>
            </a:r>
          </a:p>
          <a:p>
            <a:pPr lvl="1"/>
            <a:r>
              <a:rPr lang="en-US" dirty="0">
                <a:latin typeface="Arial" panose="020B0604020202020204" pitchFamily="34" charset="0"/>
                <a:cs typeface="Arial" panose="020B0604020202020204" pitchFamily="34" charset="0"/>
              </a:rPr>
              <a:t>Dangerous weather conditions for tourists</a:t>
            </a:r>
          </a:p>
          <a:p>
            <a:pPr lvl="1"/>
            <a:r>
              <a:rPr lang="en-US" dirty="0">
                <a:latin typeface="Arial" panose="020B0604020202020204" pitchFamily="34" charset="0"/>
                <a:cs typeface="Arial" panose="020B0604020202020204" pitchFamily="34" charset="0"/>
              </a:rPr>
              <a:t>Erosion of beaches/coastal areas</a:t>
            </a:r>
          </a:p>
          <a:p>
            <a:pPr lvl="1"/>
            <a:endParaRPr lang="en-US" i="1" dirty="0">
              <a:latin typeface="Arial" panose="020B0604020202020204" pitchFamily="34" charset="0"/>
              <a:cs typeface="Arial" panose="020B0604020202020204" pitchFamily="34" charset="0"/>
            </a:endParaRPr>
          </a:p>
          <a:p>
            <a:pPr lvl="1"/>
            <a:endParaRPr lang="en-US"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95C10744-D385-8A9E-4DA1-EC7E3A1EC880}"/>
              </a:ext>
            </a:extLst>
          </p:cNvPr>
          <p:cNvSpPr>
            <a:spLocks noGrp="1"/>
          </p:cNvSpPr>
          <p:nvPr>
            <p:ph type="sldNum" sz="quarter" idx="12"/>
          </p:nvPr>
        </p:nvSpPr>
        <p:spPr/>
        <p:txBody>
          <a:bodyPr/>
          <a:lstStyle/>
          <a:p>
            <a:fld id="{D51B4FB4-AA13-FE41-AF8A-525BA2FA973D}" type="slidenum">
              <a:rPr lang="en-US" smtClean="0"/>
              <a:t>30</a:t>
            </a:fld>
            <a:endParaRPr lang="en-US" dirty="0"/>
          </a:p>
        </p:txBody>
      </p:sp>
      <p:grpSp>
        <p:nvGrpSpPr>
          <p:cNvPr id="6" name="Group 5">
            <a:extLst>
              <a:ext uri="{FF2B5EF4-FFF2-40B4-BE49-F238E27FC236}">
                <a16:creationId xmlns:a16="http://schemas.microsoft.com/office/drawing/2014/main" id="{41EED767-B6DB-8577-87B2-1DB4159A9E90}"/>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D047AC23-5EDD-F5F2-0EFE-94382CA540E7}"/>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CA773F8-0000-63DD-E32F-0EA59F21E83E}"/>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294BEA1F-A672-953C-FBF2-3569DB21B326}"/>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49100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9B8E2-D8C6-CB53-6D7F-67BCFB5D9A74}"/>
            </a:ext>
          </a:extLst>
        </p:cNvPr>
        <p:cNvGrpSpPr/>
        <p:nvPr/>
      </p:nvGrpSpPr>
      <p:grpSpPr>
        <a:xfrm>
          <a:off x="0" y="0"/>
          <a:ext cx="0" cy="0"/>
          <a:chOff x="0" y="0"/>
          <a:chExt cx="0" cy="0"/>
        </a:xfrm>
      </p:grpSpPr>
      <p:pic>
        <p:nvPicPr>
          <p:cNvPr id="2050" name="Picture 2" descr="5 Reasons to Visit São Tomé and Príncipe in the Winter Months">
            <a:extLst>
              <a:ext uri="{FF2B5EF4-FFF2-40B4-BE49-F238E27FC236}">
                <a16:creationId xmlns:a16="http://schemas.microsoft.com/office/drawing/2014/main" id="{1E0CD403-FECB-A366-8DBA-67C33CDB45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8949" y="395044"/>
            <a:ext cx="8641719" cy="647566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E32BA06-89B8-3164-1677-1F115F128AA5}"/>
              </a:ext>
            </a:extLst>
          </p:cNvPr>
          <p:cNvSpPr>
            <a:spLocks noGrp="1"/>
          </p:cNvSpPr>
          <p:nvPr>
            <p:ph type="title"/>
          </p:nvPr>
        </p:nvSpPr>
        <p:spPr>
          <a:xfrm>
            <a:off x="838200" y="501650"/>
            <a:ext cx="5646576" cy="1325563"/>
          </a:xfrm>
        </p:spPr>
        <p:txBody>
          <a:bodyPr>
            <a:normAutofit/>
          </a:bodyPr>
          <a:lstStyle/>
          <a:p>
            <a:r>
              <a:rPr lang="en-US" sz="3200" b="1" dirty="0">
                <a:solidFill>
                  <a:srgbClr val="0070C0"/>
                </a:solidFill>
                <a:latin typeface="Arial" panose="020B0604020202020204" pitchFamily="34" charset="0"/>
                <a:cs typeface="Arial" panose="020B0604020202020204" pitchFamily="34" charset="0"/>
              </a:rPr>
              <a:t>Overall takeaways</a:t>
            </a:r>
          </a:p>
        </p:txBody>
      </p:sp>
      <p:sp>
        <p:nvSpPr>
          <p:cNvPr id="3" name="Content Placeholder 2">
            <a:extLst>
              <a:ext uri="{FF2B5EF4-FFF2-40B4-BE49-F238E27FC236}">
                <a16:creationId xmlns:a16="http://schemas.microsoft.com/office/drawing/2014/main" id="{EC7F49B5-E42F-F913-1A63-14B2308DE592}"/>
              </a:ext>
            </a:extLst>
          </p:cNvPr>
          <p:cNvSpPr>
            <a:spLocks noGrp="1"/>
          </p:cNvSpPr>
          <p:nvPr>
            <p:ph idx="1"/>
          </p:nvPr>
        </p:nvSpPr>
        <p:spPr>
          <a:xfrm>
            <a:off x="838200" y="1994547"/>
            <a:ext cx="5476875" cy="4351338"/>
          </a:xfrm>
        </p:spPr>
        <p:txBody>
          <a:bodyPr>
            <a:normAutofit fontScale="92500" lnSpcReduction="10000"/>
          </a:bodyPr>
          <a:lstStyle/>
          <a:p>
            <a:r>
              <a:rPr lang="en-US" dirty="0">
                <a:latin typeface="Arial" panose="020B0604020202020204" pitchFamily="34" charset="0"/>
                <a:cs typeface="Arial" panose="020B0604020202020204" pitchFamily="34" charset="0"/>
              </a:rPr>
              <a:t>Sao Tome and Principe fisheries and tourism are highly vulnerable to climate change</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Adaptation measures are likely needed to reduce climate change impacts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This work is still ongoing, and your feedback is essential for improvements.</a:t>
            </a:r>
          </a:p>
          <a:p>
            <a:pPr lvl="1"/>
            <a:endParaRPr lang="en-US" i="1" dirty="0">
              <a:latin typeface="Arial" panose="020B0604020202020204" pitchFamily="34" charset="0"/>
              <a:cs typeface="Arial" panose="020B0604020202020204" pitchFamily="34" charset="0"/>
            </a:endParaRPr>
          </a:p>
          <a:p>
            <a:pPr lvl="1"/>
            <a:endParaRPr lang="en-US" i="1" dirty="0">
              <a:latin typeface="Arial" panose="020B0604020202020204" pitchFamily="34" charset="0"/>
              <a:cs typeface="Arial" panose="020B0604020202020204" pitchFamily="34" charset="0"/>
            </a:endParaRPr>
          </a:p>
          <a:p>
            <a:pPr lvl="1"/>
            <a:endParaRPr lang="en-US" i="1" dirty="0">
              <a:latin typeface="Arial" panose="020B0604020202020204" pitchFamily="34" charset="0"/>
              <a:cs typeface="Arial" panose="020B0604020202020204" pitchFamily="34" charset="0"/>
            </a:endParaRPr>
          </a:p>
          <a:p>
            <a:pPr lvl="1"/>
            <a:endParaRPr lang="en-US"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C3E93AB6-9850-86A9-BD37-D6AC1ACE2096}"/>
              </a:ext>
            </a:extLst>
          </p:cNvPr>
          <p:cNvSpPr>
            <a:spLocks noGrp="1"/>
          </p:cNvSpPr>
          <p:nvPr>
            <p:ph type="sldNum" sz="quarter" idx="12"/>
          </p:nvPr>
        </p:nvSpPr>
        <p:spPr/>
        <p:txBody>
          <a:bodyPr/>
          <a:lstStyle/>
          <a:p>
            <a:fld id="{D51B4FB4-AA13-FE41-AF8A-525BA2FA973D}" type="slidenum">
              <a:rPr lang="en-US" smtClean="0"/>
              <a:t>31</a:t>
            </a:fld>
            <a:endParaRPr lang="en-US" dirty="0"/>
          </a:p>
        </p:txBody>
      </p:sp>
      <p:grpSp>
        <p:nvGrpSpPr>
          <p:cNvPr id="6" name="Group 5">
            <a:extLst>
              <a:ext uri="{FF2B5EF4-FFF2-40B4-BE49-F238E27FC236}">
                <a16:creationId xmlns:a16="http://schemas.microsoft.com/office/drawing/2014/main" id="{1E8FF921-95A5-6947-4351-2DFED1CF6F8D}"/>
              </a:ext>
            </a:extLst>
          </p:cNvPr>
          <p:cNvGrpSpPr/>
          <p:nvPr/>
        </p:nvGrpSpPr>
        <p:grpSpPr>
          <a:xfrm>
            <a:off x="-16329" y="-38779"/>
            <a:ext cx="12393386" cy="316366"/>
            <a:chOff x="-16329" y="5228994"/>
            <a:chExt cx="12208329" cy="575436"/>
          </a:xfrm>
        </p:grpSpPr>
        <p:sp>
          <p:nvSpPr>
            <p:cNvPr id="8" name="Rectangle 7">
              <a:extLst>
                <a:ext uri="{FF2B5EF4-FFF2-40B4-BE49-F238E27FC236}">
                  <a16:creationId xmlns:a16="http://schemas.microsoft.com/office/drawing/2014/main" id="{97CDFF55-2385-6CA9-32A3-A23949CCA8D8}"/>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59C84AD-FFD6-E9F9-2B3B-BFFCA125F963}"/>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Connecteur droit 6">
            <a:extLst>
              <a:ext uri="{FF2B5EF4-FFF2-40B4-BE49-F238E27FC236}">
                <a16:creationId xmlns:a16="http://schemas.microsoft.com/office/drawing/2014/main" id="{0BEC7217-E402-66BA-9D83-B13FB1E7B593}"/>
              </a:ext>
            </a:extLst>
          </p:cNvPr>
          <p:cNvCxnSpPr>
            <a:cxnSpLocks/>
          </p:cNvCxnSpPr>
          <p:nvPr/>
        </p:nvCxnSpPr>
        <p:spPr>
          <a:xfrm>
            <a:off x="-16329" y="395044"/>
            <a:ext cx="12208329"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65467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E6A5532-6683-13E3-C265-43BA25C5439F}"/>
              </a:ext>
            </a:extLst>
          </p:cNvPr>
          <p:cNvSpPr>
            <a:spLocks noGrp="1"/>
          </p:cNvSpPr>
          <p:nvPr>
            <p:ph type="sldNum" sz="quarter" idx="12"/>
          </p:nvPr>
        </p:nvSpPr>
        <p:spPr/>
        <p:txBody>
          <a:bodyPr/>
          <a:lstStyle/>
          <a:p>
            <a:fld id="{D51B4FB4-AA13-FE41-AF8A-525BA2FA973D}" type="slidenum">
              <a:rPr lang="en-US" smtClean="0"/>
              <a:t>32</a:t>
            </a:fld>
            <a:endParaRPr lang="en-US" dirty="0"/>
          </a:p>
        </p:txBody>
      </p:sp>
      <p:grpSp>
        <p:nvGrpSpPr>
          <p:cNvPr id="6" name="Group 5">
            <a:extLst>
              <a:ext uri="{FF2B5EF4-FFF2-40B4-BE49-F238E27FC236}">
                <a16:creationId xmlns:a16="http://schemas.microsoft.com/office/drawing/2014/main" id="{5A93C80A-C674-1DBB-5305-06A8E4C7EF58}"/>
              </a:ext>
            </a:extLst>
          </p:cNvPr>
          <p:cNvGrpSpPr/>
          <p:nvPr/>
        </p:nvGrpSpPr>
        <p:grpSpPr>
          <a:xfrm>
            <a:off x="-14068" y="-21659"/>
            <a:ext cx="12393386" cy="1611307"/>
            <a:chOff x="-16329" y="5228994"/>
            <a:chExt cx="12208329" cy="575436"/>
          </a:xfrm>
        </p:grpSpPr>
        <p:sp>
          <p:nvSpPr>
            <p:cNvPr id="8" name="Rectangle 7">
              <a:extLst>
                <a:ext uri="{FF2B5EF4-FFF2-40B4-BE49-F238E27FC236}">
                  <a16:creationId xmlns:a16="http://schemas.microsoft.com/office/drawing/2014/main" id="{2FDE89E6-8A6E-EC4E-E986-BBD249F52F1E}"/>
                </a:ext>
              </a:extLst>
            </p:cNvPr>
            <p:cNvSpPr/>
            <p:nvPr/>
          </p:nvSpPr>
          <p:spPr>
            <a:xfrm>
              <a:off x="-16329" y="5228994"/>
              <a:ext cx="10205358" cy="57543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16B3FB0-E509-4B22-624E-E9AC14B76247}"/>
                </a:ext>
              </a:extLst>
            </p:cNvPr>
            <p:cNvSpPr/>
            <p:nvPr/>
          </p:nvSpPr>
          <p:spPr>
            <a:xfrm>
              <a:off x="10189029" y="5228994"/>
              <a:ext cx="2002971" cy="575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Title 2">
            <a:extLst>
              <a:ext uri="{FF2B5EF4-FFF2-40B4-BE49-F238E27FC236}">
                <a16:creationId xmlns:a16="http://schemas.microsoft.com/office/drawing/2014/main" id="{A9C56575-D07C-0F96-5881-6F5315AFDB1C}"/>
              </a:ext>
            </a:extLst>
          </p:cNvPr>
          <p:cNvSpPr>
            <a:spLocks noGrp="1"/>
          </p:cNvSpPr>
          <p:nvPr>
            <p:ph type="title"/>
          </p:nvPr>
        </p:nvSpPr>
        <p:spPr>
          <a:xfrm>
            <a:off x="6510036" y="2475512"/>
            <a:ext cx="4852615" cy="2376264"/>
          </a:xfrm>
        </p:spPr>
        <p:txBody>
          <a:bodyPr>
            <a:noAutofit/>
          </a:bodyPr>
          <a:lstStyle/>
          <a:p>
            <a:r>
              <a:rPr lang="en-US" sz="4800" b="1" dirty="0">
                <a:solidFill>
                  <a:srgbClr val="0070C0"/>
                </a:solidFill>
                <a:latin typeface="Arial" panose="020B0604020202020204" pitchFamily="34" charset="0"/>
                <a:cs typeface="Arial" panose="020B0604020202020204" pitchFamily="34" charset="0"/>
              </a:rPr>
              <a:t>Thank you</a:t>
            </a:r>
          </a:p>
        </p:txBody>
      </p:sp>
      <p:pic>
        <p:nvPicPr>
          <p:cNvPr id="2" name="Picture 1" descr="Graphical user interface, text&#10;&#10;Description automatically generated">
            <a:extLst>
              <a:ext uri="{FF2B5EF4-FFF2-40B4-BE49-F238E27FC236}">
                <a16:creationId xmlns:a16="http://schemas.microsoft.com/office/drawing/2014/main" id="{C0EA70B9-8FD9-A4B6-C3B2-B646C7CB6D88}"/>
              </a:ext>
            </a:extLst>
          </p:cNvPr>
          <p:cNvPicPr>
            <a:picLocks noChangeAspect="1"/>
          </p:cNvPicPr>
          <p:nvPr/>
        </p:nvPicPr>
        <p:blipFill>
          <a:blip r:embed="rId2"/>
          <a:srcRect r="31257"/>
          <a:stretch>
            <a:fillRect/>
          </a:stretch>
        </p:blipFill>
        <p:spPr>
          <a:xfrm>
            <a:off x="1699003" y="2950234"/>
            <a:ext cx="4286633" cy="1426821"/>
          </a:xfrm>
          <a:prstGeom prst="rect">
            <a:avLst/>
          </a:prstGeom>
        </p:spPr>
      </p:pic>
    </p:spTree>
    <p:extLst>
      <p:ext uri="{BB962C8B-B14F-4D97-AF65-F5344CB8AC3E}">
        <p14:creationId xmlns:p14="http://schemas.microsoft.com/office/powerpoint/2010/main" val="3609297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B4665977E207A449548B2B5BC616899" ma:contentTypeVersion="17" ma:contentTypeDescription="Create a new document." ma:contentTypeScope="" ma:versionID="b39e9f3cad3d2ef1edb569404013632f">
  <xsd:schema xmlns:xsd="http://www.w3.org/2001/XMLSchema" xmlns:xs="http://www.w3.org/2001/XMLSchema" xmlns:p="http://schemas.microsoft.com/office/2006/metadata/properties" xmlns:ns2="9b0ad5ae-bd03-426b-aed7-53a4fff41dc5" xmlns:ns3="66d5c836-a2c7-4c0e-b7db-0b4e4e817a8a" targetNamespace="http://schemas.microsoft.com/office/2006/metadata/properties" ma:root="true" ma:fieldsID="07d2476d5f7e7a8603ca226630fd531a" ns2:_="" ns3:_="">
    <xsd:import namespace="9b0ad5ae-bd03-426b-aed7-53a4fff41dc5"/>
    <xsd:import namespace="66d5c836-a2c7-4c0e-b7db-0b4e4e817a8a"/>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ObjectDetectorVersion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b0ad5ae-bd03-426b-aed7-53a4fff41dc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f40eee1e-ad38-437e-be40-fc9f033adc9a"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6d5c836-a2c7-4c0e-b7db-0b4e4e817a8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ad403595-b248-47b3-ba4e-d9145443b568}" ma:internalName="TaxCatchAll" ma:showField="CatchAllData" ma:web="66d5c836-a2c7-4c0e-b7db-0b4e4e817a8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66d5c836-a2c7-4c0e-b7db-0b4e4e817a8a" xsi:nil="true"/>
    <lcf76f155ced4ddcb4097134ff3c332f xmlns="9b0ad5ae-bd03-426b-aed7-53a4fff41dc5">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28D8B5F-9E10-41E1-BAE2-713434E77AB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b0ad5ae-bd03-426b-aed7-53a4fff41dc5"/>
    <ds:schemaRef ds:uri="66d5c836-a2c7-4c0e-b7db-0b4e4e817a8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EA976-F7F1-432E-BC56-20E1CA73DEC7}">
  <ds:schemaRefs>
    <ds:schemaRef ds:uri="http://schemas.microsoft.com/office/2006/metadata/properties"/>
    <ds:schemaRef ds:uri="http://schemas.microsoft.com/office/infopath/2007/PartnerControls"/>
    <ds:schemaRef ds:uri="66d5c836-a2c7-4c0e-b7db-0b4e4e817a8a"/>
    <ds:schemaRef ds:uri="9b0ad5ae-bd03-426b-aed7-53a4fff41dc5"/>
  </ds:schemaRefs>
</ds:datastoreItem>
</file>

<file path=customXml/itemProps3.xml><?xml version="1.0" encoding="utf-8"?>
<ds:datastoreItem xmlns:ds="http://schemas.openxmlformats.org/officeDocument/2006/customXml" ds:itemID="{3487DD47-D233-4FBA-AAAD-453C53C3A3D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2710</TotalTime>
  <Words>1531</Words>
  <Application>Microsoft Office PowerPoint</Application>
  <PresentationFormat>Widescreen</PresentationFormat>
  <Paragraphs>646</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Calibri Light</vt:lpstr>
      <vt:lpstr>Garamond</vt:lpstr>
      <vt:lpstr>Georgia</vt:lpstr>
      <vt:lpstr>Office Theme</vt:lpstr>
      <vt:lpstr>Climate change and climate change impacts on São Tomé and Príncipe with a focus on fishery and tourism sectors in a Blue Economy context Sao Tome and Principe, November/December 2025</vt:lpstr>
      <vt:lpstr>Blue economy</vt:lpstr>
      <vt:lpstr>Focus of report</vt:lpstr>
      <vt:lpstr>Presentation overview</vt:lpstr>
      <vt:lpstr>Fisheries in STP</vt:lpstr>
      <vt:lpstr>Fisheries in STP</vt:lpstr>
      <vt:lpstr>Fisheries – climate exposure (historical)</vt:lpstr>
      <vt:lpstr>Fisheries – climate exposure (historical)</vt:lpstr>
      <vt:lpstr>Fisheries – climate exposure (historical)</vt:lpstr>
      <vt:lpstr>Fisheries – climate exposure (future)</vt:lpstr>
      <vt:lpstr>Fisheries – climate exposure (future)</vt:lpstr>
      <vt:lpstr>Fisheries – climate exposure (future)</vt:lpstr>
      <vt:lpstr>Fish impact analysis</vt:lpstr>
      <vt:lpstr>Fisheries – climate impact (mechanistic modelling)</vt:lpstr>
      <vt:lpstr>Fisheries – climate impact (empirical modelling)</vt:lpstr>
      <vt:lpstr>Fisheries – climate impact (empirical modelling)</vt:lpstr>
      <vt:lpstr>Fisheries – climate impact (empirical modelling)</vt:lpstr>
      <vt:lpstr>Fisheries – climate impact (empirical modelling)</vt:lpstr>
      <vt:lpstr>Conclusions for fisheries</vt:lpstr>
      <vt:lpstr>Tourism in STP</vt:lpstr>
      <vt:lpstr>Tourism in STP</vt:lpstr>
      <vt:lpstr>Tourism – climate exposure (historical)</vt:lpstr>
      <vt:lpstr>Tourism – climate exposure (historical)</vt:lpstr>
      <vt:lpstr>Tourism – climate exposure (future)</vt:lpstr>
      <vt:lpstr>Tourism – climate exposure (future)</vt:lpstr>
      <vt:lpstr>Tourism – climate exposure (future)</vt:lpstr>
      <vt:lpstr>Tourism – climate impact analysis</vt:lpstr>
      <vt:lpstr>Tourism – direct impacts</vt:lpstr>
      <vt:lpstr>Tourism – indirect impacts</vt:lpstr>
      <vt:lpstr>Conclusions for tourism</vt:lpstr>
      <vt:lpstr>Overall takeaways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Fishery Committee for the Eastern Central Atlantic 9th Scientific Sub-Committee Nouakchott, Mauritania, December 2022</dc:title>
  <dc:creator>Mcdonough, Sakchai (FAORAF)</dc:creator>
  <cp:lastModifiedBy>Greenrod, Samuel (OCBD)</cp:lastModifiedBy>
  <cp:revision>17</cp:revision>
  <dcterms:created xsi:type="dcterms:W3CDTF">2022-11-03T10:54:55Z</dcterms:created>
  <dcterms:modified xsi:type="dcterms:W3CDTF">2025-11-27T16:37:41Z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0x0101009B4665977E207A449548B2B5BC616899</vt:lpwstr>
  </property>
  <property fmtid="{D5CDD505-2E9C-101B-9397-08002B2CF9AE}" pid="3" name="MediaServiceImageTags">
    <vt:lpwstr/>
  </property>
</Properties>
</file>