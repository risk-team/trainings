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6_A20CF004.xml" ContentType="application/vnd.ms-powerpoint.comment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78" r:id="rId5"/>
    <p:sldId id="273" r:id="rId6"/>
    <p:sldId id="298" r:id="rId7"/>
    <p:sldId id="299" r:id="rId8"/>
    <p:sldId id="295" r:id="rId9"/>
    <p:sldId id="303" r:id="rId10"/>
    <p:sldId id="296" r:id="rId11"/>
    <p:sldId id="297" r:id="rId12"/>
    <p:sldId id="300" r:id="rId13"/>
    <p:sldId id="260" r:id="rId14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313345-9002-474F-93B6-F968F57B4A55}" v="80" dt="2025-11-27T16:31:16.0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07"/>
    <p:restoredTop sz="83051" autoAdjust="0"/>
  </p:normalViewPr>
  <p:slideViewPr>
    <p:cSldViewPr snapToGrid="0">
      <p:cViewPr varScale="1">
        <p:scale>
          <a:sx n="92" d="100"/>
          <a:sy n="92" d="100"/>
        </p:scale>
        <p:origin x="4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custSel delSld modSld">
      <pc:chgData name="Greenrod, Samuel (OCBD)" userId="2206092a-8a12-487a-a963-cafe9a401430" providerId="ADAL" clId="{20C3C022-8956-41D8-B9EF-F034660AD755}" dt="2025-11-27T16:31:18.086" v="55" actId="1076"/>
      <pc:docMkLst>
        <pc:docMk/>
      </pc:docMkLst>
      <pc:sldChg chg="modSp mod">
        <pc:chgData name="Greenrod, Samuel (OCBD)" userId="2206092a-8a12-487a-a963-cafe9a401430" providerId="ADAL" clId="{20C3C022-8956-41D8-B9EF-F034660AD755}" dt="2025-11-27T16:31:18.086" v="55" actId="1076"/>
        <pc:sldMkLst>
          <pc:docMk/>
          <pc:sldMk cId="360929713" sldId="260"/>
        </pc:sldMkLst>
        <pc:spChg chg="mod">
          <ac:chgData name="Greenrod, Samuel (OCBD)" userId="2206092a-8a12-487a-a963-cafe9a401430" providerId="ADAL" clId="{20C3C022-8956-41D8-B9EF-F034660AD755}" dt="2025-11-27T16:31:18.086" v="55" actId="1076"/>
          <ac:spMkLst>
            <pc:docMk/>
            <pc:sldMk cId="360929713" sldId="260"/>
            <ac:spMk id="14" creationId="{A9C56575-D07C-0F96-5881-6F5315AFDB1C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48.388" v="20" actId="27636"/>
        <pc:sldMkLst>
          <pc:docMk/>
          <pc:sldMk cId="695527983" sldId="273"/>
        </pc:sldMkLst>
        <pc:spChg chg="mod">
          <ac:chgData name="Greenrod, Samuel (OCBD)" userId="2206092a-8a12-487a-a963-cafe9a401430" providerId="ADAL" clId="{20C3C022-8956-41D8-B9EF-F034660AD755}" dt="2025-11-27T16:05:48.388" v="20" actId="27636"/>
          <ac:spMkLst>
            <pc:docMk/>
            <pc:sldMk cId="695527983" sldId="273"/>
            <ac:spMk id="13" creationId="{81127B1F-DAD1-37A5-0BFC-02891766461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22.551" v="3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6:05:18.517" v="2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6:05:22.551" v="3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21:02.974" v="37" actId="20577"/>
        <pc:sldMkLst>
          <pc:docMk/>
          <pc:sldMk cId="1642788035" sldId="295"/>
        </pc:sldMkLst>
        <pc:spChg chg="mod">
          <ac:chgData name="Greenrod, Samuel (OCBD)" userId="2206092a-8a12-487a-a963-cafe9a401430" providerId="ADAL" clId="{20C3C022-8956-41D8-B9EF-F034660AD755}" dt="2025-11-27T16:20:41.130" v="33" actId="12"/>
          <ac:spMkLst>
            <pc:docMk/>
            <pc:sldMk cId="1642788035" sldId="295"/>
            <ac:spMk id="15" creationId="{CA0C5987-26A0-C542-9B1F-1EAB4BB2D8D4}"/>
          </ac:spMkLst>
        </pc:spChg>
        <pc:graphicFrameChg chg="mod modGraphic">
          <ac:chgData name="Greenrod, Samuel (OCBD)" userId="2206092a-8a12-487a-a963-cafe9a401430" providerId="ADAL" clId="{20C3C022-8956-41D8-B9EF-F034660AD755}" dt="2025-11-27T16:21:02.974" v="37" actId="20577"/>
          <ac:graphicFrameMkLst>
            <pc:docMk/>
            <pc:sldMk cId="1642788035" sldId="295"/>
            <ac:graphicFrameMk id="3" creationId="{C49EA184-77B1-09E6-0378-6B1237782B02}"/>
          </ac:graphicFrameMkLst>
        </pc:graphicFrameChg>
        <pc:picChg chg="mod">
          <ac:chgData name="Greenrod, Samuel (OCBD)" userId="2206092a-8a12-487a-a963-cafe9a401430" providerId="ADAL" clId="{20C3C022-8956-41D8-B9EF-F034660AD755}" dt="2025-11-27T16:20:43.267" v="34" actId="1076"/>
          <ac:picMkLst>
            <pc:docMk/>
            <pc:sldMk cId="1642788035" sldId="295"/>
            <ac:picMk id="1028" creationId="{DB3C2663-889D-E34F-A8AD-02CBCE6442BB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30:00.859" v="51" actId="1076"/>
        <pc:sldMkLst>
          <pc:docMk/>
          <pc:sldMk cId="222979080" sldId="296"/>
        </pc:sldMkLst>
        <pc:spChg chg="mod">
          <ac:chgData name="Greenrod, Samuel (OCBD)" userId="2206092a-8a12-487a-a963-cafe9a401430" providerId="ADAL" clId="{20C3C022-8956-41D8-B9EF-F034660AD755}" dt="2025-11-27T16:29:44.026" v="50"/>
          <ac:spMkLst>
            <pc:docMk/>
            <pc:sldMk cId="222979080" sldId="296"/>
            <ac:spMk id="12" creationId="{A65C43C1-C7BA-C764-DC88-33D3E1F25FA6}"/>
          </ac:spMkLst>
        </pc:spChg>
        <pc:graphicFrameChg chg="mod">
          <ac:chgData name="Greenrod, Samuel (OCBD)" userId="2206092a-8a12-487a-a963-cafe9a401430" providerId="ADAL" clId="{20C3C022-8956-41D8-B9EF-F034660AD755}" dt="2025-11-27T16:30:00.859" v="51" actId="1076"/>
          <ac:graphicFrameMkLst>
            <pc:docMk/>
            <pc:sldMk cId="222979080" sldId="296"/>
            <ac:graphicFrameMk id="3" creationId="{173D7FE3-CE99-138E-79AF-308F8AC83C55}"/>
          </ac:graphicFrameMkLst>
        </pc:graphicFrameChg>
      </pc:sldChg>
      <pc:sldChg chg="modSp mod">
        <pc:chgData name="Greenrod, Samuel (OCBD)" userId="2206092a-8a12-487a-a963-cafe9a401430" providerId="ADAL" clId="{20C3C022-8956-41D8-B9EF-F034660AD755}" dt="2025-11-27T16:30:29.920" v="53" actId="20577"/>
        <pc:sldMkLst>
          <pc:docMk/>
          <pc:sldMk cId="1167269146" sldId="297"/>
        </pc:sldMkLst>
        <pc:spChg chg="mod">
          <ac:chgData name="Greenrod, Samuel (OCBD)" userId="2206092a-8a12-487a-a963-cafe9a401430" providerId="ADAL" clId="{20C3C022-8956-41D8-B9EF-F034660AD755}" dt="2025-11-27T16:30:29.920" v="53" actId="20577"/>
          <ac:spMkLst>
            <pc:docMk/>
            <pc:sldMk cId="1167269146" sldId="297"/>
            <ac:spMk id="7" creationId="{A1D2B47E-2C49-A631-2A9C-27D835CDADB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18:32.469" v="27" actId="113"/>
        <pc:sldMkLst>
          <pc:docMk/>
          <pc:sldMk cId="2549979351" sldId="299"/>
        </pc:sldMkLst>
        <pc:spChg chg="mod">
          <ac:chgData name="Greenrod, Samuel (OCBD)" userId="2206092a-8a12-487a-a963-cafe9a401430" providerId="ADAL" clId="{20C3C022-8956-41D8-B9EF-F034660AD755}" dt="2025-11-27T16:06:19.228" v="21" actId="1076"/>
          <ac:spMkLst>
            <pc:docMk/>
            <pc:sldMk cId="2549979351" sldId="299"/>
            <ac:spMk id="2" creationId="{22FC65F6-183C-90BA-48FA-9ED506E01053}"/>
          </ac:spMkLst>
        </pc:spChg>
        <pc:spChg chg="mod">
          <ac:chgData name="Greenrod, Samuel (OCBD)" userId="2206092a-8a12-487a-a963-cafe9a401430" providerId="ADAL" clId="{20C3C022-8956-41D8-B9EF-F034660AD755}" dt="2025-11-27T16:18:32.469" v="27" actId="113"/>
          <ac:spMkLst>
            <pc:docMk/>
            <pc:sldMk cId="2549979351" sldId="299"/>
            <ac:spMk id="16" creationId="{8A341B6C-9AB2-90A5-156F-65588AE8B6A7}"/>
          </ac:spMkLst>
        </pc:spChg>
        <pc:graphicFrameChg chg="mod">
          <ac:chgData name="Greenrod, Samuel (OCBD)" userId="2206092a-8a12-487a-a963-cafe9a401430" providerId="ADAL" clId="{20C3C022-8956-41D8-B9EF-F034660AD755}" dt="2025-11-27T16:06:29.099" v="22" actId="1076"/>
          <ac:graphicFrameMkLst>
            <pc:docMk/>
            <pc:sldMk cId="2549979351" sldId="299"/>
            <ac:graphicFrameMk id="7" creationId="{50627182-D576-A734-A0DA-9476F22504DC}"/>
          </ac:graphicFrameMkLst>
        </pc:graphicFrameChg>
      </pc:sldChg>
      <pc:sldChg chg="del">
        <pc:chgData name="Greenrod, Samuel (OCBD)" userId="2206092a-8a12-487a-a963-cafe9a401430" providerId="ADAL" clId="{20C3C022-8956-41D8-B9EF-F034660AD755}" dt="2025-11-27T16:31:12.861" v="54" actId="47"/>
        <pc:sldMkLst>
          <pc:docMk/>
          <pc:sldMk cId="956540272" sldId="302"/>
        </pc:sldMkLst>
      </pc:sldChg>
      <pc:sldChg chg="modSp mod">
        <pc:chgData name="Greenrod, Samuel (OCBD)" userId="2206092a-8a12-487a-a963-cafe9a401430" providerId="ADAL" clId="{20C3C022-8956-41D8-B9EF-F034660AD755}" dt="2025-11-27T16:21:14.869" v="44" actId="27636"/>
        <pc:sldMkLst>
          <pc:docMk/>
          <pc:sldMk cId="1557714722" sldId="303"/>
        </pc:sldMkLst>
        <pc:spChg chg="mod">
          <ac:chgData name="Greenrod, Samuel (OCBD)" userId="2206092a-8a12-487a-a963-cafe9a401430" providerId="ADAL" clId="{20C3C022-8956-41D8-B9EF-F034660AD755}" dt="2025-11-27T16:21:14.869" v="44" actId="27636"/>
          <ac:spMkLst>
            <pc:docMk/>
            <pc:sldMk cId="1557714722" sldId="303"/>
            <ac:spMk id="13" creationId="{C803D0AD-8CFC-2F9F-ED16-8657BE54EC09}"/>
          </ac:spMkLst>
        </pc:spChg>
      </pc:sldChg>
    </pc:docChg>
  </pc:docChgLst>
</pc:chgInfo>
</file>

<file path=ppt/comments/modernComment_116_A20CF0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1875686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5309B-12D6-8240-AE7D-DF18D3AE4A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85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A20CF0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6794" y="2094933"/>
            <a:ext cx="943841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Recomendações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ACDE-10C9-F045-7191-964BE523E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97C-7B53-C082-54D7-4837292A6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conclusões do 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B8F31-5BAA-7915-FB6D-93ACC082C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3969" y="636502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6B2F92-30E2-9EF6-6876-03ACDD576A2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84171E-B5D6-D2D3-50B9-C9F54F0A61D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7E42CE-9992-223A-66F5-67C895479C6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80E5E99-848A-96C2-25A0-1EBCC47763E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127B1F-DAD1-37A5-0BFC-02891766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925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futuras alterações climáticas afetem negativamente a economia azul no STP
Pescas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da biomassa de peixes
Diminuição da probabilidade de ocorrência de espécies de peixes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Turismo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Subida do nível do mar
Aumento do desconforto dos turistas
Risco de branqueamento dos corais
Diminuição da probabilidade de ocorrência de espécies de pesca desportiva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graph of sea level rise&#10;&#10;AI-generated content may be incorrect.">
            <a:extLst>
              <a:ext uri="{FF2B5EF4-FFF2-40B4-BE49-F238E27FC236}">
                <a16:creationId xmlns:a16="http://schemas.microsoft.com/office/drawing/2014/main" id="{04BCB312-8A09-CB15-7037-8087C958C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5661" y="1765753"/>
            <a:ext cx="1893313" cy="1893313"/>
          </a:xfrm>
          <a:prstGeom prst="rect">
            <a:avLst/>
          </a:prstGeom>
        </p:spPr>
      </p:pic>
      <p:pic>
        <p:nvPicPr>
          <p:cNvPr id="11" name="Picture 10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739226F7-DF6B-FEDC-507F-0CBDD42C63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135" y="1707194"/>
            <a:ext cx="2233206" cy="2010430"/>
          </a:xfrm>
          <a:prstGeom prst="rect">
            <a:avLst/>
          </a:prstGeom>
        </p:spPr>
      </p:pic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DA339A0B-4E3E-4ADD-2976-170B6B2A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49744" b="5019"/>
          <a:stretch>
            <a:fillRect/>
          </a:stretch>
        </p:blipFill>
        <p:spPr>
          <a:xfrm>
            <a:off x="8078738" y="4210985"/>
            <a:ext cx="2818390" cy="2010430"/>
          </a:xfrm>
          <a:prstGeom prst="rect">
            <a:avLst/>
          </a:prstGeom>
        </p:spPr>
      </p:pic>
      <p:pic>
        <p:nvPicPr>
          <p:cNvPr id="15" name="Picture 14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92FEC3E6-84FA-EA9A-D203-6F8F5AE8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-807" b="93225"/>
          <a:stretch>
            <a:fillRect/>
          </a:stretch>
        </p:blipFill>
        <p:spPr>
          <a:xfrm>
            <a:off x="8078738" y="3937467"/>
            <a:ext cx="2818390" cy="336946"/>
          </a:xfrm>
          <a:prstGeom prst="rect">
            <a:avLst/>
          </a:prstGeom>
        </p:spPr>
      </p:pic>
      <p:pic>
        <p:nvPicPr>
          <p:cNvPr id="16" name="Picture 15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7E636B2-D438-BB5C-7EE2-043455E787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5" t="49744" r="75383" b="5019"/>
          <a:stretch>
            <a:fillRect/>
          </a:stretch>
        </p:blipFill>
        <p:spPr>
          <a:xfrm>
            <a:off x="6627084" y="4210985"/>
            <a:ext cx="1518250" cy="2010430"/>
          </a:xfrm>
          <a:prstGeom prst="rect">
            <a:avLst/>
          </a:prstGeom>
        </p:spPr>
      </p:pic>
      <p:pic>
        <p:nvPicPr>
          <p:cNvPr id="17" name="Picture 16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B784087-E911-000B-9FAF-3C0F50C675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96" t="94780" r="19316" b="1412"/>
          <a:stretch>
            <a:fillRect/>
          </a:stretch>
        </p:blipFill>
        <p:spPr>
          <a:xfrm>
            <a:off x="7954194" y="6251161"/>
            <a:ext cx="2942934" cy="16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2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F05B-C2BF-34D5-A138-A6EA4C114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1C08-D573-8126-846C-D12A3E8A3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às pescas – infraestruturas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292FA825-10D4-3B4A-755C-C32445972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AFEB1-F4A5-7985-DC87-508ED56D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194A2F-FE0F-7B40-C78D-6115237368D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9CEB76-705F-1751-2B8B-AA71FF66F8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C878FA-2A1A-1DB3-AC8E-50C50DA329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7F006A1-3516-7DD7-0A9E-2C38C677C1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E03BF82E-432B-CBB8-1A09-2D36FF8DB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7424" y="1855543"/>
            <a:ext cx="3019733" cy="402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51E2DF8-69A1-7832-1CF0-4E64D3237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95775"/>
              </p:ext>
            </p:extLst>
          </p:nvPr>
        </p:nvGraphicFramePr>
        <p:xfrm>
          <a:off x="1064393" y="2048837"/>
          <a:ext cx="5231894" cy="381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Desenvolvimento</a:t>
                      </a:r>
                      <a:r>
                        <a:rPr lang="en-GB" sz="1600" dirty="0"/>
                        <a:t> da </a:t>
                      </a:r>
                      <a:r>
                        <a:rPr lang="en-GB" sz="1600" dirty="0" err="1"/>
                        <a:t>infraestrutura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pesqueira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portos de pesca adicionais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Construção de mercados de retalho distritais com equipamento de refrigeração adequado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uma oficina para a construção de barcos de pesca melhorados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Construir uma unidade de fabrico de materiais essenciais para a pesca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regras oficiais de armazenamento e preparação de alimentos.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redes rodoviárias entre portos de pesca e mercados e investimento em veículos refrigerados para transporte seguro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587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26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7CB1-8F06-F571-26CA-06981ED4B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65F6-183C-90BA-48FA-9ED506E0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91" y="547456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às pescas – proteção das espécies de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CD9D-2CFE-C09C-4EE3-F12139C4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6815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AA5F94-6008-1F3B-9BE4-3C32A5942D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A08FD4-5584-8ABF-FA61-DA3CE574119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EF92B15-07B4-7CB8-1A1D-746EB3CC52C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CBDE9D8-8857-9F65-C30E-4E9B53F008B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map of the island of sao tome and principe&#10;&#10;AI-generated content may be incorrect.">
            <a:extLst>
              <a:ext uri="{FF2B5EF4-FFF2-40B4-BE49-F238E27FC236}">
                <a16:creationId xmlns:a16="http://schemas.microsoft.com/office/drawing/2014/main" id="{7D361A0B-9546-2193-0077-672B0CBB6F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672" y="1990478"/>
            <a:ext cx="3218286" cy="2278758"/>
          </a:xfrm>
          <a:prstGeom prst="rect">
            <a:avLst/>
          </a:prstGeom>
          <a:noFill/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27182-D576-A734-A0DA-9476F22504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384137"/>
              </p:ext>
            </p:extLst>
          </p:nvPr>
        </p:nvGraphicFramePr>
        <p:xfrm>
          <a:off x="972436" y="2307148"/>
          <a:ext cx="5231894" cy="1493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Proteção das espécies de peixes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Desenvolvimento adicional e fiscalização das áreas marinhas protegidas (AMP)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Uso responsável de dispositivos de agregação de peixes ancorados (FADs)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CCA013-4215-E900-413B-84715178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593739"/>
              </p:ext>
            </p:extLst>
          </p:nvPr>
        </p:nvGraphicFramePr>
        <p:xfrm>
          <a:off x="972436" y="3889324"/>
          <a:ext cx="5231894" cy="189708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regulamentar para evitar a sobrepesca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Juvenis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que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regressam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Utilização de métodos de pesca com cerco sem peso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baseados nos stocks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49278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ao número de embarcações de 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07427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A341B6C-9AB2-90A5-156F-65588AE8B6A7}"/>
              </a:ext>
            </a:extLst>
          </p:cNvPr>
          <p:cNvSpPr txBox="1"/>
          <p:nvPr/>
        </p:nvSpPr>
        <p:spPr>
          <a:xfrm>
            <a:off x="7137699" y="4512330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necessidade de proteção dos peixes no STP foi recentemente reconhecida:</a:t>
            </a:r>
          </a:p>
          <a:p>
            <a:endParaRPr lang="en-GB" dirty="0"/>
          </a:p>
          <a:p>
            <a:r>
              <a:rPr lang="pt-BR" b="1" dirty="0"/>
              <a:t>Oito Áreas Marinhas Protegidas </a:t>
            </a:r>
            <a:r>
              <a:rPr lang="pt-BR" dirty="0"/>
              <a:t>foram acordadas nas Assembleias de co-gestão das partes interessadas em 2024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6899D2-F0CB-DF9A-3616-A1DF6E04D006}"/>
              </a:ext>
            </a:extLst>
          </p:cNvPr>
          <p:cNvSpPr txBox="1"/>
          <p:nvPr/>
        </p:nvSpPr>
        <p:spPr>
          <a:xfrm>
            <a:off x="7724129" y="6416146"/>
            <a:ext cx="57370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Nuno et al., 2024; https://doi.org/10.1111/csp2.13196</a:t>
            </a:r>
          </a:p>
        </p:txBody>
      </p:sp>
    </p:spTree>
    <p:extLst>
      <p:ext uri="{BB962C8B-B14F-4D97-AF65-F5344CB8AC3E}">
        <p14:creationId xmlns:p14="http://schemas.microsoft.com/office/powerpoint/2010/main" val="254997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E4F92-AC05-5A3F-28BD-4896D0CEC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ECC6-1CC3-A2E5-C472-395D8243B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Tourism adaptation recommendations – coastal erosion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E82D8-AEF8-A5BC-A599-C4B6EF19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0216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BF4040-A48F-F004-EEA7-265451B5F3D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F6FDEC-5AF0-7BA1-4902-2988F0CBEB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D3CF105-E640-DA4E-2F3B-05409BD2A01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13275AD-795B-972C-C4C7-A3A4926510B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49EA184-77B1-09E6-0378-6B1237782B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174548"/>
              </p:ext>
            </p:extLst>
          </p:nvPr>
        </p:nvGraphicFramePr>
        <p:xfrm>
          <a:off x="838199" y="2259435"/>
          <a:ext cx="4789905" cy="35427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89905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WACA+ </a:t>
                      </a:r>
                      <a:r>
                        <a:rPr lang="en-GB" sz="1600" dirty="0" err="1"/>
                        <a:t>medidas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recomendadas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diques, quebra-mares (por exemplo, gânbios) e muros protetores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Criar zonas de expansão seguras para comunidades costeiras.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Estabelecimento de um sistema de alerta climático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Reabilitação das estações de maré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Dragagem de areia para reparar praias erodidas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Diversificação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das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atividades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costeiras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2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valas de drenagem e reservatórios de água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10504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A0C5987-26A0-C542-9B1F-1EAB4BB2D8D4}"/>
              </a:ext>
            </a:extLst>
          </p:cNvPr>
          <p:cNvSpPr txBox="1"/>
          <p:nvPr/>
        </p:nvSpPr>
        <p:spPr>
          <a:xfrm>
            <a:off x="6427442" y="1737568"/>
            <a:ext cx="49329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Medidas semelhantes financiadas pelo GCF: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Building Climate Resilient Safer Islands in the Maldives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Tonga Coastal Resilience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2024</a:t>
            </a:r>
          </a:p>
        </p:txBody>
      </p:sp>
      <p:pic>
        <p:nvPicPr>
          <p:cNvPr id="1028" name="Picture 4" descr="Praia Banana | São Tomé &amp; Príncipe, Africa | Attractions - Lonely Planet">
            <a:extLst>
              <a:ext uri="{FF2B5EF4-FFF2-40B4-BE49-F238E27FC236}">
                <a16:creationId xmlns:a16="http://schemas.microsoft.com/office/drawing/2014/main" id="{DB3C2663-889D-E34F-A8AD-02CBCE64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428" y="3861959"/>
            <a:ext cx="4054976" cy="26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788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1CE6-B4CD-5D95-7061-B0173E4B4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9977-9D8B-D094-A5B4-F7ACC62CD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918410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para a economia azul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194A09-8DA6-0796-BE6C-806C7319E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3969" y="636502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CA455EB-6DD7-A51F-84AD-ADE13E5DE1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DA09BC-0627-7467-EEB2-7B477A1BD85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E7D705-C9CD-4221-BD0F-021AF357A10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73D9DA-FB3A-10FA-3302-3D7139FF859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803D0AD-8CFC-2F9F-ED16-8657BE54EC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38125"/>
            <a:ext cx="5141495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pesca e o turismo estão ligados como parte da economia azul: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sobrepesca pode reduzir as oportunidades de mergulho
Os danos nos corais podem afetar viveiros de peixes e reduzir a biomassa dos peixes
A diminuição da biomassa de peixes pode limitar o potencial da pesca desportiva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35275B44-D6F7-CFA2-1851-512FB0F4E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3935" y="1881233"/>
            <a:ext cx="3173068" cy="18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Dive Tribe – Diving in Sao Tome">
            <a:extLst>
              <a:ext uri="{FF2B5EF4-FFF2-40B4-BE49-F238E27FC236}">
                <a16:creationId xmlns:a16="http://schemas.microsoft.com/office/drawing/2014/main" id="{7F0F08A0-A128-D005-5636-67A9760F0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483" y="4448963"/>
            <a:ext cx="1988345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ao Tome and Principe endorses first ever fisheries management plan">
            <a:extLst>
              <a:ext uri="{FF2B5EF4-FFF2-40B4-BE49-F238E27FC236}">
                <a16:creationId xmlns:a16="http://schemas.microsoft.com/office/drawing/2014/main" id="{F0BAB39A-0BA0-2FEE-8D39-89FB8F1D84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959"/>
          <a:stretch>
            <a:fillRect/>
          </a:stretch>
        </p:blipFill>
        <p:spPr bwMode="auto">
          <a:xfrm>
            <a:off x="6693999" y="4324066"/>
            <a:ext cx="2137180" cy="1515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329EDD-E1DE-341B-B5B5-DD33EB89386D}"/>
              </a:ext>
            </a:extLst>
          </p:cNvPr>
          <p:cNvCxnSpPr>
            <a:cxnSpLocks/>
          </p:cNvCxnSpPr>
          <p:nvPr/>
        </p:nvCxnSpPr>
        <p:spPr>
          <a:xfrm flipH="1">
            <a:off x="8940208" y="5039329"/>
            <a:ext cx="456429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34D122-7177-1786-F5D8-4A0881EE0508}"/>
              </a:ext>
            </a:extLst>
          </p:cNvPr>
          <p:cNvCxnSpPr>
            <a:cxnSpLocks/>
          </p:cNvCxnSpPr>
          <p:nvPr/>
        </p:nvCxnSpPr>
        <p:spPr>
          <a:xfrm>
            <a:off x="9926053" y="3897993"/>
            <a:ext cx="252646" cy="403475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46C8BA-4875-9A97-972B-4E22BC78C3CB}"/>
              </a:ext>
            </a:extLst>
          </p:cNvPr>
          <p:cNvCxnSpPr>
            <a:cxnSpLocks/>
          </p:cNvCxnSpPr>
          <p:nvPr/>
        </p:nvCxnSpPr>
        <p:spPr>
          <a:xfrm flipH="1">
            <a:off x="8129320" y="3797293"/>
            <a:ext cx="280753" cy="44629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5631DF3-2DE5-194A-F881-8D909B9986FF}"/>
              </a:ext>
            </a:extLst>
          </p:cNvPr>
          <p:cNvCxnSpPr>
            <a:cxnSpLocks/>
          </p:cNvCxnSpPr>
          <p:nvPr/>
        </p:nvCxnSpPr>
        <p:spPr>
          <a:xfrm>
            <a:off x="8967530" y="5348139"/>
            <a:ext cx="456429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714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6610C-9F81-71DF-EA4B-1EC082B7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F512-D779-89F1-A894-01317A55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para a adaptação da economia azul – ecoturismo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4086D-8EC6-89C8-C7D9-3ECF52BEF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002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CD88A0-CDB1-FB08-705D-817D905941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F5A31A-250D-DD1C-834B-678ED2C77E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174A86-5782-CDEE-559D-282D193BA9B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C1BA871-D8CB-BAC8-6BAF-84F42892087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Modular Artificial Reef Structure (MARS) | REEF DESIGN LAB">
            <a:extLst>
              <a:ext uri="{FF2B5EF4-FFF2-40B4-BE49-F238E27FC236}">
                <a16:creationId xmlns:a16="http://schemas.microsoft.com/office/drawing/2014/main" id="{68A688B8-C3A4-E99A-69A8-5D8797C0B9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r="21561"/>
          <a:stretch>
            <a:fillRect/>
          </a:stretch>
        </p:blipFill>
        <p:spPr bwMode="auto">
          <a:xfrm>
            <a:off x="5855974" y="4051556"/>
            <a:ext cx="2608050" cy="198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D7FE3-CE99-138E-79AF-308F8AC83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348029"/>
              </p:ext>
            </p:extLst>
          </p:nvPr>
        </p:nvGraphicFramePr>
        <p:xfrm>
          <a:off x="1159198" y="2375299"/>
          <a:ext cx="3875408" cy="28498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875408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600" dirty="0"/>
                        <a:t>Avaliações da vulnerabilidade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 saúde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Identificação de áreas protegidas contra tempestades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das variáveis oceânicas para vulnerabilidade aos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 de viveiros de coral para transplante em áreas danificadas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recifes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artificiais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65C43C1-C7BA-C764-DC88-33D3E1F25FA6}"/>
              </a:ext>
            </a:extLst>
          </p:cNvPr>
          <p:cNvSpPr txBox="1"/>
          <p:nvPr/>
        </p:nvSpPr>
        <p:spPr>
          <a:xfrm>
            <a:off x="5855974" y="1827213"/>
            <a:ext cx="56495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proteção dos corais é um dos principais focos financiados pelo GCF </a:t>
            </a:r>
            <a:r>
              <a:rPr lang="en-GB" dirty="0"/>
              <a:t>“</a:t>
            </a:r>
            <a:r>
              <a:rPr lang="en-GB" b="1" dirty="0"/>
              <a:t>Global Fund for Coral Reefs Investment Window</a:t>
            </a:r>
            <a:r>
              <a:rPr lang="en-GB" dirty="0"/>
              <a:t>” </a:t>
            </a:r>
            <a:r>
              <a:rPr lang="en-GB" dirty="0" err="1"/>
              <a:t>aprovado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2021</a:t>
            </a:r>
          </a:p>
          <a:p>
            <a:r>
              <a:rPr lang="pt-BR" dirty="0"/>
              <a:t>Os primeiros recifes artificiais foram instalados em São Tomé no início de 2022 por </a:t>
            </a:r>
            <a:r>
              <a:rPr lang="en-GB" dirty="0"/>
              <a:t>MARAPA e o </a:t>
            </a:r>
            <a:r>
              <a:rPr lang="en-GB" dirty="0" err="1"/>
              <a:t>Programa</a:t>
            </a:r>
            <a:r>
              <a:rPr lang="en-GB" dirty="0"/>
              <a:t> </a:t>
            </a:r>
            <a:r>
              <a:rPr lang="en-GB" dirty="0" err="1"/>
              <a:t>Tatô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4" name="Picture 2" descr="Coral Nurseries | Reef Resilience Network">
            <a:extLst>
              <a:ext uri="{FF2B5EF4-FFF2-40B4-BE49-F238E27FC236}">
                <a16:creationId xmlns:a16="http://schemas.microsoft.com/office/drawing/2014/main" id="{C610B6FF-5A08-92A0-8C8A-BF7DEC6D4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58" y="3999957"/>
            <a:ext cx="2077665" cy="2268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979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8D7C5-7980-51E6-031B-123AACB0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1E8BA37-7749-02F0-51CD-241EFF99985D}"/>
              </a:ext>
            </a:extLst>
          </p:cNvPr>
          <p:cNvSpPr/>
          <p:nvPr/>
        </p:nvSpPr>
        <p:spPr>
          <a:xfrm>
            <a:off x="7194885" y="2039048"/>
            <a:ext cx="4030579" cy="186489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9E1F9-454A-99D2-8FC8-4C2D090DD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Tourism adaptation recommendations – eco-tourism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05CEA-46D7-A052-19BB-830F42FE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7DC198-BEEE-C17F-158A-D80DE04919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98806D9-5A4A-2B22-1971-7034DCF61FA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440086-A830-ABC3-C412-C3E8F5C6686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8E5BE8-9787-A5EB-BED8-B3CFBE1CA8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Green Fins">
            <a:extLst>
              <a:ext uri="{FF2B5EF4-FFF2-40B4-BE49-F238E27FC236}">
                <a16:creationId xmlns:a16="http://schemas.microsoft.com/office/drawing/2014/main" id="{BEF62EA1-35FA-4CA8-DFEE-48753EEE3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884" y="2056527"/>
            <a:ext cx="4042611" cy="18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D2B47E-2C49-A631-2A9C-27D835CDADBB}"/>
              </a:ext>
            </a:extLst>
          </p:cNvPr>
          <p:cNvSpPr txBox="1"/>
          <p:nvPr/>
        </p:nvSpPr>
        <p:spPr>
          <a:xfrm>
            <a:off x="7339263" y="4279369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Estas sugestões estão em linha com as orientações de </a:t>
            </a:r>
            <a:r>
              <a:rPr lang="en-GB" b="1" dirty="0"/>
              <a:t>Green Fins </a:t>
            </a:r>
            <a:r>
              <a:rPr lang="en-GB" dirty="0"/>
              <a:t>– </a:t>
            </a:r>
            <a:r>
              <a:rPr lang="pt-BR" dirty="0"/>
              <a:t>projeto internacionalmente reconhecido implementado pela Fundação Reef-World e pelo Programa das Nações Unidas para o Ambiente</a:t>
            </a:r>
            <a:endParaRPr lang="en-GB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2858EC5-9D23-D117-7E85-8CB645B3E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546652"/>
              </p:ext>
            </p:extLst>
          </p:nvPr>
        </p:nvGraphicFramePr>
        <p:xfrm>
          <a:off x="890193" y="1867667"/>
          <a:ext cx="5197642" cy="21344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Código de conduta para mergulho sustentável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Limitações no número de mergulhadores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Política de não tocar para corais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Uso obrigatório de protetor solar seguro para recifes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Práticas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sustentáveis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ancoragem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Educação para turistas e guias sobre o impacto ambiental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044FF32-7A66-66C5-F732-A704ED717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111252"/>
              </p:ext>
            </p:extLst>
          </p:nvPr>
        </p:nvGraphicFramePr>
        <p:xfrm>
          <a:off x="890193" y="4150736"/>
          <a:ext cx="5197642" cy="221325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/>
                        <a:t>Quadro </a:t>
                      </a:r>
                      <a:r>
                        <a:rPr lang="en-GB" sz="1600" dirty="0" err="1"/>
                        <a:t>regulatório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Licenciamento ou autorização para operadores de mergulho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Critérios mínimos de sustentabilidade e segurança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Designação de zonas proibidas de pesca ou recreativas restritas nos recifes mais sensíveis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Monitorização, aplicação e sanções para danos ambientais comprovados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269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B352A-2634-3562-A09A-4FB4B4D1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E6F6-022C-D801-1638-5A500899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para o turismo e adaptação das pescas – pesca desportiva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13851B-CD58-CE20-8E81-3BF14A6D1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2466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F0F37-8CC1-23AF-3A94-79651DAB901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0D7234-5031-99F1-974E-2AE0E752C0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DB0-65D0-B50C-59A9-1F6FCB3F656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577E05-CE3D-545A-D862-AF5560E9913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Yellowfin Tuna - Species Guide">
            <a:extLst>
              <a:ext uri="{FF2B5EF4-FFF2-40B4-BE49-F238E27FC236}">
                <a16:creationId xmlns:a16="http://schemas.microsoft.com/office/drawing/2014/main" id="{212BE09D-7D1E-B49D-C2B8-8C82301C3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94"/>
          <a:stretch>
            <a:fillRect/>
          </a:stretch>
        </p:blipFill>
        <p:spPr bwMode="auto">
          <a:xfrm>
            <a:off x="6931025" y="4632241"/>
            <a:ext cx="1908175" cy="154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E677F2-B7A2-29EF-E00B-60955A9B7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0947"/>
              </p:ext>
            </p:extLst>
          </p:nvPr>
        </p:nvGraphicFramePr>
        <p:xfrm>
          <a:off x="864106" y="2288680"/>
          <a:ext cx="5231894" cy="37762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regulatório para a pesca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Criação de zonas de pesca desportiva com base em estudos ecológicos existentes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Licenças obrigatórias para pesca amadora e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Respeito pela época fechada (épocas de reprodução)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44287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e tamanhos mínimos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469339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Proibição da pesca de espécies em perigo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836392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Registo de capturas e envios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50106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Exigir guias certificados e embarcações seguras e marinheiras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79515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 err="1"/>
                        <a:t>Inspeção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ambiental</a:t>
                      </a:r>
                      <a:r>
                        <a:rPr lang="en-GB" sz="1600" dirty="0"/>
                        <a:t> e </a:t>
                      </a:r>
                      <a:r>
                        <a:rPr lang="en-GB" sz="1600" dirty="0" err="1"/>
                        <a:t>marítima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5118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D776C76-1700-43CC-D754-D3274FEB4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077471"/>
              </p:ext>
            </p:extLst>
          </p:nvPr>
        </p:nvGraphicFramePr>
        <p:xfrm>
          <a:off x="6931025" y="2213488"/>
          <a:ext cx="4422776" cy="2133600"/>
        </p:xfrm>
        <a:graphic>
          <a:graphicData uri="http://schemas.openxmlformats.org/drawingml/2006/table">
            <a:tbl>
              <a:tblPr firstRow="1" firstCol="1" bandRow="1"/>
              <a:tblGrid>
                <a:gridCol w="2211388">
                  <a:extLst>
                    <a:ext uri="{9D8B030D-6E8A-4147-A177-3AD203B41FA5}">
                      <a16:colId xmlns:a16="http://schemas.microsoft.com/office/drawing/2014/main" val="2795396303"/>
                    </a:ext>
                  </a:extLst>
                </a:gridCol>
                <a:gridCol w="2211388">
                  <a:extLst>
                    <a:ext uri="{9D8B030D-6E8A-4147-A177-3AD203B41FA5}">
                      <a16:colId xmlns:a16="http://schemas.microsoft.com/office/drawing/2014/main" val="2966034151"/>
                    </a:ext>
                  </a:extLst>
                </a:gridCol>
              </a:tblGrid>
              <a:tr h="21118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País/Destino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Regulamentação</a:t>
                      </a: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e Serviços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261616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Costa Rica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Licenças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obrigatórias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áreas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protegidas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692851"/>
                  </a:ext>
                </a:extLst>
              </a:tr>
              <a:tr h="62747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Brazil (Pantanal)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Inscrição de pescadores amadores, época fechada, limites de captura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593215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Mauritius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Torneios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regulados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alojamento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ecológico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826632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Portugal (Azores)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Licenciamento de pesca e turismo, inspeção ambiental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128047"/>
                  </a:ext>
                </a:extLst>
              </a:tr>
            </a:tbl>
          </a:graphicData>
        </a:graphic>
      </p:graphicFrame>
      <p:pic>
        <p:nvPicPr>
          <p:cNvPr id="4098" name="Picture 2" descr="Deep Sea Fishing - Fishing Techniques | Guidesly">
            <a:extLst>
              <a:ext uri="{FF2B5EF4-FFF2-40B4-BE49-F238E27FC236}">
                <a16:creationId xmlns:a16="http://schemas.microsoft.com/office/drawing/2014/main" id="{B14F7D38-59BE-0BF8-0D6B-C12E44B03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799" y="4647000"/>
            <a:ext cx="2057401" cy="15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305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6A5532-6683-13E3-C265-43BA25C5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A93C80A-C674-1DBB-5305-06A8E4C7EF58}"/>
              </a:ext>
            </a:extLst>
          </p:cNvPr>
          <p:cNvGrpSpPr/>
          <p:nvPr/>
        </p:nvGrpSpPr>
        <p:grpSpPr>
          <a:xfrm>
            <a:off x="-14068" y="-21659"/>
            <a:ext cx="12393386" cy="1611307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FDE89E6-8A6E-EC4E-E986-BBD249F52F1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16B3FB0-E509-4B22-624E-E9AC14B7624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itle 2">
            <a:extLst>
              <a:ext uri="{FF2B5EF4-FFF2-40B4-BE49-F238E27FC236}">
                <a16:creationId xmlns:a16="http://schemas.microsoft.com/office/drawing/2014/main" id="{A9C56575-D07C-0F96-5881-6F5315AFD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0036" y="2365050"/>
            <a:ext cx="4852615" cy="2376264"/>
          </a:xfrm>
        </p:spPr>
        <p:txBody>
          <a:bodyPr>
            <a:noAutofit/>
          </a:bodyPr>
          <a:lstStyle/>
          <a:p>
            <a:r>
              <a:rPr lang="en-US" sz="48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Obrigado</a:t>
            </a:r>
            <a:endParaRPr lang="en-US" sz="48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EF1EDE0D-99E4-90B7-BDA1-FECF18E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1699003" y="2950234"/>
            <a:ext cx="4286633" cy="142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29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2487</TotalTime>
  <Words>797</Words>
  <Application>Microsoft Office PowerPoint</Application>
  <PresentationFormat>Widescreen</PresentationFormat>
  <Paragraphs>98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Resumo das conclusões do relatório</vt:lpstr>
      <vt:lpstr>Recomendações de adaptação às pescas – infraestruturas</vt:lpstr>
      <vt:lpstr>Recomendações de adaptação às pescas – proteção das espécies de peixes</vt:lpstr>
      <vt:lpstr>Tourism adaptation recommendations – coastal erosion</vt:lpstr>
      <vt:lpstr>Recomendações de adaptação para a economia azul</vt:lpstr>
      <vt:lpstr>Recomendações para a adaptação da economia azul – ecoturismo</vt:lpstr>
      <vt:lpstr>Tourism adaptation recommendations – eco-tourism</vt:lpstr>
      <vt:lpstr>Recomendações para o turismo e adaptação das pescas – pesca desportiva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Greenrod, Samuel (OCBD)</cp:lastModifiedBy>
  <cp:revision>21</cp:revision>
  <dcterms:created xsi:type="dcterms:W3CDTF">2022-11-03T10:54:55Z</dcterms:created>
  <dcterms:modified xsi:type="dcterms:W3CDTF">2025-11-27T16:31:24Z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