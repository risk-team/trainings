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8" r:id="rId5"/>
    <p:sldId id="273" r:id="rId6"/>
    <p:sldId id="304" r:id="rId7"/>
    <p:sldId id="298" r:id="rId8"/>
    <p:sldId id="299" r:id="rId9"/>
    <p:sldId id="297" r:id="rId10"/>
    <p:sldId id="300" r:id="rId11"/>
    <p:sldId id="295" r:id="rId12"/>
    <p:sldId id="296" r:id="rId13"/>
    <p:sldId id="305" r:id="rId14"/>
    <p:sldId id="322" r:id="rId15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13345-9002-474F-93B6-F968F57B4A55}" v="80" dt="2025-11-27T16:31:16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07"/>
    <p:restoredTop sz="83051" autoAdjust="0"/>
  </p:normalViewPr>
  <p:slideViewPr>
    <p:cSldViewPr snapToGrid="0">
      <p:cViewPr varScale="1">
        <p:scale>
          <a:sx n="68" d="100"/>
          <a:sy n="68" d="100"/>
        </p:scale>
        <p:origin x="13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20C3C022-8956-41D8-B9EF-F034660AD755}"/>
    <pc:docChg chg="custSel delSld modSld">
      <pc:chgData name="Greenrod, Samuel (OCBD)" userId="2206092a-8a12-487a-a963-cafe9a401430" providerId="ADAL" clId="{20C3C022-8956-41D8-B9EF-F034660AD755}" dt="2025-11-27T16:31:18.086" v="55" actId="1076"/>
      <pc:docMkLst>
        <pc:docMk/>
      </pc:docMkLst>
      <pc:sldChg chg="modSp mod">
        <pc:chgData name="Greenrod, Samuel (OCBD)" userId="2206092a-8a12-487a-a963-cafe9a401430" providerId="ADAL" clId="{20C3C022-8956-41D8-B9EF-F034660AD755}" dt="2025-11-27T16:31:18.086" v="55" actId="1076"/>
        <pc:sldMkLst>
          <pc:docMk/>
          <pc:sldMk cId="360929713" sldId="260"/>
        </pc:sldMkLst>
        <pc:spChg chg="mod">
          <ac:chgData name="Greenrod, Samuel (OCBD)" userId="2206092a-8a12-487a-a963-cafe9a401430" providerId="ADAL" clId="{20C3C022-8956-41D8-B9EF-F034660AD755}" dt="2025-11-27T16:31:18.086" v="55" actId="1076"/>
          <ac:spMkLst>
            <pc:docMk/>
            <pc:sldMk cId="360929713" sldId="260"/>
            <ac:spMk id="14" creationId="{A9C56575-D07C-0F96-5881-6F5315AFDB1C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5:48.388" v="20" actId="27636"/>
        <pc:sldMkLst>
          <pc:docMk/>
          <pc:sldMk cId="695527983" sldId="273"/>
        </pc:sldMkLst>
        <pc:spChg chg="mod">
          <ac:chgData name="Greenrod, Samuel (OCBD)" userId="2206092a-8a12-487a-a963-cafe9a401430" providerId="ADAL" clId="{20C3C022-8956-41D8-B9EF-F034660AD755}" dt="2025-11-27T16:05:48.388" v="20" actId="27636"/>
          <ac:spMkLst>
            <pc:docMk/>
            <pc:sldMk cId="695527983" sldId="273"/>
            <ac:spMk id="13" creationId="{81127B1F-DAD1-37A5-0BFC-02891766461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5:22.551" v="3" actId="20577"/>
        <pc:sldMkLst>
          <pc:docMk/>
          <pc:sldMk cId="2718756868" sldId="278"/>
        </pc:sldMkLst>
        <pc:spChg chg="mod">
          <ac:chgData name="Greenrod, Samuel (OCBD)" userId="2206092a-8a12-487a-a963-cafe9a401430" providerId="ADAL" clId="{20C3C022-8956-41D8-B9EF-F034660AD755}" dt="2025-11-27T16:05:18.517" v="2" actId="1076"/>
          <ac:spMkLst>
            <pc:docMk/>
            <pc:sldMk cId="2718756868" sldId="278"/>
            <ac:spMk id="2" creationId="{CA7A74D7-F4EA-CF5E-D552-74464B3CD55E}"/>
          </ac:spMkLst>
        </pc:spChg>
        <pc:spChg chg="mod">
          <ac:chgData name="Greenrod, Samuel (OCBD)" userId="2206092a-8a12-487a-a963-cafe9a401430" providerId="ADAL" clId="{20C3C022-8956-41D8-B9EF-F034660AD755}" dt="2025-11-27T16:05:22.551" v="3" actId="20577"/>
          <ac:spMkLst>
            <pc:docMk/>
            <pc:sldMk cId="2718756868" sldId="278"/>
            <ac:spMk id="3" creationId="{B65361E7-4E15-CD6C-8E77-8F89B5B7D55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21:02.974" v="37" actId="20577"/>
        <pc:sldMkLst>
          <pc:docMk/>
          <pc:sldMk cId="1642788035" sldId="295"/>
        </pc:sldMkLst>
        <pc:spChg chg="mod">
          <ac:chgData name="Greenrod, Samuel (OCBD)" userId="2206092a-8a12-487a-a963-cafe9a401430" providerId="ADAL" clId="{20C3C022-8956-41D8-B9EF-F034660AD755}" dt="2025-11-27T16:20:41.130" v="33" actId="12"/>
          <ac:spMkLst>
            <pc:docMk/>
            <pc:sldMk cId="1642788035" sldId="295"/>
            <ac:spMk id="15" creationId="{CA0C5987-26A0-C542-9B1F-1EAB4BB2D8D4}"/>
          </ac:spMkLst>
        </pc:spChg>
        <pc:graphicFrameChg chg="mod modGraphic">
          <ac:chgData name="Greenrod, Samuel (OCBD)" userId="2206092a-8a12-487a-a963-cafe9a401430" providerId="ADAL" clId="{20C3C022-8956-41D8-B9EF-F034660AD755}" dt="2025-11-27T16:21:02.974" v="37" actId="20577"/>
          <ac:graphicFrameMkLst>
            <pc:docMk/>
            <pc:sldMk cId="1642788035" sldId="295"/>
            <ac:graphicFrameMk id="3" creationId="{C49EA184-77B1-09E6-0378-6B1237782B02}"/>
          </ac:graphicFrameMkLst>
        </pc:graphicFrameChg>
        <pc:picChg chg="mod">
          <ac:chgData name="Greenrod, Samuel (OCBD)" userId="2206092a-8a12-487a-a963-cafe9a401430" providerId="ADAL" clId="{20C3C022-8956-41D8-B9EF-F034660AD755}" dt="2025-11-27T16:20:43.267" v="34" actId="1076"/>
          <ac:picMkLst>
            <pc:docMk/>
            <pc:sldMk cId="1642788035" sldId="295"/>
            <ac:picMk id="1028" creationId="{DB3C2663-889D-E34F-A8AD-02CBCE6442BB}"/>
          </ac:picMkLst>
        </pc:picChg>
      </pc:sldChg>
      <pc:sldChg chg="modSp mod">
        <pc:chgData name="Greenrod, Samuel (OCBD)" userId="2206092a-8a12-487a-a963-cafe9a401430" providerId="ADAL" clId="{20C3C022-8956-41D8-B9EF-F034660AD755}" dt="2025-11-27T16:30:00.859" v="51" actId="1076"/>
        <pc:sldMkLst>
          <pc:docMk/>
          <pc:sldMk cId="222979080" sldId="296"/>
        </pc:sldMkLst>
        <pc:spChg chg="mod">
          <ac:chgData name="Greenrod, Samuel (OCBD)" userId="2206092a-8a12-487a-a963-cafe9a401430" providerId="ADAL" clId="{20C3C022-8956-41D8-B9EF-F034660AD755}" dt="2025-11-27T16:29:44.026" v="50"/>
          <ac:spMkLst>
            <pc:docMk/>
            <pc:sldMk cId="222979080" sldId="296"/>
            <ac:spMk id="12" creationId="{A65C43C1-C7BA-C764-DC88-33D3E1F25FA6}"/>
          </ac:spMkLst>
        </pc:spChg>
        <pc:graphicFrameChg chg="mod">
          <ac:chgData name="Greenrod, Samuel (OCBD)" userId="2206092a-8a12-487a-a963-cafe9a401430" providerId="ADAL" clId="{20C3C022-8956-41D8-B9EF-F034660AD755}" dt="2025-11-27T16:30:00.859" v="51" actId="1076"/>
          <ac:graphicFrameMkLst>
            <pc:docMk/>
            <pc:sldMk cId="222979080" sldId="296"/>
            <ac:graphicFrameMk id="3" creationId="{173D7FE3-CE99-138E-79AF-308F8AC83C55}"/>
          </ac:graphicFrameMkLst>
        </pc:graphicFrameChg>
      </pc:sldChg>
      <pc:sldChg chg="modSp mod">
        <pc:chgData name="Greenrod, Samuel (OCBD)" userId="2206092a-8a12-487a-a963-cafe9a401430" providerId="ADAL" clId="{20C3C022-8956-41D8-B9EF-F034660AD755}" dt="2025-11-27T16:30:29.920" v="53" actId="20577"/>
        <pc:sldMkLst>
          <pc:docMk/>
          <pc:sldMk cId="1167269146" sldId="297"/>
        </pc:sldMkLst>
        <pc:spChg chg="mod">
          <ac:chgData name="Greenrod, Samuel (OCBD)" userId="2206092a-8a12-487a-a963-cafe9a401430" providerId="ADAL" clId="{20C3C022-8956-41D8-B9EF-F034660AD755}" dt="2025-11-27T16:30:29.920" v="53" actId="20577"/>
          <ac:spMkLst>
            <pc:docMk/>
            <pc:sldMk cId="1167269146" sldId="297"/>
            <ac:spMk id="7" creationId="{A1D2B47E-2C49-A631-2A9C-27D835CDADBB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18:32.469" v="27" actId="113"/>
        <pc:sldMkLst>
          <pc:docMk/>
          <pc:sldMk cId="2549979351" sldId="299"/>
        </pc:sldMkLst>
        <pc:spChg chg="mod">
          <ac:chgData name="Greenrod, Samuel (OCBD)" userId="2206092a-8a12-487a-a963-cafe9a401430" providerId="ADAL" clId="{20C3C022-8956-41D8-B9EF-F034660AD755}" dt="2025-11-27T16:06:19.228" v="21" actId="1076"/>
          <ac:spMkLst>
            <pc:docMk/>
            <pc:sldMk cId="2549979351" sldId="299"/>
            <ac:spMk id="2" creationId="{22FC65F6-183C-90BA-48FA-9ED506E01053}"/>
          </ac:spMkLst>
        </pc:spChg>
        <pc:spChg chg="mod">
          <ac:chgData name="Greenrod, Samuel (OCBD)" userId="2206092a-8a12-487a-a963-cafe9a401430" providerId="ADAL" clId="{20C3C022-8956-41D8-B9EF-F034660AD755}" dt="2025-11-27T16:18:32.469" v="27" actId="113"/>
          <ac:spMkLst>
            <pc:docMk/>
            <pc:sldMk cId="2549979351" sldId="299"/>
            <ac:spMk id="16" creationId="{8A341B6C-9AB2-90A5-156F-65588AE8B6A7}"/>
          </ac:spMkLst>
        </pc:spChg>
        <pc:graphicFrameChg chg="mod">
          <ac:chgData name="Greenrod, Samuel (OCBD)" userId="2206092a-8a12-487a-a963-cafe9a401430" providerId="ADAL" clId="{20C3C022-8956-41D8-B9EF-F034660AD755}" dt="2025-11-27T16:06:29.099" v="22" actId="1076"/>
          <ac:graphicFrameMkLst>
            <pc:docMk/>
            <pc:sldMk cId="2549979351" sldId="299"/>
            <ac:graphicFrameMk id="7" creationId="{50627182-D576-A734-A0DA-9476F22504DC}"/>
          </ac:graphicFrameMkLst>
        </pc:graphicFrameChg>
      </pc:sldChg>
      <pc:sldChg chg="del">
        <pc:chgData name="Greenrod, Samuel (OCBD)" userId="2206092a-8a12-487a-a963-cafe9a401430" providerId="ADAL" clId="{20C3C022-8956-41D8-B9EF-F034660AD755}" dt="2025-11-27T16:31:12.861" v="54" actId="47"/>
        <pc:sldMkLst>
          <pc:docMk/>
          <pc:sldMk cId="956540272" sldId="302"/>
        </pc:sldMkLst>
      </pc:sldChg>
      <pc:sldChg chg="modSp mod">
        <pc:chgData name="Greenrod, Samuel (OCBD)" userId="2206092a-8a12-487a-a963-cafe9a401430" providerId="ADAL" clId="{20C3C022-8956-41D8-B9EF-F034660AD755}" dt="2025-11-27T16:21:14.869" v="44" actId="27636"/>
        <pc:sldMkLst>
          <pc:docMk/>
          <pc:sldMk cId="1557714722" sldId="303"/>
        </pc:sldMkLst>
        <pc:spChg chg="mod">
          <ac:chgData name="Greenrod, Samuel (OCBD)" userId="2206092a-8a12-487a-a963-cafe9a401430" providerId="ADAL" clId="{20C3C022-8956-41D8-B9EF-F034660AD755}" dt="2025-11-27T16:21:14.869" v="44" actId="27636"/>
          <ac:spMkLst>
            <pc:docMk/>
            <pc:sldMk cId="1557714722" sldId="303"/>
            <ac:spMk id="13" creationId="{C803D0AD-8CFC-2F9F-ED16-8657BE54EC09}"/>
          </ac:spMkLst>
        </pc:spChg>
      </pc:sldChg>
    </pc:docChg>
  </pc:docChgLst>
</pc:chgInfo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5309B-12D6-8240-AE7D-DF18D3AE4A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85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794" y="2094933"/>
            <a:ext cx="943841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Alterações climáticas e impactos das alterações climáticas em São Tomé e Príncipe, com foco nos setores da pesca e turismo no contexto da Economia Azul</a:t>
            </a:r>
            <a:b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São Tomé e Príncipe, novembro/dezembro de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Recomendações</a:t>
            </a:r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de </a:t>
            </a:r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adaptação</a:t>
            </a:r>
            <a:endParaRPr lang="en-GB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ACDE-10C9-F045-7191-964BE52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97C-7B53-C082-54D7-4837292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7520796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 das conclusões do relatório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8F31-5BAA-7915-FB6D-93ACC08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483" y="62977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B2F92-30E2-9EF6-6876-03ACDD576A2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84171E-B5D6-D2D3-50B9-C9F54F0A61D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7E42CE-9992-223A-66F5-67C895479C6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80E5E99-848A-96C2-25A0-1EBCC47763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127B1F-DAD1-37A5-0BFC-02891766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 fontScale="85000" lnSpcReduction="2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Espera-se que as futuras alterações climáticas afetem negativamente a economia azul no STP
As mudanças nas condições oceânicas são projetadas para reduzir a disponibilidade de peixes e as capturas
Espera-se que o aumento das temperaturas piore a experiência dos turistas e provoque erosão costeira devido à elevação do nível do mar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Os impactos climáticos são agravados pelas atividades humanas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Danos aos recifes de coral podem afetar berçários de peixes
A pesca excessiva pode agravar a perda de biomassa de peixes baseada no clima
A sobrepesca pode limitar o potencial da pesca esportiva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aph of sea level rise&#10;&#10;AI-generated content may be incorrect.">
            <a:extLst>
              <a:ext uri="{FF2B5EF4-FFF2-40B4-BE49-F238E27FC236}">
                <a16:creationId xmlns:a16="http://schemas.microsoft.com/office/drawing/2014/main" id="{04BCB312-8A09-CB15-7037-8087C958C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803" y="4404479"/>
            <a:ext cx="1893313" cy="1893313"/>
          </a:xfrm>
          <a:prstGeom prst="rect">
            <a:avLst/>
          </a:prstGeom>
        </p:spPr>
      </p:pic>
      <p:pic>
        <p:nvPicPr>
          <p:cNvPr id="11" name="Picture 10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739226F7-DF6B-FEDC-507F-0CBDD42C6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277" y="4345920"/>
            <a:ext cx="2233206" cy="2010430"/>
          </a:xfrm>
          <a:prstGeom prst="rect">
            <a:avLst/>
          </a:prstGeom>
        </p:spPr>
      </p:pic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DA339A0B-4E3E-4ADD-2976-170B6B2A4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49744" b="5019"/>
          <a:stretch>
            <a:fillRect/>
          </a:stretch>
        </p:blipFill>
        <p:spPr>
          <a:xfrm>
            <a:off x="8328931" y="1771068"/>
            <a:ext cx="2818390" cy="2010430"/>
          </a:xfrm>
          <a:prstGeom prst="rect">
            <a:avLst/>
          </a:prstGeom>
        </p:spPr>
      </p:pic>
      <p:pic>
        <p:nvPicPr>
          <p:cNvPr id="15" name="Picture 14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92FEC3E6-84FA-EA9A-D203-6F8F5AE8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364" t="-807" b="93225"/>
          <a:stretch>
            <a:fillRect/>
          </a:stretch>
        </p:blipFill>
        <p:spPr>
          <a:xfrm>
            <a:off x="8328931" y="1497550"/>
            <a:ext cx="2818390" cy="336946"/>
          </a:xfrm>
          <a:prstGeom prst="rect">
            <a:avLst/>
          </a:prstGeom>
        </p:spPr>
      </p:pic>
      <p:pic>
        <p:nvPicPr>
          <p:cNvPr id="16" name="Picture 15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7E636B2-D438-BB5C-7EE2-043455E78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5" t="49744" r="75383" b="5019"/>
          <a:stretch>
            <a:fillRect/>
          </a:stretch>
        </p:blipFill>
        <p:spPr>
          <a:xfrm>
            <a:off x="6877277" y="1771068"/>
            <a:ext cx="1518250" cy="2010430"/>
          </a:xfrm>
          <a:prstGeom prst="rect">
            <a:avLst/>
          </a:prstGeom>
        </p:spPr>
      </p:pic>
      <p:pic>
        <p:nvPicPr>
          <p:cNvPr id="17" name="Picture 16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CB784087-E911-000B-9FAF-3C0F50C67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296" t="94780" r="19316" b="1412"/>
          <a:stretch>
            <a:fillRect/>
          </a:stretch>
        </p:blipFill>
        <p:spPr>
          <a:xfrm>
            <a:off x="8204387" y="3811244"/>
            <a:ext cx="2942934" cy="1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2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E51E-C087-7B85-2394-28658554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E717-6885-29FD-5254-DBD0CEAD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7520796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Adaptação climática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79C04-9454-4375-79F9-17CC549C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483" y="62977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3715DF-8FE3-64F4-C8A5-40094E43095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DDD972-A343-C507-3CA5-39FB62121B7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EE824-E646-0FB2-5BFA-1C152BF04C4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79D666B-5B13-92B7-8830-3D0E1E0F7D2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2BDF0D3-6E43-5A30-B8E3-984C02711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Os impactos das mudanças climáticas podem ser compensados por meio da adaptação: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Desenvolvimento de infraestrutura
Estabelecimento de estratégias de gestão
Construção de defesas costeiras
Restauração ecológica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As opções de adaptação foram identificadas por meio de consultas com consultores nacionais e revisão de projetos bem-sucedidos
Durante o projeto de projeto, as opções preferidas serão integradas a uma estratégia mais geral de adaptação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green and blue icon&#10;&#10;AI-generated content may be incorrect.">
            <a:extLst>
              <a:ext uri="{FF2B5EF4-FFF2-40B4-BE49-F238E27FC236}">
                <a16:creationId xmlns:a16="http://schemas.microsoft.com/office/drawing/2014/main" id="{F39E8C96-D90C-C309-E040-75086789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022" y="1827213"/>
            <a:ext cx="4162778" cy="41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F05B-C2BF-34D5-A138-A6EA4C11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1C08-D573-8126-846C-D12A3E8A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Desenvolvimento da infraestrutura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92FA825-10D4-3B4A-755C-C3244597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FEB1-F4A5-7985-DC87-508ED56D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194A2F-FE0F-7B40-C78D-6115237368D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9CEB76-705F-1751-2B8B-AA71FF66F8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C878FA-2A1A-1DB3-AC8E-50C50DA329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7F006A1-3516-7DD7-0A9E-2C38C677C1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3BF82E-432B-CBB8-1A09-2D36FF8D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424" y="1855543"/>
            <a:ext cx="3019733" cy="40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1E2DF8-69A1-7832-1CF0-4E64D3237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95775"/>
              </p:ext>
            </p:extLst>
          </p:nvPr>
        </p:nvGraphicFramePr>
        <p:xfrm>
          <a:off x="1064393" y="2048837"/>
          <a:ext cx="5231894" cy="381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 err="1"/>
                        <a:t>Desenvolvimento</a:t>
                      </a:r>
                      <a:r>
                        <a:rPr lang="en-GB" sz="1600" dirty="0"/>
                        <a:t> da </a:t>
                      </a:r>
                      <a:r>
                        <a:rPr lang="en-GB" sz="1600" dirty="0" err="1"/>
                        <a:t>infraestrutura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pesqueira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Construção de portos de pesca adicionais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Construção de mercados de retalho distritais com equipamento de refrigeração adequado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Construção de uma oficina para a construção de barcos de pesca melhorados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Construir uma unidade de fabrico de materiais essenciais para a pesca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pt-BR" sz="1600" dirty="0"/>
                        <a:t>Desenvolvimento de regras oficiais de armazenamento e preparação de alimentos.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pt-BR" sz="1600" dirty="0"/>
                        <a:t>Desenvolvimento de redes rodoviárias entre portos de pesca e mercados e investimento em veículos refrigerados para transporte seguro de peixe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587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6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7CB1-8F06-F571-26CA-06981ED4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65F6-183C-90BA-48FA-9ED506E0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91" y="547456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Estratégia de gestão- proteção das espécies de peixes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BCD9D-2CFE-C09C-4EE3-F12139C4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6815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AA5F94-6008-1F3B-9BE4-3C32A5942D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A08FD4-5584-8ABF-FA61-DA3CE574119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F92B15-07B4-7CB8-1A1D-746EB3CC52C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CBDE9D8-8857-9F65-C30E-4E9B53F008B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map of the island of sao tome and principe&#10;&#10;AI-generated content may be incorrect.">
            <a:extLst>
              <a:ext uri="{FF2B5EF4-FFF2-40B4-BE49-F238E27FC236}">
                <a16:creationId xmlns:a16="http://schemas.microsoft.com/office/drawing/2014/main" id="{7D361A0B-9546-2193-0077-672B0CBB6F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672" y="1990478"/>
            <a:ext cx="3218286" cy="2278758"/>
          </a:xfrm>
          <a:prstGeom prst="rect">
            <a:avLst/>
          </a:prstGeom>
          <a:noFill/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627182-D576-A734-A0DA-9476F2250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384137"/>
              </p:ext>
            </p:extLst>
          </p:nvPr>
        </p:nvGraphicFramePr>
        <p:xfrm>
          <a:off x="972436" y="2307148"/>
          <a:ext cx="5231894" cy="1493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Proteção das espécies de peixes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Desenvolvimento adicional e fiscalização das áreas marinhas protegidas (AMP)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pt-BR" sz="1600" dirty="0"/>
                        <a:t>Uso responsável de dispositivos de agregação de peixes ancorados (FADs)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6CCA013-4215-E900-413B-84715178F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93739"/>
              </p:ext>
            </p:extLst>
          </p:nvPr>
        </p:nvGraphicFramePr>
        <p:xfrm>
          <a:off x="972436" y="3889324"/>
          <a:ext cx="5231894" cy="189708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Quadro regulamentar para evitar a sobrepesca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r>
                        <a:rPr lang="en-GB" sz="1600" dirty="0" err="1"/>
                        <a:t>Juvenis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que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regressam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r>
                        <a:rPr lang="pt-BR" sz="1600" dirty="0"/>
                        <a:t>Utilização de métodos de pesca com cerco sem peso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Limites de captura baseados nos stocks de peixe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49278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Limites ao número de embarcações de pesca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0742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A341B6C-9AB2-90A5-156F-65588AE8B6A7}"/>
              </a:ext>
            </a:extLst>
          </p:cNvPr>
          <p:cNvSpPr txBox="1"/>
          <p:nvPr/>
        </p:nvSpPr>
        <p:spPr>
          <a:xfrm>
            <a:off x="7137699" y="4512330"/>
            <a:ext cx="389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necessidade de proteção dos peixes no STP foi recentemente reconhecida:</a:t>
            </a:r>
          </a:p>
          <a:p>
            <a:endParaRPr lang="en-GB" dirty="0"/>
          </a:p>
          <a:p>
            <a:r>
              <a:rPr lang="pt-BR" b="1" dirty="0"/>
              <a:t>Oito Áreas Marinhas Protegidas </a:t>
            </a:r>
            <a:r>
              <a:rPr lang="pt-BR" dirty="0"/>
              <a:t>foram acordadas nas Assembleias de co-gestão das partes interessadas em 2024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899D2-F0CB-DF9A-3616-A1DF6E04D006}"/>
              </a:ext>
            </a:extLst>
          </p:cNvPr>
          <p:cNvSpPr txBox="1"/>
          <p:nvPr/>
        </p:nvSpPr>
        <p:spPr>
          <a:xfrm>
            <a:off x="7724129" y="6416146"/>
            <a:ext cx="5737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Nuno et al., 2024; https://doi.org/10.1111/csp2.13196</a:t>
            </a:r>
          </a:p>
        </p:txBody>
      </p:sp>
    </p:spTree>
    <p:extLst>
      <p:ext uri="{BB962C8B-B14F-4D97-AF65-F5344CB8AC3E}">
        <p14:creationId xmlns:p14="http://schemas.microsoft.com/office/powerpoint/2010/main" val="254997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C5-7980-51E6-031B-123AACB0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E8BA37-7749-02F0-51CD-241EFF99985D}"/>
              </a:ext>
            </a:extLst>
          </p:cNvPr>
          <p:cNvSpPr/>
          <p:nvPr/>
        </p:nvSpPr>
        <p:spPr>
          <a:xfrm>
            <a:off x="7194885" y="2039048"/>
            <a:ext cx="4030579" cy="18648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9E1F9-454A-99D2-8FC8-4C2D090D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Estratégia de gestão – ecoturismo sustentável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05CEA-46D7-A052-19BB-830F42FE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7DC198-BEEE-C17F-158A-D80DE049198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8806D9-5A4A-2B22-1971-7034DCF61FA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440086-A830-ABC3-C412-C3E8F5C6686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8E5BE8-9787-A5EB-BED8-B3CFBE1CA8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Green Fins">
            <a:extLst>
              <a:ext uri="{FF2B5EF4-FFF2-40B4-BE49-F238E27FC236}">
                <a16:creationId xmlns:a16="http://schemas.microsoft.com/office/drawing/2014/main" id="{BEF62EA1-35FA-4CA8-DFEE-48753EEE3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884" y="2056527"/>
            <a:ext cx="4042611" cy="18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2B47E-2C49-A631-2A9C-27D835CDADBB}"/>
              </a:ext>
            </a:extLst>
          </p:cNvPr>
          <p:cNvSpPr txBox="1"/>
          <p:nvPr/>
        </p:nvSpPr>
        <p:spPr>
          <a:xfrm>
            <a:off x="7339263" y="4279369"/>
            <a:ext cx="389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Estas sugestões estão em linha com as orientações de </a:t>
            </a:r>
            <a:r>
              <a:rPr lang="en-GB" b="1" dirty="0"/>
              <a:t>Green Fins </a:t>
            </a:r>
            <a:r>
              <a:rPr lang="en-GB" dirty="0"/>
              <a:t>– </a:t>
            </a:r>
            <a:r>
              <a:rPr lang="pt-BR" dirty="0"/>
              <a:t>projeto internacionalmente reconhecido implementado pela Fundação Reef-World e pelo Programa das Nações Unidas para o Ambiente</a:t>
            </a:r>
            <a:endParaRPr lang="en-GB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858EC5-9D23-D117-7E85-8CB645B3E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546652"/>
              </p:ext>
            </p:extLst>
          </p:nvPr>
        </p:nvGraphicFramePr>
        <p:xfrm>
          <a:off x="890193" y="1867667"/>
          <a:ext cx="5197642" cy="21344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Código de conduta para mergulho sustentável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Limitações no número de mergulhadores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Política de não tocar para corais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Uso obrigatório de protetor solar seguro para recifes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Práticas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sustentáveis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de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ancoragem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Educação para turistas e guias sobre o impacto ambiental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44FF32-7A66-66C5-F732-A704ED717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111252"/>
              </p:ext>
            </p:extLst>
          </p:nvPr>
        </p:nvGraphicFramePr>
        <p:xfrm>
          <a:off x="890193" y="4150736"/>
          <a:ext cx="5197642" cy="221325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7642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en-GB" sz="1600" dirty="0"/>
                        <a:t>Quadro </a:t>
                      </a:r>
                      <a:r>
                        <a:rPr lang="en-GB" sz="1600" dirty="0" err="1"/>
                        <a:t>regulatório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Licenciamento ou autorização para operadores de mergulho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Critérios mínimos de sustentabilidade e segurança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Designação de zonas proibidas de pesca ou recreativas restritas nos recifes mais sensíveis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Monitorização, aplicação e sanções para danos ambientais comprovados</a:t>
                      </a:r>
                      <a:endParaRPr kumimoji="0" lang="en-GB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6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352A-2634-3562-A09A-4FB4B4D1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E6F6-022C-D801-1638-5A500899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648" y="52998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Estratégia de manejo – pesca esportiva sustentável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3851B-CD58-CE20-8E81-3BF14A6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466" y="632802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6F0F37-8CC1-23AF-3A94-79651DAB901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0D7234-5031-99F1-974E-2AE0E752C0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466DB0-65D0-B50C-59A9-1F6FCB3F656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577E05-CE3D-545A-D862-AF5560E9913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ellowfin Tuna - Species Guide">
            <a:extLst>
              <a:ext uri="{FF2B5EF4-FFF2-40B4-BE49-F238E27FC236}">
                <a16:creationId xmlns:a16="http://schemas.microsoft.com/office/drawing/2014/main" id="{212BE09D-7D1E-B49D-C2B8-8C82301C3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4"/>
          <a:stretch>
            <a:fillRect/>
          </a:stretch>
        </p:blipFill>
        <p:spPr bwMode="auto">
          <a:xfrm>
            <a:off x="6931025" y="4632241"/>
            <a:ext cx="1908175" cy="15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E677F2-B7A2-29EF-E00B-60955A9B7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0947"/>
              </p:ext>
            </p:extLst>
          </p:nvPr>
        </p:nvGraphicFramePr>
        <p:xfrm>
          <a:off x="864106" y="2288680"/>
          <a:ext cx="5231894" cy="37762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31894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261803">
                <a:tc>
                  <a:txBody>
                    <a:bodyPr/>
                    <a:lstStyle/>
                    <a:p>
                      <a:r>
                        <a:rPr lang="pt-BR" sz="1600" dirty="0"/>
                        <a:t>Quadro regulatório para a pesca desportiva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261803">
                <a:tc>
                  <a:txBody>
                    <a:bodyPr/>
                    <a:lstStyle/>
                    <a:p>
                      <a:pPr lvl="0"/>
                      <a:r>
                        <a:rPr lang="pt-BR" sz="1600" dirty="0"/>
                        <a:t>Criação de zonas de pesca desportiva com base em estudos ecológicos existentes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lvl="0"/>
                      <a:r>
                        <a:rPr lang="pt-BR" sz="1600" dirty="0"/>
                        <a:t>Licenças obrigatórias para pesca amadora e desportiva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Respeito pela época fechada (épocas de reprodução)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44287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Limites de captura e tamanhos mínimos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69339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Proibição da pesca de espécies em perigo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836392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Registo de capturas e envios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650106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Exigir guias certificados e embarcações seguras e marinheiras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795154"/>
                  </a:ext>
                </a:extLst>
              </a:tr>
              <a:tr h="408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/>
                        <a:t>Inspeção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ambiental</a:t>
                      </a:r>
                      <a:r>
                        <a:rPr lang="en-GB" sz="1600" dirty="0"/>
                        <a:t> e </a:t>
                      </a:r>
                      <a:r>
                        <a:rPr lang="en-GB" sz="1600" dirty="0" err="1"/>
                        <a:t>marítima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5118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D776C76-1700-43CC-D754-D3274FEB4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77471"/>
              </p:ext>
            </p:extLst>
          </p:nvPr>
        </p:nvGraphicFramePr>
        <p:xfrm>
          <a:off x="6931025" y="2213488"/>
          <a:ext cx="4422776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211388">
                  <a:extLst>
                    <a:ext uri="{9D8B030D-6E8A-4147-A177-3AD203B41FA5}">
                      <a16:colId xmlns:a16="http://schemas.microsoft.com/office/drawing/2014/main" val="2795396303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966034151"/>
                    </a:ext>
                  </a:extLst>
                </a:gridCol>
              </a:tblGrid>
              <a:tr h="21118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País/Destino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 err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Regulamentação</a:t>
                      </a: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e Serviços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61616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Costa Rica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Licenças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obrigatórias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áreas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protegidas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692851"/>
                  </a:ext>
                </a:extLst>
              </a:tr>
              <a:tr h="62747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Brazil (Pantanal)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Inscrição de pescadores amadores, época fechada, limites de captura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593215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Mauritius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Torneios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regulados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alojamento</a:t>
                      </a:r>
                      <a:r>
                        <a:rPr lang="en-GB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400" dirty="0" err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ecológico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26632"/>
                  </a:ext>
                </a:extLst>
              </a:tr>
              <a:tr h="41154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Portugal (Azores)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Licenciamento de pesca e turismo, inspeção ambiental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28047"/>
                  </a:ext>
                </a:extLst>
              </a:tr>
            </a:tbl>
          </a:graphicData>
        </a:graphic>
      </p:graphicFrame>
      <p:pic>
        <p:nvPicPr>
          <p:cNvPr id="4098" name="Picture 2" descr="Deep Sea Fishing - Fishing Techniques | Guidesly">
            <a:extLst>
              <a:ext uri="{FF2B5EF4-FFF2-40B4-BE49-F238E27FC236}">
                <a16:creationId xmlns:a16="http://schemas.microsoft.com/office/drawing/2014/main" id="{B14F7D38-59BE-0BF8-0D6B-C12E44B03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4647000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3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4F92-AC05-5A3F-28BD-4896D0CE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ECC6-1CC3-A2E5-C472-395D8243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Desenvolvimento de defesas contra erosão costeira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E82D8-AEF8-A5BC-A599-C4B6EF19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0216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BF4040-A48F-F004-EEA7-265451B5F3D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F6FDEC-5AF0-7BA1-4902-2988F0CBEBC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CF105-E640-DA4E-2F3B-05409BD2A01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13275AD-795B-972C-C4C7-A3A4926510B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9EA184-77B1-09E6-0378-6B1237782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74548"/>
              </p:ext>
            </p:extLst>
          </p:nvPr>
        </p:nvGraphicFramePr>
        <p:xfrm>
          <a:off x="838199" y="2259435"/>
          <a:ext cx="4789905" cy="35427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789905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WACA+ </a:t>
                      </a:r>
                      <a:r>
                        <a:rPr lang="en-GB" sz="1600" dirty="0" err="1"/>
                        <a:t>medidas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recomendadas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Construção de diques, quebra-mares (por exemplo, gânbios) e muros protetores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Criar zonas de expansão seguras para comunidades costeiras.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Estabelecimento de um sistema de alerta climático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Reabilitação das estações de maré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Dragagem de areia para reparar praias erodidas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Diversificação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das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atividades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costeiras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53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Construção de valas de drenagem e reservatórios de água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0504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0C5987-26A0-C542-9B1F-1EAB4BB2D8D4}"/>
              </a:ext>
            </a:extLst>
          </p:cNvPr>
          <p:cNvSpPr txBox="1"/>
          <p:nvPr/>
        </p:nvSpPr>
        <p:spPr>
          <a:xfrm>
            <a:off x="6427442" y="1737568"/>
            <a:ext cx="49329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Medidas semelhantes financiadas pelo GCF: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“</a:t>
            </a:r>
            <a:r>
              <a:rPr lang="en-GB" sz="2000" b="1" dirty="0"/>
              <a:t>Building Climate Resilient Safer Islands in the Maldives</a:t>
            </a:r>
            <a:r>
              <a:rPr lang="en-GB" sz="2000" dirty="0"/>
              <a:t>” </a:t>
            </a:r>
            <a:r>
              <a:rPr lang="en-GB" sz="2000" dirty="0" err="1"/>
              <a:t>projeto</a:t>
            </a:r>
            <a:r>
              <a:rPr lang="en-GB" sz="2000" dirty="0"/>
              <a:t> </a:t>
            </a:r>
            <a:r>
              <a:rPr lang="en-GB" sz="2000" dirty="0" err="1"/>
              <a:t>aprovado</a:t>
            </a:r>
            <a:r>
              <a:rPr lang="en-GB" sz="2000" dirty="0"/>
              <a:t> </a:t>
            </a:r>
            <a:r>
              <a:rPr lang="en-GB" sz="2000" dirty="0" err="1"/>
              <a:t>em</a:t>
            </a:r>
            <a:r>
              <a:rPr lang="en-GB" sz="2000" dirty="0"/>
              <a:t>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“</a:t>
            </a:r>
            <a:r>
              <a:rPr lang="en-GB" sz="2000" b="1" dirty="0"/>
              <a:t>Tonga Coastal Resilience</a:t>
            </a:r>
            <a:r>
              <a:rPr lang="en-GB" sz="2000" dirty="0"/>
              <a:t>” </a:t>
            </a:r>
            <a:r>
              <a:rPr lang="en-GB" sz="2000" dirty="0" err="1"/>
              <a:t>projeto</a:t>
            </a:r>
            <a:r>
              <a:rPr lang="en-GB" sz="2000" dirty="0"/>
              <a:t> </a:t>
            </a:r>
            <a:r>
              <a:rPr lang="en-GB" sz="2000" dirty="0" err="1"/>
              <a:t>aprovado</a:t>
            </a:r>
            <a:r>
              <a:rPr lang="en-GB" sz="2000" dirty="0"/>
              <a:t> </a:t>
            </a:r>
            <a:r>
              <a:rPr lang="en-GB" sz="2000" dirty="0" err="1"/>
              <a:t>em</a:t>
            </a:r>
            <a:r>
              <a:rPr lang="en-GB" sz="2000" dirty="0"/>
              <a:t> 2024</a:t>
            </a:r>
          </a:p>
        </p:txBody>
      </p:sp>
      <p:pic>
        <p:nvPicPr>
          <p:cNvPr id="1028" name="Picture 4" descr="Praia Banana | São Tomé &amp; Príncipe, Africa | Attractions - Lonely Planet">
            <a:extLst>
              <a:ext uri="{FF2B5EF4-FFF2-40B4-BE49-F238E27FC236}">
                <a16:creationId xmlns:a16="http://schemas.microsoft.com/office/drawing/2014/main" id="{DB3C2663-889D-E34F-A8AD-02CBCE64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428" y="3861959"/>
            <a:ext cx="4054976" cy="26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78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610C-9F81-71DF-EA4B-1EC082B7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F512-D779-89F1-A894-01317A55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11057278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Conservação ecológica e restauração dos recifes de coral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086D-8EC6-89C8-C7D9-3ECF52BE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002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CD88A0-CDB1-FB08-705D-817D905941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5A31A-250D-DD1C-834B-678ED2C77E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174A86-5782-CDEE-559D-282D193BA9B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C1BA871-D8CB-BAC8-6BAF-84F42892087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odular Artificial Reef Structure (MARS) | REEF DESIGN LAB">
            <a:extLst>
              <a:ext uri="{FF2B5EF4-FFF2-40B4-BE49-F238E27FC236}">
                <a16:creationId xmlns:a16="http://schemas.microsoft.com/office/drawing/2014/main" id="{68A688B8-C3A4-E99A-69A8-5D8797C0B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r="21561"/>
          <a:stretch>
            <a:fillRect/>
          </a:stretch>
        </p:blipFill>
        <p:spPr bwMode="auto">
          <a:xfrm>
            <a:off x="5855974" y="4051556"/>
            <a:ext cx="2608050" cy="198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D7FE3-CE99-138E-79AF-308F8AC83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348029"/>
              </p:ext>
            </p:extLst>
          </p:nvPr>
        </p:nvGraphicFramePr>
        <p:xfrm>
          <a:off x="1159198" y="2375299"/>
          <a:ext cx="3875408" cy="2849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75408">
                  <a:extLst>
                    <a:ext uri="{9D8B030D-6E8A-4147-A177-3AD203B41FA5}">
                      <a16:colId xmlns:a16="http://schemas.microsoft.com/office/drawing/2014/main" val="370319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Avaliações da vulnerabilidade dos corais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8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Avaliação regular da saúde dos corais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Identificação de áreas protegidas contra tempestades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Avaliação regular das variáveis oceânicas para vulnerabilidade aos corais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69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Desenvolvimento de viveiros de coral para transplante em áreas danificadas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06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Desenvolvimento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de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recifes</a:t>
                      </a:r>
                      <a:r>
                        <a:rPr kumimoji="0" lang="en-GB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GB" sz="16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artificiais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52145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5C43C1-C7BA-C764-DC88-33D3E1F25FA6}"/>
              </a:ext>
            </a:extLst>
          </p:cNvPr>
          <p:cNvSpPr txBox="1"/>
          <p:nvPr/>
        </p:nvSpPr>
        <p:spPr>
          <a:xfrm>
            <a:off x="5855974" y="1827213"/>
            <a:ext cx="56495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proteção dos corais é um dos principais focos financiados pelo GCF </a:t>
            </a:r>
            <a:r>
              <a:rPr lang="en-GB" dirty="0"/>
              <a:t>“</a:t>
            </a:r>
            <a:r>
              <a:rPr lang="en-GB" b="1" dirty="0"/>
              <a:t>Global Fund for Coral Reefs Investment Window</a:t>
            </a:r>
            <a:r>
              <a:rPr lang="en-GB" dirty="0"/>
              <a:t>” </a:t>
            </a:r>
            <a:r>
              <a:rPr lang="en-GB" dirty="0" err="1"/>
              <a:t>aprovado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2021</a:t>
            </a:r>
          </a:p>
          <a:p>
            <a:r>
              <a:rPr lang="pt-BR" dirty="0"/>
              <a:t>Os primeiros recifes artificiais foram instalados em São Tomé no início de 2022 por </a:t>
            </a:r>
            <a:r>
              <a:rPr lang="en-GB" dirty="0"/>
              <a:t>MARAPA e o </a:t>
            </a:r>
            <a:r>
              <a:rPr lang="en-GB" dirty="0" err="1"/>
              <a:t>Programa</a:t>
            </a:r>
            <a:r>
              <a:rPr lang="en-GB" dirty="0"/>
              <a:t> </a:t>
            </a:r>
            <a:r>
              <a:rPr lang="en-GB" dirty="0" err="1"/>
              <a:t>Tatô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4" name="Picture 2" descr="Coral Nurseries | Reef Resilience Network">
            <a:extLst>
              <a:ext uri="{FF2B5EF4-FFF2-40B4-BE49-F238E27FC236}">
                <a16:creationId xmlns:a16="http://schemas.microsoft.com/office/drawing/2014/main" id="{C610B6FF-5A08-92A0-8C8A-BF7DEC6D4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58" y="3999957"/>
            <a:ext cx="2077665" cy="226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79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4A53-49C4-CA58-5072-DF54C7F8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BAC2-EDEF-DF5E-43A6-09F994E9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7520796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Seu feedback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C3E3D-7C9F-C631-F0F6-1F96BC01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483" y="62977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969CD5-4485-E185-2282-223754D42E4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45FED2-A048-BD5E-9C8E-86D70579EC6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00B576-1354-4E9C-4C4D-6367CA412DA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E5DC89A-D8F1-0E83-C58A-425107C3358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98BB48A-5BB1-4554-1F70-3A98B26F0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5646576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Essas sugestões de adaptação estão abertas à discussão e revisão
Usando o questionário, convidamos você a dar feedback sobre as sugestões e apresentar suas próprias ideias.
Seu feedback será levado em consideração durante o desenvolvimento da proposta de projeto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drawing of a pen and a piece of paper&#10;&#10;AI-generated content may be incorrect.">
            <a:extLst>
              <a:ext uri="{FF2B5EF4-FFF2-40B4-BE49-F238E27FC236}">
                <a16:creationId xmlns:a16="http://schemas.microsoft.com/office/drawing/2014/main" id="{5CD569EE-5CE3-B276-60A5-751BBB6CE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505" y="1103155"/>
            <a:ext cx="5077178" cy="50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2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633099" y="3626097"/>
            <a:ext cx="3069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 err="1">
                <a:ln/>
                <a:solidFill>
                  <a:schemeClr val="accent1"/>
                </a:solidFill>
                <a:effectLst/>
              </a:rPr>
              <a:t>Obrigado</a:t>
            </a:r>
            <a:r>
              <a:rPr lang="en-GB" sz="5400" b="1" cap="none" spc="0" dirty="0">
                <a:ln/>
                <a:solidFill>
                  <a:schemeClr val="accent1"/>
                </a:solidFill>
                <a:effectLst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customXml/itemProps2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2597</TotalTime>
  <Words>896</Words>
  <Application>Microsoft Office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Garamond</vt:lpstr>
      <vt:lpstr>Georgia</vt:lpstr>
      <vt:lpstr>Office Theme</vt:lpstr>
      <vt:lpstr>Alterações climáticas e impactos das alterações climáticas em São Tomé e Príncipe, com foco nos setores da pesca e turismo no contexto da Economia Azul São Tomé e Príncipe, novembro/dezembro de 2025</vt:lpstr>
      <vt:lpstr>Resumo das conclusões do relatório</vt:lpstr>
      <vt:lpstr>Adaptação climática</vt:lpstr>
      <vt:lpstr>Desenvolvimento da infraestrutura</vt:lpstr>
      <vt:lpstr>Estratégia de gestão- proteção das espécies de peixes</vt:lpstr>
      <vt:lpstr>Estratégia de gestão – ecoturismo sustentável</vt:lpstr>
      <vt:lpstr>Estratégia de manejo – pesca esportiva sustentável</vt:lpstr>
      <vt:lpstr>Desenvolvimento de defesas contra erosão costeira</vt:lpstr>
      <vt:lpstr>Conservação ecológica e restauração dos recifes de coral</vt:lpstr>
      <vt:lpstr>Seu feedback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Samuel Greenrod</cp:lastModifiedBy>
  <cp:revision>26</cp:revision>
  <dcterms:created xsi:type="dcterms:W3CDTF">2022-11-03T10:54:55Z</dcterms:created>
  <dcterms:modified xsi:type="dcterms:W3CDTF">2025-11-30T22:59:59Z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