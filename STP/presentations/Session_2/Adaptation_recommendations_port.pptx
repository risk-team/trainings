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omments/modernComment_116_A20CF004.xml" ContentType="application/vnd.ms-powerpoint.comments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5"/>
  </p:notesMasterIdLst>
  <p:sldIdLst>
    <p:sldId id="278" r:id="rId5"/>
    <p:sldId id="273" r:id="rId6"/>
    <p:sldId id="298" r:id="rId7"/>
    <p:sldId id="299" r:id="rId8"/>
    <p:sldId id="295" r:id="rId9"/>
    <p:sldId id="303" r:id="rId10"/>
    <p:sldId id="296" r:id="rId11"/>
    <p:sldId id="297" r:id="rId12"/>
    <p:sldId id="300" r:id="rId13"/>
    <p:sldId id="260" r:id="rId14"/>
  </p:sldIdLst>
  <p:sldSz cx="12192000" cy="6858000"/>
  <p:notesSz cx="6858000" cy="9144000"/>
  <p:defaultTextStyle>
    <a:defPPr>
      <a:defRPr lang="en-G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58D5D99-21CF-B08C-94E1-10539A96C80D}" name="Samuel Greenrod" initials="SG" userId="f4bf26eb60ababa0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8313345-9002-474F-93B6-F968F57B4A55}" v="80" dt="2025-11-27T16:31:16.03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807"/>
    <p:restoredTop sz="83051" autoAdjust="0"/>
  </p:normalViewPr>
  <p:slideViewPr>
    <p:cSldViewPr snapToGrid="0">
      <p:cViewPr varScale="1">
        <p:scale>
          <a:sx n="68" d="100"/>
          <a:sy n="68" d="100"/>
        </p:scale>
        <p:origin x="132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reenrod, Samuel (OCBD)" userId="2206092a-8a12-487a-a963-cafe9a401430" providerId="ADAL" clId="{20C3C022-8956-41D8-B9EF-F034660AD755}"/>
    <pc:docChg chg="custSel delSld modSld">
      <pc:chgData name="Greenrod, Samuel (OCBD)" userId="2206092a-8a12-487a-a963-cafe9a401430" providerId="ADAL" clId="{20C3C022-8956-41D8-B9EF-F034660AD755}" dt="2025-11-27T16:31:18.086" v="55" actId="1076"/>
      <pc:docMkLst>
        <pc:docMk/>
      </pc:docMkLst>
      <pc:sldChg chg="modSp mod">
        <pc:chgData name="Greenrod, Samuel (OCBD)" userId="2206092a-8a12-487a-a963-cafe9a401430" providerId="ADAL" clId="{20C3C022-8956-41D8-B9EF-F034660AD755}" dt="2025-11-27T16:31:18.086" v="55" actId="1076"/>
        <pc:sldMkLst>
          <pc:docMk/>
          <pc:sldMk cId="360929713" sldId="260"/>
        </pc:sldMkLst>
        <pc:spChg chg="mod">
          <ac:chgData name="Greenrod, Samuel (OCBD)" userId="2206092a-8a12-487a-a963-cafe9a401430" providerId="ADAL" clId="{20C3C022-8956-41D8-B9EF-F034660AD755}" dt="2025-11-27T16:31:18.086" v="55" actId="1076"/>
          <ac:spMkLst>
            <pc:docMk/>
            <pc:sldMk cId="360929713" sldId="260"/>
            <ac:spMk id="14" creationId="{A9C56575-D07C-0F96-5881-6F5315AFDB1C}"/>
          </ac:spMkLst>
        </pc:spChg>
      </pc:sldChg>
      <pc:sldChg chg="modSp mod">
        <pc:chgData name="Greenrod, Samuel (OCBD)" userId="2206092a-8a12-487a-a963-cafe9a401430" providerId="ADAL" clId="{20C3C022-8956-41D8-B9EF-F034660AD755}" dt="2025-11-27T16:05:48.388" v="20" actId="27636"/>
        <pc:sldMkLst>
          <pc:docMk/>
          <pc:sldMk cId="695527983" sldId="273"/>
        </pc:sldMkLst>
        <pc:spChg chg="mod">
          <ac:chgData name="Greenrod, Samuel (OCBD)" userId="2206092a-8a12-487a-a963-cafe9a401430" providerId="ADAL" clId="{20C3C022-8956-41D8-B9EF-F034660AD755}" dt="2025-11-27T16:05:48.388" v="20" actId="27636"/>
          <ac:spMkLst>
            <pc:docMk/>
            <pc:sldMk cId="695527983" sldId="273"/>
            <ac:spMk id="13" creationId="{81127B1F-DAD1-37A5-0BFC-028917664617}"/>
          </ac:spMkLst>
        </pc:spChg>
      </pc:sldChg>
      <pc:sldChg chg="modSp mod">
        <pc:chgData name="Greenrod, Samuel (OCBD)" userId="2206092a-8a12-487a-a963-cafe9a401430" providerId="ADAL" clId="{20C3C022-8956-41D8-B9EF-F034660AD755}" dt="2025-11-27T16:05:22.551" v="3" actId="20577"/>
        <pc:sldMkLst>
          <pc:docMk/>
          <pc:sldMk cId="2718756868" sldId="278"/>
        </pc:sldMkLst>
        <pc:spChg chg="mod">
          <ac:chgData name="Greenrod, Samuel (OCBD)" userId="2206092a-8a12-487a-a963-cafe9a401430" providerId="ADAL" clId="{20C3C022-8956-41D8-B9EF-F034660AD755}" dt="2025-11-27T16:05:18.517" v="2" actId="1076"/>
          <ac:spMkLst>
            <pc:docMk/>
            <pc:sldMk cId="2718756868" sldId="278"/>
            <ac:spMk id="2" creationId="{CA7A74D7-F4EA-CF5E-D552-74464B3CD55E}"/>
          </ac:spMkLst>
        </pc:spChg>
        <pc:spChg chg="mod">
          <ac:chgData name="Greenrod, Samuel (OCBD)" userId="2206092a-8a12-487a-a963-cafe9a401430" providerId="ADAL" clId="{20C3C022-8956-41D8-B9EF-F034660AD755}" dt="2025-11-27T16:05:22.551" v="3" actId="20577"/>
          <ac:spMkLst>
            <pc:docMk/>
            <pc:sldMk cId="2718756868" sldId="278"/>
            <ac:spMk id="3" creationId="{B65361E7-4E15-CD6C-8E77-8F89B5B7D557}"/>
          </ac:spMkLst>
        </pc:spChg>
      </pc:sldChg>
      <pc:sldChg chg="modSp mod">
        <pc:chgData name="Greenrod, Samuel (OCBD)" userId="2206092a-8a12-487a-a963-cafe9a401430" providerId="ADAL" clId="{20C3C022-8956-41D8-B9EF-F034660AD755}" dt="2025-11-27T16:21:02.974" v="37" actId="20577"/>
        <pc:sldMkLst>
          <pc:docMk/>
          <pc:sldMk cId="1642788035" sldId="295"/>
        </pc:sldMkLst>
        <pc:spChg chg="mod">
          <ac:chgData name="Greenrod, Samuel (OCBD)" userId="2206092a-8a12-487a-a963-cafe9a401430" providerId="ADAL" clId="{20C3C022-8956-41D8-B9EF-F034660AD755}" dt="2025-11-27T16:20:41.130" v="33" actId="12"/>
          <ac:spMkLst>
            <pc:docMk/>
            <pc:sldMk cId="1642788035" sldId="295"/>
            <ac:spMk id="15" creationId="{CA0C5987-26A0-C542-9B1F-1EAB4BB2D8D4}"/>
          </ac:spMkLst>
        </pc:spChg>
        <pc:graphicFrameChg chg="mod modGraphic">
          <ac:chgData name="Greenrod, Samuel (OCBD)" userId="2206092a-8a12-487a-a963-cafe9a401430" providerId="ADAL" clId="{20C3C022-8956-41D8-B9EF-F034660AD755}" dt="2025-11-27T16:21:02.974" v="37" actId="20577"/>
          <ac:graphicFrameMkLst>
            <pc:docMk/>
            <pc:sldMk cId="1642788035" sldId="295"/>
            <ac:graphicFrameMk id="3" creationId="{C49EA184-77B1-09E6-0378-6B1237782B02}"/>
          </ac:graphicFrameMkLst>
        </pc:graphicFrameChg>
        <pc:picChg chg="mod">
          <ac:chgData name="Greenrod, Samuel (OCBD)" userId="2206092a-8a12-487a-a963-cafe9a401430" providerId="ADAL" clId="{20C3C022-8956-41D8-B9EF-F034660AD755}" dt="2025-11-27T16:20:43.267" v="34" actId="1076"/>
          <ac:picMkLst>
            <pc:docMk/>
            <pc:sldMk cId="1642788035" sldId="295"/>
            <ac:picMk id="1028" creationId="{DB3C2663-889D-E34F-A8AD-02CBCE6442BB}"/>
          </ac:picMkLst>
        </pc:picChg>
      </pc:sldChg>
      <pc:sldChg chg="modSp mod">
        <pc:chgData name="Greenrod, Samuel (OCBD)" userId="2206092a-8a12-487a-a963-cafe9a401430" providerId="ADAL" clId="{20C3C022-8956-41D8-B9EF-F034660AD755}" dt="2025-11-27T16:30:00.859" v="51" actId="1076"/>
        <pc:sldMkLst>
          <pc:docMk/>
          <pc:sldMk cId="222979080" sldId="296"/>
        </pc:sldMkLst>
        <pc:spChg chg="mod">
          <ac:chgData name="Greenrod, Samuel (OCBD)" userId="2206092a-8a12-487a-a963-cafe9a401430" providerId="ADAL" clId="{20C3C022-8956-41D8-B9EF-F034660AD755}" dt="2025-11-27T16:29:44.026" v="50"/>
          <ac:spMkLst>
            <pc:docMk/>
            <pc:sldMk cId="222979080" sldId="296"/>
            <ac:spMk id="12" creationId="{A65C43C1-C7BA-C764-DC88-33D3E1F25FA6}"/>
          </ac:spMkLst>
        </pc:spChg>
        <pc:graphicFrameChg chg="mod">
          <ac:chgData name="Greenrod, Samuel (OCBD)" userId="2206092a-8a12-487a-a963-cafe9a401430" providerId="ADAL" clId="{20C3C022-8956-41D8-B9EF-F034660AD755}" dt="2025-11-27T16:30:00.859" v="51" actId="1076"/>
          <ac:graphicFrameMkLst>
            <pc:docMk/>
            <pc:sldMk cId="222979080" sldId="296"/>
            <ac:graphicFrameMk id="3" creationId="{173D7FE3-CE99-138E-79AF-308F8AC83C55}"/>
          </ac:graphicFrameMkLst>
        </pc:graphicFrameChg>
      </pc:sldChg>
      <pc:sldChg chg="modSp mod">
        <pc:chgData name="Greenrod, Samuel (OCBD)" userId="2206092a-8a12-487a-a963-cafe9a401430" providerId="ADAL" clId="{20C3C022-8956-41D8-B9EF-F034660AD755}" dt="2025-11-27T16:30:29.920" v="53" actId="20577"/>
        <pc:sldMkLst>
          <pc:docMk/>
          <pc:sldMk cId="1167269146" sldId="297"/>
        </pc:sldMkLst>
        <pc:spChg chg="mod">
          <ac:chgData name="Greenrod, Samuel (OCBD)" userId="2206092a-8a12-487a-a963-cafe9a401430" providerId="ADAL" clId="{20C3C022-8956-41D8-B9EF-F034660AD755}" dt="2025-11-27T16:30:29.920" v="53" actId="20577"/>
          <ac:spMkLst>
            <pc:docMk/>
            <pc:sldMk cId="1167269146" sldId="297"/>
            <ac:spMk id="7" creationId="{A1D2B47E-2C49-A631-2A9C-27D835CDADBB}"/>
          </ac:spMkLst>
        </pc:spChg>
      </pc:sldChg>
      <pc:sldChg chg="modSp mod">
        <pc:chgData name="Greenrod, Samuel (OCBD)" userId="2206092a-8a12-487a-a963-cafe9a401430" providerId="ADAL" clId="{20C3C022-8956-41D8-B9EF-F034660AD755}" dt="2025-11-27T16:18:32.469" v="27" actId="113"/>
        <pc:sldMkLst>
          <pc:docMk/>
          <pc:sldMk cId="2549979351" sldId="299"/>
        </pc:sldMkLst>
        <pc:spChg chg="mod">
          <ac:chgData name="Greenrod, Samuel (OCBD)" userId="2206092a-8a12-487a-a963-cafe9a401430" providerId="ADAL" clId="{20C3C022-8956-41D8-B9EF-F034660AD755}" dt="2025-11-27T16:06:19.228" v="21" actId="1076"/>
          <ac:spMkLst>
            <pc:docMk/>
            <pc:sldMk cId="2549979351" sldId="299"/>
            <ac:spMk id="2" creationId="{22FC65F6-183C-90BA-48FA-9ED506E01053}"/>
          </ac:spMkLst>
        </pc:spChg>
        <pc:spChg chg="mod">
          <ac:chgData name="Greenrod, Samuel (OCBD)" userId="2206092a-8a12-487a-a963-cafe9a401430" providerId="ADAL" clId="{20C3C022-8956-41D8-B9EF-F034660AD755}" dt="2025-11-27T16:18:32.469" v="27" actId="113"/>
          <ac:spMkLst>
            <pc:docMk/>
            <pc:sldMk cId="2549979351" sldId="299"/>
            <ac:spMk id="16" creationId="{8A341B6C-9AB2-90A5-156F-65588AE8B6A7}"/>
          </ac:spMkLst>
        </pc:spChg>
        <pc:graphicFrameChg chg="mod">
          <ac:chgData name="Greenrod, Samuel (OCBD)" userId="2206092a-8a12-487a-a963-cafe9a401430" providerId="ADAL" clId="{20C3C022-8956-41D8-B9EF-F034660AD755}" dt="2025-11-27T16:06:29.099" v="22" actId="1076"/>
          <ac:graphicFrameMkLst>
            <pc:docMk/>
            <pc:sldMk cId="2549979351" sldId="299"/>
            <ac:graphicFrameMk id="7" creationId="{50627182-D576-A734-A0DA-9476F22504DC}"/>
          </ac:graphicFrameMkLst>
        </pc:graphicFrameChg>
      </pc:sldChg>
      <pc:sldChg chg="del">
        <pc:chgData name="Greenrod, Samuel (OCBD)" userId="2206092a-8a12-487a-a963-cafe9a401430" providerId="ADAL" clId="{20C3C022-8956-41D8-B9EF-F034660AD755}" dt="2025-11-27T16:31:12.861" v="54" actId="47"/>
        <pc:sldMkLst>
          <pc:docMk/>
          <pc:sldMk cId="956540272" sldId="302"/>
        </pc:sldMkLst>
      </pc:sldChg>
      <pc:sldChg chg="modSp mod">
        <pc:chgData name="Greenrod, Samuel (OCBD)" userId="2206092a-8a12-487a-a963-cafe9a401430" providerId="ADAL" clId="{20C3C022-8956-41D8-B9EF-F034660AD755}" dt="2025-11-27T16:21:14.869" v="44" actId="27636"/>
        <pc:sldMkLst>
          <pc:docMk/>
          <pc:sldMk cId="1557714722" sldId="303"/>
        </pc:sldMkLst>
        <pc:spChg chg="mod">
          <ac:chgData name="Greenrod, Samuel (OCBD)" userId="2206092a-8a12-487a-a963-cafe9a401430" providerId="ADAL" clId="{20C3C022-8956-41D8-B9EF-F034660AD755}" dt="2025-11-27T16:21:14.869" v="44" actId="27636"/>
          <ac:spMkLst>
            <pc:docMk/>
            <pc:sldMk cId="1557714722" sldId="303"/>
            <ac:spMk id="13" creationId="{C803D0AD-8CFC-2F9F-ED16-8657BE54EC09}"/>
          </ac:spMkLst>
        </pc:spChg>
      </pc:sldChg>
    </pc:docChg>
  </pc:docChgLst>
</pc:chgInfo>
</file>

<file path=ppt/comments/modernComment_116_A20CF00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A35EFF7-6E11-4ED5-8DD2-5683A3180CDF}" authorId="{058D5D99-21CF-B08C-94E1-10539A96C80D}" created="2025-09-25T07:35:28.26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718756868" sldId="278"/>
      <ac:picMk id="3074" creationId="{D18EC2C8-8D2B-E43F-E1FF-B94334997B32}"/>
    </ac:deMkLst>
    <p188:txBody>
      <a:bodyPr/>
      <a:lstStyle/>
      <a:p>
        <a:r>
          <a:rPr lang="en-GB"/>
          <a:t>I put the STP flag as a logo - maybe a different logo would be more appropriate here?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EF438C-C331-AD49-9851-63B1FE7ADA81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95309B-12D6-8240-AE7D-DF18D3AE4A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01899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95309B-12D6-8240-AE7D-DF18D3AE4A0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31859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789F1F-D764-76A7-5647-C387D9DDF12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A5DA2F-BC09-79BF-74E2-C04FDDC10D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BFCA8A-5E75-00B9-7991-A37A597D23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2EBA-D7A4-B848-AB8E-77DF82C97865}" type="datetime1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4CA5A9-BEBC-78EE-74E6-78450AAFD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49033A-5A7A-F423-BF9B-F87AFE8CA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9362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7320F8-BBFB-E491-140E-761D7B706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89983B-2B7E-DFD9-39D0-932B9B37FB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F9523E-5E99-E34F-7245-4ECDF07ABE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D1B2B8-A631-CC4D-AD37-3A3B27278243}" type="datetime1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7B7571-5124-1446-A180-F28435598F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C9B2AB-26CF-14D2-153E-3A8A6D0AA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5868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E6C695-A593-2156-164A-0EBBE7D5DE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FB5EB3-14A6-9C84-5D37-F53AD9D490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0BC292-9EF3-3C99-F9F6-0801630D2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DBDE0-F7A9-DB41-9E26-44A36E8471E2}" type="datetime1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0D0763-6183-3C66-294B-8ED481259D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EFFC3D-7BD1-D91E-C78E-EECE362E7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4763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120549-19CC-7EFE-A700-B8E471CAB4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0968C5-D92D-6F83-91DC-A4F35CBD02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428BFF-94DE-FEA5-2B7F-AD0D80190E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97BFB7-21A4-FC49-C517-046786C2D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E39B8C-C3C5-094C-B681-56CCD7D412A6}" type="datetime1">
              <a:rPr lang="en-US" smtClean="0"/>
              <a:t>11/29/2025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8B355B-57C2-4745-51EF-8FAE709B5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FE950B-637B-E1F2-B1B8-35CCAAB91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83261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4BA364-A549-18A2-430B-4090C1834D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83A868-55A7-1233-C85E-B8FE5832C1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50D045-2786-FEB5-6F27-0BA5A6088A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5A27A1E-5FE1-EBAA-F320-CBA8D84515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F8F2C56-019F-776D-A28B-15CE136B8F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E342011-C314-7EC5-CB00-208D66E431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DA4142-9999-304A-9231-3B063AC794F7}" type="datetime1">
              <a:rPr lang="en-US" smtClean="0"/>
              <a:t>11/29/2025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510741A-CD6B-604F-4668-10BA659653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55862A9-8949-49A1-C9B8-FCF0DA6085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02522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3FE85-D2F6-6BE7-EE7E-94CDC3977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C715C8C-D11D-6977-C3EB-5CD595E970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08E25-E665-D648-847D-3AD88EF49AD6}" type="datetime1">
              <a:rPr lang="en-US" smtClean="0"/>
              <a:t>11/29/2025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0E6B9F-AE8E-8B1F-1ECB-D57AE1421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A07135-265E-AF49-74C1-A78AF6234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6201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489BB6C-845A-B5CC-F1E6-D71DBCD27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FC69BC-24E4-0940-A8F5-5C763862DDEA}" type="datetime1">
              <a:rPr lang="en-US" smtClean="0"/>
              <a:t>11/29/2025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0D8888-B128-12FD-7630-3ECD86ECA6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6B1732-046D-02CA-5D8B-28AAA8117D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16868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8F2313-A232-7D42-2C6C-B51494DD7D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B1B26-A43E-BDF0-A069-6FDF1D4E18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1C6ED1-A40D-C41B-8962-4F8F4A54EB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684D77-1AFC-386E-DEFE-FA1C855818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D7D333-60A2-724E-9700-3C3CF588932B}" type="datetime1">
              <a:rPr lang="en-US" smtClean="0"/>
              <a:t>11/29/2025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640F98-24FE-2CC9-B7AA-1EB507F86F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F54F10-DD4F-CF8F-43A5-8D299D5DB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02063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C59662-7AC1-4F7C-F4C0-9D9FA7337C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61F2577-7615-4DF0-25E6-8508D91DDB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7E1C82-9A4E-AD3E-C091-BA248334CF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69753E-3E59-F72F-347D-96152BFA16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669330-04F5-D04F-9BF9-67F2C7B09055}" type="datetime1">
              <a:rPr lang="en-US" smtClean="0"/>
              <a:t>11/29/2025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CE55ED-C4BC-2251-BFE0-86AAB7C08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88C17D-09C2-6E7A-D7C5-059CB0568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8930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84A6F2-81E8-1E00-DB65-AE20918A44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58FFC4-E2A2-3DE8-C379-5A6ED263C4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00AF31-A33F-2673-F12C-4047EA515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801CE0-8DF5-6343-9F55-2457BD7CD408}" type="datetime1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89CF14-931C-7493-32BD-6C03D2FB61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902DA6-CBEC-656A-E98C-110453E98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6066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6DDDC15-E2F0-C920-46FD-336766393A4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4C069DB-94DB-72CD-4567-A72A6444B2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CFE13B-D9BE-1E59-6B7F-52A050ACB2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7FF17-3CA3-5349-920A-5FEB1086772D}" type="datetime1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FBB121-6A54-E24C-33B1-3ECFDD291D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D5329F-6857-5975-BA75-46413BD07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60189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D51D291-E3E4-9457-AC33-534F6C658F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4823D4-7225-9D25-DA90-44E59B502B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E8E-89E2-5805-41AE-420DD64DB12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D692C4-E290-6C4B-9F58-D70F084E00FD}" type="datetime1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CBAEFD-6B90-01CA-332A-8CA917045B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BAECA2-AC00-D4AE-0962-B05916EC24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8814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microsoft.com/office/2018/10/relationships/comments" Target="../comments/modernComment_116_A20CF00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A74D7-F4EA-CF5E-D552-74464B3CD5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76794" y="2094933"/>
            <a:ext cx="9438410" cy="1655762"/>
          </a:xfrm>
        </p:spPr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pt-BR" sz="2200" dirty="0">
                <a:solidFill>
                  <a:srgbClr val="0070C0"/>
                </a:solidFill>
                <a:latin typeface="Arial"/>
                <a:cs typeface="Arial"/>
              </a:rPr>
              <a:t>Alterações climáticas e impactos das alterações climáticas em São Tomé e Príncipe, com foco nos setores da pesca e turismo no contexto da Economia Azul</a:t>
            </a:r>
            <a:br>
              <a:rPr lang="pt-BR" sz="2200" dirty="0">
                <a:solidFill>
                  <a:srgbClr val="0070C0"/>
                </a:solidFill>
                <a:latin typeface="Arial"/>
                <a:cs typeface="Arial"/>
              </a:rPr>
            </a:br>
            <a:r>
              <a:rPr lang="pt-BR" sz="2200" dirty="0">
                <a:solidFill>
                  <a:srgbClr val="0070C0"/>
                </a:solidFill>
                <a:latin typeface="Arial"/>
                <a:cs typeface="Arial"/>
              </a:rPr>
              <a:t>São Tomé e Príncipe, novembro/dezembro de 2025</a:t>
            </a:r>
            <a:endParaRPr lang="en-US" sz="3600" dirty="0">
              <a:solidFill>
                <a:srgbClr val="0070C0"/>
              </a:solidFill>
              <a:latin typeface="Arial"/>
              <a:cs typeface="Arial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65361E7-4E15-CD6C-8E77-8F89B5B7D5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73677"/>
            <a:ext cx="9144000" cy="1655762"/>
          </a:xfrm>
        </p:spPr>
        <p:txBody>
          <a:bodyPr>
            <a:normAutofit/>
          </a:bodyPr>
          <a:lstStyle/>
          <a:p>
            <a:r>
              <a:rPr lang="en-GB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Recomendações</a:t>
            </a:r>
            <a:r>
              <a:rPr lang="en-GB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de </a:t>
            </a:r>
            <a:r>
              <a:rPr lang="en-GB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adaptação</a:t>
            </a:r>
            <a:endParaRPr lang="en-GB" b="1" cap="all" dirty="0">
              <a:solidFill>
                <a:schemeClr val="accent5">
                  <a:lumMod val="75000"/>
                </a:schemeClr>
              </a:solidFill>
              <a:latin typeface="Georgia" panose="02040502050405020303" pitchFamily="18" charset="0"/>
            </a:endParaRPr>
          </a:p>
          <a:p>
            <a:endParaRPr lang="en-US" dirty="0">
              <a:solidFill>
                <a:schemeClr val="accent1">
                  <a:lumMod val="50000"/>
                </a:schemeClr>
              </a:solidFill>
              <a:latin typeface="Georgia" panose="02040502050405020303" pitchFamily="18" charset="0"/>
            </a:endParaRPr>
          </a:p>
          <a:p>
            <a:r>
              <a:rPr lang="en-US" sz="1500" dirty="0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By: Samuel Greenrod, Marco Fusi, Riccardo Soldan, Lionel </a:t>
            </a:r>
            <a:r>
              <a:rPr lang="en-US" sz="1500" dirty="0" err="1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Kinadjian</a:t>
            </a:r>
            <a:endParaRPr lang="en-US" sz="1500" dirty="0">
              <a:solidFill>
                <a:schemeClr val="accent1">
                  <a:lumMod val="50000"/>
                </a:schemeClr>
              </a:solidFill>
              <a:latin typeface="Georgia" panose="02040502050405020303" pitchFamily="18" charset="0"/>
            </a:endParaRPr>
          </a:p>
        </p:txBody>
      </p:sp>
      <p:pic>
        <p:nvPicPr>
          <p:cNvPr id="7" name="Picture 6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09888D26-7370-8509-4416-30924E0722A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1257"/>
          <a:stretch>
            <a:fillRect/>
          </a:stretch>
        </p:blipFill>
        <p:spPr>
          <a:xfrm>
            <a:off x="594821" y="257459"/>
            <a:ext cx="3014653" cy="1003438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76A18F0-129F-D4F1-D5BD-9C6826AB94BE}"/>
              </a:ext>
            </a:extLst>
          </p:cNvPr>
          <p:cNvCxnSpPr/>
          <p:nvPr/>
        </p:nvCxnSpPr>
        <p:spPr>
          <a:xfrm>
            <a:off x="968828" y="3935186"/>
            <a:ext cx="1025434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465DBE5-7B38-D154-314F-B7ABE5C7A406}"/>
              </a:ext>
            </a:extLst>
          </p:cNvPr>
          <p:cNvGrpSpPr/>
          <p:nvPr/>
        </p:nvGrpSpPr>
        <p:grpSpPr>
          <a:xfrm>
            <a:off x="-16329" y="1390670"/>
            <a:ext cx="12208329" cy="262452"/>
            <a:chOff x="-16329" y="6677194"/>
            <a:chExt cx="12208329" cy="2624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921F9B8-11EE-4197-BAF5-5A5EB6D664EE}"/>
                </a:ext>
              </a:extLst>
            </p:cNvPr>
            <p:cNvSpPr/>
            <p:nvPr/>
          </p:nvSpPr>
          <p:spPr>
            <a:xfrm>
              <a:off x="6384471" y="6678386"/>
              <a:ext cx="3804558" cy="261259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689C7B9-DBF0-4289-6D9A-D7CEC898F07B}"/>
                </a:ext>
              </a:extLst>
            </p:cNvPr>
            <p:cNvSpPr/>
            <p:nvPr/>
          </p:nvSpPr>
          <p:spPr>
            <a:xfrm>
              <a:off x="-16329" y="6678388"/>
              <a:ext cx="6400800" cy="261258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2D5C065-F1C4-74F3-61B8-06241CFB5626}"/>
                </a:ext>
              </a:extLst>
            </p:cNvPr>
            <p:cNvSpPr/>
            <p:nvPr/>
          </p:nvSpPr>
          <p:spPr>
            <a:xfrm>
              <a:off x="10189029" y="6677194"/>
              <a:ext cx="2002971" cy="2624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074" name="Picture 2">
            <a:extLst>
              <a:ext uri="{FF2B5EF4-FFF2-40B4-BE49-F238E27FC236}">
                <a16:creationId xmlns:a16="http://schemas.microsoft.com/office/drawing/2014/main" id="{D18EC2C8-8D2B-E43F-E1FF-B94334997B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2166" y="174034"/>
            <a:ext cx="2173726" cy="1086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1875686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2BACDE-10C9-F045-7191-964BE523E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A3E97C-7B53-C082-54D7-4837292A62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650"/>
            <a:ext cx="7520796" cy="1325563"/>
          </a:xfrm>
        </p:spPr>
        <p:txBody>
          <a:bodyPr>
            <a:normAutofit/>
          </a:bodyPr>
          <a:lstStyle/>
          <a:p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Resumo das conclusões do relatório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B8F31-5BAA-7915-FB6D-93ACC082C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0483" y="6297792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2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16B2F92-30E2-9EF6-6876-03ACDD576A2F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A84171E-B5D6-D2D3-50B9-C9F54F0A61DB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27E42CE-9992-223A-66F5-67C895479C69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980E5E99-848A-96C2-25A0-1EBCC47763E7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81127B1F-DAD1-37A5-0BFC-0289176646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70077"/>
            <a:ext cx="5646576" cy="4351338"/>
          </a:xfrm>
        </p:spPr>
        <p:txBody>
          <a:bodyPr>
            <a:normAutofit fontScale="92500"/>
          </a:bodyPr>
          <a:lstStyle/>
          <a:p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Espera-se que as futuras alterações climáticas afetem negativamente a economia azul no STP
Pescas</a:t>
            </a:r>
          </a:p>
          <a:p>
            <a:pPr lvl="1"/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Diminuição da biomassa de peixes
Diminuição da probabilidade de ocorrência de espécies de peixes</a:t>
            </a:r>
          </a:p>
          <a:p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Turismo</a:t>
            </a:r>
          </a:p>
          <a:p>
            <a:pPr lvl="1"/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Subida do nível do mar
Aumento do desconforto dos turistas
Risco de branqueamento dos corais
Diminuição da probabilidade de ocorrência de espécies de pesca desportiva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Picture 2" descr="A graph of sea level rise&#10;&#10;AI-generated content may be incorrect.">
            <a:extLst>
              <a:ext uri="{FF2B5EF4-FFF2-40B4-BE49-F238E27FC236}">
                <a16:creationId xmlns:a16="http://schemas.microsoft.com/office/drawing/2014/main" id="{04BCB312-8A09-CB15-7037-8087C958CE7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40803" y="4404479"/>
            <a:ext cx="1893313" cy="1893313"/>
          </a:xfrm>
          <a:prstGeom prst="rect">
            <a:avLst/>
          </a:prstGeom>
        </p:spPr>
      </p:pic>
      <p:pic>
        <p:nvPicPr>
          <p:cNvPr id="11" name="Picture 10" descr="A group of images of sea level rise&#10;&#10;AI-generated content may be incorrect.">
            <a:extLst>
              <a:ext uri="{FF2B5EF4-FFF2-40B4-BE49-F238E27FC236}">
                <a16:creationId xmlns:a16="http://schemas.microsoft.com/office/drawing/2014/main" id="{739226F7-DF6B-FEDC-507F-0CBDD42C632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7277" y="4345920"/>
            <a:ext cx="2233206" cy="2010430"/>
          </a:xfrm>
          <a:prstGeom prst="rect">
            <a:avLst/>
          </a:prstGeom>
        </p:spPr>
      </p:pic>
      <p:pic>
        <p:nvPicPr>
          <p:cNvPr id="14" name="Picture 13" descr="A graph of different numbers&#10;&#10;AI-generated content may be incorrect.">
            <a:extLst>
              <a:ext uri="{FF2B5EF4-FFF2-40B4-BE49-F238E27FC236}">
                <a16:creationId xmlns:a16="http://schemas.microsoft.com/office/drawing/2014/main" id="{DA339A0B-4E3E-4ADD-2976-170B6B2A422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0364" t="49744" b="5019"/>
          <a:stretch>
            <a:fillRect/>
          </a:stretch>
        </p:blipFill>
        <p:spPr>
          <a:xfrm>
            <a:off x="8328931" y="1771068"/>
            <a:ext cx="2818390" cy="2010430"/>
          </a:xfrm>
          <a:prstGeom prst="rect">
            <a:avLst/>
          </a:prstGeom>
        </p:spPr>
      </p:pic>
      <p:pic>
        <p:nvPicPr>
          <p:cNvPr id="15" name="Picture 14" descr="A graph of different numbers&#10;&#10;AI-generated content may be incorrect.">
            <a:extLst>
              <a:ext uri="{FF2B5EF4-FFF2-40B4-BE49-F238E27FC236}">
                <a16:creationId xmlns:a16="http://schemas.microsoft.com/office/drawing/2014/main" id="{92FEC3E6-84FA-EA9A-D203-6F8F5AE84DD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0364" t="-807" b="93225"/>
          <a:stretch>
            <a:fillRect/>
          </a:stretch>
        </p:blipFill>
        <p:spPr>
          <a:xfrm>
            <a:off x="8328931" y="1497550"/>
            <a:ext cx="2818390" cy="336946"/>
          </a:xfrm>
          <a:prstGeom prst="rect">
            <a:avLst/>
          </a:prstGeom>
        </p:spPr>
      </p:pic>
      <p:pic>
        <p:nvPicPr>
          <p:cNvPr id="16" name="Picture 15" descr="A graph of different numbers&#10;&#10;AI-generated content may be incorrect.">
            <a:extLst>
              <a:ext uri="{FF2B5EF4-FFF2-40B4-BE49-F238E27FC236}">
                <a16:creationId xmlns:a16="http://schemas.microsoft.com/office/drawing/2014/main" id="{C7E636B2-D438-BB5C-7EE2-043455E787D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265" t="49744" r="75383" b="5019"/>
          <a:stretch>
            <a:fillRect/>
          </a:stretch>
        </p:blipFill>
        <p:spPr>
          <a:xfrm>
            <a:off x="6877277" y="1771068"/>
            <a:ext cx="1518250" cy="2010430"/>
          </a:xfrm>
          <a:prstGeom prst="rect">
            <a:avLst/>
          </a:prstGeom>
        </p:spPr>
      </p:pic>
      <p:pic>
        <p:nvPicPr>
          <p:cNvPr id="17" name="Picture 16" descr="A graph of different numbers&#10;&#10;AI-generated content may be incorrect.">
            <a:extLst>
              <a:ext uri="{FF2B5EF4-FFF2-40B4-BE49-F238E27FC236}">
                <a16:creationId xmlns:a16="http://schemas.microsoft.com/office/drawing/2014/main" id="{CB784087-E911-000B-9FAF-3C0F50C675B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9296" t="94780" r="19316" b="1412"/>
          <a:stretch>
            <a:fillRect/>
          </a:stretch>
        </p:blipFill>
        <p:spPr>
          <a:xfrm>
            <a:off x="8204387" y="3811244"/>
            <a:ext cx="2942934" cy="169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5279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91F05B-C2BF-34D5-A138-A6EA4C1142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C51C08-D573-8126-846C-D12A3E8A3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7648" y="529980"/>
            <a:ext cx="11057278" cy="1325563"/>
          </a:xfrm>
        </p:spPr>
        <p:txBody>
          <a:bodyPr>
            <a:normAutofit/>
          </a:bodyPr>
          <a:lstStyle/>
          <a:p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Recomendações de adaptação às pescas – infraestruturas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Picture 3" descr="A picture containing text, sign, vector graphics&#10;&#10;Description automatically generated">
            <a:extLst>
              <a:ext uri="{FF2B5EF4-FFF2-40B4-BE49-F238E27FC236}">
                <a16:creationId xmlns:a16="http://schemas.microsoft.com/office/drawing/2014/main" id="{292FA825-10D4-3B4A-755C-C32445972C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6176961"/>
            <a:ext cx="541677" cy="541677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5AFEB1-F4A5-7985-DC87-508ED56D9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3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9194A2F-FE0F-7B40-C78D-6115237368D5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E9CEB76-705F-1751-2B8B-AA71FF66F8BD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CC878FA-2A1A-1DB3-AC8E-50C50DA329E3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47F006A1-3516-7DD7-0A9E-2C38C677C17C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74" name="Picture 2">
            <a:extLst>
              <a:ext uri="{FF2B5EF4-FFF2-40B4-BE49-F238E27FC236}">
                <a16:creationId xmlns:a16="http://schemas.microsoft.com/office/drawing/2014/main" id="{E03BF82E-432B-CBB8-1A09-2D36FF8DB4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27424" y="1855543"/>
            <a:ext cx="3019733" cy="40263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51E2DF8-69A1-7832-1CF0-4E64D3237C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5595775"/>
              </p:ext>
            </p:extLst>
          </p:nvPr>
        </p:nvGraphicFramePr>
        <p:xfrm>
          <a:off x="1064393" y="2048837"/>
          <a:ext cx="5231894" cy="381000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5231894">
                  <a:extLst>
                    <a:ext uri="{9D8B030D-6E8A-4147-A177-3AD203B41FA5}">
                      <a16:colId xmlns:a16="http://schemas.microsoft.com/office/drawing/2014/main" val="3703198024"/>
                    </a:ext>
                  </a:extLst>
                </a:gridCol>
              </a:tblGrid>
              <a:tr h="261803">
                <a:tc>
                  <a:txBody>
                    <a:bodyPr/>
                    <a:lstStyle/>
                    <a:p>
                      <a:r>
                        <a:rPr lang="en-GB" sz="1600" dirty="0" err="1"/>
                        <a:t>Desenvolvimento</a:t>
                      </a:r>
                      <a:r>
                        <a:rPr lang="en-GB" sz="1600" dirty="0"/>
                        <a:t> da </a:t>
                      </a:r>
                      <a:r>
                        <a:rPr lang="en-GB" sz="1600" dirty="0" err="1"/>
                        <a:t>infraestrutura</a:t>
                      </a:r>
                      <a:r>
                        <a:rPr lang="en-GB" sz="1600" dirty="0"/>
                        <a:t> </a:t>
                      </a:r>
                      <a:r>
                        <a:rPr lang="en-GB" sz="1600" dirty="0" err="1"/>
                        <a:t>pesqueira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8584600"/>
                  </a:ext>
                </a:extLst>
              </a:tr>
              <a:tr h="261803">
                <a:tc>
                  <a:txBody>
                    <a:bodyPr/>
                    <a:lstStyle/>
                    <a:p>
                      <a:r>
                        <a:rPr lang="pt-BR" sz="1600" dirty="0"/>
                        <a:t>Construção de portos de pesca adicionais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3066004"/>
                  </a:ext>
                </a:extLst>
              </a:tr>
              <a:tr h="40884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600" dirty="0"/>
                        <a:t>Construção de mercados de retalho distritais com equipamento de refrigeração adequado</a:t>
                      </a:r>
                      <a:endParaRPr kumimoji="0" lang="en-GB" sz="1600" b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7021044"/>
                  </a:ext>
                </a:extLst>
              </a:tr>
              <a:tr h="261803">
                <a:tc>
                  <a:txBody>
                    <a:bodyPr/>
                    <a:lstStyle/>
                    <a:p>
                      <a:r>
                        <a:rPr lang="pt-BR" sz="1600" dirty="0"/>
                        <a:t>Construção de uma oficina para a construção de barcos de pesca melhorados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8690850"/>
                  </a:ext>
                </a:extLst>
              </a:tr>
              <a:tr h="40884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600" dirty="0"/>
                        <a:t>Construir uma unidade de fabrico de materiais essenciais para a pesca</a:t>
                      </a:r>
                      <a:endParaRPr kumimoji="0" lang="en-GB" sz="1600" b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0063726"/>
                  </a:ext>
                </a:extLst>
              </a:tr>
              <a:tr h="261803">
                <a:tc>
                  <a:txBody>
                    <a:bodyPr/>
                    <a:lstStyle/>
                    <a:p>
                      <a:pPr lvl="0"/>
                      <a:r>
                        <a:rPr lang="pt-BR" sz="1600" dirty="0"/>
                        <a:t>Desenvolvimento de regras oficiais de armazenamento e preparação de alimentos.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8521455"/>
                  </a:ext>
                </a:extLst>
              </a:tr>
              <a:tr h="261803">
                <a:tc>
                  <a:txBody>
                    <a:bodyPr/>
                    <a:lstStyle/>
                    <a:p>
                      <a:pPr lvl="0"/>
                      <a:r>
                        <a:rPr lang="pt-BR" sz="1600" dirty="0"/>
                        <a:t>Desenvolvimento de redes rodoviárias entre portos de pesca e mercados e investimento em veículos refrigerados para transporte seguro de peixe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65870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12616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907CB1-8F06-F571-26CA-06981ED4BA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65F6-183C-90BA-48FA-9ED506E010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691" y="547456"/>
            <a:ext cx="11057278" cy="1325563"/>
          </a:xfrm>
        </p:spPr>
        <p:txBody>
          <a:bodyPr>
            <a:normAutofit/>
          </a:bodyPr>
          <a:lstStyle/>
          <a:p>
            <a:pPr algn="ctr"/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Recomendações de adaptação às pescas – proteção das espécies de peixes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0BCD9D-2CFE-C09C-4EE3-F12139C4D5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86815" y="6328020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4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5AA5F94-6008-1F3B-9BE4-3C32A5942D8F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2A08FD4-5584-8ABF-FA61-DA3CE574119D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EF92B15-07B4-7CB8-1A1D-746EB3CC52C5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2CBDE9D8-8857-9F65-C30E-4E9B53F008B7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A map of the island of sao tome and principe&#10;&#10;AI-generated content may be incorrect.">
            <a:extLst>
              <a:ext uri="{FF2B5EF4-FFF2-40B4-BE49-F238E27FC236}">
                <a16:creationId xmlns:a16="http://schemas.microsoft.com/office/drawing/2014/main" id="{7D361A0B-9546-2193-0077-672B0CBB6F1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77672" y="1990478"/>
            <a:ext cx="3218286" cy="2278758"/>
          </a:xfrm>
          <a:prstGeom prst="rect">
            <a:avLst/>
          </a:prstGeom>
          <a:noFill/>
        </p:spPr>
      </p:pic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0627182-D576-A734-A0DA-9476F22504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5384137"/>
              </p:ext>
            </p:extLst>
          </p:nvPr>
        </p:nvGraphicFramePr>
        <p:xfrm>
          <a:off x="972436" y="2307148"/>
          <a:ext cx="5231894" cy="149352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5231894">
                  <a:extLst>
                    <a:ext uri="{9D8B030D-6E8A-4147-A177-3AD203B41FA5}">
                      <a16:colId xmlns:a16="http://schemas.microsoft.com/office/drawing/2014/main" val="3703198024"/>
                    </a:ext>
                  </a:extLst>
                </a:gridCol>
              </a:tblGrid>
              <a:tr h="261803">
                <a:tc>
                  <a:txBody>
                    <a:bodyPr/>
                    <a:lstStyle/>
                    <a:p>
                      <a:r>
                        <a:rPr lang="pt-BR" sz="1600" dirty="0"/>
                        <a:t>Proteção das espécies de peixes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8584600"/>
                  </a:ext>
                </a:extLst>
              </a:tr>
              <a:tr h="261803">
                <a:tc>
                  <a:txBody>
                    <a:bodyPr/>
                    <a:lstStyle/>
                    <a:p>
                      <a:r>
                        <a:rPr lang="pt-BR" sz="1600" dirty="0"/>
                        <a:t>Desenvolvimento adicional e fiscalização das áreas marinhas protegidas (AMP)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3066004"/>
                  </a:ext>
                </a:extLst>
              </a:tr>
              <a:tr h="408842">
                <a:tc>
                  <a:txBody>
                    <a:bodyPr/>
                    <a:lstStyle/>
                    <a:p>
                      <a:r>
                        <a:rPr lang="pt-BR" sz="1600" dirty="0"/>
                        <a:t>Uso responsável de dispositivos de agregação de peixes ancorados (FADs)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7021044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06CCA013-4215-E900-413B-84715178FC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9593739"/>
              </p:ext>
            </p:extLst>
          </p:nvPr>
        </p:nvGraphicFramePr>
        <p:xfrm>
          <a:off x="972436" y="3889324"/>
          <a:ext cx="5231894" cy="1897086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5231894">
                  <a:extLst>
                    <a:ext uri="{9D8B030D-6E8A-4147-A177-3AD203B41FA5}">
                      <a16:colId xmlns:a16="http://schemas.microsoft.com/office/drawing/2014/main" val="3703198024"/>
                    </a:ext>
                  </a:extLst>
                </a:gridCol>
              </a:tblGrid>
              <a:tr h="261803">
                <a:tc>
                  <a:txBody>
                    <a:bodyPr/>
                    <a:lstStyle/>
                    <a:p>
                      <a:r>
                        <a:rPr lang="pt-BR" sz="1600" dirty="0"/>
                        <a:t>Quadro regulamentar para evitar a sobrepesca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8584600"/>
                  </a:ext>
                </a:extLst>
              </a:tr>
              <a:tr h="261803">
                <a:tc>
                  <a:txBody>
                    <a:bodyPr/>
                    <a:lstStyle/>
                    <a:p>
                      <a:r>
                        <a:rPr lang="en-GB" sz="1600" dirty="0" err="1"/>
                        <a:t>Juvenis</a:t>
                      </a:r>
                      <a:r>
                        <a:rPr lang="en-GB" sz="1600" dirty="0"/>
                        <a:t> </a:t>
                      </a:r>
                      <a:r>
                        <a:rPr lang="en-GB" sz="1600" dirty="0" err="1"/>
                        <a:t>que</a:t>
                      </a:r>
                      <a:r>
                        <a:rPr lang="en-GB" sz="1600" dirty="0"/>
                        <a:t> </a:t>
                      </a:r>
                      <a:r>
                        <a:rPr lang="en-GB" sz="1600" dirty="0" err="1"/>
                        <a:t>regressam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3066004"/>
                  </a:ext>
                </a:extLst>
              </a:tr>
              <a:tr h="408842">
                <a:tc>
                  <a:txBody>
                    <a:bodyPr/>
                    <a:lstStyle/>
                    <a:p>
                      <a:r>
                        <a:rPr lang="pt-BR" sz="1600" dirty="0"/>
                        <a:t>Utilização de métodos de pesca com cerco sem peso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7021044"/>
                  </a:ext>
                </a:extLst>
              </a:tr>
              <a:tr h="40884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600" dirty="0"/>
                        <a:t>Limites de captura baseados nos stocks de peixe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1649278"/>
                  </a:ext>
                </a:extLst>
              </a:tr>
              <a:tr h="40884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600" dirty="0"/>
                        <a:t>Limites ao número de embarcações de pesca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6074274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8A341B6C-9AB2-90A5-156F-65588AE8B6A7}"/>
              </a:ext>
            </a:extLst>
          </p:cNvPr>
          <p:cNvSpPr txBox="1"/>
          <p:nvPr/>
        </p:nvSpPr>
        <p:spPr>
          <a:xfrm>
            <a:off x="7137699" y="4512330"/>
            <a:ext cx="389823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A necessidade de proteção dos peixes no STP foi recentemente reconhecida:</a:t>
            </a:r>
          </a:p>
          <a:p>
            <a:endParaRPr lang="en-GB" dirty="0"/>
          </a:p>
          <a:p>
            <a:r>
              <a:rPr lang="pt-BR" b="1" dirty="0"/>
              <a:t>Oito Áreas Marinhas Protegidas </a:t>
            </a:r>
            <a:r>
              <a:rPr lang="pt-BR" dirty="0"/>
              <a:t>foram acordadas nas Assembleias de co-gestão das partes interessadas em 2024</a:t>
            </a:r>
            <a:endParaRPr lang="en-GB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16899D2-F0CB-DF9A-3616-A1DF6E04D006}"/>
              </a:ext>
            </a:extLst>
          </p:cNvPr>
          <p:cNvSpPr txBox="1"/>
          <p:nvPr/>
        </p:nvSpPr>
        <p:spPr>
          <a:xfrm>
            <a:off x="7724129" y="6416146"/>
            <a:ext cx="573709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b="1" dirty="0"/>
              <a:t>Nuno et al., 2024; https://doi.org/10.1111/csp2.13196</a:t>
            </a:r>
          </a:p>
        </p:txBody>
      </p:sp>
    </p:spTree>
    <p:extLst>
      <p:ext uri="{BB962C8B-B14F-4D97-AF65-F5344CB8AC3E}">
        <p14:creationId xmlns:p14="http://schemas.microsoft.com/office/powerpoint/2010/main" val="25499793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2E4F92-AC05-5A3F-28BD-4896D0CEC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81ECC6-1CC3-A2E5-C472-395D8243BF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501650"/>
            <a:ext cx="11057278" cy="1325563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Tourism adaptation recommendations – coastal erosion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5E82D8-AEF8-A5BC-A599-C4B6EF19F3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2277" y="6302169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5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7BF4040-A48F-F004-EEA7-265451B5F3D4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AF6FDEC-5AF0-7BA1-4902-2988F0CBEBC4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D3CF105-E640-DA4E-2F3B-05409BD2A016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D13275AD-795B-972C-C4C7-A3A4926510B6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49EA184-77B1-09E6-0378-6B1237782B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8174548"/>
              </p:ext>
            </p:extLst>
          </p:nvPr>
        </p:nvGraphicFramePr>
        <p:xfrm>
          <a:off x="838199" y="2259435"/>
          <a:ext cx="4789905" cy="3542792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4789905">
                  <a:extLst>
                    <a:ext uri="{9D8B030D-6E8A-4147-A177-3AD203B41FA5}">
                      <a16:colId xmlns:a16="http://schemas.microsoft.com/office/drawing/2014/main" val="37031980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1600" dirty="0"/>
                        <a:t>WACA+ </a:t>
                      </a:r>
                      <a:r>
                        <a:rPr lang="en-GB" sz="1600" dirty="0" err="1"/>
                        <a:t>medidas</a:t>
                      </a:r>
                      <a:r>
                        <a:rPr lang="en-GB" sz="1600" dirty="0"/>
                        <a:t> </a:t>
                      </a:r>
                      <a:r>
                        <a:rPr lang="en-GB" sz="1600" dirty="0" err="1"/>
                        <a:t>recomendadas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85846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pt-BR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Construção de diques, quebra-mares (por exemplo, gânbios) e muros protetores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3066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Criar zonas de expansão seguras para comunidades costeiras.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70210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Estabelecimento de um sistema de alerta climático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86908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Reabilitação das estações de maré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00637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Dragagem de areia para reparar praias erodidas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85214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Diversificação</a:t>
                      </a:r>
                      <a:r>
                        <a:rPr kumimoji="0" lang="en-GB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 das </a:t>
                      </a:r>
                      <a:r>
                        <a:rPr kumimoji="0" lang="en-GB" sz="1600" b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atividades</a:t>
                      </a:r>
                      <a:r>
                        <a:rPr kumimoji="0" lang="en-GB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 </a:t>
                      </a:r>
                      <a:r>
                        <a:rPr kumimoji="0" lang="en-GB" sz="1600" b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costeiras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65328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Construção de valas de drenagem e reservatórios de água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2105041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CA0C5987-26A0-C542-9B1F-1EAB4BB2D8D4}"/>
              </a:ext>
            </a:extLst>
          </p:cNvPr>
          <p:cNvSpPr txBox="1"/>
          <p:nvPr/>
        </p:nvSpPr>
        <p:spPr>
          <a:xfrm>
            <a:off x="6427442" y="1737568"/>
            <a:ext cx="493294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Medidas semelhantes financiadas pelo GCF:</a:t>
            </a:r>
            <a:endParaRPr lang="en-GB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“</a:t>
            </a:r>
            <a:r>
              <a:rPr lang="en-GB" sz="2000" b="1" dirty="0"/>
              <a:t>Building Climate Resilient Safer Islands in the Maldives</a:t>
            </a:r>
            <a:r>
              <a:rPr lang="en-GB" sz="2000" dirty="0"/>
              <a:t>” </a:t>
            </a:r>
            <a:r>
              <a:rPr lang="en-GB" sz="2000" dirty="0" err="1"/>
              <a:t>projeto</a:t>
            </a:r>
            <a:r>
              <a:rPr lang="en-GB" sz="2000" dirty="0"/>
              <a:t> </a:t>
            </a:r>
            <a:r>
              <a:rPr lang="en-GB" sz="2000" dirty="0" err="1"/>
              <a:t>aprovado</a:t>
            </a:r>
            <a:r>
              <a:rPr lang="en-GB" sz="2000" dirty="0"/>
              <a:t> </a:t>
            </a:r>
            <a:r>
              <a:rPr lang="en-GB" sz="2000" dirty="0" err="1"/>
              <a:t>em</a:t>
            </a:r>
            <a:r>
              <a:rPr lang="en-GB" sz="2000" dirty="0"/>
              <a:t> 2021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“</a:t>
            </a:r>
            <a:r>
              <a:rPr lang="en-GB" sz="2000" b="1" dirty="0"/>
              <a:t>Tonga Coastal Resilience</a:t>
            </a:r>
            <a:r>
              <a:rPr lang="en-GB" sz="2000" dirty="0"/>
              <a:t>” </a:t>
            </a:r>
            <a:r>
              <a:rPr lang="en-GB" sz="2000" dirty="0" err="1"/>
              <a:t>projeto</a:t>
            </a:r>
            <a:r>
              <a:rPr lang="en-GB" sz="2000" dirty="0"/>
              <a:t> </a:t>
            </a:r>
            <a:r>
              <a:rPr lang="en-GB" sz="2000" dirty="0" err="1"/>
              <a:t>aprovado</a:t>
            </a:r>
            <a:r>
              <a:rPr lang="en-GB" sz="2000" dirty="0"/>
              <a:t> </a:t>
            </a:r>
            <a:r>
              <a:rPr lang="en-GB" sz="2000" dirty="0" err="1"/>
              <a:t>em</a:t>
            </a:r>
            <a:r>
              <a:rPr lang="en-GB" sz="2000" dirty="0"/>
              <a:t> 2024</a:t>
            </a:r>
          </a:p>
        </p:txBody>
      </p:sp>
      <p:pic>
        <p:nvPicPr>
          <p:cNvPr id="1028" name="Picture 4" descr="Praia Banana | São Tomé &amp; Príncipe, Africa | Attractions - Lonely Planet">
            <a:extLst>
              <a:ext uri="{FF2B5EF4-FFF2-40B4-BE49-F238E27FC236}">
                <a16:creationId xmlns:a16="http://schemas.microsoft.com/office/drawing/2014/main" id="{DB3C2663-889D-E34F-A8AD-02CBCE6442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66428" y="3861959"/>
            <a:ext cx="4054976" cy="26227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427880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A1CE6-B4CD-5D95-7061-B0173E4B4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F79977-9D8B-D094-A5B4-F7ACC62CD0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501650"/>
            <a:ext cx="10518423" cy="1325563"/>
          </a:xfrm>
        </p:spPr>
        <p:txBody>
          <a:bodyPr>
            <a:normAutofit/>
          </a:bodyPr>
          <a:lstStyle/>
          <a:p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Recomendações de adaptação para a economia azul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194A09-8DA6-0796-BE6C-806C7319E4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3969" y="6365023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6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CA455EB-6DD7-A51F-84AD-ADE13E5DE188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1DA09BC-0627-7467-EEB2-7B477A1BD859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6E7D705-C9CD-4221-BD0F-021AF357A10B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8F73D9DA-FB3A-10FA-3302-3D7139FF859A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C803D0AD-8CFC-2F9F-ED16-8657BE54EC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38125"/>
            <a:ext cx="5141495" cy="4351338"/>
          </a:xfrm>
        </p:spPr>
        <p:txBody>
          <a:bodyPr>
            <a:normAutofit/>
          </a:bodyPr>
          <a:lstStyle/>
          <a:p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A pesca e o turismo estão ligados como parte da economia azul:</a:t>
            </a:r>
          </a:p>
          <a:p>
            <a:pPr lvl="1"/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A sobrepesca pode reduzir as oportunidades de mergulho
Os danos nos corais podem afetar viveiros de peixes e reduzir a biomassa dos peixes
A diminuição da biomassa de peixes pode limitar o potencial da pesca desportiva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Picture 6" descr="A picture containing text&#10;&#10;Description automatically generated">
            <a:extLst>
              <a:ext uri="{FF2B5EF4-FFF2-40B4-BE49-F238E27FC236}">
                <a16:creationId xmlns:a16="http://schemas.microsoft.com/office/drawing/2014/main" id="{35275B44-D6F7-CFA2-1851-512FB0F4E3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43935" y="1881233"/>
            <a:ext cx="3173068" cy="1862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0" name="Picture 2" descr="Dive Tribe – Diving in Sao Tome">
            <a:extLst>
              <a:ext uri="{FF2B5EF4-FFF2-40B4-BE49-F238E27FC236}">
                <a16:creationId xmlns:a16="http://schemas.microsoft.com/office/drawing/2014/main" id="{7F0F08A0-A128-D005-5636-67A9760F05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45483" y="4448963"/>
            <a:ext cx="1988345" cy="1325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 descr="Sao Tome and Principe endorses first ever fisheries management plan">
            <a:extLst>
              <a:ext uri="{FF2B5EF4-FFF2-40B4-BE49-F238E27FC236}">
                <a16:creationId xmlns:a16="http://schemas.microsoft.com/office/drawing/2014/main" id="{F0BAB39A-0BA0-2FEE-8D39-89FB8F1D844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8959"/>
          <a:stretch>
            <a:fillRect/>
          </a:stretch>
        </p:blipFill>
        <p:spPr bwMode="auto">
          <a:xfrm>
            <a:off x="6693999" y="4324066"/>
            <a:ext cx="2137180" cy="15150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5329EDD-E1DE-341B-B5B5-DD33EB89386D}"/>
              </a:ext>
            </a:extLst>
          </p:cNvPr>
          <p:cNvCxnSpPr>
            <a:cxnSpLocks/>
          </p:cNvCxnSpPr>
          <p:nvPr/>
        </p:nvCxnSpPr>
        <p:spPr>
          <a:xfrm flipH="1">
            <a:off x="8940208" y="5039329"/>
            <a:ext cx="456429" cy="0"/>
          </a:xfrm>
          <a:prstGeom prst="straightConnector1">
            <a:avLst/>
          </a:prstGeom>
          <a:ln w="508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734D122-7177-1786-F5D8-4A0881EE0508}"/>
              </a:ext>
            </a:extLst>
          </p:cNvPr>
          <p:cNvCxnSpPr>
            <a:cxnSpLocks/>
          </p:cNvCxnSpPr>
          <p:nvPr/>
        </p:nvCxnSpPr>
        <p:spPr>
          <a:xfrm>
            <a:off x="9926053" y="3897993"/>
            <a:ext cx="252646" cy="403475"/>
          </a:xfrm>
          <a:prstGeom prst="straightConnector1">
            <a:avLst/>
          </a:prstGeom>
          <a:ln w="508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446C8BA-4875-9A97-972B-4E22BC78C3CB}"/>
              </a:ext>
            </a:extLst>
          </p:cNvPr>
          <p:cNvCxnSpPr>
            <a:cxnSpLocks/>
          </p:cNvCxnSpPr>
          <p:nvPr/>
        </p:nvCxnSpPr>
        <p:spPr>
          <a:xfrm flipH="1">
            <a:off x="8129320" y="3797293"/>
            <a:ext cx="280753" cy="446290"/>
          </a:xfrm>
          <a:prstGeom prst="straightConnector1">
            <a:avLst/>
          </a:prstGeom>
          <a:ln w="508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5631DF3-2DE5-194A-F881-8D909B9986FF}"/>
              </a:ext>
            </a:extLst>
          </p:cNvPr>
          <p:cNvCxnSpPr>
            <a:cxnSpLocks/>
          </p:cNvCxnSpPr>
          <p:nvPr/>
        </p:nvCxnSpPr>
        <p:spPr>
          <a:xfrm>
            <a:off x="8967530" y="5348139"/>
            <a:ext cx="456429" cy="0"/>
          </a:xfrm>
          <a:prstGeom prst="straightConnector1">
            <a:avLst/>
          </a:prstGeom>
          <a:ln w="508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77147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46610C-9F81-71DF-EA4B-1EC082B7F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CDF512-D779-89F1-A894-01317A550A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501650"/>
            <a:ext cx="11057278" cy="1325563"/>
          </a:xfrm>
        </p:spPr>
        <p:txBody>
          <a:bodyPr>
            <a:normAutofit/>
          </a:bodyPr>
          <a:lstStyle/>
          <a:p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Recomendações para a adaptação da economia azul – ecoturismo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C34086D-8EC6-89C8-C7D9-3ECF52BEF0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2277" y="6320022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7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DCD88A0-CDB1-FB08-705D-817D90594185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5F5A31A-250D-DD1C-834B-678ED2C77ED8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C174A86-5782-CDEE-559D-282D193BA9B6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0C1BA871-D8CB-BAC8-6BAF-84F428920878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0" name="Picture 2" descr="Modular Artificial Reef Structure (MARS) | REEF DESIGN LAB">
            <a:extLst>
              <a:ext uri="{FF2B5EF4-FFF2-40B4-BE49-F238E27FC236}">
                <a16:creationId xmlns:a16="http://schemas.microsoft.com/office/drawing/2014/main" id="{68A688B8-C3A4-E99A-69A8-5D8797C0B9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58" r="21561"/>
          <a:stretch>
            <a:fillRect/>
          </a:stretch>
        </p:blipFill>
        <p:spPr bwMode="auto">
          <a:xfrm>
            <a:off x="5855974" y="4051556"/>
            <a:ext cx="2608050" cy="19856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73D7FE3-CE99-138E-79AF-308F8AC83C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3348029"/>
              </p:ext>
            </p:extLst>
          </p:nvPr>
        </p:nvGraphicFramePr>
        <p:xfrm>
          <a:off x="1159198" y="2375299"/>
          <a:ext cx="3875408" cy="284988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3875408">
                  <a:extLst>
                    <a:ext uri="{9D8B030D-6E8A-4147-A177-3AD203B41FA5}">
                      <a16:colId xmlns:a16="http://schemas.microsoft.com/office/drawing/2014/main" val="37031980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t-BR" sz="1600" dirty="0"/>
                        <a:t>Avaliações da vulnerabilidade dos corais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85846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pt-BR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Avaliação regular da saúde dos corais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3066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Identificação de áreas protegidas contra tempestades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70210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Avaliação regular das variáveis oceânicas para vulnerabilidade aos corais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86908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Desenvolvimento de viveiros de coral para transplante em áreas danificadas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00637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Desenvolvimento</a:t>
                      </a:r>
                      <a:r>
                        <a:rPr kumimoji="0" lang="en-GB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 de </a:t>
                      </a:r>
                      <a:r>
                        <a:rPr kumimoji="0" lang="en-GB" sz="1600" b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recifes</a:t>
                      </a:r>
                      <a:r>
                        <a:rPr kumimoji="0" lang="en-GB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 </a:t>
                      </a:r>
                      <a:r>
                        <a:rPr kumimoji="0" lang="en-GB" sz="1600" b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artificiais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8521455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A65C43C1-C7BA-C764-DC88-33D3E1F25FA6}"/>
              </a:ext>
            </a:extLst>
          </p:cNvPr>
          <p:cNvSpPr txBox="1"/>
          <p:nvPr/>
        </p:nvSpPr>
        <p:spPr>
          <a:xfrm>
            <a:off x="5855974" y="1827213"/>
            <a:ext cx="564954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A proteção dos corais é um dos principais focos financiados pelo GCF </a:t>
            </a:r>
            <a:r>
              <a:rPr lang="en-GB" dirty="0"/>
              <a:t>“</a:t>
            </a:r>
            <a:r>
              <a:rPr lang="en-GB" b="1" dirty="0"/>
              <a:t>Global Fund for Coral Reefs Investment Window</a:t>
            </a:r>
            <a:r>
              <a:rPr lang="en-GB" dirty="0"/>
              <a:t>” </a:t>
            </a:r>
            <a:r>
              <a:rPr lang="en-GB" dirty="0" err="1"/>
              <a:t>aprovado</a:t>
            </a:r>
            <a:r>
              <a:rPr lang="en-GB" dirty="0"/>
              <a:t> </a:t>
            </a:r>
            <a:r>
              <a:rPr lang="en-GB" dirty="0" err="1"/>
              <a:t>em</a:t>
            </a:r>
            <a:r>
              <a:rPr lang="en-GB" dirty="0"/>
              <a:t> 2021</a:t>
            </a:r>
          </a:p>
          <a:p>
            <a:r>
              <a:rPr lang="pt-BR" dirty="0"/>
              <a:t>Os primeiros recifes artificiais foram instalados em São Tomé no início de 2022 por </a:t>
            </a:r>
            <a:r>
              <a:rPr lang="en-GB" dirty="0"/>
              <a:t>MARAPA e o </a:t>
            </a:r>
            <a:r>
              <a:rPr lang="en-GB" dirty="0" err="1"/>
              <a:t>Programa</a:t>
            </a:r>
            <a:r>
              <a:rPr lang="en-GB" dirty="0"/>
              <a:t> </a:t>
            </a:r>
            <a:r>
              <a:rPr lang="en-GB" dirty="0" err="1"/>
              <a:t>Tatô</a:t>
            </a: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  <p:pic>
        <p:nvPicPr>
          <p:cNvPr id="14" name="Picture 2" descr="Coral Nurseries | Reef Resilience Network">
            <a:extLst>
              <a:ext uri="{FF2B5EF4-FFF2-40B4-BE49-F238E27FC236}">
                <a16:creationId xmlns:a16="http://schemas.microsoft.com/office/drawing/2014/main" id="{C610B6FF-5A08-92A0-8C8A-BF7DEC6D48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34458" y="3999957"/>
            <a:ext cx="2077665" cy="22682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29790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8D7C5-7980-51E6-031B-123AACB02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1E8BA37-7749-02F0-51CD-241EFF99985D}"/>
              </a:ext>
            </a:extLst>
          </p:cNvPr>
          <p:cNvSpPr/>
          <p:nvPr/>
        </p:nvSpPr>
        <p:spPr>
          <a:xfrm>
            <a:off x="7194885" y="2039048"/>
            <a:ext cx="4030579" cy="1864895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A9E1F9-454A-99D2-8FC8-4C2D090DDD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501650"/>
            <a:ext cx="11057278" cy="1325563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Tourism adaptation recommendations – eco-tourism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F05CEA-46D7-A052-19BB-830F42FEBE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8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A7DC198-BEEE-C17F-158A-D80DE049198F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98806D9-5A4A-2B22-1971-7034DCF61FA4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2440086-A830-ABC3-C412-C3E8F5C66860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B88E5BE8-9787-A5EB-BED8-B3CFBE1CA88E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74" name="Picture 2" descr="Green Fins">
            <a:extLst>
              <a:ext uri="{FF2B5EF4-FFF2-40B4-BE49-F238E27FC236}">
                <a16:creationId xmlns:a16="http://schemas.microsoft.com/office/drawing/2014/main" id="{BEF62EA1-35FA-4CA8-DFEE-48753EEE34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94884" y="2056527"/>
            <a:ext cx="4042611" cy="1819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1D2B47E-2C49-A631-2A9C-27D835CDADBB}"/>
              </a:ext>
            </a:extLst>
          </p:cNvPr>
          <p:cNvSpPr txBox="1"/>
          <p:nvPr/>
        </p:nvSpPr>
        <p:spPr>
          <a:xfrm>
            <a:off x="7339263" y="4279369"/>
            <a:ext cx="389823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Estas sugestões estão em linha com as orientações de </a:t>
            </a:r>
            <a:r>
              <a:rPr lang="en-GB" b="1" dirty="0"/>
              <a:t>Green Fins </a:t>
            </a:r>
            <a:r>
              <a:rPr lang="en-GB" dirty="0"/>
              <a:t>– </a:t>
            </a:r>
            <a:r>
              <a:rPr lang="pt-BR" dirty="0"/>
              <a:t>projeto internacionalmente reconhecido implementado pela Fundação Reef-World e pelo Programa das Nações Unidas para o Ambiente</a:t>
            </a:r>
            <a:endParaRPr lang="en-GB" dirty="0"/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02858EC5-9D23-D117-7E85-8CB645B3EA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9546652"/>
              </p:ext>
            </p:extLst>
          </p:nvPr>
        </p:nvGraphicFramePr>
        <p:xfrm>
          <a:off x="890193" y="1867667"/>
          <a:ext cx="5197642" cy="213442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5197642">
                  <a:extLst>
                    <a:ext uri="{9D8B030D-6E8A-4147-A177-3AD203B41FA5}">
                      <a16:colId xmlns:a16="http://schemas.microsoft.com/office/drawing/2014/main" val="3703198024"/>
                    </a:ext>
                  </a:extLst>
                </a:gridCol>
              </a:tblGrid>
              <a:tr h="261803">
                <a:tc>
                  <a:txBody>
                    <a:bodyPr/>
                    <a:lstStyle/>
                    <a:p>
                      <a:r>
                        <a:rPr lang="pt-BR" sz="1600" dirty="0"/>
                        <a:t>Código de conduta para mergulho sustentável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8584600"/>
                  </a:ext>
                </a:extLst>
              </a:tr>
              <a:tr h="26180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pt-BR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Limitações no número de mergulhadores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3066004"/>
                  </a:ext>
                </a:extLst>
              </a:tr>
              <a:tr h="40884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Política de não tocar para corais</a:t>
                      </a:r>
                      <a:endParaRPr kumimoji="0" lang="en-GB" sz="1600" b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7021044"/>
                  </a:ext>
                </a:extLst>
              </a:tr>
              <a:tr h="26180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Uso obrigatório de protetor solar seguro para recifes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8690850"/>
                  </a:ext>
                </a:extLst>
              </a:tr>
              <a:tr h="40884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Práticas</a:t>
                      </a:r>
                      <a:r>
                        <a:rPr kumimoji="0" lang="en-GB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 </a:t>
                      </a:r>
                      <a:r>
                        <a:rPr kumimoji="0" lang="en-GB" sz="1600" b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sustentáveis</a:t>
                      </a:r>
                      <a:r>
                        <a:rPr kumimoji="0" lang="en-GB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 de </a:t>
                      </a:r>
                      <a:r>
                        <a:rPr kumimoji="0" lang="en-GB" sz="1600" b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ancoragem</a:t>
                      </a:r>
                      <a:endParaRPr kumimoji="0" lang="en-GB" sz="1600" b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0063726"/>
                  </a:ext>
                </a:extLst>
              </a:tr>
              <a:tr h="26180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600" dirty="0"/>
                        <a:t>Educação para turistas e guias sobre o impacto ambiental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8521455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0044FF32-7A66-66C5-F732-A704ED7179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0111252"/>
              </p:ext>
            </p:extLst>
          </p:nvPr>
        </p:nvGraphicFramePr>
        <p:xfrm>
          <a:off x="890193" y="4150736"/>
          <a:ext cx="5197642" cy="2213258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5197642">
                  <a:extLst>
                    <a:ext uri="{9D8B030D-6E8A-4147-A177-3AD203B41FA5}">
                      <a16:colId xmlns:a16="http://schemas.microsoft.com/office/drawing/2014/main" val="3703198024"/>
                    </a:ext>
                  </a:extLst>
                </a:gridCol>
              </a:tblGrid>
              <a:tr h="261803">
                <a:tc>
                  <a:txBody>
                    <a:bodyPr/>
                    <a:lstStyle/>
                    <a:p>
                      <a:r>
                        <a:rPr lang="en-GB" sz="1600" dirty="0"/>
                        <a:t>Quadro </a:t>
                      </a:r>
                      <a:r>
                        <a:rPr lang="en-GB" sz="1600" dirty="0" err="1"/>
                        <a:t>regulatório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8584600"/>
                  </a:ext>
                </a:extLst>
              </a:tr>
              <a:tr h="26180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pt-BR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Licenciamento ou autorização para operadores de mergulho</a:t>
                      </a:r>
                      <a:endParaRPr kumimoji="0" lang="en-GB" sz="1600" b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3066004"/>
                  </a:ext>
                </a:extLst>
              </a:tr>
              <a:tr h="40884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Critérios mínimos de sustentabilidade e segurança</a:t>
                      </a:r>
                      <a:endParaRPr kumimoji="0" lang="en-GB" sz="1600" b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7021044"/>
                  </a:ext>
                </a:extLst>
              </a:tr>
              <a:tr h="26180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Designação de zonas proibidas de pesca ou recreativas restritas nos recifes mais sensíveis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8690850"/>
                  </a:ext>
                </a:extLst>
              </a:tr>
              <a:tr h="40884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Monitorização, aplicação e sanções para danos ambientais comprovados</a:t>
                      </a:r>
                      <a:endParaRPr kumimoji="0" lang="en-GB" sz="1600" b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00637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672691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FB352A-2634-3562-A09A-4FB4B4D1C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F1E6F6-022C-D801-1638-5A500899B5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7648" y="529980"/>
            <a:ext cx="11057278" cy="1325563"/>
          </a:xfrm>
        </p:spPr>
        <p:txBody>
          <a:bodyPr>
            <a:normAutofit/>
          </a:bodyPr>
          <a:lstStyle/>
          <a:p>
            <a:pPr algn="ctr"/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Recomendações para o turismo e adaptação das pescas – pesca desportiva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13851B-CD58-CE20-8E81-3BF14A6D1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62466" y="6328020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9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E6F0F37-8CC1-23AF-3A94-79651DAB901A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E0D7234-5031-99F1-974E-2AE0E752C0C4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0466DB0-65D0-B50C-59A9-1F6FCB3F6565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95577E05-CE3D-545A-D862-AF5560E99135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 descr="Yellowfin Tuna - Species Guide">
            <a:extLst>
              <a:ext uri="{FF2B5EF4-FFF2-40B4-BE49-F238E27FC236}">
                <a16:creationId xmlns:a16="http://schemas.microsoft.com/office/drawing/2014/main" id="{212BE09D-7D1E-B49D-C2B8-8C82301C391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94"/>
          <a:stretch>
            <a:fillRect/>
          </a:stretch>
        </p:blipFill>
        <p:spPr bwMode="auto">
          <a:xfrm>
            <a:off x="6931025" y="4632241"/>
            <a:ext cx="1908175" cy="15447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3E677F2-B7A2-29EF-E00B-60955A9B7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830947"/>
              </p:ext>
            </p:extLst>
          </p:nvPr>
        </p:nvGraphicFramePr>
        <p:xfrm>
          <a:off x="864106" y="2288680"/>
          <a:ext cx="5231894" cy="3776294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5231894">
                  <a:extLst>
                    <a:ext uri="{9D8B030D-6E8A-4147-A177-3AD203B41FA5}">
                      <a16:colId xmlns:a16="http://schemas.microsoft.com/office/drawing/2014/main" val="3703198024"/>
                    </a:ext>
                  </a:extLst>
                </a:gridCol>
              </a:tblGrid>
              <a:tr h="261803">
                <a:tc>
                  <a:txBody>
                    <a:bodyPr/>
                    <a:lstStyle/>
                    <a:p>
                      <a:r>
                        <a:rPr lang="pt-BR" sz="1600" dirty="0"/>
                        <a:t>Quadro regulatório para a pesca desportiva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8584600"/>
                  </a:ext>
                </a:extLst>
              </a:tr>
              <a:tr h="261803">
                <a:tc>
                  <a:txBody>
                    <a:bodyPr/>
                    <a:lstStyle/>
                    <a:p>
                      <a:pPr lvl="0"/>
                      <a:r>
                        <a:rPr lang="pt-BR" sz="1600" dirty="0"/>
                        <a:t>Criação de zonas de pesca desportiva com base em estudos ecológicos existentes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3066004"/>
                  </a:ext>
                </a:extLst>
              </a:tr>
              <a:tr h="408842">
                <a:tc>
                  <a:txBody>
                    <a:bodyPr/>
                    <a:lstStyle/>
                    <a:p>
                      <a:pPr lvl="0"/>
                      <a:r>
                        <a:rPr lang="pt-BR" sz="1600" dirty="0"/>
                        <a:t>Licenças obrigatórias para pesca amadora e desportiva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7021044"/>
                  </a:ext>
                </a:extLst>
              </a:tr>
              <a:tr h="40884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600" dirty="0"/>
                        <a:t>Respeito pela época fechada (épocas de reprodução)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744287"/>
                  </a:ext>
                </a:extLst>
              </a:tr>
              <a:tr h="40884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600" dirty="0"/>
                        <a:t>Limites de captura e tamanhos mínimos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4469339"/>
                  </a:ext>
                </a:extLst>
              </a:tr>
              <a:tr h="40884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600" dirty="0"/>
                        <a:t>Proibição da pesca de espécies em perigo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2836392"/>
                  </a:ext>
                </a:extLst>
              </a:tr>
              <a:tr h="40884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600" dirty="0"/>
                        <a:t>Registo de capturas e envios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7650106"/>
                  </a:ext>
                </a:extLst>
              </a:tr>
              <a:tr h="40884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600" dirty="0"/>
                        <a:t>Exigir guias certificados e embarcações seguras e marinheiras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04795154"/>
                  </a:ext>
                </a:extLst>
              </a:tr>
              <a:tr h="40884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dirty="0" err="1"/>
                        <a:t>Inspeção</a:t>
                      </a:r>
                      <a:r>
                        <a:rPr lang="en-GB" sz="1600" dirty="0"/>
                        <a:t> </a:t>
                      </a:r>
                      <a:r>
                        <a:rPr lang="en-GB" sz="1600" dirty="0" err="1"/>
                        <a:t>ambiental</a:t>
                      </a:r>
                      <a:r>
                        <a:rPr lang="en-GB" sz="1600" dirty="0"/>
                        <a:t> e </a:t>
                      </a:r>
                      <a:r>
                        <a:rPr lang="en-GB" sz="1600" dirty="0" err="1"/>
                        <a:t>marítima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8511839"/>
                  </a:ext>
                </a:extLst>
              </a:tr>
            </a:tbl>
          </a:graphicData>
        </a:graphic>
      </p:graphicFrame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6D776C76-1700-43CC-D754-D3274FEB44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9077471"/>
              </p:ext>
            </p:extLst>
          </p:nvPr>
        </p:nvGraphicFramePr>
        <p:xfrm>
          <a:off x="6931025" y="2213488"/>
          <a:ext cx="4422776" cy="2133600"/>
        </p:xfrm>
        <a:graphic>
          <a:graphicData uri="http://schemas.openxmlformats.org/drawingml/2006/table">
            <a:tbl>
              <a:tblPr firstRow="1" firstCol="1" bandRow="1"/>
              <a:tblGrid>
                <a:gridCol w="2211388">
                  <a:extLst>
                    <a:ext uri="{9D8B030D-6E8A-4147-A177-3AD203B41FA5}">
                      <a16:colId xmlns:a16="http://schemas.microsoft.com/office/drawing/2014/main" val="2795396303"/>
                    </a:ext>
                  </a:extLst>
                </a:gridCol>
                <a:gridCol w="2211388">
                  <a:extLst>
                    <a:ext uri="{9D8B030D-6E8A-4147-A177-3AD203B41FA5}">
                      <a16:colId xmlns:a16="http://schemas.microsoft.com/office/drawing/2014/main" val="2966034151"/>
                    </a:ext>
                  </a:extLst>
                </a:gridCol>
              </a:tblGrid>
              <a:tr h="211182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País/Destino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 dirty="0" err="1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Regulamentação</a:t>
                      </a:r>
                      <a:r>
                        <a:rPr lang="en-GB" sz="1400" b="1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 e Serviços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1261616"/>
                  </a:ext>
                </a:extLst>
              </a:tr>
              <a:tr h="411545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Costa Rica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dirty="0" err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Licenças</a:t>
                      </a:r>
                      <a:r>
                        <a:rPr lang="en-GB" sz="14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GB" sz="1400" dirty="0" err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obrigatórias</a:t>
                      </a:r>
                      <a:r>
                        <a:rPr lang="en-GB" sz="14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, </a:t>
                      </a:r>
                      <a:r>
                        <a:rPr lang="en-GB" sz="1400" dirty="0" err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áreas</a:t>
                      </a:r>
                      <a:r>
                        <a:rPr lang="en-GB" sz="14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GB" sz="1400" dirty="0" err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protegidas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9692851"/>
                  </a:ext>
                </a:extLst>
              </a:tr>
              <a:tr h="627471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Brazil (Pantanal)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Inscrição de pescadores amadores, época fechada, limites de captura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9593215"/>
                  </a:ext>
                </a:extLst>
              </a:tr>
              <a:tr h="411545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Mauritius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dirty="0" err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Torneios</a:t>
                      </a:r>
                      <a:r>
                        <a:rPr lang="en-GB" sz="14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GB" sz="1400" dirty="0" err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regulados</a:t>
                      </a:r>
                      <a:r>
                        <a:rPr lang="en-GB" sz="14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, </a:t>
                      </a:r>
                      <a:r>
                        <a:rPr lang="en-GB" sz="1400" dirty="0" err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alojamento</a:t>
                      </a:r>
                      <a:r>
                        <a:rPr lang="en-GB" sz="14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GB" sz="1400" dirty="0" err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ecológico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5826632"/>
                  </a:ext>
                </a:extLst>
              </a:tr>
              <a:tr h="411545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Portugal (Azores)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Licenciamento de pesca e turismo, inspeção ambiental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9128047"/>
                  </a:ext>
                </a:extLst>
              </a:tr>
            </a:tbl>
          </a:graphicData>
        </a:graphic>
      </p:graphicFrame>
      <p:pic>
        <p:nvPicPr>
          <p:cNvPr id="4098" name="Picture 2" descr="Deep Sea Fishing - Fishing Techniques | Guidesly">
            <a:extLst>
              <a:ext uri="{FF2B5EF4-FFF2-40B4-BE49-F238E27FC236}">
                <a16:creationId xmlns:a16="http://schemas.microsoft.com/office/drawing/2014/main" id="{B14F7D38-59BE-0BF8-0D6B-C12E44B030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67799" y="4647000"/>
            <a:ext cx="2057401" cy="15430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633051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E6A5532-6683-13E3-C265-43BA25C54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10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A93C80A-C674-1DBB-5305-06A8E4C7EF58}"/>
              </a:ext>
            </a:extLst>
          </p:cNvPr>
          <p:cNvGrpSpPr/>
          <p:nvPr/>
        </p:nvGrpSpPr>
        <p:grpSpPr>
          <a:xfrm>
            <a:off x="-14068" y="-21659"/>
            <a:ext cx="12393386" cy="1611307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FDE89E6-8A6E-EC4E-E986-BBD249F52F1E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16B3FB0-E509-4B22-624E-E9AC14B76247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Title 2">
            <a:extLst>
              <a:ext uri="{FF2B5EF4-FFF2-40B4-BE49-F238E27FC236}">
                <a16:creationId xmlns:a16="http://schemas.microsoft.com/office/drawing/2014/main" id="{A9C56575-D07C-0F96-5881-6F5315AFDB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10036" y="2365050"/>
            <a:ext cx="4852615" cy="2376264"/>
          </a:xfrm>
        </p:spPr>
        <p:txBody>
          <a:bodyPr>
            <a:noAutofit/>
          </a:bodyPr>
          <a:lstStyle/>
          <a:p>
            <a:r>
              <a:rPr lang="en-US" sz="48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Obrigado</a:t>
            </a:r>
            <a:endParaRPr lang="en-US" sz="48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EF1EDE0D-99E4-90B7-BDA1-FECF18E8AD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257"/>
          <a:stretch>
            <a:fillRect/>
          </a:stretch>
        </p:blipFill>
        <p:spPr>
          <a:xfrm>
            <a:off x="1699003" y="2950234"/>
            <a:ext cx="4286633" cy="1426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9297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B4665977E207A449548B2B5BC616899" ma:contentTypeVersion="17" ma:contentTypeDescription="Create a new document." ma:contentTypeScope="" ma:versionID="b39e9f3cad3d2ef1edb569404013632f">
  <xsd:schema xmlns:xsd="http://www.w3.org/2001/XMLSchema" xmlns:xs="http://www.w3.org/2001/XMLSchema" xmlns:p="http://schemas.microsoft.com/office/2006/metadata/properties" xmlns:ns2="9b0ad5ae-bd03-426b-aed7-53a4fff41dc5" xmlns:ns3="66d5c836-a2c7-4c0e-b7db-0b4e4e817a8a" targetNamespace="http://schemas.microsoft.com/office/2006/metadata/properties" ma:root="true" ma:fieldsID="07d2476d5f7e7a8603ca226630fd531a" ns2:_="" ns3:_="">
    <xsd:import namespace="9b0ad5ae-bd03-426b-aed7-53a4fff41dc5"/>
    <xsd:import namespace="66d5c836-a2c7-4c0e-b7db-0b4e4e817a8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ObjectDetectorVersions" minOccurs="0"/>
                <xsd:element ref="ns2:MediaServiceLocation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b0ad5ae-bd03-426b-aed7-53a4fff41dc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f40eee1e-ad38-437e-be40-fc9f033adc9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20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Location" ma:index="23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6d5c836-a2c7-4c0e-b7db-0b4e4e817a8a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ad403595-b248-47b3-ba4e-d9145443b568}" ma:internalName="TaxCatchAll" ma:showField="CatchAllData" ma:web="66d5c836-a2c7-4c0e-b7db-0b4e4e817a8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66d5c836-a2c7-4c0e-b7db-0b4e4e817a8a" xsi:nil="true"/>
    <lcf76f155ced4ddcb4097134ff3c332f xmlns="9b0ad5ae-bd03-426b-aed7-53a4fff41dc5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428D8B5F-9E10-41E1-BAE2-713434E77AB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b0ad5ae-bd03-426b-aed7-53a4fff41dc5"/>
    <ds:schemaRef ds:uri="66d5c836-a2c7-4c0e-b7db-0b4e4e817a8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487DD47-D233-4FBA-AAAD-453C53C3A3D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5DEA976-F7F1-432E-BC56-20E1CA73DEC7}">
  <ds:schemaRefs>
    <ds:schemaRef ds:uri="http://schemas.microsoft.com/office/2006/metadata/properties"/>
    <ds:schemaRef ds:uri="http://schemas.microsoft.com/office/infopath/2007/PartnerControls"/>
    <ds:schemaRef ds:uri="66d5c836-a2c7-4c0e-b7db-0b4e4e817a8a"/>
    <ds:schemaRef ds:uri="9b0ad5ae-bd03-426b-aed7-53a4fff41dc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2500</TotalTime>
  <Words>797</Words>
  <Application>Microsoft Office PowerPoint</Application>
  <PresentationFormat>Widescreen</PresentationFormat>
  <Paragraphs>98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Arial</vt:lpstr>
      <vt:lpstr>Calibri</vt:lpstr>
      <vt:lpstr>Calibri Light</vt:lpstr>
      <vt:lpstr>Garamond</vt:lpstr>
      <vt:lpstr>Georgia</vt:lpstr>
      <vt:lpstr>Office Theme</vt:lpstr>
      <vt:lpstr>Alterações climáticas e impactos das alterações climáticas em São Tomé e Príncipe, com foco nos setores da pesca e turismo no contexto da Economia Azul São Tomé e Príncipe, novembro/dezembro de 2025</vt:lpstr>
      <vt:lpstr>Resumo das conclusões do relatório</vt:lpstr>
      <vt:lpstr>Recomendações de adaptação às pescas – infraestruturas</vt:lpstr>
      <vt:lpstr>Recomendações de adaptação às pescas – proteção das espécies de peixes</vt:lpstr>
      <vt:lpstr>Tourism adaptation recommendations – coastal erosion</vt:lpstr>
      <vt:lpstr>Recomendações de adaptação para a economia azul</vt:lpstr>
      <vt:lpstr>Recomendações para a adaptação da economia azul – ecoturismo</vt:lpstr>
      <vt:lpstr>Tourism adaptation recommendations – eco-tourism</vt:lpstr>
      <vt:lpstr>Recomendações para o turismo e adaptação das pescas – pesca desportiva</vt:lpstr>
      <vt:lpstr>Obrigado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Fishery Committee for the Eastern Central Atlantic 9th Scientific Sub-Committee Nouakchott, Mauritania, December 2022</dc:title>
  <dc:creator>Mcdonough, Sakchai (FAORAF)</dc:creator>
  <cp:lastModifiedBy>Samuel Greenrod</cp:lastModifiedBy>
  <cp:revision>23</cp:revision>
  <dcterms:created xsi:type="dcterms:W3CDTF">2022-11-03T10:54:55Z</dcterms:created>
  <dcterms:modified xsi:type="dcterms:W3CDTF">2025-11-29T16:04:49Z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0x0101009B4665977E207A449548B2B5BC616899</vt:lpwstr>
  </property>
  <property fmtid="{D5CDD505-2E9C-101B-9397-08002B2CF9AE}" pid="3" name="MediaServiceImageTags">
    <vt:lpwstr/>
  </property>
</Properties>
</file>