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16_A20CF00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78" r:id="rId5"/>
    <p:sldId id="318" r:id="rId6"/>
    <p:sldId id="319" r:id="rId7"/>
    <p:sldId id="320" r:id="rId8"/>
    <p:sldId id="303" r:id="rId9"/>
    <p:sldId id="304" r:id="rId10"/>
    <p:sldId id="305" r:id="rId11"/>
    <p:sldId id="312" r:id="rId12"/>
    <p:sldId id="306" r:id="rId13"/>
    <p:sldId id="323" r:id="rId14"/>
    <p:sldId id="313" r:id="rId15"/>
    <p:sldId id="315" r:id="rId16"/>
    <p:sldId id="317" r:id="rId17"/>
    <p:sldId id="324" r:id="rId18"/>
    <p:sldId id="262" r:id="rId19"/>
    <p:sldId id="307" r:id="rId20"/>
    <p:sldId id="308" r:id="rId21"/>
    <p:sldId id="309" r:id="rId22"/>
    <p:sldId id="310" r:id="rId23"/>
    <p:sldId id="311" r:id="rId24"/>
    <p:sldId id="316" r:id="rId25"/>
    <p:sldId id="280" r:id="rId26"/>
    <p:sldId id="295" r:id="rId27"/>
    <p:sldId id="274" r:id="rId28"/>
    <p:sldId id="296" r:id="rId29"/>
    <p:sldId id="281" r:id="rId30"/>
    <p:sldId id="297" r:id="rId31"/>
    <p:sldId id="298" r:id="rId32"/>
    <p:sldId id="325" r:id="rId33"/>
    <p:sldId id="301" r:id="rId34"/>
    <p:sldId id="282" r:id="rId35"/>
    <p:sldId id="326" r:id="rId36"/>
    <p:sldId id="302" r:id="rId37"/>
    <p:sldId id="299" r:id="rId38"/>
    <p:sldId id="321" r:id="rId39"/>
    <p:sldId id="322" r:id="rId40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CC7A0A-C2E7-4947-81B5-6B812B463721}" v="86" dt="2025-11-28T16:43:14.1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807"/>
    <p:restoredTop sz="96327"/>
  </p:normalViewPr>
  <p:slideViewPr>
    <p:cSldViewPr snapToGrid="0">
      <p:cViewPr>
        <p:scale>
          <a:sx n="75" d="100"/>
          <a:sy n="75" d="100"/>
        </p:scale>
        <p:origin x="1032" y="22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microsoft.com/office/2016/11/relationships/changesInfo" Target="changesInfos/changesInfo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undo custSel modSld">
      <pc:chgData name="Greenrod, Samuel (OCBD)" userId="2206092a-8a12-487a-a963-cafe9a401430" providerId="ADAL" clId="{20C3C022-8956-41D8-B9EF-F034660AD755}" dt="2025-11-28T17:07:16.768" v="309" actId="27636"/>
      <pc:docMkLst>
        <pc:docMk/>
      </pc:docMkLst>
      <pc:sldChg chg="modSp mod">
        <pc:chgData name="Greenrod, Samuel (OCBD)" userId="2206092a-8a12-487a-a963-cafe9a401430" providerId="ADAL" clId="{20C3C022-8956-41D8-B9EF-F034660AD755}" dt="2025-11-27T15:39:13.498" v="66" actId="27636"/>
        <pc:sldMkLst>
          <pc:docMk/>
          <pc:sldMk cId="147372020" sldId="262"/>
        </pc:sldMkLst>
        <pc:spChg chg="mod">
          <ac:chgData name="Greenrod, Samuel (OCBD)" userId="2206092a-8a12-487a-a963-cafe9a401430" providerId="ADAL" clId="{20C3C022-8956-41D8-B9EF-F034660AD755}" dt="2025-11-27T15:38:53.081" v="53" actId="14100"/>
          <ac:spMkLst>
            <pc:docMk/>
            <pc:sldMk cId="147372020" sldId="262"/>
            <ac:spMk id="2" creationId="{E8639597-57ED-0A4B-54BB-C49E2BC6658E}"/>
          </ac:spMkLst>
        </pc:spChg>
        <pc:spChg chg="mod">
          <ac:chgData name="Greenrod, Samuel (OCBD)" userId="2206092a-8a12-487a-a963-cafe9a401430" providerId="ADAL" clId="{20C3C022-8956-41D8-B9EF-F034660AD755}" dt="2025-11-27T15:39:13.498" v="66" actId="27636"/>
          <ac:spMkLst>
            <pc:docMk/>
            <pc:sldMk cId="147372020" sldId="262"/>
            <ac:spMk id="3" creationId="{658F7D0B-3588-08B0-0049-708DBA68FA5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9:14.725" v="129" actId="113"/>
        <pc:sldMkLst>
          <pc:docMk/>
          <pc:sldMk cId="961859304" sldId="274"/>
        </pc:sldMkLst>
        <pc:spChg chg="mod">
          <ac:chgData name="Greenrod, Samuel (OCBD)" userId="2206092a-8a12-487a-a963-cafe9a401430" providerId="ADAL" clId="{20C3C022-8956-41D8-B9EF-F034660AD755}" dt="2025-11-27T15:49:14.725" v="129" actId="113"/>
          <ac:spMkLst>
            <pc:docMk/>
            <pc:sldMk cId="961859304" sldId="274"/>
            <ac:spMk id="12" creationId="{7AA4B144-32AA-BF9C-A1E7-A25A8EE3EA8F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8:00.681" v="232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5:57:56.667" v="231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5:58:00.681" v="232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3:50.024" v="125" actId="27636"/>
        <pc:sldMkLst>
          <pc:docMk/>
          <pc:sldMk cId="3077280897" sldId="280"/>
        </pc:sldMkLst>
        <pc:spChg chg="mod">
          <ac:chgData name="Greenrod, Samuel (OCBD)" userId="2206092a-8a12-487a-a963-cafe9a401430" providerId="ADAL" clId="{20C3C022-8956-41D8-B9EF-F034660AD755}" dt="2025-11-27T15:43:50.024" v="125" actId="27636"/>
          <ac:spMkLst>
            <pc:docMk/>
            <pc:sldMk cId="3077280897" sldId="280"/>
            <ac:spMk id="3" creationId="{3E59EDD1-AA50-5BD6-0C61-E0284018FFE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0:21.347" v="150" actId="404"/>
        <pc:sldMkLst>
          <pc:docMk/>
          <pc:sldMk cId="658562017" sldId="281"/>
        </pc:sldMkLst>
        <pc:spChg chg="mod">
          <ac:chgData name="Greenrod, Samuel (OCBD)" userId="2206092a-8a12-487a-a963-cafe9a401430" providerId="ADAL" clId="{20C3C022-8956-41D8-B9EF-F034660AD755}" dt="2025-11-27T15:50:21.347" v="150" actId="404"/>
          <ac:spMkLst>
            <pc:docMk/>
            <pc:sldMk cId="658562017" sldId="281"/>
            <ac:spMk id="16" creationId="{1496C946-CF81-0129-19E4-C612E6650B8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20.575" v="171" actId="14100"/>
        <pc:sldMkLst>
          <pc:docMk/>
          <pc:sldMk cId="2877324331" sldId="282"/>
        </pc:sldMkLst>
        <pc:spChg chg="mod">
          <ac:chgData name="Greenrod, Samuel (OCBD)" userId="2206092a-8a12-487a-a963-cafe9a401430" providerId="ADAL" clId="{20C3C022-8956-41D8-B9EF-F034660AD755}" dt="2025-11-27T15:56:13.496" v="167" actId="1076"/>
          <ac:spMkLst>
            <pc:docMk/>
            <pc:sldMk cId="2877324331" sldId="282"/>
            <ac:spMk id="13" creationId="{AAA54446-B857-8C00-F851-2005974E011E}"/>
          </ac:spMkLst>
        </pc:spChg>
        <pc:spChg chg="mod">
          <ac:chgData name="Greenrod, Samuel (OCBD)" userId="2206092a-8a12-487a-a963-cafe9a401430" providerId="ADAL" clId="{20C3C022-8956-41D8-B9EF-F034660AD755}" dt="2025-11-27T15:56:20.575" v="171" actId="14100"/>
          <ac:spMkLst>
            <pc:docMk/>
            <pc:sldMk cId="2877324331" sldId="282"/>
            <ac:spMk id="18" creationId="{F24CC8D1-B9D3-12C0-2124-42666C19C029}"/>
          </ac:spMkLst>
        </pc:spChg>
        <pc:spChg chg="mod">
          <ac:chgData name="Greenrod, Samuel (OCBD)" userId="2206092a-8a12-487a-a963-cafe9a401430" providerId="ADAL" clId="{20C3C022-8956-41D8-B9EF-F034660AD755}" dt="2025-11-27T15:56:17.139" v="169" actId="14100"/>
          <ac:spMkLst>
            <pc:docMk/>
            <pc:sldMk cId="2877324331" sldId="282"/>
            <ac:spMk id="19" creationId="{0579BC3F-B735-CDB8-60DE-1E628BC541D8}"/>
          </ac:spMkLst>
        </pc:spChg>
      </pc:sldChg>
      <pc:sldChg chg="modSp">
        <pc:chgData name="Greenrod, Samuel (OCBD)" userId="2206092a-8a12-487a-a963-cafe9a401430" providerId="ADAL" clId="{20C3C022-8956-41D8-B9EF-F034660AD755}" dt="2025-11-27T15:49:22.996" v="130"/>
        <pc:sldMkLst>
          <pc:docMk/>
          <pc:sldMk cId="2814232694" sldId="296"/>
        </pc:sldMkLst>
        <pc:spChg chg="mod">
          <ac:chgData name="Greenrod, Samuel (OCBD)" userId="2206092a-8a12-487a-a963-cafe9a401430" providerId="ADAL" clId="{20C3C022-8956-41D8-B9EF-F034660AD755}" dt="2025-11-27T15:49:22.996" v="130"/>
          <ac:spMkLst>
            <pc:docMk/>
            <pc:sldMk cId="2814232694" sldId="296"/>
            <ac:spMk id="24" creationId="{5EB191D9-48B1-7AB4-2BF7-2329A9CEBBCC}"/>
          </ac:spMkLst>
        </pc:spChg>
      </pc:sldChg>
      <pc:sldChg chg="addSp delSp modSp mod">
        <pc:chgData name="Greenrod, Samuel (OCBD)" userId="2206092a-8a12-487a-a963-cafe9a401430" providerId="ADAL" clId="{20C3C022-8956-41D8-B9EF-F034660AD755}" dt="2025-11-27T16:01:25.772" v="274" actId="1076"/>
        <pc:sldMkLst>
          <pc:docMk/>
          <pc:sldMk cId="1575460081" sldId="297"/>
        </pc:sldMkLst>
        <pc:spChg chg="del">
          <ac:chgData name="Greenrod, Samuel (OCBD)" userId="2206092a-8a12-487a-a963-cafe9a401430" providerId="ADAL" clId="{20C3C022-8956-41D8-B9EF-F034660AD755}" dt="2025-11-27T16:01:19.392" v="271" actId="478"/>
          <ac:spMkLst>
            <pc:docMk/>
            <pc:sldMk cId="1575460081" sldId="297"/>
            <ac:spMk id="7" creationId="{6D721A4D-FD8F-9FD4-7FAD-4B412E8243E2}"/>
          </ac:spMkLst>
        </pc:spChg>
        <pc:spChg chg="add del mod">
          <ac:chgData name="Greenrod, Samuel (OCBD)" userId="2206092a-8a12-487a-a963-cafe9a401430" providerId="ADAL" clId="{20C3C022-8956-41D8-B9EF-F034660AD755}" dt="2025-11-27T16:01:20.905" v="272" actId="478"/>
          <ac:spMkLst>
            <pc:docMk/>
            <pc:sldMk cId="1575460081" sldId="297"/>
            <ac:spMk id="14" creationId="{048066E7-D2AD-5018-915E-8E2603064886}"/>
          </ac:spMkLst>
        </pc:spChg>
        <pc:picChg chg="mod">
          <ac:chgData name="Greenrod, Samuel (OCBD)" userId="2206092a-8a12-487a-a963-cafe9a401430" providerId="ADAL" clId="{20C3C022-8956-41D8-B9EF-F034660AD755}" dt="2025-11-27T16:01:25.772" v="274" actId="1076"/>
          <ac:picMkLst>
            <pc:docMk/>
            <pc:sldMk cId="1575460081" sldId="297"/>
            <ac:picMk id="3" creationId="{73E82B13-4E43-31B1-EC5A-1C4BEF6B31A4}"/>
          </ac:picMkLst>
        </pc:picChg>
        <pc:picChg chg="mod">
          <ac:chgData name="Greenrod, Samuel (OCBD)" userId="2206092a-8a12-487a-a963-cafe9a401430" providerId="ADAL" clId="{20C3C022-8956-41D8-B9EF-F034660AD755}" dt="2025-11-27T16:01:23.926" v="273" actId="1076"/>
          <ac:picMkLst>
            <pc:docMk/>
            <pc:sldMk cId="1575460081" sldId="297"/>
            <ac:picMk id="12" creationId="{A507DD38-3589-EEDF-5888-B8F2E341508E}"/>
          </ac:picMkLst>
        </pc:picChg>
      </pc:sldChg>
      <pc:sldChg chg="addSp modSp mod">
        <pc:chgData name="Greenrod, Samuel (OCBD)" userId="2206092a-8a12-487a-a963-cafe9a401430" providerId="ADAL" clId="{20C3C022-8956-41D8-B9EF-F034660AD755}" dt="2025-11-27T15:54:47.959" v="160" actId="1076"/>
        <pc:sldMkLst>
          <pc:docMk/>
          <pc:sldMk cId="2012845417" sldId="298"/>
        </pc:sldMkLst>
        <pc:graphicFrameChg chg="mod">
          <ac:chgData name="Greenrod, Samuel (OCBD)" userId="2206092a-8a12-487a-a963-cafe9a401430" providerId="ADAL" clId="{20C3C022-8956-41D8-B9EF-F034660AD755}" dt="2025-11-27T15:54:15.992" v="151" actId="1076"/>
          <ac:graphicFrameMkLst>
            <pc:docMk/>
            <pc:sldMk cId="2012845417" sldId="298"/>
            <ac:graphicFrameMk id="17" creationId="{FCF85196-E592-F608-AEC6-F518B87DAF3E}"/>
          </ac:graphicFrameMkLst>
        </pc:graphicFrameChg>
        <pc:cxnChg chg="add mod">
          <ac:chgData name="Greenrod, Samuel (OCBD)" userId="2206092a-8a12-487a-a963-cafe9a401430" providerId="ADAL" clId="{20C3C022-8956-41D8-B9EF-F034660AD755}" dt="2025-11-27T15:54:30.095" v="153" actId="1076"/>
          <ac:cxnSpMkLst>
            <pc:docMk/>
            <pc:sldMk cId="2012845417" sldId="298"/>
            <ac:cxnSpMk id="18" creationId="{A77B7330-A68C-119B-1479-9C6A68F72E22}"/>
          </ac:cxnSpMkLst>
        </pc:cxnChg>
        <pc:cxnChg chg="add mod">
          <ac:chgData name="Greenrod, Samuel (OCBD)" userId="2206092a-8a12-487a-a963-cafe9a401430" providerId="ADAL" clId="{20C3C022-8956-41D8-B9EF-F034660AD755}" dt="2025-11-27T15:54:32.814" v="155" actId="1076"/>
          <ac:cxnSpMkLst>
            <pc:docMk/>
            <pc:sldMk cId="2012845417" sldId="298"/>
            <ac:cxnSpMk id="19" creationId="{CEDDAE8D-2535-BE10-36C1-4212EEB80EC2}"/>
          </ac:cxnSpMkLst>
        </pc:cxnChg>
        <pc:cxnChg chg="add mod">
          <ac:chgData name="Greenrod, Samuel (OCBD)" userId="2206092a-8a12-487a-a963-cafe9a401430" providerId="ADAL" clId="{20C3C022-8956-41D8-B9EF-F034660AD755}" dt="2025-11-27T15:54:47.959" v="160" actId="1076"/>
          <ac:cxnSpMkLst>
            <pc:docMk/>
            <pc:sldMk cId="2012845417" sldId="298"/>
            <ac:cxnSpMk id="20" creationId="{D248AB7D-0858-DD38-BD95-C5F2B624D792}"/>
          </ac:cxnSpMkLst>
        </pc:cxnChg>
        <pc:cxnChg chg="add mod">
          <ac:chgData name="Greenrod, Samuel (OCBD)" userId="2206092a-8a12-487a-a963-cafe9a401430" providerId="ADAL" clId="{20C3C022-8956-41D8-B9EF-F034660AD755}" dt="2025-11-27T15:54:43.684" v="159" actId="1076"/>
          <ac:cxnSpMkLst>
            <pc:docMk/>
            <pc:sldMk cId="2012845417" sldId="298"/>
            <ac:cxnSpMk id="21" creationId="{805F57A9-E4CD-3194-F0B8-8363E8165ABE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7:05.410" v="193" actId="27636"/>
        <pc:sldMkLst>
          <pc:docMk/>
          <pc:sldMk cId="2894910047" sldId="299"/>
        </pc:sldMkLst>
        <pc:spChg chg="mod">
          <ac:chgData name="Greenrod, Samuel (OCBD)" userId="2206092a-8a12-487a-a963-cafe9a401430" providerId="ADAL" clId="{20C3C022-8956-41D8-B9EF-F034660AD755}" dt="2025-11-27T15:57:05.410" v="193" actId="27636"/>
          <ac:spMkLst>
            <pc:docMk/>
            <pc:sldMk cId="2894910047" sldId="299"/>
            <ac:spMk id="3" creationId="{A358F695-1B62-1E3C-09DE-B8C2D06BA5C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1:43.572" v="275" actId="14100"/>
        <pc:sldMkLst>
          <pc:docMk/>
          <pc:sldMk cId="3172580328" sldId="301"/>
        </pc:sldMkLst>
        <pc:spChg chg="mod">
          <ac:chgData name="Greenrod, Samuel (OCBD)" userId="2206092a-8a12-487a-a963-cafe9a401430" providerId="ADAL" clId="{20C3C022-8956-41D8-B9EF-F034660AD755}" dt="2025-11-27T16:01:43.572" v="275" actId="14100"/>
          <ac:spMkLst>
            <pc:docMk/>
            <pc:sldMk cId="3172580328" sldId="301"/>
            <ac:spMk id="2" creationId="{F5F92494-7A8A-8DB8-85C8-F268C34AF2A3}"/>
          </ac:spMkLst>
        </pc:spChg>
        <pc:spChg chg="mod">
          <ac:chgData name="Greenrod, Samuel (OCBD)" userId="2206092a-8a12-487a-a963-cafe9a401430" providerId="ADAL" clId="{20C3C022-8956-41D8-B9EF-F034660AD755}" dt="2025-11-27T15:55:57.234" v="163" actId="14100"/>
          <ac:spMkLst>
            <pc:docMk/>
            <pc:sldMk cId="3172580328" sldId="301"/>
            <ac:spMk id="25" creationId="{F89E136B-AD17-5387-E572-2BC2BA13E297}"/>
          </ac:spMkLst>
        </pc:spChg>
        <pc:spChg chg="mod">
          <ac:chgData name="Greenrod, Samuel (OCBD)" userId="2206092a-8a12-487a-a963-cafe9a401430" providerId="ADAL" clId="{20C3C022-8956-41D8-B9EF-F034660AD755}" dt="2025-11-27T15:55:58.870" v="164" actId="14100"/>
          <ac:spMkLst>
            <pc:docMk/>
            <pc:sldMk cId="3172580328" sldId="301"/>
            <ac:spMk id="26" creationId="{1B006901-2003-BBB4-9F2B-21443D91B98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6:40.766" v="183" actId="113"/>
        <pc:sldMkLst>
          <pc:docMk/>
          <pc:sldMk cId="3901377059" sldId="302"/>
        </pc:sldMkLst>
        <pc:spChg chg="mod">
          <ac:chgData name="Greenrod, Samuel (OCBD)" userId="2206092a-8a12-487a-a963-cafe9a401430" providerId="ADAL" clId="{20C3C022-8956-41D8-B9EF-F034660AD755}" dt="2025-11-27T15:56:40.766" v="183" actId="113"/>
          <ac:spMkLst>
            <pc:docMk/>
            <pc:sldMk cId="3901377059" sldId="302"/>
            <ac:spMk id="26" creationId="{52853121-CBA1-59A0-A384-24DD783DAC55}"/>
          </ac:spMkLst>
        </pc:spChg>
      </pc:sldChg>
      <pc:sldChg chg="modSp mod">
        <pc:chgData name="Greenrod, Samuel (OCBD)" userId="2206092a-8a12-487a-a963-cafe9a401430" providerId="ADAL" clId="{20C3C022-8956-41D8-B9EF-F034660AD755}" dt="2025-11-28T17:07:16.768" v="309" actId="27636"/>
        <pc:sldMkLst>
          <pc:docMk/>
          <pc:sldMk cId="1950489570" sldId="303"/>
        </pc:sldMkLst>
        <pc:spChg chg="mod">
          <ac:chgData name="Greenrod, Samuel (OCBD)" userId="2206092a-8a12-487a-a963-cafe9a401430" providerId="ADAL" clId="{20C3C022-8956-41D8-B9EF-F034660AD755}" dt="2025-11-28T17:07:16.768" v="309" actId="27636"/>
          <ac:spMkLst>
            <pc:docMk/>
            <pc:sldMk cId="1950489570" sldId="303"/>
            <ac:spMk id="3" creationId="{6252BA87-517A-A087-52EF-290827B9A77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1.129" v="265" actId="20577"/>
        <pc:sldMkLst>
          <pc:docMk/>
          <pc:sldMk cId="2111888351" sldId="305"/>
        </pc:sldMkLst>
        <pc:spChg chg="mod">
          <ac:chgData name="Greenrod, Samuel (OCBD)" userId="2206092a-8a12-487a-a963-cafe9a401430" providerId="ADAL" clId="{20C3C022-8956-41D8-B9EF-F034660AD755}" dt="2025-11-27T16:00:11.129" v="265" actId="20577"/>
          <ac:spMkLst>
            <pc:docMk/>
            <pc:sldMk cId="2111888351" sldId="305"/>
            <ac:spMk id="12" creationId="{87253163-6E49-456F-7812-FD766132E4C0}"/>
          </ac:spMkLst>
        </pc:spChg>
        <pc:grpChg chg="mod">
          <ac:chgData name="Greenrod, Samuel (OCBD)" userId="2206092a-8a12-487a-a963-cafe9a401430" providerId="ADAL" clId="{20C3C022-8956-41D8-B9EF-F034660AD755}" dt="2025-11-27T15:30:39.859" v="4" actId="1076"/>
          <ac:grpSpMkLst>
            <pc:docMk/>
            <pc:sldMk cId="2111888351" sldId="305"/>
            <ac:grpSpMk id="20" creationId="{86048A73-1EBF-7117-C053-ED20A623A196}"/>
          </ac:grpSpMkLst>
        </pc:grpChg>
      </pc:sldChg>
      <pc:sldChg chg="modSp mod">
        <pc:chgData name="Greenrod, Samuel (OCBD)" userId="2206092a-8a12-487a-a963-cafe9a401430" providerId="ADAL" clId="{20C3C022-8956-41D8-B9EF-F034660AD755}" dt="2025-11-27T15:35:44.893" v="27" actId="15"/>
        <pc:sldMkLst>
          <pc:docMk/>
          <pc:sldMk cId="4182177908" sldId="306"/>
        </pc:sldMkLst>
        <pc:spChg chg="mod">
          <ac:chgData name="Greenrod, Samuel (OCBD)" userId="2206092a-8a12-487a-a963-cafe9a401430" providerId="ADAL" clId="{20C3C022-8956-41D8-B9EF-F034660AD755}" dt="2025-11-27T15:35:44.893" v="27" actId="15"/>
          <ac:spMkLst>
            <pc:docMk/>
            <pc:sldMk cId="4182177908" sldId="306"/>
            <ac:spMk id="12" creationId="{BEAF8332-4A2D-81A8-3996-3EC985CF1574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34.048" v="71" actId="14100"/>
        <pc:sldMkLst>
          <pc:docMk/>
          <pc:sldMk cId="2074591006" sldId="307"/>
        </pc:sldMkLst>
        <pc:spChg chg="mod">
          <ac:chgData name="Greenrod, Samuel (OCBD)" userId="2206092a-8a12-487a-a963-cafe9a401430" providerId="ADAL" clId="{20C3C022-8956-41D8-B9EF-F034660AD755}" dt="2025-11-27T15:39:34.048" v="71" actId="14100"/>
          <ac:spMkLst>
            <pc:docMk/>
            <pc:sldMk cId="2074591006" sldId="307"/>
            <ac:spMk id="17" creationId="{79A34808-8692-5667-1AE5-B091979DD8FA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9:57.430" v="93" actId="113"/>
        <pc:sldMkLst>
          <pc:docMk/>
          <pc:sldMk cId="4022287387" sldId="308"/>
        </pc:sldMkLst>
        <pc:spChg chg="mod">
          <ac:chgData name="Greenrod, Samuel (OCBD)" userId="2206092a-8a12-487a-a963-cafe9a401430" providerId="ADAL" clId="{20C3C022-8956-41D8-B9EF-F034660AD755}" dt="2025-11-27T15:39:57.430" v="93" actId="113"/>
          <ac:spMkLst>
            <pc:docMk/>
            <pc:sldMk cId="4022287387" sldId="308"/>
            <ac:spMk id="3" creationId="{3D10159C-0E99-B505-D01B-41E8A09FA0A8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38.639" v="97" actId="1076"/>
        <pc:sldMkLst>
          <pc:docMk/>
          <pc:sldMk cId="2414916810" sldId="310"/>
        </pc:sldMkLst>
        <pc:spChg chg="mod">
          <ac:chgData name="Greenrod, Samuel (OCBD)" userId="2206092a-8a12-487a-a963-cafe9a401430" providerId="ADAL" clId="{20C3C022-8956-41D8-B9EF-F034660AD755}" dt="2025-11-27T15:41:10.561" v="95" actId="1076"/>
          <ac:spMkLst>
            <pc:docMk/>
            <pc:sldMk cId="2414916810" sldId="310"/>
            <ac:spMk id="12" creationId="{81AB3761-53B8-0543-15F1-2306AE7F2745}"/>
          </ac:spMkLst>
        </pc:spChg>
        <pc:spChg chg="mod">
          <ac:chgData name="Greenrod, Samuel (OCBD)" userId="2206092a-8a12-487a-a963-cafe9a401430" providerId="ADAL" clId="{20C3C022-8956-41D8-B9EF-F034660AD755}" dt="2025-11-27T15:41:38.639" v="97" actId="1076"/>
          <ac:spMkLst>
            <pc:docMk/>
            <pc:sldMk cId="2414916810" sldId="310"/>
            <ac:spMk id="13" creationId="{E149040D-3D3A-6C2D-33BB-66F64635ED61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1:50.349" v="98" actId="1076"/>
        <pc:sldMkLst>
          <pc:docMk/>
          <pc:sldMk cId="276546565" sldId="311"/>
        </pc:sldMkLst>
        <pc:spChg chg="mod">
          <ac:chgData name="Greenrod, Samuel (OCBD)" userId="2206092a-8a12-487a-a963-cafe9a401430" providerId="ADAL" clId="{20C3C022-8956-41D8-B9EF-F034660AD755}" dt="2025-11-27T15:41:50.349" v="98" actId="1076"/>
          <ac:spMkLst>
            <pc:docMk/>
            <pc:sldMk cId="276546565" sldId="311"/>
            <ac:spMk id="11" creationId="{07E1FA68-40E7-DDCD-F042-038714DBC4F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0:19.744" v="268" actId="1076"/>
        <pc:sldMkLst>
          <pc:docMk/>
          <pc:sldMk cId="4025397617" sldId="312"/>
        </pc:sldMkLst>
        <pc:spChg chg="mod">
          <ac:chgData name="Greenrod, Samuel (OCBD)" userId="2206092a-8a12-487a-a963-cafe9a401430" providerId="ADAL" clId="{20C3C022-8956-41D8-B9EF-F034660AD755}" dt="2025-11-27T16:00:17.831" v="267" actId="1076"/>
          <ac:spMkLst>
            <pc:docMk/>
            <pc:sldMk cId="4025397617" sldId="312"/>
            <ac:spMk id="12" creationId="{1B7BF28A-4670-6FE7-7241-162027C86BF9}"/>
          </ac:spMkLst>
        </pc:spChg>
        <pc:picChg chg="mod">
          <ac:chgData name="Greenrod, Samuel (OCBD)" userId="2206092a-8a12-487a-a963-cafe9a401430" providerId="ADAL" clId="{20C3C022-8956-41D8-B9EF-F034660AD755}" dt="2025-11-27T16:00:19.744" v="268" actId="1076"/>
          <ac:picMkLst>
            <pc:docMk/>
            <pc:sldMk cId="4025397617" sldId="312"/>
            <ac:picMk id="11" creationId="{CE21D854-585F-2CA4-0272-F842DA67C7F4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00:35.777" v="269" actId="20577"/>
        <pc:sldMkLst>
          <pc:docMk/>
          <pc:sldMk cId="2517316536" sldId="313"/>
        </pc:sldMkLst>
        <pc:spChg chg="mod">
          <ac:chgData name="Greenrod, Samuel (OCBD)" userId="2206092a-8a12-487a-a963-cafe9a401430" providerId="ADAL" clId="{20C3C022-8956-41D8-B9EF-F034660AD755}" dt="2025-11-27T16:00:35.777" v="269" actId="20577"/>
          <ac:spMkLst>
            <pc:docMk/>
            <pc:sldMk cId="2517316536" sldId="313"/>
            <ac:spMk id="15" creationId="{3A719294-3C7F-B9E2-A14A-607C8C6C5C96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42:11.125" v="106" actId="15"/>
        <pc:sldMkLst>
          <pc:docMk/>
          <pc:sldMk cId="1834119065" sldId="316"/>
        </pc:sldMkLst>
        <pc:spChg chg="mod">
          <ac:chgData name="Greenrod, Samuel (OCBD)" userId="2206092a-8a12-487a-a963-cafe9a401430" providerId="ADAL" clId="{20C3C022-8956-41D8-B9EF-F034660AD755}" dt="2025-11-27T15:42:11.125" v="106" actId="15"/>
          <ac:spMkLst>
            <pc:docMk/>
            <pc:sldMk cId="1834119065" sldId="316"/>
            <ac:spMk id="3" creationId="{48B10D8D-519F-9448-1769-8AB7F598C88E}"/>
          </ac:spMkLst>
        </pc:spChg>
      </pc:sldChg>
      <pc:sldChg chg="addSp modSp mod">
        <pc:chgData name="Greenrod, Samuel (OCBD)" userId="2206092a-8a12-487a-a963-cafe9a401430" providerId="ADAL" clId="{20C3C022-8956-41D8-B9EF-F034660AD755}" dt="2025-11-27T15:38:46.461" v="52" actId="1076"/>
        <pc:sldMkLst>
          <pc:docMk/>
          <pc:sldMk cId="2914907681" sldId="317"/>
        </pc:sldMkLst>
        <pc:cxnChg chg="add mod">
          <ac:chgData name="Greenrod, Samuel (OCBD)" userId="2206092a-8a12-487a-a963-cafe9a401430" providerId="ADAL" clId="{20C3C022-8956-41D8-B9EF-F034660AD755}" dt="2025-11-27T15:38:35.677" v="46" actId="1076"/>
          <ac:cxnSpMkLst>
            <pc:docMk/>
            <pc:sldMk cId="2914907681" sldId="317"/>
            <ac:cxnSpMk id="14" creationId="{D84C5503-A4F5-8C3D-3B43-E94D97121F68}"/>
          </ac:cxnSpMkLst>
        </pc:cxnChg>
        <pc:cxnChg chg="add mod">
          <ac:chgData name="Greenrod, Samuel (OCBD)" userId="2206092a-8a12-487a-a963-cafe9a401430" providerId="ADAL" clId="{20C3C022-8956-41D8-B9EF-F034660AD755}" dt="2025-11-27T15:38:39.202" v="48" actId="1076"/>
          <ac:cxnSpMkLst>
            <pc:docMk/>
            <pc:sldMk cId="2914907681" sldId="317"/>
            <ac:cxnSpMk id="15" creationId="{4F1924E6-2430-6EB7-67D5-EA56C5446A8E}"/>
          </ac:cxnSpMkLst>
        </pc:cxnChg>
        <pc:cxnChg chg="add mod">
          <ac:chgData name="Greenrod, Samuel (OCBD)" userId="2206092a-8a12-487a-a963-cafe9a401430" providerId="ADAL" clId="{20C3C022-8956-41D8-B9EF-F034660AD755}" dt="2025-11-27T15:38:42.668" v="50" actId="1076"/>
          <ac:cxnSpMkLst>
            <pc:docMk/>
            <pc:sldMk cId="2914907681" sldId="317"/>
            <ac:cxnSpMk id="16" creationId="{29504321-1B14-FB5A-385D-2FDCE9BF1EFA}"/>
          </ac:cxnSpMkLst>
        </pc:cxnChg>
        <pc:cxnChg chg="add mod">
          <ac:chgData name="Greenrod, Samuel (OCBD)" userId="2206092a-8a12-487a-a963-cafe9a401430" providerId="ADAL" clId="{20C3C022-8956-41D8-B9EF-F034660AD755}" dt="2025-11-27T15:38:46.461" v="52" actId="1076"/>
          <ac:cxnSpMkLst>
            <pc:docMk/>
            <pc:sldMk cId="2914907681" sldId="317"/>
            <ac:cxnSpMk id="17" creationId="{4A51C9E3-740C-9984-BB83-9DD7E34F466C}"/>
          </ac:cxnSpMkLst>
        </pc:cxnChg>
      </pc:sldChg>
      <pc:sldChg chg="modSp mod">
        <pc:chgData name="Greenrod, Samuel (OCBD)" userId="2206092a-8a12-487a-a963-cafe9a401430" providerId="ADAL" clId="{20C3C022-8956-41D8-B9EF-F034660AD755}" dt="2025-11-27T15:58:40.095" v="243" actId="1076"/>
        <pc:sldMkLst>
          <pc:docMk/>
          <pc:sldMk cId="1455239496" sldId="318"/>
        </pc:sldMkLst>
        <pc:spChg chg="mod">
          <ac:chgData name="Greenrod, Samuel (OCBD)" userId="2206092a-8a12-487a-a963-cafe9a401430" providerId="ADAL" clId="{20C3C022-8956-41D8-B9EF-F034660AD755}" dt="2025-11-27T15:58:40.095" v="243" actId="1076"/>
          <ac:spMkLst>
            <pc:docMk/>
            <pc:sldMk cId="1455239496" sldId="318"/>
            <ac:spMk id="3" creationId="{A0D2D24E-BB9A-8E3E-EFED-C8D973CC1B62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30:05.358" v="0" actId="27636"/>
        <pc:sldMkLst>
          <pc:docMk/>
          <pc:sldMk cId="238822493" sldId="320"/>
        </pc:sldMkLst>
        <pc:spChg chg="mod">
          <ac:chgData name="Greenrod, Samuel (OCBD)" userId="2206092a-8a12-487a-a963-cafe9a401430" providerId="ADAL" clId="{20C3C022-8956-41D8-B9EF-F034660AD755}" dt="2025-11-27T15:30:05.358" v="0" actId="27636"/>
          <ac:spMkLst>
            <pc:docMk/>
            <pc:sldMk cId="238822493" sldId="320"/>
            <ac:spMk id="3" creationId="{29B93379-6DCA-FFCE-4974-EEA1A448B2CE}"/>
          </ac:spMkLst>
        </pc:spChg>
      </pc:sldChg>
      <pc:sldChg chg="modSp mod">
        <pc:chgData name="Greenrod, Samuel (OCBD)" userId="2206092a-8a12-487a-a963-cafe9a401430" providerId="ADAL" clId="{20C3C022-8956-41D8-B9EF-F034660AD755}" dt="2025-11-27T15:57:31.876" v="228" actId="5793"/>
        <pc:sldMkLst>
          <pc:docMk/>
          <pc:sldMk cId="4036546710" sldId="321"/>
        </pc:sldMkLst>
        <pc:spChg chg="mod">
          <ac:chgData name="Greenrod, Samuel (OCBD)" userId="2206092a-8a12-487a-a963-cafe9a401430" providerId="ADAL" clId="{20C3C022-8956-41D8-B9EF-F034660AD755}" dt="2025-11-27T15:57:31.876" v="228" actId="5793"/>
          <ac:spMkLst>
            <pc:docMk/>
            <pc:sldMk cId="4036546710" sldId="321"/>
            <ac:spMk id="3" creationId="{EC7F49B5-E42F-F913-1A63-14B2308DE592}"/>
          </ac:spMkLst>
        </pc:spChg>
      </pc:sldChg>
    </pc:docChg>
  </pc:docChgLst>
</pc:chgInfo>
</file>

<file path=ppt/comments/modernComment_116_A20CF00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A35EFF7-6E11-4ED5-8DD2-5683A3180CDF}" authorId="{058D5D99-21CF-B08C-94E1-10539A96C80D}" created="2025-09-25T07:35:28.26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718756868" sldId="278"/>
      <ac:picMk id="3074" creationId="{D18EC2C8-8D2B-E43F-E1FF-B94334997B32}"/>
    </ac:deMkLst>
    <p188:txBody>
      <a:bodyPr/>
      <a:lstStyle/>
      <a:p>
        <a:r>
          <a:rPr lang="en-GB"/>
          <a:t>I put the STP flag as a logo - maybe a different logo would be more appropriate here?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11/30/2025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16_A20CF0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8" y="2094933"/>
            <a:ext cx="9448801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8" y="4376997"/>
            <a:ext cx="9144000" cy="1655762"/>
          </a:xfrm>
        </p:spPr>
        <p:txBody>
          <a:bodyPr>
            <a:normAutofit fontScale="92500" lnSpcReduction="10000"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Conclusões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do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relatório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 principal: Samuel Greenrod (</a:t>
            </a:r>
            <a:r>
              <a:rPr lang="en-US" sz="1500" b="1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Apresentando</a:t>
            </a:r>
            <a:r>
              <a:rPr lang="en-US" sz="1500" b="1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)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Co-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autores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: Arianna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Gialletti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, Aida D’Almeida, Nelsy Carvalho, Marco Fusi, Riccardo Soldan,</a:t>
            </a:r>
          </a:p>
          <a:p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Lionel </a:t>
            </a:r>
            <a:r>
              <a:rPr lang="en-US" sz="14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4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F08B7-517A-8A3A-14A9-4644A0C49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CA3AB-ED9F-D079-1BCA-9FE3BF20E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2D24E-BB9A-8E3E-EFED-C8D973CC1B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99427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Economia azul é o uso sustentável dos recursos oceânicos para o crescimento económico, incluindo:</a:t>
            </a:r>
          </a:p>
          <a:p>
            <a:pPr lvl="1"/>
            <a:r>
              <a:rPr lang="pt-BR" sz="2200" dirty="0">
                <a:latin typeface="Arial" panose="020B0604020202020204" pitchFamily="34" charset="0"/>
                <a:cs typeface="Arial" panose="020B0604020202020204" pitchFamily="34" charset="0"/>
              </a:rPr>
              <a:t>Pescas
Energia renovável 
Turismo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economia azul é particularmente importante para pequenos estados insulares em desenvolvimento, que dependem largamente dos seus recursos naturais.
No entanto, devido à dependência dos recursos naturais, a economia azul é altamente vulnerável às alterações climáticas.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C355D-C25B-7A10-462A-A661164DF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0406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8F5CF8-9ACC-FDDD-5711-F04803ED4921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47AE03-914B-FA4B-7091-AD1605313A8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87ED10F-6B8F-A4F2-A5FF-20D0451DFA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D23361-A54E-11B5-A709-DEE1DB65676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s oceanic changes force fishers to go further from the coast, they are exposed to more danger.">
            <a:extLst>
              <a:ext uri="{FF2B5EF4-FFF2-40B4-BE49-F238E27FC236}">
                <a16:creationId xmlns:a16="http://schemas.microsoft.com/office/drawing/2014/main" id="{67D9CD7E-61BC-A24B-252F-14CE7D1099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36" r="18810"/>
          <a:stretch>
            <a:fillRect/>
          </a:stretch>
        </p:blipFill>
        <p:spPr bwMode="auto">
          <a:xfrm>
            <a:off x="6512345" y="1571176"/>
            <a:ext cx="4848045" cy="4181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BDC91F5-0DF6-9E49-8CDA-7BAC7FED01EC}"/>
              </a:ext>
            </a:extLst>
          </p:cNvPr>
          <p:cNvSpPr txBox="1"/>
          <p:nvPr/>
        </p:nvSpPr>
        <p:spPr>
          <a:xfrm>
            <a:off x="6512344" y="5885223"/>
            <a:ext cx="48480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b="1" i="1" dirty="0"/>
              <a:t>As oceanic changes force fishers to go further from the coast, they are exposed to more danger. </a:t>
            </a:r>
            <a:r>
              <a:rPr lang="en-GB" sz="800" b="1" i="1" dirty="0" err="1"/>
              <a:t>Célcio</a:t>
            </a:r>
            <a:r>
              <a:rPr lang="en-GB" sz="800" b="1" i="1" dirty="0"/>
              <a:t> Dias – known as Mano, on the right, relies on a GPS to return safely home. Photo: </a:t>
            </a:r>
            <a:r>
              <a:rPr lang="en-GB" sz="800" b="1" i="1" dirty="0" err="1"/>
              <a:t>Flore</a:t>
            </a:r>
            <a:r>
              <a:rPr lang="en-GB" sz="800" b="1" i="1" dirty="0"/>
              <a:t> de </a:t>
            </a:r>
            <a:r>
              <a:rPr lang="en-GB" sz="800" b="1" i="1" dirty="0" err="1"/>
              <a:t>Preneuf</a:t>
            </a:r>
            <a:r>
              <a:rPr lang="en-GB" sz="800" b="1" i="1" dirty="0"/>
              <a:t>/ World Bank</a:t>
            </a:r>
            <a:endParaRPr lang="en-GB" sz="800" b="1" dirty="0"/>
          </a:p>
        </p:txBody>
      </p:sp>
    </p:spTree>
    <p:extLst>
      <p:ext uri="{BB962C8B-B14F-4D97-AF65-F5344CB8AC3E}">
        <p14:creationId xmlns:p14="http://schemas.microsoft.com/office/powerpoint/2010/main" val="145523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62831-56A7-1489-D622-C0ADEFD45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C9297-52E0-79FF-651C-0E1EC181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Foco do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D3AE6-5A58-1F06-C7A6-D67D7127D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Avaliar o impacto das alterações climáticas nas pescas e no turismo das STP:
Avaliar os riscos das alterações climáticas
Determinar os impactos das alterações climáticas
Identificar opções de adaptação climática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AB068-74D3-1AFF-7E39-320937F8F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9946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AD97C0F-2C8D-87F2-7475-45B0BF04546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0DA4B40-5667-CAC6-9DA0-CF61B84E038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01ED26F-B8DF-4896-3B5C-AAFBC27DF2E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015286C-BFC9-D496-1C57-AC776AABC77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15F53A00-F371-82A4-39D6-084EBE676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0A1002B4-808D-3109-4DDE-DD52099F3CE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20F87E72-9F35-A6D4-6595-2008D9423D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1900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329CD-3939-1982-D604-3D8DFA13A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8F245-E744-4E8A-7859-489151E7E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862" y="501650"/>
            <a:ext cx="626239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Visão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geral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apresentação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3379-6DCA-FFCE-4974-EEA1A448B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5012"/>
            <a:ext cx="5257800" cy="4351338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Linha base setorial (pescas)
Tendências históricas oceânicas
Tendências oceânicas futuras
Análise de impacto (pescas)
Linha base do setor (turismo)
Tendências climáticas históricas
Tendências climáticas futuras
Análise de impacto (turismo)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1A7892-50B6-C03C-77FF-56B8489D5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4508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FFE2F-4070-E3E8-848F-470157C26DB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48FB563-C6E0-9170-B0E1-5F75BEB6726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416997E-21D3-0542-9AFB-914B8555B39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BA277BA-A0BB-721D-7226-70E9B228EE7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22" name="Picture 2" descr="Map of Sao Tome and Principe">
            <a:extLst>
              <a:ext uri="{FF2B5EF4-FFF2-40B4-BE49-F238E27FC236}">
                <a16:creationId xmlns:a16="http://schemas.microsoft.com/office/drawing/2014/main" id="{EE53BDD6-DC03-D746-182B-CB6D42534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9611" y="810882"/>
            <a:ext cx="4889794" cy="275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CCC3E55F-E72A-EC5F-B734-FA31FB3CD0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916258" y="3802931"/>
            <a:ext cx="2150984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2FA9CF9-0E41-F4F4-34F2-1A5C0743C1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36755"/>
          <a:stretch>
            <a:fillRect/>
          </a:stretch>
        </p:blipFill>
        <p:spPr bwMode="auto">
          <a:xfrm>
            <a:off x="9343015" y="3802931"/>
            <a:ext cx="2155080" cy="2553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822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FA4D-2991-242A-6B6F-6A38B1CAB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E7096B-D50E-7EC7-FBD3-497630D0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2BA87-517A-A087-52EF-290827B9A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0035" y="1825623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pescas são cruciais para a economia e o emprego: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 de 5-10%
Empregam entre 10% e 15% da população
O peixe representa ~53% da ingestão de proteína animal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 conservação dos peixes é também importante para o turismo futuro: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Pesca desportiva
Mergulho 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Aquecimento dos oceanos
Acidificação dos oceanos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6FD2981D-3028-2049-A5B2-E94B980AE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6CA3D0-83C0-5C22-5D35-98F9CAC3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6C4360-7F84-D304-D9B1-59937E7D6C0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1AA310-78A2-F2B2-0086-1944DC27D17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4AACAA-D0D5-2571-33D8-E2F168AE39B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D3EA01-AF34-31C9-828F-824A31A9D8F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23F4F30E-1141-22F2-5D95-6BE4F624C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ECD9742F-3B4E-2E43-5C11-CE6B0AC65687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489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77C62-7F9F-5B58-D1B6-4BE11B11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83EB9-2A5D-B828-63C7-652AC653C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6309852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103F98-88FA-BBE3-3CA8-5DADA3690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1106" y="632681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A6402C4-29A0-26B9-9542-68B9D4288B4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7D83BCA-E35C-7356-DCAB-A643F14D4DE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B55201-A471-AAD2-925A-8ACA11D6F54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8DF0C12-1A45-E0A7-F347-A4A995844C0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graph with different colored squares&#10;&#10;Description automatically generated">
            <a:extLst>
              <a:ext uri="{FF2B5EF4-FFF2-40B4-BE49-F238E27FC236}">
                <a16:creationId xmlns:a16="http://schemas.microsoft.com/office/drawing/2014/main" id="{150E851A-678A-5608-A446-ED941FA7F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546" y="1598237"/>
            <a:ext cx="4523870" cy="216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08D4B01-417D-056F-5E11-06E328A760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256" y="3879895"/>
            <a:ext cx="5624098" cy="2812049"/>
          </a:xfrm>
          <a:prstGeom prst="rect">
            <a:avLst/>
          </a:prstGeom>
        </p:spPr>
      </p:pic>
      <p:pic>
        <p:nvPicPr>
          <p:cNvPr id="21" name="Picture 20" descr="A graph of fish species&#10;&#10;AI-generated content may be incorrect.">
            <a:extLst>
              <a:ext uri="{FF2B5EF4-FFF2-40B4-BE49-F238E27FC236}">
                <a16:creationId xmlns:a16="http://schemas.microsoft.com/office/drawing/2014/main" id="{D6223D0B-952D-3D00-25AF-8E5BE442E0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888" y="1611179"/>
            <a:ext cx="4898202" cy="4898202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3E35604-F2B6-404C-7149-10E41DB04CA4}"/>
              </a:ext>
            </a:extLst>
          </p:cNvPr>
          <p:cNvSpPr txBox="1"/>
          <p:nvPr/>
        </p:nvSpPr>
        <p:spPr>
          <a:xfrm>
            <a:off x="9970440" y="4300728"/>
            <a:ext cx="167951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 voador</a:t>
            </a:r>
          </a:p>
          <a:p>
            <a:pPr marL="342900" indent="-342900">
              <a:buFont typeface="+mj-lt"/>
              <a:buAutoNum type="arabicPeriod"/>
            </a:pPr>
            <a:r>
              <a:rPr lang="pt-PT" sz="1400" dirty="0"/>
              <a:t>Peixes com nadadeiras raiadas</a:t>
            </a:r>
          </a:p>
          <a:p>
            <a:pPr marL="342900" indent="-342900">
              <a:buAutoNum type="arabicPeriod"/>
            </a:pPr>
            <a:r>
              <a:rPr lang="en-GB" sz="1400" dirty="0"/>
              <a:t>Bonito</a:t>
            </a:r>
          </a:p>
          <a:p>
            <a:pPr marL="342900" indent="-342900">
              <a:buAutoNum type="arabicPeriod"/>
            </a:pPr>
            <a:r>
              <a:rPr lang="en-GB" sz="1400" dirty="0" err="1"/>
              <a:t>Carapau</a:t>
            </a:r>
            <a:endParaRPr lang="en-GB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D476E6-F74B-29D3-1BBB-5F508B3CB197}"/>
              </a:ext>
            </a:extLst>
          </p:cNvPr>
          <p:cNvSpPr txBox="1"/>
          <p:nvPr/>
        </p:nvSpPr>
        <p:spPr>
          <a:xfrm>
            <a:off x="979714" y="1642547"/>
            <a:ext cx="979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54 total</a:t>
            </a:r>
          </a:p>
        </p:txBody>
      </p:sp>
    </p:spTree>
    <p:extLst>
      <p:ext uri="{BB962C8B-B14F-4D97-AF65-F5344CB8AC3E}">
        <p14:creationId xmlns:p14="http://schemas.microsoft.com/office/powerpoint/2010/main" val="2956904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FC06E-C397-FD0B-DF90-B3FF8E89D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24D00-DC56-8A14-2910-DFED1D7A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3399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AE7603-BFCB-C50A-FC92-829FFD975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5E8BE89-6978-2C84-B2F8-047BC9DABA1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6C4A7A-C2EA-B89C-E49D-2355747259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3ADD20F-F3E9-A845-0938-E6B0C903326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106D7CB-01C4-9CBD-4858-16409191CDC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7253163-6E49-456F-7812-FD766132E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933818"/>
            <a:ext cx="5228966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Copernicus Marine Data Store reanalysis datasets (1993-2023)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históricas dos oceanos: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Temperaturas da superfície do mar a subir
Diminuição do pH da superfície do mar (acidificação)
O oxigénio da superfície do mar mantém-se estável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DCCD6A3-D201-EC00-4CF3-FE262E5026BB}"/>
              </a:ext>
            </a:extLst>
          </p:cNvPr>
          <p:cNvGrpSpPr/>
          <p:nvPr/>
        </p:nvGrpSpPr>
        <p:grpSpPr>
          <a:xfrm>
            <a:off x="6241272" y="2190554"/>
            <a:ext cx="5416998" cy="1914977"/>
            <a:chOff x="947737" y="4183598"/>
            <a:chExt cx="5724525" cy="2051029"/>
          </a:xfrm>
        </p:grpSpPr>
        <p:pic>
          <p:nvPicPr>
            <p:cNvPr id="13" name="drawing">
              <a:extLst>
                <a:ext uri="{FF2B5EF4-FFF2-40B4-BE49-F238E27FC236}">
                  <a16:creationId xmlns:a16="http://schemas.microsoft.com/office/drawing/2014/main" id="{AD46BE17-8616-1AD8-803C-308B1F7B1E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380"/>
            <a:stretch>
              <a:fillRect/>
            </a:stretch>
          </p:blipFill>
          <p:spPr>
            <a:xfrm>
              <a:off x="947737" y="4320073"/>
              <a:ext cx="5724525" cy="1914554"/>
            </a:xfrm>
            <a:prstGeom prst="rect">
              <a:avLst/>
            </a:prstGeom>
          </p:spPr>
        </p:pic>
        <p:pic>
          <p:nvPicPr>
            <p:cNvPr id="14" name="drawing">
              <a:extLst>
                <a:ext uri="{FF2B5EF4-FFF2-40B4-BE49-F238E27FC236}">
                  <a16:creationId xmlns:a16="http://schemas.microsoft.com/office/drawing/2014/main" id="{1407453D-6C32-84C8-8F25-F4E48805DF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947737" y="4183598"/>
              <a:ext cx="5724525" cy="210675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6048A73-1EBF-7117-C053-ED20A623A196}"/>
              </a:ext>
            </a:extLst>
          </p:cNvPr>
          <p:cNvGrpSpPr/>
          <p:nvPr/>
        </p:nvGrpSpPr>
        <p:grpSpPr>
          <a:xfrm>
            <a:off x="615323" y="4697795"/>
            <a:ext cx="5310626" cy="2027152"/>
            <a:chOff x="639859" y="4170435"/>
            <a:chExt cx="5310626" cy="2027152"/>
          </a:xfrm>
        </p:grpSpPr>
        <p:pic>
          <p:nvPicPr>
            <p:cNvPr id="17" name="Picture 16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68F3D411-AE1C-10FD-BB97-973EBAD27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227"/>
            <a:stretch>
              <a:fillRect/>
            </a:stretch>
          </p:blipFill>
          <p:spPr>
            <a:xfrm>
              <a:off x="639860" y="4317974"/>
              <a:ext cx="5310625" cy="1879613"/>
            </a:xfrm>
            <a:prstGeom prst="rect">
              <a:avLst/>
            </a:prstGeom>
          </p:spPr>
        </p:pic>
        <p:pic>
          <p:nvPicPr>
            <p:cNvPr id="19" name="Picture 18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D86FA01A-A9A5-A73B-A865-F44CFB302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02" b="92957"/>
            <a:stretch>
              <a:fillRect/>
            </a:stretch>
          </p:blipFill>
          <p:spPr>
            <a:xfrm>
              <a:off x="639859" y="4170435"/>
              <a:ext cx="5310625" cy="196699"/>
            </a:xfrm>
            <a:prstGeom prst="rect">
              <a:avLst/>
            </a:prstGeom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86A30FF1-E980-7690-9FCB-3DE075B03A2A}"/>
              </a:ext>
            </a:extLst>
          </p:cNvPr>
          <p:cNvGrpSpPr/>
          <p:nvPr/>
        </p:nvGrpSpPr>
        <p:grpSpPr>
          <a:xfrm>
            <a:off x="6120833" y="4500033"/>
            <a:ext cx="5579760" cy="1962923"/>
            <a:chOff x="6092837" y="4261104"/>
            <a:chExt cx="5579760" cy="1962923"/>
          </a:xfrm>
        </p:grpSpPr>
        <p:pic>
          <p:nvPicPr>
            <p:cNvPr id="3" name="drawing">
              <a:extLst>
                <a:ext uri="{FF2B5EF4-FFF2-40B4-BE49-F238E27FC236}">
                  <a16:creationId xmlns:a16="http://schemas.microsoft.com/office/drawing/2014/main" id="{7732CC25-302C-8785-9DD0-3E02D0D73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1606"/>
            <a:stretch>
              <a:fillRect/>
            </a:stretch>
          </p:blipFill>
          <p:spPr>
            <a:xfrm>
              <a:off x="6170953" y="4288954"/>
              <a:ext cx="5501644" cy="1935073"/>
            </a:xfrm>
            <a:prstGeom prst="rect">
              <a:avLst/>
            </a:prstGeom>
          </p:spPr>
        </p:pic>
        <p:pic>
          <p:nvPicPr>
            <p:cNvPr id="7" name="drawing">
              <a:extLst>
                <a:ext uri="{FF2B5EF4-FFF2-40B4-BE49-F238E27FC236}">
                  <a16:creationId xmlns:a16="http://schemas.microsoft.com/office/drawing/2014/main" id="{00477BA3-4355-531D-820A-EF34D353C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903" b="92086"/>
            <a:stretch>
              <a:fillRect/>
            </a:stretch>
          </p:blipFill>
          <p:spPr>
            <a:xfrm>
              <a:off x="6092837" y="4261104"/>
              <a:ext cx="5501644" cy="199774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68E4C55-EBFB-6DCD-7A5E-31BAF8B06717}"/>
              </a:ext>
            </a:extLst>
          </p:cNvPr>
          <p:cNvSpPr txBox="1"/>
          <p:nvPr/>
        </p:nvSpPr>
        <p:spPr>
          <a:xfrm>
            <a:off x="6680718" y="182721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A3F949-9385-74E4-A28F-C22E5F1BFE21}"/>
              </a:ext>
            </a:extLst>
          </p:cNvPr>
          <p:cNvSpPr txBox="1"/>
          <p:nvPr/>
        </p:nvSpPr>
        <p:spPr>
          <a:xfrm>
            <a:off x="1001486" y="4359241"/>
            <a:ext cx="25565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pH (</a:t>
            </a:r>
            <a:r>
              <a:rPr lang="en-GB" sz="1600" b="1" dirty="0" err="1"/>
              <a:t>acidez</a:t>
            </a:r>
            <a:r>
              <a:rPr lang="en-GB" sz="1600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61D32-B44E-FFA2-ABB9-AC8DA3564F0F}"/>
              </a:ext>
            </a:extLst>
          </p:cNvPr>
          <p:cNvSpPr txBox="1"/>
          <p:nvPr/>
        </p:nvSpPr>
        <p:spPr>
          <a:xfrm>
            <a:off x="6599852" y="4189964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111888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0BD38-83CB-BB75-9580-910AA9EF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568CC-C4FE-6538-D04F-490605BA4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143" y="512502"/>
            <a:ext cx="9892004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C720B8-B8B1-D46C-9B0D-3114021C9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3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9766A7-A9EB-369A-0816-6316A0EB0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4D1C34A-F9F4-F435-60D8-E10F6515131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C154C66-C325-BB1E-D76A-D7C17455FD2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11EF0CE-3F2E-844C-135C-24552F541CC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1B7BF28A-4670-6FE7-7241-162027C86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858" y="2154616"/>
            <a:ext cx="8725678" cy="4351338"/>
          </a:xfrm>
        </p:spPr>
        <p:txBody>
          <a:bodyPr>
            <a:normAutofit/>
          </a:bodyPr>
          <a:lstStyle/>
          <a:p>
            <a:pPr lvl="1"/>
            <a:r>
              <a:rPr lang="pt-BR" sz="2800" dirty="0">
                <a:latin typeface="Arial" panose="020B0604020202020204" pitchFamily="34" charset="0"/>
                <a:cs typeface="Arial" panose="020B0604020202020204" pitchFamily="34" charset="0"/>
              </a:rPr>
              <a:t>Amortecimento térmico perto da linha costeira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CE21D854-585F-2CA4-0272-F842DA67C7F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7657" y="3312919"/>
            <a:ext cx="8100355" cy="3032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3976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52949-09FF-CFB4-64B6-CDB4304E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CC7D6-AF06-A961-E339-6BFCACE2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A9C8EE-7D98-1F1B-E5DD-CB3F48DE8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14F1A-5328-2002-3C58-8FDF93B8B7F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BA2E5A6-2E3D-DCDE-E05C-301073D1CC7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BA57F2-2365-73D7-0DA0-3A81F2E54DD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1667AAA-F2B7-777F-11EB-F3B7430B277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EAF8332-4A2D-81A8-3996-3EC985CF15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2111618"/>
            <a:ext cx="3920413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Anomalias históricas oceânicas: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da frequência das ondas de calor marinhas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0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2 por ano</a:t>
            </a:r>
          </a:p>
          <a:p>
            <a:pPr lvl="2"/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da frequência dos períodos de frio marinho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1989-1994 = 1-2 por ano</a:t>
            </a:r>
          </a:p>
          <a:p>
            <a:pPr lvl="2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2014-2019 = 0 por ano</a:t>
            </a:r>
          </a:p>
          <a:p>
            <a:pPr lvl="2"/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drawing">
            <a:extLst>
              <a:ext uri="{FF2B5EF4-FFF2-40B4-BE49-F238E27FC236}">
                <a16:creationId xmlns:a16="http://schemas.microsoft.com/office/drawing/2014/main" id="{BCEAD268-31A9-274B-ED7B-7D21D1DA42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2270375"/>
            <a:ext cx="6306631" cy="369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77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AA4BF-DA6F-5364-692D-A13D0E76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1DA19-04B0-E800-D005-31F45EB99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C609FC-FDBA-AA55-AF4C-2473F8BC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9C303F-4DC1-D285-50D1-803C7FAD2C4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0799213-4046-A57F-E557-77F29C1B562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CA886E8-0756-0967-8952-2B59F8CDB48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2C37F26-1846-A395-E0D2-B43DE8026FB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4D1562A-C005-03EC-EF3F-3C85F1D88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1224" y="227956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entre as áreas tropicais que mais aquecem
A acidificação dos oceanos está alinhada com a média global
As áreas costeiras estão se aquecendo a um ritmo mais lento que a ZEE
As frequências das ondas de calor marinhas estão aumentando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9359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72700-C78A-387B-C7C1-5D498E5C4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3AAE4-6185-A48A-73C4-0CC69011C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423850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9CFD78-BD5F-B1D0-E9EC-1EF6AA24C0F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C4A7BBA-064C-BD94-0811-AAB374BC5C3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8BFED30-762F-B34F-A6A9-93E97F3D41C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E36D11-BC3F-60C3-FFE8-85C8D1616F9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EB44F880-4DC6-15CA-4A09-9639C3CD59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1041" y="2028084"/>
            <a:ext cx="4829916" cy="482991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A719294-3C7F-B9E2-A14A-607C8C6C5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Fonte dos dados: 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Quatro modelos climáticos
Dois caminhos socioeconómicos partilhados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SSP1 2.6 (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Baixo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otimista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SSP5 8.5 (Alto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carbono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pessimista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/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Linha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de base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histórica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(1989-2019)</a:t>
            </a:r>
          </a:p>
          <a:p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Dois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períodos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futuros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2020-2049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2050-2079</a:t>
            </a: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Slide Number Placeholder 4">
            <a:extLst>
              <a:ext uri="{FF2B5EF4-FFF2-40B4-BE49-F238E27FC236}">
                <a16:creationId xmlns:a16="http://schemas.microsoft.com/office/drawing/2014/main" id="{5ECC3157-D462-4734-8C49-6CDB5EF6E60C}"/>
              </a:ext>
            </a:extLst>
          </p:cNvPr>
          <p:cNvSpPr txBox="1">
            <a:spLocks/>
          </p:cNvSpPr>
          <p:nvPr/>
        </p:nvSpPr>
        <p:spPr>
          <a:xfrm>
            <a:off x="9136811" y="632228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49CFF9-0ADF-3FD9-A011-9CBB87ACD09D}"/>
              </a:ext>
            </a:extLst>
          </p:cNvPr>
          <p:cNvSpPr txBox="1"/>
          <p:nvPr/>
        </p:nvSpPr>
        <p:spPr>
          <a:xfrm>
            <a:off x="6720625" y="1758372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 do mar (~0.6°C)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5173165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FF061-1403-8D0C-989E-5FE134031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4E17-DFAC-53EE-2501-4FBE05BF5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517156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tendências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81A1A9-2B35-540A-124A-5820711E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2228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B739E8-57CA-7932-C7C7-428D4352DAD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226A326-1B30-4162-D0D5-F7BE52092C90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E3F3EAD-8895-3961-23DB-AD181F0A53E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0B0C4F-FE8D-6825-7ABC-91E9388B13C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F0DFD516-ADA7-CFDF-7003-08E37473CB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99" y="1894563"/>
            <a:ext cx="4962123" cy="4962123"/>
          </a:xfrm>
          <a:prstGeom prst="rect">
            <a:avLst/>
          </a:prstGeo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1EE625C3-A954-9296-83F8-3C9DE2E3E0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78" y="1933818"/>
            <a:ext cx="4918091" cy="49110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869220-83E9-32A6-F102-89ABF5D7EDB0}"/>
              </a:ext>
            </a:extLst>
          </p:cNvPr>
          <p:cNvSpPr txBox="1"/>
          <p:nvPr/>
        </p:nvSpPr>
        <p:spPr>
          <a:xfrm>
            <a:off x="6538892" y="166113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Oxigênio na superfície do mar</a:t>
            </a:r>
            <a:endParaRPr lang="en-GB" sz="1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CDF077-81F8-7AB0-9E55-EACC0FD99281}"/>
              </a:ext>
            </a:extLst>
          </p:cNvPr>
          <p:cNvSpPr txBox="1"/>
          <p:nvPr/>
        </p:nvSpPr>
        <p:spPr>
          <a:xfrm>
            <a:off x="1472206" y="1691611"/>
            <a:ext cx="35642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pH (acidez)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405538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1AA3C-5ECE-100A-6148-9B61C8CE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DD185-7D27-2615-C374-78E57627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501650"/>
            <a:ext cx="10629123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anomalias nos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109D5C-FEBD-801C-1697-DE4966B0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1317" y="638188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685BE3E-E075-8D50-D9A1-263CCBD5637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7C4577F-6EAA-C3DF-90AA-42BD2B8DD8D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F526AFF-D8E8-E538-7AC7-7CE7F425B47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AA6075A7-F856-CCA9-205B-1426CA4934F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B898F54-6971-3939-E322-C484191DB6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13296"/>
              </p:ext>
            </p:extLst>
          </p:nvPr>
        </p:nvGraphicFramePr>
        <p:xfrm>
          <a:off x="1257974" y="1865279"/>
          <a:ext cx="9414588" cy="4506514"/>
        </p:xfrm>
        <a:graphic>
          <a:graphicData uri="http://schemas.openxmlformats.org/drawingml/2006/table">
            <a:tbl>
              <a:tblPr firstRow="1" firstCol="1"/>
              <a:tblGrid>
                <a:gridCol w="1475632">
                  <a:extLst>
                    <a:ext uri="{9D8B030D-6E8A-4147-A177-3AD203B41FA5}">
                      <a16:colId xmlns:a16="http://schemas.microsoft.com/office/drawing/2014/main" val="681141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9461264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0624173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15075691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345197056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7799161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66724974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0143738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9170094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722732300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04249892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58106944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183424889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1550457047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899739583"/>
                    </a:ext>
                  </a:extLst>
                </a:gridCol>
                <a:gridCol w="496054">
                  <a:extLst>
                    <a:ext uri="{9D8B030D-6E8A-4147-A177-3AD203B41FA5}">
                      <a16:colId xmlns:a16="http://schemas.microsoft.com/office/drawing/2014/main" val="2610593859"/>
                    </a:ext>
                  </a:extLst>
                </a:gridCol>
                <a:gridCol w="497100">
                  <a:extLst>
                    <a:ext uri="{9D8B030D-6E8A-4147-A177-3AD203B41FA5}">
                      <a16:colId xmlns:a16="http://schemas.microsoft.com/office/drawing/2014/main" val="2795337115"/>
                    </a:ext>
                  </a:extLst>
                </a:gridCol>
              </a:tblGrid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0955388"/>
                  </a:ext>
                </a:extLst>
              </a:tr>
              <a:tr h="32768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20138"/>
                  </a:ext>
                </a:extLst>
              </a:tr>
              <a:tr h="3651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5324418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calor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marinha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5.3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6.8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10.0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12.5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6.2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73034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Vaga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marítimo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1174873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alta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0.60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557668"/>
                  </a:ext>
                </a:extLst>
              </a:tr>
              <a:tr h="67228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oxigênio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22.9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13.8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9.7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15.4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10.1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23.1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18.4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23.6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4709431"/>
                  </a:ext>
                </a:extLst>
              </a:tr>
              <a:tr h="31955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alto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0.22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0.20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0.83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394113"/>
                  </a:ext>
                </a:extLst>
              </a:tr>
              <a:tr h="53498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Faixa</a:t>
                      </a: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de pH </a:t>
                      </a:r>
                      <a:r>
                        <a:rPr lang="en-GB" sz="1400" b="1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baixo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6.5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7.7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6.4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25.8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7.6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5.9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24.4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52107" marR="52107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00557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4C5503-A4F5-8C3D-3B43-E94D97121F68}"/>
              </a:ext>
            </a:extLst>
          </p:cNvPr>
          <p:cNvCxnSpPr/>
          <p:nvPr/>
        </p:nvCxnSpPr>
        <p:spPr>
          <a:xfrm flipH="1">
            <a:off x="10829925" y="3196823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9504321-1B14-FB5A-385D-2FDCE9BF1EFA}"/>
              </a:ext>
            </a:extLst>
          </p:cNvPr>
          <p:cNvCxnSpPr/>
          <p:nvPr/>
        </p:nvCxnSpPr>
        <p:spPr>
          <a:xfrm flipH="1">
            <a:off x="10829925" y="5084782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A51C9E3-740C-9984-BB83-9DD7E34F466C}"/>
              </a:ext>
            </a:extLst>
          </p:cNvPr>
          <p:cNvCxnSpPr/>
          <p:nvPr/>
        </p:nvCxnSpPr>
        <p:spPr>
          <a:xfrm flipH="1">
            <a:off x="10829925" y="6061204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49076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0197-5863-1CCB-4383-409B2E54D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DD8B8-C16C-CC78-F786-ADC414FF6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tendências e anomalias dos principais indicadores oceânicos 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640C8-F68F-D1F9-5484-79786BDAB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EDA64-DF39-98E0-0411-07519C6D9D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298EA89-BB49-18D9-03E2-D5B7667DC34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7EA2253-42C2-58B8-30BC-ED16F63186D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E5418CF-3A7C-7940-D5E7-6E8D4B5ECE3B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BC33AF5-A2EA-9363-9E9E-B3B8547A9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A ZEE de São Tomé e Príncipe está projetada para experimentar considerável aquecimento da superfície do mar, acidificação e desoxigenação
A ZEE também está projetada para apresentar muitas mais ondas de calor marinhas, faixas de pH baixo e faixas de oxigênio</a:t>
            </a:r>
          </a:p>
          <a:p>
            <a:endParaRPr lang="pt-B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aquecimento, acidificação e desoxigenação dos oceanos alterem a distribuição dos peixes e reduzam a biomassa dos peixes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2592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43415-383E-9F3A-6063-F6DE64291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9597-57ED-0A4B-54BB-C49E2BC66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4155" y="521846"/>
            <a:ext cx="6155769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Análise do impacto dos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F7D0B-3588-08B0-0049-708DBA68FA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9754" y="1847409"/>
            <a:ext cx="5515379" cy="4351338"/>
          </a:xfrm>
        </p:spPr>
        <p:txBody>
          <a:bodyPr>
            <a:normAutofit fontScale="925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climático nas pescas foi avaliado usando dois tipos de modelo: mecanicista e empírico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mecanicistas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utilizam equações que mostram como os sistemas de peixes funcionam e interagem com o clima</a:t>
            </a:r>
          </a:p>
          <a:p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Modelos empíricos 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– encontram associações estatísticas entre a presença de espécies e parâmetros ambientais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E09670-A785-821A-65D0-C1B5F9BCC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5053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545AF79-8BA1-55EA-8D7F-D4A9CF3452A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618566-26EA-20E2-DF6F-8387115801FF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515BD8F-18AE-843A-8247-21312ABE456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A176A92-1BE8-9390-CAD4-C04837C21BC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4" descr="Mechanistic Modelling of Biomass Growth, Glucose Consumption and Ethanol  Production by Kluyveromyces marxianus in Batch Fermentation">
            <a:extLst>
              <a:ext uri="{FF2B5EF4-FFF2-40B4-BE49-F238E27FC236}">
                <a16:creationId xmlns:a16="http://schemas.microsoft.com/office/drawing/2014/main" id="{D61BADDF-C5BC-0447-82E4-24C81F870A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258" y="1798626"/>
            <a:ext cx="4028266" cy="196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0" descr="A person walking with a computer&#10;&#10;AI-generated content may be incorrect.">
            <a:extLst>
              <a:ext uri="{FF2B5EF4-FFF2-40B4-BE49-F238E27FC236}">
                <a16:creationId xmlns:a16="http://schemas.microsoft.com/office/drawing/2014/main" id="{B6005A82-7AD1-F777-1367-86D6CFA8F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24" y="3971689"/>
            <a:ext cx="3898534" cy="2191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72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7FC1-7531-CD46-460C-A2E429CE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60CE-1936-86A2-35E0-EDFB4F62F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4787" y="456975"/>
            <a:ext cx="10619007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mecanicista)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A7A2BE-C518-8415-361B-A9ADDA84F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6811" y="6350574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6370579-FFDD-22C1-2FDD-971C14A9100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27ACE1-F74B-5F43-34E2-9893EA41B3C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C8BFEE-AFA7-13FB-FAF4-463646473D9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DC6DDA8-FD0E-9F27-E792-45234BDBCAF2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BEA1185F-84CB-4F33-5E1D-B57999BF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1675" y="1997144"/>
            <a:ext cx="6622119" cy="413882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9A34808-8692-5667-1AE5-B091979DD8FA}"/>
              </a:ext>
            </a:extLst>
          </p:cNvPr>
          <p:cNvSpPr txBox="1"/>
          <p:nvPr/>
        </p:nvSpPr>
        <p:spPr>
          <a:xfrm>
            <a:off x="1001224" y="1844468"/>
            <a:ext cx="3469176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O impacto das mudanças climáticas na biomassa de peixes foi avaliado em 12 combinações de modelos de impacto e clima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Principais lições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Biomassa total pelágica e demersal projetada para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diminuir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Maior diminuição em 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pelágicos pequenos e grandes</a:t>
            </a:r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b="1" dirty="0">
                <a:latin typeface="Arial" panose="020B0604020202020204" pitchFamily="34" charset="0"/>
                <a:cs typeface="Arial" panose="020B0604020202020204" pitchFamily="34" charset="0"/>
              </a:rPr>
              <a:t>A diminuição piora com o tempo</a:t>
            </a:r>
            <a:endParaRPr lang="en-GB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591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3DF011-6B45-3DA4-7A68-C488B3E24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with different colored lines&#10;&#10;AI-generated content may be incorrect.">
            <a:extLst>
              <a:ext uri="{FF2B5EF4-FFF2-40B4-BE49-F238E27FC236}">
                <a16:creationId xmlns:a16="http://schemas.microsoft.com/office/drawing/2014/main" id="{FF5A5501-6A54-1503-AB08-BCF384C84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697" y="1720607"/>
            <a:ext cx="6572608" cy="4694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D7D691-12C4-4775-38C9-49FA86D76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74065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0159C-0E99-B505-D01B-41E8A09FA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773" y="1825623"/>
            <a:ext cx="4031512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 consulta ao escritório do país identificou as 50 espécies de peixes mais importantes para a segurança alimentar e a economia
Mudança modelada na probabilidade de espécies estarem presentes na ZEE
Com um corte de variação de 0,1, a probabilidade de ocorrência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14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36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5C3BEA-7B97-6CB7-1E3D-DEEB86F70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9D05C82-4037-DD8B-70B0-D86A0B41CA9B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6957EB7-89C5-8513-60F9-638A66D6557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A0861AB-59E1-4165-2AF9-344EF8B4A63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557DFF4B-F5EF-4362-E3FB-7DD6463DF51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287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526DB-C581-CCA5-78E3-12C0C4AFD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D5563-FC9F-18B8-EACB-0D74EBE9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825715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FD1F0-E1B2-D61A-28FB-14B443211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28409" y="1812097"/>
            <a:ext cx="4731631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O impacto climático é maior no oeste do que no leste, consistente com os modelos mecanicistas
As águas costeiras estão protegidas do impacto climático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FE00C1-E73D-5607-F09D-B1F616EA6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3852" y="63173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866A2FF-7826-DE64-C293-B5412508BEA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ABD4834-8288-4516-C3AA-CC019105A23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A841CAF-7984-3C5F-F33E-F695AA305FD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FD646F6-8523-74B2-99A6-32F24B694B0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A diagram of a bird&#10;&#10;AI-generated content may be incorrect.">
            <a:extLst>
              <a:ext uri="{FF2B5EF4-FFF2-40B4-BE49-F238E27FC236}">
                <a16:creationId xmlns:a16="http://schemas.microsoft.com/office/drawing/2014/main" id="{5A417C97-85F2-9855-CF0E-9E52361B3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091" b="9448"/>
          <a:stretch>
            <a:fillRect/>
          </a:stretch>
        </p:blipFill>
        <p:spPr>
          <a:xfrm>
            <a:off x="731960" y="1838064"/>
            <a:ext cx="5144691" cy="4190922"/>
          </a:xfrm>
          <a:prstGeom prst="rect">
            <a:avLst/>
          </a:prstGeom>
        </p:spPr>
      </p:pic>
      <p:pic>
        <p:nvPicPr>
          <p:cNvPr id="26" name="Picture 25" descr="A screen shot of a graph&#10;&#10;AI-generated content may be incorrect.">
            <a:extLst>
              <a:ext uri="{FF2B5EF4-FFF2-40B4-BE49-F238E27FC236}">
                <a16:creationId xmlns:a16="http://schemas.microsoft.com/office/drawing/2014/main" id="{303A8F46-387E-2867-92DE-B546342959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9213870" y="4071434"/>
            <a:ext cx="2563165" cy="1704963"/>
          </a:xfrm>
          <a:prstGeom prst="rect">
            <a:avLst/>
          </a:prstGeom>
        </p:spPr>
      </p:pic>
      <p:pic>
        <p:nvPicPr>
          <p:cNvPr id="27" name="Picture 26" descr="A red and blue graph&#10;&#10;AI-generated content may be incorrect.">
            <a:extLst>
              <a:ext uri="{FF2B5EF4-FFF2-40B4-BE49-F238E27FC236}">
                <a16:creationId xmlns:a16="http://schemas.microsoft.com/office/drawing/2014/main" id="{E1DBCE14-A472-9C37-AEDE-C2F4C7E18A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6457507" y="4062503"/>
            <a:ext cx="2574725" cy="1704963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5B11FD6F-A875-B37D-800F-04EED0E8F977}"/>
              </a:ext>
            </a:extLst>
          </p:cNvPr>
          <p:cNvSpPr txBox="1"/>
          <p:nvPr/>
        </p:nvSpPr>
        <p:spPr>
          <a:xfrm>
            <a:off x="9313717" y="3781056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43B9755-F4BB-E31E-064D-6D9A79DA8C6F}"/>
              </a:ext>
            </a:extLst>
          </p:cNvPr>
          <p:cNvSpPr txBox="1"/>
          <p:nvPr/>
        </p:nvSpPr>
        <p:spPr>
          <a:xfrm>
            <a:off x="6457507" y="3802754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  <p:pic>
        <p:nvPicPr>
          <p:cNvPr id="30" name="Picture 29" descr="A map of a continent&#10;&#10;AI-generated content may be incorrect.">
            <a:extLst>
              <a:ext uri="{FF2B5EF4-FFF2-40B4-BE49-F238E27FC236}">
                <a16:creationId xmlns:a16="http://schemas.microsoft.com/office/drawing/2014/main" id="{1D3B5889-A4C9-2051-C4FC-1AB11CD7C0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351" b="8590"/>
          <a:stretch>
            <a:fillRect/>
          </a:stretch>
        </p:blipFill>
        <p:spPr>
          <a:xfrm>
            <a:off x="7317732" y="5883693"/>
            <a:ext cx="3429000" cy="379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849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2B7CB-7FF0-2259-1107-D4C367F1E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DA17C-EF0B-16DB-DBA4-FA306AAF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95044"/>
            <a:ext cx="10932041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40E8C7-22E0-3588-4E99-77BA4025D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3679" y="63274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978C6DF-2633-9AD6-BF19-922ECFB238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6186CB3-E159-52B2-9697-BF89C473FBA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CDD1A54-2DF1-F3AC-49D6-A6AFED905AF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010934A-73DD-AE10-DC42-FD3EECEA75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1AB3761-53B8-0543-15F1-2306AE7F2745}"/>
              </a:ext>
            </a:extLst>
          </p:cNvPr>
          <p:cNvSpPr txBox="1"/>
          <p:nvPr/>
        </p:nvSpPr>
        <p:spPr>
          <a:xfrm>
            <a:off x="1311742" y="3652158"/>
            <a:ext cx="3040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Positivamente afetado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49040D-3D3A-6C2D-33BB-66F64635ED61}"/>
              </a:ext>
            </a:extLst>
          </p:cNvPr>
          <p:cNvSpPr txBox="1"/>
          <p:nvPr/>
        </p:nvSpPr>
        <p:spPr>
          <a:xfrm>
            <a:off x="4742196" y="3633242"/>
            <a:ext cx="295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latin typeface="Arial" panose="020B0604020202020204" pitchFamily="34" charset="0"/>
                <a:cs typeface="Arial" panose="020B0604020202020204" pitchFamily="34" charset="0"/>
              </a:rPr>
              <a:t>Afetados negativamente pelas alterações climáticas</a:t>
            </a:r>
            <a:endParaRPr lang="en-GB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A1BA87-B28C-4F11-1785-4596163BB1FB}"/>
              </a:ext>
            </a:extLst>
          </p:cNvPr>
          <p:cNvCxnSpPr/>
          <p:nvPr/>
        </p:nvCxnSpPr>
        <p:spPr>
          <a:xfrm flipV="1">
            <a:off x="7001866" y="4765922"/>
            <a:ext cx="0" cy="37147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8CD22DA9-713B-DCCB-9F7F-8C855B5635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784" t="43010" b="19680"/>
          <a:stretch>
            <a:fillRect/>
          </a:stretch>
        </p:blipFill>
        <p:spPr bwMode="auto">
          <a:xfrm>
            <a:off x="9302234" y="4005560"/>
            <a:ext cx="1895475" cy="181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1335F3D9-24D7-46A2-064C-FAC164F5DB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575" t="86889" r="31137" b="-249"/>
          <a:stretch>
            <a:fillRect/>
          </a:stretch>
        </p:blipFill>
        <p:spPr bwMode="auto">
          <a:xfrm>
            <a:off x="9213979" y="5821098"/>
            <a:ext cx="1907461" cy="506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4EC8E666-2D0E-31D0-A7C8-B7DF0F2D13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0228" y="1602398"/>
            <a:ext cx="2384187" cy="2144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graph of a graph showing a number of different numbers&#10;&#10;AI-generated content may be incorrect.">
            <a:extLst>
              <a:ext uri="{FF2B5EF4-FFF2-40B4-BE49-F238E27FC236}">
                <a16:creationId xmlns:a16="http://schemas.microsoft.com/office/drawing/2014/main" id="{D54368B5-24A4-2D05-2A7A-4555F1AA68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6497" y="4094907"/>
            <a:ext cx="2455712" cy="2455712"/>
          </a:xfrm>
          <a:prstGeom prst="rect">
            <a:avLst/>
          </a:prstGeom>
        </p:spPr>
      </p:pic>
      <p:pic>
        <p:nvPicPr>
          <p:cNvPr id="20" name="Picture 19" descr="A graph with blue lines&#10;&#10;AI-generated content may be incorrect.">
            <a:extLst>
              <a:ext uri="{FF2B5EF4-FFF2-40B4-BE49-F238E27FC236}">
                <a16:creationId xmlns:a16="http://schemas.microsoft.com/office/drawing/2014/main" id="{BFC78793-E9E4-8077-0BD4-FB1E6828F4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4110" y="4094907"/>
            <a:ext cx="2455712" cy="245571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BDF515-77FF-1A06-D684-E218194CAA9C}"/>
              </a:ext>
            </a:extLst>
          </p:cNvPr>
          <p:cNvCxnSpPr>
            <a:cxnSpLocks/>
          </p:cNvCxnSpPr>
          <p:nvPr/>
        </p:nvCxnSpPr>
        <p:spPr>
          <a:xfrm>
            <a:off x="6706397" y="4665261"/>
            <a:ext cx="0" cy="47122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88BFE8F-9100-13AC-6FCC-50D2F1C47823}"/>
              </a:ext>
            </a:extLst>
          </p:cNvPr>
          <p:cNvCxnSpPr>
            <a:cxnSpLocks/>
          </p:cNvCxnSpPr>
          <p:nvPr/>
        </p:nvCxnSpPr>
        <p:spPr>
          <a:xfrm flipV="1">
            <a:off x="3317633" y="5253791"/>
            <a:ext cx="0" cy="374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red and blue graph&#10;&#10;AI-generated content may be incorrect.">
            <a:extLst>
              <a:ext uri="{FF2B5EF4-FFF2-40B4-BE49-F238E27FC236}">
                <a16:creationId xmlns:a16="http://schemas.microsoft.com/office/drawing/2014/main" id="{A3508A33-DECA-0471-1A86-2A2B2343578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89" r="37917" b="30000"/>
          <a:stretch>
            <a:fillRect/>
          </a:stretch>
        </p:blipFill>
        <p:spPr>
          <a:xfrm>
            <a:off x="3065059" y="1724037"/>
            <a:ext cx="2574725" cy="1704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DBD727-589A-FB94-50F5-7576B3FACDDB}"/>
              </a:ext>
            </a:extLst>
          </p:cNvPr>
          <p:cNvSpPr txBox="1"/>
          <p:nvPr/>
        </p:nvSpPr>
        <p:spPr>
          <a:xfrm>
            <a:off x="3065059" y="1464288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/>
              <a:t>Anthias </a:t>
            </a:r>
            <a:r>
              <a:rPr lang="en-GB" sz="1200" b="1" i="1" dirty="0" err="1"/>
              <a:t>anthias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4149168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C3CF1-DCEC-2C60-C4F9-F58C830C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32EFD-BE0C-B85D-34BC-62C76A084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091" y="414271"/>
            <a:ext cx="1079381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Pescas – impacto climático (modelação empírica)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0E5C0D-21A3-1ED5-F194-B02B18FDA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72124" y="637360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8186325-0757-D403-4A08-6572E02C489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8708D9-963C-4CBE-A6DC-B15F8C15B14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AE27FC-0B74-3CE7-60DF-ABFA6F95C587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39765FEA-AB29-6AEC-B2FE-C9410DF3A679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graph with dots and lines&#10;&#10;AI-generated content may be incorrect.">
            <a:extLst>
              <a:ext uri="{FF2B5EF4-FFF2-40B4-BE49-F238E27FC236}">
                <a16:creationId xmlns:a16="http://schemas.microsoft.com/office/drawing/2014/main" id="{37FF9FCE-76A8-F642-797F-451C2CFBE6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856" y="3899791"/>
            <a:ext cx="2563165" cy="2563165"/>
          </a:xfrm>
          <a:prstGeom prst="rect">
            <a:avLst/>
          </a:prstGeom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6B3467E7-466A-9107-01C7-F1FA37382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707" y="3899791"/>
            <a:ext cx="6622338" cy="2637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7E1FA68-40E7-DDCD-F042-038714DBC4F6}"/>
              </a:ext>
            </a:extLst>
          </p:cNvPr>
          <p:cNvSpPr txBox="1"/>
          <p:nvPr/>
        </p:nvSpPr>
        <p:spPr>
          <a:xfrm>
            <a:off x="4376124" y="1927099"/>
            <a:ext cx="679492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amortecimento costeiro ocorre em todas as espécies
O resultado pode dever-se a uma maior estabilidade climática perto da costa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screen shot of a graph&#10;&#10;AI-generated content may be incorrect.">
            <a:extLst>
              <a:ext uri="{FF2B5EF4-FFF2-40B4-BE49-F238E27FC236}">
                <a16:creationId xmlns:a16="http://schemas.microsoft.com/office/drawing/2014/main" id="{2CE109B4-6888-D94F-6BF5-2C2F646049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306" r="37778" b="29306"/>
          <a:stretch>
            <a:fillRect/>
          </a:stretch>
        </p:blipFill>
        <p:spPr>
          <a:xfrm>
            <a:off x="1254857" y="1887179"/>
            <a:ext cx="2563165" cy="170496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53157E0-666B-662A-4115-BA3C9FDCDE26}"/>
              </a:ext>
            </a:extLst>
          </p:cNvPr>
          <p:cNvSpPr txBox="1"/>
          <p:nvPr/>
        </p:nvSpPr>
        <p:spPr>
          <a:xfrm>
            <a:off x="1354704" y="1596801"/>
            <a:ext cx="16771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b="1" i="1" dirty="0" err="1"/>
              <a:t>Erythrocles</a:t>
            </a:r>
            <a:r>
              <a:rPr lang="en-GB" sz="1200" b="1" i="1" dirty="0"/>
              <a:t> </a:t>
            </a:r>
            <a:r>
              <a:rPr lang="en-GB" sz="1200" b="1" i="1" dirty="0" err="1"/>
              <a:t>monodi</a:t>
            </a:r>
            <a:endParaRPr lang="en-GB" sz="1200" b="1" i="1" dirty="0"/>
          </a:p>
        </p:txBody>
      </p:sp>
    </p:spTree>
    <p:extLst>
      <p:ext uri="{BB962C8B-B14F-4D97-AF65-F5344CB8AC3E}">
        <p14:creationId xmlns:p14="http://schemas.microsoft.com/office/powerpoint/2010/main" val="2765465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2BEDD-B0BB-6D4E-2E9B-7D247D8B7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EF191-D735-306C-8900-3571E8F53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a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pesca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B10D8D-519F-9448-1769-8AB7F598C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858" y="2005012"/>
            <a:ext cx="5622407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aquecimento da superfície do mar, acidifação e desoxigenação devido às mudanças climáticas são projetados para reduzir a biomassa pelágica e demersal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Mudanças nos oceanos também são projetadas para aumentar ou reduzir a probabilidade de presença de espécies na ZEE</a:t>
            </a:r>
          </a:p>
          <a:p>
            <a:pPr marL="0" indent="0">
              <a:buNone/>
            </a:pPr>
            <a:endParaRPr lang="pt-BR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 impacto médio do amortecimento costeiro e oriental pode ser mais fraco para pesca próxima à costa ou a leste da ZEE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F2AFE85F-5239-4667-5668-B8B8BC8D3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FE1041-4B1F-AEDB-2A08-AF5606085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21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1539188-0844-74C6-C6D8-396981746D7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FDEC274-AC30-0961-10EB-42AC93AEB84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CB47984-0320-49BB-562E-63CCBE37504B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3A84F27-A31C-D05D-6E37-6C4E3033BA8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2" descr="Sao Tome and Principe endorses first ever fisheries management plan">
            <a:extLst>
              <a:ext uri="{FF2B5EF4-FFF2-40B4-BE49-F238E27FC236}">
                <a16:creationId xmlns:a16="http://schemas.microsoft.com/office/drawing/2014/main" id="{71EECC6E-53D6-11A2-AD83-469EAB653C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476"/>
          <a:stretch>
            <a:fillRect/>
          </a:stretch>
        </p:blipFill>
        <p:spPr bwMode="auto">
          <a:xfrm>
            <a:off x="6757130" y="406302"/>
            <a:ext cx="5434870" cy="645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09730D2-7949-78FC-55DF-18C105371E73}"/>
              </a:ext>
            </a:extLst>
          </p:cNvPr>
          <p:cNvSpPr txBox="1">
            <a:spLocks/>
          </p:cNvSpPr>
          <p:nvPr/>
        </p:nvSpPr>
        <p:spPr>
          <a:xfrm>
            <a:off x="8876930" y="634588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GH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1B4FB4-AA13-FE41-AF8A-525BA2FA973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119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0B696-778A-D8CE-4102-B3D67869C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F8354CC-424B-E624-D376-392431298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7835" y="395043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9472256-E5F8-2060-F4BC-FFF63DAF5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9EDD1-AA50-5BD6-0C61-E0284018F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4860551" cy="4351338"/>
          </a:xfrm>
        </p:spPr>
        <p:txBody>
          <a:bodyPr>
            <a:normAutofit fontScale="925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PIB: 6-8% (14% indireto)
Emprego: ~10%
Destaques: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Sol e praia
Mergulho
Ecoturismo
Pesca desportiva</a:t>
            </a:r>
          </a:p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Ameaças</a:t>
            </a:r>
          </a:p>
          <a:p>
            <a:pPr lvl="1"/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Temperaturas elevadas e humidade
Condições meteorológicas extremas
Erosão costeira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EA563C-3436-CAF4-90AF-128BCD096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76930" y="6345885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FE16E37-5C45-2DD8-6936-38188B9C8587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602073-FF12-DCD2-E89A-23E19643046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484D007-D74E-D712-E30B-2874B061D081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D619689-B7BB-04C2-5CB6-B8F81FBED7B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7280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E83BB-C7AF-63ED-BD80-67F1D9A4E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84820-09FF-E2E4-EAEF-35A219E82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em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2FBF9-64DB-1A22-61D7-FDD1FDA0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5669" y="62995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B08B314-B2BD-9FF4-EEE1-FC757E0A15D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8C28B0A-E289-8F95-E66A-385D15083B9A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04AC088-D1D2-0691-6A50-4A861AF6C932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4E9549-AD8F-062B-D058-176544BE12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numbers and a bar chart&#10;&#10;Description automatically generated">
            <a:extLst>
              <a:ext uri="{FF2B5EF4-FFF2-40B4-BE49-F238E27FC236}">
                <a16:creationId xmlns:a16="http://schemas.microsoft.com/office/drawing/2014/main" id="{01FC1FFF-6F6D-DEBD-887B-975716C61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2" y="1684333"/>
            <a:ext cx="4731792" cy="20529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 descr="A graph with blue and orange lines&#10;&#10;Description automatically generated">
            <a:extLst>
              <a:ext uri="{FF2B5EF4-FFF2-40B4-BE49-F238E27FC236}">
                <a16:creationId xmlns:a16="http://schemas.microsoft.com/office/drawing/2014/main" id="{32BC151E-3B40-9634-4E6E-AD9BD0C5AF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853180"/>
            <a:ext cx="4646857" cy="2628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Picture 13" descr="STP2">
            <a:extLst>
              <a:ext uri="{FF2B5EF4-FFF2-40B4-BE49-F238E27FC236}">
                <a16:creationId xmlns:a16="http://schemas.microsoft.com/office/drawing/2014/main" id="{B6282532-8A54-9713-6C93-CD2A1947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3128" y="1827212"/>
            <a:ext cx="5731510" cy="405193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554A8D-99C5-F560-5E6E-590121C5BC74}"/>
              </a:ext>
            </a:extLst>
          </p:cNvPr>
          <p:cNvSpPr txBox="1"/>
          <p:nvPr/>
        </p:nvSpPr>
        <p:spPr>
          <a:xfrm>
            <a:off x="7532145" y="1499667"/>
            <a:ext cx="3045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Locais</a:t>
            </a:r>
            <a:r>
              <a:rPr lang="en-GB" dirty="0"/>
              <a:t> de </a:t>
            </a:r>
            <a:r>
              <a:rPr lang="en-GB" dirty="0" err="1"/>
              <a:t>provisões</a:t>
            </a:r>
            <a:r>
              <a:rPr lang="en-GB" dirty="0"/>
              <a:t> </a:t>
            </a:r>
            <a:r>
              <a:rPr lang="en-GB" dirty="0" err="1"/>
              <a:t>turísticas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1970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99060-E8F0-E715-8D6A-B7432F0E0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C78ED-6FE0-218B-A93A-729ABD9A0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726"/>
            <a:ext cx="10526486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11E6E2-F45E-5A6C-047F-C77C3AFA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4328" y="6352086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773066D-1FE3-FCCE-9EE4-71A4BBEF376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5281B-1BDB-DAB8-C730-9FDD9D3C17F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D0654-5C0E-504A-C6BB-C7D10202A27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4690702-43AE-5A45-AAA0-3E9FBF4B25E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BD479BF8-FC44-F123-9041-EF2E3A1C7DB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527" b="32193"/>
          <a:stretch>
            <a:fillRect/>
          </a:stretch>
        </p:blipFill>
        <p:spPr bwMode="auto">
          <a:xfrm>
            <a:off x="838200" y="4357879"/>
            <a:ext cx="5211092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7E99EF5-F346-296C-F7DA-E65915B69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988" b="31582"/>
          <a:stretch>
            <a:fillRect/>
          </a:stretch>
        </p:blipFill>
        <p:spPr bwMode="auto">
          <a:xfrm>
            <a:off x="6589581" y="2290487"/>
            <a:ext cx="5189495" cy="194239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5C080776-192C-E8F4-E312-46CA8A7E48A3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681" b="32652"/>
          <a:stretch>
            <a:fillRect/>
          </a:stretch>
        </p:blipFill>
        <p:spPr bwMode="auto">
          <a:xfrm>
            <a:off x="6567984" y="4504894"/>
            <a:ext cx="5211092" cy="19108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7AA4B144-32AA-BF9C-A1E7-A25A8EE3E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845" y="2000748"/>
            <a:ext cx="5525278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ERA5 reanalysis dataset (1980-2020)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Tendências climáticas passadas: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Aumento das temperaturas da superfície
Mais precipitação em outubro-dezembro
Mais húmido em julho-dezembro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B07E4-213A-448D-7B38-C493172F6498}"/>
              </a:ext>
            </a:extLst>
          </p:cNvPr>
          <p:cNvSpPr txBox="1"/>
          <p:nvPr/>
        </p:nvSpPr>
        <p:spPr>
          <a:xfrm>
            <a:off x="1084988" y="4058958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/>
              <a:t>Temperaturas da superfície (~0.4-0.6°C)</a:t>
            </a:r>
            <a:endParaRPr lang="en-GB" sz="16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6EFE20-8E8F-87DD-A2AF-DBACBD8D6F63}"/>
              </a:ext>
            </a:extLst>
          </p:cNvPr>
          <p:cNvSpPr txBox="1"/>
          <p:nvPr/>
        </p:nvSpPr>
        <p:spPr>
          <a:xfrm>
            <a:off x="6872875" y="1905323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20B7F8-4F77-5AD4-5CEE-AB41991CE191}"/>
              </a:ext>
            </a:extLst>
          </p:cNvPr>
          <p:cNvSpPr txBox="1"/>
          <p:nvPr/>
        </p:nvSpPr>
        <p:spPr>
          <a:xfrm>
            <a:off x="6872875" y="4169225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96185930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3853-9780-EC54-6736-2FC26EAFB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87E54-C88C-C040-F6CB-8C8B9668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1016259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(histórico)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196F0-0865-B181-5BD9-1D3E0103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932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C82112-22C8-B2C5-4D09-CCA0051D479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63ED638-D06E-7B94-D67F-29BE633C5896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AC20DB-E44B-2C25-5582-0E1AE182817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6E8ECA50-5C96-B9BE-FAC3-0CE435D63D3D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3A5026F5-1F37-4F2A-105B-BB9E3ACE2D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460427"/>
              </p:ext>
            </p:extLst>
          </p:nvPr>
        </p:nvGraphicFramePr>
        <p:xfrm>
          <a:off x="1938068" y="2484409"/>
          <a:ext cx="8057070" cy="3339384"/>
        </p:xfrm>
        <a:graphic>
          <a:graphicData uri="http://schemas.openxmlformats.org/drawingml/2006/table">
            <a:tbl>
              <a:tblPr firstRow="1" firstCol="1" bandRow="1"/>
              <a:tblGrid>
                <a:gridCol w="1242162">
                  <a:extLst>
                    <a:ext uri="{9D8B030D-6E8A-4147-A177-3AD203B41FA5}">
                      <a16:colId xmlns:a16="http://schemas.microsoft.com/office/drawing/2014/main" val="4101417176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7790123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540060528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248318436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2578382231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4189338430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2918689729"/>
                    </a:ext>
                  </a:extLst>
                </a:gridCol>
                <a:gridCol w="851640">
                  <a:extLst>
                    <a:ext uri="{9D8B030D-6E8A-4147-A177-3AD203B41FA5}">
                      <a16:colId xmlns:a16="http://schemas.microsoft.com/office/drawing/2014/main" val="1985133232"/>
                    </a:ext>
                  </a:extLst>
                </a:gridCol>
                <a:gridCol w="852534">
                  <a:extLst>
                    <a:ext uri="{9D8B030D-6E8A-4147-A177-3AD203B41FA5}">
                      <a16:colId xmlns:a16="http://schemas.microsoft.com/office/drawing/2014/main" val="3091013333"/>
                    </a:ext>
                  </a:extLst>
                </a:gridCol>
              </a:tblGrid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6990081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Jan-Mar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Apr-Jun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Jul-Sep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Oct-Dec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2079606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2.71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4078907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6.99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2.18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1.94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3.23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3323048"/>
                  </a:ext>
                </a:extLst>
              </a:tr>
              <a:tr h="75448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 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75.8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29.0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0.85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3.72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8.07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1.09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4.65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9868639"/>
                  </a:ext>
                </a:extLst>
              </a:tr>
              <a:tr h="35864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 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1.84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1.12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1.01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0.93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1.27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0.98</a:t>
                      </a:r>
                      <a:endParaRPr lang="en-GB" sz="18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6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1.05</a:t>
                      </a:r>
                      <a:endParaRPr lang="en-GB" sz="18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75960923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5EB191D9-48B1-7AB4-2BF7-2329A9CEBBCC}"/>
              </a:ext>
            </a:extLst>
          </p:cNvPr>
          <p:cNvSpPr txBox="1"/>
          <p:nvPr/>
        </p:nvSpPr>
        <p:spPr>
          <a:xfrm>
            <a:off x="1782792" y="2093817"/>
            <a:ext cx="8626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/>
              <a:t>Diferença de frequência de anomalias climáticas entre 1980-1990 e 2010-2020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26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C4AA-8B61-98FC-EE05-C4E6AE9FF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B6429-15D6-3006-19C8-A981650EA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265230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330B0-74FE-3686-7FCF-4FB095579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11561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AF5B37C-6947-7B26-8683-C3E3D57CF0C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2DC2386-A617-FEB3-7A0F-1387B7FD9D61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9DEBCA4-9B32-FB05-878C-E68463C6151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730BBD6-C1D4-D717-13E5-4F5CBF14891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28D9B092-3FD1-E743-48A2-464A2374E3E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0392" y="1836346"/>
            <a:ext cx="4852706" cy="4840340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1496C946-CF81-0129-19E4-C612E6650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1043" y="1960223"/>
            <a:ext cx="5005647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Fonte de dados: CORDEX-CORE bias-corrected, downscaled CMIP5 ensemble</a:t>
            </a: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Cenários climáticos:
Duas vias de concentração representativas</a:t>
            </a:r>
          </a:p>
          <a:p>
            <a:pPr lvl="1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RCP 2.6 (baixo carbono, otimista)
RCP 8.5 (alto carbono, pessimista)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Linha de base histórica (1980-2005)
Dois períodos futuros</a:t>
            </a:r>
          </a:p>
          <a:p>
            <a:pPr lvl="1"/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2020-2049
2050-2079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A18B0F-02D5-397C-CAD3-53ACEA710E75}"/>
              </a:ext>
            </a:extLst>
          </p:cNvPr>
          <p:cNvSpPr txBox="1"/>
          <p:nvPr/>
        </p:nvSpPr>
        <p:spPr>
          <a:xfrm>
            <a:off x="6500268" y="1595264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Temperaturas da superfície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6585620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4160E-D7AC-B0A9-E941-7254708CB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9D300-7D5D-57D6-9E84-BD0001DD3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153262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tendências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CCBE2E-3F08-C7D9-4CFB-FEDC0F7B5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5438" y="631837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EBFC82-9D86-D6EE-D78C-E807F50BA896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8FD9CEC-3224-E7D5-30BA-A36E951867D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CB4B67-1CD4-0167-C9FF-73801FD9BE5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B7625F9-5206-CC60-2AC5-153C86CA7B8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E82B13-4E43-31B1-EC5A-1C4BEF6B31A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928043"/>
            <a:ext cx="4802274" cy="4755454"/>
          </a:xfrm>
          <a:prstGeom prst="rect">
            <a:avLst/>
          </a:prstGeom>
        </p:spPr>
      </p:pic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A507DD38-3589-EEDF-5888-B8F2E341508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281" y="1933818"/>
            <a:ext cx="4887997" cy="484034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67C6DD-91FE-60C0-DA66-C56D8E21A14E}"/>
              </a:ext>
            </a:extLst>
          </p:cNvPr>
          <p:cNvSpPr txBox="1"/>
          <p:nvPr/>
        </p:nvSpPr>
        <p:spPr>
          <a:xfrm>
            <a:off x="1235509" y="1618309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Precipitação</a:t>
            </a:r>
            <a:endParaRPr lang="en-GB" sz="1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29BCC-4A7A-3C8B-499F-0D2783F8C1AD}"/>
              </a:ext>
            </a:extLst>
          </p:cNvPr>
          <p:cNvSpPr txBox="1"/>
          <p:nvPr/>
        </p:nvSpPr>
        <p:spPr>
          <a:xfrm>
            <a:off x="6415536" y="1708351"/>
            <a:ext cx="3928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Humidade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15754600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B8F-4CE6-2639-7803-BBFB4C82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55799-53C0-2B10-4A42-34BE55787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0339874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anomalias nos principais indicadores clima (futuro)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DBFAA9-9C92-B3DA-F4D6-8A97E2254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18644" y="635635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DE5C73-F4D7-681E-FF9E-6CFA4A4E42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7612F7-7B76-2684-BC10-1A2CE70FB37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42271A8-904E-0143-603E-F34BA6BB79C8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C5F72-DA46-F6B1-111E-AEE71FBD9A8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FCF85196-E592-F608-AEC6-F518B87DAF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9810673"/>
              </p:ext>
            </p:extLst>
          </p:nvPr>
        </p:nvGraphicFramePr>
        <p:xfrm>
          <a:off x="750145" y="1933818"/>
          <a:ext cx="10515593" cy="4149852"/>
        </p:xfrm>
        <a:graphic>
          <a:graphicData uri="http://schemas.openxmlformats.org/drawingml/2006/table">
            <a:tbl>
              <a:tblPr firstRow="1" firstCol="1"/>
              <a:tblGrid>
                <a:gridCol w="1634413">
                  <a:extLst>
                    <a:ext uri="{9D8B030D-6E8A-4147-A177-3AD203B41FA5}">
                      <a16:colId xmlns:a16="http://schemas.microsoft.com/office/drawing/2014/main" val="774094957"/>
                    </a:ext>
                  </a:extLst>
                </a:gridCol>
                <a:gridCol w="568000">
                  <a:extLst>
                    <a:ext uri="{9D8B030D-6E8A-4147-A177-3AD203B41FA5}">
                      <a16:colId xmlns:a16="http://schemas.microsoft.com/office/drawing/2014/main" val="142210115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982161606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87442113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68433308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962048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2839745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8939400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88968904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182713721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245200191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226451773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66491822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3228504788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73137245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1888486370"/>
                    </a:ext>
                  </a:extLst>
                </a:gridCol>
                <a:gridCol w="554212">
                  <a:extLst>
                    <a:ext uri="{9D8B030D-6E8A-4147-A177-3AD203B41FA5}">
                      <a16:colId xmlns:a16="http://schemas.microsoft.com/office/drawing/2014/main" val="652600120"/>
                    </a:ext>
                  </a:extLst>
                </a:gridCol>
              </a:tblGrid>
              <a:tr h="1858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Climate anomaly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16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Frequency of extreme events in future projections relative to baseline (1980-2005)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5714588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2.6 (low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RCP 8.5 (high carbon scenario)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49968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2020-2049</a:t>
                      </a:r>
                      <a:endParaRPr lang="en-GB" sz="14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2050-2079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143433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JFM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AMJ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JAS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OND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9969249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São Tomé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735844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9291715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897720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071586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-2.4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3.3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458532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2913146"/>
                  </a:ext>
                </a:extLst>
              </a:tr>
              <a:tr h="13339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Príncipe</a:t>
                      </a:r>
                      <a:endParaRPr lang="en-GB" sz="14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 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356707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Heatwaves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076564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Heavy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1918541"/>
                  </a:ext>
                </a:extLst>
              </a:tr>
              <a:tr h="28336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Extreme rainfall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0.3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0.2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0.5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0144705"/>
                  </a:ext>
                </a:extLst>
              </a:tr>
              <a:tr h="170369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2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Dry days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-1.0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2.6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-1.2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1.4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0.8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7D31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-0.6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1.1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>
                          <a:solidFill>
                            <a:srgbClr val="FFFFFF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5.7</a:t>
                      </a:r>
                      <a:endParaRPr lang="en-GB" sz="12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-1.4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DD6EE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0.9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1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0.01</a:t>
                      </a:r>
                      <a:endParaRPr lang="en-GB" sz="12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39745" marR="39745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0815271"/>
                  </a:ext>
                </a:extLst>
              </a:tr>
            </a:tbl>
          </a:graphicData>
        </a:graphic>
      </p:graphicFrame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7B7330-A68C-119B-1479-9C6A68F72E22}"/>
              </a:ext>
            </a:extLst>
          </p:cNvPr>
          <p:cNvCxnSpPr/>
          <p:nvPr/>
        </p:nvCxnSpPr>
        <p:spPr>
          <a:xfrm flipH="1">
            <a:off x="11372850" y="3544570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5F57A9-E4CD-3194-F0B8-8363E8165ABE}"/>
              </a:ext>
            </a:extLst>
          </p:cNvPr>
          <p:cNvCxnSpPr/>
          <p:nvPr/>
        </p:nvCxnSpPr>
        <p:spPr>
          <a:xfrm flipH="1">
            <a:off x="11372850" y="5153025"/>
            <a:ext cx="3048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8454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05A3F-129A-6B48-C2DC-D50B1E909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6C9391-EB3D-BEC1-4407-819A0255A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24" y="552572"/>
            <a:ext cx="10293221" cy="1325563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takeaways (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futuro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6E31AC-1662-F138-8FDF-77ACDAE72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0437" y="635634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2E567B-A410-358D-F420-172019DC28B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8DBD0D0-E3BB-2891-1510-A73CD03359DC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426E97-F507-1511-B276-9690102233BD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7240A1F-F193-2B04-AD1F-16F6500B7A9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B730ECF-888B-543B-986C-79EE35C66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6670" y="2271549"/>
            <a:ext cx="9938659" cy="4351338"/>
          </a:xfrm>
        </p:spPr>
        <p:txBody>
          <a:bodyPr>
            <a:normAutofit/>
          </a:bodyPr>
          <a:lstStyle/>
          <a:p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São Tomé e Príncipe deve experimentar aquecimento superficial e variação sazonal maior na precipitação e umidade.
São Tomé e Príncipe também deve experimentar mais ondas de calor entre janeiro e junho.</a:t>
            </a:r>
          </a:p>
          <a:p>
            <a:pPr marL="0" indent="0" algn="ctr">
              <a:buNone/>
            </a:pPr>
            <a:r>
              <a:rPr lang="pt-BR" sz="2600" dirty="0">
                <a:latin typeface="Arial" panose="020B0604020202020204" pitchFamily="34" charset="0"/>
                <a:cs typeface="Arial" panose="020B0604020202020204" pitchFamily="34" charset="0"/>
              </a:rPr>
              <a:t>
</a:t>
            </a:r>
            <a:r>
              <a:rPr lang="pt-BR" sz="2600" b="1" dirty="0">
                <a:latin typeface="Arial" panose="020B0604020202020204" pitchFamily="34" charset="0"/>
                <a:cs typeface="Arial" panose="020B0604020202020204" pitchFamily="34" charset="0"/>
              </a:rPr>
              <a:t>Espera-se que o aumento da umidade e das temperaturas na superfície piore a experiência dos turistas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208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21512-1EDC-4E39-4792-D6C68964F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92494-7A8A-8DB8-85C8-F268C34AF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776287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análise do impacto climático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222841-C420-7879-F67F-E4F6B984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50547" y="6280393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595545-6E7F-2603-C5C6-48474AB891A9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E2CA211-B761-8D86-3E97-E4AAC34B8099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18BF102-FE82-83CF-7B82-DD97B0378A0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C9CC6D31-F9FF-4BDA-102C-4EE46316BD40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8" name="Picture 6" descr="A picture containing text&#10;&#10;Description automatically generated">
            <a:extLst>
              <a:ext uri="{FF2B5EF4-FFF2-40B4-BE49-F238E27FC236}">
                <a16:creationId xmlns:a16="http://schemas.microsoft.com/office/drawing/2014/main" id="{1064EAA5-6898-2858-6190-B647E34AC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8142" y="2053595"/>
            <a:ext cx="3173068" cy="1862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are ecosystems and why they're important">
            <a:extLst>
              <a:ext uri="{FF2B5EF4-FFF2-40B4-BE49-F238E27FC236}">
                <a16:creationId xmlns:a16="http://schemas.microsoft.com/office/drawing/2014/main" id="{E965FBC6-502D-C3DD-354C-6B5C46334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033" y="2006602"/>
            <a:ext cx="2390775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A7BF3921-E786-01BF-C187-B4DB059368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0337" y="5170274"/>
            <a:ext cx="1101107" cy="1101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B8713FA-AE40-AE6B-B127-1A2D573766C2}"/>
              </a:ext>
            </a:extLst>
          </p:cNvPr>
          <p:cNvCxnSpPr>
            <a:cxnSpLocks/>
          </p:cNvCxnSpPr>
          <p:nvPr/>
        </p:nvCxnSpPr>
        <p:spPr>
          <a:xfrm>
            <a:off x="5517503" y="3025777"/>
            <a:ext cx="857943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BDCA03F-CC84-388C-DD02-F07FD9AF771D}"/>
              </a:ext>
            </a:extLst>
          </p:cNvPr>
          <p:cNvCxnSpPr/>
          <p:nvPr/>
        </p:nvCxnSpPr>
        <p:spPr>
          <a:xfrm>
            <a:off x="8083420" y="4276815"/>
            <a:ext cx="0" cy="1432996"/>
          </a:xfrm>
          <a:prstGeom prst="lin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BA5EBD8-233F-1E47-0EF9-640CDE1E54A3}"/>
              </a:ext>
            </a:extLst>
          </p:cNvPr>
          <p:cNvCxnSpPr/>
          <p:nvPr/>
        </p:nvCxnSpPr>
        <p:spPr>
          <a:xfrm flipH="1">
            <a:off x="4844608" y="5720828"/>
            <a:ext cx="3238812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20BDAB-967B-1631-3602-4A0CE485A55C}"/>
              </a:ext>
            </a:extLst>
          </p:cNvPr>
          <p:cNvCxnSpPr>
            <a:cxnSpLocks/>
          </p:cNvCxnSpPr>
          <p:nvPr/>
        </p:nvCxnSpPr>
        <p:spPr>
          <a:xfrm>
            <a:off x="3692792" y="4134301"/>
            <a:ext cx="0" cy="783861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F89E136B-AD17-5387-E572-2BC2BA13E297}"/>
              </a:ext>
            </a:extLst>
          </p:cNvPr>
          <p:cNvSpPr txBox="1"/>
          <p:nvPr/>
        </p:nvSpPr>
        <p:spPr>
          <a:xfrm>
            <a:off x="1735494" y="4248823"/>
            <a:ext cx="1826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diretos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006901-2003-BBB4-9F2B-21443D91B981}"/>
              </a:ext>
            </a:extLst>
          </p:cNvPr>
          <p:cNvSpPr txBox="1"/>
          <p:nvPr/>
        </p:nvSpPr>
        <p:spPr>
          <a:xfrm>
            <a:off x="8299094" y="4808647"/>
            <a:ext cx="2044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 err="1"/>
              <a:t>Impactos</a:t>
            </a:r>
            <a:r>
              <a:rPr lang="en-GB" b="1" dirty="0"/>
              <a:t> </a:t>
            </a:r>
            <a:r>
              <a:rPr lang="en-GB" b="1" dirty="0" err="1"/>
              <a:t>indiretos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1725803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45F90-E316-AD81-4E1E-3AF95188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3B6F0-9B1F-85AE-9F38-4DCD1ECEE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2D89D5-F8B1-CB1E-9E26-AE0FCD499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31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D6FB2F0-8D18-8793-9331-C21A32155D73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F8482EC-25D5-7AD1-7211-A8FCBF13D2D3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E3BEDCC-5946-CFAF-30BF-80226B8755BC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66C867C-5DA7-F690-8E5F-DFE6A71EF5CA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753352B-304F-4650-6BA5-CB69005162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5215" y="1929343"/>
            <a:ext cx="9683021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Aumento histórico dos dias de índice de calor elevado em outubro-dezembro
Subida histórica e projetada do nível do mar</a:t>
            </a:r>
            <a:endParaRPr lang="en-US" sz="18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Picture 14" descr="A graph with a line and a line&#10;&#10;AI-generated content may be incorrect.">
            <a:extLst>
              <a:ext uri="{FF2B5EF4-FFF2-40B4-BE49-F238E27FC236}">
                <a16:creationId xmlns:a16="http://schemas.microsoft.com/office/drawing/2014/main" id="{6B8B4FF3-2E00-778B-794E-7530835E9B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4095" y="3979591"/>
            <a:ext cx="7903810" cy="237131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A54446-B857-8C00-F851-2005974E011E}"/>
              </a:ext>
            </a:extLst>
          </p:cNvPr>
          <p:cNvSpPr txBox="1"/>
          <p:nvPr/>
        </p:nvSpPr>
        <p:spPr>
          <a:xfrm>
            <a:off x="2530201" y="3708184"/>
            <a:ext cx="68368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Dias de alto índice de calor em São Tomé – mesmos resultados para Príncipe</a:t>
            </a:r>
            <a:endParaRPr lang="en-GB" sz="1600" b="1" dirty="0"/>
          </a:p>
        </p:txBody>
      </p:sp>
    </p:spTree>
    <p:extLst>
      <p:ext uri="{BB962C8B-B14F-4D97-AF65-F5344CB8AC3E}">
        <p14:creationId xmlns:p14="http://schemas.microsoft.com/office/powerpoint/2010/main" val="2877324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2FEB7-5C11-3B38-C52C-9DDAA0036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21EFFE22-5D29-2D0B-A953-2461FF75FE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394" y="1827213"/>
            <a:ext cx="2245567" cy="2021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4012BB6-8EE3-B0DD-8223-FBC35BED7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6836817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469CA1-DBBE-9B9E-B4EA-1C9A1FF5F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90178" y="6335958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A29531-2749-3DC0-DF1F-86653965A12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516581F-10E7-7530-C2F7-608CFF1FCDEE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E45CDB8-F383-87F4-9BD4-49FE95C1395A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8CCA7E88-46FA-D63D-75E2-8A7B913C80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47BE719-53FB-B07C-F696-DEA2D04B8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843" y="1889019"/>
            <a:ext cx="5057907" cy="4351338"/>
          </a:xfrm>
        </p:spPr>
        <p:txBody>
          <a:bodyPr>
            <a:normAutofit/>
          </a:bodyPr>
          <a:lstStyle/>
          <a:p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Elevação histórica do nível do mar: 0,09m desde 1993
Projeção futura: ~0,5 milhões até 2080
Príncipe está mais em risco que São Tomé</a:t>
            </a:r>
            <a:endParaRPr lang="en-US" sz="16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7031D98-1B20-38C5-A461-C8E2B0AF2D72}"/>
              </a:ext>
            </a:extLst>
          </p:cNvPr>
          <p:cNvGrpSpPr/>
          <p:nvPr/>
        </p:nvGrpSpPr>
        <p:grpSpPr>
          <a:xfrm>
            <a:off x="710736" y="4064688"/>
            <a:ext cx="5082969" cy="2720278"/>
            <a:chOff x="0" y="0"/>
            <a:chExt cx="5495925" cy="2849880"/>
          </a:xfrm>
        </p:grpSpPr>
        <p:pic>
          <p:nvPicPr>
            <p:cNvPr id="7" name="Picture 6" descr="A map of the north america&#10;&#10;AI-generated content may be incorrect.">
              <a:extLst>
                <a:ext uri="{FF2B5EF4-FFF2-40B4-BE49-F238E27FC236}">
                  <a16:creationId xmlns:a16="http://schemas.microsoft.com/office/drawing/2014/main" id="{A7E8A728-DBF6-A360-DF9F-DAF01DA3C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2849880" cy="2849880"/>
            </a:xfrm>
            <a:prstGeom prst="rect">
              <a:avLst/>
            </a:prstGeom>
          </p:spPr>
        </p:pic>
        <p:pic>
          <p:nvPicPr>
            <p:cNvPr id="11" name="Picture 10" descr="A graph with a line graph and black dots&#10;&#10;AI-generated content may be incorrect.">
              <a:extLst>
                <a:ext uri="{FF2B5EF4-FFF2-40B4-BE49-F238E27FC236}">
                  <a16:creationId xmlns:a16="http://schemas.microsoft.com/office/drawing/2014/main" id="{C32CA32C-7450-2A2D-369D-45B209DAB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0400" y="68094"/>
              <a:ext cx="2295525" cy="2295525"/>
            </a:xfrm>
            <a:prstGeom prst="rect">
              <a:avLst/>
            </a:prstGeom>
          </p:spPr>
        </p:pic>
      </p:grpSp>
      <p:pic>
        <p:nvPicPr>
          <p:cNvPr id="16" name="Picture 15" descr="A graph of sea level rise&#10;&#10;AI-generated content may be incorrect.">
            <a:extLst>
              <a:ext uri="{FF2B5EF4-FFF2-40B4-BE49-F238E27FC236}">
                <a16:creationId xmlns:a16="http://schemas.microsoft.com/office/drawing/2014/main" id="{AA280340-08A3-E5F5-46D4-741A55358B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386" y="1804049"/>
            <a:ext cx="1941854" cy="19418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34B118D-894C-F957-3CC6-A4E94A34BF47}"/>
              </a:ext>
            </a:extLst>
          </p:cNvPr>
          <p:cNvSpPr txBox="1"/>
          <p:nvPr/>
        </p:nvSpPr>
        <p:spPr>
          <a:xfrm>
            <a:off x="1203395" y="3791131"/>
            <a:ext cx="42688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histórica do nível do mar (1993 – 2023)</a:t>
            </a:r>
            <a:endParaRPr lang="en-GB" sz="16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E3DF6A-6368-64C3-5B90-B9CF62B5A078}"/>
              </a:ext>
            </a:extLst>
          </p:cNvPr>
          <p:cNvSpPr txBox="1"/>
          <p:nvPr/>
        </p:nvSpPr>
        <p:spPr>
          <a:xfrm>
            <a:off x="7335676" y="1237542"/>
            <a:ext cx="31794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/>
              <a:t>Subida projetada do nível do mar</a:t>
            </a:r>
            <a:endParaRPr lang="en-GB" sz="1600" b="1" dirty="0"/>
          </a:p>
        </p:txBody>
      </p:sp>
      <p:pic>
        <p:nvPicPr>
          <p:cNvPr id="14" name="Picture 13" descr="A map of a country&#10;&#10;AI-generated content may be incorrect.">
            <a:extLst>
              <a:ext uri="{FF2B5EF4-FFF2-40B4-BE49-F238E27FC236}">
                <a16:creationId xmlns:a16="http://schemas.microsoft.com/office/drawing/2014/main" id="{EB142B82-2710-193D-CF3E-E9DAE393FC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9789" y="4064688"/>
            <a:ext cx="2669856" cy="2419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9606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16D44-43B8-008B-B904-7B004D784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9ABD4-927D-F0A4-42DA-F2D4BD75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455414"/>
            <a:ext cx="9923361" cy="1325563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Turismo –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impactos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indiretos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27131A-0874-2914-5BE6-0DAC9BD03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7094" y="625124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E32D2CD-6400-9EEC-04E5-19E76D65243E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94CF53-269A-AAD9-1978-18D0ED2AA6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6F1C02-0153-E53A-C72E-834C066973A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EA546F2D-B947-BE16-626D-6DDF9602DD0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608316FF-9206-1566-BF46-E9633FAE6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5565" y="2077202"/>
            <a:ext cx="5508235" cy="393445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0971D7C-ABC2-DDE4-55F4-FAAC9805F4F0}"/>
              </a:ext>
            </a:extLst>
          </p:cNvPr>
          <p:cNvSpPr txBox="1"/>
          <p:nvPr/>
        </p:nvSpPr>
        <p:spPr>
          <a:xfrm>
            <a:off x="10285814" y="4180733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 err="1"/>
              <a:t>Garoupa</a:t>
            </a:r>
            <a:endParaRPr lang="en-GB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CCACA9-5C84-1862-C125-46A9E536B5EA}"/>
              </a:ext>
            </a:extLst>
          </p:cNvPr>
          <p:cNvSpPr txBox="1"/>
          <p:nvPr/>
        </p:nvSpPr>
        <p:spPr>
          <a:xfrm>
            <a:off x="9959115" y="4494456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Pargo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9C9647F-5734-6EF3-0BDF-C68044A80AD3}"/>
              </a:ext>
            </a:extLst>
          </p:cNvPr>
          <p:cNvCxnSpPr>
            <a:cxnSpLocks/>
          </p:cNvCxnSpPr>
          <p:nvPr/>
        </p:nvCxnSpPr>
        <p:spPr>
          <a:xfrm>
            <a:off x="10837762" y="4488510"/>
            <a:ext cx="0" cy="4661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2D1012A-7290-C5E5-D5E3-311D46BF3700}"/>
              </a:ext>
            </a:extLst>
          </p:cNvPr>
          <p:cNvCxnSpPr>
            <a:cxnSpLocks/>
          </p:cNvCxnSpPr>
          <p:nvPr/>
        </p:nvCxnSpPr>
        <p:spPr>
          <a:xfrm>
            <a:off x="9959115" y="4554825"/>
            <a:ext cx="0" cy="1781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9A49783-F442-8444-22D2-59BACE000B94}"/>
              </a:ext>
            </a:extLst>
          </p:cNvPr>
          <p:cNvCxnSpPr>
            <a:cxnSpLocks/>
          </p:cNvCxnSpPr>
          <p:nvPr/>
        </p:nvCxnSpPr>
        <p:spPr>
          <a:xfrm flipH="1">
            <a:off x="9653199" y="4345013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18242-24FA-9DD5-6BE5-20D80B0AD121}"/>
              </a:ext>
            </a:extLst>
          </p:cNvPr>
          <p:cNvCxnSpPr/>
          <p:nvPr/>
        </p:nvCxnSpPr>
        <p:spPr>
          <a:xfrm flipH="1">
            <a:off x="9653199" y="4954612"/>
            <a:ext cx="11845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61DC1A3-6082-03F5-24BB-3E0375B5EF52}"/>
              </a:ext>
            </a:extLst>
          </p:cNvPr>
          <p:cNvCxnSpPr>
            <a:cxnSpLocks/>
          </p:cNvCxnSpPr>
          <p:nvPr/>
        </p:nvCxnSpPr>
        <p:spPr>
          <a:xfrm flipH="1">
            <a:off x="9653199" y="4568640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EB00B0-CA88-B556-5EE7-60672B7527D1}"/>
              </a:ext>
            </a:extLst>
          </p:cNvPr>
          <p:cNvCxnSpPr>
            <a:cxnSpLocks/>
          </p:cNvCxnSpPr>
          <p:nvPr/>
        </p:nvCxnSpPr>
        <p:spPr>
          <a:xfrm flipH="1">
            <a:off x="9653199" y="4721542"/>
            <a:ext cx="316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9EE8739-3D91-FED4-844A-2924F75F9563}"/>
              </a:ext>
            </a:extLst>
          </p:cNvPr>
          <p:cNvSpPr txBox="1"/>
          <p:nvPr/>
        </p:nvSpPr>
        <p:spPr>
          <a:xfrm>
            <a:off x="10438694" y="2112531"/>
            <a:ext cx="13680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Atum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0D2F66B-EA46-2E4E-065E-6E1DE5EEB35A}"/>
              </a:ext>
            </a:extLst>
          </p:cNvPr>
          <p:cNvCxnSpPr>
            <a:cxnSpLocks/>
          </p:cNvCxnSpPr>
          <p:nvPr/>
        </p:nvCxnSpPr>
        <p:spPr>
          <a:xfrm flipH="1">
            <a:off x="9799018" y="2267809"/>
            <a:ext cx="632615" cy="19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4CD4921-237B-1CD1-6090-65C63F0B65B4}"/>
              </a:ext>
            </a:extLst>
          </p:cNvPr>
          <p:cNvCxnSpPr>
            <a:cxnSpLocks/>
          </p:cNvCxnSpPr>
          <p:nvPr/>
        </p:nvCxnSpPr>
        <p:spPr>
          <a:xfrm>
            <a:off x="10761562" y="2420308"/>
            <a:ext cx="0" cy="8044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D61495C-35A0-425A-9C30-23FB1AD25DAD}"/>
              </a:ext>
            </a:extLst>
          </p:cNvPr>
          <p:cNvCxnSpPr>
            <a:cxnSpLocks/>
          </p:cNvCxnSpPr>
          <p:nvPr/>
        </p:nvCxnSpPr>
        <p:spPr>
          <a:xfrm flipH="1">
            <a:off x="9811352" y="3224768"/>
            <a:ext cx="9502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52853121-CBA1-59A0-A384-24DD783DA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5797" y="1899902"/>
            <a:ext cx="4031512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15 espécies de peixes identificadas como candidatas à pesca desportiva
Com um corte de alteração de 0,1, a probabilidade de presença projetada para: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Aumento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Sem alterações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 espécies
Diminuição para </a:t>
            </a:r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7 </a:t>
            </a:r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espécies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1377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C317C-ADA2-00AA-2F30-F8869E8F8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81CDC40A-4FAA-FC3A-329D-06663CC9A4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868B9EC-F332-E98E-3BC9-28F811D50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 o turismo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8F695-1B62-1E3C-09DE-B8C2D06BA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As mudanças climáticas futuras devem piorar a experiência dos turistas em outubro-dezembro 
Espera-se que a elevação do nível do mar cause erosão costeira, especialmente em Príncipe.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C10744-D385-8A9E-4DA1-EC7E3A1EC8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1EED767-B6DB-8577-87B2-1DB4159A9E90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047AC23-5EDD-F5F2-0EFE-94382CA540E7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A773F8-0000-63DD-E32F-0EA59F21E83E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94BEA1F-A672-953C-FBF2-3569DB21B32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49100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9B8E2-D8C6-CB53-6D7F-67BCFB5D9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5 Reasons to Visit São Tomé and Príncipe in the Winter Months">
            <a:extLst>
              <a:ext uri="{FF2B5EF4-FFF2-40B4-BE49-F238E27FC236}">
                <a16:creationId xmlns:a16="http://schemas.microsoft.com/office/drawing/2014/main" id="{1E0CD403-FECB-A366-8DBA-67C33CDB4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949" y="395044"/>
            <a:ext cx="8641719" cy="64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32BA06-89B8-3164-1677-1F115F128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5646576" cy="1325563"/>
          </a:xfrm>
        </p:spPr>
        <p:txBody>
          <a:bodyPr>
            <a:normAutofit/>
          </a:bodyPr>
          <a:lstStyle/>
          <a:p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  <a:r>
              <a:rPr lang="en-US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2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gerais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F49B5-E42F-F913-1A63-14B2308DE5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4547"/>
            <a:ext cx="5476875" cy="4351338"/>
          </a:xfrm>
        </p:spPr>
        <p:txBody>
          <a:bodyPr>
            <a:normAutofit fontScale="85000" lnSpcReduction="20000"/>
          </a:bodyPr>
          <a:lstStyle/>
          <a:p>
            <a:r>
              <a:rPr lang="pt-BR" dirty="0">
                <a:latin typeface="Arial" panose="020B0604020202020204" pitchFamily="34" charset="0"/>
                <a:cs typeface="Arial" panose="020B0604020202020204" pitchFamily="34" charset="0"/>
              </a:rPr>
              <a:t>Espera-se que São Tomé e Príncipe experimente mudanças climáticas mais rápidas do que a média global
A modelagem indica que a disponibilidade de peixes diminuirá, destacando a necessidade de estratégia de manejo
O aumento das temperaturas sazonais e da umidade pode tornar as experiências turísticas menos confortáveis
Espera-se que o aumento do nível do mar tenha maior impacto em Príncipe, destacando a necessidade de defesas costeiras mais extensas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93AB6-9850-86A9-BD37-D6AC1ACE2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35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E8FF921-95A5-6947-4351-2DFED1CF6F8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CDFF55-2385-6CA9-32A3-A23949CCA8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9C84AD-FFD6-E9F9-2B3B-BFFCA125F96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BEC7217-E402-66BA-9D83-B13FB1E7B593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5467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633099" y="3626097"/>
            <a:ext cx="30694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 err="1">
                <a:ln/>
                <a:solidFill>
                  <a:schemeClr val="accent1"/>
                </a:solidFill>
                <a:effectLst/>
              </a:rPr>
              <a:t>Obrigado</a:t>
            </a:r>
            <a:r>
              <a:rPr lang="en-GB" sz="5400" b="1" cap="none" spc="0" dirty="0">
                <a:ln/>
                <a:solidFill>
                  <a:schemeClr val="accent1"/>
                </a:solidFill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customXml/itemProps2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3142</TotalTime>
  <Words>2066</Words>
  <Application>Microsoft Office PowerPoint</Application>
  <PresentationFormat>Widescreen</PresentationFormat>
  <Paragraphs>559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2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Economia azul</vt:lpstr>
      <vt:lpstr>Foco do relatório</vt:lpstr>
      <vt:lpstr>Visão geral da apresentação</vt:lpstr>
      <vt:lpstr>Pescas em STP</vt:lpstr>
      <vt:lpstr>Pescas em STP</vt:lpstr>
      <vt:lpstr>Pescas – tendências nos principais indicadores oceânicos (histórica)</vt:lpstr>
      <vt:lpstr>Pescas – tendências nos principais indicadores oceânicos (histórica)</vt:lpstr>
      <vt:lpstr>Pescas – anomalias nos principais indicadores oceânicos (histórica)</vt:lpstr>
      <vt:lpstr>Resumo das tendências e anomalias dos principais indicadores oceânicos (histórica)</vt:lpstr>
      <vt:lpstr>Pescas – tendências nos principais indicadores oceânicos (futuro)</vt:lpstr>
      <vt:lpstr>Pescas – tendências nos principais indicadores oceânicos (futuro)</vt:lpstr>
      <vt:lpstr>Pescas – anomalias nos principais indicadores oceânicos (futuro)</vt:lpstr>
      <vt:lpstr>Resumo das tendências e anomalias dos principais indicadores oceânicos (futuro)</vt:lpstr>
      <vt:lpstr>Análise do impacto dos peixes</vt:lpstr>
      <vt:lpstr>Pescas – impacto climático (modelação mecanicista)</vt:lpstr>
      <vt:lpstr>Pescas – impacto climático (modelação empírica)</vt:lpstr>
      <vt:lpstr>Pescas – impacto climático (modelação empírica)</vt:lpstr>
      <vt:lpstr>Pescas – impacto climático (modelação empírica)</vt:lpstr>
      <vt:lpstr>Pescas – impacto climático (modelação empírica)</vt:lpstr>
      <vt:lpstr>Conclusões para a pesca</vt:lpstr>
      <vt:lpstr>Turismo em STP</vt:lpstr>
      <vt:lpstr>Turismo em STP</vt:lpstr>
      <vt:lpstr>Turismo – tendências nos principais indicadores clima (histórico)</vt:lpstr>
      <vt:lpstr>Turismo – anomalias nos principais indicadores clima (histórico)</vt:lpstr>
      <vt:lpstr>Turismo – tendências nos principais indicadores clima (futuro)</vt:lpstr>
      <vt:lpstr>Turismo – tendências nos principais indicadores clima (futuro)</vt:lpstr>
      <vt:lpstr>Turismo – anomalias nos principais indicadores clima (futuro)</vt:lpstr>
      <vt:lpstr>Turismo – takeaways (futuro)</vt:lpstr>
      <vt:lpstr>Turismo – análise do impacto climático</vt:lpstr>
      <vt:lpstr>Turismo – impactos diretos</vt:lpstr>
      <vt:lpstr>Turismo – impactos diretos</vt:lpstr>
      <vt:lpstr>Turismo – impactos indiretos</vt:lpstr>
      <vt:lpstr>Conclusões para o turismo</vt:lpstr>
      <vt:lpstr>Conclusões gerais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Samuel Greenrod</cp:lastModifiedBy>
  <cp:revision>25</cp:revision>
  <dcterms:created xsi:type="dcterms:W3CDTF">2022-11-03T10:54:55Z</dcterms:created>
  <dcterms:modified xsi:type="dcterms:W3CDTF">2025-11-30T23:17:59Z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