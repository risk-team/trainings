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16_A20CF00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sldIdLst>
    <p:sldId id="278" r:id="rId5"/>
    <p:sldId id="318" r:id="rId6"/>
    <p:sldId id="319" r:id="rId7"/>
    <p:sldId id="320" r:id="rId8"/>
    <p:sldId id="303" r:id="rId9"/>
    <p:sldId id="304" r:id="rId10"/>
    <p:sldId id="305" r:id="rId11"/>
    <p:sldId id="312" r:id="rId12"/>
    <p:sldId id="306" r:id="rId13"/>
    <p:sldId id="313" r:id="rId14"/>
    <p:sldId id="315" r:id="rId15"/>
    <p:sldId id="317" r:id="rId16"/>
    <p:sldId id="262" r:id="rId17"/>
    <p:sldId id="307" r:id="rId18"/>
    <p:sldId id="308" r:id="rId19"/>
    <p:sldId id="309" r:id="rId20"/>
    <p:sldId id="310" r:id="rId21"/>
    <p:sldId id="311" r:id="rId22"/>
    <p:sldId id="316" r:id="rId23"/>
    <p:sldId id="280" r:id="rId24"/>
    <p:sldId id="295" r:id="rId25"/>
    <p:sldId id="274" r:id="rId26"/>
    <p:sldId id="296" r:id="rId27"/>
    <p:sldId id="281" r:id="rId28"/>
    <p:sldId id="297" r:id="rId29"/>
    <p:sldId id="298" r:id="rId30"/>
    <p:sldId id="301" r:id="rId31"/>
    <p:sldId id="282" r:id="rId32"/>
    <p:sldId id="302" r:id="rId33"/>
    <p:sldId id="299" r:id="rId34"/>
    <p:sldId id="321" r:id="rId35"/>
    <p:sldId id="260" r:id="rId36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C7A0A-C2E7-4947-81B5-6B812B463721}" v="86" dt="2025-11-28T16:43:14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07"/>
    <p:restoredTop sz="96327"/>
  </p:normalViewPr>
  <p:slideViewPr>
    <p:cSldViewPr snapToGrid="0">
      <p:cViewPr varScale="1">
        <p:scale>
          <a:sx n="111" d="100"/>
          <a:sy n="111" d="100"/>
        </p:scale>
        <p:origin x="660" y="108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20C3C022-8956-41D8-B9EF-F034660AD755}"/>
    <pc:docChg chg="undo custSel modSld">
      <pc:chgData name="Greenrod, Samuel (OCBD)" userId="2206092a-8a12-487a-a963-cafe9a401430" providerId="ADAL" clId="{20C3C022-8956-41D8-B9EF-F034660AD755}" dt="2025-11-28T17:07:16.768" v="309" actId="27636"/>
      <pc:docMkLst>
        <pc:docMk/>
      </pc:docMkLst>
      <pc:sldChg chg="modSp mod">
        <pc:chgData name="Greenrod, Samuel (OCBD)" userId="2206092a-8a12-487a-a963-cafe9a401430" providerId="ADAL" clId="{20C3C022-8956-41D8-B9EF-F034660AD755}" dt="2025-11-27T15:39:13.498" v="66" actId="27636"/>
        <pc:sldMkLst>
          <pc:docMk/>
          <pc:sldMk cId="147372020" sldId="262"/>
        </pc:sldMkLst>
        <pc:spChg chg="mod">
          <ac:chgData name="Greenrod, Samuel (OCBD)" userId="2206092a-8a12-487a-a963-cafe9a401430" providerId="ADAL" clId="{20C3C022-8956-41D8-B9EF-F034660AD755}" dt="2025-11-27T15:38:53.081" v="53" actId="14100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20C3C022-8956-41D8-B9EF-F034660AD755}" dt="2025-11-27T15:39:13.498" v="66" actId="27636"/>
          <ac:spMkLst>
            <pc:docMk/>
            <pc:sldMk cId="147372020" sldId="262"/>
            <ac:spMk id="3" creationId="{658F7D0B-3588-08B0-0049-708DBA68FA54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49:14.725" v="129" actId="113"/>
        <pc:sldMkLst>
          <pc:docMk/>
          <pc:sldMk cId="961859304" sldId="274"/>
        </pc:sldMkLst>
        <pc:spChg chg="mod">
          <ac:chgData name="Greenrod, Samuel (OCBD)" userId="2206092a-8a12-487a-a963-cafe9a401430" providerId="ADAL" clId="{20C3C022-8956-41D8-B9EF-F034660AD755}" dt="2025-11-27T15:49:14.725" v="129" actId="113"/>
          <ac:spMkLst>
            <pc:docMk/>
            <pc:sldMk cId="961859304" sldId="274"/>
            <ac:spMk id="12" creationId="{7AA4B144-32AA-BF9C-A1E7-A25A8EE3EA8F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58:00.681" v="232" actId="20577"/>
        <pc:sldMkLst>
          <pc:docMk/>
          <pc:sldMk cId="2718756868" sldId="278"/>
        </pc:sldMkLst>
        <pc:spChg chg="mod">
          <ac:chgData name="Greenrod, Samuel (OCBD)" userId="2206092a-8a12-487a-a963-cafe9a401430" providerId="ADAL" clId="{20C3C022-8956-41D8-B9EF-F034660AD755}" dt="2025-11-27T15:57:56.667" v="231" actId="1076"/>
          <ac:spMkLst>
            <pc:docMk/>
            <pc:sldMk cId="2718756868" sldId="278"/>
            <ac:spMk id="2" creationId="{CA7A74D7-F4EA-CF5E-D552-74464B3CD55E}"/>
          </ac:spMkLst>
        </pc:spChg>
        <pc:spChg chg="mod">
          <ac:chgData name="Greenrod, Samuel (OCBD)" userId="2206092a-8a12-487a-a963-cafe9a401430" providerId="ADAL" clId="{20C3C022-8956-41D8-B9EF-F034660AD755}" dt="2025-11-27T15:58:00.681" v="232" actId="20577"/>
          <ac:spMkLst>
            <pc:docMk/>
            <pc:sldMk cId="2718756868" sldId="278"/>
            <ac:spMk id="3" creationId="{B65361E7-4E15-CD6C-8E77-8F89B5B7D557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43:50.024" v="125" actId="27636"/>
        <pc:sldMkLst>
          <pc:docMk/>
          <pc:sldMk cId="3077280897" sldId="280"/>
        </pc:sldMkLst>
        <pc:spChg chg="mod">
          <ac:chgData name="Greenrod, Samuel (OCBD)" userId="2206092a-8a12-487a-a963-cafe9a401430" providerId="ADAL" clId="{20C3C022-8956-41D8-B9EF-F034660AD755}" dt="2025-11-27T15:43:50.024" v="125" actId="27636"/>
          <ac:spMkLst>
            <pc:docMk/>
            <pc:sldMk cId="3077280897" sldId="280"/>
            <ac:spMk id="3" creationId="{3E59EDD1-AA50-5BD6-0C61-E0284018FFE2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50:21.347" v="150" actId="404"/>
        <pc:sldMkLst>
          <pc:docMk/>
          <pc:sldMk cId="658562017" sldId="281"/>
        </pc:sldMkLst>
        <pc:spChg chg="mod">
          <ac:chgData name="Greenrod, Samuel (OCBD)" userId="2206092a-8a12-487a-a963-cafe9a401430" providerId="ADAL" clId="{20C3C022-8956-41D8-B9EF-F034660AD755}" dt="2025-11-27T15:50:21.347" v="150" actId="404"/>
          <ac:spMkLst>
            <pc:docMk/>
            <pc:sldMk cId="658562017" sldId="281"/>
            <ac:spMk id="16" creationId="{1496C946-CF81-0129-19E4-C612E6650B87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56:20.575" v="171" actId="14100"/>
        <pc:sldMkLst>
          <pc:docMk/>
          <pc:sldMk cId="2877324331" sldId="282"/>
        </pc:sldMkLst>
        <pc:spChg chg="mod">
          <ac:chgData name="Greenrod, Samuel (OCBD)" userId="2206092a-8a12-487a-a963-cafe9a401430" providerId="ADAL" clId="{20C3C022-8956-41D8-B9EF-F034660AD755}" dt="2025-11-27T15:56:13.496" v="167" actId="1076"/>
          <ac:spMkLst>
            <pc:docMk/>
            <pc:sldMk cId="2877324331" sldId="282"/>
            <ac:spMk id="13" creationId="{AAA54446-B857-8C00-F851-2005974E011E}"/>
          </ac:spMkLst>
        </pc:spChg>
        <pc:spChg chg="mod">
          <ac:chgData name="Greenrod, Samuel (OCBD)" userId="2206092a-8a12-487a-a963-cafe9a401430" providerId="ADAL" clId="{20C3C022-8956-41D8-B9EF-F034660AD755}" dt="2025-11-27T15:56:20.575" v="171" actId="14100"/>
          <ac:spMkLst>
            <pc:docMk/>
            <pc:sldMk cId="2877324331" sldId="282"/>
            <ac:spMk id="18" creationId="{F24CC8D1-B9D3-12C0-2124-42666C19C029}"/>
          </ac:spMkLst>
        </pc:spChg>
        <pc:spChg chg="mod">
          <ac:chgData name="Greenrod, Samuel (OCBD)" userId="2206092a-8a12-487a-a963-cafe9a401430" providerId="ADAL" clId="{20C3C022-8956-41D8-B9EF-F034660AD755}" dt="2025-11-27T15:56:17.139" v="169" actId="14100"/>
          <ac:spMkLst>
            <pc:docMk/>
            <pc:sldMk cId="2877324331" sldId="282"/>
            <ac:spMk id="19" creationId="{0579BC3F-B735-CDB8-60DE-1E628BC541D8}"/>
          </ac:spMkLst>
        </pc:spChg>
      </pc:sldChg>
      <pc:sldChg chg="modSp">
        <pc:chgData name="Greenrod, Samuel (OCBD)" userId="2206092a-8a12-487a-a963-cafe9a401430" providerId="ADAL" clId="{20C3C022-8956-41D8-B9EF-F034660AD755}" dt="2025-11-27T15:49:22.996" v="130"/>
        <pc:sldMkLst>
          <pc:docMk/>
          <pc:sldMk cId="2814232694" sldId="296"/>
        </pc:sldMkLst>
        <pc:spChg chg="mod">
          <ac:chgData name="Greenrod, Samuel (OCBD)" userId="2206092a-8a12-487a-a963-cafe9a401430" providerId="ADAL" clId="{20C3C022-8956-41D8-B9EF-F034660AD755}" dt="2025-11-27T15:49:22.996" v="130"/>
          <ac:spMkLst>
            <pc:docMk/>
            <pc:sldMk cId="2814232694" sldId="296"/>
            <ac:spMk id="24" creationId="{5EB191D9-48B1-7AB4-2BF7-2329A9CEBBCC}"/>
          </ac:spMkLst>
        </pc:spChg>
      </pc:sldChg>
      <pc:sldChg chg="addSp delSp modSp mod">
        <pc:chgData name="Greenrod, Samuel (OCBD)" userId="2206092a-8a12-487a-a963-cafe9a401430" providerId="ADAL" clId="{20C3C022-8956-41D8-B9EF-F034660AD755}" dt="2025-11-27T16:01:25.772" v="274" actId="1076"/>
        <pc:sldMkLst>
          <pc:docMk/>
          <pc:sldMk cId="1575460081" sldId="297"/>
        </pc:sldMkLst>
        <pc:spChg chg="del">
          <ac:chgData name="Greenrod, Samuel (OCBD)" userId="2206092a-8a12-487a-a963-cafe9a401430" providerId="ADAL" clId="{20C3C022-8956-41D8-B9EF-F034660AD755}" dt="2025-11-27T16:01:19.392" v="271" actId="478"/>
          <ac:spMkLst>
            <pc:docMk/>
            <pc:sldMk cId="1575460081" sldId="297"/>
            <ac:spMk id="7" creationId="{6D721A4D-FD8F-9FD4-7FAD-4B412E8243E2}"/>
          </ac:spMkLst>
        </pc:spChg>
        <pc:spChg chg="add del mod">
          <ac:chgData name="Greenrod, Samuel (OCBD)" userId="2206092a-8a12-487a-a963-cafe9a401430" providerId="ADAL" clId="{20C3C022-8956-41D8-B9EF-F034660AD755}" dt="2025-11-27T16:01:20.905" v="272" actId="478"/>
          <ac:spMkLst>
            <pc:docMk/>
            <pc:sldMk cId="1575460081" sldId="297"/>
            <ac:spMk id="14" creationId="{048066E7-D2AD-5018-915E-8E2603064886}"/>
          </ac:spMkLst>
        </pc:spChg>
        <pc:picChg chg="mod">
          <ac:chgData name="Greenrod, Samuel (OCBD)" userId="2206092a-8a12-487a-a963-cafe9a401430" providerId="ADAL" clId="{20C3C022-8956-41D8-B9EF-F034660AD755}" dt="2025-11-27T16:01:25.772" v="274" actId="1076"/>
          <ac:picMkLst>
            <pc:docMk/>
            <pc:sldMk cId="1575460081" sldId="297"/>
            <ac:picMk id="3" creationId="{73E82B13-4E43-31B1-EC5A-1C4BEF6B31A4}"/>
          </ac:picMkLst>
        </pc:picChg>
        <pc:picChg chg="mod">
          <ac:chgData name="Greenrod, Samuel (OCBD)" userId="2206092a-8a12-487a-a963-cafe9a401430" providerId="ADAL" clId="{20C3C022-8956-41D8-B9EF-F034660AD755}" dt="2025-11-27T16:01:23.926" v="273" actId="1076"/>
          <ac:picMkLst>
            <pc:docMk/>
            <pc:sldMk cId="1575460081" sldId="297"/>
            <ac:picMk id="12" creationId="{A507DD38-3589-EEDF-5888-B8F2E341508E}"/>
          </ac:picMkLst>
        </pc:picChg>
      </pc:sldChg>
      <pc:sldChg chg="addSp modSp mod">
        <pc:chgData name="Greenrod, Samuel (OCBD)" userId="2206092a-8a12-487a-a963-cafe9a401430" providerId="ADAL" clId="{20C3C022-8956-41D8-B9EF-F034660AD755}" dt="2025-11-27T15:54:47.959" v="160" actId="1076"/>
        <pc:sldMkLst>
          <pc:docMk/>
          <pc:sldMk cId="2012845417" sldId="298"/>
        </pc:sldMkLst>
        <pc:graphicFrameChg chg="mod">
          <ac:chgData name="Greenrod, Samuel (OCBD)" userId="2206092a-8a12-487a-a963-cafe9a401430" providerId="ADAL" clId="{20C3C022-8956-41D8-B9EF-F034660AD755}" dt="2025-11-27T15:54:15.992" v="151" actId="1076"/>
          <ac:graphicFrameMkLst>
            <pc:docMk/>
            <pc:sldMk cId="2012845417" sldId="298"/>
            <ac:graphicFrameMk id="17" creationId="{FCF85196-E592-F608-AEC6-F518B87DAF3E}"/>
          </ac:graphicFrameMkLst>
        </pc:graphicFrameChg>
        <pc:cxnChg chg="add mod">
          <ac:chgData name="Greenrod, Samuel (OCBD)" userId="2206092a-8a12-487a-a963-cafe9a401430" providerId="ADAL" clId="{20C3C022-8956-41D8-B9EF-F034660AD755}" dt="2025-11-27T15:54:30.095" v="153" actId="1076"/>
          <ac:cxnSpMkLst>
            <pc:docMk/>
            <pc:sldMk cId="2012845417" sldId="298"/>
            <ac:cxnSpMk id="18" creationId="{A77B7330-A68C-119B-1479-9C6A68F72E22}"/>
          </ac:cxnSpMkLst>
        </pc:cxnChg>
        <pc:cxnChg chg="add mod">
          <ac:chgData name="Greenrod, Samuel (OCBD)" userId="2206092a-8a12-487a-a963-cafe9a401430" providerId="ADAL" clId="{20C3C022-8956-41D8-B9EF-F034660AD755}" dt="2025-11-27T15:54:32.814" v="155" actId="1076"/>
          <ac:cxnSpMkLst>
            <pc:docMk/>
            <pc:sldMk cId="2012845417" sldId="298"/>
            <ac:cxnSpMk id="19" creationId="{CEDDAE8D-2535-BE10-36C1-4212EEB80EC2}"/>
          </ac:cxnSpMkLst>
        </pc:cxnChg>
        <pc:cxnChg chg="add mod">
          <ac:chgData name="Greenrod, Samuel (OCBD)" userId="2206092a-8a12-487a-a963-cafe9a401430" providerId="ADAL" clId="{20C3C022-8956-41D8-B9EF-F034660AD755}" dt="2025-11-27T15:54:47.959" v="160" actId="1076"/>
          <ac:cxnSpMkLst>
            <pc:docMk/>
            <pc:sldMk cId="2012845417" sldId="298"/>
            <ac:cxnSpMk id="20" creationId="{D248AB7D-0858-DD38-BD95-C5F2B624D792}"/>
          </ac:cxnSpMkLst>
        </pc:cxnChg>
        <pc:cxnChg chg="add mod">
          <ac:chgData name="Greenrod, Samuel (OCBD)" userId="2206092a-8a12-487a-a963-cafe9a401430" providerId="ADAL" clId="{20C3C022-8956-41D8-B9EF-F034660AD755}" dt="2025-11-27T15:54:43.684" v="159" actId="1076"/>
          <ac:cxnSpMkLst>
            <pc:docMk/>
            <pc:sldMk cId="2012845417" sldId="298"/>
            <ac:cxnSpMk id="21" creationId="{805F57A9-E4CD-3194-F0B8-8363E8165ABE}"/>
          </ac:cxnSpMkLst>
        </pc:cxnChg>
      </pc:sldChg>
      <pc:sldChg chg="modSp mod">
        <pc:chgData name="Greenrod, Samuel (OCBD)" userId="2206092a-8a12-487a-a963-cafe9a401430" providerId="ADAL" clId="{20C3C022-8956-41D8-B9EF-F034660AD755}" dt="2025-11-27T15:57:05.410" v="193" actId="27636"/>
        <pc:sldMkLst>
          <pc:docMk/>
          <pc:sldMk cId="2894910047" sldId="299"/>
        </pc:sldMkLst>
        <pc:spChg chg="mod">
          <ac:chgData name="Greenrod, Samuel (OCBD)" userId="2206092a-8a12-487a-a963-cafe9a401430" providerId="ADAL" clId="{20C3C022-8956-41D8-B9EF-F034660AD755}" dt="2025-11-27T15:57:05.410" v="193" actId="27636"/>
          <ac:spMkLst>
            <pc:docMk/>
            <pc:sldMk cId="2894910047" sldId="299"/>
            <ac:spMk id="3" creationId="{A358F695-1B62-1E3C-09DE-B8C2D06BA5CB}"/>
          </ac:spMkLst>
        </pc:spChg>
      </pc:sldChg>
      <pc:sldChg chg="modSp mod">
        <pc:chgData name="Greenrod, Samuel (OCBD)" userId="2206092a-8a12-487a-a963-cafe9a401430" providerId="ADAL" clId="{20C3C022-8956-41D8-B9EF-F034660AD755}" dt="2025-11-27T16:01:43.572" v="275" actId="14100"/>
        <pc:sldMkLst>
          <pc:docMk/>
          <pc:sldMk cId="3172580328" sldId="301"/>
        </pc:sldMkLst>
        <pc:spChg chg="mod">
          <ac:chgData name="Greenrod, Samuel (OCBD)" userId="2206092a-8a12-487a-a963-cafe9a401430" providerId="ADAL" clId="{20C3C022-8956-41D8-B9EF-F034660AD755}" dt="2025-11-27T16:01:43.572" v="275" actId="14100"/>
          <ac:spMkLst>
            <pc:docMk/>
            <pc:sldMk cId="3172580328" sldId="301"/>
            <ac:spMk id="2" creationId="{F5F92494-7A8A-8DB8-85C8-F268C34AF2A3}"/>
          </ac:spMkLst>
        </pc:spChg>
        <pc:spChg chg="mod">
          <ac:chgData name="Greenrod, Samuel (OCBD)" userId="2206092a-8a12-487a-a963-cafe9a401430" providerId="ADAL" clId="{20C3C022-8956-41D8-B9EF-F034660AD755}" dt="2025-11-27T15:55:57.234" v="163" actId="14100"/>
          <ac:spMkLst>
            <pc:docMk/>
            <pc:sldMk cId="3172580328" sldId="301"/>
            <ac:spMk id="25" creationId="{F89E136B-AD17-5387-E572-2BC2BA13E297}"/>
          </ac:spMkLst>
        </pc:spChg>
        <pc:spChg chg="mod">
          <ac:chgData name="Greenrod, Samuel (OCBD)" userId="2206092a-8a12-487a-a963-cafe9a401430" providerId="ADAL" clId="{20C3C022-8956-41D8-B9EF-F034660AD755}" dt="2025-11-27T15:55:58.870" v="164" actId="14100"/>
          <ac:spMkLst>
            <pc:docMk/>
            <pc:sldMk cId="3172580328" sldId="301"/>
            <ac:spMk id="26" creationId="{1B006901-2003-BBB4-9F2B-21443D91B981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56:40.766" v="183" actId="113"/>
        <pc:sldMkLst>
          <pc:docMk/>
          <pc:sldMk cId="3901377059" sldId="302"/>
        </pc:sldMkLst>
        <pc:spChg chg="mod">
          <ac:chgData name="Greenrod, Samuel (OCBD)" userId="2206092a-8a12-487a-a963-cafe9a401430" providerId="ADAL" clId="{20C3C022-8956-41D8-B9EF-F034660AD755}" dt="2025-11-27T15:56:40.766" v="183" actId="113"/>
          <ac:spMkLst>
            <pc:docMk/>
            <pc:sldMk cId="3901377059" sldId="302"/>
            <ac:spMk id="26" creationId="{52853121-CBA1-59A0-A384-24DD783DAC55}"/>
          </ac:spMkLst>
        </pc:spChg>
      </pc:sldChg>
      <pc:sldChg chg="modSp mod">
        <pc:chgData name="Greenrod, Samuel (OCBD)" userId="2206092a-8a12-487a-a963-cafe9a401430" providerId="ADAL" clId="{20C3C022-8956-41D8-B9EF-F034660AD755}" dt="2025-11-28T17:07:16.768" v="309" actId="27636"/>
        <pc:sldMkLst>
          <pc:docMk/>
          <pc:sldMk cId="1950489570" sldId="303"/>
        </pc:sldMkLst>
        <pc:spChg chg="mod">
          <ac:chgData name="Greenrod, Samuel (OCBD)" userId="2206092a-8a12-487a-a963-cafe9a401430" providerId="ADAL" clId="{20C3C022-8956-41D8-B9EF-F034660AD755}" dt="2025-11-28T17:07:16.768" v="309" actId="27636"/>
          <ac:spMkLst>
            <pc:docMk/>
            <pc:sldMk cId="1950489570" sldId="303"/>
            <ac:spMk id="3" creationId="{6252BA87-517A-A087-52EF-290827B9A778}"/>
          </ac:spMkLst>
        </pc:spChg>
      </pc:sldChg>
      <pc:sldChg chg="modSp mod">
        <pc:chgData name="Greenrod, Samuel (OCBD)" userId="2206092a-8a12-487a-a963-cafe9a401430" providerId="ADAL" clId="{20C3C022-8956-41D8-B9EF-F034660AD755}" dt="2025-11-27T16:00:11.129" v="265" actId="20577"/>
        <pc:sldMkLst>
          <pc:docMk/>
          <pc:sldMk cId="2111888351" sldId="305"/>
        </pc:sldMkLst>
        <pc:spChg chg="mod">
          <ac:chgData name="Greenrod, Samuel (OCBD)" userId="2206092a-8a12-487a-a963-cafe9a401430" providerId="ADAL" clId="{20C3C022-8956-41D8-B9EF-F034660AD755}" dt="2025-11-27T16:00:11.129" v="265" actId="20577"/>
          <ac:spMkLst>
            <pc:docMk/>
            <pc:sldMk cId="2111888351" sldId="305"/>
            <ac:spMk id="12" creationId="{87253163-6E49-456F-7812-FD766132E4C0}"/>
          </ac:spMkLst>
        </pc:spChg>
        <pc:grpChg chg="mod">
          <ac:chgData name="Greenrod, Samuel (OCBD)" userId="2206092a-8a12-487a-a963-cafe9a401430" providerId="ADAL" clId="{20C3C022-8956-41D8-B9EF-F034660AD755}" dt="2025-11-27T15:30:39.859" v="4" actId="1076"/>
          <ac:grpSpMkLst>
            <pc:docMk/>
            <pc:sldMk cId="2111888351" sldId="305"/>
            <ac:grpSpMk id="20" creationId="{86048A73-1EBF-7117-C053-ED20A623A196}"/>
          </ac:grpSpMkLst>
        </pc:grpChg>
      </pc:sldChg>
      <pc:sldChg chg="modSp mod">
        <pc:chgData name="Greenrod, Samuel (OCBD)" userId="2206092a-8a12-487a-a963-cafe9a401430" providerId="ADAL" clId="{20C3C022-8956-41D8-B9EF-F034660AD755}" dt="2025-11-27T15:35:44.893" v="27" actId="15"/>
        <pc:sldMkLst>
          <pc:docMk/>
          <pc:sldMk cId="4182177908" sldId="306"/>
        </pc:sldMkLst>
        <pc:spChg chg="mod">
          <ac:chgData name="Greenrod, Samuel (OCBD)" userId="2206092a-8a12-487a-a963-cafe9a401430" providerId="ADAL" clId="{20C3C022-8956-41D8-B9EF-F034660AD755}" dt="2025-11-27T15:35:44.893" v="27" actId="15"/>
          <ac:spMkLst>
            <pc:docMk/>
            <pc:sldMk cId="4182177908" sldId="306"/>
            <ac:spMk id="12" creationId="{BEAF8332-4A2D-81A8-3996-3EC985CF1574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39:34.048" v="71" actId="14100"/>
        <pc:sldMkLst>
          <pc:docMk/>
          <pc:sldMk cId="2074591006" sldId="307"/>
        </pc:sldMkLst>
        <pc:spChg chg="mod">
          <ac:chgData name="Greenrod, Samuel (OCBD)" userId="2206092a-8a12-487a-a963-cafe9a401430" providerId="ADAL" clId="{20C3C022-8956-41D8-B9EF-F034660AD755}" dt="2025-11-27T15:39:34.048" v="71" actId="14100"/>
          <ac:spMkLst>
            <pc:docMk/>
            <pc:sldMk cId="2074591006" sldId="307"/>
            <ac:spMk id="17" creationId="{79A34808-8692-5667-1AE5-B091979DD8FA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39:57.430" v="93" actId="113"/>
        <pc:sldMkLst>
          <pc:docMk/>
          <pc:sldMk cId="4022287387" sldId="308"/>
        </pc:sldMkLst>
        <pc:spChg chg="mod">
          <ac:chgData name="Greenrod, Samuel (OCBD)" userId="2206092a-8a12-487a-a963-cafe9a401430" providerId="ADAL" clId="{20C3C022-8956-41D8-B9EF-F034660AD755}" dt="2025-11-27T15:39:57.430" v="93" actId="113"/>
          <ac:spMkLst>
            <pc:docMk/>
            <pc:sldMk cId="4022287387" sldId="308"/>
            <ac:spMk id="3" creationId="{3D10159C-0E99-B505-D01B-41E8A09FA0A8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41:38.639" v="97" actId="1076"/>
        <pc:sldMkLst>
          <pc:docMk/>
          <pc:sldMk cId="2414916810" sldId="310"/>
        </pc:sldMkLst>
        <pc:spChg chg="mod">
          <ac:chgData name="Greenrod, Samuel (OCBD)" userId="2206092a-8a12-487a-a963-cafe9a401430" providerId="ADAL" clId="{20C3C022-8956-41D8-B9EF-F034660AD755}" dt="2025-11-27T15:41:10.561" v="95" actId="1076"/>
          <ac:spMkLst>
            <pc:docMk/>
            <pc:sldMk cId="2414916810" sldId="310"/>
            <ac:spMk id="12" creationId="{81AB3761-53B8-0543-15F1-2306AE7F2745}"/>
          </ac:spMkLst>
        </pc:spChg>
        <pc:spChg chg="mod">
          <ac:chgData name="Greenrod, Samuel (OCBD)" userId="2206092a-8a12-487a-a963-cafe9a401430" providerId="ADAL" clId="{20C3C022-8956-41D8-B9EF-F034660AD755}" dt="2025-11-27T15:41:38.639" v="97" actId="1076"/>
          <ac:spMkLst>
            <pc:docMk/>
            <pc:sldMk cId="2414916810" sldId="310"/>
            <ac:spMk id="13" creationId="{E149040D-3D3A-6C2D-33BB-66F64635ED61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41:50.349" v="98" actId="1076"/>
        <pc:sldMkLst>
          <pc:docMk/>
          <pc:sldMk cId="276546565" sldId="311"/>
        </pc:sldMkLst>
        <pc:spChg chg="mod">
          <ac:chgData name="Greenrod, Samuel (OCBD)" userId="2206092a-8a12-487a-a963-cafe9a401430" providerId="ADAL" clId="{20C3C022-8956-41D8-B9EF-F034660AD755}" dt="2025-11-27T15:41:50.349" v="98" actId="1076"/>
          <ac:spMkLst>
            <pc:docMk/>
            <pc:sldMk cId="276546565" sldId="311"/>
            <ac:spMk id="11" creationId="{07E1FA68-40E7-DDCD-F042-038714DBC4F6}"/>
          </ac:spMkLst>
        </pc:spChg>
      </pc:sldChg>
      <pc:sldChg chg="modSp mod">
        <pc:chgData name="Greenrod, Samuel (OCBD)" userId="2206092a-8a12-487a-a963-cafe9a401430" providerId="ADAL" clId="{20C3C022-8956-41D8-B9EF-F034660AD755}" dt="2025-11-27T16:00:19.744" v="268" actId="1076"/>
        <pc:sldMkLst>
          <pc:docMk/>
          <pc:sldMk cId="4025397617" sldId="312"/>
        </pc:sldMkLst>
        <pc:spChg chg="mod">
          <ac:chgData name="Greenrod, Samuel (OCBD)" userId="2206092a-8a12-487a-a963-cafe9a401430" providerId="ADAL" clId="{20C3C022-8956-41D8-B9EF-F034660AD755}" dt="2025-11-27T16:00:17.831" v="267" actId="1076"/>
          <ac:spMkLst>
            <pc:docMk/>
            <pc:sldMk cId="4025397617" sldId="312"/>
            <ac:spMk id="12" creationId="{1B7BF28A-4670-6FE7-7241-162027C86BF9}"/>
          </ac:spMkLst>
        </pc:spChg>
        <pc:picChg chg="mod">
          <ac:chgData name="Greenrod, Samuel (OCBD)" userId="2206092a-8a12-487a-a963-cafe9a401430" providerId="ADAL" clId="{20C3C022-8956-41D8-B9EF-F034660AD755}" dt="2025-11-27T16:00:19.744" v="268" actId="1076"/>
          <ac:picMkLst>
            <pc:docMk/>
            <pc:sldMk cId="4025397617" sldId="312"/>
            <ac:picMk id="11" creationId="{CE21D854-585F-2CA4-0272-F842DA67C7F4}"/>
          </ac:picMkLst>
        </pc:picChg>
      </pc:sldChg>
      <pc:sldChg chg="modSp mod">
        <pc:chgData name="Greenrod, Samuel (OCBD)" userId="2206092a-8a12-487a-a963-cafe9a401430" providerId="ADAL" clId="{20C3C022-8956-41D8-B9EF-F034660AD755}" dt="2025-11-27T16:00:35.777" v="269" actId="20577"/>
        <pc:sldMkLst>
          <pc:docMk/>
          <pc:sldMk cId="2517316536" sldId="313"/>
        </pc:sldMkLst>
        <pc:spChg chg="mod">
          <ac:chgData name="Greenrod, Samuel (OCBD)" userId="2206092a-8a12-487a-a963-cafe9a401430" providerId="ADAL" clId="{20C3C022-8956-41D8-B9EF-F034660AD755}" dt="2025-11-27T16:00:35.777" v="269" actId="20577"/>
          <ac:spMkLst>
            <pc:docMk/>
            <pc:sldMk cId="2517316536" sldId="313"/>
            <ac:spMk id="15" creationId="{3A719294-3C7F-B9E2-A14A-607C8C6C5C96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42:11.125" v="106" actId="15"/>
        <pc:sldMkLst>
          <pc:docMk/>
          <pc:sldMk cId="1834119065" sldId="316"/>
        </pc:sldMkLst>
        <pc:spChg chg="mod">
          <ac:chgData name="Greenrod, Samuel (OCBD)" userId="2206092a-8a12-487a-a963-cafe9a401430" providerId="ADAL" clId="{20C3C022-8956-41D8-B9EF-F034660AD755}" dt="2025-11-27T15:42:11.125" v="106" actId="15"/>
          <ac:spMkLst>
            <pc:docMk/>
            <pc:sldMk cId="1834119065" sldId="316"/>
            <ac:spMk id="3" creationId="{48B10D8D-519F-9448-1769-8AB7F598C88E}"/>
          </ac:spMkLst>
        </pc:spChg>
      </pc:sldChg>
      <pc:sldChg chg="addSp modSp mod">
        <pc:chgData name="Greenrod, Samuel (OCBD)" userId="2206092a-8a12-487a-a963-cafe9a401430" providerId="ADAL" clId="{20C3C022-8956-41D8-B9EF-F034660AD755}" dt="2025-11-27T15:38:46.461" v="52" actId="1076"/>
        <pc:sldMkLst>
          <pc:docMk/>
          <pc:sldMk cId="2914907681" sldId="317"/>
        </pc:sldMkLst>
        <pc:cxnChg chg="add mod">
          <ac:chgData name="Greenrod, Samuel (OCBD)" userId="2206092a-8a12-487a-a963-cafe9a401430" providerId="ADAL" clId="{20C3C022-8956-41D8-B9EF-F034660AD755}" dt="2025-11-27T15:38:35.677" v="46" actId="1076"/>
          <ac:cxnSpMkLst>
            <pc:docMk/>
            <pc:sldMk cId="2914907681" sldId="317"/>
            <ac:cxnSpMk id="14" creationId="{D84C5503-A4F5-8C3D-3B43-E94D97121F68}"/>
          </ac:cxnSpMkLst>
        </pc:cxnChg>
        <pc:cxnChg chg="add mod">
          <ac:chgData name="Greenrod, Samuel (OCBD)" userId="2206092a-8a12-487a-a963-cafe9a401430" providerId="ADAL" clId="{20C3C022-8956-41D8-B9EF-F034660AD755}" dt="2025-11-27T15:38:39.202" v="48" actId="1076"/>
          <ac:cxnSpMkLst>
            <pc:docMk/>
            <pc:sldMk cId="2914907681" sldId="317"/>
            <ac:cxnSpMk id="15" creationId="{4F1924E6-2430-6EB7-67D5-EA56C5446A8E}"/>
          </ac:cxnSpMkLst>
        </pc:cxnChg>
        <pc:cxnChg chg="add mod">
          <ac:chgData name="Greenrod, Samuel (OCBD)" userId="2206092a-8a12-487a-a963-cafe9a401430" providerId="ADAL" clId="{20C3C022-8956-41D8-B9EF-F034660AD755}" dt="2025-11-27T15:38:42.668" v="50" actId="1076"/>
          <ac:cxnSpMkLst>
            <pc:docMk/>
            <pc:sldMk cId="2914907681" sldId="317"/>
            <ac:cxnSpMk id="16" creationId="{29504321-1B14-FB5A-385D-2FDCE9BF1EFA}"/>
          </ac:cxnSpMkLst>
        </pc:cxnChg>
        <pc:cxnChg chg="add mod">
          <ac:chgData name="Greenrod, Samuel (OCBD)" userId="2206092a-8a12-487a-a963-cafe9a401430" providerId="ADAL" clId="{20C3C022-8956-41D8-B9EF-F034660AD755}" dt="2025-11-27T15:38:46.461" v="52" actId="1076"/>
          <ac:cxnSpMkLst>
            <pc:docMk/>
            <pc:sldMk cId="2914907681" sldId="317"/>
            <ac:cxnSpMk id="17" creationId="{4A51C9E3-740C-9984-BB83-9DD7E34F466C}"/>
          </ac:cxnSpMkLst>
        </pc:cxnChg>
      </pc:sldChg>
      <pc:sldChg chg="modSp mod">
        <pc:chgData name="Greenrod, Samuel (OCBD)" userId="2206092a-8a12-487a-a963-cafe9a401430" providerId="ADAL" clId="{20C3C022-8956-41D8-B9EF-F034660AD755}" dt="2025-11-27T15:58:40.095" v="243" actId="1076"/>
        <pc:sldMkLst>
          <pc:docMk/>
          <pc:sldMk cId="1455239496" sldId="318"/>
        </pc:sldMkLst>
        <pc:spChg chg="mod">
          <ac:chgData name="Greenrod, Samuel (OCBD)" userId="2206092a-8a12-487a-a963-cafe9a401430" providerId="ADAL" clId="{20C3C022-8956-41D8-B9EF-F034660AD755}" dt="2025-11-27T15:58:40.095" v="243" actId="1076"/>
          <ac:spMkLst>
            <pc:docMk/>
            <pc:sldMk cId="1455239496" sldId="318"/>
            <ac:spMk id="3" creationId="{A0D2D24E-BB9A-8E3E-EFED-C8D973CC1B62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30:05.358" v="0" actId="27636"/>
        <pc:sldMkLst>
          <pc:docMk/>
          <pc:sldMk cId="238822493" sldId="320"/>
        </pc:sldMkLst>
        <pc:spChg chg="mod">
          <ac:chgData name="Greenrod, Samuel (OCBD)" userId="2206092a-8a12-487a-a963-cafe9a401430" providerId="ADAL" clId="{20C3C022-8956-41D8-B9EF-F034660AD755}" dt="2025-11-27T15:30:05.358" v="0" actId="27636"/>
          <ac:spMkLst>
            <pc:docMk/>
            <pc:sldMk cId="238822493" sldId="320"/>
            <ac:spMk id="3" creationId="{29B93379-6DCA-FFCE-4974-EEA1A448B2CE}"/>
          </ac:spMkLst>
        </pc:spChg>
      </pc:sldChg>
      <pc:sldChg chg="modSp mod">
        <pc:chgData name="Greenrod, Samuel (OCBD)" userId="2206092a-8a12-487a-a963-cafe9a401430" providerId="ADAL" clId="{20C3C022-8956-41D8-B9EF-F034660AD755}" dt="2025-11-27T15:57:31.876" v="228" actId="5793"/>
        <pc:sldMkLst>
          <pc:docMk/>
          <pc:sldMk cId="4036546710" sldId="321"/>
        </pc:sldMkLst>
        <pc:spChg chg="mod">
          <ac:chgData name="Greenrod, Samuel (OCBD)" userId="2206092a-8a12-487a-a963-cafe9a401430" providerId="ADAL" clId="{20C3C022-8956-41D8-B9EF-F034660AD755}" dt="2025-11-27T15:57:31.876" v="228" actId="5793"/>
          <ac:spMkLst>
            <pc:docMk/>
            <pc:sldMk cId="4036546710" sldId="321"/>
            <ac:spMk id="3" creationId="{EC7F49B5-E42F-F913-1A63-14B2308DE592}"/>
          </ac:spMkLst>
        </pc:spChg>
      </pc:sldChg>
    </pc:docChg>
  </pc:docChgLst>
</pc:chgInfo>
</file>

<file path=ppt/comments/modernComment_116_A20CF0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35EFF7-6E11-4ED5-8DD2-5683A3180CDF}" authorId="{058D5D99-21CF-B08C-94E1-10539A96C80D}" created="2025-09-25T07:35:28.2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18756868" sldId="278"/>
      <ac:picMk id="3074" creationId="{D18EC2C8-8D2B-E43F-E1FF-B94334997B32}"/>
    </ac:deMkLst>
    <p188:txBody>
      <a:bodyPr/>
      <a:lstStyle/>
      <a:p>
        <a:r>
          <a:rPr lang="en-GB"/>
          <a:t>I put the STP flag as a logo - maybe a different logo would be more appropriate here?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438C-C331-AD49-9851-63B1FE7ADA81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95309B-12D6-8240-AE7D-DF18D3AE4A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8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9F1F-D764-76A7-5647-C387D9DDF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5DA2F-BC09-79BF-74E2-C04FDDC10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FCA8A-5E75-00B9-7991-A37A597D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22EBA-D7A4-B848-AB8E-77DF82C97865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A5A9-BEBC-78EE-74E6-78450AAF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033A-5A7A-F423-BF9B-F87AFE8C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3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20F8-BBFB-E491-140E-761D7B70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9983B-2B7E-DFD9-39D0-932B9B37F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523E-5E99-E34F-7245-4ECDF07A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B2B8-A631-CC4D-AD37-3A3B27278243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B7571-5124-1446-A180-F2843559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9B2AB-26CF-14D2-153E-3A8A6D0A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86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6C695-A593-2156-164A-0EBBE7D5D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B5EB3-14A6-9C84-5D37-F53AD9D49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BC292-9EF3-3C99-F9F6-0801630D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DBDE0-F7A9-DB41-9E26-44A36E8471E2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0763-6183-3C66-294B-8ED481259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FFC3D-7BD1-D91E-C78E-EECE362E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7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0549-19CC-7EFE-A700-B8E471CA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968C5-D92D-6F83-91DC-A4F35CBD0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28BFF-94DE-FEA5-2B7F-AD0D80190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7BFB7-21A4-FC49-C517-046786C2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9B8C-C3C5-094C-B681-56CCD7D412A6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B355B-57C2-4745-51EF-8FAE709B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E950B-637B-E1F2-B1B8-35CCAAB91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2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A364-A549-18A2-430B-4090C183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3A868-55A7-1233-C85E-B8FE5832C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0D045-2786-FEB5-6F27-0BA5A6088A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A27A1E-5FE1-EBAA-F320-CBA8D8451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2C56-019F-776D-A28B-15CE136B8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42011-C314-7EC5-CB00-208D66E43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A4142-9999-304A-9231-3B063AC794F7}" type="datetime1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0741A-CD6B-604F-4668-10BA65965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862A9-8949-49A1-C9B8-FCF0DA60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252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FE85-D2F6-6BE7-EE7E-94CDC397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715C8C-D11D-6977-C3EB-5CD595E9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8E25-E665-D648-847D-3AD88EF49AD6}" type="datetime1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E6B9F-AE8E-8B1F-1ECB-D57AE1421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07135-265E-AF49-74C1-A78AF623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0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9BB6C-845A-B5CC-F1E6-D71DBCD27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C69BC-24E4-0940-A8F5-5C763862DDEA}" type="datetime1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D8888-B128-12FD-7630-3ECD86ECA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B1732-046D-02CA-5D8B-28AAA811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86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2313-A232-7D42-2C6C-B51494DD7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1B26-A43E-BDF0-A069-6FDF1D4E1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C6ED1-A40D-C41B-8962-4F8F4A54E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84D77-1AFC-386E-DEFE-FA1C8558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7D333-60A2-724E-9700-3C3CF588932B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40F98-24FE-2CC9-B7AA-1EB507F8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54F10-DD4F-CF8F-43A5-8D299D5D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0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9662-7AC1-4F7C-F4C0-9D9FA733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F2577-7615-4DF0-25E6-8508D91DD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7E1C82-9A4E-AD3E-C091-BA248334C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69753E-3E59-F72F-347D-96152BFA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9330-04F5-D04F-9BF9-67F2C7B09055}" type="datetime1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E55ED-C4BC-2251-BFE0-86AAB7C0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8C17D-09C2-6E7A-D7C5-059CB0568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9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A6F2-81E8-1E00-DB65-AE20918A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58FFC4-E2A2-3DE8-C379-5A6ED263C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0AF31-A33F-2673-F12C-4047EA515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1CE0-8DF5-6343-9F55-2457BD7CD408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9CF14-931C-7493-32BD-6C03D2FB6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02DA6-CBEC-656A-E98C-110453E9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DDC15-E2F0-C920-46FD-336766393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069DB-94DB-72CD-4567-A72A6444B2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FE13B-D9BE-1E59-6B7F-52A050AC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7FF17-3CA3-5349-920A-5FEB1086772D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BB121-6A54-E24C-33B1-3ECFDD291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5329F-6857-5975-BA75-46413BD0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01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1D291-E3E4-9457-AC33-534F6C658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823D4-7225-9D25-DA90-44E59B502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E8E-89E2-5805-41AE-420DD64DB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692C4-E290-6C4B-9F58-D70F084E00FD}" type="datetime1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BAEFD-6B90-01CA-332A-8CA917045B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AECA2-AC00-D4AE-0962-B05916EC2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B4FB4-AA13-FE41-AF8A-525BA2FA97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8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6_A20CF00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8" y="2094933"/>
            <a:ext cx="9448801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  <a:t>Alterações climáticas e impactos das alterações climáticas em São Tomé e Príncipe, com foco nos setores da pesca e turismo no contexto da Economia Azul</a:t>
            </a:r>
            <a:b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</a:br>
            <a: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  <a:t>São Tomé e Príncipe, novembro/dezembro de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en-GB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Conclusões</a:t>
            </a:r>
            <a:r>
              <a:rPr lang="en-GB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do </a:t>
            </a:r>
            <a:r>
              <a:rPr lang="en-GB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relatório</a:t>
            </a:r>
            <a:endParaRPr lang="en-GB" b="1" cap="all" dirty="0">
              <a:solidFill>
                <a:schemeClr val="accent5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Marco Fusi,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7568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08B7-517A-8A3A-14A9-4644A0C49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A3AB-ED9F-D079-1BCA-9FE3BF20E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Economia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azul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D24E-BB9A-8E3E-EFED-C8D973CC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035" y="1899427"/>
            <a:ext cx="5257800" cy="4351338"/>
          </a:xfrm>
        </p:spPr>
        <p:txBody>
          <a:bodyPr>
            <a:normAutofit fontScale="92500" lnSpcReduction="20000"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Economia azul é o uso sustentável dos recursos oceânicos para o crescimento económico, incluindo:</a:t>
            </a:r>
          </a:p>
          <a:p>
            <a:pPr lvl="1"/>
            <a:r>
              <a:rPr lang="pt-BR" sz="2200" dirty="0">
                <a:latin typeface="Arial" panose="020B0604020202020204" pitchFamily="34" charset="0"/>
                <a:cs typeface="Arial" panose="020B0604020202020204" pitchFamily="34" charset="0"/>
              </a:rPr>
              <a:t>Pescas
Energia renovável 
Turismo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 economia azul é particularmente importante para pequenos estados insulares em desenvolvimento, que dependem largamente dos seus recursos naturais.
No entanto, devido à dependência dos recursos naturais, a economia azul é altamente vulnerável às alterações climáticas.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C355D-C25B-7A10-462A-A661164D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4067" y="6356349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8F5CF8-9ACC-FDDD-5711-F04803ED4921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47AE03-914B-FA4B-7091-AD1605313A8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87ED10F-6B8F-A4F2-A5FF-20D0451DFAE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5D23361-A54E-11B5-A709-DEE1DB65676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As oceanic changes force fishers to go further from the coast, they are exposed to more danger.">
            <a:extLst>
              <a:ext uri="{FF2B5EF4-FFF2-40B4-BE49-F238E27FC236}">
                <a16:creationId xmlns:a16="http://schemas.microsoft.com/office/drawing/2014/main" id="{67D9CD7E-61BC-A24B-252F-14CE7D1099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6" r="18810"/>
          <a:stretch>
            <a:fillRect/>
          </a:stretch>
        </p:blipFill>
        <p:spPr bwMode="auto">
          <a:xfrm>
            <a:off x="6512345" y="1571176"/>
            <a:ext cx="4848045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DC91F5-0DF6-9E49-8CDA-7BAC7FED01EC}"/>
              </a:ext>
            </a:extLst>
          </p:cNvPr>
          <p:cNvSpPr txBox="1"/>
          <p:nvPr/>
        </p:nvSpPr>
        <p:spPr>
          <a:xfrm>
            <a:off x="6512344" y="5885223"/>
            <a:ext cx="4848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i="1" dirty="0"/>
              <a:t>As oceanic changes force fishers to go further from the coast, they are exposed to more danger. </a:t>
            </a:r>
            <a:r>
              <a:rPr lang="en-GB" sz="800" b="1" i="1" dirty="0" err="1"/>
              <a:t>Célcio</a:t>
            </a:r>
            <a:r>
              <a:rPr lang="en-GB" sz="800" b="1" i="1" dirty="0"/>
              <a:t> Dias – known as Mano, on the right, relies on a GPS to return safely home. Photo: </a:t>
            </a:r>
            <a:r>
              <a:rPr lang="en-GB" sz="800" b="1" i="1" dirty="0" err="1"/>
              <a:t>Flore</a:t>
            </a:r>
            <a:r>
              <a:rPr lang="en-GB" sz="800" b="1" i="1" dirty="0"/>
              <a:t> de </a:t>
            </a:r>
            <a:r>
              <a:rPr lang="en-GB" sz="800" b="1" i="1" dirty="0" err="1"/>
              <a:t>Preneuf</a:t>
            </a:r>
            <a:r>
              <a:rPr lang="en-GB" sz="800" b="1" i="1" dirty="0"/>
              <a:t>/ World Bank</a:t>
            </a:r>
            <a:endParaRPr lang="en-GB" sz="800" b="1" dirty="0"/>
          </a:p>
        </p:txBody>
      </p:sp>
    </p:spTree>
    <p:extLst>
      <p:ext uri="{BB962C8B-B14F-4D97-AF65-F5344CB8AC3E}">
        <p14:creationId xmlns:p14="http://schemas.microsoft.com/office/powerpoint/2010/main" val="145523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62831-56A7-1489-D622-C0ADEFD4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9297-52E0-79FF-651C-0E1EC181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Foco do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D3AE6-5A58-1F06-C7A6-D67D7127D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5257800" cy="4351338"/>
          </a:xfrm>
        </p:spPr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Avaliar o impacto das alterações climáticas nas pescas e no turismo das STP:
Avaliar os riscos das alterações climáticas
Determinar os impactos das alterações climáticas
Identificar opções de adaptação climática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8AB068-74D3-1AFF-7E39-320937F8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9946" y="635635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AD97C0F-2C8D-87F2-7475-45B0BF04546B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DA4B40-5667-CAC6-9DA0-CF61B84E038B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1ED26F-B8DF-4896-3B5C-AAFBC27DF2E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015286C-BFC9-D496-1C57-AC776AABC77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Map of Sao Tome and Principe">
            <a:extLst>
              <a:ext uri="{FF2B5EF4-FFF2-40B4-BE49-F238E27FC236}">
                <a16:creationId xmlns:a16="http://schemas.microsoft.com/office/drawing/2014/main" id="{15F53A00-F371-82A4-39D6-084EBE676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611" y="810882"/>
            <a:ext cx="4889794" cy="275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ao Tome and Principe endorses first ever fisheries management plan">
            <a:extLst>
              <a:ext uri="{FF2B5EF4-FFF2-40B4-BE49-F238E27FC236}">
                <a16:creationId xmlns:a16="http://schemas.microsoft.com/office/drawing/2014/main" id="{0A1002B4-808D-3109-4DDE-DD52099F3C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76"/>
          <a:stretch>
            <a:fillRect/>
          </a:stretch>
        </p:blipFill>
        <p:spPr bwMode="auto">
          <a:xfrm>
            <a:off x="6916258" y="3802931"/>
            <a:ext cx="2150984" cy="255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5 Reasons to Visit São Tomé and Príncipe in the Winter Months">
            <a:extLst>
              <a:ext uri="{FF2B5EF4-FFF2-40B4-BE49-F238E27FC236}">
                <a16:creationId xmlns:a16="http://schemas.microsoft.com/office/drawing/2014/main" id="{20F87E72-9F35-A6D4-6595-2008D9423D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6755"/>
          <a:stretch>
            <a:fillRect/>
          </a:stretch>
        </p:blipFill>
        <p:spPr bwMode="auto">
          <a:xfrm>
            <a:off x="9343015" y="3802931"/>
            <a:ext cx="2155080" cy="255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1900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329CD-3939-1982-D604-3D8DFA13A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8F245-E744-4E8A-7859-489151E7E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geral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apresentação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93379-6DCA-FFCE-4974-EEA1A448B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5257800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Linha base setorial (pescas)
Tendências históricas oceânicas
Tendências oceânicas futuras
Análise de impacto (pescas)
Linha base do setor (turismo)
Tendências climáticas históricas
Tendências climáticas futuras
Análise de impacto (turismo)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A7892-50B6-C03C-77FF-56B8489D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508" y="635635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BFFE2F-4070-E3E8-848F-470157C26DB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8FB563-C6E0-9170-B0E1-5F75BEB67263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416997E-21D3-0542-9AFB-914B8555B39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BA277BA-A0BB-721D-7226-70E9B228EE70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Map of Sao Tome and Principe">
            <a:extLst>
              <a:ext uri="{FF2B5EF4-FFF2-40B4-BE49-F238E27FC236}">
                <a16:creationId xmlns:a16="http://schemas.microsoft.com/office/drawing/2014/main" id="{EE53BDD6-DC03-D746-182B-CB6D42534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9611" y="810882"/>
            <a:ext cx="4889794" cy="275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ao Tome and Principe endorses first ever fisheries management plan">
            <a:extLst>
              <a:ext uri="{FF2B5EF4-FFF2-40B4-BE49-F238E27FC236}">
                <a16:creationId xmlns:a16="http://schemas.microsoft.com/office/drawing/2014/main" id="{CCC3E55F-E72A-EC5F-B734-FA31FB3CD0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76"/>
          <a:stretch>
            <a:fillRect/>
          </a:stretch>
        </p:blipFill>
        <p:spPr bwMode="auto">
          <a:xfrm>
            <a:off x="6916258" y="3802931"/>
            <a:ext cx="2150984" cy="255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5 Reasons to Visit São Tomé and Príncipe in the Winter Months">
            <a:extLst>
              <a:ext uri="{FF2B5EF4-FFF2-40B4-BE49-F238E27FC236}">
                <a16:creationId xmlns:a16="http://schemas.microsoft.com/office/drawing/2014/main" id="{12FA9CF9-0E41-F4F4-34F2-1A5C0743C1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36755"/>
          <a:stretch>
            <a:fillRect/>
          </a:stretch>
        </p:blipFill>
        <p:spPr bwMode="auto">
          <a:xfrm>
            <a:off x="9343015" y="3802931"/>
            <a:ext cx="2155080" cy="2553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22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7FA4D-2991-242A-6B6F-6A38B1CAB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7096B-D50E-7EC7-FBD3-497630D0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BA87-517A-A087-52EF-290827B9A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035" y="1825623"/>
            <a:ext cx="5257800" cy="4351338"/>
          </a:xfrm>
        </p:spPr>
        <p:txBody>
          <a:bodyPr>
            <a:normAutofit fontScale="85000" lnSpcReduction="2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As pescas são cruciais para a economia e o emprego: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PIB de 5-10%
Empregam entre 10% e 15% da população
O peixe representa ~53% da ingestão de proteína animal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conservação dos peixes é também importante para o turismo futuro: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Pesca desportiva
Mergulho 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Ameaças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Aquecimento dos oceanos
Acidificação dos oceanos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6FD2981D-3028-2049-A5B2-E94B980AE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CA3D0-83C0-5C22-5D35-98F9CAC35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6C4360-7F84-D304-D9B1-59937E7D6C05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1AA310-78A2-F2B2-0086-1944DC27D17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4AACAA-D0D5-2571-33D8-E2F168AE39B1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8D3EA01-AF34-31C9-828F-824A31A9D8F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Sao Tome and Principe endorses first ever fisheries management plan">
            <a:extLst>
              <a:ext uri="{FF2B5EF4-FFF2-40B4-BE49-F238E27FC236}">
                <a16:creationId xmlns:a16="http://schemas.microsoft.com/office/drawing/2014/main" id="{23F4F30E-1141-22F2-5D95-6BE4F624C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76"/>
          <a:stretch>
            <a:fillRect/>
          </a:stretch>
        </p:blipFill>
        <p:spPr bwMode="auto">
          <a:xfrm>
            <a:off x="6757130" y="406302"/>
            <a:ext cx="5434870" cy="645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ECD9742F-3B4E-2E43-5C11-CE6B0AC65687}"/>
              </a:ext>
            </a:extLst>
          </p:cNvPr>
          <p:cNvSpPr txBox="1">
            <a:spLocks/>
          </p:cNvSpPr>
          <p:nvPr/>
        </p:nvSpPr>
        <p:spPr>
          <a:xfrm>
            <a:off x="9136811" y="63222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1B4FB4-AA13-FE41-AF8A-525BA2FA973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489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77C62-7F9F-5B58-D1B6-4BE11B11F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83EB9-2A5D-B828-63C7-652AC653C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6309852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03F98-88FA-BBE3-3CA8-5DADA369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1106" y="6326819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6402C4-29A0-26B9-9542-68B9D4288B4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D83BCA-E35C-7356-DCAB-A643F14D4DE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B55201-A471-AAD2-925A-8ACA11D6F54E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68DF0C12-1A45-E0A7-F347-A4A995844C0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graph with different colored squares&#10;&#10;Description automatically generated">
            <a:extLst>
              <a:ext uri="{FF2B5EF4-FFF2-40B4-BE49-F238E27FC236}">
                <a16:creationId xmlns:a16="http://schemas.microsoft.com/office/drawing/2014/main" id="{150E851A-678A-5608-A446-ED941FA7F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787" y="1709893"/>
            <a:ext cx="4057340" cy="1941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08D4B01-417D-056F-5E11-06E328A760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11" y="4112568"/>
            <a:ext cx="4700776" cy="2350388"/>
          </a:xfrm>
          <a:prstGeom prst="rect">
            <a:avLst/>
          </a:prstGeom>
        </p:spPr>
      </p:pic>
      <p:pic>
        <p:nvPicPr>
          <p:cNvPr id="21" name="Picture 20" descr="A graph of fish species&#10;&#10;AI-generated content may be incorrect.">
            <a:extLst>
              <a:ext uri="{FF2B5EF4-FFF2-40B4-BE49-F238E27FC236}">
                <a16:creationId xmlns:a16="http://schemas.microsoft.com/office/drawing/2014/main" id="{D6223D0B-952D-3D00-25AF-8E5BE442E0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888" y="1611179"/>
            <a:ext cx="4898202" cy="489820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3E35604-F2B6-404C-7149-10E41DB04CA4}"/>
              </a:ext>
            </a:extLst>
          </p:cNvPr>
          <p:cNvSpPr txBox="1"/>
          <p:nvPr/>
        </p:nvSpPr>
        <p:spPr>
          <a:xfrm>
            <a:off x="9680880" y="3909612"/>
            <a:ext cx="16795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Flying fish</a:t>
            </a:r>
          </a:p>
          <a:p>
            <a:pPr marL="342900" indent="-342900">
              <a:buAutoNum type="arabicPeriod"/>
            </a:pPr>
            <a:r>
              <a:rPr lang="en-GB" dirty="0"/>
              <a:t>Ray-finned fish</a:t>
            </a:r>
          </a:p>
          <a:p>
            <a:pPr marL="342900" indent="-342900">
              <a:buAutoNum type="arabicPeriod"/>
            </a:pPr>
            <a:r>
              <a:rPr lang="en-GB" dirty="0"/>
              <a:t>Blue runner</a:t>
            </a:r>
          </a:p>
          <a:p>
            <a:pPr marL="342900" indent="-342900">
              <a:buAutoNum type="arabicPeriod"/>
            </a:pPr>
            <a:r>
              <a:rPr lang="en-GB" dirty="0"/>
              <a:t>Scads</a:t>
            </a:r>
          </a:p>
          <a:p>
            <a:pPr marL="342900" indent="-342900">
              <a:buAutoNum type="arabicPeriod"/>
            </a:pPr>
            <a:r>
              <a:rPr lang="en-GB" dirty="0"/>
              <a:t>Little tunny</a:t>
            </a:r>
          </a:p>
        </p:txBody>
      </p:sp>
    </p:spTree>
    <p:extLst>
      <p:ext uri="{BB962C8B-B14F-4D97-AF65-F5344CB8AC3E}">
        <p14:creationId xmlns:p14="http://schemas.microsoft.com/office/powerpoint/2010/main" val="2956904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FC06E-C397-FD0B-DF90-B3FF8E89D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4D00-DC56-8A14-2910-DFED1D7A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8119188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histórica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E7603-BFCB-C50A-FC92-829FFD97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7" y="632339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5E8BE89-6978-2C84-B2F8-047BC9DABA1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6C4A7A-C2EA-B89C-E49D-23557472599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3ADD20F-F3E9-A845-0938-E6B0C903326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6106D7CB-01C4-9CBD-4858-16409191CDC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253163-6E49-456F-7812-FD766132E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97634"/>
            <a:ext cx="5228966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Fonte dos dados: Copernicus Marine Data Store reanalysis datasets (1993-2023)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Tendências históricas dos oceanos:</a:t>
            </a:r>
          </a:p>
          <a:p>
            <a:pPr lvl="1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Temperaturas da superfície do mar a subir
Diminuição do pH da superfície do mar (acidificação)
O oxigénio da superfície do mar mantém-se estável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DCCD6A3-D201-EC00-4CF3-FE262E5026BB}"/>
              </a:ext>
            </a:extLst>
          </p:cNvPr>
          <p:cNvGrpSpPr/>
          <p:nvPr/>
        </p:nvGrpSpPr>
        <p:grpSpPr>
          <a:xfrm>
            <a:off x="6248889" y="2058326"/>
            <a:ext cx="5416998" cy="1914977"/>
            <a:chOff x="947737" y="4183598"/>
            <a:chExt cx="5724525" cy="2051029"/>
          </a:xfrm>
        </p:grpSpPr>
        <p:pic>
          <p:nvPicPr>
            <p:cNvPr id="13" name="drawing">
              <a:extLst>
                <a:ext uri="{FF2B5EF4-FFF2-40B4-BE49-F238E27FC236}">
                  <a16:creationId xmlns:a16="http://schemas.microsoft.com/office/drawing/2014/main" id="{AD46BE17-8616-1AD8-803C-308B1F7B1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380"/>
            <a:stretch>
              <a:fillRect/>
            </a:stretch>
          </p:blipFill>
          <p:spPr>
            <a:xfrm>
              <a:off x="947737" y="4320073"/>
              <a:ext cx="5724525" cy="1914554"/>
            </a:xfrm>
            <a:prstGeom prst="rect">
              <a:avLst/>
            </a:prstGeom>
          </p:spPr>
        </p:pic>
        <p:pic>
          <p:nvPicPr>
            <p:cNvPr id="14" name="drawing">
              <a:extLst>
                <a:ext uri="{FF2B5EF4-FFF2-40B4-BE49-F238E27FC236}">
                  <a16:creationId xmlns:a16="http://schemas.microsoft.com/office/drawing/2014/main" id="{1407453D-6C32-84C8-8F25-F4E48805D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3" b="92086"/>
            <a:stretch>
              <a:fillRect/>
            </a:stretch>
          </p:blipFill>
          <p:spPr>
            <a:xfrm>
              <a:off x="947737" y="4183598"/>
              <a:ext cx="5724525" cy="210675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048A73-1EBF-7117-C053-ED20A623A196}"/>
              </a:ext>
            </a:extLst>
          </p:cNvPr>
          <p:cNvGrpSpPr/>
          <p:nvPr/>
        </p:nvGrpSpPr>
        <p:grpSpPr>
          <a:xfrm>
            <a:off x="589651" y="4661365"/>
            <a:ext cx="5310626" cy="2027152"/>
            <a:chOff x="639859" y="4170435"/>
            <a:chExt cx="5310626" cy="2027152"/>
          </a:xfrm>
        </p:grpSpPr>
        <p:pic>
          <p:nvPicPr>
            <p:cNvPr id="17" name="Picture 16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68F3D411-AE1C-10FD-BB97-973EBAD27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227"/>
            <a:stretch>
              <a:fillRect/>
            </a:stretch>
          </p:blipFill>
          <p:spPr>
            <a:xfrm>
              <a:off x="639860" y="4317974"/>
              <a:ext cx="5310625" cy="1879613"/>
            </a:xfrm>
            <a:prstGeom prst="rect">
              <a:avLst/>
            </a:prstGeom>
          </p:spPr>
        </p:pic>
        <p:pic>
          <p:nvPicPr>
            <p:cNvPr id="19" name="Picture 18" descr="A screenshot of a graph&#10;&#10;AI-generated content may be incorrect.">
              <a:extLst>
                <a:ext uri="{FF2B5EF4-FFF2-40B4-BE49-F238E27FC236}">
                  <a16:creationId xmlns:a16="http://schemas.microsoft.com/office/drawing/2014/main" id="{D86FA01A-A9A5-A73B-A865-F44CFB302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02" b="92957"/>
            <a:stretch>
              <a:fillRect/>
            </a:stretch>
          </p:blipFill>
          <p:spPr>
            <a:xfrm>
              <a:off x="639859" y="4170435"/>
              <a:ext cx="5310625" cy="196699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6A30FF1-E980-7690-9FCB-3DE075B03A2A}"/>
              </a:ext>
            </a:extLst>
          </p:cNvPr>
          <p:cNvGrpSpPr/>
          <p:nvPr/>
        </p:nvGrpSpPr>
        <p:grpSpPr>
          <a:xfrm>
            <a:off x="6067167" y="4393427"/>
            <a:ext cx="5579760" cy="1962923"/>
            <a:chOff x="6092837" y="4261104"/>
            <a:chExt cx="5579760" cy="1962923"/>
          </a:xfrm>
        </p:grpSpPr>
        <p:pic>
          <p:nvPicPr>
            <p:cNvPr id="3" name="drawing">
              <a:extLst>
                <a:ext uri="{FF2B5EF4-FFF2-40B4-BE49-F238E27FC236}">
                  <a16:creationId xmlns:a16="http://schemas.microsoft.com/office/drawing/2014/main" id="{7732CC25-302C-8785-9DD0-3E02D0D73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606"/>
            <a:stretch>
              <a:fillRect/>
            </a:stretch>
          </p:blipFill>
          <p:spPr>
            <a:xfrm>
              <a:off x="6170953" y="4288954"/>
              <a:ext cx="5501644" cy="1935073"/>
            </a:xfrm>
            <a:prstGeom prst="rect">
              <a:avLst/>
            </a:prstGeom>
          </p:spPr>
        </p:pic>
        <p:pic>
          <p:nvPicPr>
            <p:cNvPr id="7" name="drawing">
              <a:extLst>
                <a:ext uri="{FF2B5EF4-FFF2-40B4-BE49-F238E27FC236}">
                  <a16:creationId xmlns:a16="http://schemas.microsoft.com/office/drawing/2014/main" id="{00477BA3-4355-531D-820A-EF34D353C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03" b="92086"/>
            <a:stretch>
              <a:fillRect/>
            </a:stretch>
          </p:blipFill>
          <p:spPr>
            <a:xfrm>
              <a:off x="6092837" y="4261104"/>
              <a:ext cx="5501644" cy="1997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188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0BD38-83CB-BB75-9580-910AA9EF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568CC-C4FE-6538-D04F-490605BA4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8147180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histórica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720B8-B8B1-D46C-9B0D-3114021C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7" y="632339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9766A7-A9EB-369A-0816-6316A0EB0AD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D1C34A-F9F4-F435-60D8-E10F6515131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154C66-C325-BB1E-D76A-D7C17455FD2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11EF0CE-3F2E-844C-135C-24552F541CC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B7BF28A-4670-6FE7-7241-162027C86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7213"/>
            <a:ext cx="5810250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Observação notável: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Amortecimento térmico perto da linha costeira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Velocidade climática mais lenta perto da linha costeira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08A6F28F-A74C-9E64-5735-D9B82B32E1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60"/>
          <a:stretch>
            <a:fillRect/>
          </a:stretch>
        </p:blipFill>
        <p:spPr>
          <a:xfrm>
            <a:off x="6782300" y="2510358"/>
            <a:ext cx="5113177" cy="3695575"/>
          </a:xfrm>
          <a:prstGeom prst="rect">
            <a:avLst/>
          </a:prstGeom>
        </p:spPr>
      </p:pic>
      <p:pic>
        <p:nvPicPr>
          <p:cNvPr id="11" name="drawing">
            <a:extLst>
              <a:ext uri="{FF2B5EF4-FFF2-40B4-BE49-F238E27FC236}">
                <a16:creationId xmlns:a16="http://schemas.microsoft.com/office/drawing/2014/main" id="{CE21D854-585F-2CA4-0272-F842DA67C7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50" y="3959225"/>
            <a:ext cx="57245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39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2949-09FF-CFB4-64B6-CDB4304E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CC7D6-AF06-A961-E339-6BFCACE20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8044544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histórica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A9C8EE-7D98-1F1B-E5DD-CB3F48DE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0437" y="6356349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314F1A-5328-2002-3C58-8FDF93B8B7F6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BA2E5A6-2E3D-DCDE-E05C-301073D1CC7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BA57F2-2365-73D7-0DA0-3A81F2E54DD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A1667AAA-F2B7-777F-11EB-F3B7430B277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EAF8332-4A2D-81A8-3996-3EC985CF1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11618"/>
            <a:ext cx="3715140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Anomalias históricas oceânicas: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Aumento da frequência das ondas de calor marinhas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Diminuição da frequência dos períodos de frio marinho</a:t>
            </a:r>
            <a:endParaRPr lang="en-US" sz="16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drawing">
            <a:extLst>
              <a:ext uri="{FF2B5EF4-FFF2-40B4-BE49-F238E27FC236}">
                <a16:creationId xmlns:a16="http://schemas.microsoft.com/office/drawing/2014/main" id="{BCEAD268-31A9-274B-ED7B-7D21D1DA42A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5705" y="2187574"/>
            <a:ext cx="6306631" cy="369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77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2700-C78A-387B-C7C1-5D498E5C4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3AAE4-6185-A48A-73C4-0CC69011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7680650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4D19D-4BD3-1547-6C16-CCF5C11A6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9CFD78-BD5F-B1D0-E9EC-1EF6AA24C0F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C4A7BBA-064C-BD94-0811-AAB374BC5C3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BFED30-762F-B34F-A6A9-93E97F3D41C2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DE36D11-BC3F-60C3-FFE8-85C8D1616F9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B44F880-4DC6-15CA-4A09-9639C3CD59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041" y="1680388"/>
            <a:ext cx="4911008" cy="4911008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A719294-3C7F-B9E2-A14A-607C8C6C5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043" y="1960223"/>
            <a:ext cx="5005647" cy="4351338"/>
          </a:xfrm>
        </p:spPr>
        <p:txBody>
          <a:bodyPr>
            <a:norm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Fonte dos dados: três Modelos do Sistema Terrestre e um conjunto de modelos climáticos
Cenários climáticos:
Dois caminhos socioeconómicos partilhados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SSP1 2.6 (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Baixo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carbono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otimista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SSP5 8.5 (Alto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carbono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pessimista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Linha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de base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histórica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(1989-2019)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Dois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períodos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futuros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2020-2049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2050-2079</a:t>
            </a: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5ECC3157-D462-4734-8C49-6CDB5EF6E60C}"/>
              </a:ext>
            </a:extLst>
          </p:cNvPr>
          <p:cNvSpPr txBox="1">
            <a:spLocks/>
          </p:cNvSpPr>
          <p:nvPr/>
        </p:nvSpPr>
        <p:spPr>
          <a:xfrm>
            <a:off x="9136811" y="63222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1B4FB4-AA13-FE41-AF8A-525BA2FA973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316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FF061-1403-8D0C-989E-5FE134031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4E17-DFAC-53EE-2501-4FBE05BF5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7680650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1A1A9-2B35-540A-124A-5820711E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6811" y="6322284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B739E8-57CA-7932-C7C7-428D4352DAD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26A326-1B30-4162-D0D5-F7BE52092C9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3F3EAD-8895-3961-23DB-AD181F0A53E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90B0C4F-FE8D-6825-7ABC-91E9388B13C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F0DFD516-ADA7-CFDF-7003-08E37473CB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699" y="1725286"/>
            <a:ext cx="4962123" cy="4962123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EE625C3-A954-9296-83F8-3C9DE2E3E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78" y="1776402"/>
            <a:ext cx="4918091" cy="491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538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1AA3C-5ECE-100A-6148-9B61C8CE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DD185-7D27-2615-C374-78E57627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7680650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exposição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climática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09D5C-FEBD-801C-1697-DE4966B0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317" y="638188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685BE3E-E075-8D50-D9A1-263CCBD5637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7C4577F-6EAA-C3DF-90AA-42BD2B8DD8DE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F526AFF-D8E8-E538-7AC7-7CE7F425B47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AA6075A7-F856-CCA9-205B-1426CA4934F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B898F54-6971-3939-E322-C484191DB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777567"/>
              </p:ext>
            </p:extLst>
          </p:nvPr>
        </p:nvGraphicFramePr>
        <p:xfrm>
          <a:off x="1268963" y="1845403"/>
          <a:ext cx="9414588" cy="4518290"/>
        </p:xfrm>
        <a:graphic>
          <a:graphicData uri="http://schemas.openxmlformats.org/drawingml/2006/table">
            <a:tbl>
              <a:tblPr firstRow="1" firstCol="1"/>
              <a:tblGrid>
                <a:gridCol w="1475632">
                  <a:extLst>
                    <a:ext uri="{9D8B030D-6E8A-4147-A177-3AD203B41FA5}">
                      <a16:colId xmlns:a16="http://schemas.microsoft.com/office/drawing/2014/main" val="68114147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594612641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3406241730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1150756912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3451970560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047799161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1667249743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701437389"/>
                    </a:ext>
                  </a:extLst>
                </a:gridCol>
                <a:gridCol w="497100">
                  <a:extLst>
                    <a:ext uri="{9D8B030D-6E8A-4147-A177-3AD203B41FA5}">
                      <a16:colId xmlns:a16="http://schemas.microsoft.com/office/drawing/2014/main" val="291700949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722732300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04249892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58106944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183424889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1550457047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899739583"/>
                    </a:ext>
                  </a:extLst>
                </a:gridCol>
                <a:gridCol w="496054">
                  <a:extLst>
                    <a:ext uri="{9D8B030D-6E8A-4147-A177-3AD203B41FA5}">
                      <a16:colId xmlns:a16="http://schemas.microsoft.com/office/drawing/2014/main" val="2610593859"/>
                    </a:ext>
                  </a:extLst>
                </a:gridCol>
                <a:gridCol w="497100">
                  <a:extLst>
                    <a:ext uri="{9D8B030D-6E8A-4147-A177-3AD203B41FA5}">
                      <a16:colId xmlns:a16="http://schemas.microsoft.com/office/drawing/2014/main" val="2795337115"/>
                    </a:ext>
                  </a:extLst>
                </a:gridCol>
              </a:tblGrid>
              <a:tr h="238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RCP 2.6 (low carbon scenario)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RCP 8.5 (high carbon scenario)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55388"/>
                  </a:ext>
                </a:extLst>
              </a:tr>
              <a:tr h="29731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2020-2049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2050-2079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2020-2049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2050-2079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42013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324418"/>
                  </a:ext>
                </a:extLst>
              </a:tr>
              <a:tr h="238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Marine heatwave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7.1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9.3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8.3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5.3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10.0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5.7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6.9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12.5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873034"/>
                  </a:ext>
                </a:extLst>
              </a:tr>
              <a:tr h="238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Marine cold spell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174873"/>
                  </a:ext>
                </a:extLst>
              </a:tr>
              <a:tr h="5017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High oxygen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557668"/>
                  </a:ext>
                </a:extLst>
              </a:tr>
              <a:tr h="5017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Low oxygen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16.4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22.9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9.7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10.1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23.1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23.6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09431"/>
                  </a:ext>
                </a:extLst>
              </a:tr>
              <a:tr h="238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High pH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394113"/>
                  </a:ext>
                </a:extLst>
              </a:tr>
              <a:tr h="23847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Low pH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27.7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7.7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25.8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24.4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005575"/>
                  </a:ext>
                </a:extLst>
              </a:tr>
              <a:tr h="5017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High salinity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2.4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584377"/>
                  </a:ext>
                </a:extLst>
              </a:tr>
              <a:tr h="5017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Low salinity streak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5.2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13.6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20.9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17.5</a:t>
                      </a:r>
                      <a:endParaRPr lang="en-GB" sz="16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GB" sz="16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2107" marR="5210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0566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84C5503-A4F5-8C3D-3B43-E94D97121F68}"/>
              </a:ext>
            </a:extLst>
          </p:cNvPr>
          <p:cNvCxnSpPr/>
          <p:nvPr/>
        </p:nvCxnSpPr>
        <p:spPr>
          <a:xfrm flipH="1">
            <a:off x="10829925" y="2933700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1924E6-2430-6EB7-67D5-EA56C5446A8E}"/>
              </a:ext>
            </a:extLst>
          </p:cNvPr>
          <p:cNvCxnSpPr/>
          <p:nvPr/>
        </p:nvCxnSpPr>
        <p:spPr>
          <a:xfrm flipH="1">
            <a:off x="10829925" y="4229100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504321-1B14-FB5A-385D-2FDCE9BF1EFA}"/>
              </a:ext>
            </a:extLst>
          </p:cNvPr>
          <p:cNvCxnSpPr/>
          <p:nvPr/>
        </p:nvCxnSpPr>
        <p:spPr>
          <a:xfrm flipH="1">
            <a:off x="10829925" y="5019675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A51C9E3-740C-9984-BB83-9DD7E34F466C}"/>
              </a:ext>
            </a:extLst>
          </p:cNvPr>
          <p:cNvCxnSpPr/>
          <p:nvPr/>
        </p:nvCxnSpPr>
        <p:spPr>
          <a:xfrm flipH="1">
            <a:off x="10829925" y="6067425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907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3415-383E-9F3A-6063-F6DE6429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9597-57ED-0A4B-54BB-C49E2BC6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5" y="521846"/>
            <a:ext cx="6155769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do impacto dos peixes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7D0B-3588-08B0-0049-708DBA68F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754" y="1847409"/>
            <a:ext cx="5515379" cy="4351338"/>
          </a:xfrm>
        </p:spPr>
        <p:txBody>
          <a:bodyPr>
            <a:normAutofit fontScale="925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impacto climático nas pescas foi avaliado usando dois tipos de modelo: mecanicista e empírico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Modelos mecanicistas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– utilizam equações que mostram como os sistemas de peixes funcionam e interagem com o clima</a:t>
            </a: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Modelos empíricos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– encontram associações estatísticas entre a presença de espécies e parâmetros ambientais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09670-A785-821A-65D0-C1B5F9BC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5053" y="628039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45AF79-8BA1-55EA-8D7F-D4A9CF3452A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618566-26EA-20E2-DF6F-8387115801F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15BD8F-18AE-843A-8247-21312ABE456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A176A92-1BE8-9390-CAD4-C04837C21BC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Mechanistic Modelling of Biomass Growth, Glucose Consumption and Ethanol  Production by Kluyveromyces marxianus in Batch Fermentation">
            <a:extLst>
              <a:ext uri="{FF2B5EF4-FFF2-40B4-BE49-F238E27FC236}">
                <a16:creationId xmlns:a16="http://schemas.microsoft.com/office/drawing/2014/main" id="{D61BADDF-C5BC-0447-82E4-24C81F87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258" y="1407197"/>
            <a:ext cx="4028266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person walking with a computer&#10;&#10;AI-generated content may be incorrect.">
            <a:extLst>
              <a:ext uri="{FF2B5EF4-FFF2-40B4-BE49-F238E27FC236}">
                <a16:creationId xmlns:a16="http://schemas.microsoft.com/office/drawing/2014/main" id="{B6005A82-7AD1-F777-1367-86D6CFA8F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258" y="3770401"/>
            <a:ext cx="3898534" cy="219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2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7FC1-7531-CD46-460C-A2E429CE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560CE-1936-86A2-35E0-EDFB4F62F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87" y="456975"/>
            <a:ext cx="10619007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 – impacto climático (modelação mecanicista)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A7A2BE-C518-8415-361B-A9ADDA84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36811" y="6350574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370579-FFDD-22C1-2FDD-971C14A9100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27ACE1-F74B-5F43-34E2-9893EA41B3CA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C8BFEE-AFA7-13FB-FAF4-463646473D9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9DC6DDA8-FD0E-9F27-E792-45234BDBCAF2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graph of different numbers&#10;&#10;AI-generated content may be incorrect.">
            <a:extLst>
              <a:ext uri="{FF2B5EF4-FFF2-40B4-BE49-F238E27FC236}">
                <a16:creationId xmlns:a16="http://schemas.microsoft.com/office/drawing/2014/main" id="{BEA1185F-84CB-4F33-5E1D-B57999BF5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093" y="1844468"/>
            <a:ext cx="7110682" cy="444417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A34808-8692-5667-1AE5-B091979DD8FA}"/>
              </a:ext>
            </a:extLst>
          </p:cNvPr>
          <p:cNvSpPr txBox="1"/>
          <p:nvPr/>
        </p:nvSpPr>
        <p:spPr>
          <a:xfrm>
            <a:off x="1001225" y="1844468"/>
            <a:ext cx="2627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>
                <a:latin typeface="Arial" panose="020B0604020202020204" pitchFamily="34" charset="0"/>
                <a:cs typeface="Arial" panose="020B0604020202020204" pitchFamily="34" charset="0"/>
              </a:rPr>
              <a:t>ISIMIP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Modelos de impacto da biomassa dos peixes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APECOSM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BOATS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Modelos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climáticos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IPSL-CMIP6-LR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</p:txBody>
      </p:sp>
    </p:spTree>
    <p:extLst>
      <p:ext uri="{BB962C8B-B14F-4D97-AF65-F5344CB8AC3E}">
        <p14:creationId xmlns:p14="http://schemas.microsoft.com/office/powerpoint/2010/main" val="2074591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DF011-6B45-3DA4-7A68-C488B3E2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FF5A5501-6A54-1503-AB08-BCF384C84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697" y="1720607"/>
            <a:ext cx="6572608" cy="4694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D7D691-12C4-4775-38C9-49FA86D7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5044"/>
            <a:ext cx="10740655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 – impacto climático (modelação empírica)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0159C-0E99-B505-D01B-41E8A09FA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773" y="1825623"/>
            <a:ext cx="4031512" cy="4351338"/>
          </a:xfrm>
        </p:spPr>
        <p:txBody>
          <a:bodyPr>
            <a:normAutofit lnSpcReduction="10000"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Prevê-se que a probabilidade de ocorrência de peixes varie consideravelmente com as alterações climáticas
Com um corte de variação de 0,1, a probabilidade de ocorrência projetada para: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Aumento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espécies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Sem alterações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espécies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Diminuição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36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espécies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C3BEA-7B97-6CB7-1E3D-DEEB86F7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5438" y="628039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D05C82-4037-DD8B-70B0-D86A0B41CA9B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957EB7-89C5-8513-60F9-638A66D6557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A0861AB-59E1-4165-2AF9-344EF8B4A63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557DFF4B-F5EF-4362-E3FB-7DD6463DF51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287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526DB-C581-CCA5-78E3-12C0C4AF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5563-FC9F-18B8-EACB-0D74EBE9A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5044"/>
            <a:ext cx="10825715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 – impacto climático (modelação empírica)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FD1F0-E1B2-D61A-28FB-14B443211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8409" y="1812097"/>
            <a:ext cx="4731631" cy="4351338"/>
          </a:xfrm>
        </p:spPr>
        <p:txBody>
          <a:bodyPr>
            <a:norm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impacto climático é maior no oeste do que no leste, consistente com os modelos mecanicistas
As águas costeiras estão protegidas do impacto climático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E00C1-E73D-5607-F09D-B1F616EA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3852" y="631739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66A2FF-7826-DE64-C293-B5412508BEA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BD4834-8288-4516-C3AA-CC019105A23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A841CAF-7984-3C5F-F33E-F695AA305FD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2FD646F6-8523-74B2-99A6-32F24B694B0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diagram of a bird&#10;&#10;AI-generated content may be incorrect.">
            <a:extLst>
              <a:ext uri="{FF2B5EF4-FFF2-40B4-BE49-F238E27FC236}">
                <a16:creationId xmlns:a16="http://schemas.microsoft.com/office/drawing/2014/main" id="{5A417C97-85F2-9855-CF0E-9E52361B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b="9448"/>
          <a:stretch>
            <a:fillRect/>
          </a:stretch>
        </p:blipFill>
        <p:spPr>
          <a:xfrm>
            <a:off x="731960" y="1838064"/>
            <a:ext cx="5144691" cy="4190922"/>
          </a:xfrm>
          <a:prstGeom prst="rect">
            <a:avLst/>
          </a:prstGeom>
        </p:spPr>
      </p:pic>
      <p:pic>
        <p:nvPicPr>
          <p:cNvPr id="26" name="Picture 25" descr="A screen shot of a graph&#10;&#10;AI-generated content may be incorrect.">
            <a:extLst>
              <a:ext uri="{FF2B5EF4-FFF2-40B4-BE49-F238E27FC236}">
                <a16:creationId xmlns:a16="http://schemas.microsoft.com/office/drawing/2014/main" id="{303A8F46-387E-2867-92DE-B54634295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06" r="37778" b="29306"/>
          <a:stretch>
            <a:fillRect/>
          </a:stretch>
        </p:blipFill>
        <p:spPr>
          <a:xfrm>
            <a:off x="9213870" y="4071434"/>
            <a:ext cx="2563165" cy="1704963"/>
          </a:xfrm>
          <a:prstGeom prst="rect">
            <a:avLst/>
          </a:prstGeom>
        </p:spPr>
      </p:pic>
      <p:pic>
        <p:nvPicPr>
          <p:cNvPr id="27" name="Picture 26" descr="A red and blue graph&#10;&#10;AI-generated content may be incorrect.">
            <a:extLst>
              <a:ext uri="{FF2B5EF4-FFF2-40B4-BE49-F238E27FC236}">
                <a16:creationId xmlns:a16="http://schemas.microsoft.com/office/drawing/2014/main" id="{E1DBCE14-A472-9C37-AEDE-C2F4C7E18A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89" r="37917" b="30000"/>
          <a:stretch>
            <a:fillRect/>
          </a:stretch>
        </p:blipFill>
        <p:spPr>
          <a:xfrm>
            <a:off x="6457507" y="4062503"/>
            <a:ext cx="2574725" cy="170496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B11FD6F-A875-B37D-800F-04EED0E8F977}"/>
              </a:ext>
            </a:extLst>
          </p:cNvPr>
          <p:cNvSpPr txBox="1"/>
          <p:nvPr/>
        </p:nvSpPr>
        <p:spPr>
          <a:xfrm>
            <a:off x="9313717" y="3781056"/>
            <a:ext cx="1677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i="1" dirty="0" err="1"/>
              <a:t>Erythrocles</a:t>
            </a:r>
            <a:r>
              <a:rPr lang="en-GB" sz="1200" b="1" i="1" dirty="0"/>
              <a:t> </a:t>
            </a:r>
            <a:r>
              <a:rPr lang="en-GB" sz="1200" b="1" i="1" dirty="0" err="1"/>
              <a:t>monodi</a:t>
            </a:r>
            <a:endParaRPr lang="en-GB" sz="1200" b="1" i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3B9755-F4BB-E31E-064D-6D9A79DA8C6F}"/>
              </a:ext>
            </a:extLst>
          </p:cNvPr>
          <p:cNvSpPr txBox="1"/>
          <p:nvPr/>
        </p:nvSpPr>
        <p:spPr>
          <a:xfrm>
            <a:off x="6457507" y="3802754"/>
            <a:ext cx="1677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i="1" dirty="0"/>
              <a:t>Anthias </a:t>
            </a:r>
            <a:r>
              <a:rPr lang="en-GB" sz="1200" b="1" i="1" dirty="0" err="1"/>
              <a:t>anthias</a:t>
            </a:r>
            <a:endParaRPr lang="en-GB" sz="1200" b="1" i="1" dirty="0"/>
          </a:p>
        </p:txBody>
      </p:sp>
      <p:pic>
        <p:nvPicPr>
          <p:cNvPr id="30" name="Picture 29" descr="A map of a continent&#10;&#10;AI-generated content may be incorrect.">
            <a:extLst>
              <a:ext uri="{FF2B5EF4-FFF2-40B4-BE49-F238E27FC236}">
                <a16:creationId xmlns:a16="http://schemas.microsoft.com/office/drawing/2014/main" id="{1D3B5889-A4C9-2051-C4FC-1AB11CD7C0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51" b="8590"/>
          <a:stretch>
            <a:fillRect/>
          </a:stretch>
        </p:blipFill>
        <p:spPr>
          <a:xfrm>
            <a:off x="7317732" y="5883693"/>
            <a:ext cx="3429000" cy="37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4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B7CB-7FF0-2259-1107-D4C367F1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A17C-EF0B-16DB-DBA4-FA306AAF6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95044"/>
            <a:ext cx="10932041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 – impacto climático (modelação empírica)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40E8C7-22E0-3588-4E99-77BA4025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3679" y="6327461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978C6DF-2633-9AD6-BF19-922ECFB238C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186CB3-E159-52B2-9697-BF89C473FBA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CDD1A54-2DF1-F3AC-49D6-A6AFED905AF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010934A-73DD-AE10-DC42-FD3EECEA757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AB3761-53B8-0543-15F1-2306AE7F2745}"/>
              </a:ext>
            </a:extLst>
          </p:cNvPr>
          <p:cNvSpPr txBox="1"/>
          <p:nvPr/>
        </p:nvSpPr>
        <p:spPr>
          <a:xfrm>
            <a:off x="1099272" y="1700340"/>
            <a:ext cx="3040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Positivamente afetado pelas alterações climáticas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49040D-3D3A-6C2D-33BB-66F64635ED61}"/>
              </a:ext>
            </a:extLst>
          </p:cNvPr>
          <p:cNvSpPr txBox="1"/>
          <p:nvPr/>
        </p:nvSpPr>
        <p:spPr>
          <a:xfrm>
            <a:off x="5264521" y="1680757"/>
            <a:ext cx="2951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latin typeface="Arial" panose="020B0604020202020204" pitchFamily="34" charset="0"/>
                <a:cs typeface="Arial" panose="020B0604020202020204" pitchFamily="34" charset="0"/>
              </a:rPr>
              <a:t>Afetados negativamente pelas alterações climáticas</a:t>
            </a:r>
            <a:endParaRPr lang="en-GB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A1BA87-B28C-4F11-1785-4596163BB1FB}"/>
              </a:ext>
            </a:extLst>
          </p:cNvPr>
          <p:cNvCxnSpPr/>
          <p:nvPr/>
        </p:nvCxnSpPr>
        <p:spPr>
          <a:xfrm flipV="1">
            <a:off x="7235126" y="4542764"/>
            <a:ext cx="0" cy="3714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C2A3FD6-F064-C195-2F79-6F8E7F37BFFC}"/>
              </a:ext>
            </a:extLst>
          </p:cNvPr>
          <p:cNvCxnSpPr>
            <a:cxnSpLocks/>
          </p:cNvCxnSpPr>
          <p:nvPr/>
        </p:nvCxnSpPr>
        <p:spPr>
          <a:xfrm>
            <a:off x="3170562" y="2256764"/>
            <a:ext cx="0" cy="46672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8CD22DA9-713B-DCCB-9F7F-8C855B5635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84" t="43010" b="19680"/>
          <a:stretch>
            <a:fillRect/>
          </a:stretch>
        </p:blipFill>
        <p:spPr bwMode="auto">
          <a:xfrm>
            <a:off x="9302234" y="4005560"/>
            <a:ext cx="1895475" cy="1815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1335F3D9-24D7-46A2-064C-FAC164F5DB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75" t="86889" r="31137" b="-249"/>
          <a:stretch>
            <a:fillRect/>
          </a:stretch>
        </p:blipFill>
        <p:spPr bwMode="auto">
          <a:xfrm>
            <a:off x="9213979" y="5821098"/>
            <a:ext cx="1907461" cy="50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>
            <a:extLst>
              <a:ext uri="{FF2B5EF4-FFF2-40B4-BE49-F238E27FC236}">
                <a16:creationId xmlns:a16="http://schemas.microsoft.com/office/drawing/2014/main" id="{4EC8E666-2D0E-31D0-A7C8-B7DF0F2D1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0228" y="1602398"/>
            <a:ext cx="2384187" cy="214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graph of a graph showing a number of different numbers&#10;&#10;AI-generated content may be incorrect.">
            <a:extLst>
              <a:ext uri="{FF2B5EF4-FFF2-40B4-BE49-F238E27FC236}">
                <a16:creationId xmlns:a16="http://schemas.microsoft.com/office/drawing/2014/main" id="{D54368B5-24A4-2D05-2A7A-4555F1AA6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05" y="2143999"/>
            <a:ext cx="3657607" cy="3657607"/>
          </a:xfrm>
          <a:prstGeom prst="rect">
            <a:avLst/>
          </a:prstGeom>
        </p:spPr>
      </p:pic>
      <p:pic>
        <p:nvPicPr>
          <p:cNvPr id="20" name="Picture 19" descr="A graph with blue lines&#10;&#10;AI-generated content may be incorrect.">
            <a:extLst>
              <a:ext uri="{FF2B5EF4-FFF2-40B4-BE49-F238E27FC236}">
                <a16:creationId xmlns:a16="http://schemas.microsoft.com/office/drawing/2014/main" id="{BFC78793-E9E4-8077-0BD4-FB1E6828F4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756" y="2144415"/>
            <a:ext cx="3657607" cy="3657607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BDF515-77FF-1A06-D684-E218194CAA9C}"/>
              </a:ext>
            </a:extLst>
          </p:cNvPr>
          <p:cNvCxnSpPr>
            <a:cxnSpLocks/>
          </p:cNvCxnSpPr>
          <p:nvPr/>
        </p:nvCxnSpPr>
        <p:spPr>
          <a:xfrm>
            <a:off x="7387526" y="3181105"/>
            <a:ext cx="0" cy="47122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8BFE8F-9100-13AC-6FCC-50D2F1C47823}"/>
              </a:ext>
            </a:extLst>
          </p:cNvPr>
          <p:cNvCxnSpPr>
            <a:cxnSpLocks/>
          </p:cNvCxnSpPr>
          <p:nvPr/>
        </p:nvCxnSpPr>
        <p:spPr>
          <a:xfrm flipV="1">
            <a:off x="3291776" y="3910959"/>
            <a:ext cx="0" cy="3747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916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C3CF1-DCEC-2C60-C4F9-F58C830CB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32EFD-BE0C-B85D-34BC-62C76A084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91" y="414271"/>
            <a:ext cx="10793818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Pescas – impacto climático (modelação empírica)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0E5C0D-21A3-1ED5-F194-B02B18FDA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124" y="637360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186325-0757-D403-4A08-6572E02C489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98708D9-963C-4CBE-A6DC-B15F8C15B14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BAE27FC-0B74-3CE7-60DF-ABFA6F95C58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9765FEA-AB29-6AEC-B2FE-C9410DF3A679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37FF9FCE-76A8-F642-797F-451C2CFBE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628" y="2040933"/>
            <a:ext cx="3657607" cy="3657607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6B3467E7-466A-9107-01C7-F1FA37382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090" y="3869737"/>
            <a:ext cx="5715000" cy="22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E1FA68-40E7-DDCD-F042-038714DBC4F6}"/>
              </a:ext>
            </a:extLst>
          </p:cNvPr>
          <p:cNvSpPr txBox="1"/>
          <p:nvPr/>
        </p:nvSpPr>
        <p:spPr>
          <a:xfrm>
            <a:off x="5392790" y="1759060"/>
            <a:ext cx="596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 amortecimento costeiro ocorre em todas as espécies
O resultado pode dever-se a uma maior estabilidade climática perto da costa</a:t>
            </a: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D0C3AE-F8EE-55AB-5FB1-F3574ED5B332}"/>
              </a:ext>
            </a:extLst>
          </p:cNvPr>
          <p:cNvSpPr txBox="1"/>
          <p:nvPr/>
        </p:nvSpPr>
        <p:spPr>
          <a:xfrm>
            <a:off x="838201" y="2152555"/>
            <a:ext cx="4576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m = 0.32</a:t>
            </a:r>
          </a:p>
          <a:p>
            <a:pPr lvl="2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R² = 0.78</a:t>
            </a:r>
          </a:p>
        </p:txBody>
      </p:sp>
    </p:spTree>
    <p:extLst>
      <p:ext uri="{BB962C8B-B14F-4D97-AF65-F5344CB8AC3E}">
        <p14:creationId xmlns:p14="http://schemas.microsoft.com/office/powerpoint/2010/main" val="276546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2BEDD-B0BB-6D4E-2E9B-7D247D8B7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EF191-D735-306C-8900-3571E8F53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10D8D-519F-9448-1769-8AB7F598C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884606"/>
            <a:ext cx="5622407" cy="4351338"/>
          </a:xfrm>
        </p:spPr>
        <p:txBody>
          <a:bodyPr>
            <a:normAutofit fontScale="92500" lnSpcReduction="2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Tendências históricas e projetadas: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Aumento das temperaturas da superfície do mar
Diminuição do pH da superfície do mar e do oxigénio
Impactos variáveis na precipitação total
Aumento da frequência das ondas de calor e das chuvas extremas
Elevação do nível do mar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Condições meteorológicas perigosas para turistas
Erosão das praias/zonas costeiras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picture containing text, sign, vector graphics&#10;&#10;Description automatically generated">
            <a:extLst>
              <a:ext uri="{FF2B5EF4-FFF2-40B4-BE49-F238E27FC236}">
                <a16:creationId xmlns:a16="http://schemas.microsoft.com/office/drawing/2014/main" id="{F2AFE85F-5239-4667-5668-B8B8BC8D3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6176961"/>
            <a:ext cx="541677" cy="541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E1041-4B1F-AEDB-2A08-AF560608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19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1539188-0844-74C6-C6D8-396981746D7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DEC274-AC30-0961-10EB-42AC93AEB84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B47984-0320-49BB-562E-63CCBE37504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73A84F27-A31C-D05D-6E37-6C4E3033BA80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Sao Tome and Principe endorses first ever fisheries management plan">
            <a:extLst>
              <a:ext uri="{FF2B5EF4-FFF2-40B4-BE49-F238E27FC236}">
                <a16:creationId xmlns:a16="http://schemas.microsoft.com/office/drawing/2014/main" id="{71EECC6E-53D6-11A2-AD83-469EAB653C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76"/>
          <a:stretch>
            <a:fillRect/>
          </a:stretch>
        </p:blipFill>
        <p:spPr bwMode="auto">
          <a:xfrm>
            <a:off x="6757130" y="406302"/>
            <a:ext cx="5434870" cy="645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209730D2-7949-78FC-55DF-18C105371E73}"/>
              </a:ext>
            </a:extLst>
          </p:cNvPr>
          <p:cNvSpPr txBox="1">
            <a:spLocks/>
          </p:cNvSpPr>
          <p:nvPr/>
        </p:nvSpPr>
        <p:spPr>
          <a:xfrm>
            <a:off x="8876930" y="63458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1B4FB4-AA13-FE41-AF8A-525BA2FA973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119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0B696-778A-D8CE-4102-B3D67869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5 Reasons to Visit São Tomé and Príncipe in the Winter Months">
            <a:extLst>
              <a:ext uri="{FF2B5EF4-FFF2-40B4-BE49-F238E27FC236}">
                <a16:creationId xmlns:a16="http://schemas.microsoft.com/office/drawing/2014/main" id="{1F8354CC-424B-E624-D376-392431298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835" y="395043"/>
            <a:ext cx="8641719" cy="647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472256-E5F8-2060-F4BC-FFF63DAF5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9EDD1-AA50-5BD6-0C61-E0284018F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4547"/>
            <a:ext cx="4860551" cy="4351338"/>
          </a:xfrm>
        </p:spPr>
        <p:txBody>
          <a:bodyPr>
            <a:normAutofit fontScale="92500" lnSpcReduction="2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PIB: 6-8% (14% indireto)
Emprego: ~10%
Destaques: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Sol e praia
Mergulho
Ecoturismo
Pesca desportiva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Ameaças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Temperaturas elevadas e humidade
Condições meteorológicas extremas
Erosão costeira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A563C-3436-CAF4-90AF-128BCD09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76930" y="6345885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E16E37-5C45-2DD8-6936-38188B9C858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602073-FF12-DCD2-E89A-23E19643046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84D007-D74E-D712-E30B-2874B061D081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D619689-B7BB-04C2-5CB6-B8F81FBED7B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280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E83BB-C7AF-63ED-BD80-67F1D9A4E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84820-09FF-E2E4-EAEF-35A219E82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2FBF9-64DB-1A22-61D7-FDD1FDA04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5669" y="629959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08B314-B2BD-9FF4-EEE1-FC757E0A15D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C28B0A-E289-8F95-E66A-385D15083B9A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4AC088-D1D2-0691-6A50-4A861AF6C932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64E9549-AD8F-062B-D058-176544BE1240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aph with numbers and a bar chart&#10;&#10;Description automatically generated">
            <a:extLst>
              <a:ext uri="{FF2B5EF4-FFF2-40B4-BE49-F238E27FC236}">
                <a16:creationId xmlns:a16="http://schemas.microsoft.com/office/drawing/2014/main" id="{01FC1FFF-6F6D-DEBD-887B-975716C61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2" y="1684333"/>
            <a:ext cx="4731792" cy="2052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32BC151E-3B40-9634-4E6E-AD9BD0C5A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53180"/>
            <a:ext cx="4646857" cy="262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STP2">
            <a:extLst>
              <a:ext uri="{FF2B5EF4-FFF2-40B4-BE49-F238E27FC236}">
                <a16:creationId xmlns:a16="http://schemas.microsoft.com/office/drawing/2014/main" id="{B6282532-8A54-9713-6C93-CD2A1947C4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128" y="1827212"/>
            <a:ext cx="5731510" cy="405193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3554A8D-99C5-F560-5E6E-590121C5BC74}"/>
              </a:ext>
            </a:extLst>
          </p:cNvPr>
          <p:cNvSpPr txBox="1"/>
          <p:nvPr/>
        </p:nvSpPr>
        <p:spPr>
          <a:xfrm>
            <a:off x="7532145" y="1499667"/>
            <a:ext cx="3045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Locais</a:t>
            </a:r>
            <a:r>
              <a:rPr lang="en-GB" dirty="0"/>
              <a:t> de </a:t>
            </a:r>
            <a:r>
              <a:rPr lang="en-GB" dirty="0" err="1"/>
              <a:t>provisões</a:t>
            </a:r>
            <a:r>
              <a:rPr lang="en-GB" dirty="0"/>
              <a:t> </a:t>
            </a:r>
            <a:r>
              <a:rPr lang="en-GB" dirty="0" err="1"/>
              <a:t>turísticas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1970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99060-E8F0-E715-8D6A-B7432F0E0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C78ED-6FE0-218B-A93A-729ABD9A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726"/>
            <a:ext cx="7772400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exposição ao clima (histórico)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1E6E2-F45E-5A6C-047F-C77C3AFA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4328" y="6352086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73066D-1FE3-FCCE-9EE4-71A4BBEF3769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5C5281B-1BDB-DAB8-C730-9FDD9D3C17F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CD0654-5C0E-504A-C6BB-C7D10202A27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4690702-43AE-5A45-AAA0-3E9FBF4B25E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BD479BF8-FC44-F123-9041-EF2E3A1C7DB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27" b="32193"/>
          <a:stretch>
            <a:fillRect/>
          </a:stretch>
        </p:blipFill>
        <p:spPr bwMode="auto">
          <a:xfrm>
            <a:off x="838200" y="4176417"/>
            <a:ext cx="5211092" cy="19423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7E99EF5-F346-296C-F7DA-E65915B696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88" b="31582"/>
          <a:stretch>
            <a:fillRect/>
          </a:stretch>
        </p:blipFill>
        <p:spPr bwMode="auto">
          <a:xfrm>
            <a:off x="6589581" y="2116563"/>
            <a:ext cx="5189495" cy="19423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C080776-192C-E8F4-E312-46CA8A7E48A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81" b="32652"/>
          <a:stretch>
            <a:fillRect/>
          </a:stretch>
        </p:blipFill>
        <p:spPr bwMode="auto">
          <a:xfrm>
            <a:off x="6567984" y="4207963"/>
            <a:ext cx="5211092" cy="19108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AA4B144-32AA-BF9C-A1E7-A25A8EE3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45" y="2000748"/>
            <a:ext cx="5525278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Fonte de dados: ERA5 reanalysis dataset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Tendências climáticas passadas:</a:t>
            </a:r>
          </a:p>
          <a:p>
            <a:pPr lvl="1"/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Aumento das temperaturas da superfície
Mais precipitação em outubro-dezembro
Mais húmido em julho-dezembro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859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03853-9780-EC54-6736-2FC26EAFB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87E54-C88C-C040-F6CB-8C8B9668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8184502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exposição ao clima (histórico)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196F0-0865-B181-5BD9-1D3E0103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0932" y="628039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4C82112-22C8-B2C5-4D09-CCA0051D479C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3ED638-D06E-7B94-D67F-29BE633C589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FAC20DB-E44B-2C25-5582-0E1AE182817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6E8ECA50-5C96-B9BE-FAC3-0CE435D63D3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A5026F5-1F37-4F2A-105B-BB9E3ACE2D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460427"/>
              </p:ext>
            </p:extLst>
          </p:nvPr>
        </p:nvGraphicFramePr>
        <p:xfrm>
          <a:off x="1938068" y="2484409"/>
          <a:ext cx="8057070" cy="3339384"/>
        </p:xfrm>
        <a:graphic>
          <a:graphicData uri="http://schemas.openxmlformats.org/drawingml/2006/table">
            <a:tbl>
              <a:tblPr firstRow="1" firstCol="1" bandRow="1"/>
              <a:tblGrid>
                <a:gridCol w="1242162">
                  <a:extLst>
                    <a:ext uri="{9D8B030D-6E8A-4147-A177-3AD203B41FA5}">
                      <a16:colId xmlns:a16="http://schemas.microsoft.com/office/drawing/2014/main" val="4101417176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1779012330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540060528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4248318436"/>
                    </a:ext>
                  </a:extLst>
                </a:gridCol>
                <a:gridCol w="852534">
                  <a:extLst>
                    <a:ext uri="{9D8B030D-6E8A-4147-A177-3AD203B41FA5}">
                      <a16:colId xmlns:a16="http://schemas.microsoft.com/office/drawing/2014/main" val="2578382231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4189338430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2918689729"/>
                    </a:ext>
                  </a:extLst>
                </a:gridCol>
                <a:gridCol w="851640">
                  <a:extLst>
                    <a:ext uri="{9D8B030D-6E8A-4147-A177-3AD203B41FA5}">
                      <a16:colId xmlns:a16="http://schemas.microsoft.com/office/drawing/2014/main" val="1985133232"/>
                    </a:ext>
                  </a:extLst>
                </a:gridCol>
                <a:gridCol w="852534">
                  <a:extLst>
                    <a:ext uri="{9D8B030D-6E8A-4147-A177-3AD203B41FA5}">
                      <a16:colId xmlns:a16="http://schemas.microsoft.com/office/drawing/2014/main" val="3091013333"/>
                    </a:ext>
                  </a:extLst>
                </a:gridCol>
              </a:tblGrid>
              <a:tr h="35864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São Tomé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Príncipe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6990081"/>
                  </a:ext>
                </a:extLst>
              </a:tr>
              <a:tr h="7544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Jan-Mar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Apr-Jun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Jul-Sep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Oct-Dec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Jan-Mar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Apr-Jun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Jul-Sep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Oct-Dec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079606"/>
                  </a:ext>
                </a:extLst>
              </a:tr>
              <a:tr h="35864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Heatwaves 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1.77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1.31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3.20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2.71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078907"/>
                  </a:ext>
                </a:extLst>
              </a:tr>
              <a:tr h="7544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Heavy rainfall days 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2.11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6.99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2.18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1.94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1.53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3.23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323048"/>
                  </a:ext>
                </a:extLst>
              </a:tr>
              <a:tr h="75448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Extreme rainfall days 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75.8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29.0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0.85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3.72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1.68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8.07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1.09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4.65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868639"/>
                  </a:ext>
                </a:extLst>
              </a:tr>
              <a:tr h="35864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Dry days 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1.84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1.12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1.01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0.93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1.27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1.28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0.98</a:t>
                      </a:r>
                      <a:endParaRPr lang="en-GB" sz="18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1.05</a:t>
                      </a:r>
                      <a:endParaRPr lang="en-GB" sz="18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96092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5EB191D9-48B1-7AB4-2BF7-2329A9CEBBCC}"/>
              </a:ext>
            </a:extLst>
          </p:cNvPr>
          <p:cNvSpPr txBox="1"/>
          <p:nvPr/>
        </p:nvSpPr>
        <p:spPr>
          <a:xfrm>
            <a:off x="1782792" y="2093817"/>
            <a:ext cx="8626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Diferença de frequência de anomalias climáticas entre 1980-1990 e 2010-2020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2326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C4AA-8B61-98FC-EE05-C4E6AE9F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6429-15D6-3006-19C8-A981650EA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8380445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exposição ao clima (futuro)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330B0-74FE-3686-7FCF-4FB09557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44" y="6311561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AF5B37C-6947-7B26-8683-C3E3D57CF0C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DC2386-A617-FEB3-7A0F-1387B7FD9D6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DEBCA4-9B32-FB05-878C-E68463C6151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730BBD6-C1D4-D717-13E5-4F5CBF14891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28D9B092-3FD1-E743-48A2-464A2374E3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247" y="1731229"/>
            <a:ext cx="4852706" cy="484034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496C946-CF81-0129-19E4-C612E6650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043" y="1960223"/>
            <a:ext cx="5005647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Fonte de dados: CORDEX-CORE bias-corrected, downscaled CMIP5 ensemble</a:t>
            </a: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Cenários climáticos:
Duas vias de concentração representativas</a:t>
            </a:r>
          </a:p>
          <a:p>
            <a:pPr lvl="1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RCP 2.6 (baixo carbono, otimista)
RCP 8.5 (alto carbono, pessimista)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Linha de base histórica (1980-2005)
Dois períodos futuros</a:t>
            </a:r>
          </a:p>
          <a:p>
            <a:pPr lvl="1"/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2020-2049
2050-2079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562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160E-D7AC-B0A9-E941-7254708CB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D300-7D5D-57D6-9E84-BD0001DD3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8380445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exposição ao clima (futuro)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CBE2E-3F08-C7D9-4CFB-FEDC0F7B5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5438" y="631837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EBFC82-9D86-D6EE-D78C-E807F50BA896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8FD9CEC-3224-E7D5-30BA-A36E951867D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CB4B67-1CD4-0167-C9FF-73801FD9BE56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B7625F9-5206-CC60-2AC5-153C86CA7B8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3E82B13-4E43-31B1-EC5A-1C4BEF6B31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835" y="1707502"/>
            <a:ext cx="4802274" cy="4755454"/>
          </a:xfrm>
          <a:prstGeom prst="rect">
            <a:avLst/>
          </a:prstGeom>
        </p:spPr>
      </p:pic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A507DD38-3589-EEDF-5888-B8F2E34150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801" y="1724914"/>
            <a:ext cx="4887997" cy="484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60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6B8F-4CE6-2639-7803-BBFB4C826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5799-53C0-2B10-4A42-34BE55787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8380445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exposição ao clima (futuro)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BFAA9-9C92-B3DA-F4D6-8A97E225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8644" y="635635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DE5C73-F4D7-681E-FF9E-6CFA4A4E4290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7612F7-7B76-2684-BC10-1A2CE70FB37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2271A8-904E-0143-603E-F34BA6BB79C8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72C5F72-DA46-F6B1-111E-AEE71FBD9A8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FCF85196-E592-F608-AEC6-F518B87DA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9810673"/>
              </p:ext>
            </p:extLst>
          </p:nvPr>
        </p:nvGraphicFramePr>
        <p:xfrm>
          <a:off x="750145" y="1933818"/>
          <a:ext cx="10515593" cy="4149852"/>
        </p:xfrm>
        <a:graphic>
          <a:graphicData uri="http://schemas.openxmlformats.org/drawingml/2006/table">
            <a:tbl>
              <a:tblPr firstRow="1" firstCol="1"/>
              <a:tblGrid>
                <a:gridCol w="1634413">
                  <a:extLst>
                    <a:ext uri="{9D8B030D-6E8A-4147-A177-3AD203B41FA5}">
                      <a16:colId xmlns:a16="http://schemas.microsoft.com/office/drawing/2014/main" val="774094957"/>
                    </a:ext>
                  </a:extLst>
                </a:gridCol>
                <a:gridCol w="568000">
                  <a:extLst>
                    <a:ext uri="{9D8B030D-6E8A-4147-A177-3AD203B41FA5}">
                      <a16:colId xmlns:a16="http://schemas.microsoft.com/office/drawing/2014/main" val="1422101158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3982161606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2874421135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3684333080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3189620484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62839745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2489394002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1288968904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3182713721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2452001912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1226451773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1866491822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3228504788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1731372450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1888486370"/>
                    </a:ext>
                  </a:extLst>
                </a:gridCol>
                <a:gridCol w="554212">
                  <a:extLst>
                    <a:ext uri="{9D8B030D-6E8A-4147-A177-3AD203B41FA5}">
                      <a16:colId xmlns:a16="http://schemas.microsoft.com/office/drawing/2014/main" val="652600120"/>
                    </a:ext>
                  </a:extLst>
                </a:gridCol>
              </a:tblGrid>
              <a:tr h="18585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Climate anomaly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gridSpan="16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Frequency of extreme events in future projections relative to baseline (1980-2005)</a:t>
                      </a:r>
                      <a:endParaRPr lang="en-GB" sz="14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714588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RCP 2.6 (low carbon scenario)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RCP 8.5 (high carbon scenario)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0499684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2020-2049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2050-2079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2020-2049</a:t>
                      </a:r>
                      <a:endParaRPr lang="en-GB" sz="14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2050-2079</a:t>
                      </a:r>
                      <a:endParaRPr lang="en-GB" sz="14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43433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JFM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AMJ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JAS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OND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969249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São Tomé</a:t>
                      </a:r>
                      <a:endParaRPr lang="en-GB" sz="14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735844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Heatwaves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291715"/>
                  </a:ext>
                </a:extLst>
              </a:tr>
              <a:tr h="2833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Heavy rainfall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97720"/>
                  </a:ext>
                </a:extLst>
              </a:tr>
              <a:tr h="2833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Extreme rainfall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715865"/>
                  </a:ext>
                </a:extLst>
              </a:tr>
              <a:tr h="1703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Dry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-1.9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1.9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1.2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-2.4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458532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913146"/>
                  </a:ext>
                </a:extLst>
              </a:tr>
              <a:tr h="13339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Príncipe</a:t>
                      </a:r>
                      <a:endParaRPr lang="en-GB" sz="14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567075"/>
                  </a:ext>
                </a:extLst>
              </a:tr>
              <a:tr h="1703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Heatwaves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076564"/>
                  </a:ext>
                </a:extLst>
              </a:tr>
              <a:tr h="2833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Heavy rainfall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918541"/>
                  </a:ext>
                </a:extLst>
              </a:tr>
              <a:tr h="28336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Extreme rainfall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144705"/>
                  </a:ext>
                </a:extLst>
              </a:tr>
              <a:tr h="17036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b="1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Dry days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-1.0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-1.2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-1.7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-0.6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>
                          <a:solidFill>
                            <a:srgbClr val="FFFFFF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5.7</a:t>
                      </a:r>
                      <a:endParaRPr lang="en-GB" sz="120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-1.4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6E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00" dirty="0">
                          <a:effectLst/>
                          <a:latin typeface="Garamond" panose="020204040303010108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  <a:endParaRPr lang="en-GB" sz="1200" dirty="0">
                        <a:effectLst/>
                        <a:latin typeface="Garamond" panose="020204040303010108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745" marR="3974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815271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7B7330-A68C-119B-1479-9C6A68F72E22}"/>
              </a:ext>
            </a:extLst>
          </p:cNvPr>
          <p:cNvCxnSpPr/>
          <p:nvPr/>
        </p:nvCxnSpPr>
        <p:spPr>
          <a:xfrm flipH="1">
            <a:off x="11372850" y="3524250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EDDAE8D-2535-BE10-36C1-4212EEB80EC2}"/>
              </a:ext>
            </a:extLst>
          </p:cNvPr>
          <p:cNvCxnSpPr/>
          <p:nvPr/>
        </p:nvCxnSpPr>
        <p:spPr>
          <a:xfrm flipH="1">
            <a:off x="11372850" y="4362450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248AB7D-0858-DD38-BD95-C5F2B624D792}"/>
              </a:ext>
            </a:extLst>
          </p:cNvPr>
          <p:cNvCxnSpPr/>
          <p:nvPr/>
        </p:nvCxnSpPr>
        <p:spPr>
          <a:xfrm flipH="1">
            <a:off x="11372850" y="5953125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5F57A9-E4CD-3194-F0B8-8363E8165ABE}"/>
              </a:ext>
            </a:extLst>
          </p:cNvPr>
          <p:cNvCxnSpPr/>
          <p:nvPr/>
        </p:nvCxnSpPr>
        <p:spPr>
          <a:xfrm flipH="1">
            <a:off x="11372850" y="5153025"/>
            <a:ext cx="3048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28454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21512-1EDC-4E39-4792-D6C68964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92494-7A8A-8DB8-85C8-F268C34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7762876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análise do impacto climático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22841-C420-7879-F67F-E4F6B9841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0547" y="628039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595545-6E7F-2603-C5C6-48474AB891A9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2CA211-B761-8D86-3E97-E4AAC34B809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18BF102-FE82-83CF-7B82-DD97B0378A00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9CC6D31-F9FF-4BDA-102C-4EE46316BD40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1064EAA5-6898-2858-6190-B647E34AC6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142" y="2053595"/>
            <a:ext cx="3173068" cy="186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What are ecosystems and why they're important">
            <a:extLst>
              <a:ext uri="{FF2B5EF4-FFF2-40B4-BE49-F238E27FC236}">
                <a16:creationId xmlns:a16="http://schemas.microsoft.com/office/drawing/2014/main" id="{E965FBC6-502D-C3DD-354C-6B5C46334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033" y="2006602"/>
            <a:ext cx="2390775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A7BF3921-E786-01BF-C187-B4DB05936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337" y="5170274"/>
            <a:ext cx="1101107" cy="110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8713FA-AE40-AE6B-B127-1A2D573766C2}"/>
              </a:ext>
            </a:extLst>
          </p:cNvPr>
          <p:cNvCxnSpPr>
            <a:cxnSpLocks/>
          </p:cNvCxnSpPr>
          <p:nvPr/>
        </p:nvCxnSpPr>
        <p:spPr>
          <a:xfrm>
            <a:off x="5517503" y="3025777"/>
            <a:ext cx="857943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DCA03F-CC84-388C-DD02-F07FD9AF771D}"/>
              </a:ext>
            </a:extLst>
          </p:cNvPr>
          <p:cNvCxnSpPr/>
          <p:nvPr/>
        </p:nvCxnSpPr>
        <p:spPr>
          <a:xfrm>
            <a:off x="8083420" y="4276815"/>
            <a:ext cx="0" cy="1432996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BA5EBD8-233F-1E47-0EF9-640CDE1E54A3}"/>
              </a:ext>
            </a:extLst>
          </p:cNvPr>
          <p:cNvCxnSpPr/>
          <p:nvPr/>
        </p:nvCxnSpPr>
        <p:spPr>
          <a:xfrm flipH="1">
            <a:off x="4844608" y="5720828"/>
            <a:ext cx="3238812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420BDAB-967B-1631-3602-4A0CE485A55C}"/>
              </a:ext>
            </a:extLst>
          </p:cNvPr>
          <p:cNvCxnSpPr>
            <a:cxnSpLocks/>
          </p:cNvCxnSpPr>
          <p:nvPr/>
        </p:nvCxnSpPr>
        <p:spPr>
          <a:xfrm>
            <a:off x="3692792" y="4134301"/>
            <a:ext cx="0" cy="783861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89E136B-AD17-5387-E572-2BC2BA13E297}"/>
              </a:ext>
            </a:extLst>
          </p:cNvPr>
          <p:cNvSpPr txBox="1"/>
          <p:nvPr/>
        </p:nvSpPr>
        <p:spPr>
          <a:xfrm>
            <a:off x="1735494" y="4248823"/>
            <a:ext cx="1826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Impactos</a:t>
            </a:r>
            <a:r>
              <a:rPr lang="en-GB" b="1" dirty="0"/>
              <a:t> </a:t>
            </a:r>
            <a:r>
              <a:rPr lang="en-GB" b="1" dirty="0" err="1"/>
              <a:t>diretos</a:t>
            </a:r>
            <a:endParaRPr lang="en-GB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006901-2003-BBB4-9F2B-21443D91B981}"/>
              </a:ext>
            </a:extLst>
          </p:cNvPr>
          <p:cNvSpPr txBox="1"/>
          <p:nvPr/>
        </p:nvSpPr>
        <p:spPr>
          <a:xfrm>
            <a:off x="8299094" y="4808647"/>
            <a:ext cx="2044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Impactos</a:t>
            </a:r>
            <a:r>
              <a:rPr lang="en-GB" b="1" dirty="0"/>
              <a:t> </a:t>
            </a:r>
            <a:r>
              <a:rPr lang="en-GB" b="1" dirty="0" err="1"/>
              <a:t>indiretos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72580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5F90-E316-AD81-4E1E-3AF95188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B6F0-9B1F-85AE-9F38-4DCD1ECE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1650"/>
            <a:ext cx="683681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diretos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D89D5-F8B1-CB1E-9E26-AE0FCD49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0178" y="6335958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6FB2F0-8D18-8793-9331-C21A32155D7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8482EC-25D5-7AD1-7211-A8FCBF13D2D3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3BEDCC-5946-CFAF-30BF-80226B8755BC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66C867C-5DA7-F690-8E5F-DFE6A71EF5C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753352B-304F-4650-6BA5-CB6900516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942" y="1771572"/>
            <a:ext cx="4761469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Aumento histórico dos dias de índice de calor elevado em outubro-dezembro
Subida histórica e projetada do nível do mar</a:t>
            </a:r>
            <a:endParaRPr lang="en-US" sz="18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F7B57ED-5E1A-05F2-4F20-47585C7C1F64}"/>
              </a:ext>
            </a:extLst>
          </p:cNvPr>
          <p:cNvGrpSpPr/>
          <p:nvPr/>
        </p:nvGrpSpPr>
        <p:grpSpPr>
          <a:xfrm>
            <a:off x="935276" y="4344173"/>
            <a:ext cx="4228421" cy="2259389"/>
            <a:chOff x="0" y="0"/>
            <a:chExt cx="5495925" cy="2849880"/>
          </a:xfrm>
        </p:grpSpPr>
        <p:pic>
          <p:nvPicPr>
            <p:cNvPr id="7" name="Picture 6" descr="A map of the north america&#10;&#10;AI-generated content may be incorrect.">
              <a:extLst>
                <a:ext uri="{FF2B5EF4-FFF2-40B4-BE49-F238E27FC236}">
                  <a16:creationId xmlns:a16="http://schemas.microsoft.com/office/drawing/2014/main" id="{DC1FFBF8-DBF8-8C3A-3FD0-AFF54187D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849880" cy="2849880"/>
            </a:xfrm>
            <a:prstGeom prst="rect">
              <a:avLst/>
            </a:prstGeom>
          </p:spPr>
        </p:pic>
        <p:pic>
          <p:nvPicPr>
            <p:cNvPr id="11" name="Picture 10" descr="A graph with a line graph and black dots&#10;&#10;AI-generated content may be incorrect.">
              <a:extLst>
                <a:ext uri="{FF2B5EF4-FFF2-40B4-BE49-F238E27FC236}">
                  <a16:creationId xmlns:a16="http://schemas.microsoft.com/office/drawing/2014/main" id="{F838627D-4762-69BE-850C-530139E49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0400" y="68094"/>
              <a:ext cx="2295525" cy="2295525"/>
            </a:xfrm>
            <a:prstGeom prst="rect">
              <a:avLst/>
            </a:prstGeom>
          </p:spPr>
        </p:pic>
      </p:grpSp>
      <p:pic>
        <p:nvPicPr>
          <p:cNvPr id="15" name="Picture 14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6B8B4FF3-2E00-778B-794E-7530835E9B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493" y="2098733"/>
            <a:ext cx="6243029" cy="1873047"/>
          </a:xfrm>
          <a:prstGeom prst="rect">
            <a:avLst/>
          </a:prstGeom>
        </p:spPr>
      </p:pic>
      <p:pic>
        <p:nvPicPr>
          <p:cNvPr id="16" name="Picture 15" descr="A graph of sea level rise&#10;&#10;AI-generated content may be incorrect.">
            <a:extLst>
              <a:ext uri="{FF2B5EF4-FFF2-40B4-BE49-F238E27FC236}">
                <a16:creationId xmlns:a16="http://schemas.microsoft.com/office/drawing/2014/main" id="{E9F850CE-14BF-DAA0-1BDB-3F811940AF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4072" y="4344173"/>
            <a:ext cx="2063216" cy="2063216"/>
          </a:xfrm>
          <a:prstGeom prst="rect">
            <a:avLst/>
          </a:prstGeom>
        </p:spPr>
      </p:pic>
      <p:pic>
        <p:nvPicPr>
          <p:cNvPr id="17" name="Picture 16" descr="A group of images of sea level rise&#10;&#10;AI-generated content may be incorrect.">
            <a:extLst>
              <a:ext uri="{FF2B5EF4-FFF2-40B4-BE49-F238E27FC236}">
                <a16:creationId xmlns:a16="http://schemas.microsoft.com/office/drawing/2014/main" id="{B844D4BC-F1F2-D698-5489-CB126ECB17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835" y="4352607"/>
            <a:ext cx="2405919" cy="21659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4CC8D1-B9D3-12C0-2124-42666C19C029}"/>
              </a:ext>
            </a:extLst>
          </p:cNvPr>
          <p:cNvSpPr txBox="1"/>
          <p:nvPr/>
        </p:nvSpPr>
        <p:spPr>
          <a:xfrm>
            <a:off x="1072935" y="4028826"/>
            <a:ext cx="42688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Subida histórica do nível do mar (1993 – 2023)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79BC3F-B735-CDB8-60DE-1E628BC541D8}"/>
              </a:ext>
            </a:extLst>
          </p:cNvPr>
          <p:cNvSpPr txBox="1"/>
          <p:nvPr/>
        </p:nvSpPr>
        <p:spPr>
          <a:xfrm>
            <a:off x="6021728" y="3971780"/>
            <a:ext cx="31794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Subida projetada do nível do mar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A54446-B857-8C00-F851-2005974E011E}"/>
              </a:ext>
            </a:extLst>
          </p:cNvPr>
          <p:cNvSpPr txBox="1"/>
          <p:nvPr/>
        </p:nvSpPr>
        <p:spPr>
          <a:xfrm>
            <a:off x="5431598" y="1717906"/>
            <a:ext cx="68368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/>
              <a:t>Dias de alto índice de calor em São Tomé – mesmos resultados para Príncipe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877324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16D44-43B8-008B-B904-7B004D78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ABD4-927D-F0A4-42DA-F2D4BD75E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55414"/>
            <a:ext cx="9923361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Turismo –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indiretos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7131A-0874-2914-5BE6-0DAC9BD03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7094" y="625124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32D2CD-6400-9EEC-04E5-19E76D65243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94CF53-269A-AAD9-1978-18D0ED2AA6D8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6F1C02-0153-E53A-C72E-834C066973A9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A546F2D-B947-BE16-626D-6DDF9602DD0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608316FF-9206-1566-BF46-E9633FAE6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565" y="2077202"/>
            <a:ext cx="5508235" cy="39344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971D7C-ABC2-DDE4-55F4-FAAC9805F4F0}"/>
              </a:ext>
            </a:extLst>
          </p:cNvPr>
          <p:cNvSpPr txBox="1"/>
          <p:nvPr/>
        </p:nvSpPr>
        <p:spPr>
          <a:xfrm>
            <a:off x="10285814" y="4180733"/>
            <a:ext cx="136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Grouper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CCACA9-5C84-1862-C125-46A9E536B5EA}"/>
              </a:ext>
            </a:extLst>
          </p:cNvPr>
          <p:cNvSpPr txBox="1"/>
          <p:nvPr/>
        </p:nvSpPr>
        <p:spPr>
          <a:xfrm>
            <a:off x="9959115" y="4494456"/>
            <a:ext cx="136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Snapper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C9647F-5734-6EF3-0BDF-C68044A80AD3}"/>
              </a:ext>
            </a:extLst>
          </p:cNvPr>
          <p:cNvCxnSpPr>
            <a:cxnSpLocks/>
          </p:cNvCxnSpPr>
          <p:nvPr/>
        </p:nvCxnSpPr>
        <p:spPr>
          <a:xfrm>
            <a:off x="10837762" y="4488510"/>
            <a:ext cx="0" cy="466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2D1012A-7290-C5E5-D5E3-311D46BF3700}"/>
              </a:ext>
            </a:extLst>
          </p:cNvPr>
          <p:cNvCxnSpPr>
            <a:cxnSpLocks/>
          </p:cNvCxnSpPr>
          <p:nvPr/>
        </p:nvCxnSpPr>
        <p:spPr>
          <a:xfrm>
            <a:off x="9959115" y="4554825"/>
            <a:ext cx="0" cy="178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A49783-F442-8444-22D2-59BACE000B94}"/>
              </a:ext>
            </a:extLst>
          </p:cNvPr>
          <p:cNvCxnSpPr>
            <a:cxnSpLocks/>
          </p:cNvCxnSpPr>
          <p:nvPr/>
        </p:nvCxnSpPr>
        <p:spPr>
          <a:xfrm flipH="1">
            <a:off x="9653199" y="4345013"/>
            <a:ext cx="632615" cy="1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018242-24FA-9DD5-6BE5-20D80B0AD121}"/>
              </a:ext>
            </a:extLst>
          </p:cNvPr>
          <p:cNvCxnSpPr/>
          <p:nvPr/>
        </p:nvCxnSpPr>
        <p:spPr>
          <a:xfrm flipH="1">
            <a:off x="9653199" y="4954612"/>
            <a:ext cx="11845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1DC1A3-6082-03F5-24BB-3E0375B5EF52}"/>
              </a:ext>
            </a:extLst>
          </p:cNvPr>
          <p:cNvCxnSpPr>
            <a:cxnSpLocks/>
          </p:cNvCxnSpPr>
          <p:nvPr/>
        </p:nvCxnSpPr>
        <p:spPr>
          <a:xfrm flipH="1">
            <a:off x="9653199" y="4568640"/>
            <a:ext cx="3163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EB00B0-CA88-B556-5EE7-60672B7527D1}"/>
              </a:ext>
            </a:extLst>
          </p:cNvPr>
          <p:cNvCxnSpPr>
            <a:cxnSpLocks/>
          </p:cNvCxnSpPr>
          <p:nvPr/>
        </p:nvCxnSpPr>
        <p:spPr>
          <a:xfrm flipH="1">
            <a:off x="9653199" y="4721542"/>
            <a:ext cx="3163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9EE8739-3D91-FED4-844A-2924F75F9563}"/>
              </a:ext>
            </a:extLst>
          </p:cNvPr>
          <p:cNvSpPr txBox="1"/>
          <p:nvPr/>
        </p:nvSpPr>
        <p:spPr>
          <a:xfrm>
            <a:off x="10438694" y="2112531"/>
            <a:ext cx="1368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Tuna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0D2F66B-EA46-2E4E-065E-6E1DE5EEB35A}"/>
              </a:ext>
            </a:extLst>
          </p:cNvPr>
          <p:cNvCxnSpPr>
            <a:cxnSpLocks/>
          </p:cNvCxnSpPr>
          <p:nvPr/>
        </p:nvCxnSpPr>
        <p:spPr>
          <a:xfrm flipH="1">
            <a:off x="9799018" y="2267809"/>
            <a:ext cx="632615" cy="1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CD4921-237B-1CD1-6090-65C63F0B65B4}"/>
              </a:ext>
            </a:extLst>
          </p:cNvPr>
          <p:cNvCxnSpPr>
            <a:cxnSpLocks/>
          </p:cNvCxnSpPr>
          <p:nvPr/>
        </p:nvCxnSpPr>
        <p:spPr>
          <a:xfrm>
            <a:off x="10761562" y="2420308"/>
            <a:ext cx="0" cy="8044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61495C-35A0-425A-9C30-23FB1AD25DAD}"/>
              </a:ext>
            </a:extLst>
          </p:cNvPr>
          <p:cNvCxnSpPr>
            <a:cxnSpLocks/>
          </p:cNvCxnSpPr>
          <p:nvPr/>
        </p:nvCxnSpPr>
        <p:spPr>
          <a:xfrm flipH="1">
            <a:off x="9811352" y="3224768"/>
            <a:ext cx="9502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2853121-CBA1-59A0-A384-24DD783DA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407" y="2005012"/>
            <a:ext cx="4031512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15 espécies de peixes identificadas como candidatas à pesca desportiva
Com um corte de alteração de 0,1, a probabilidade de presença projetada para: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Aumento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espécies
Sem alterações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 espécies
Diminuição para </a:t>
            </a:r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espécies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77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C317C-ADA2-00AA-2F30-F8869E8F8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5 Reasons to Visit São Tomé and Príncipe in the Winter Months">
            <a:extLst>
              <a:ext uri="{FF2B5EF4-FFF2-40B4-BE49-F238E27FC236}">
                <a16:creationId xmlns:a16="http://schemas.microsoft.com/office/drawing/2014/main" id="{81CDC40A-4FAA-FC3A-329D-06663CC9A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949" y="395044"/>
            <a:ext cx="8641719" cy="647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8B9EC-F332-E98E-3BC9-28F811D50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o turismo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8F695-1B62-1E3C-09DE-B8C2D06BA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4547"/>
            <a:ext cx="5476875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Tendências históricas e projetadas: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Aumento das temperaturas médias e da humidade
Impactos variáveis na precipitação total
Aumento da frequência das ondas de calor e das chuvas extremas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Condições meteorológicas perigosas para turistas
Erosão das praias/zonas costeiras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C10744-D385-8A9E-4DA1-EC7E3A1E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EED767-B6DB-8577-87B2-1DB4159A9E90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47AC23-5EDD-F5F2-0EFE-94382CA540E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773F8-0000-63DD-E32F-0EA59F21E83E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294BEA1F-A672-953C-FBF2-3569DB21B32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4910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9B8E2-D8C6-CB53-6D7F-67BCFB5D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5 Reasons to Visit São Tomé and Príncipe in the Winter Months">
            <a:extLst>
              <a:ext uri="{FF2B5EF4-FFF2-40B4-BE49-F238E27FC236}">
                <a16:creationId xmlns:a16="http://schemas.microsoft.com/office/drawing/2014/main" id="{1E0CD403-FECB-A366-8DBA-67C33CDB4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949" y="395044"/>
            <a:ext cx="8641719" cy="647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32BA06-89B8-3164-1677-1F115F128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1650"/>
            <a:ext cx="5646576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gerais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F49B5-E42F-F913-1A63-14B2308DE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4547"/>
            <a:ext cx="5476875" cy="4351338"/>
          </a:xfrm>
        </p:spPr>
        <p:txBody>
          <a:bodyPr>
            <a:normAutofit fontScale="92500" lnSpcReduction="2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As pescas e o turismo de São Tomé e Príncipe são altamente vulneráveis às alterações climáticas</a:t>
            </a:r>
          </a:p>
          <a:p>
            <a:pPr marL="0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Medidas de adaptação são provavelmente necessárias para reduzir os impactos das alterações climáticas</a:t>
            </a:r>
          </a:p>
          <a:p>
            <a:pPr marL="0" indent="0">
              <a:buNone/>
            </a:pP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Este trabalho ainda está em curso, e o seu feedback é essencial para melhorias.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93AB6-9850-86A9-BD37-D6AC1ACE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8FF921-95A5-6947-4351-2DFED1CF6F8D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CDFF55-2385-6CA9-32A3-A23949CCA8D8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59C84AD-FFD6-E9F9-2B3B-BFFCA125F963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BEC7217-E402-66BA-9D83-B13FB1E7B59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65467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6A5532-6683-13E3-C265-43BA25C5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93C80A-C674-1DBB-5305-06A8E4C7EF58}"/>
              </a:ext>
            </a:extLst>
          </p:cNvPr>
          <p:cNvGrpSpPr/>
          <p:nvPr/>
        </p:nvGrpSpPr>
        <p:grpSpPr>
          <a:xfrm>
            <a:off x="-14068" y="-21659"/>
            <a:ext cx="12393386" cy="1611307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DE89E6-8A6E-EC4E-E986-BBD249F52F1E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16B3FB0-E509-4B22-624E-E9AC14B7624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itle 2">
            <a:extLst>
              <a:ext uri="{FF2B5EF4-FFF2-40B4-BE49-F238E27FC236}">
                <a16:creationId xmlns:a16="http://schemas.microsoft.com/office/drawing/2014/main" id="{A9C56575-D07C-0F96-5881-6F5315AFD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0036" y="2475512"/>
            <a:ext cx="4852615" cy="2376264"/>
          </a:xfrm>
        </p:spPr>
        <p:txBody>
          <a:bodyPr>
            <a:noAutofit/>
          </a:bodyPr>
          <a:lstStyle/>
          <a:p>
            <a:r>
              <a:rPr lang="en-US" sz="48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Obrigado</a:t>
            </a:r>
            <a:endParaRPr lang="en-US" sz="4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C0EA70B9-8FD9-A4B6-C3B2-B646C7CB6D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1699003" y="2950234"/>
            <a:ext cx="4286633" cy="142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9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4665977E207A449548B2B5BC616899" ma:contentTypeVersion="17" ma:contentTypeDescription="Create a new document." ma:contentTypeScope="" ma:versionID="b39e9f3cad3d2ef1edb569404013632f">
  <xsd:schema xmlns:xsd="http://www.w3.org/2001/XMLSchema" xmlns:xs="http://www.w3.org/2001/XMLSchema" xmlns:p="http://schemas.microsoft.com/office/2006/metadata/properties" xmlns:ns2="9b0ad5ae-bd03-426b-aed7-53a4fff41dc5" xmlns:ns3="66d5c836-a2c7-4c0e-b7db-0b4e4e817a8a" targetNamespace="http://schemas.microsoft.com/office/2006/metadata/properties" ma:root="true" ma:fieldsID="07d2476d5f7e7a8603ca226630fd531a" ns2:_="" ns3:_="">
    <xsd:import namespace="9b0ad5ae-bd03-426b-aed7-53a4fff41dc5"/>
    <xsd:import namespace="66d5c836-a2c7-4c0e-b7db-0b4e4e817a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ad5ae-bd03-426b-aed7-53a4fff41d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d5c836-a2c7-4c0e-b7db-0b4e4e817a8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d403595-b248-47b3-ba4e-d9145443b568}" ma:internalName="TaxCatchAll" ma:showField="CatchAllData" ma:web="66d5c836-a2c7-4c0e-b7db-0b4e4e817a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d5c836-a2c7-4c0e-b7db-0b4e4e817a8a" xsi:nil="true"/>
    <lcf76f155ced4ddcb4097134ff3c332f xmlns="9b0ad5ae-bd03-426b-aed7-53a4fff41dc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8D8B5F-9E10-41E1-BAE2-713434E77A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ad5ae-bd03-426b-aed7-53a4fff41dc5"/>
    <ds:schemaRef ds:uri="66d5c836-a2c7-4c0e-b7db-0b4e4e817a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EA976-F7F1-432E-BC56-20E1CA73DEC7}">
  <ds:schemaRefs>
    <ds:schemaRef ds:uri="http://schemas.microsoft.com/office/2006/metadata/properties"/>
    <ds:schemaRef ds:uri="http://schemas.microsoft.com/office/infopath/2007/PartnerControls"/>
    <ds:schemaRef ds:uri="66d5c836-a2c7-4c0e-b7db-0b4e4e817a8a"/>
    <ds:schemaRef ds:uri="9b0ad5ae-bd03-426b-aed7-53a4fff41dc5"/>
  </ds:schemaRefs>
</ds:datastoreItem>
</file>

<file path=customXml/itemProps3.xml><?xml version="1.0" encoding="utf-8"?>
<ds:datastoreItem xmlns:ds="http://schemas.openxmlformats.org/officeDocument/2006/customXml" ds:itemID="{3487DD47-D233-4FBA-AAAD-453C53C3A3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2768</TotalTime>
  <Words>1691</Words>
  <Application>Microsoft Office PowerPoint</Application>
  <PresentationFormat>Widescreen</PresentationFormat>
  <Paragraphs>574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Garamond</vt:lpstr>
      <vt:lpstr>Georgia</vt:lpstr>
      <vt:lpstr>Office Theme</vt:lpstr>
      <vt:lpstr>Alterações climáticas e impactos das alterações climáticas em São Tomé e Príncipe, com foco nos setores da pesca e turismo no contexto da Economia Azul São Tomé e Príncipe, novembro/dezembro de 2025</vt:lpstr>
      <vt:lpstr>Economia azul</vt:lpstr>
      <vt:lpstr>Foco do relatório</vt:lpstr>
      <vt:lpstr>Visão geral da apresentação</vt:lpstr>
      <vt:lpstr>Pescas em STP</vt:lpstr>
      <vt:lpstr>Pescas em STP</vt:lpstr>
      <vt:lpstr>Pescas – exposição climática (histórica)</vt:lpstr>
      <vt:lpstr>Pescas – exposição climática (histórica)</vt:lpstr>
      <vt:lpstr>Pescas – exposição climática (histórica)</vt:lpstr>
      <vt:lpstr>Pescas – exposição climática (futuro)</vt:lpstr>
      <vt:lpstr>Pescas – exposição climática (futuro)</vt:lpstr>
      <vt:lpstr>Pescas – exposição climática (futuro)</vt:lpstr>
      <vt:lpstr>Análise do impacto dos peixes</vt:lpstr>
      <vt:lpstr>Pescas – impacto climático (modelação mecanicista)</vt:lpstr>
      <vt:lpstr>Pescas – impacto climático (modelação empírica)</vt:lpstr>
      <vt:lpstr>Pescas – impacto climático (modelação empírica)</vt:lpstr>
      <vt:lpstr>Pescas – impacto climático (modelação empírica)</vt:lpstr>
      <vt:lpstr>Pescas – impacto climático (modelação empírica)</vt:lpstr>
      <vt:lpstr>Conclusões para a pesca</vt:lpstr>
      <vt:lpstr>Turismo em STP</vt:lpstr>
      <vt:lpstr>Turismo em STP</vt:lpstr>
      <vt:lpstr>Turismo – exposição ao clima (histórico)</vt:lpstr>
      <vt:lpstr>Turismo – exposição ao clima (histórico)</vt:lpstr>
      <vt:lpstr>Turismo – exposição ao clima (futuro)</vt:lpstr>
      <vt:lpstr>Turismo – exposição ao clima (futuro)</vt:lpstr>
      <vt:lpstr>Turismo – exposição ao clima (futuro)</vt:lpstr>
      <vt:lpstr>Turismo – análise do impacto climático</vt:lpstr>
      <vt:lpstr>Turismo – impactos diretos</vt:lpstr>
      <vt:lpstr>Turismo – impactos indiretos</vt:lpstr>
      <vt:lpstr>Conclusões para o turismo</vt:lpstr>
      <vt:lpstr>Conclusões gerais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Fishery Committee for the Eastern Central Atlantic 9th Scientific Sub-Committee Nouakchott, Mauritania, December 2022</dc:title>
  <dc:creator>Mcdonough, Sakchai (FAORAF)</dc:creator>
  <cp:lastModifiedBy>Greenrod, Samuel (OCBD)</cp:lastModifiedBy>
  <cp:revision>17</cp:revision>
  <dcterms:created xsi:type="dcterms:W3CDTF">2022-11-03T10:54:55Z</dcterms:created>
  <dcterms:modified xsi:type="dcterms:W3CDTF">2025-11-28T17:07:23Z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0x0101009B4665977E207A449548B2B5BC616899</vt:lpwstr>
  </property>
  <property fmtid="{D5CDD505-2E9C-101B-9397-08002B2CF9AE}" pid="3" name="MediaServiceImageTags">
    <vt:lpwstr/>
  </property>
</Properties>
</file>